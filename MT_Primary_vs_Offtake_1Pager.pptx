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82B49"/>
                </a:solidFill>
              </a:defRPr>
            </a:pPr>
            <a:r>
              <a:t>Monthly Modern Trade Primary vs. Offtake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6E6E6E"/>
                </a:solidFill>
              </a:defRPr>
            </a:pPr>
            <a:r>
              <a:t>PRIMARY SALES</a:t>
            </a:r>
          </a:p>
          <a:p>
            <a:pPr>
              <a:spcAft>
                <a:spcPts val="200"/>
              </a:spcAft>
              <a:defRPr sz="1800" b="1">
                <a:solidFill>
                  <a:srgbClr val="101828"/>
                </a:solidFill>
              </a:defRPr>
            </a:pPr>
            <a:r>
              <a:t>No data</a:t>
            </a:r>
          </a:p>
          <a:p>
            <a:pPr>
              <a:defRPr sz="900">
                <a:solidFill>
                  <a:srgbClr val="6E6E6E"/>
                </a:solidFill>
              </a:defRPr>
            </a:pPr>
            <a:r>
              <a:t>No MoM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1143000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6E6E6E"/>
                </a:solidFill>
              </a:defRPr>
            </a:pPr>
            <a:r>
              <a:t>OFFTAKE SALES</a:t>
            </a:r>
          </a:p>
          <a:p>
            <a:pPr>
              <a:spcAft>
                <a:spcPts val="200"/>
              </a:spcAft>
              <a:defRPr sz="1800" b="1">
                <a:solidFill>
                  <a:srgbClr val="101828"/>
                </a:solidFill>
              </a:defRPr>
            </a:pPr>
            <a:r>
              <a:t>No data</a:t>
            </a:r>
          </a:p>
          <a:p>
            <a:pPr>
              <a:defRPr sz="900">
                <a:solidFill>
                  <a:srgbClr val="6E6E6E"/>
                </a:solidFill>
              </a:defRPr>
            </a:pPr>
            <a:r>
              <a:t>No MoM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43000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6E6E6E"/>
                </a:solidFill>
              </a:defRPr>
            </a:pPr>
            <a:r>
              <a:t>ALIGNMENT GAP</a:t>
            </a:r>
          </a:p>
          <a:p>
            <a:pPr>
              <a:spcAft>
                <a:spcPts val="200"/>
              </a:spcAft>
              <a:defRPr sz="1800" b="1">
                <a:solidFill>
                  <a:srgbClr val="101828"/>
                </a:solidFill>
              </a:defRPr>
            </a:pPr>
            <a:r>
              <a:t>TBD</a:t>
            </a:r>
          </a:p>
          <a:p>
            <a:pPr>
              <a:defRPr sz="900">
                <a:solidFill>
                  <a:srgbClr val="288C28"/>
                </a:solidFill>
              </a:defRPr>
            </a:pPr>
            <a:r>
              <a:t>Status: Green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423160"/>
          <a:ext cx="62179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554480"/>
              </a:tblGrid>
              <a:tr h="522514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Zone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Primary (₹ Cr)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Offtake (₹ Cr)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Gap Status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88C28"/>
                          </a:solidFill>
                        </a:defRPr>
                      </a:pPr>
                      <a:r>
                        <a:t>Green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South-1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88C28"/>
                          </a:solidFill>
                        </a:defRPr>
                      </a:pPr>
                      <a:r>
                        <a:t>Green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South-2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88C28"/>
                          </a:solidFill>
                        </a:defRPr>
                      </a:pPr>
                      <a:r>
                        <a:t>Green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88C28"/>
                          </a:solidFill>
                        </a:defRPr>
                      </a:pPr>
                      <a:r>
                        <a:t>Green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88C28"/>
                          </a:solidFill>
                        </a:defRPr>
                      </a:pPr>
                      <a:r>
                        <a:t>Green</a:t>
                      </a:r>
                    </a:p>
                  </a:txBody>
                  <a:tcPr/>
                </a:tc>
              </a:tr>
              <a:tr h="52251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Central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88C28"/>
                          </a:solidFill>
                        </a:defRPr>
                      </a:pPr>
                      <a:r>
                        <a:t>Green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0" y="2423160"/>
            <a:ext cx="4114800" cy="3657600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BE2828"/>
                </a:solidFill>
              </a:defRPr>
            </a:pPr>
            <a:r>
              <a:t>Executive Action &amp; Alerts</a:t>
            </a:r>
          </a:p>
          <a:p>
            <a:pPr>
              <a:spcAft>
                <a:spcPts val="600"/>
              </a:spcAft>
              <a:defRPr sz="1000"/>
            </a:pPr>
            <a:r>
              <a:t>🟢 On Track: Alignment gap at 0.0% within target.</a:t>
            </a:r>
          </a:p>
          <a:p>
            <a:pPr>
              <a:spcAft>
                <a:spcPts val="600"/>
              </a:spcAft>
              <a:defRPr sz="1000"/>
            </a:pPr>
            <a:r>
              <a:t>Review with zone heads and category managers by week-end.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969696"/>
                </a:solidFill>
              </a:defRPr>
            </a:pPr>
            <a:r>
              <a:t>Source: MT Dashboard Primary vs Offtake Analysis | Generated automatically from Excel 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