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82B49"/>
                </a:solidFill>
              </a:defRPr>
            </a:pPr>
            <a:r>
              <a:t>Monthly Modern Trade Primary vs. Offtake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2468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6E6E6E"/>
                </a:solidFill>
              </a:defRPr>
            </a:pPr>
            <a:r>
              <a:t>PRIMARY SALES</a:t>
            </a:r>
          </a:p>
          <a:p>
            <a:pPr>
              <a:spcAft>
                <a:spcPts val="200"/>
              </a:spcAft>
              <a:defRPr sz="1800" b="1">
                <a:solidFill>
                  <a:srgbClr val="101828"/>
                </a:solidFill>
              </a:defRPr>
            </a:pPr>
            <a:r>
              <a:t>₹36.6 Cr</a:t>
            </a:r>
          </a:p>
          <a:p>
            <a:pPr>
              <a:defRPr sz="900">
                <a:solidFill>
                  <a:srgbClr val="288C28"/>
                </a:solidFill>
              </a:defRPr>
            </a:pPr>
            <a:r>
              <a:t>+3.2% MoM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0" y="1143000"/>
            <a:ext cx="2468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6E6E6E"/>
                </a:solidFill>
              </a:defRPr>
            </a:pPr>
            <a:r>
              <a:t>OFFTAKE SALES</a:t>
            </a:r>
          </a:p>
          <a:p>
            <a:pPr>
              <a:spcAft>
                <a:spcPts val="200"/>
              </a:spcAft>
              <a:defRPr sz="1800" b="1">
                <a:solidFill>
                  <a:srgbClr val="101828"/>
                </a:solidFill>
              </a:defRPr>
            </a:pPr>
            <a:r>
              <a:t>₹35.4 Cr</a:t>
            </a:r>
          </a:p>
          <a:p>
            <a:pPr>
              <a:defRPr sz="900">
                <a:solidFill>
                  <a:srgbClr val="288C28"/>
                </a:solidFill>
              </a:defRPr>
            </a:pPr>
            <a:r>
              <a:t>+3.2% MoM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43000"/>
            <a:ext cx="2468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6E6E6E"/>
                </a:solidFill>
              </a:defRPr>
            </a:pPr>
            <a:r>
              <a:t>ALIGNMENT GAP</a:t>
            </a:r>
          </a:p>
          <a:p>
            <a:pPr>
              <a:spcAft>
                <a:spcPts val="200"/>
              </a:spcAft>
              <a:defRPr sz="1800" b="1">
                <a:solidFill>
                  <a:srgbClr val="101828"/>
                </a:solidFill>
              </a:defRPr>
            </a:pPr>
            <a:r>
              <a:t>3.2%</a:t>
            </a:r>
          </a:p>
          <a:p>
            <a:pPr>
              <a:defRPr sz="900">
                <a:solidFill>
                  <a:srgbClr val="C87800"/>
                </a:solidFill>
              </a:defRPr>
            </a:pPr>
            <a:r>
              <a:t>Status: Amber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23160"/>
          <a:ext cx="62179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</a:tblGrid>
              <a:tr h="52251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Zone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Primary (₹ Cr)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Offtake (₹ Cr)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Gap Status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878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South-1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878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South-2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878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878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878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Central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878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2423160"/>
            <a:ext cx="4114800" cy="3657600"/>
          </a:xfrm>
          <a:prstGeom prst="rect">
            <a:avLst/>
          </a:prstGeom>
          <a:noFill/>
        </p:spPr>
        <p:txBody>
          <a:bodyPr wrap="square" bIns="9144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BE2828"/>
                </a:solidFill>
              </a:defRPr>
            </a:pPr>
            <a:r>
              <a:t>Executive Action &amp; Alerts</a:t>
            </a:r>
          </a:p>
          <a:p>
            <a:pPr>
              <a:spcAft>
                <a:spcPts val="600"/>
              </a:spcAft>
              <a:defRPr sz="1000"/>
            </a:pPr>
            <a:r>
              <a:t>🟡 Alert: Alignment gap at 3.2% requires attention.</a:t>
            </a:r>
          </a:p>
          <a:p>
            <a:pPr>
              <a:spcAft>
                <a:spcPts val="600"/>
              </a:spcAft>
              <a:defRPr sz="1000"/>
            </a:pPr>
            <a:r>
              <a:t>Secondary conversion: 97% of primary.</a:t>
            </a:r>
          </a:p>
          <a:p>
            <a:pPr>
              <a:spcAft>
                <a:spcPts val="600"/>
              </a:spcAft>
              <a:defRPr sz="1000"/>
            </a:pPr>
            <a:r>
              <a:t>Review with zone heads and category managers by week-end.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969696"/>
                </a:solidFill>
              </a:defRPr>
            </a:pPr>
            <a:r>
              <a:t>Source: MT Dashboard Primary vs Offtake Analysis | Generated automatically from Excel template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