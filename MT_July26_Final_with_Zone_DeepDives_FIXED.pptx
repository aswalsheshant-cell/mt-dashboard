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12"/>
    <p:sldId id="263" r:id="rId13"/>
    <p:sldId id="264" r:id="rId14"/>
    <p:sldId id="265" r:id="rId15"/>
    <p:sldId id="266" r:id="rId16"/>
    <p:sldId id="267" r:id="rId17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35" d="100"/>
          <a:sy n="35" d="100"/>
        </p:scale>
        <p:origin x="2428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210888"/>
          </a:xfrm>
          <a:prstGeom prst="rect">
            <a:avLst/>
          </a:prstGeom>
          <a:solidFill>
            <a:srgbClr val="1F7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10888"/>
            <a:ext cx="6858000" cy="41148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0" y="413420"/>
            <a:ext cx="1609344" cy="384048"/>
          </a:xfrm>
          <a:prstGeom prst="roundRect">
            <a:avLst>
              <a:gd name="adj" fmla="val 21428"/>
            </a:avLst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ctr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Aptos"/>
              </a:rPr>
              <a:t>BEST EVER Q1</a:t>
            </a:r>
          </a:p>
        </p:txBody>
      </p:sp>
      <p:sp>
        <p:nvSpPr>
          <p:cNvPr id="6" name="Rectangle 5"/>
          <p:cNvSpPr/>
          <p:nvPr/>
        </p:nvSpPr>
        <p:spPr>
          <a:xfrm>
            <a:off x="219456" y="100584"/>
            <a:ext cx="4581144" cy="1920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r>
              <a:rPr/>
              <a:t>HONASA MODERN TRADE | Q1 FY27 | LEADERSHIP REVIEW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" y="292608"/>
            <a:ext cx="4581144" cy="4662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114 CR OFFTAKES: 27% SEQUENTIAL &amp; 64% YoY GROWTH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" y="777123"/>
            <a:ext cx="4581144" cy="3423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r>
              <a:rPr/>
              <a:t>114.39 CR OFFTAKES: 27% SEQUENTIAL &amp; 64% YOY GROWTH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9456" y="1343476"/>
            <a:ext cx="3154679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19456" y="1416628"/>
            <a:ext cx="50292" cy="585216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02336" y="1398340"/>
            <a:ext cx="28803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Q1 FY27 OFFTAKE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" y="1626940"/>
            <a:ext cx="288036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900" b="1">
                <a:solidFill>
                  <a:srgbClr val="1F2933"/>
                </a:solidFill>
                <a:latin typeface="Aptos"/>
              </a:rPr>
              <a:t>₹114.39 Cr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" y="1965267"/>
            <a:ext cx="28803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1E8E3E"/>
                </a:solidFill>
                <a:latin typeface="Aptos"/>
              </a:rPr>
              <a:t>▲ 64% YoY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83863" y="1343476"/>
            <a:ext cx="3154679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483863" y="1416628"/>
            <a:ext cx="50292" cy="585216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66744" y="1398340"/>
            <a:ext cx="28803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SEQUENTIAL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66744" y="1626940"/>
            <a:ext cx="288036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900" b="1">
                <a:solidFill>
                  <a:srgbClr val="1F2933"/>
                </a:solidFill>
                <a:latin typeface="Aptos"/>
              </a:rPr>
              <a:t>+27%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66744" y="1965267"/>
            <a:ext cx="28803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1E8E3E"/>
                </a:solidFill>
                <a:latin typeface="Aptos"/>
              </a:rPr>
              <a:t>▲ vs Q4 FY26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9456" y="2184724"/>
            <a:ext cx="3154679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19456" y="2257876"/>
            <a:ext cx="50292" cy="585216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02336" y="2239588"/>
            <a:ext cx="28803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Q1 FY27 PRIMARY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36" y="2468188"/>
            <a:ext cx="288036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900" b="1">
                <a:solidFill>
                  <a:srgbClr val="1F2933"/>
                </a:solidFill>
                <a:latin typeface="Aptos"/>
              </a:rPr>
              <a:t>₹136.53 Cr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" y="2806516"/>
            <a:ext cx="28803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1E8E3E"/>
                </a:solidFill>
                <a:latin typeface="Aptos"/>
              </a:rPr>
              <a:t>▲ 77% YoY, ▲ 45% seq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83863" y="2184724"/>
            <a:ext cx="3154679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483863" y="2257876"/>
            <a:ext cx="50292" cy="585216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666744" y="2239588"/>
            <a:ext cx="28803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JUN'26 OFFTAKE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66744" y="2468188"/>
            <a:ext cx="288036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900" b="1">
                <a:solidFill>
                  <a:srgbClr val="1F2933"/>
                </a:solidFill>
                <a:latin typeface="Aptos"/>
              </a:rPr>
              <a:t>₹38.24 Cr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66744" y="2806516"/>
            <a:ext cx="28803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1E8E3E"/>
                </a:solidFill>
                <a:latin typeface="Aptos"/>
              </a:rPr>
              <a:t>▲ 68% YoY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19456" y="3025972"/>
            <a:ext cx="6419088" cy="2531588"/>
          </a:xfrm>
          <a:prstGeom prst="roundRect">
            <a:avLst>
              <a:gd name="adj" fmla="val 2889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219456" y="3025972"/>
            <a:ext cx="6419088" cy="256032"/>
          </a:xfrm>
          <a:prstGeom prst="roundRect">
            <a:avLst>
              <a:gd name="adj" fmla="val 28571"/>
            </a:avLst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19456" y="3199708"/>
            <a:ext cx="6419088" cy="82296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10896" y="3025972"/>
            <a:ext cx="6236207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ZONE VIEW — NSV ₹ LACS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10896" y="3346012"/>
            <a:ext cx="6236207" cy="269585"/>
          </a:xfrm>
          <a:prstGeom prst="roundRect">
            <a:avLst>
              <a:gd name="adj" fmla="val 13567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56615" y="3346012"/>
            <a:ext cx="1609343" cy="2695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ZONE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57399" y="3346012"/>
            <a:ext cx="1155801" cy="2695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Q1 FY26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04641" y="3346012"/>
            <a:ext cx="1155801" cy="2695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Q1 FY27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51883" y="3346012"/>
            <a:ext cx="1042415" cy="2695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GROWTH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85739" y="3346012"/>
            <a:ext cx="815644" cy="2695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MIX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6615" y="3615597"/>
            <a:ext cx="1609343" cy="2695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West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057399" y="3615597"/>
            <a:ext cx="1155801" cy="2695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1,877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04641" y="3615597"/>
            <a:ext cx="1155801" cy="2695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2,905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51883" y="3615597"/>
            <a:ext cx="1042415" cy="2695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55%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85739" y="3615597"/>
            <a:ext cx="815644" cy="2695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25%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0896" y="3885183"/>
            <a:ext cx="6236207" cy="269585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356615" y="3885183"/>
            <a:ext cx="1609343" cy="2695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North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057399" y="3885183"/>
            <a:ext cx="1155801" cy="2695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1,583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304641" y="3885183"/>
            <a:ext cx="1155801" cy="2695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2,641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51883" y="3885183"/>
            <a:ext cx="1042415" cy="2695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67%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85739" y="3885183"/>
            <a:ext cx="815644" cy="2695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23%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56615" y="4154768"/>
            <a:ext cx="1609343" cy="2695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South-1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057399" y="4154768"/>
            <a:ext cx="1155801" cy="2695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1,356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304641" y="4154768"/>
            <a:ext cx="1155801" cy="2695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2,489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51883" y="4154768"/>
            <a:ext cx="1042415" cy="2695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84%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85739" y="4154768"/>
            <a:ext cx="815644" cy="2695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22%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0896" y="4424354"/>
            <a:ext cx="6236207" cy="269585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356615" y="4424354"/>
            <a:ext cx="1609343" cy="2695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South-2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057399" y="4424354"/>
            <a:ext cx="1155801" cy="2695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952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304641" y="4424354"/>
            <a:ext cx="1155801" cy="2695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1,576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51883" y="4424354"/>
            <a:ext cx="1042415" cy="2695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66%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685739" y="4424354"/>
            <a:ext cx="815644" cy="2695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14%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56615" y="4693940"/>
            <a:ext cx="1609343" cy="2695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East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057399" y="4693940"/>
            <a:ext cx="1155801" cy="2695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701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304641" y="4693940"/>
            <a:ext cx="1155801" cy="2695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1,173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51883" y="4693940"/>
            <a:ext cx="1042415" cy="2695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67%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685739" y="4693940"/>
            <a:ext cx="815644" cy="2695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10%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10896" y="4963525"/>
            <a:ext cx="6236207" cy="269585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356615" y="4963525"/>
            <a:ext cx="1609343" cy="2695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Pan India (FSN)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057399" y="4963525"/>
            <a:ext cx="1155801" cy="2695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523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304641" y="4963525"/>
            <a:ext cx="1155801" cy="2695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653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51883" y="4963525"/>
            <a:ext cx="1042415" cy="2695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25%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685739" y="4963525"/>
            <a:ext cx="815644" cy="2695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6%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56615" y="5233111"/>
            <a:ext cx="1609343" cy="2695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TOTAL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057399" y="5233111"/>
            <a:ext cx="1155801" cy="2695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6,992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304641" y="5233111"/>
            <a:ext cx="1155801" cy="2695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11,439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551883" y="5233111"/>
            <a:ext cx="1042415" cy="2695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64%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685739" y="5233111"/>
            <a:ext cx="815644" cy="2695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100%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219456" y="5667288"/>
            <a:ext cx="6419088" cy="2324928"/>
          </a:xfrm>
          <a:prstGeom prst="roundRect">
            <a:avLst>
              <a:gd name="adj" fmla="val 3146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8" name="Rounded Rectangle 77"/>
          <p:cNvSpPr/>
          <p:nvPr/>
        </p:nvSpPr>
        <p:spPr>
          <a:xfrm>
            <a:off x="219456" y="5667288"/>
            <a:ext cx="6419088" cy="256032"/>
          </a:xfrm>
          <a:prstGeom prst="roundRect">
            <a:avLst>
              <a:gd name="adj" fmla="val 28571"/>
            </a:avLst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219456" y="5841024"/>
            <a:ext cx="6419088" cy="82296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310896" y="5667288"/>
            <a:ext cx="6236207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TOP CHAINS — NSV ₹ LACS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10896" y="5987328"/>
            <a:ext cx="6236207" cy="278574"/>
          </a:xfrm>
          <a:prstGeom prst="roundRect">
            <a:avLst>
              <a:gd name="adj" fmla="val 13129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356615" y="5987328"/>
            <a:ext cx="1609343" cy="2785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CHAIN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057399" y="5987328"/>
            <a:ext cx="1155801" cy="2785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Q1 FY26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304641" y="5987328"/>
            <a:ext cx="1155801" cy="2785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Q1 FY27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551883" y="5987328"/>
            <a:ext cx="1042415" cy="2785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GROWTH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685739" y="5987328"/>
            <a:ext cx="815644" cy="2785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MIX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56615" y="6265903"/>
            <a:ext cx="1609343" cy="2785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D-Mart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057399" y="6265903"/>
            <a:ext cx="1155801" cy="2785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2,600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304641" y="6265903"/>
            <a:ext cx="1155801" cy="2785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4,232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551883" y="6265903"/>
            <a:ext cx="1042415" cy="2785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63%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685739" y="6265903"/>
            <a:ext cx="815644" cy="2785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37%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10896" y="6544478"/>
            <a:ext cx="6236207" cy="278574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356615" y="6544478"/>
            <a:ext cx="1609343" cy="2785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Reliance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057399" y="6544478"/>
            <a:ext cx="1155801" cy="2785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1,908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304641" y="6544478"/>
            <a:ext cx="1155801" cy="2785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2,806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551883" y="6544478"/>
            <a:ext cx="1042415" cy="2785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47%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685739" y="6544478"/>
            <a:ext cx="815644" cy="2785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25%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56615" y="6823053"/>
            <a:ext cx="1609343" cy="2785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Apollo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057399" y="6823053"/>
            <a:ext cx="1155801" cy="2785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793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304641" y="6823053"/>
            <a:ext cx="1155801" cy="2785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2,173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551883" y="6823053"/>
            <a:ext cx="1042415" cy="2785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174%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685739" y="6823053"/>
            <a:ext cx="815644" cy="2785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19%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10896" y="7101628"/>
            <a:ext cx="6236207" cy="278574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356615" y="7101628"/>
            <a:ext cx="1609343" cy="2785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FSN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057399" y="7101628"/>
            <a:ext cx="1155801" cy="2785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523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304641" y="7101628"/>
            <a:ext cx="1155801" cy="2785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653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551883" y="7101628"/>
            <a:ext cx="1042415" cy="2785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25%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685739" y="7101628"/>
            <a:ext cx="815644" cy="2785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6%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56615" y="7380203"/>
            <a:ext cx="1609343" cy="2785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Lulu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057399" y="7380203"/>
            <a:ext cx="1155801" cy="2785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124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304641" y="7380203"/>
            <a:ext cx="1155801" cy="2785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333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551883" y="7380203"/>
            <a:ext cx="1042415" cy="2785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169%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685739" y="7380203"/>
            <a:ext cx="815644" cy="2785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3%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10896" y="7658778"/>
            <a:ext cx="6236207" cy="278574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356615" y="7658778"/>
            <a:ext cx="1609343" cy="2785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Wellness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057399" y="7658778"/>
            <a:ext cx="1155801" cy="2785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249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3304641" y="7658778"/>
            <a:ext cx="1155801" cy="2785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291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551883" y="7658778"/>
            <a:ext cx="1042415" cy="2785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17%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5685739" y="7658778"/>
            <a:ext cx="815644" cy="2785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3%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219456" y="8101945"/>
            <a:ext cx="6419088" cy="237744"/>
          </a:xfrm>
          <a:prstGeom prst="roundRect">
            <a:avLst>
              <a:gd name="adj" fmla="val 19230"/>
            </a:avLst>
          </a:prstGeom>
          <a:solidFill>
            <a:srgbClr val="1F7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9144" rIns="64008" bIns="9144" rtlCol="0" anchor="ctr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ptos"/>
              </a:rPr>
              <a:t>BRAND VIEW — Q1 FY27 OFFTAKE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219456" y="8376265"/>
            <a:ext cx="6419088" cy="1327297"/>
          </a:xfrm>
          <a:prstGeom prst="roundRect">
            <a:avLst>
              <a:gd name="adj" fmla="val 5511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2" name="Rounded Rectangle 121"/>
          <p:cNvSpPr/>
          <p:nvPr/>
        </p:nvSpPr>
        <p:spPr>
          <a:xfrm>
            <a:off x="310896" y="8458561"/>
            <a:ext cx="2005583" cy="1171849"/>
          </a:xfrm>
          <a:prstGeom prst="roundRect">
            <a:avLst>
              <a:gd name="adj" fmla="val 4681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310896" y="8458561"/>
            <a:ext cx="2005583" cy="41148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65759" y="8742733"/>
            <a:ext cx="1895855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MAMAEARTH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65759" y="8898181"/>
            <a:ext cx="1895855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500" b="1">
                <a:solidFill>
                  <a:srgbClr val="1F2933"/>
                </a:solidFill>
                <a:latin typeface="Aptos"/>
              </a:rPr>
              <a:t>₹82.5 Cr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65759" y="9218221"/>
            <a:ext cx="1895855" cy="1737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1E8E3E"/>
                </a:solidFill>
                <a:latin typeface="Aptos"/>
              </a:rPr>
              <a:t>▲ 33%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2426207" y="8458561"/>
            <a:ext cx="2005583" cy="1171849"/>
          </a:xfrm>
          <a:prstGeom prst="roundRect">
            <a:avLst>
              <a:gd name="adj" fmla="val 4681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2426207" y="8458561"/>
            <a:ext cx="2005583" cy="41148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9" name="Rectangle 128"/>
          <p:cNvSpPr/>
          <p:nvPr/>
        </p:nvSpPr>
        <p:spPr>
          <a:xfrm>
            <a:off x="2481071" y="8742733"/>
            <a:ext cx="1895855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r>
              <a:rPr/>
              <a:t>HONASA MODERN TRADE | Q1 FY27 | LEADERSHIP REVIEW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2481071" y="8898181"/>
            <a:ext cx="1895855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500" b="1">
                <a:solidFill>
                  <a:srgbClr val="1F2933"/>
                </a:solidFill>
                <a:latin typeface="Aptos"/>
              </a:rPr>
              <a:t>₹29.5 Cr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481071" y="9218221"/>
            <a:ext cx="1895855" cy="1737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1E8E3E"/>
                </a:solidFill>
                <a:latin typeface="Aptos"/>
              </a:rPr>
              <a:t>▲ 365%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4541519" y="8458561"/>
            <a:ext cx="2005583" cy="1171849"/>
          </a:xfrm>
          <a:prstGeom prst="roundRect">
            <a:avLst>
              <a:gd name="adj" fmla="val 4681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3" name="Rectangle 132"/>
          <p:cNvSpPr/>
          <p:nvPr/>
        </p:nvSpPr>
        <p:spPr>
          <a:xfrm>
            <a:off x="4541519" y="8458561"/>
            <a:ext cx="2005583" cy="41148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4" name="Rectangle 133"/>
          <p:cNvSpPr/>
          <p:nvPr/>
        </p:nvSpPr>
        <p:spPr>
          <a:xfrm>
            <a:off x="4596383" y="8742733"/>
            <a:ext cx="1895855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AQUALOGICA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4596383" y="8898181"/>
            <a:ext cx="1895855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500" b="1">
                <a:solidFill>
                  <a:srgbClr val="1F2933"/>
                </a:solidFill>
                <a:latin typeface="Aptos"/>
              </a:rPr>
              <a:t>₹1.96 Cr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4596383" y="9218221"/>
            <a:ext cx="1895855" cy="1737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1E8E3E"/>
                </a:solidFill>
                <a:latin typeface="Aptos"/>
              </a:rPr>
              <a:t>▲ 16%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219456" y="9813290"/>
            <a:ext cx="6419088" cy="1756612"/>
          </a:xfrm>
          <a:prstGeom prst="roundRect">
            <a:avLst>
              <a:gd name="adj" fmla="val 4164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8" name="Rounded Rectangle 137"/>
          <p:cNvSpPr/>
          <p:nvPr/>
        </p:nvSpPr>
        <p:spPr>
          <a:xfrm>
            <a:off x="219456" y="9813290"/>
            <a:ext cx="6419088" cy="256032"/>
          </a:xfrm>
          <a:prstGeom prst="roundRect">
            <a:avLst>
              <a:gd name="adj" fmla="val 28571"/>
            </a:avLst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9" name="Rectangle 138"/>
          <p:cNvSpPr/>
          <p:nvPr/>
        </p:nvSpPr>
        <p:spPr>
          <a:xfrm>
            <a:off x="219456" y="9987026"/>
            <a:ext cx="6419088" cy="82296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0" name="Rectangle 139"/>
          <p:cNvSpPr/>
          <p:nvPr/>
        </p:nvSpPr>
        <p:spPr>
          <a:xfrm>
            <a:off x="310896" y="9813290"/>
            <a:ext cx="6236207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r>
              <a:rPr/>
              <a:t>Zone conversion spread (45%–84%) drives phased recovery. D-Mart + Reliance concentration = execution risk. Nielsen +56% MAT validates demand pull.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20040" y="10331611"/>
            <a:ext cx="64008" cy="64008"/>
          </a:xfrm>
          <a:prstGeom prst="rect">
            <a:avLst/>
          </a:prstGeom>
          <a:solidFill>
            <a:srgbClr val="C77D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2" name="Rectangle 141"/>
          <p:cNvSpPr/>
          <p:nvPr/>
        </p:nvSpPr>
        <p:spPr>
          <a:xfrm>
            <a:off x="457200" y="10133330"/>
            <a:ext cx="6089903" cy="46056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>
              <a:lnSpc>
                <a:spcPct val="92000"/>
              </a:lnSpc>
            </a:pPr>
            <a:r>
              <a:rPr sz="1000" b="1">
                <a:solidFill>
                  <a:srgbClr val="C77D17"/>
                </a:solidFill>
                <a:latin typeface="Aptos"/>
              </a:rPr>
              <a:t>Concentration  </a:t>
            </a:r>
            <a:r>
              <a:rPr sz="1000" b="0">
                <a:solidFill>
                  <a:srgbClr val="1F2933"/>
                </a:solidFill>
                <a:latin typeface="Aptos"/>
              </a:rPr>
              <a:t>D-Mart, Reliance and Apollo delivered </a:t>
            </a:r>
            <a:r>
              <a:rPr sz="1000" b="1">
                <a:solidFill>
                  <a:srgbClr val="1F2933"/>
                </a:solidFill>
                <a:latin typeface="Aptos"/>
              </a:rPr>
              <a:t>81.8%</a:t>
            </a:r>
            <a:r>
              <a:rPr sz="1000" b="0">
                <a:solidFill>
                  <a:srgbClr val="1F2933"/>
                </a:solidFill>
                <a:latin typeface="Aptos"/>
              </a:rPr>
              <a:t> of June offtake.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20040" y="10792180"/>
            <a:ext cx="64008" cy="64008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4" name="Rectangle 143"/>
          <p:cNvSpPr/>
          <p:nvPr/>
        </p:nvSpPr>
        <p:spPr>
          <a:xfrm>
            <a:off x="457200" y="10593900"/>
            <a:ext cx="6089903" cy="46056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r>
              <a:rPr/>
              <a:t>114.39 CR OFFTAKES: 27% SEQUENTIAL &amp; 64% YOY GROWTH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320040" y="11194345"/>
            <a:ext cx="64008" cy="64008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6" name="Rectangle 145"/>
          <p:cNvSpPr/>
          <p:nvPr/>
        </p:nvSpPr>
        <p:spPr>
          <a:xfrm>
            <a:off x="457200" y="11054469"/>
            <a:ext cx="6089903" cy="46056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>
              <a:lnSpc>
                <a:spcPct val="92000"/>
              </a:lnSpc>
            </a:pPr>
            <a:r>
              <a:rPr sz="1000" b="1">
                <a:solidFill>
                  <a:srgbClr val="1E8E3E"/>
                </a:solidFill>
                <a:latin typeface="Aptos"/>
              </a:rPr>
              <a:t>Momentum  </a:t>
            </a:r>
            <a:r>
              <a:rPr sz="1000" b="0">
                <a:solidFill>
                  <a:srgbClr val="1F2933"/>
                </a:solidFill>
                <a:latin typeface="Aptos"/>
              </a:rPr>
              <a:t>Jun'26 was the best-ever June, ▲68% YoY, despite a seasonal ▼5% MoM off the May record.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0" y="11661343"/>
            <a:ext cx="6858000" cy="530352"/>
          </a:xfrm>
          <a:prstGeom prst="rect">
            <a:avLst/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8" name="Rounded Rectangle 147"/>
          <p:cNvSpPr/>
          <p:nvPr/>
        </p:nvSpPr>
        <p:spPr>
          <a:xfrm>
            <a:off x="219456" y="11771071"/>
            <a:ext cx="854964" cy="310896"/>
          </a:xfrm>
          <a:prstGeom prst="roundRect">
            <a:avLst>
              <a:gd name="adj" fmla="val 20588"/>
            </a:avLst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ctr"/>
          <a:lstStyle/>
          <a:p>
            <a:r>
              <a:rPr/>
              <a:t>PHASE 0-30d: Validate Reliance Paisa Vasool (Aug 5) before North/East spend. PHASE 31-60d: Run pack pilots (650/1000ml Shampoo, File 1 data). PHASE 61-90d: Scale proven cells only.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1239012" y="11697919"/>
            <a:ext cx="2393441" cy="4571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lnSpc>
                <a:spcPct val="92000"/>
              </a:lnSpc>
            </a:pPr>
            <a:r>
              <a:rPr sz="900" b="1">
                <a:solidFill>
                  <a:srgbClr val="2D9B7F"/>
                </a:solidFill>
                <a:latin typeface="Aptos"/>
              </a:rPr>
              <a:t>HOLD  </a:t>
            </a:r>
            <a:r>
              <a:rPr sz="950" b="0">
                <a:solidFill>
                  <a:srgbClr val="EDEFF1"/>
                </a:solidFill>
                <a:latin typeface="Aptos"/>
              </a:rPr>
              <a:t>Growth is broad-based across every zone and both lead brands.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3687318" y="11734495"/>
            <a:ext cx="18288" cy="347471"/>
          </a:xfrm>
          <a:prstGeom prst="rect">
            <a:avLst/>
          </a:prstGeom>
          <a:solidFill>
            <a:srgbClr val="4A5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1" name="Rectangle 150"/>
          <p:cNvSpPr/>
          <p:nvPr/>
        </p:nvSpPr>
        <p:spPr>
          <a:xfrm>
            <a:off x="3742181" y="11697919"/>
            <a:ext cx="2393441" cy="4571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lnSpc>
                <a:spcPct val="92000"/>
              </a:lnSpc>
            </a:pPr>
            <a:r>
              <a:rPr sz="900" b="1">
                <a:solidFill>
                  <a:srgbClr val="2D9B7F"/>
                </a:solidFill>
                <a:latin typeface="Aptos"/>
              </a:rPr>
              <a:t>WATCH  </a:t>
            </a:r>
            <a:r>
              <a:rPr sz="950" b="0">
                <a:solidFill>
                  <a:srgbClr val="EDEFF1"/>
                </a:solidFill>
                <a:latin typeface="Aptos"/>
              </a:rPr>
              <a:t>Three chains now carry four-fifths of the channel.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6135624" y="11679631"/>
            <a:ext cx="50292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00" b="0">
                <a:solidFill>
                  <a:srgbClr val="8A939C"/>
                </a:solidFill>
                <a:latin typeface="Aptos"/>
              </a:rPr>
              <a:t>1/6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076301"/>
          </a:xfrm>
          <a:prstGeom prst="rect">
            <a:avLst/>
          </a:prstGeom>
          <a:solidFill>
            <a:srgbClr val="1F7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76301"/>
            <a:ext cx="6858000" cy="41148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266944" y="346126"/>
            <a:ext cx="1371600" cy="384048"/>
          </a:xfrm>
          <a:prstGeom prst="roundRect">
            <a:avLst>
              <a:gd name="adj" fmla="val 21428"/>
            </a:avLst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ctr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Aptos"/>
              </a:rPr>
              <a:t>365% YoY</a:t>
            </a:r>
          </a:p>
        </p:txBody>
      </p:sp>
      <p:sp>
        <p:nvSpPr>
          <p:cNvPr id="6" name="Rectangle 5"/>
          <p:cNvSpPr/>
          <p:nvPr/>
        </p:nvSpPr>
        <p:spPr>
          <a:xfrm>
            <a:off x="219456" y="100584"/>
            <a:ext cx="4818888" cy="1920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r>
              <a:rPr/>
              <a:t>THE DERMA CO. | Q1 FY27 | BRAND ENGINE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" y="292608"/>
            <a:ext cx="4818888" cy="4662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TDC @ 30 CR, DOUBLING SEQUENTIALLY IN D-MART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" y="777123"/>
            <a:ext cx="4818888" cy="20773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r>
              <a:rPr/>
              <a:t>Major scale-up across acne, with supply constraint emerging. TDC ₹4.16 Cr flow gap @ 72.6% conversion signals capacity ceiling. Nielsen Face Wash premium tier +15% market trend supports continued growth.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9456" y="1208889"/>
            <a:ext cx="3154679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19456" y="1282041"/>
            <a:ext cx="50292" cy="585216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02336" y="1263753"/>
            <a:ext cx="28803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TDC Q1 OFFTAKE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" y="1492353"/>
            <a:ext cx="288036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900" b="1">
                <a:solidFill>
                  <a:srgbClr val="1F2933"/>
                </a:solidFill>
                <a:latin typeface="Aptos"/>
              </a:rPr>
              <a:t>₹29.5 Cr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" y="1830681"/>
            <a:ext cx="28803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1E8E3E"/>
                </a:solidFill>
                <a:latin typeface="Aptos"/>
              </a:rPr>
              <a:t>▲ 365% YoY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83863" y="1208889"/>
            <a:ext cx="3154679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483863" y="1282041"/>
            <a:ext cx="50292" cy="585216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66744" y="1263753"/>
            <a:ext cx="28803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TDC IN D-MART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66744" y="1492353"/>
            <a:ext cx="288036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900" b="1">
                <a:solidFill>
                  <a:srgbClr val="1F2933"/>
                </a:solidFill>
                <a:latin typeface="Aptos"/>
              </a:rPr>
              <a:t>₹13.66 Cr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66744" y="1830681"/>
            <a:ext cx="28803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1E8E3E"/>
                </a:solidFill>
                <a:latin typeface="Aptos"/>
              </a:rPr>
              <a:t>▲ 98% sequential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9456" y="2050137"/>
            <a:ext cx="3154679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19456" y="2123289"/>
            <a:ext cx="50292" cy="585216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02336" y="2105001"/>
            <a:ext cx="28803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TDC FACEWASH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36" y="2333601"/>
            <a:ext cx="288036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900" b="1">
                <a:solidFill>
                  <a:srgbClr val="1F2933"/>
                </a:solidFill>
                <a:latin typeface="Aptos"/>
              </a:rPr>
              <a:t>₹15.45 Cr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" y="2671928"/>
            <a:ext cx="28803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1E8E3E"/>
                </a:solidFill>
                <a:latin typeface="Aptos"/>
              </a:rPr>
              <a:t>▲ 1,091% YoY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83863" y="2050137"/>
            <a:ext cx="3154679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483863" y="2123289"/>
            <a:ext cx="50292" cy="585216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666744" y="2105001"/>
            <a:ext cx="28803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TDC SUN CARE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66744" y="2333601"/>
            <a:ext cx="288036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900" b="1">
                <a:solidFill>
                  <a:srgbClr val="1F2933"/>
                </a:solidFill>
                <a:latin typeface="Aptos"/>
              </a:rPr>
              <a:t>₹10.59 Cr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66744" y="2671928"/>
            <a:ext cx="28803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1E8E3E"/>
                </a:solidFill>
                <a:latin typeface="Aptos"/>
              </a:rPr>
              <a:t>▲ 290% YoY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19456" y="2891385"/>
            <a:ext cx="6419088" cy="2630611"/>
          </a:xfrm>
          <a:prstGeom prst="roundRect">
            <a:avLst>
              <a:gd name="adj" fmla="val 278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219456" y="2891385"/>
            <a:ext cx="6419088" cy="256032"/>
          </a:xfrm>
          <a:prstGeom prst="roundRect">
            <a:avLst>
              <a:gd name="adj" fmla="val 28571"/>
            </a:avLst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19456" y="3065121"/>
            <a:ext cx="6419088" cy="82296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10896" y="2891385"/>
            <a:ext cx="6236207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TDC ACCOUNT-WISE OFFTAKE — ₹ LACS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10896" y="3211425"/>
            <a:ext cx="6236207" cy="281963"/>
          </a:xfrm>
          <a:prstGeom prst="roundRect">
            <a:avLst>
              <a:gd name="adj" fmla="val 12971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56615" y="3211425"/>
            <a:ext cx="1525354" cy="281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CHAIN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73410" y="3211425"/>
            <a:ext cx="1063413" cy="281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Q1 FY26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28263" y="3211425"/>
            <a:ext cx="1063413" cy="281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Q1 FY27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83117" y="3211425"/>
            <a:ext cx="1063413" cy="281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SEQ QOQ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37970" y="3211425"/>
            <a:ext cx="1063413" cy="281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YOY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6615" y="3493389"/>
            <a:ext cx="1525354" cy="281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D-Mart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73410" y="3493389"/>
            <a:ext cx="1063413" cy="281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57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28263" y="3493389"/>
            <a:ext cx="1063413" cy="281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1,366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83117" y="3493389"/>
            <a:ext cx="1063413" cy="281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98%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37970" y="3493389"/>
            <a:ext cx="1063413" cy="281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2,296%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0896" y="3775352"/>
            <a:ext cx="6236207" cy="281963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356615" y="3775352"/>
            <a:ext cx="1525354" cy="281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Apollo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73410" y="3775352"/>
            <a:ext cx="1063413" cy="281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69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128263" y="3775352"/>
            <a:ext cx="1063413" cy="281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677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83117" y="3775352"/>
            <a:ext cx="1063413" cy="281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82%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37970" y="3775352"/>
            <a:ext cx="1063413" cy="281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880%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56615" y="4057316"/>
            <a:ext cx="1525354" cy="281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Reliance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73410" y="4057316"/>
            <a:ext cx="1063413" cy="281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87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128263" y="4057316"/>
            <a:ext cx="1063413" cy="281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210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83117" y="4057316"/>
            <a:ext cx="1063413" cy="281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64%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37970" y="4057316"/>
            <a:ext cx="1063413" cy="281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141%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0896" y="4339279"/>
            <a:ext cx="6236207" cy="281963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356615" y="4339279"/>
            <a:ext cx="1525354" cy="281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Wellness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73410" y="4339279"/>
            <a:ext cx="1063413" cy="281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144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128263" y="4339279"/>
            <a:ext cx="1063413" cy="281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188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283117" y="4339279"/>
            <a:ext cx="1063413" cy="281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7%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37970" y="4339279"/>
            <a:ext cx="1063413" cy="281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31%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56615" y="4621243"/>
            <a:ext cx="1525354" cy="281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H&amp;G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973410" y="4621243"/>
            <a:ext cx="1063413" cy="281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133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128263" y="4621243"/>
            <a:ext cx="1063413" cy="281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142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283117" y="4621243"/>
            <a:ext cx="1063413" cy="281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33%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437970" y="4621243"/>
            <a:ext cx="1063413" cy="281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7%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10896" y="4903206"/>
            <a:ext cx="6236207" cy="281963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356615" y="4903206"/>
            <a:ext cx="1525354" cy="281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Lulu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973410" y="4903206"/>
            <a:ext cx="1063413" cy="281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23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128263" y="4903206"/>
            <a:ext cx="1063413" cy="281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140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283117" y="4903206"/>
            <a:ext cx="1063413" cy="281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49%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437970" y="4903206"/>
            <a:ext cx="1063413" cy="281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510%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56615" y="5185170"/>
            <a:ext cx="1525354" cy="281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TOTAL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973410" y="5185170"/>
            <a:ext cx="1063413" cy="281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635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128263" y="5185170"/>
            <a:ext cx="1063413" cy="281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2,951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283117" y="5185170"/>
            <a:ext cx="1063413" cy="281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70%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437970" y="5185170"/>
            <a:ext cx="1063413" cy="281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365%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219456" y="5631725"/>
            <a:ext cx="6419088" cy="237744"/>
          </a:xfrm>
          <a:prstGeom prst="roundRect">
            <a:avLst>
              <a:gd name="adj" fmla="val 19230"/>
            </a:avLst>
          </a:prstGeom>
          <a:solidFill>
            <a:srgbClr val="1F7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9144" rIns="64008" bIns="9144" rtlCol="0" anchor="ctr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ptos"/>
              </a:rPr>
              <a:t>ACNE PARTITION — TDC FACEWASH BY RANGE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219456" y="5906045"/>
            <a:ext cx="6419088" cy="1727232"/>
          </a:xfrm>
          <a:prstGeom prst="roundRect">
            <a:avLst>
              <a:gd name="adj" fmla="val 4235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310896" y="6006137"/>
            <a:ext cx="6236207" cy="310896"/>
          </a:xfrm>
          <a:prstGeom prst="roundRect">
            <a:avLst>
              <a:gd name="adj" fmla="val 11764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356615" y="6006137"/>
            <a:ext cx="1987295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RANGE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435351" y="6006137"/>
            <a:ext cx="129438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Q1 FY27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821175" y="6006137"/>
            <a:ext cx="129438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SEQ QOQ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206999" y="6006137"/>
            <a:ext cx="129438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YOY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56615" y="6317033"/>
            <a:ext cx="1987295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Salicylic Acid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435351" y="6317033"/>
            <a:ext cx="129438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774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821175" y="6317033"/>
            <a:ext cx="129438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32%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206999" y="6317033"/>
            <a:ext cx="129438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1,234%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10896" y="6627929"/>
            <a:ext cx="6236207" cy="310896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356615" y="6627929"/>
            <a:ext cx="1987295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Sali-Cinamide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435351" y="6627929"/>
            <a:ext cx="129438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438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821175" y="6627929"/>
            <a:ext cx="129438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137%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206999" y="6627929"/>
            <a:ext cx="129438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2,217%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56615" y="6938825"/>
            <a:ext cx="1987295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Kojic Acid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435351" y="6938825"/>
            <a:ext cx="129438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306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821175" y="6938825"/>
            <a:ext cx="129438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121%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206999" y="6938825"/>
            <a:ext cx="129438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737%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10896" y="7249721"/>
            <a:ext cx="6236207" cy="310896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356615" y="7249721"/>
            <a:ext cx="1987295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TOTAL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435351" y="7249721"/>
            <a:ext cx="129438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1,545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821175" y="7249721"/>
            <a:ext cx="129438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67%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206999" y="7249721"/>
            <a:ext cx="129438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1,091%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219456" y="7743006"/>
            <a:ext cx="6419088" cy="237744"/>
          </a:xfrm>
          <a:prstGeom prst="roundRect">
            <a:avLst>
              <a:gd name="adj" fmla="val 19230"/>
            </a:avLst>
          </a:prstGeom>
          <a:solidFill>
            <a:srgbClr val="1F7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9144" rIns="64008" bIns="9144" rtlCol="0" anchor="ctr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ptos"/>
              </a:rPr>
              <a:t>DISTRIBUTION SCALE-UP, MARCH → JUNE'26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219456" y="8017326"/>
            <a:ext cx="6419088" cy="1441296"/>
          </a:xfrm>
          <a:prstGeom prst="roundRect">
            <a:avLst>
              <a:gd name="adj" fmla="val 5075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4" name="Rounded Rectangle 103"/>
          <p:cNvSpPr/>
          <p:nvPr/>
        </p:nvSpPr>
        <p:spPr>
          <a:xfrm>
            <a:off x="310896" y="8099622"/>
            <a:ext cx="3063239" cy="1285848"/>
          </a:xfrm>
          <a:prstGeom prst="roundRect">
            <a:avLst>
              <a:gd name="adj" fmla="val 4266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310896" y="8099622"/>
            <a:ext cx="3063239" cy="41148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365759" y="8440794"/>
            <a:ext cx="2953511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2% SALI-CINAMIDE FW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65759" y="8596242"/>
            <a:ext cx="2953511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500" b="1">
                <a:solidFill>
                  <a:srgbClr val="1F2933"/>
                </a:solidFill>
                <a:latin typeface="Aptos"/>
              </a:rPr>
              <a:t>74 → 412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65759" y="8870562"/>
            <a:ext cx="2953511" cy="1737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>
                <a:solidFill>
                  <a:srgbClr val="6B7682"/>
                </a:solidFill>
                <a:latin typeface="Aptos"/>
              </a:rPr>
              <a:t>D-Mart doors · throughput 81 → 135 units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3483863" y="8099622"/>
            <a:ext cx="3063239" cy="1285848"/>
          </a:xfrm>
          <a:prstGeom prst="roundRect">
            <a:avLst>
              <a:gd name="adj" fmla="val 4266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3483863" y="8099622"/>
            <a:ext cx="3063239" cy="41148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3538727" y="8440794"/>
            <a:ext cx="2953511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1% KOJIC ACID FW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3538727" y="8596242"/>
            <a:ext cx="2953511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500" b="1">
                <a:solidFill>
                  <a:srgbClr val="1F2933"/>
                </a:solidFill>
                <a:latin typeface="Aptos"/>
              </a:rPr>
              <a:t>80 → 364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538727" y="8870562"/>
            <a:ext cx="2953511" cy="1737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>
                <a:solidFill>
                  <a:srgbClr val="6B7682"/>
                </a:solidFill>
                <a:latin typeface="Aptos"/>
              </a:rPr>
              <a:t>D-Mart doors · throughput 57 → 130 units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219456" y="9568350"/>
            <a:ext cx="6419088" cy="2001552"/>
          </a:xfrm>
          <a:prstGeom prst="roundRect">
            <a:avLst>
              <a:gd name="adj" fmla="val 3654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5" name="Rounded Rectangle 114"/>
          <p:cNvSpPr/>
          <p:nvPr/>
        </p:nvSpPr>
        <p:spPr>
          <a:xfrm>
            <a:off x="219456" y="9568350"/>
            <a:ext cx="6419088" cy="256032"/>
          </a:xfrm>
          <a:prstGeom prst="roundRect">
            <a:avLst>
              <a:gd name="adj" fmla="val 28571"/>
            </a:avLst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6" name="Rectangle 115"/>
          <p:cNvSpPr/>
          <p:nvPr/>
        </p:nvSpPr>
        <p:spPr>
          <a:xfrm>
            <a:off x="219456" y="9742086"/>
            <a:ext cx="6419088" cy="82296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310896" y="9568350"/>
            <a:ext cx="6236207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WHAT IS DRIVING IT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20040" y="10069089"/>
            <a:ext cx="64008" cy="64008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457200" y="9888390"/>
            <a:ext cx="6089903" cy="5422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>
              <a:lnSpc>
                <a:spcPct val="92000"/>
              </a:lnSpc>
            </a:pPr>
            <a:r>
              <a:rPr sz="1000" b="1">
                <a:solidFill>
                  <a:srgbClr val="1E8E3E"/>
                </a:solidFill>
                <a:latin typeface="Aptos"/>
              </a:rPr>
              <a:t>Share source  </a:t>
            </a:r>
            <a:r>
              <a:rPr sz="1000" b="0">
                <a:solidFill>
                  <a:srgbClr val="1F2933"/>
                </a:solidFill>
                <a:latin typeface="Aptos"/>
              </a:rPr>
              <a:t>Gain in acne partition not just from Himalaya and Clean &amp; Clear, but also Men's facewash.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20040" y="10669710"/>
            <a:ext cx="64008" cy="64008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457200" y="10476326"/>
            <a:ext cx="6089903" cy="5422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>
              <a:lnSpc>
                <a:spcPct val="92000"/>
              </a:lnSpc>
            </a:pPr>
            <a:r>
              <a:rPr sz="1000" b="1">
                <a:solidFill>
                  <a:srgbClr val="1E8E3E"/>
                </a:solidFill>
                <a:latin typeface="Aptos"/>
              </a:rPr>
              <a:t>Distribution  </a:t>
            </a:r>
            <a:r>
              <a:rPr sz="1000" b="0">
                <a:solidFill>
                  <a:srgbClr val="1F2933"/>
                </a:solidFill>
                <a:latin typeface="Aptos"/>
              </a:rPr>
              <a:t>National focus helped to rapidly scale distribution.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320040" y="11153521"/>
            <a:ext cx="64008" cy="64008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457200" y="11064262"/>
            <a:ext cx="6089903" cy="5422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>
              <a:lnSpc>
                <a:spcPct val="92000"/>
              </a:lnSpc>
            </a:pPr>
            <a:r>
              <a:rPr sz="1000" b="1">
                <a:solidFill>
                  <a:srgbClr val="2B6CB0"/>
                </a:solidFill>
                <a:latin typeface="Aptos"/>
              </a:rPr>
              <a:t>Next chain  </a:t>
            </a:r>
            <a:r>
              <a:rPr sz="1000" b="0">
                <a:solidFill>
                  <a:srgbClr val="1F2933"/>
                </a:solidFill>
                <a:latin typeface="Aptos"/>
              </a:rPr>
              <a:t>2% Sali-Cinamide showing green shoots in Reliance @ </a:t>
            </a:r>
            <a:r>
              <a:rPr sz="1000" b="1">
                <a:solidFill>
                  <a:srgbClr val="1F2933"/>
                </a:solidFill>
                <a:latin typeface="Aptos"/>
              </a:rPr>
              <a:t>35 units</a:t>
            </a:r>
            <a:r>
              <a:rPr sz="1000" b="0">
                <a:solidFill>
                  <a:srgbClr val="1F2933"/>
                </a:solidFill>
                <a:latin typeface="Aptos"/>
              </a:rPr>
              <a:t> throughput in manned counters.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0" y="11661343"/>
            <a:ext cx="6858000" cy="530352"/>
          </a:xfrm>
          <a:prstGeom prst="rect">
            <a:avLst/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5" name="Rounded Rectangle 124"/>
          <p:cNvSpPr/>
          <p:nvPr/>
        </p:nvSpPr>
        <p:spPr>
          <a:xfrm>
            <a:off x="219456" y="11771071"/>
            <a:ext cx="854964" cy="310896"/>
          </a:xfrm>
          <a:prstGeom prst="roundRect">
            <a:avLst>
              <a:gd name="adj" fmla="val 20588"/>
            </a:avLst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ctr"/>
          <a:lstStyle/>
          <a:p>
            <a:r>
              <a:rPr/>
              <a:t>VALIDATE TDC supply capacity by 15-Aug before aggressive primary billing. PRIORITISE Face Cleanser + Acne range (highest velocity). HOLD Reliance aggressive loading until conversion ≥ 75%.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1239012" y="11697919"/>
            <a:ext cx="2393441" cy="4571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lnSpc>
                <a:spcPct val="92000"/>
              </a:lnSpc>
            </a:pPr>
            <a:r>
              <a:rPr sz="900" b="1">
                <a:solidFill>
                  <a:srgbClr val="2D9B7F"/>
                </a:solidFill>
                <a:latin typeface="Aptos"/>
              </a:rPr>
              <a:t>SCALE  </a:t>
            </a:r>
            <a:r>
              <a:rPr sz="950" b="0">
                <a:solidFill>
                  <a:srgbClr val="EDEFF1"/>
                </a:solidFill>
                <a:latin typeface="Aptos"/>
              </a:rPr>
              <a:t>D-Mart proves the model; Reliance and Apollo are the next doors to open.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3687318" y="11734495"/>
            <a:ext cx="18288" cy="347471"/>
          </a:xfrm>
          <a:prstGeom prst="rect">
            <a:avLst/>
          </a:prstGeom>
          <a:solidFill>
            <a:srgbClr val="4A5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3742181" y="11697919"/>
            <a:ext cx="2393441" cy="4571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lnSpc>
                <a:spcPct val="92000"/>
              </a:lnSpc>
            </a:pPr>
            <a:r>
              <a:rPr sz="900" b="1">
                <a:solidFill>
                  <a:srgbClr val="2D9B7F"/>
                </a:solidFill>
                <a:latin typeface="Aptos"/>
              </a:rPr>
              <a:t>GUARD  </a:t>
            </a:r>
            <a:r>
              <a:rPr sz="950" b="0">
                <a:solidFill>
                  <a:srgbClr val="EDEFF1"/>
                </a:solidFill>
                <a:latin typeface="Aptos"/>
              </a:rPr>
              <a:t>Fill rate on Kojic is the constraint, not demand.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6135624" y="11679631"/>
            <a:ext cx="50292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00" b="0">
                <a:solidFill>
                  <a:srgbClr val="8A939C"/>
                </a:solidFill>
                <a:latin typeface="Aptos"/>
              </a:rPr>
              <a:t>2/6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309415"/>
          </a:xfrm>
          <a:prstGeom prst="rect">
            <a:avLst/>
          </a:prstGeom>
          <a:solidFill>
            <a:srgbClr val="1F7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09415"/>
            <a:ext cx="6858000" cy="41148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19456" y="100584"/>
            <a:ext cx="6419088" cy="1920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r>
              <a:rPr/>
              <a:t>FACE WASH | Q1 FY27 | CATEGORY DEEP DIVE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219456" y="292608"/>
            <a:ext cx="6419088" cy="69934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r>
              <a:rPr/>
              <a:t>MAMAEARTH FW ₹32.59 CR (+33% YOY), NIELSEN MAT +56%—PACK OPPORTUNITY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" y="1010237"/>
            <a:ext cx="6419088" cy="20773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0">
                <a:solidFill>
                  <a:srgbClr val="CFE3DB"/>
                </a:solidFill>
                <a:latin typeface="Aptos"/>
              </a:rPr>
              <a:t>D-Mart facewash category growing @ 20% YoY; Honasa grew ahead of 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9456" y="1442003"/>
            <a:ext cx="3154679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19456" y="1515155"/>
            <a:ext cx="50292" cy="585216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02336" y="1496867"/>
            <a:ext cx="28803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ME FACEWASH Q1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" y="1725467"/>
            <a:ext cx="288036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900" b="1">
                <a:solidFill>
                  <a:srgbClr val="1F2933"/>
                </a:solidFill>
                <a:latin typeface="Aptos"/>
              </a:rPr>
              <a:t>₹32.59 Cr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" y="2063794"/>
            <a:ext cx="28803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1E8E3E"/>
                </a:solidFill>
                <a:latin typeface="Aptos"/>
              </a:rPr>
              <a:t>▲ 33% YoY, ▲ 25% seq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83863" y="1442003"/>
            <a:ext cx="3154679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83863" y="1515155"/>
            <a:ext cx="50292" cy="585216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66744" y="1496867"/>
            <a:ext cx="28803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D-MART HONASA SHARE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66744" y="1725467"/>
            <a:ext cx="288036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900" b="1">
                <a:solidFill>
                  <a:srgbClr val="1F2933"/>
                </a:solidFill>
                <a:latin typeface="Aptos"/>
              </a:rPr>
              <a:t>27%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66744" y="2063794"/>
            <a:ext cx="28803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1E8E3E"/>
                </a:solidFill>
                <a:latin typeface="Aptos"/>
              </a:rPr>
              <a:t>▲ from 17% 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9456" y="2283251"/>
            <a:ext cx="3154679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19456" y="2356403"/>
            <a:ext cx="50292" cy="585216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02336" y="2338115"/>
            <a:ext cx="28803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RICE RANGE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2336" y="2566715"/>
            <a:ext cx="288036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900" b="1">
                <a:solidFill>
                  <a:srgbClr val="1F2933"/>
                </a:solidFill>
                <a:latin typeface="Aptos"/>
              </a:rPr>
              <a:t>₹15.81 Cr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36" y="2905043"/>
            <a:ext cx="28803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1E8E3E"/>
                </a:solidFill>
                <a:latin typeface="Aptos"/>
              </a:rPr>
              <a:t>▲ 82% YoY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83863" y="2283251"/>
            <a:ext cx="3154679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483863" y="2356403"/>
            <a:ext cx="50292" cy="585216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666744" y="2338115"/>
            <a:ext cx="28803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LARGE PACKS (200+150)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66744" y="2566715"/>
            <a:ext cx="288036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900" b="1">
                <a:solidFill>
                  <a:srgbClr val="1F2933"/>
                </a:solidFill>
                <a:latin typeface="Aptos"/>
              </a:rPr>
              <a:t>67%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66744" y="2905043"/>
            <a:ext cx="28803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1E8E3E"/>
                </a:solidFill>
                <a:latin typeface="Aptos"/>
              </a:rPr>
              <a:t>▲ from 54% of value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19456" y="3124499"/>
            <a:ext cx="6419088" cy="2287793"/>
          </a:xfrm>
          <a:prstGeom prst="roundRect">
            <a:avLst>
              <a:gd name="adj" fmla="val 3197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219456" y="3124499"/>
            <a:ext cx="6419088" cy="256032"/>
          </a:xfrm>
          <a:prstGeom prst="roundRect">
            <a:avLst>
              <a:gd name="adj" fmla="val 28571"/>
            </a:avLst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19456" y="3298235"/>
            <a:ext cx="6419088" cy="82296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10896" y="3124499"/>
            <a:ext cx="6236207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ME FACEWASH BY RANGE — Q1 FY27 (₹ LACS)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9184" y="3632888"/>
            <a:ext cx="1188720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 b="1">
                <a:solidFill>
                  <a:srgbClr val="1F2933"/>
                </a:solidFill>
                <a:latin typeface="Aptos"/>
              </a:rPr>
              <a:t>Rice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572768" y="3738044"/>
            <a:ext cx="3682895" cy="173736"/>
          </a:xfrm>
          <a:prstGeom prst="roundRect">
            <a:avLst>
              <a:gd name="adj" fmla="val 21052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572768" y="3738044"/>
            <a:ext cx="3682895" cy="173736"/>
          </a:xfrm>
          <a:prstGeom prst="roundRect">
            <a:avLst>
              <a:gd name="adj" fmla="val 21052"/>
            </a:avLst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283095" y="3632888"/>
            <a:ext cx="566928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900" b="1">
                <a:solidFill>
                  <a:srgbClr val="1F2933"/>
                </a:solidFill>
                <a:latin typeface="Aptos"/>
              </a:rPr>
              <a:t>1,581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50023" y="3632888"/>
            <a:ext cx="706224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50" b="1">
                <a:solidFill>
                  <a:srgbClr val="1E8E3E"/>
                </a:solidFill>
                <a:latin typeface="Aptos"/>
              </a:rPr>
              <a:t>▲ 82%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9184" y="4016936"/>
            <a:ext cx="1188720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 b="1">
                <a:solidFill>
                  <a:srgbClr val="1F2933"/>
                </a:solidFill>
                <a:latin typeface="Aptos"/>
              </a:rPr>
              <a:t>Ubtan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572768" y="4122092"/>
            <a:ext cx="3682895" cy="173736"/>
          </a:xfrm>
          <a:prstGeom prst="roundRect">
            <a:avLst>
              <a:gd name="adj" fmla="val 21052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1572768" y="4122092"/>
            <a:ext cx="2203680" cy="173736"/>
          </a:xfrm>
          <a:prstGeom prst="roundRect">
            <a:avLst>
              <a:gd name="adj" fmla="val 21052"/>
            </a:avLst>
          </a:prstGeom>
          <a:solidFill>
            <a:srgbClr val="C77D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283095" y="4016936"/>
            <a:ext cx="566928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900" b="1">
                <a:solidFill>
                  <a:srgbClr val="1F2933"/>
                </a:solidFill>
                <a:latin typeface="Aptos"/>
              </a:rPr>
              <a:t>946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850023" y="4016936"/>
            <a:ext cx="706224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50" b="1">
                <a:solidFill>
                  <a:srgbClr val="1E8E3E"/>
                </a:solidFill>
                <a:latin typeface="Aptos"/>
              </a:rPr>
              <a:t>▲ 13%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9184" y="4400984"/>
            <a:ext cx="1188720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 b="1">
                <a:solidFill>
                  <a:srgbClr val="1F2933"/>
                </a:solidFill>
                <a:latin typeface="Aptos"/>
              </a:rPr>
              <a:t>Vitamin C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572768" y="4506140"/>
            <a:ext cx="3682895" cy="173736"/>
          </a:xfrm>
          <a:prstGeom prst="roundRect">
            <a:avLst>
              <a:gd name="adj" fmla="val 21052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1572768" y="4506140"/>
            <a:ext cx="1101840" cy="173736"/>
          </a:xfrm>
          <a:prstGeom prst="roundRect">
            <a:avLst>
              <a:gd name="adj" fmla="val 21052"/>
            </a:avLst>
          </a:prstGeom>
          <a:solidFill>
            <a:srgbClr val="C77D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283095" y="4400984"/>
            <a:ext cx="566928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900" b="1">
                <a:solidFill>
                  <a:srgbClr val="1F2933"/>
                </a:solidFill>
                <a:latin typeface="Aptos"/>
              </a:rPr>
              <a:t>473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50023" y="4400984"/>
            <a:ext cx="706224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50" b="1">
                <a:solidFill>
                  <a:srgbClr val="1E8E3E"/>
                </a:solidFill>
                <a:latin typeface="Aptos"/>
              </a:rPr>
              <a:t>▲ 7%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9184" y="4785032"/>
            <a:ext cx="1188720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 b="1">
                <a:solidFill>
                  <a:srgbClr val="1F2933"/>
                </a:solidFill>
                <a:latin typeface="Aptos"/>
              </a:rPr>
              <a:t>Tea Tree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572768" y="4890188"/>
            <a:ext cx="3682895" cy="173736"/>
          </a:xfrm>
          <a:prstGeom prst="roundRect">
            <a:avLst>
              <a:gd name="adj" fmla="val 21052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1572768" y="4890188"/>
            <a:ext cx="160733" cy="173736"/>
          </a:xfrm>
          <a:prstGeom prst="roundRect">
            <a:avLst>
              <a:gd name="adj" fmla="val 22755"/>
            </a:avLst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5283095" y="4785032"/>
            <a:ext cx="566928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900" b="1">
                <a:solidFill>
                  <a:srgbClr val="1F2933"/>
                </a:solidFill>
                <a:latin typeface="Aptos"/>
              </a:rPr>
              <a:t>69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850023" y="4785032"/>
            <a:ext cx="706224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50" b="1">
                <a:solidFill>
                  <a:srgbClr val="1E8E3E"/>
                </a:solidFill>
                <a:latin typeface="Aptos"/>
              </a:rPr>
              <a:t>▲ 52% seq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19456" y="5522020"/>
            <a:ext cx="6419088" cy="2396736"/>
          </a:xfrm>
          <a:prstGeom prst="roundRect">
            <a:avLst>
              <a:gd name="adj" fmla="val 3052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219456" y="5522020"/>
            <a:ext cx="6419088" cy="256032"/>
          </a:xfrm>
          <a:prstGeom prst="roundRect">
            <a:avLst>
              <a:gd name="adj" fmla="val 28571"/>
            </a:avLst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219456" y="5695756"/>
            <a:ext cx="6419088" cy="82296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310896" y="5522020"/>
            <a:ext cx="6236207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PACK SIZE MIX — ₹ LACS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10896" y="5920288"/>
            <a:ext cx="6236207" cy="310896"/>
          </a:xfrm>
          <a:prstGeom prst="roundRect">
            <a:avLst>
              <a:gd name="adj" fmla="val 11764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356615" y="5920288"/>
            <a:ext cx="169033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PACK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138389" y="5920288"/>
            <a:ext cx="1393371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Q1 FY27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23201" y="5920288"/>
            <a:ext cx="1393371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SEQ QOQ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108012" y="5920288"/>
            <a:ext cx="1393371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YOY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56615" y="6231184"/>
            <a:ext cx="169033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150 ml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138389" y="6231184"/>
            <a:ext cx="1393371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1,878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23201" y="6231184"/>
            <a:ext cx="1393371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25%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108012" y="6231184"/>
            <a:ext cx="1393371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43%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10896" y="6542080"/>
            <a:ext cx="6236207" cy="310896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356615" y="6542080"/>
            <a:ext cx="169033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100 ml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138389" y="6542080"/>
            <a:ext cx="1393371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917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623201" y="6542080"/>
            <a:ext cx="1393371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19%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108012" y="6542080"/>
            <a:ext cx="1393371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0%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56615" y="6852976"/>
            <a:ext cx="169033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50 ml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138389" y="6852976"/>
            <a:ext cx="1393371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205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623201" y="6852976"/>
            <a:ext cx="1393371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21%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108012" y="6852976"/>
            <a:ext cx="1393371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89%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10896" y="7163872"/>
            <a:ext cx="6236207" cy="310896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356615" y="7163872"/>
            <a:ext cx="169033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200 ml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138389" y="7163872"/>
            <a:ext cx="1393371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204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623201" y="7163872"/>
            <a:ext cx="1393371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83%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108012" y="7163872"/>
            <a:ext cx="1393371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new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56615" y="7474768"/>
            <a:ext cx="169033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250 ml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138389" y="7474768"/>
            <a:ext cx="1393371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56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623201" y="7474768"/>
            <a:ext cx="1393371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C0392B"/>
                </a:solidFill>
                <a:latin typeface="Aptos"/>
              </a:rPr>
              <a:t>▼ 15%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108012" y="7474768"/>
            <a:ext cx="1393371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C0392B"/>
                </a:solidFill>
                <a:latin typeface="Aptos"/>
              </a:rPr>
              <a:t>▼ 51%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219456" y="8028484"/>
            <a:ext cx="6419088" cy="237744"/>
          </a:xfrm>
          <a:prstGeom prst="roundRect">
            <a:avLst>
              <a:gd name="adj" fmla="val 19230"/>
            </a:avLst>
          </a:prstGeom>
          <a:solidFill>
            <a:srgbClr val="1F7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ctr"/>
          <a:lstStyle/>
          <a:p>
            <a:r>
              <a:rPr/>
              <a:t>FACE WASH | Q1 FY27 | CATEGORY DEEP DIVE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219456" y="8302804"/>
            <a:ext cx="6419088" cy="1414289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5" name="Rounded Rectangle 84"/>
          <p:cNvSpPr/>
          <p:nvPr/>
        </p:nvSpPr>
        <p:spPr>
          <a:xfrm>
            <a:off x="310896" y="8385100"/>
            <a:ext cx="2005583" cy="1258841"/>
          </a:xfrm>
          <a:prstGeom prst="roundRect">
            <a:avLst>
              <a:gd name="adj" fmla="val 4358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310896" y="8385100"/>
            <a:ext cx="2005583" cy="41148"/>
          </a:xfrm>
          <a:prstGeom prst="rect">
            <a:avLst/>
          </a:prstGeom>
          <a:solidFill>
            <a:srgbClr val="C77D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365759" y="8712769"/>
            <a:ext cx="1895855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MAMAEARTH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65759" y="8868217"/>
            <a:ext cx="1895855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500" b="1">
                <a:solidFill>
                  <a:srgbClr val="1F2933"/>
                </a:solidFill>
                <a:latin typeface="Aptos"/>
              </a:rPr>
              <a:t>15%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65759" y="9188257"/>
            <a:ext cx="1895855" cy="1737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>
                <a:solidFill>
                  <a:srgbClr val="6B7682"/>
                </a:solidFill>
                <a:latin typeface="Aptos"/>
              </a:rPr>
              <a:t>17% in Q1 FY26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2426207" y="8385100"/>
            <a:ext cx="2005583" cy="1258841"/>
          </a:xfrm>
          <a:prstGeom prst="roundRect">
            <a:avLst>
              <a:gd name="adj" fmla="val 4358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2426207" y="8385100"/>
            <a:ext cx="2005583" cy="41148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2481071" y="8712769"/>
            <a:ext cx="1895855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r>
              <a:rPr/>
              <a:t>FACE WASH | Q1 FY27 | CATEGORY DEEP DIVE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481071" y="8868217"/>
            <a:ext cx="1895855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500" b="1">
                <a:solidFill>
                  <a:srgbClr val="1F2933"/>
                </a:solidFill>
                <a:latin typeface="Aptos"/>
              </a:rPr>
              <a:t>12%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481071" y="9188257"/>
            <a:ext cx="1895855" cy="1737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>
                <a:solidFill>
                  <a:srgbClr val="6B7682"/>
                </a:solidFill>
                <a:latin typeface="Aptos"/>
              </a:rPr>
              <a:t>from ~0% in Q1 FY26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4541519" y="8385100"/>
            <a:ext cx="2005583" cy="1258841"/>
          </a:xfrm>
          <a:prstGeom prst="roundRect">
            <a:avLst>
              <a:gd name="adj" fmla="val 4358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4541519" y="8385100"/>
            <a:ext cx="2005583" cy="41148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4596383" y="8712769"/>
            <a:ext cx="1895855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TOTAL HONASA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596383" y="8868217"/>
            <a:ext cx="1895855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500" b="1">
                <a:solidFill>
                  <a:srgbClr val="1F2933"/>
                </a:solidFill>
                <a:latin typeface="Aptos"/>
              </a:rPr>
              <a:t>27%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596383" y="9188257"/>
            <a:ext cx="1895855" cy="1737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1E8E3E"/>
                </a:solidFill>
                <a:latin typeface="Aptos"/>
              </a:rPr>
              <a:t>▲ 87% growth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219456" y="9826822"/>
            <a:ext cx="6419088" cy="1743080"/>
          </a:xfrm>
          <a:prstGeom prst="roundRect">
            <a:avLst>
              <a:gd name="adj" fmla="val 4196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1" name="Rounded Rectangle 100"/>
          <p:cNvSpPr/>
          <p:nvPr/>
        </p:nvSpPr>
        <p:spPr>
          <a:xfrm>
            <a:off x="219456" y="9826822"/>
            <a:ext cx="6419088" cy="256032"/>
          </a:xfrm>
          <a:prstGeom prst="roundRect">
            <a:avLst>
              <a:gd name="adj" fmla="val 28571"/>
            </a:avLst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219456" y="10000558"/>
            <a:ext cx="6419088" cy="82296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310896" y="9826822"/>
            <a:ext cx="6236207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THE READ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20040" y="10342887"/>
            <a:ext cx="64008" cy="64008"/>
          </a:xfrm>
          <a:prstGeom prst="rect">
            <a:avLst/>
          </a:prstGeom>
          <a:solidFill>
            <a:srgbClr val="C77D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457200" y="10146862"/>
            <a:ext cx="6089903" cy="45605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>
              <a:lnSpc>
                <a:spcPct val="92000"/>
              </a:lnSpc>
            </a:pPr>
            <a:r>
              <a:rPr sz="1000" b="1">
                <a:solidFill>
                  <a:srgbClr val="C77D17"/>
                </a:solidFill>
                <a:latin typeface="Aptos"/>
              </a:rPr>
              <a:t>Range  </a:t>
            </a:r>
            <a:r>
              <a:rPr sz="1000" b="0">
                <a:solidFill>
                  <a:srgbClr val="1F2933"/>
                </a:solidFill>
                <a:latin typeface="Aptos"/>
              </a:rPr>
              <a:t>Best ever quarter on Rice range, however Ubtan &amp; Vitamin C are flat.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20040" y="10798946"/>
            <a:ext cx="64008" cy="64008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457200" y="10602921"/>
            <a:ext cx="6089903" cy="45605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>
              <a:lnSpc>
                <a:spcPct val="92000"/>
              </a:lnSpc>
            </a:pPr>
            <a:r>
              <a:rPr sz="1000" b="1">
                <a:solidFill>
                  <a:srgbClr val="1E8E3E"/>
                </a:solidFill>
                <a:latin typeface="Aptos"/>
              </a:rPr>
              <a:t>Reversal  </a:t>
            </a:r>
            <a:r>
              <a:rPr sz="1000" b="0">
                <a:solidFill>
                  <a:srgbClr val="1F2933"/>
                </a:solidFill>
                <a:latin typeface="Aptos"/>
              </a:rPr>
              <a:t>Tea Tree offtake decline reversed — ▲52% sequentially.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20040" y="11255005"/>
            <a:ext cx="64008" cy="64008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457200" y="11058980"/>
            <a:ext cx="6089903" cy="45605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>
              <a:lnSpc>
                <a:spcPct val="92000"/>
              </a:lnSpc>
            </a:pPr>
            <a:r>
              <a:rPr sz="1000" b="1">
                <a:solidFill>
                  <a:srgbClr val="1E8E3E"/>
                </a:solidFill>
                <a:latin typeface="Aptos"/>
              </a:rPr>
              <a:t>Packs  </a:t>
            </a:r>
            <a:r>
              <a:rPr sz="1000" b="0">
                <a:solidFill>
                  <a:srgbClr val="1F2933"/>
                </a:solidFill>
                <a:latin typeface="Aptos"/>
              </a:rPr>
              <a:t>Doubling the business on </a:t>
            </a:r>
            <a:r>
              <a:rPr sz="1000" b="1">
                <a:solidFill>
                  <a:srgbClr val="1F2933"/>
                </a:solidFill>
                <a:latin typeface="Aptos"/>
              </a:rPr>
              <a:t>200 g</a:t>
            </a:r>
            <a:r>
              <a:rPr sz="1000" b="0">
                <a:solidFill>
                  <a:srgbClr val="1F2933"/>
                </a:solidFill>
                <a:latin typeface="Aptos"/>
              </a:rPr>
              <a:t> packs; sequential growth on 100 g.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0" y="11661343"/>
            <a:ext cx="6858000" cy="530352"/>
          </a:xfrm>
          <a:prstGeom prst="rect">
            <a:avLst/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1" name="Rounded Rectangle 110"/>
          <p:cNvSpPr/>
          <p:nvPr/>
        </p:nvSpPr>
        <p:spPr>
          <a:xfrm>
            <a:off x="219456" y="11771071"/>
            <a:ext cx="854964" cy="310896"/>
          </a:xfrm>
          <a:prstGeom prst="roundRect">
            <a:avLst>
              <a:gd name="adj" fmla="val 20588"/>
            </a:avLst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ctr"/>
          <a:lstStyle/>
          <a:p>
            <a:r>
              <a:rPr/>
              <a:t>FIELD RECONCILE WD/PDO/OOS by 31-Aug. EXPAND 150ml trial in Rice/Ubtan by 30%. INCREASE FSDU placements in D-Mart/Reliance by mid-Sep.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239012" y="11697919"/>
            <a:ext cx="2393441" cy="4571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lnSpc>
                <a:spcPct val="92000"/>
              </a:lnSpc>
            </a:pPr>
            <a:r>
              <a:rPr sz="900" b="1">
                <a:solidFill>
                  <a:srgbClr val="2D9B7F"/>
                </a:solidFill>
                <a:latin typeface="Aptos"/>
              </a:rPr>
              <a:t>PROTECT  </a:t>
            </a:r>
            <a:r>
              <a:rPr sz="950" b="0">
                <a:solidFill>
                  <a:srgbClr val="EDEFF1"/>
                </a:solidFill>
                <a:latin typeface="Aptos"/>
              </a:rPr>
              <a:t>Rice is carrying the quarter — availability on 150 ml is the priority.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687318" y="11734495"/>
            <a:ext cx="18288" cy="347471"/>
          </a:xfrm>
          <a:prstGeom prst="rect">
            <a:avLst/>
          </a:prstGeom>
          <a:solidFill>
            <a:srgbClr val="4A5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3742181" y="11697919"/>
            <a:ext cx="2393441" cy="4571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lnSpc>
                <a:spcPct val="92000"/>
              </a:lnSpc>
            </a:pPr>
            <a:r>
              <a:rPr sz="900" b="1">
                <a:solidFill>
                  <a:srgbClr val="2D9B7F"/>
                </a:solidFill>
                <a:latin typeface="Aptos"/>
              </a:rPr>
              <a:t>FIX  </a:t>
            </a:r>
            <a:r>
              <a:rPr sz="950" b="0">
                <a:solidFill>
                  <a:srgbClr val="EDEFF1"/>
                </a:solidFill>
                <a:latin typeface="Aptos"/>
              </a:rPr>
              <a:t>Ubtan and Vitamin C are flat and need a separate plan.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135624" y="11679631"/>
            <a:ext cx="50292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00" b="0">
                <a:solidFill>
                  <a:srgbClr val="8A939C"/>
                </a:solidFill>
                <a:latin typeface="Aptos"/>
              </a:rPr>
              <a:t>3/6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309415"/>
          </a:xfrm>
          <a:prstGeom prst="rect">
            <a:avLst/>
          </a:prstGeom>
          <a:solidFill>
            <a:srgbClr val="1F7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09415"/>
            <a:ext cx="6858000" cy="41148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19456" y="100584"/>
            <a:ext cx="6419088" cy="1920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r>
              <a:rPr/>
              <a:t>SHAMPOO &amp; SUN CARE | Q1 FY27</a:t>
            </a:r>
          </a:p>
        </p:txBody>
      </p:sp>
      <p:sp>
        <p:nvSpPr>
          <p:cNvPr id="6" name="Rectangle 5"/>
          <p:cNvSpPr/>
          <p:nvPr/>
        </p:nvSpPr>
        <p:spPr>
          <a:xfrm>
            <a:off x="219456" y="292608"/>
            <a:ext cx="6419088" cy="69934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BEST EVER OFFTAKE ON SHAMPOO LED BY RELIANCE, AND A BEST EVER 20 CR+ SUN CARE QUARTER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" y="1010237"/>
            <a:ext cx="6419088" cy="20773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r>
              <a:rPr/>
              <a:t>Shampoo: Reliance ₹8.98 Cr (41% of category); Nielsen 650ml = 72% of category value, +58% YoY (gap: ME only 3/16 formats). Sun Care: All-brand best-ever due to TDC + Aqualogica scale.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9456" y="1442003"/>
            <a:ext cx="3154679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19456" y="1515155"/>
            <a:ext cx="50292" cy="585216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02336" y="1496867"/>
            <a:ext cx="28803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r>
              <a:rPr/>
              <a:t>SHAMPOO &amp; SUN CARE | Q1 FY27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" y="1725467"/>
            <a:ext cx="288036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900" b="1">
                <a:solidFill>
                  <a:srgbClr val="1F2933"/>
                </a:solidFill>
                <a:latin typeface="Aptos"/>
              </a:rPr>
              <a:t>₹22.02 Cr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" y="2063794"/>
            <a:ext cx="28803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1E8E3E"/>
                </a:solidFill>
                <a:latin typeface="Aptos"/>
              </a:rPr>
              <a:t>▲ 65% YoY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83863" y="1442003"/>
            <a:ext cx="3154679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83863" y="1515155"/>
            <a:ext cx="50292" cy="585216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66744" y="1496867"/>
            <a:ext cx="28803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r>
              <a:rPr/>
              <a:t>SHAMPOO &amp; SUN CARE | Q1 FY27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66744" y="1725467"/>
            <a:ext cx="288036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900" b="1">
                <a:solidFill>
                  <a:srgbClr val="1F2933"/>
                </a:solidFill>
                <a:latin typeface="Aptos"/>
              </a:rPr>
              <a:t>₹8.98 Cr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66744" y="2063794"/>
            <a:ext cx="28803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1E8E3E"/>
                </a:solidFill>
                <a:latin typeface="Aptos"/>
              </a:rPr>
              <a:t>▲ 80% YoY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9456" y="2283251"/>
            <a:ext cx="3154679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19456" y="2356403"/>
            <a:ext cx="50292" cy="585216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02336" y="2338115"/>
            <a:ext cx="28803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SUN CARE Q1 (ALL BRANDS)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2336" y="2566715"/>
            <a:ext cx="288036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900" b="1">
                <a:solidFill>
                  <a:srgbClr val="1F2933"/>
                </a:solidFill>
                <a:latin typeface="Aptos"/>
              </a:rPr>
              <a:t>₹21.75 Cr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36" y="2905043"/>
            <a:ext cx="28803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1E8E3E"/>
                </a:solidFill>
                <a:latin typeface="Aptos"/>
              </a:rPr>
              <a:t>▲ best ever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83863" y="2283251"/>
            <a:ext cx="3154679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483863" y="2356403"/>
            <a:ext cx="50292" cy="585216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666744" y="2338115"/>
            <a:ext cx="28803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r>
              <a:rPr/>
              <a:t>SHAMPOO &amp; SUN CARE | Q1 FY27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66744" y="2566715"/>
            <a:ext cx="288036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900" b="1">
                <a:solidFill>
                  <a:srgbClr val="1F2933"/>
                </a:solidFill>
                <a:latin typeface="Aptos"/>
              </a:rPr>
              <a:t>₹100 Cr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66744" y="2905043"/>
            <a:ext cx="28803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annualised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19456" y="3124499"/>
            <a:ext cx="6419088" cy="2343415"/>
          </a:xfrm>
          <a:prstGeom prst="roundRect">
            <a:avLst>
              <a:gd name="adj" fmla="val 3121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219456" y="3124499"/>
            <a:ext cx="6419088" cy="256032"/>
          </a:xfrm>
          <a:prstGeom prst="roundRect">
            <a:avLst>
              <a:gd name="adj" fmla="val 28571"/>
            </a:avLst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19456" y="3298235"/>
            <a:ext cx="6419088" cy="82296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10896" y="3124499"/>
            <a:ext cx="6236207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r>
              <a:rPr/>
              <a:t>SHAMPOO &amp; SUN CARE | Q1 FY27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9184" y="3660699"/>
            <a:ext cx="1188720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 b="1">
                <a:solidFill>
                  <a:srgbClr val="1F2933"/>
                </a:solidFill>
                <a:latin typeface="Aptos"/>
              </a:rPr>
              <a:t>Onion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572768" y="3765855"/>
            <a:ext cx="3730752" cy="173736"/>
          </a:xfrm>
          <a:prstGeom prst="roundRect">
            <a:avLst>
              <a:gd name="adj" fmla="val 21052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572768" y="3765855"/>
            <a:ext cx="3730752" cy="173736"/>
          </a:xfrm>
          <a:prstGeom prst="roundRect">
            <a:avLst>
              <a:gd name="adj" fmla="val 21052"/>
            </a:avLst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330952" y="3660699"/>
            <a:ext cx="566928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900" b="1">
                <a:solidFill>
                  <a:srgbClr val="1F2933"/>
                </a:solidFill>
                <a:latin typeface="Aptos"/>
              </a:rPr>
              <a:t>1,339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97880" y="3660699"/>
            <a:ext cx="658368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50" b="1">
                <a:solidFill>
                  <a:srgbClr val="1E8E3E"/>
                </a:solidFill>
                <a:latin typeface="Aptos"/>
              </a:rPr>
              <a:t>▲ 46%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9184" y="4044747"/>
            <a:ext cx="1188720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 b="1">
                <a:solidFill>
                  <a:srgbClr val="1F2933"/>
                </a:solidFill>
                <a:latin typeface="Aptos"/>
              </a:rPr>
              <a:t>Rosemary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572768" y="4149903"/>
            <a:ext cx="3730752" cy="173736"/>
          </a:xfrm>
          <a:prstGeom prst="roundRect">
            <a:avLst>
              <a:gd name="adj" fmla="val 21052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1572768" y="4149903"/>
            <a:ext cx="1930852" cy="173736"/>
          </a:xfrm>
          <a:prstGeom prst="roundRect">
            <a:avLst>
              <a:gd name="adj" fmla="val 21052"/>
            </a:avLst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330952" y="4044747"/>
            <a:ext cx="566928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900" b="1">
                <a:solidFill>
                  <a:srgbClr val="1F2933"/>
                </a:solidFill>
                <a:latin typeface="Aptos"/>
              </a:rPr>
              <a:t>693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897880" y="4044747"/>
            <a:ext cx="658368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50" b="1">
                <a:solidFill>
                  <a:srgbClr val="1E8E3E"/>
                </a:solidFill>
                <a:latin typeface="Aptos"/>
              </a:rPr>
              <a:t>▲ 146%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9184" y="4428795"/>
            <a:ext cx="1188720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 b="1">
                <a:solidFill>
                  <a:srgbClr val="1F2933"/>
                </a:solidFill>
                <a:latin typeface="Aptos"/>
              </a:rPr>
              <a:t>Rice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572768" y="4533951"/>
            <a:ext cx="3730752" cy="173736"/>
          </a:xfrm>
          <a:prstGeom prst="roundRect">
            <a:avLst>
              <a:gd name="adj" fmla="val 21052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1572768" y="4533951"/>
            <a:ext cx="245187" cy="173736"/>
          </a:xfrm>
          <a:prstGeom prst="roundRect">
            <a:avLst>
              <a:gd name="adj" fmla="val 21052"/>
            </a:avLst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330952" y="4428795"/>
            <a:ext cx="566928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900" b="1">
                <a:solidFill>
                  <a:srgbClr val="1F2933"/>
                </a:solidFill>
                <a:latin typeface="Aptos"/>
              </a:rPr>
              <a:t>88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97880" y="4428795"/>
            <a:ext cx="658368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50" b="1">
                <a:solidFill>
                  <a:srgbClr val="1E8E3E"/>
                </a:solidFill>
                <a:latin typeface="Aptos"/>
              </a:rPr>
              <a:t>▲ 750%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9184" y="4812843"/>
            <a:ext cx="1188720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 b="1">
                <a:solidFill>
                  <a:srgbClr val="1F2933"/>
                </a:solidFill>
                <a:latin typeface="Aptos"/>
              </a:rPr>
              <a:t>Lemon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572768" y="4917999"/>
            <a:ext cx="3730752" cy="173736"/>
          </a:xfrm>
          <a:prstGeom prst="roundRect">
            <a:avLst>
              <a:gd name="adj" fmla="val 21052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1572768" y="4917999"/>
            <a:ext cx="195035" cy="173736"/>
          </a:xfrm>
          <a:prstGeom prst="roundRect">
            <a:avLst>
              <a:gd name="adj" fmla="val 21052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5330952" y="4812843"/>
            <a:ext cx="566928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900" b="1">
                <a:solidFill>
                  <a:srgbClr val="1F2933"/>
                </a:solidFill>
                <a:latin typeface="Aptos"/>
              </a:rPr>
              <a:t>70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897880" y="4812843"/>
            <a:ext cx="658368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50" b="1">
                <a:solidFill>
                  <a:srgbClr val="C0392B"/>
                </a:solidFill>
                <a:latin typeface="Aptos"/>
              </a:rPr>
              <a:t>▼ 15%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19456" y="5577643"/>
            <a:ext cx="6419088" cy="237744"/>
          </a:xfrm>
          <a:prstGeom prst="roundRect">
            <a:avLst>
              <a:gd name="adj" fmla="val 19230"/>
            </a:avLst>
          </a:prstGeom>
          <a:solidFill>
            <a:srgbClr val="1F7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9144" rIns="64008" bIns="9144" rtlCol="0" anchor="ctr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ptos"/>
              </a:rPr>
              <a:t>SUN CARE — BEST EVER QUARTER, ALL THREE BRANDS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19456" y="5851963"/>
            <a:ext cx="6419088" cy="1497530"/>
          </a:xfrm>
          <a:prstGeom prst="roundRect">
            <a:avLst>
              <a:gd name="adj" fmla="val 4884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310896" y="5934259"/>
            <a:ext cx="2005583" cy="1342082"/>
          </a:xfrm>
          <a:prstGeom prst="roundRect">
            <a:avLst>
              <a:gd name="adj" fmla="val 4087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310896" y="5934259"/>
            <a:ext cx="2005583" cy="41148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365759" y="6303548"/>
            <a:ext cx="1895855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r>
              <a:rPr/>
              <a:t>SHAMPOO &amp; SUN CARE | Q1 FY27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59" y="6458996"/>
            <a:ext cx="1895855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500" b="1">
                <a:solidFill>
                  <a:srgbClr val="1F2933"/>
                </a:solidFill>
                <a:latin typeface="Aptos"/>
              </a:rPr>
              <a:t>₹10.59 Cr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59" y="6733316"/>
            <a:ext cx="1895855" cy="1737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1E8E3E"/>
                </a:solidFill>
                <a:latin typeface="Aptos"/>
              </a:rPr>
              <a:t>▲ 290%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426207" y="5934259"/>
            <a:ext cx="2005583" cy="1342082"/>
          </a:xfrm>
          <a:prstGeom prst="roundRect">
            <a:avLst>
              <a:gd name="adj" fmla="val 4087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2426207" y="5934259"/>
            <a:ext cx="2005583" cy="41148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481071" y="6303548"/>
            <a:ext cx="1895855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MAMAEARTH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481071" y="6458996"/>
            <a:ext cx="1895855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500" b="1">
                <a:solidFill>
                  <a:srgbClr val="1F2933"/>
                </a:solidFill>
                <a:latin typeface="Aptos"/>
              </a:rPr>
              <a:t>₹9.42 Cr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481071" y="6733316"/>
            <a:ext cx="1895855" cy="1737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1E8E3E"/>
                </a:solidFill>
                <a:latin typeface="Aptos"/>
              </a:rPr>
              <a:t>▲ 61%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541519" y="5934259"/>
            <a:ext cx="2005583" cy="1342082"/>
          </a:xfrm>
          <a:prstGeom prst="roundRect">
            <a:avLst>
              <a:gd name="adj" fmla="val 4087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4541519" y="5934259"/>
            <a:ext cx="2005583" cy="41148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4596383" y="6303548"/>
            <a:ext cx="1895855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AQUALOGICA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96383" y="6458996"/>
            <a:ext cx="1895855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500" b="1">
                <a:solidFill>
                  <a:srgbClr val="1F2933"/>
                </a:solidFill>
                <a:latin typeface="Aptos"/>
              </a:rPr>
              <a:t>₹1.74 Cr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96383" y="6733316"/>
            <a:ext cx="1895855" cy="1737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1E8E3E"/>
                </a:solidFill>
                <a:latin typeface="Aptos"/>
              </a:rPr>
              <a:t>▲ 26%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19456" y="7459221"/>
            <a:ext cx="6419088" cy="2343415"/>
          </a:xfrm>
          <a:prstGeom prst="roundRect">
            <a:avLst>
              <a:gd name="adj" fmla="val 3121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0" name="Rounded Rectangle 69"/>
          <p:cNvSpPr/>
          <p:nvPr/>
        </p:nvSpPr>
        <p:spPr>
          <a:xfrm>
            <a:off x="219456" y="7459221"/>
            <a:ext cx="6419088" cy="256032"/>
          </a:xfrm>
          <a:prstGeom prst="roundRect">
            <a:avLst>
              <a:gd name="adj" fmla="val 28571"/>
            </a:avLst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219456" y="7632957"/>
            <a:ext cx="6419088" cy="82296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310896" y="7459221"/>
            <a:ext cx="6236207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r>
              <a:rPr/>
              <a:t>SHAMPOO &amp; SUN CARE | Q1 FY27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20040" y="7993321"/>
            <a:ext cx="64008" cy="64008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457200" y="7779261"/>
            <a:ext cx="6089903" cy="4921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>
              <a:lnSpc>
                <a:spcPct val="92000"/>
              </a:lnSpc>
            </a:pPr>
            <a:r>
              <a:rPr sz="1000" b="1">
                <a:solidFill>
                  <a:srgbClr val="1E8E3E"/>
                </a:solidFill>
                <a:latin typeface="Aptos"/>
              </a:rPr>
              <a:t>Revival  </a:t>
            </a:r>
            <a:r>
              <a:rPr sz="1000" b="0">
                <a:solidFill>
                  <a:srgbClr val="1F2933"/>
                </a:solidFill>
                <a:latin typeface="Aptos"/>
              </a:rPr>
              <a:t>6 continuous quarters of revival of Onion; Rosemary now at </a:t>
            </a:r>
            <a:r>
              <a:rPr sz="1000" b="1">
                <a:solidFill>
                  <a:srgbClr val="1F2933"/>
                </a:solidFill>
                <a:latin typeface="Aptos"/>
              </a:rPr>
              <a:t>50%+ of Onion</a:t>
            </a:r>
            <a:r>
              <a:rPr sz="1000" b="0">
                <a:solidFill>
                  <a:srgbClr val="1F2933"/>
                </a:solidFill>
                <a:latin typeface="Aptos"/>
              </a:rPr>
              <a:t>.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20040" y="8485449"/>
            <a:ext cx="64008" cy="64008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457200" y="8271389"/>
            <a:ext cx="6089903" cy="4921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>
              <a:lnSpc>
                <a:spcPct val="92000"/>
              </a:lnSpc>
            </a:pPr>
            <a:r>
              <a:rPr sz="1000" b="1">
                <a:solidFill>
                  <a:srgbClr val="1E8E3E"/>
                </a:solidFill>
                <a:latin typeface="Aptos"/>
              </a:rPr>
              <a:t>Upsizing  </a:t>
            </a:r>
            <a:r>
              <a:rPr sz="1000" b="0">
                <a:solidFill>
                  <a:srgbClr val="1F2933"/>
                </a:solidFill>
                <a:latin typeface="Aptos"/>
              </a:rPr>
              <a:t>600+ ml upsizing in both Reliance &amp; Apollo, not at the expense of 400 ml.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20040" y="8977577"/>
            <a:ext cx="64008" cy="64008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457200" y="8763517"/>
            <a:ext cx="6089903" cy="4921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>
              <a:lnSpc>
                <a:spcPct val="92000"/>
              </a:lnSpc>
            </a:pPr>
            <a:r>
              <a:rPr sz="1000" b="1">
                <a:solidFill>
                  <a:srgbClr val="1E8E3E"/>
                </a:solidFill>
                <a:latin typeface="Aptos"/>
              </a:rPr>
              <a:t>Reliance  </a:t>
            </a:r>
            <a:r>
              <a:rPr sz="1000" b="0">
                <a:solidFill>
                  <a:srgbClr val="1F2933"/>
                </a:solidFill>
                <a:latin typeface="Aptos"/>
              </a:rPr>
              <a:t>650 ml contribution increased from 5% in Q2 LY to </a:t>
            </a:r>
            <a:r>
              <a:rPr sz="1000" b="1">
                <a:solidFill>
                  <a:srgbClr val="1F2933"/>
                </a:solidFill>
                <a:latin typeface="Aptos"/>
              </a:rPr>
              <a:t>19%</a:t>
            </a:r>
            <a:r>
              <a:rPr sz="1000" b="0">
                <a:solidFill>
                  <a:srgbClr val="1F2933"/>
                </a:solidFill>
                <a:latin typeface="Aptos"/>
              </a:rPr>
              <a:t> in Q1 FY27.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20040" y="9411300"/>
            <a:ext cx="64008" cy="64008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457200" y="9255645"/>
            <a:ext cx="6089903" cy="4921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>
              <a:lnSpc>
                <a:spcPct val="92000"/>
              </a:lnSpc>
            </a:pPr>
            <a:r>
              <a:rPr sz="1000" b="1">
                <a:solidFill>
                  <a:srgbClr val="1E8E3E"/>
                </a:solidFill>
                <a:latin typeface="Aptos"/>
              </a:rPr>
              <a:t>Combo  </a:t>
            </a:r>
            <a:r>
              <a:rPr sz="1000" b="0">
                <a:solidFill>
                  <a:srgbClr val="1F2933"/>
                </a:solidFill>
                <a:latin typeface="Aptos"/>
              </a:rPr>
              <a:t>Mera Wala Combo baseline moves to </a:t>
            </a:r>
            <a:r>
              <a:rPr sz="1000" b="1">
                <a:solidFill>
                  <a:srgbClr val="1F2933"/>
                </a:solidFill>
                <a:latin typeface="Aptos"/>
              </a:rPr>
              <a:t>1 lakh units</a:t>
            </a:r>
            <a:r>
              <a:rPr sz="1000" b="0">
                <a:solidFill>
                  <a:srgbClr val="1F2933"/>
                </a:solidFill>
                <a:latin typeface="Aptos"/>
              </a:rPr>
              <a:t> monthly; +25K users/month on 400 ml.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219456" y="9912365"/>
            <a:ext cx="6419088" cy="1657537"/>
          </a:xfrm>
          <a:prstGeom prst="roundRect">
            <a:avLst>
              <a:gd name="adj" fmla="val 4413"/>
            </a:avLst>
          </a:prstGeom>
          <a:solidFill>
            <a:srgbClr val="F4F1EC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219456" y="9912365"/>
            <a:ext cx="68580" cy="1657537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402336" y="10003805"/>
            <a:ext cx="6126479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C0392B"/>
                </a:solidFill>
                <a:latin typeface="Aptos"/>
              </a:rPr>
              <a:t>WATCH-OUT — RELIANCE SUNSCREEN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02336" y="10195829"/>
            <a:ext cx="6108192" cy="8807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000" b="1">
                <a:solidFill>
                  <a:srgbClr val="1F2933"/>
                </a:solidFill>
                <a:latin typeface="Aptos"/>
              </a:rPr>
              <a:t>MS down to 18%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02336" y="11094892"/>
            <a:ext cx="6108192" cy="41100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50" b="0">
                <a:solidFill>
                  <a:srgbClr val="1F2933"/>
                </a:solidFill>
                <a:latin typeface="Aptos"/>
              </a:rPr>
              <a:t>Lakme, the biggest sunscreen player in RRL, ran a Golden Event promotion at 50% off in May versus its BAU 33%, moving users to that SKU. Plan: lock summer stock sufficiency by Nov, drive TDC &amp; Aqua trials to scale 80 g next year.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11661343"/>
            <a:ext cx="6858000" cy="530352"/>
          </a:xfrm>
          <a:prstGeom prst="rect">
            <a:avLst/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7" name="Rounded Rectangle 86"/>
          <p:cNvSpPr/>
          <p:nvPr/>
        </p:nvSpPr>
        <p:spPr>
          <a:xfrm>
            <a:off x="219456" y="11771071"/>
            <a:ext cx="854964" cy="310896"/>
          </a:xfrm>
          <a:prstGeom prst="roundRect">
            <a:avLst>
              <a:gd name="adj" fmla="val 20588"/>
            </a:avLst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ctr"/>
          <a:lstStyle/>
          <a:p>
            <a:r>
              <a:rPr/>
              <a:t>PILOT 3-format test (650/1000/180ml) in D-Mart + Apollo by 15-Sep. VALIDATE Reliance Paisa Vasool conversion by 5-Aug before phasing. PROTECT Onion/Rosemary momentum (highest growth).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239012" y="11697919"/>
            <a:ext cx="2393441" cy="4571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lnSpc>
                <a:spcPct val="92000"/>
              </a:lnSpc>
            </a:pPr>
            <a:r>
              <a:rPr sz="900" b="1">
                <a:solidFill>
                  <a:srgbClr val="2D9B7F"/>
                </a:solidFill>
                <a:latin typeface="Aptos"/>
              </a:rPr>
              <a:t>SCALE  </a:t>
            </a:r>
            <a:r>
              <a:rPr sz="950" b="0">
                <a:solidFill>
                  <a:srgbClr val="EDEFF1"/>
                </a:solidFill>
                <a:latin typeface="Aptos"/>
              </a:rPr>
              <a:t>Rosemary is the shampoo growth lever; protect Onion while it scales.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687318" y="11734495"/>
            <a:ext cx="18288" cy="347471"/>
          </a:xfrm>
          <a:prstGeom prst="rect">
            <a:avLst/>
          </a:prstGeom>
          <a:solidFill>
            <a:srgbClr val="4A5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3742181" y="11697919"/>
            <a:ext cx="2393441" cy="4571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lnSpc>
                <a:spcPct val="92000"/>
              </a:lnSpc>
            </a:pPr>
            <a:r>
              <a:rPr sz="900" b="1">
                <a:solidFill>
                  <a:srgbClr val="2D9B7F"/>
                </a:solidFill>
                <a:latin typeface="Aptos"/>
              </a:rPr>
              <a:t>DEFEND  </a:t>
            </a:r>
            <a:r>
              <a:rPr sz="950" b="0">
                <a:solidFill>
                  <a:srgbClr val="EDEFF1"/>
                </a:solidFill>
                <a:latin typeface="Aptos"/>
              </a:rPr>
              <a:t>Sunscreen share in Reliance is a promo fight, not a demand problem.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135624" y="11679631"/>
            <a:ext cx="50292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00" b="0">
                <a:solidFill>
                  <a:srgbClr val="8A939C"/>
                </a:solidFill>
                <a:latin typeface="Aptos"/>
              </a:rPr>
              <a:t>4/6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444001"/>
          </a:xfrm>
          <a:prstGeom prst="rect">
            <a:avLst/>
          </a:prstGeom>
          <a:solidFill>
            <a:srgbClr val="1F7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44001"/>
            <a:ext cx="6858000" cy="41148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19456" y="100584"/>
            <a:ext cx="6419088" cy="1920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r>
              <a:rPr/>
              <a:t>MARKET SHARE, DISTRIBUTION &amp; SELL-OUT | MAT JUN-26</a:t>
            </a:r>
          </a:p>
        </p:txBody>
      </p:sp>
      <p:sp>
        <p:nvSpPr>
          <p:cNvPr id="6" name="Rectangle 5"/>
          <p:cNvSpPr/>
          <p:nvPr/>
        </p:nvSpPr>
        <p:spPr>
          <a:xfrm>
            <a:off x="219456" y="292608"/>
            <a:ext cx="6419088" cy="69934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r>
              <a:rPr/>
              <a:t>MAMAEARTH SHARE GAINS (FW +3.1pp, SHAMPOO +1.2pp); ₹21.9 CR BILLED-NOT-SOLD GAP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" y="1010237"/>
            <a:ext cx="6419088" cy="3423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0">
                <a:solidFill>
                  <a:srgbClr val="CFE3DB"/>
                </a:solidFill>
                <a:latin typeface="Aptos"/>
              </a:rPr>
              <a:t>External share from MS insights (MAT Jun-26); sell-out on the 26-chain matched universe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9456" y="1576589"/>
            <a:ext cx="3154679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19456" y="1649741"/>
            <a:ext cx="50292" cy="585216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02336" y="1631453"/>
            <a:ext cx="28803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FACEWASH SHARE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" y="1860053"/>
            <a:ext cx="288036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900" b="1">
                <a:solidFill>
                  <a:srgbClr val="1F2933"/>
                </a:solidFill>
                <a:latin typeface="Aptos"/>
              </a:rPr>
              <a:t>10.5%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" y="2198380"/>
            <a:ext cx="28803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1E8E3E"/>
                </a:solidFill>
                <a:latin typeface="Aptos"/>
              </a:rPr>
              <a:t>▲ +3.1 pp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83863" y="1576589"/>
            <a:ext cx="3154679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83863" y="1649741"/>
            <a:ext cx="50292" cy="585216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66744" y="1631453"/>
            <a:ext cx="28803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r>
              <a:rPr/>
              <a:t>MARKET SHARE, DISTRIBUTION &amp; SELL-OUT | MAT JUN-26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66744" y="1860053"/>
            <a:ext cx="288036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900" b="1">
                <a:solidFill>
                  <a:srgbClr val="1F2933"/>
                </a:solidFill>
                <a:latin typeface="Aptos"/>
              </a:rPr>
              <a:t>3.7%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66744" y="2198380"/>
            <a:ext cx="28803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1E8E3E"/>
                </a:solidFill>
                <a:latin typeface="Aptos"/>
              </a:rPr>
              <a:t>▲ +1.2 pp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9456" y="2417837"/>
            <a:ext cx="3154679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19456" y="2490989"/>
            <a:ext cx="50292" cy="58521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02336" y="2472701"/>
            <a:ext cx="28803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Q1 SELL-OUT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2336" y="2701301"/>
            <a:ext cx="288036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900" b="1">
                <a:solidFill>
                  <a:srgbClr val="1F2933"/>
                </a:solidFill>
                <a:latin typeface="Aptos"/>
              </a:rPr>
              <a:t>83.9%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36" y="3039628"/>
            <a:ext cx="28803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C0392B"/>
                </a:solidFill>
                <a:latin typeface="Aptos"/>
              </a:rPr>
              <a:t>▼ ₹21.9 Cr billed-not-sold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83863" y="2417837"/>
            <a:ext cx="3154679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483863" y="2490989"/>
            <a:ext cx="50292" cy="585216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666744" y="2472701"/>
            <a:ext cx="28803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JUN'26 SELL-OUT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66744" y="2701301"/>
            <a:ext cx="288036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900" b="1">
                <a:solidFill>
                  <a:srgbClr val="1F2933"/>
                </a:solidFill>
                <a:latin typeface="Aptos"/>
              </a:rPr>
              <a:t>92%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66744" y="3039628"/>
            <a:ext cx="28803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1E8E3E"/>
                </a:solidFill>
                <a:latin typeface="Aptos"/>
              </a:rPr>
              <a:t>▲ improving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19456" y="3259085"/>
            <a:ext cx="6419088" cy="1761463"/>
          </a:xfrm>
          <a:prstGeom prst="roundRect">
            <a:avLst>
              <a:gd name="adj" fmla="val 4152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219456" y="3259085"/>
            <a:ext cx="6419088" cy="256032"/>
          </a:xfrm>
          <a:prstGeom prst="roundRect">
            <a:avLst>
              <a:gd name="adj" fmla="val 28571"/>
            </a:avLst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19456" y="3432821"/>
            <a:ext cx="6419088" cy="82296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10896" y="3259085"/>
            <a:ext cx="6236207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CATEGORY SCORECARD — MAT JUN-26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10896" y="3806061"/>
            <a:ext cx="6236207" cy="310896"/>
          </a:xfrm>
          <a:prstGeom prst="roundRect">
            <a:avLst>
              <a:gd name="adj" fmla="val 11764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56615" y="3806061"/>
            <a:ext cx="1525354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CATEGORY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73410" y="3806061"/>
            <a:ext cx="106341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SHARE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28263" y="3806061"/>
            <a:ext cx="106341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GAIN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83117" y="3806061"/>
            <a:ext cx="106341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L3M YOY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37970" y="3806061"/>
            <a:ext cx="106341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WD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6615" y="4116957"/>
            <a:ext cx="1525354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Facewash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73410" y="4116957"/>
            <a:ext cx="106341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10.5%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28263" y="4116957"/>
            <a:ext cx="106341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+3.1 pp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83117" y="4116957"/>
            <a:ext cx="106341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58%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37970" y="4116957"/>
            <a:ext cx="106341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89.0%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0896" y="4427853"/>
            <a:ext cx="6236207" cy="310896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356615" y="4427853"/>
            <a:ext cx="1525354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Shampoo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973410" y="4427853"/>
            <a:ext cx="106341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3.7%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28263" y="4427853"/>
            <a:ext cx="106341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+1.2 pp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83117" y="4427853"/>
            <a:ext cx="106341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80%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37970" y="4427853"/>
            <a:ext cx="106341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81.5%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19456" y="5130277"/>
            <a:ext cx="6419088" cy="2146784"/>
          </a:xfrm>
          <a:prstGeom prst="roundRect">
            <a:avLst>
              <a:gd name="adj" fmla="val 3407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219456" y="5130277"/>
            <a:ext cx="6419088" cy="256032"/>
          </a:xfrm>
          <a:prstGeom prst="roundRect">
            <a:avLst>
              <a:gd name="adj" fmla="val 28571"/>
            </a:avLst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219456" y="5304013"/>
            <a:ext cx="6419088" cy="82296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310896" y="5130277"/>
            <a:ext cx="6236207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SELL-OUT BY CHAIN — Q1 FY27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10896" y="5559017"/>
            <a:ext cx="6236207" cy="310896"/>
          </a:xfrm>
          <a:prstGeom prst="roundRect">
            <a:avLst>
              <a:gd name="adj" fmla="val 11764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356615" y="5559017"/>
            <a:ext cx="1710131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CHAIN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158187" y="5559017"/>
            <a:ext cx="1432966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PRIMARY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82593" y="5559017"/>
            <a:ext cx="1432966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OFFTAKE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206999" y="5559017"/>
            <a:ext cx="129438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SELL-OUT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56615" y="5869913"/>
            <a:ext cx="1710131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D-Mart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158187" y="5869913"/>
            <a:ext cx="1432966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5,527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82593" y="5869913"/>
            <a:ext cx="1432966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4,232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206999" y="5869913"/>
            <a:ext cx="129438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77%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10896" y="6180809"/>
            <a:ext cx="6236207" cy="310896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356615" y="6180809"/>
            <a:ext cx="1710131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Reliance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158187" y="6180809"/>
            <a:ext cx="1432966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3,047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82593" y="6180809"/>
            <a:ext cx="1432966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2,806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206999" y="6180809"/>
            <a:ext cx="129438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92%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56615" y="6491705"/>
            <a:ext cx="1710131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Metro CNC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158187" y="6491705"/>
            <a:ext cx="1432966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—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682593" y="6491705"/>
            <a:ext cx="1432966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—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206999" y="6491705"/>
            <a:ext cx="129438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152%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10896" y="6802601"/>
            <a:ext cx="6236207" cy="310896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356615" y="6802601"/>
            <a:ext cx="1710131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TOTAL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158187" y="6802601"/>
            <a:ext cx="1432966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13,625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682593" y="6802601"/>
            <a:ext cx="1432966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11,436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206999" y="6802601"/>
            <a:ext cx="129438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83.9%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19456" y="7386789"/>
            <a:ext cx="6419088" cy="237744"/>
          </a:xfrm>
          <a:prstGeom prst="roundRect">
            <a:avLst>
              <a:gd name="adj" fmla="val 19230"/>
            </a:avLst>
          </a:prstGeom>
          <a:solidFill>
            <a:srgbClr val="1F7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9144" rIns="64008" bIns="9144" rtlCol="0" anchor="ctr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ptos"/>
              </a:rPr>
              <a:t>SHARE OF SHELF — Q1 ACTUAL VS TARGET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219456" y="7661109"/>
            <a:ext cx="6419088" cy="1542189"/>
          </a:xfrm>
          <a:prstGeom prst="roundRect">
            <a:avLst>
              <a:gd name="adj" fmla="val 4743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329184" y="7869848"/>
            <a:ext cx="1371600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 b="1">
                <a:solidFill>
                  <a:srgbClr val="1F2933"/>
                </a:solidFill>
                <a:latin typeface="Aptos"/>
              </a:rPr>
              <a:t>Sunscreen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755648" y="7975004"/>
            <a:ext cx="3367460" cy="173736"/>
          </a:xfrm>
          <a:prstGeom prst="roundRect">
            <a:avLst>
              <a:gd name="adj" fmla="val 21052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0" name="Rounded Rectangle 79"/>
          <p:cNvSpPr/>
          <p:nvPr/>
        </p:nvSpPr>
        <p:spPr>
          <a:xfrm>
            <a:off x="1755648" y="7975004"/>
            <a:ext cx="3367460" cy="173736"/>
          </a:xfrm>
          <a:prstGeom prst="roundRect">
            <a:avLst>
              <a:gd name="adj" fmla="val 21052"/>
            </a:avLst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5150540" y="7869848"/>
            <a:ext cx="566928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900" b="1">
                <a:solidFill>
                  <a:srgbClr val="1F2933"/>
                </a:solidFill>
                <a:latin typeface="Aptos"/>
              </a:rPr>
              <a:t>33%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717468" y="7869848"/>
            <a:ext cx="838779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50" b="1">
                <a:solidFill>
                  <a:srgbClr val="6B7682"/>
                </a:solidFill>
                <a:latin typeface="Aptos"/>
              </a:rPr>
              <a:t>no target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29184" y="8253896"/>
            <a:ext cx="1371600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 b="1">
                <a:solidFill>
                  <a:srgbClr val="1F2933"/>
                </a:solidFill>
                <a:latin typeface="Aptos"/>
              </a:rPr>
              <a:t>Facewash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755648" y="8359052"/>
            <a:ext cx="3367460" cy="173736"/>
          </a:xfrm>
          <a:prstGeom prst="roundRect">
            <a:avLst>
              <a:gd name="adj" fmla="val 21052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5" name="Rounded Rectangle 84"/>
          <p:cNvSpPr/>
          <p:nvPr/>
        </p:nvSpPr>
        <p:spPr>
          <a:xfrm>
            <a:off x="1755648" y="8359052"/>
            <a:ext cx="2347017" cy="173736"/>
          </a:xfrm>
          <a:prstGeom prst="roundRect">
            <a:avLst>
              <a:gd name="adj" fmla="val 21052"/>
            </a:avLst>
          </a:prstGeom>
          <a:solidFill>
            <a:srgbClr val="C77D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5150540" y="8253896"/>
            <a:ext cx="566928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900" b="1">
                <a:solidFill>
                  <a:srgbClr val="1F2933"/>
                </a:solidFill>
                <a:latin typeface="Aptos"/>
              </a:rPr>
              <a:t>23%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717468" y="8253896"/>
            <a:ext cx="838779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50" b="1">
                <a:solidFill>
                  <a:srgbClr val="6B7682"/>
                </a:solidFill>
                <a:latin typeface="Aptos"/>
              </a:rPr>
              <a:t>target 30%+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29184" y="8637944"/>
            <a:ext cx="1371600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 b="1">
                <a:solidFill>
                  <a:srgbClr val="1F2933"/>
                </a:solidFill>
                <a:latin typeface="Aptos"/>
              </a:rPr>
              <a:t>Shampoo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1755648" y="8743100"/>
            <a:ext cx="3367460" cy="173736"/>
          </a:xfrm>
          <a:prstGeom prst="roundRect">
            <a:avLst>
              <a:gd name="adj" fmla="val 21052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0" name="Rounded Rectangle 89"/>
          <p:cNvSpPr/>
          <p:nvPr/>
        </p:nvSpPr>
        <p:spPr>
          <a:xfrm>
            <a:off x="1755648" y="8743100"/>
            <a:ext cx="816354" cy="173736"/>
          </a:xfrm>
          <a:prstGeom prst="roundRect">
            <a:avLst>
              <a:gd name="adj" fmla="val 21052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5150540" y="8637944"/>
            <a:ext cx="566928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900" b="1">
                <a:solidFill>
                  <a:srgbClr val="1F2933"/>
                </a:solidFill>
                <a:latin typeface="Aptos"/>
              </a:rPr>
              <a:t>8%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717468" y="8637944"/>
            <a:ext cx="838779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50" b="1">
                <a:solidFill>
                  <a:srgbClr val="6B7682"/>
                </a:solidFill>
                <a:latin typeface="Aptos"/>
              </a:rPr>
              <a:t>target 10%+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219456" y="9313027"/>
            <a:ext cx="6419088" cy="2256875"/>
          </a:xfrm>
          <a:prstGeom prst="roundRect">
            <a:avLst>
              <a:gd name="adj" fmla="val 3241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4" name="Rounded Rectangle 93"/>
          <p:cNvSpPr/>
          <p:nvPr/>
        </p:nvSpPr>
        <p:spPr>
          <a:xfrm>
            <a:off x="219456" y="9313027"/>
            <a:ext cx="6419088" cy="256032"/>
          </a:xfrm>
          <a:prstGeom prst="roundRect">
            <a:avLst>
              <a:gd name="adj" fmla="val 28571"/>
            </a:avLst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219456" y="9486763"/>
            <a:ext cx="6419088" cy="82296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310896" y="9313027"/>
            <a:ext cx="6236207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WHAT THE MARKET IS SAYING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20040" y="9777904"/>
            <a:ext cx="64008" cy="64008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457200" y="9633067"/>
            <a:ext cx="6089903" cy="4704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>
              <a:lnSpc>
                <a:spcPct val="92000"/>
              </a:lnSpc>
            </a:pPr>
            <a:r>
              <a:rPr sz="1000" b="1">
                <a:solidFill>
                  <a:srgbClr val="1E8E3E"/>
                </a:solidFill>
                <a:latin typeface="Aptos"/>
              </a:rPr>
              <a:t>Facewash  </a:t>
            </a:r>
            <a:r>
              <a:rPr sz="1000" b="0">
                <a:solidFill>
                  <a:srgbClr val="1F2933"/>
                </a:solidFill>
                <a:latin typeface="Aptos"/>
              </a:rPr>
              <a:t>Mamaearth is the fastest-growing large brand: +55% MAT versus category +10% MAT.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20040" y="10306802"/>
            <a:ext cx="64008" cy="64008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457200" y="10103560"/>
            <a:ext cx="6089903" cy="4704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>
              <a:lnSpc>
                <a:spcPct val="92000"/>
              </a:lnSpc>
            </a:pPr>
            <a:r>
              <a:rPr sz="1000" b="1">
                <a:solidFill>
                  <a:srgbClr val="1E8E3E"/>
                </a:solidFill>
                <a:latin typeface="Aptos"/>
              </a:rPr>
              <a:t>Shampoo  </a:t>
            </a:r>
            <a:r>
              <a:rPr sz="1000" b="0">
                <a:solidFill>
                  <a:srgbClr val="1F2933"/>
                </a:solidFill>
                <a:latin typeface="Aptos"/>
              </a:rPr>
              <a:t>Mamaearth is scaling faster than every major brand: +48% MAT and +80% L3M.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20040" y="10718890"/>
            <a:ext cx="64008" cy="64008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457200" y="10574053"/>
            <a:ext cx="6089903" cy="4704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>
              <a:lnSpc>
                <a:spcPct val="92000"/>
              </a:lnSpc>
            </a:pPr>
            <a:r>
              <a:rPr sz="1000" b="1">
                <a:solidFill>
                  <a:srgbClr val="2B6CB0"/>
                </a:solidFill>
                <a:latin typeface="Aptos"/>
              </a:rPr>
              <a:t>Velocity  </a:t>
            </a:r>
            <a:r>
              <a:rPr sz="1000" b="0">
                <a:solidFill>
                  <a:srgbClr val="1F2933"/>
                </a:solidFill>
                <a:latin typeface="Aptos"/>
              </a:rPr>
              <a:t>The next leg must come from PDO and shelf productivity, not distribution alone.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20040" y="11189383"/>
            <a:ext cx="64008" cy="6400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457200" y="11044546"/>
            <a:ext cx="6089903" cy="4704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>
              <a:lnSpc>
                <a:spcPct val="92000"/>
              </a:lnSpc>
            </a:pPr>
            <a:r>
              <a:rPr sz="1000" b="1">
                <a:solidFill>
                  <a:srgbClr val="C0392B"/>
                </a:solidFill>
                <a:latin typeface="Aptos"/>
              </a:rPr>
              <a:t>Inventory  </a:t>
            </a:r>
            <a:r>
              <a:rPr sz="1000" b="0">
                <a:solidFill>
                  <a:srgbClr val="1F2933"/>
                </a:solidFill>
                <a:latin typeface="Aptos"/>
              </a:rPr>
              <a:t>Trade inventory is building faster than consumer offtake — D-Mart sell-out is the weakest at 77%.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0" y="11661343"/>
            <a:ext cx="6858000" cy="530352"/>
          </a:xfrm>
          <a:prstGeom prst="rect">
            <a:avLst/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6" name="Rounded Rectangle 105"/>
          <p:cNvSpPr/>
          <p:nvPr/>
        </p:nvSpPr>
        <p:spPr>
          <a:xfrm>
            <a:off x="219456" y="11771071"/>
            <a:ext cx="854964" cy="310896"/>
          </a:xfrm>
          <a:prstGeom prst="roundRect">
            <a:avLst>
              <a:gd name="adj" fmla="val 20588"/>
            </a:avLst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ctr"/>
          <a:lstStyle/>
          <a:p>
            <a:r>
              <a:rPr/>
              <a:t>RECONCILE internal SAH vs Nielsen WD by 31-Aug (different bases). HOLD Metro aggressive loading until sell-out ≥ 75%. FIELD-VALIDATE Nielsen assumptions by 30-Sep.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239012" y="11697919"/>
            <a:ext cx="2393441" cy="4571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lnSpc>
                <a:spcPct val="92000"/>
              </a:lnSpc>
            </a:pPr>
            <a:r>
              <a:rPr sz="900" b="1">
                <a:solidFill>
                  <a:srgbClr val="2D9B7F"/>
                </a:solidFill>
                <a:latin typeface="Aptos"/>
              </a:rPr>
              <a:t>CORRECT  </a:t>
            </a:r>
            <a:r>
              <a:rPr sz="950" b="0">
                <a:solidFill>
                  <a:srgbClr val="EDEFF1"/>
                </a:solidFill>
                <a:latin typeface="Aptos"/>
              </a:rPr>
              <a:t>Slow Q2 primary billing pace vs Q1 to let consumer offtake catch up.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687318" y="11734495"/>
            <a:ext cx="18288" cy="347471"/>
          </a:xfrm>
          <a:prstGeom prst="rect">
            <a:avLst/>
          </a:prstGeom>
          <a:solidFill>
            <a:srgbClr val="4A5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3742181" y="11697919"/>
            <a:ext cx="2393441" cy="4571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lnSpc>
                <a:spcPct val="92000"/>
              </a:lnSpc>
            </a:pPr>
            <a:r>
              <a:rPr sz="900" b="1">
                <a:solidFill>
                  <a:srgbClr val="2D9B7F"/>
                </a:solidFill>
                <a:latin typeface="Aptos"/>
              </a:rPr>
              <a:t>CLOSE  </a:t>
            </a:r>
            <a:r>
              <a:rPr sz="950" b="0">
                <a:solidFill>
                  <a:srgbClr val="EDEFF1"/>
                </a:solidFill>
                <a:latin typeface="Aptos"/>
              </a:rPr>
              <a:t>Shampoo SOS at 8% against a 10%+ target is the clearest shelf gap.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135624" y="11679631"/>
            <a:ext cx="50292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00" b="0">
                <a:solidFill>
                  <a:srgbClr val="8A939C"/>
                </a:solidFill>
                <a:latin typeface="Aptos"/>
              </a:rPr>
              <a:t>5/6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076301"/>
          </a:xfrm>
          <a:prstGeom prst="rect">
            <a:avLst/>
          </a:prstGeom>
          <a:solidFill>
            <a:srgbClr val="1F7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76301"/>
            <a:ext cx="6858000" cy="41148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19456" y="100584"/>
            <a:ext cx="6419088" cy="1920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r>
              <a:t>Q2 FY27 | DECISIONS AND OWNERS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219456" y="292608"/>
            <a:ext cx="6419088" cy="4662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TURN SHARE GAINS INTO REPEATABLE GROWTH — FOUR MOVES FOR Q2 FY27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" y="777123"/>
            <a:ext cx="6419088" cy="20773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r>
              <a:t>The opportunity is clear (Nielsen +56% MAT, internal +64% YoY, File 2 shows zone/chain recovery path). Execution now decides. Phase 0-30d: validate data. Phase 31-60d: run pilots. Phase 61-90d: scale proven.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9456" y="1208889"/>
            <a:ext cx="3154679" cy="1671658"/>
          </a:xfrm>
          <a:prstGeom prst="roundRect">
            <a:avLst>
              <a:gd name="adj" fmla="val 4376"/>
            </a:avLst>
          </a:prstGeom>
          <a:solidFill>
            <a:srgbClr val="F4F1EC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19456" y="1208889"/>
            <a:ext cx="68580" cy="1671658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02336" y="1629064"/>
            <a:ext cx="2862072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E8E3E"/>
                </a:solidFill>
                <a:latin typeface="Aptos"/>
              </a:rPr>
              <a:t>01 · PROTECT FACEWASH LEAD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" y="1821088"/>
            <a:ext cx="2843784" cy="99545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50" b="0">
                <a:solidFill>
                  <a:srgbClr val="1F2933"/>
                </a:solidFill>
                <a:latin typeface="Aptos"/>
              </a:rPr>
              <a:t>Hold availability in 150 ml and 100 ml heroes; prioritise South accounts where category growth and Mamaearth momentum are strongest.  KPI: WD ≥90% | Fill rate ≥95%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83863" y="1208889"/>
            <a:ext cx="3154679" cy="1671658"/>
          </a:xfrm>
          <a:prstGeom prst="roundRect">
            <a:avLst>
              <a:gd name="adj" fmla="val 4376"/>
            </a:avLst>
          </a:prstGeom>
          <a:solidFill>
            <a:srgbClr val="F4F1EC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83863" y="1208889"/>
            <a:ext cx="68580" cy="1671658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66744" y="1629064"/>
            <a:ext cx="2862072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r>
              <a:t>Q2 FY27 | DECISIONS AND OWNERS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66744" y="1821088"/>
            <a:ext cx="2843784" cy="99545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50" b="0">
                <a:solidFill>
                  <a:srgbClr val="1F2933"/>
                </a:solidFill>
                <a:latin typeface="Aptos"/>
              </a:rPr>
              <a:t>Expand Rosemary as the scale lever while protecting Onion. Review pack mix to prevent volume growth from over-diluting realised price/ml.  KPI: Share &gt;4% | PDO growth &gt; category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9456" y="2990276"/>
            <a:ext cx="3154679" cy="1671658"/>
          </a:xfrm>
          <a:prstGeom prst="roundRect">
            <a:avLst>
              <a:gd name="adj" fmla="val 4376"/>
            </a:avLst>
          </a:prstGeom>
          <a:solidFill>
            <a:srgbClr val="F4F1EC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19456" y="2990276"/>
            <a:ext cx="68580" cy="1671658"/>
          </a:xfrm>
          <a:prstGeom prst="rect">
            <a:avLst/>
          </a:prstGeom>
          <a:solidFill>
            <a:srgbClr val="C77D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02336" y="3410450"/>
            <a:ext cx="2862072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C77D17"/>
                </a:solidFill>
                <a:latin typeface="Aptos"/>
              </a:rPr>
              <a:t>03 · WIN THE VELOCITY BATTLE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2336" y="3602474"/>
            <a:ext cx="2843784" cy="99545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50" b="0">
                <a:solidFill>
                  <a:srgbClr val="1F2933"/>
                </a:solidFill>
                <a:latin typeface="Aptos"/>
              </a:rPr>
              <a:t>Rank chains by share opportunity using WD × PDO. Fix the largest high-distribution, low-velocity gaps before adding broad new listings.  KPI: Top-10 gap closure weekly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83863" y="2990276"/>
            <a:ext cx="3154679" cy="1671658"/>
          </a:xfrm>
          <a:prstGeom prst="roundRect">
            <a:avLst>
              <a:gd name="adj" fmla="val 4376"/>
            </a:avLst>
          </a:prstGeom>
          <a:solidFill>
            <a:srgbClr val="F4F1EC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483863" y="2990276"/>
            <a:ext cx="68580" cy="1671658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66744" y="3410450"/>
            <a:ext cx="2862072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2B6CB0"/>
                </a:solidFill>
                <a:latin typeface="Aptos"/>
              </a:rPr>
              <a:t>04 · SEPARATE THE MEASUREMENT BASES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66744" y="3602474"/>
            <a:ext cx="2843784" cy="99545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50" b="0">
                <a:solidFill>
                  <a:srgbClr val="1F2933"/>
                </a:solidFill>
                <a:latin typeface="Aptos"/>
              </a:rPr>
              <a:t>Use external market share for competitive health and internal NSV for business delivery. Do not compare them as the same sales base.  KPI: One source label on every chart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" y="4771662"/>
            <a:ext cx="6419088" cy="237744"/>
          </a:xfrm>
          <a:prstGeom prst="roundRect">
            <a:avLst>
              <a:gd name="adj" fmla="val 19230"/>
            </a:avLst>
          </a:prstGeom>
          <a:solidFill>
            <a:srgbClr val="1F7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ctr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ptos"/>
              </a:rPr>
              <a:t>JTBD Q1 — DELTA EXPECTED VS DELIVERED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9456" y="5045982"/>
            <a:ext cx="6419088" cy="2206205"/>
          </a:xfrm>
          <a:prstGeom prst="roundRect">
            <a:avLst>
              <a:gd name="adj" fmla="val 3315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10896" y="5230113"/>
            <a:ext cx="6236207" cy="310896"/>
          </a:xfrm>
          <a:prstGeom prst="roundRect">
            <a:avLst>
              <a:gd name="adj" fmla="val 11764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56615" y="5230113"/>
            <a:ext cx="240304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DRIVER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51099" y="5230113"/>
            <a:ext cx="177942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DELTA EXPECTED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21961" y="5230113"/>
            <a:ext cx="177942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RESULT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6615" y="5541009"/>
            <a:ext cx="240304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Face wash distribution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51099" y="5541009"/>
            <a:ext cx="177942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₹1.25–1.50 Cr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21961" y="5541009"/>
            <a:ext cx="177942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₹1.75 Cr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0896" y="5851905"/>
            <a:ext cx="6236207" cy="310896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56615" y="5851905"/>
            <a:ext cx="240304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Sunscreen distribution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51099" y="5851905"/>
            <a:ext cx="177942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₹1.00–1.25 Cr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21961" y="5851905"/>
            <a:ext cx="177942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₹1.10 Cr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6615" y="6162801"/>
            <a:ext cx="240304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Shampoo distribution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51099" y="6162801"/>
            <a:ext cx="177942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₹0.50–0.75 Cr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21961" y="6162801"/>
            <a:ext cx="177942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₹0.75 Cr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0896" y="6473697"/>
            <a:ext cx="6236207" cy="310896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56615" y="6473697"/>
            <a:ext cx="240304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Proposed Beetroot FW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51099" y="6473697"/>
            <a:ext cx="177942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₹0.35–0.40 Cr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721961" y="6473697"/>
            <a:ext cx="177942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₹0.60 Cr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6615" y="6784593"/>
            <a:ext cx="240304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Baby range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851099" y="6784593"/>
            <a:ext cx="177942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₹0.50–0.60 Cr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21961" y="6784593"/>
            <a:ext cx="177942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₹0.16 Cr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19456" y="7361915"/>
            <a:ext cx="6419088" cy="237744"/>
          </a:xfrm>
          <a:prstGeom prst="roundRect">
            <a:avLst>
              <a:gd name="adj" fmla="val 19230"/>
            </a:avLst>
          </a:prstGeom>
          <a:solidFill>
            <a:srgbClr val="1F7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ctr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ptos"/>
              </a:rPr>
              <a:t>IMMEDIATE PRIORITIES — OWNER AND TIMING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19456" y="7636235"/>
            <a:ext cx="6419088" cy="2475827"/>
          </a:xfrm>
          <a:prstGeom prst="roundRect">
            <a:avLst>
              <a:gd name="adj" fmla="val 2954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310896" y="7799729"/>
            <a:ext cx="6236207" cy="310896"/>
          </a:xfrm>
          <a:prstGeom prst="roundRect">
            <a:avLst>
              <a:gd name="adj" fmla="val 11764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356615" y="7799729"/>
            <a:ext cx="190885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PRIORITY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356909" y="7799729"/>
            <a:ext cx="15558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KPI / TARGET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004209" y="7799729"/>
            <a:ext cx="1438195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OWNER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533845" y="7799729"/>
            <a:ext cx="96753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TIMING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56615" y="8110625"/>
            <a:ext cx="190885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Close shampoo WD gaps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356909" y="8110625"/>
            <a:ext cx="15558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WD toward 90%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004209" y="8110625"/>
            <a:ext cx="1438195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NKAM / Sales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533845" y="8110625"/>
            <a:ext cx="96753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Sep'26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10896" y="8421521"/>
            <a:ext cx="6236207" cy="310896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356615" y="8421521"/>
            <a:ext cx="190885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Align shampoo pack range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356909" y="8421521"/>
            <a:ext cx="15558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650/180/340/1000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004209" y="8421521"/>
            <a:ext cx="1438195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RKAM / Category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533845" y="8421521"/>
            <a:ext cx="96753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Sep'26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56615" y="8732417"/>
            <a:ext cx="190885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Protect MT availability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356909" y="8732417"/>
            <a:ext cx="15558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Fill-rate ≥95%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004209" y="8732417"/>
            <a:ext cx="1438195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NKAM / Supply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533845" y="8732417"/>
            <a:ext cx="96753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Ongoing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10896" y="9043313"/>
            <a:ext cx="6236207" cy="310896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356615" y="9043313"/>
            <a:ext cx="190885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Sustain FW productivity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356909" y="9043313"/>
            <a:ext cx="15558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PDO above category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004209" y="9043313"/>
            <a:ext cx="1438195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Trade Marketing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533845" y="9043313"/>
            <a:ext cx="96753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Ongoing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56615" y="9354209"/>
            <a:ext cx="190885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Resolve TDC softness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356909" y="9354209"/>
            <a:ext cx="15558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Validate stock/phasing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004209" y="9354209"/>
            <a:ext cx="1438195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Sales Analytics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533845" y="9354209"/>
            <a:ext cx="96753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Aug'26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10896" y="9665105"/>
            <a:ext cx="6236207" cy="310896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356615" y="9665105"/>
            <a:ext cx="190885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Scale winning listings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356909" y="9665105"/>
            <a:ext cx="15558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Incremental ROS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004209" y="9665105"/>
            <a:ext cx="1438195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Brand / Sales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533845" y="9665105"/>
            <a:ext cx="96753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r>
              <a:t>Q2 FY27 | DECISIONS AND OWNERS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219456" y="10221791"/>
            <a:ext cx="6419088" cy="1348111"/>
          </a:xfrm>
          <a:prstGeom prst="roundRect">
            <a:avLst>
              <a:gd name="adj" fmla="val 5426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2" name="Rounded Rectangle 81"/>
          <p:cNvSpPr/>
          <p:nvPr/>
        </p:nvSpPr>
        <p:spPr>
          <a:xfrm>
            <a:off x="219456" y="10221791"/>
            <a:ext cx="6419088" cy="256032"/>
          </a:xfrm>
          <a:prstGeom prst="roundRect">
            <a:avLst>
              <a:gd name="adj" fmla="val 28571"/>
            </a:avLst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219456" y="10395527"/>
            <a:ext cx="6419088" cy="82296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310896" y="10221791"/>
            <a:ext cx="6236207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NON-NEGOTIABLES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20040" y="10694724"/>
            <a:ext cx="64008" cy="6400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457200" y="10541831"/>
            <a:ext cx="6089903" cy="48660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92000"/>
              </a:lnSpc>
            </a:pPr>
            <a:r>
              <a:rPr sz="1000" b="1">
                <a:solidFill>
                  <a:srgbClr val="C0392B"/>
                </a:solidFill>
                <a:latin typeface="Aptos"/>
              </a:rPr>
              <a:t>Availability  </a:t>
            </a:r>
            <a:r>
              <a:rPr sz="1000" b="0">
                <a:solidFill>
                  <a:srgbClr val="1F2933"/>
                </a:solidFill>
                <a:latin typeface="Aptos"/>
              </a:rPr>
              <a:t>Maintain fill-rate ≥95% and close chain-level listing gaps before increasing visibility investment.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20040" y="11181327"/>
            <a:ext cx="64008" cy="64008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457200" y="11028435"/>
            <a:ext cx="6089903" cy="48660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92000"/>
              </a:lnSpc>
            </a:pPr>
            <a:r>
              <a:rPr sz="1000" b="1">
                <a:solidFill>
                  <a:srgbClr val="1E8E3E"/>
                </a:solidFill>
                <a:latin typeface="Aptos"/>
              </a:rPr>
              <a:t>Decision  </a:t>
            </a:r>
            <a:r>
              <a:rPr sz="1000" b="0">
                <a:solidFill>
                  <a:srgbClr val="1F2933"/>
                </a:solidFill>
                <a:latin typeface="Aptos"/>
              </a:rPr>
              <a:t>Protect the facewash flywheel; expand shampoo only where distribution, fill-rate and pack demand are proven.</a:t>
            </a:r>
          </a:p>
        </p:txBody>
      </p:sp>
      <p:sp>
        <p:nvSpPr>
          <p:cNvPr id="89" name="Rectangle 88"/>
          <p:cNvSpPr/>
          <p:nvPr/>
        </p:nvSpPr>
        <p:spPr>
          <a:xfrm>
            <a:off x="0" y="11661343"/>
            <a:ext cx="6858000" cy="530352"/>
          </a:xfrm>
          <a:prstGeom prst="rect">
            <a:avLst/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0" name="Rounded Rectangle 89"/>
          <p:cNvSpPr/>
          <p:nvPr/>
        </p:nvSpPr>
        <p:spPr>
          <a:xfrm>
            <a:off x="219456" y="11771071"/>
            <a:ext cx="1399032" cy="310896"/>
          </a:xfrm>
          <a:prstGeom prst="roundRect">
            <a:avLst>
              <a:gd name="adj" fmla="val 20588"/>
            </a:avLst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ctr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ptos"/>
              </a:rPr>
              <a:t>LEADERSHIP ASK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783080" y="11697919"/>
            <a:ext cx="4352544" cy="4571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l">
              <a:lnSpc>
                <a:spcPct val="92000"/>
              </a:lnSpc>
            </a:pPr>
            <a:r>
              <a:rPr sz="900" b="1">
                <a:solidFill>
                  <a:srgbClr val="2D9B7F"/>
                </a:solidFill>
                <a:latin typeface="Aptos"/>
              </a:rPr>
              <a:t>APPROVE  </a:t>
            </a:r>
            <a:r>
              <a:rPr sz="950" b="0">
                <a:solidFill>
                  <a:srgbClr val="EDEFF1"/>
                </a:solidFill>
                <a:latin typeface="Aptos"/>
              </a:rPr>
              <a:t>Chain-level WD × PDO review and monthly pack-mix governance for facewash and shampoo.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35624" y="11679631"/>
            <a:ext cx="50292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00" b="0">
                <a:solidFill>
                  <a:srgbClr val="8A939C"/>
                </a:solidFill>
                <a:latin typeface="Aptos"/>
              </a:rPr>
              <a:t>6/6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3" name="Rectangle 32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solidFill>
            <a:srgbClr val="2D9B7F"/>
          </a:solidFill>
          <a:ln>
            <a:solidFill>
              <a:srgbClr val="2D9B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solidFill>
            <a:srgbClr val="2D9B7F"/>
          </a:solidFill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</a:defRPr>
            </a:pPr>
            <a:r>
              <a:t>West ZONE | Q1 FY27 |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F2933"/>
                </a:solidFill>
              </a:defRPr>
            </a:pPr>
            <a:r>
              <a:t>₹8.28 Cr | 82.3% CONVERSION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685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50" b="1">
                <a:solidFill>
                  <a:srgbClr val="C77D17"/>
                </a:solidFill>
              </a:defRPr>
            </a:pPr>
            <a:r>
              <a:t>WATCH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5943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>
                <a:solidFill>
                  <a:srgbClr val="6B7682"/>
                </a:solidFill>
              </a:defRPr>
            </a:pPr>
            <a:r>
              <a:t>Flow Gap: ₹1.78 Cr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1">
                <a:solidFill>
                  <a:srgbClr val="6B7682"/>
                </a:solidFill>
              </a:defRPr>
            </a:pPr>
            <a:r>
              <a:t>TOP CHAINS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1">
                <a:solidFill>
                  <a:srgbClr val="1F2933"/>
                </a:solidFill>
              </a:defRPr>
            </a:pPr>
            <a:r>
              <a:t>DMart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783080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80">
                <a:solidFill>
                  <a:srgbClr val="1F2933"/>
                </a:solidFill>
              </a:defRPr>
            </a:pPr>
            <a:r>
              <a:t>₹5.76 Cr | 94.2% conv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783080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80">
                <a:solidFill>
                  <a:srgbClr val="1E8E3E"/>
                </a:solidFill>
              </a:defRPr>
            </a:pPr>
            <a:r>
              <a:t>▲87% YoY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5740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1">
                <a:solidFill>
                  <a:srgbClr val="1F2933"/>
                </a:solidFill>
              </a:defRPr>
            </a:pPr>
            <a:r>
              <a:t>Reliance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057400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80">
                <a:solidFill>
                  <a:srgbClr val="1F2933"/>
                </a:solidFill>
              </a:defRPr>
            </a:pPr>
            <a:r>
              <a:t>₹1.23 Cr | 54.5% conv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057400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80">
                <a:solidFill>
                  <a:srgbClr val="1E8E3E"/>
                </a:solidFill>
              </a:defRPr>
            </a:pPr>
            <a:r>
              <a:t>▲122% YoY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33172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1">
                <a:solidFill>
                  <a:srgbClr val="1F2933"/>
                </a:solidFill>
              </a:defRPr>
            </a:pPr>
            <a:r>
              <a:t>Wellness Forever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331720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80">
                <a:solidFill>
                  <a:srgbClr val="1F2933"/>
                </a:solidFill>
              </a:defRPr>
            </a:pPr>
            <a:r>
              <a:t>₹0.65 Cr | 134.9% conv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331720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80">
                <a:solidFill>
                  <a:srgbClr val="1E8E3E"/>
                </a:solidFill>
              </a:defRPr>
            </a:pPr>
            <a:r>
              <a:t>NEW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1508760"/>
            <a:ext cx="3931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1">
                <a:solidFill>
                  <a:srgbClr val="6B7682"/>
                </a:solidFill>
              </a:defRPr>
            </a:pPr>
            <a:r>
              <a:t>CATEGORY PERFORMANCE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178308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1">
                <a:solidFill>
                  <a:srgbClr val="1F2933"/>
                </a:solidFill>
              </a:defRPr>
            </a:pPr>
            <a:r>
              <a:t>Face Cleanser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78308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80">
                <a:solidFill>
                  <a:srgbClr val="1F2933"/>
                </a:solidFill>
              </a:defRPr>
            </a:pPr>
            <a:r>
              <a:t>₹5.23 Cr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178308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80">
                <a:solidFill>
                  <a:srgbClr val="1E8E3E"/>
                </a:solidFill>
              </a:defRPr>
            </a:pPr>
            <a:r>
              <a:t>▲strong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205740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1">
                <a:solidFill>
                  <a:srgbClr val="1F2933"/>
                </a:solidFill>
              </a:defRPr>
            </a:pPr>
            <a:r>
              <a:t>Shampoo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0574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80">
                <a:solidFill>
                  <a:srgbClr val="1F2933"/>
                </a:solidFill>
              </a:defRPr>
            </a:pPr>
            <a:r>
              <a:t>₹1.53 Cr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205740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80">
                <a:solidFill>
                  <a:srgbClr val="1E8E3E"/>
                </a:solidFill>
              </a:defRPr>
            </a:pPr>
            <a:r>
              <a:t>▲growth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233172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1">
                <a:solidFill>
                  <a:srgbClr val="1F2933"/>
                </a:solidFill>
              </a:defRPr>
            </a:pPr>
            <a:r>
              <a:t>Sun Care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33172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80">
                <a:solidFill>
                  <a:srgbClr val="1F2933"/>
                </a:solidFill>
              </a:defRPr>
            </a:pPr>
            <a:r>
              <a:t>₹0.77 Cr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233172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80">
                <a:solidFill>
                  <a:srgbClr val="1E8E3E"/>
                </a:solidFill>
              </a:defRPr>
            </a:pPr>
            <a:r>
              <a:t>▲stable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292608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1">
                <a:solidFill>
                  <a:srgbClr val="6B7682"/>
                </a:solidFill>
              </a:defRPr>
            </a:pPr>
            <a:r>
              <a:t>KEY STATES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>
                <a:solidFill>
                  <a:srgbClr val="1F2933"/>
                </a:solidFill>
              </a:defRPr>
            </a:pPr>
            <a:r>
              <a:t>Maharashtra ₹3.43 Cr (41.4%) | Gujarat ₹2.57 Cr (31.0%) | Mumbai ₹2.28 Cr (27.5%)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61188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1">
                <a:solidFill>
                  <a:srgbClr val="6B7682"/>
                </a:solidFill>
              </a:defRPr>
            </a:pPr>
            <a:r>
              <a:t>INSIGHTS &amp; WATCH-OUTS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886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2B6CB0"/>
                </a:solidFill>
              </a:defRPr>
            </a:pPr>
            <a:r>
              <a:t>✓ West ranks #1 nationally (22.9% mix); DMart 94.2% proves discipline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2B6CB0"/>
                </a:solidFill>
              </a:defRPr>
            </a:pPr>
            <a:r>
              <a:t>⚠ Reliance 54.5% conversion—₹1.78 Cr gap to close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2B6CB0"/>
                </a:solidFill>
              </a:defRPr>
            </a:pPr>
            <a:r>
              <a:t>→ Primary +99% YoY validates positioning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FFFFF"/>
                </a:solidFill>
              </a:defRPr>
            </a:pPr>
            <a:r>
              <a:t>IMMEDIATE ACTIONS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1663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1">
                <a:solidFill>
                  <a:srgbClr val="1F2933"/>
                </a:solidFill>
              </a:defRPr>
            </a:pPr>
            <a:r>
              <a:t>Owner: NKAM Reliance West + NKAM Wellness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44068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80">
                <a:solidFill>
                  <a:srgbClr val="6B7682"/>
                </a:solidFill>
              </a:defRPr>
            </a:pPr>
            <a:r>
              <a:t>Deadline: 30-Aug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715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>
                <a:solidFill>
                  <a:srgbClr val="1F2933"/>
                </a:solidFill>
              </a:defRPr>
            </a:pPr>
            <a:r>
              <a:t>Target: Map Reliance EAN-store failures; restore top-10 articles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626364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682"/>
                </a:solidFill>
              </a:defRPr>
            </a:pPr>
            <a: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3" name="Rectangle 32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solidFill>
            <a:srgbClr val="2D9B7F"/>
          </a:solidFill>
          <a:ln>
            <a:solidFill>
              <a:srgbClr val="2D9B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solidFill>
            <a:srgbClr val="2D9B7F"/>
          </a:solidFill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</a:defRPr>
            </a:pPr>
            <a:r>
              <a:t>South-1 ZONE | Q1 FY27 |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F2933"/>
                </a:solidFill>
              </a:defRPr>
            </a:pPr>
            <a:r>
              <a:t>₹8.19 Cr | 83.6% CONVERSION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685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50" b="1">
                <a:solidFill>
                  <a:srgbClr val="C77D17"/>
                </a:solidFill>
              </a:defRPr>
            </a:pPr>
            <a:r>
              <a:t>WATCH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5943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>
                <a:solidFill>
                  <a:srgbClr val="6B7682"/>
                </a:solidFill>
              </a:defRPr>
            </a:pPr>
            <a:r>
              <a:t>Flow Gap: ₹1.61 Cr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1">
                <a:solidFill>
                  <a:srgbClr val="6B7682"/>
                </a:solidFill>
              </a:defRPr>
            </a:pPr>
            <a:r>
              <a:t>TOP CHAINS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1">
                <a:solidFill>
                  <a:srgbClr val="1F2933"/>
                </a:solidFill>
              </a:defRPr>
            </a:pPr>
            <a:r>
              <a:t>Apollo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783080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80">
                <a:solidFill>
                  <a:srgbClr val="1F2933"/>
                </a:solidFill>
              </a:defRPr>
            </a:pPr>
            <a:r>
              <a:t>₹2.84 Cr | 81.0% conv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783080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80">
                <a:solidFill>
                  <a:srgbClr val="1E8E3E"/>
                </a:solidFill>
              </a:defRPr>
            </a:pPr>
            <a:r>
              <a:t>▲188% YoY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5740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1">
                <a:solidFill>
                  <a:srgbClr val="1F2933"/>
                </a:solidFill>
              </a:defRPr>
            </a:pPr>
            <a:r>
              <a:t>DMart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057400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80">
                <a:solidFill>
                  <a:srgbClr val="1F2933"/>
                </a:solidFill>
              </a:defRPr>
            </a:pPr>
            <a:r>
              <a:t>₹2.31 Cr | 74.8% conv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057400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80">
                <a:solidFill>
                  <a:srgbClr val="1E8E3E"/>
                </a:solidFill>
              </a:defRPr>
            </a:pPr>
            <a:r>
              <a:t>▲93% YoY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33172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1">
                <a:solidFill>
                  <a:srgbClr val="1F2933"/>
                </a:solidFill>
              </a:defRPr>
            </a:pPr>
            <a:r>
              <a:t>Lulu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331720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80">
                <a:solidFill>
                  <a:srgbClr val="1F2933"/>
                </a:solidFill>
              </a:defRPr>
            </a:pPr>
            <a:r>
              <a:t>₹1.22 Cr | ~75% conv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331720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80">
                <a:solidFill>
                  <a:srgbClr val="1E8E3E"/>
                </a:solidFill>
              </a:defRPr>
            </a:pPr>
            <a:r>
              <a:t>▲96% YoY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1508760"/>
            <a:ext cx="3931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1">
                <a:solidFill>
                  <a:srgbClr val="6B7682"/>
                </a:solidFill>
              </a:defRPr>
            </a:pPr>
            <a:r>
              <a:t>CATEGORY PERFORMANCE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178308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1">
                <a:solidFill>
                  <a:srgbClr val="1F2933"/>
                </a:solidFill>
              </a:defRPr>
            </a:pPr>
            <a:r>
              <a:t>Face Cleanser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78308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80">
                <a:solidFill>
                  <a:srgbClr val="1F2933"/>
                </a:solidFill>
              </a:defRPr>
            </a:pPr>
            <a:r>
              <a:t>₹2.30 Cr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178308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80">
                <a:solidFill>
                  <a:srgbClr val="1E8E3E"/>
                </a:solidFill>
              </a:defRPr>
            </a:pPr>
            <a:r>
              <a:t>▲strong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205740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1">
                <a:solidFill>
                  <a:srgbClr val="1F2933"/>
                </a:solidFill>
              </a:defRPr>
            </a:pPr>
            <a:r>
              <a:t>Shampoo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0574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80">
                <a:solidFill>
                  <a:srgbClr val="1F2933"/>
                </a:solidFill>
              </a:defRPr>
            </a:pPr>
            <a:r>
              <a:t>₹1.23 Cr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205740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80">
                <a:solidFill>
                  <a:srgbClr val="1E8E3E"/>
                </a:solidFill>
              </a:defRPr>
            </a:pPr>
            <a:r>
              <a:t>▲growth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233172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1">
                <a:solidFill>
                  <a:srgbClr val="1F2933"/>
                </a:solidFill>
              </a:defRPr>
            </a:pPr>
            <a:r>
              <a:t>Sun Care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33172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80">
                <a:solidFill>
                  <a:srgbClr val="1F2933"/>
                </a:solidFill>
              </a:defRPr>
            </a:pPr>
            <a:r>
              <a:t>₹0.93 Cr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233172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80">
                <a:solidFill>
                  <a:srgbClr val="1E8E3E"/>
                </a:solidFill>
              </a:defRPr>
            </a:pPr>
            <a:r>
              <a:t>▲stable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292608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1">
                <a:solidFill>
                  <a:srgbClr val="6B7682"/>
                </a:solidFill>
              </a:defRPr>
            </a:pPr>
            <a:r>
              <a:t>KEY STATES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>
                <a:solidFill>
                  <a:srgbClr val="1F2933"/>
                </a:solidFill>
              </a:defRPr>
            </a:pPr>
            <a:r>
              <a:t>Karnataka ₹4.10 Cr (50.1%) | Tamil Nadu ₹2.63 Cr (32.1%) | Kerala ₹1.17 Cr (14.3%)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61188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1">
                <a:solidFill>
                  <a:srgbClr val="6B7682"/>
                </a:solidFill>
              </a:defRPr>
            </a:pPr>
            <a:r>
              <a:t>INSIGHTS &amp; WATCH-OUTS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886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2B6CB0"/>
                </a:solidFill>
              </a:defRPr>
            </a:pPr>
            <a:r>
              <a:t>✓ South-1 ranks #2 nationally (22.7% mix); Karnataka anchors 50.1%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2B6CB0"/>
                </a:solidFill>
              </a:defRPr>
            </a:pPr>
            <a:r>
              <a:t>⚠ Apollo 3pp below benchmark; Karnataka loss &gt; Tamil Nadu gain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2B6CB0"/>
                </a:solidFill>
              </a:defRPr>
            </a:pPr>
            <a:r>
              <a:t>→ TDC Face Cleanser OSA underpins zone conversion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FFFFF"/>
                </a:solidFill>
              </a:defRPr>
            </a:pPr>
            <a:r>
              <a:t>IMMEDIATE ACTIONS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1663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1">
                <a:solidFill>
                  <a:srgbClr val="1F2933"/>
                </a:solidFill>
              </a:defRPr>
            </a:pPr>
            <a:r>
              <a:t>Owner: NKAM Apollo S-1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44068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80">
                <a:solidFill>
                  <a:srgbClr val="6B7682"/>
                </a:solidFill>
              </a:defRPr>
            </a:pPr>
            <a:r>
              <a:t>Deadline: 28-Aug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715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>
                <a:solidFill>
                  <a:srgbClr val="1F2933"/>
                </a:solidFill>
              </a:defRPr>
            </a:pPr>
            <a:r>
              <a:t>Target: Fix top-5 declining EAN-store pairs in Karnataka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626364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682"/>
                </a:solidFill>
              </a:defRPr>
            </a:pPr>
            <a: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3" name="Rectangle 32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solidFill>
            <a:srgbClr val="2D9B7F"/>
          </a:solidFill>
          <a:ln>
            <a:solidFill>
              <a:srgbClr val="2D9B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solidFill>
            <a:srgbClr val="2D9B7F"/>
          </a:solidFill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</a:defRPr>
            </a:pPr>
            <a:r>
              <a:t>North ZONE | Q1 FY27 |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F2933"/>
                </a:solidFill>
              </a:defRPr>
            </a:pPr>
            <a:r>
              <a:t>₹6.99 Cr | 58.5% CONVERSION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685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50" b="1">
                <a:solidFill>
                  <a:srgbClr val="C0392B"/>
                </a:solidFill>
              </a:defRPr>
            </a:pPr>
            <a:r>
              <a:t>FIX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5943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>
                <a:solidFill>
                  <a:srgbClr val="6B7682"/>
                </a:solidFill>
              </a:defRPr>
            </a:pPr>
            <a:r>
              <a:t>Flow Gap: ₹4.97 Cr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1">
                <a:solidFill>
                  <a:srgbClr val="6B7682"/>
                </a:solidFill>
              </a:defRPr>
            </a:pPr>
            <a:r>
              <a:t>TOP CHAINS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1">
                <a:solidFill>
                  <a:srgbClr val="1F2933"/>
                </a:solidFill>
              </a:defRPr>
            </a:pPr>
            <a:r>
              <a:t>DMart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783080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80">
                <a:solidFill>
                  <a:srgbClr val="1F2933"/>
                </a:solidFill>
              </a:defRPr>
            </a:pPr>
            <a:r>
              <a:t>₹2.53 Cr | 77.9% conv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783080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80">
                <a:solidFill>
                  <a:srgbClr val="1E8E3E"/>
                </a:solidFill>
              </a:defRPr>
            </a:pPr>
            <a:r>
              <a:t>▲201% YoY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5740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1">
                <a:solidFill>
                  <a:srgbClr val="1F2933"/>
                </a:solidFill>
              </a:defRPr>
            </a:pPr>
            <a:r>
              <a:t>Reliance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057400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80">
                <a:solidFill>
                  <a:srgbClr val="1F2933"/>
                </a:solidFill>
              </a:defRPr>
            </a:pPr>
            <a:r>
              <a:t>₹2.40 Cr | 44.9% conv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057400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80">
                <a:solidFill>
                  <a:srgbClr val="1E8E3E"/>
                </a:solidFill>
              </a:defRPr>
            </a:pPr>
            <a:r>
              <a:t>▲179% YoY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33172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1">
                <a:solidFill>
                  <a:srgbClr val="1F2933"/>
                </a:solidFill>
              </a:defRPr>
            </a:pPr>
            <a:r>
              <a:t>Apollo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331720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80">
                <a:solidFill>
                  <a:srgbClr val="1F2933"/>
                </a:solidFill>
              </a:defRPr>
            </a:pPr>
            <a:r>
              <a:t>₹1.16 Cr | 98.3% conv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331720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80">
                <a:solidFill>
                  <a:srgbClr val="1E8E3E"/>
                </a:solidFill>
              </a:defRPr>
            </a:pPr>
            <a:r>
              <a:t>▲149% YoY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1508760"/>
            <a:ext cx="3931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1">
                <a:solidFill>
                  <a:srgbClr val="6B7682"/>
                </a:solidFill>
              </a:defRPr>
            </a:pPr>
            <a:r>
              <a:t>CATEGORY PERFORMANCE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178308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1">
                <a:solidFill>
                  <a:srgbClr val="1F2933"/>
                </a:solidFill>
              </a:defRPr>
            </a:pPr>
            <a:r>
              <a:t>Face Cleanser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78308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80">
                <a:solidFill>
                  <a:srgbClr val="1F2933"/>
                </a:solidFill>
              </a:defRPr>
            </a:pPr>
            <a:r>
              <a:t>₹3.50 Cr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178308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80">
                <a:solidFill>
                  <a:srgbClr val="1E8E3E"/>
                </a:solidFill>
              </a:defRPr>
            </a:pPr>
            <a:r>
              <a:t>▲strong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205740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1">
                <a:solidFill>
                  <a:srgbClr val="1F2933"/>
                </a:solidFill>
              </a:defRPr>
            </a:pPr>
            <a:r>
              <a:t>Shampoo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0574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80">
                <a:solidFill>
                  <a:srgbClr val="1F2933"/>
                </a:solidFill>
              </a:defRPr>
            </a:pPr>
            <a:r>
              <a:t>₹1.68 Cr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205740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80">
                <a:solidFill>
                  <a:srgbClr val="1E8E3E"/>
                </a:solidFill>
              </a:defRPr>
            </a:pPr>
            <a:r>
              <a:t>▲growth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233172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1">
                <a:solidFill>
                  <a:srgbClr val="1F2933"/>
                </a:solidFill>
              </a:defRPr>
            </a:pPr>
            <a:r>
              <a:t>Sun Care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33172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80">
                <a:solidFill>
                  <a:srgbClr val="1F2933"/>
                </a:solidFill>
              </a:defRPr>
            </a:pPr>
            <a:r>
              <a:t>₹0.71 Cr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233172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80">
                <a:solidFill>
                  <a:srgbClr val="1E8E3E"/>
                </a:solidFill>
              </a:defRPr>
            </a:pPr>
            <a:r>
              <a:t>▲stable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292608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1">
                <a:solidFill>
                  <a:srgbClr val="6B7682"/>
                </a:solidFill>
              </a:defRPr>
            </a:pPr>
            <a:r>
              <a:t>KEY STATES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>
                <a:solidFill>
                  <a:srgbClr val="1F2933"/>
                </a:solidFill>
              </a:defRPr>
            </a:pPr>
            <a:r>
              <a:t>Delhi NCR ₹1.97 Cr (28.2%) | Rajasthan ₹1.67 Cr (23.9%) | Punjab ₹1.55 Cr (22.2%)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61188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1">
                <a:solidFill>
                  <a:srgbClr val="6B7682"/>
                </a:solidFill>
              </a:defRPr>
            </a:pPr>
            <a:r>
              <a:t>INSIGHTS &amp; WATCH-OUTS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886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2B6CB0"/>
                </a:solidFill>
              </a:defRPr>
            </a:pPr>
            <a:r>
              <a:t>⚠ LOWEST CONVERSION NATIONALLY (58.5%); ₹4.97 Cr gap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2B6CB0"/>
                </a:solidFill>
              </a:defRPr>
            </a:pPr>
            <a:r>
              <a:t>⚠ Reliance 44.9% suggests Paisa Vasool loading—needs validation by 05-Aug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2B6CB0"/>
                </a:solidFill>
              </a:defRPr>
            </a:pPr>
            <a:r>
              <a:t>✓ Primary +134% YoY (₹11.95 Cr); Apollo 98.3% shows real demand exists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FFFFF"/>
                </a:solidFill>
              </a:defRPr>
            </a:pPr>
            <a:r>
              <a:t>IMMEDIATE ACTIONS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1663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1">
                <a:solidFill>
                  <a:srgbClr val="1F2933"/>
                </a:solidFill>
              </a:defRPr>
            </a:pPr>
            <a:r>
              <a:t>Owner: North ZSM + NKAM Reliance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44068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80">
                <a:solidFill>
                  <a:srgbClr val="6B7682"/>
                </a:solidFill>
              </a:defRPr>
            </a:pPr>
            <a:r>
              <a:t>Deadline: 05-Sep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715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>
                <a:solidFill>
                  <a:srgbClr val="1F2933"/>
                </a:solidFill>
              </a:defRPr>
            </a:pPr>
            <a:r>
              <a:t>Target: Validate Reliance Aug conversion; if &lt;80%, pull top-20 EAN-store pairs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626364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682"/>
                </a:solidFill>
              </a:defRPr>
            </a:pPr>
            <a: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3" name="Rectangle 32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solidFill>
            <a:srgbClr val="2D9B7F"/>
          </a:solidFill>
          <a:ln>
            <a:solidFill>
              <a:srgbClr val="2D9B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solidFill>
            <a:srgbClr val="2D9B7F"/>
          </a:solidFill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</a:defRPr>
            </a:pPr>
            <a:r>
              <a:t>South-2 ZONE | Q1 FY27 |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F2933"/>
                </a:solidFill>
              </a:defRPr>
            </a:pPr>
            <a:r>
              <a:t>₹4.91 Cr | 71.3% CONVERSION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685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50" b="1">
                <a:solidFill>
                  <a:srgbClr val="C0392B"/>
                </a:solidFill>
              </a:defRPr>
            </a:pPr>
            <a:r>
              <a:t>FIX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5943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>
                <a:solidFill>
                  <a:srgbClr val="6B7682"/>
                </a:solidFill>
              </a:defRPr>
            </a:pPr>
            <a:r>
              <a:t>Flow Gap: ₹1.98 Cr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1">
                <a:solidFill>
                  <a:srgbClr val="6B7682"/>
                </a:solidFill>
              </a:defRPr>
            </a:pPr>
            <a:r>
              <a:t>TOP CHAINS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1">
                <a:solidFill>
                  <a:srgbClr val="1F2933"/>
                </a:solidFill>
              </a:defRPr>
            </a:pPr>
            <a:r>
              <a:t>DMart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783080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80">
                <a:solidFill>
                  <a:srgbClr val="1F2933"/>
                </a:solidFill>
              </a:defRPr>
            </a:pPr>
            <a:r>
              <a:t>₹1.95 Cr | 45.1% conv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783080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80">
                <a:solidFill>
                  <a:srgbClr val="1E8E3E"/>
                </a:solidFill>
              </a:defRPr>
            </a:pPr>
            <a:r>
              <a:t>▲269% YoY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5740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1">
                <a:solidFill>
                  <a:srgbClr val="1F2933"/>
                </a:solidFill>
              </a:defRPr>
            </a:pPr>
            <a:r>
              <a:t>Apollo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057400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80">
                <a:solidFill>
                  <a:srgbClr val="1F2933"/>
                </a:solidFill>
              </a:defRPr>
            </a:pPr>
            <a:r>
              <a:t>₹1.64 Cr | 148.5% conv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057400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80">
                <a:solidFill>
                  <a:srgbClr val="1E8E3E"/>
                </a:solidFill>
              </a:defRPr>
            </a:pPr>
            <a:r>
              <a:t>FLAT—data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33172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1">
                <a:solidFill>
                  <a:srgbClr val="1F2933"/>
                </a:solidFill>
              </a:defRPr>
            </a:pPr>
            <a:r>
              <a:t>Reliance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331720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80">
                <a:solidFill>
                  <a:srgbClr val="1F2933"/>
                </a:solidFill>
              </a:defRPr>
            </a:pPr>
            <a:r>
              <a:t>₹0.67 Cr | 82.5% conv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331720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80">
                <a:solidFill>
                  <a:srgbClr val="1E8E3E"/>
                </a:solidFill>
              </a:defRPr>
            </a:pPr>
            <a:r>
              <a:t>▲27% YoY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1508760"/>
            <a:ext cx="3931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1">
                <a:solidFill>
                  <a:srgbClr val="6B7682"/>
                </a:solidFill>
              </a:defRPr>
            </a:pPr>
            <a:r>
              <a:t>CATEGORY PERFORMANCE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178308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1">
                <a:solidFill>
                  <a:srgbClr val="1F2933"/>
                </a:solidFill>
              </a:defRPr>
            </a:pPr>
            <a:r>
              <a:t>Face Cleanser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78308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80">
                <a:solidFill>
                  <a:srgbClr val="1F2933"/>
                </a:solidFill>
              </a:defRPr>
            </a:pPr>
            <a:r>
              <a:t>₹1.60 Cr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178308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80">
                <a:solidFill>
                  <a:srgbClr val="1E8E3E"/>
                </a:solidFill>
              </a:defRPr>
            </a:pPr>
            <a:r>
              <a:t>▲strong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205740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1">
                <a:solidFill>
                  <a:srgbClr val="1F2933"/>
                </a:solidFill>
              </a:defRPr>
            </a:pPr>
            <a:r>
              <a:t>Shampoo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0574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80">
                <a:solidFill>
                  <a:srgbClr val="1F2933"/>
                </a:solidFill>
              </a:defRPr>
            </a:pPr>
            <a:r>
              <a:t>₹0.94 Cr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205740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80">
                <a:solidFill>
                  <a:srgbClr val="1E8E3E"/>
                </a:solidFill>
              </a:defRPr>
            </a:pPr>
            <a:r>
              <a:t>▲growth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233172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1">
                <a:solidFill>
                  <a:srgbClr val="1F2933"/>
                </a:solidFill>
              </a:defRPr>
            </a:pPr>
            <a:r>
              <a:t>Sun Care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33172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80">
                <a:solidFill>
                  <a:srgbClr val="1F2933"/>
                </a:solidFill>
              </a:defRPr>
            </a:pPr>
            <a:r>
              <a:t>₹0.34 Cr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233172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80">
                <a:solidFill>
                  <a:srgbClr val="1E8E3E"/>
                </a:solidFill>
              </a:defRPr>
            </a:pPr>
            <a:r>
              <a:t>▲stable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292608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1">
                <a:solidFill>
                  <a:srgbClr val="6B7682"/>
                </a:solidFill>
              </a:defRPr>
            </a:pPr>
            <a:r>
              <a:t>KEY STATES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>
                <a:solidFill>
                  <a:srgbClr val="1F2933"/>
                </a:solidFill>
              </a:defRPr>
            </a:pPr>
            <a:r>
              <a:t>Telangana ₹2.56 Cr (52.2%) | Andhra Pradesh ₹2.35 Cr (47.9%) | 2-state zone = easier control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61188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1">
                <a:solidFill>
                  <a:srgbClr val="6B7682"/>
                </a:solidFill>
              </a:defRPr>
            </a:pPr>
            <a:r>
              <a:t>INSIGHTS &amp; WATCH-OUTS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886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2B6CB0"/>
                </a:solidFill>
              </a:defRPr>
            </a:pPr>
            <a:r>
              <a:t>⚠ DMart S-2 at 45.1% conversion—needs urgent recovery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2B6CB0"/>
                </a:solidFill>
              </a:defRPr>
            </a:pPr>
            <a:r>
              <a:t>🔴 Apollo &gt;100% conversion is a DATA RISK—likely loading into full pipeline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2B6CB0"/>
                </a:solidFill>
              </a:defRPr>
            </a:pPr>
            <a:r>
              <a:t>→ Primary +69.3% YoY; Telangana/AP split (52/48) requires careful balance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FFFFF"/>
                </a:solidFill>
              </a:defRPr>
            </a:pPr>
            <a:r>
              <a:t>IMMEDIATE ACTIONS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1663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1">
                <a:solidFill>
                  <a:srgbClr val="1F2933"/>
                </a:solidFill>
              </a:defRPr>
            </a:pPr>
            <a:r>
              <a:t>Owner: NKAM DMart S-2 + Analytics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44068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80">
                <a:solidFill>
                  <a:srgbClr val="6B7682"/>
                </a:solidFill>
              </a:defRPr>
            </a:pPr>
            <a:r>
              <a:t>Deadline: 28-Aug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715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>
                <a:solidFill>
                  <a:srgbClr val="1F2933"/>
                </a:solidFill>
              </a:defRPr>
            </a:pPr>
            <a:r>
              <a:t>Target: DMart store-level audit by 28-Aug; quarantine Apollo primary until validated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626364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682"/>
                </a:solidFill>
              </a:defRPr>
            </a:pPr>
            <a: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3" name="Rectangle 32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solidFill>
            <a:srgbClr val="2D9B7F"/>
          </a:solidFill>
          <a:ln>
            <a:solidFill>
              <a:srgbClr val="2D9B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solidFill>
            <a:srgbClr val="2D9B7F"/>
          </a:solidFill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</a:defRPr>
            </a:pPr>
            <a:r>
              <a:t>East ZONE | Q1 FY27 |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F2933"/>
                </a:solidFill>
              </a:defRPr>
            </a:pPr>
            <a:r>
              <a:t>₹3.55 Cr | 45.3% CONVERSION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685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50" b="1">
                <a:solidFill>
                  <a:srgbClr val="C0392B"/>
                </a:solidFill>
              </a:defRPr>
            </a:pPr>
            <a:r>
              <a:t>URGENT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5943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>
                <a:solidFill>
                  <a:srgbClr val="6B7682"/>
                </a:solidFill>
              </a:defRPr>
            </a:pPr>
            <a:r>
              <a:t>Flow Gap: ₹4.28 Cr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1">
                <a:solidFill>
                  <a:srgbClr val="6B7682"/>
                </a:solidFill>
              </a:defRPr>
            </a:pPr>
            <a:r>
              <a:t>TOP CHAINS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1">
                <a:solidFill>
                  <a:srgbClr val="1F2933"/>
                </a:solidFill>
              </a:defRPr>
            </a:pPr>
            <a:r>
              <a:t>Reliance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783080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80">
                <a:solidFill>
                  <a:srgbClr val="1F2933"/>
                </a:solidFill>
              </a:defRPr>
            </a:pPr>
            <a:r>
              <a:t>₹2.16 Cr | 52.9% conv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783080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80">
                <a:solidFill>
                  <a:srgbClr val="1E8E3E"/>
                </a:solidFill>
              </a:defRPr>
            </a:pPr>
            <a:r>
              <a:t>▲119% YoY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5740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1">
                <a:solidFill>
                  <a:srgbClr val="1F2933"/>
                </a:solidFill>
              </a:defRPr>
            </a:pPr>
            <a:r>
              <a:t>Apollo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057400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80">
                <a:solidFill>
                  <a:srgbClr val="1F2933"/>
                </a:solidFill>
              </a:defRPr>
            </a:pPr>
            <a:r>
              <a:t>₹0.80 Cr | 121.1% conv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057400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80">
                <a:solidFill>
                  <a:srgbClr val="1E8E3E"/>
                </a:solidFill>
              </a:defRPr>
            </a:pPr>
            <a:r>
              <a:t>NEW—data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33172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1">
                <a:solidFill>
                  <a:srgbClr val="1F2933"/>
                </a:solidFill>
              </a:defRPr>
            </a:pPr>
            <a:r>
              <a:t>Vishal Mega Mart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331720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80">
                <a:solidFill>
                  <a:srgbClr val="1F2933"/>
                </a:solidFill>
              </a:defRPr>
            </a:pPr>
            <a:r>
              <a:t>₹0.17 Cr | ~60% conv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331720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80">
                <a:solidFill>
                  <a:srgbClr val="1E8E3E"/>
                </a:solidFill>
              </a:defRPr>
            </a:pPr>
            <a:r>
              <a:t>▲65% YoY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1508760"/>
            <a:ext cx="3931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1">
                <a:solidFill>
                  <a:srgbClr val="6B7682"/>
                </a:solidFill>
              </a:defRPr>
            </a:pPr>
            <a:r>
              <a:t>CATEGORY PERFORMANCE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178308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1">
                <a:solidFill>
                  <a:srgbClr val="1F2933"/>
                </a:solidFill>
              </a:defRPr>
            </a:pPr>
            <a:r>
              <a:t>Face Cleanser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78308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80">
                <a:solidFill>
                  <a:srgbClr val="1F2933"/>
                </a:solidFill>
              </a:defRPr>
            </a:pPr>
            <a:r>
              <a:t>₹1.81 Cr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178308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80">
                <a:solidFill>
                  <a:srgbClr val="1E8E3E"/>
                </a:solidFill>
              </a:defRPr>
            </a:pPr>
            <a:r>
              <a:t>▲strong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205740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1">
                <a:solidFill>
                  <a:srgbClr val="1F2933"/>
                </a:solidFill>
              </a:defRPr>
            </a:pPr>
            <a:r>
              <a:t>Shampoo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0574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80">
                <a:solidFill>
                  <a:srgbClr val="1F2933"/>
                </a:solidFill>
              </a:defRPr>
            </a:pPr>
            <a:r>
              <a:t>₹1.18 Cr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205740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80">
                <a:solidFill>
                  <a:srgbClr val="1E8E3E"/>
                </a:solidFill>
              </a:defRPr>
            </a:pPr>
            <a:r>
              <a:t>▲growth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233172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1">
                <a:solidFill>
                  <a:srgbClr val="1F2933"/>
                </a:solidFill>
              </a:defRPr>
            </a:pPr>
            <a:r>
              <a:t>Sun Care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33172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80">
                <a:solidFill>
                  <a:srgbClr val="1F2933"/>
                </a:solidFill>
              </a:defRPr>
            </a:pPr>
            <a:r>
              <a:t>₹0.28 Cr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233172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80">
                <a:solidFill>
                  <a:srgbClr val="1E8E3E"/>
                </a:solidFill>
              </a:defRPr>
            </a:pPr>
            <a:r>
              <a:t>▲limited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292608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1">
                <a:solidFill>
                  <a:srgbClr val="6B7682"/>
                </a:solidFill>
              </a:defRPr>
            </a:pPr>
            <a:r>
              <a:t>KEY STATES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>
                <a:solidFill>
                  <a:srgbClr val="1F2933"/>
                </a:solidFill>
              </a:defRPr>
            </a:pPr>
            <a:r>
              <a:t>West Bengal ₹1.56 Cr (43.8%) | Odisha ₹0.60 Cr (16.9%) | Bihar ₹0.49 Cr (13.8%)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61188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1">
                <a:solidFill>
                  <a:srgbClr val="6B7682"/>
                </a:solidFill>
              </a:defRPr>
            </a:pPr>
            <a:r>
              <a:t>INSIGHTS &amp; WATCH-OUTS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886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2B6CB0"/>
                </a:solidFill>
              </a:defRPr>
            </a:pPr>
            <a:r>
              <a:t>🔴 WORST CONVERSION NATIONALLY (45.3%); ₹4.28 Cr flow gap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2B6CB0"/>
                </a:solidFill>
              </a:defRPr>
            </a:pPr>
            <a:r>
              <a:t>⚠ Over-loaded relative to demand; 10.2% NPI mix risks inventory buildup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2B6CB0"/>
                </a:solidFill>
              </a:defRPr>
            </a:pPr>
            <a:r>
              <a:t>✓ Primary +115.7% YoY (₹7.83 Cr)—but conversion mismatch is critical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FFFFF"/>
                </a:solidFill>
              </a:defRPr>
            </a:pPr>
            <a:r>
              <a:t>IMMEDIATE ACTIONS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1663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1">
                <a:solidFill>
                  <a:srgbClr val="1F2933"/>
                </a:solidFill>
              </a:defRPr>
            </a:pPr>
            <a:r>
              <a:t>Owner: East ZSM + NKAM Reliance East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44068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80">
                <a:solidFill>
                  <a:srgbClr val="6B7682"/>
                </a:solidFill>
              </a:defRPr>
            </a:pPr>
            <a:r>
              <a:t>Deadline: 05-Aug+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715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>
                <a:solidFill>
                  <a:srgbClr val="1F2933"/>
                </a:solidFill>
              </a:defRPr>
            </a:pPr>
            <a:r>
              <a:t>Target: Validate Aug-26 Reliance East offtake by 05-Aug; if &lt;70%, pull EAN-store list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626364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682"/>
                </a:solidFill>
              </a:defRPr>
            </a:pPr>
            <a: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3" name="Rectangle 32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solidFill>
            <a:srgbClr val="2D9B7F"/>
          </a:solidFill>
          <a:ln>
            <a:solidFill>
              <a:srgbClr val="2D9B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solidFill>
            <a:srgbClr val="2D9B7F"/>
          </a:solidFill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</a:defRPr>
            </a:pPr>
            <a:r>
              <a:t>Central ZONE | Q1 FY27 |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F2933"/>
                </a:solidFill>
              </a:defRPr>
            </a:pPr>
            <a:r>
              <a:t>₹2.12 Cr | 78.8% CONVERSION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685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50" b="1">
                <a:solidFill>
                  <a:srgbClr val="C77D17"/>
                </a:solidFill>
              </a:defRPr>
            </a:pPr>
            <a:r>
              <a:t>WATCH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5943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>
                <a:solidFill>
                  <a:srgbClr val="6B7682"/>
                </a:solidFill>
              </a:defRPr>
            </a:pPr>
            <a:r>
              <a:t>Flow Gap: ₹0.57 Cr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1">
                <a:solidFill>
                  <a:srgbClr val="6B7682"/>
                </a:solidFill>
              </a:defRPr>
            </a:pPr>
            <a:r>
              <a:t>TOP CHAINS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1">
                <a:solidFill>
                  <a:srgbClr val="1F2933"/>
                </a:solidFill>
              </a:defRPr>
            </a:pPr>
            <a:r>
              <a:t>DMart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783080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80">
                <a:solidFill>
                  <a:srgbClr val="1F2933"/>
                </a:solidFill>
              </a:defRPr>
            </a:pPr>
            <a:r>
              <a:t>₹1.41 Cr | 95.3% conv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783080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80">
                <a:solidFill>
                  <a:srgbClr val="1E8E3E"/>
                </a:solidFill>
              </a:defRPr>
            </a:pPr>
            <a:r>
              <a:t>▲169% YoY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5740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1">
                <a:solidFill>
                  <a:srgbClr val="1F2933"/>
                </a:solidFill>
              </a:defRPr>
            </a:pPr>
            <a:r>
              <a:t>Reliance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057400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80">
                <a:solidFill>
                  <a:srgbClr val="1F2933"/>
                </a:solidFill>
              </a:defRPr>
            </a:pPr>
            <a:r>
              <a:t>₹0.46 Cr | 51.2% conv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057400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80">
                <a:solidFill>
                  <a:srgbClr val="1E8E3E"/>
                </a:solidFill>
              </a:defRPr>
            </a:pPr>
            <a:r>
              <a:t>▲296% YoY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33172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1">
                <a:solidFill>
                  <a:srgbClr val="1F2933"/>
                </a:solidFill>
              </a:defRPr>
            </a:pPr>
            <a:r>
              <a:t>Apollo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331720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80">
                <a:solidFill>
                  <a:srgbClr val="1F2933"/>
                </a:solidFill>
              </a:defRPr>
            </a:pPr>
            <a:r>
              <a:t>₹0.19 Cr | 137.7% conv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331720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80">
                <a:solidFill>
                  <a:srgbClr val="1E8E3E"/>
                </a:solidFill>
              </a:defRPr>
            </a:pPr>
            <a:r>
              <a:t>NEW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1508760"/>
            <a:ext cx="3931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1">
                <a:solidFill>
                  <a:srgbClr val="6B7682"/>
                </a:solidFill>
              </a:defRPr>
            </a:pPr>
            <a:r>
              <a:t>CATEGORY PERFORMANCE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178308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1">
                <a:solidFill>
                  <a:srgbClr val="1F2933"/>
                </a:solidFill>
              </a:defRPr>
            </a:pPr>
            <a:r>
              <a:t>Face Cleanser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78308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80">
                <a:solidFill>
                  <a:srgbClr val="1F2933"/>
                </a:solidFill>
              </a:defRPr>
            </a:pPr>
            <a:r>
              <a:t>₹1.20 Cr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178308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80">
                <a:solidFill>
                  <a:srgbClr val="1E8E3E"/>
                </a:solidFill>
              </a:defRPr>
            </a:pPr>
            <a:r>
              <a:t>▲strong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205740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1">
                <a:solidFill>
                  <a:srgbClr val="1F2933"/>
                </a:solidFill>
              </a:defRPr>
            </a:pPr>
            <a:r>
              <a:t>Shampoo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0574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80">
                <a:solidFill>
                  <a:srgbClr val="1F2933"/>
                </a:solidFill>
              </a:defRPr>
            </a:pPr>
            <a:r>
              <a:t>₹0.40 Cr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205740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80">
                <a:solidFill>
                  <a:srgbClr val="1E8E3E"/>
                </a:solidFill>
              </a:defRPr>
            </a:pPr>
            <a:r>
              <a:t>▲growth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233172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1">
                <a:solidFill>
                  <a:srgbClr val="1F2933"/>
                </a:solidFill>
              </a:defRPr>
            </a:pPr>
            <a:r>
              <a:t>Sun Care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33172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80">
                <a:solidFill>
                  <a:srgbClr val="1F2933"/>
                </a:solidFill>
              </a:defRPr>
            </a:pPr>
            <a:r>
              <a:t>₹0.27 Cr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233172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80">
                <a:solidFill>
                  <a:srgbClr val="1E8E3E"/>
                </a:solidFill>
              </a:defRPr>
            </a:pPr>
            <a:r>
              <a:t>▲stable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292608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1">
                <a:solidFill>
                  <a:srgbClr val="6B7682"/>
                </a:solidFill>
              </a:defRPr>
            </a:pPr>
            <a:r>
              <a:t>KEY STATES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>
                <a:solidFill>
                  <a:srgbClr val="1F2933"/>
                </a:solidFill>
              </a:defRPr>
            </a:pPr>
            <a:r>
              <a:t>Madhya Pradesh ₹1.68 Cr (79.3%) | Chhattisgarh ₹0.44 Cr (20.8%) | Clean new zone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61188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1">
                <a:solidFill>
                  <a:srgbClr val="6B7682"/>
                </a:solidFill>
              </a:defRPr>
            </a:pPr>
            <a:r>
              <a:t>INSIGHTS &amp; WATCH-OUTS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886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2B6CB0"/>
                </a:solidFill>
              </a:defRPr>
            </a:pPr>
            <a:r>
              <a:t>✓ Clean new zone; highest DMart conversion (95.3%); smallest gap (₹0.57 Cr)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2B6CB0"/>
                </a:solidFill>
              </a:defRPr>
            </a:pPr>
            <a:r>
              <a:t>✓ Primary +202.2% YoY; maintains healthy 78.8% overall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2B6CB0"/>
                </a:solidFill>
              </a:defRPr>
            </a:pPr>
            <a:r>
              <a:t>→ Protect early momentum; benchmark DMart EAN discipline for national rollout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FFFFF"/>
                </a:solidFill>
              </a:defRPr>
            </a:pPr>
            <a:r>
              <a:t>IMMEDIATE ACTIONS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1663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1">
                <a:solidFill>
                  <a:srgbClr val="1F2933"/>
                </a:solidFill>
              </a:defRPr>
            </a:pPr>
            <a:r>
              <a:t>Owner: NKAM DMart Central + Analytics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44068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80">
                <a:solidFill>
                  <a:srgbClr val="6B7682"/>
                </a:solidFill>
              </a:defRPr>
            </a:pPr>
            <a:r>
              <a:t>Deadline: 31-Aug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715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>
                <a:solidFill>
                  <a:srgbClr val="1F2933"/>
                </a:solidFill>
              </a:defRPr>
            </a:pPr>
            <a:r>
              <a:t>Target: Document Central DMart EAN ordering cadence; build state-level comparable data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626364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682"/>
                </a:solidFill>
              </a:defRPr>
            </a:pPr>
            <a: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1898</Words>
  <Application>Microsoft Office PowerPoint</Application>
  <PresentationFormat>Widescreen</PresentationFormat>
  <Paragraphs>461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Sheshant  Singh Aswal</cp:lastModifiedBy>
  <cp:revision>1</cp:revision>
  <dcterms:created xsi:type="dcterms:W3CDTF">2013-01-27T09:14:16Z</dcterms:created>
  <dcterms:modified xsi:type="dcterms:W3CDTF">2026-09-05T04:43:47Z</dcterms:modified>
  <cp:category/>
</cp:coreProperties>
</file>