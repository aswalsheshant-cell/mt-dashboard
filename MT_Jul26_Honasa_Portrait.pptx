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6858000" cy="9144000"/>
  <p:notesSz cx="9144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183B39"/>
          </a:solidFill>
          <a:ln w="12700">
            <a:solidFill>
              <a:srgbClr val="183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6858000" cy="4114800"/>
          </a:xfrm>
          <a:prstGeom prst="rect">
            <a:avLst/>
          </a:prstGeom>
          <a:solidFill>
            <a:srgbClr val="116F68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0"/>
            <a:ext cx="6217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FF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OFFTAKE PERFORMANCE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2148840"/>
            <a:ext cx="6217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320040" y="3429000"/>
            <a:ext cx="6217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Review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521208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FF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Honasa Consumer Ltd  |  Modern Trade Channel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" y="8686800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FF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For internal leadership use only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7FBFA"/>
          </a:solidFill>
          <a:ln w="12700">
            <a:solidFill>
              <a:srgbClr val="F7FB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858000" cy="914400"/>
          </a:xfrm>
          <a:prstGeom prst="rect">
            <a:avLst/>
          </a:prstGeom>
          <a:solidFill>
            <a:srgbClr val="116F68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— JULY 2026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20040" y="566928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FF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| Primary vs Offtake | ₹ Cr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005840"/>
            <a:ext cx="1481328" cy="822960"/>
          </a:xfrm>
          <a:prstGeom prst="rect">
            <a:avLst/>
          </a:prstGeom>
          <a:solidFill>
            <a:srgbClr val="DFF2ED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042416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OFFTAKE JUL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74904" y="1225296"/>
            <a:ext cx="13898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₹36.06 Cr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74904" y="1536192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+64.2% YoY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1874520" y="1005840"/>
            <a:ext cx="1481328" cy="822960"/>
          </a:xfrm>
          <a:prstGeom prst="rect">
            <a:avLst/>
          </a:prstGeom>
          <a:solidFill>
            <a:srgbClr val="DFF2ED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29384" y="1042416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L3M MAY–JUL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929384" y="1225296"/>
            <a:ext cx="13898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₹114.66 Cr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29384" y="1536192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+65.8% YoY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429000" y="1005840"/>
            <a:ext cx="1481328" cy="822960"/>
          </a:xfrm>
          <a:prstGeom prst="rect">
            <a:avLst/>
          </a:prstGeom>
          <a:solidFill>
            <a:srgbClr val="DFF2ED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83864" y="1042416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CONV.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483864" y="1225296"/>
            <a:ext cx="13898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83864" y="1536192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&gt;90% target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983480" y="1005840"/>
            <a:ext cx="1481328" cy="822960"/>
          </a:xfrm>
          <a:prstGeom prst="rect">
            <a:avLst/>
          </a:prstGeom>
          <a:solidFill>
            <a:srgbClr val="DFF2ED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8344" y="1042416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038344" y="1225296"/>
            <a:ext cx="13898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₹13.11 Cr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38344" y="1536192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+ East 70.5%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320040" y="1920240"/>
            <a:ext cx="621792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₹36.06 Cr Jul offtake (+64.2% YoY); L3M ₹114.66 Cr (+65.8% YoY) — demand is growing faster than conversion is allowing.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gap: ₹13.11 Cr at 73.4% conversion. North (58.5%) and East (45.3%) hold 70.5% of gap — both are execution failures, not demand failures.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99.7% conversion proves demand is real. DMart 76.5% and Reliance 51.4% are recoverable through EAN-level action.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/ FSN+Nykaa: ₹2.07 Cr at 99.4% flow — outperforms MT by 26 pp. FYTD ₹8.79 Cr.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NPI: ₹2.82 Cr (7.82% mix), 58/60 EANs billing. Reliance 46.3% + DMart 34.6% = 80.9% of NPI value. Two zero-sellers need audit before next load.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plan: Phase 1 — field reconciliation (Aug); Phase 2 — white-space sizing (Sep); Phase 3 — controlled scale (Oct).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0" y="8412480"/>
            <a:ext cx="6858000" cy="731520"/>
          </a:xfrm>
          <a:prstGeom prst="rect">
            <a:avLst/>
          </a:prstGeom>
          <a:solidFill>
            <a:srgbClr val="183B39"/>
          </a:solidFill>
          <a:ln w="12700">
            <a:solidFill>
              <a:srgbClr val="183B3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8467344"/>
            <a:ext cx="621792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 Do not increase primary loading into North/East until EAN-level exceptions are resolved. Apollo's 99.7% is the execution benchmark. Weekly scoreboard from 22-Aug.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7FBFA"/>
          </a:solidFill>
          <a:ln w="12700">
            <a:solidFill>
              <a:srgbClr val="F7FB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858000" cy="914400"/>
          </a:xfrm>
          <a:prstGeom prst="rect">
            <a:avLst/>
          </a:prstGeom>
          <a:solidFill>
            <a:srgbClr val="116F68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+ EAST HOLD 70.5% OF NATIONAL GAP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20040" y="566928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FF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portfolio | primary vs offtake | July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005840"/>
            <a:ext cx="1060704" cy="329184"/>
          </a:xfrm>
          <a:prstGeom prst="rect">
            <a:avLst/>
          </a:prstGeom>
          <a:solidFill>
            <a:srgbClr val="116F68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6616" y="10424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1417320" y="1005840"/>
            <a:ext cx="877824" cy="329184"/>
          </a:xfrm>
          <a:prstGeom prst="rect">
            <a:avLst/>
          </a:prstGeom>
          <a:solidFill>
            <a:srgbClr val="116F68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53896" y="1042416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₹Cr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331720" y="1005840"/>
            <a:ext cx="877824" cy="329184"/>
          </a:xfrm>
          <a:prstGeom prst="rect">
            <a:avLst/>
          </a:prstGeom>
          <a:solidFill>
            <a:srgbClr val="116F68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68296" y="1042416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₹Cr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246120" y="1005840"/>
            <a:ext cx="694944" cy="329184"/>
          </a:xfrm>
          <a:prstGeom prst="rect">
            <a:avLst/>
          </a:prstGeom>
          <a:solidFill>
            <a:srgbClr val="116F68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82696" y="104241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977640" y="1005840"/>
            <a:ext cx="786384" cy="329184"/>
          </a:xfrm>
          <a:prstGeom prst="rect">
            <a:avLst/>
          </a:prstGeom>
          <a:solidFill>
            <a:srgbClr val="116F68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14216" y="1042416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₹Cr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00600" y="1005840"/>
            <a:ext cx="694944" cy="329184"/>
          </a:xfrm>
          <a:prstGeom prst="rect">
            <a:avLst/>
          </a:prstGeom>
          <a:solidFill>
            <a:srgbClr val="116F68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37176" y="104241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20040" y="1335024"/>
            <a:ext cx="1060704" cy="32918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6616" y="13716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417320" y="1335024"/>
            <a:ext cx="877824" cy="32918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53896" y="13716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10.05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331720" y="1335024"/>
            <a:ext cx="877824" cy="32918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68296" y="13716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8.28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246120" y="1335024"/>
            <a:ext cx="694944" cy="32918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82696" y="1371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82.3%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977640" y="1335024"/>
            <a:ext cx="786384" cy="32918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14216" y="1371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1.78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800600" y="1335024"/>
            <a:ext cx="694944" cy="32918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37176" y="13716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0040" y="1664208"/>
            <a:ext cx="1060704" cy="32918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6616" y="170078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417320" y="1664208"/>
            <a:ext cx="877824" cy="32918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53896" y="1700784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9.80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331720" y="1664208"/>
            <a:ext cx="877824" cy="32918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368296" y="1700784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8.19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3246120" y="1664208"/>
            <a:ext cx="694944" cy="32918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82696" y="1700784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83.6%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977640" y="1664208"/>
            <a:ext cx="786384" cy="32918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014216" y="170078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1.61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800600" y="1664208"/>
            <a:ext cx="694944" cy="32918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37176" y="1700784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320040" y="1993392"/>
            <a:ext cx="1060704" cy="32918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56616" y="202996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417320" y="1993392"/>
            <a:ext cx="877824" cy="32918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453896" y="202996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2.69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2331720" y="1993392"/>
            <a:ext cx="877824" cy="32918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368296" y="202996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2.12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246120" y="1993392"/>
            <a:ext cx="694944" cy="32918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82696" y="202996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78.8%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977640" y="1993392"/>
            <a:ext cx="786384" cy="32918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014216" y="2029968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0.57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800600" y="1993392"/>
            <a:ext cx="694944" cy="32918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37176" y="202996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320040" y="2322576"/>
            <a:ext cx="1060704" cy="329184"/>
          </a:xfrm>
          <a:prstGeom prst="rect">
            <a:avLst/>
          </a:prstGeom>
          <a:solidFill>
            <a:srgbClr val="FFF0E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6616" y="235915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1417320" y="2322576"/>
            <a:ext cx="877824" cy="329184"/>
          </a:xfrm>
          <a:prstGeom prst="rect">
            <a:avLst/>
          </a:prstGeom>
          <a:solidFill>
            <a:srgbClr val="FFF0E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453896" y="23591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6.89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2331720" y="2322576"/>
            <a:ext cx="877824" cy="329184"/>
          </a:xfrm>
          <a:prstGeom prst="rect">
            <a:avLst/>
          </a:prstGeom>
          <a:solidFill>
            <a:srgbClr val="FFF0E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368296" y="23591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4.91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3246120" y="2322576"/>
            <a:ext cx="694944" cy="329184"/>
          </a:xfrm>
          <a:prstGeom prst="rect">
            <a:avLst/>
          </a:prstGeom>
          <a:solidFill>
            <a:srgbClr val="FFF0E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82696" y="23591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71.3%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3977640" y="2322576"/>
            <a:ext cx="786384" cy="329184"/>
          </a:xfrm>
          <a:prstGeom prst="rect">
            <a:avLst/>
          </a:prstGeom>
          <a:solidFill>
            <a:srgbClr val="FFF0E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014216" y="23591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800600" y="2322576"/>
            <a:ext cx="694944" cy="329184"/>
          </a:xfrm>
          <a:prstGeom prst="rect">
            <a:avLst/>
          </a:prstGeom>
          <a:solidFill>
            <a:srgbClr val="FFF0E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837176" y="23591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320040" y="2651760"/>
            <a:ext cx="1060704" cy="329184"/>
          </a:xfrm>
          <a:prstGeom prst="rect">
            <a:avLst/>
          </a:prstGeom>
          <a:solidFill>
            <a:srgbClr val="FFF0E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56616" y="268833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1417320" y="2651760"/>
            <a:ext cx="877824" cy="329184"/>
          </a:xfrm>
          <a:prstGeom prst="rect">
            <a:avLst/>
          </a:prstGeom>
          <a:solidFill>
            <a:srgbClr val="FFF0E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453896" y="2688336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11.95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2331720" y="2651760"/>
            <a:ext cx="877824" cy="329184"/>
          </a:xfrm>
          <a:prstGeom prst="rect">
            <a:avLst/>
          </a:prstGeom>
          <a:solidFill>
            <a:srgbClr val="FFF0E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368296" y="2688336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6.99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3246120" y="2651760"/>
            <a:ext cx="694944" cy="329184"/>
          </a:xfrm>
          <a:prstGeom prst="rect">
            <a:avLst/>
          </a:prstGeom>
          <a:solidFill>
            <a:srgbClr val="FFF0E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282696" y="268833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58.5%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3977640" y="2651760"/>
            <a:ext cx="786384" cy="329184"/>
          </a:xfrm>
          <a:prstGeom prst="rect">
            <a:avLst/>
          </a:prstGeom>
          <a:solidFill>
            <a:srgbClr val="FFF0E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014216" y="2688336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4.97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800600" y="2651760"/>
            <a:ext cx="694944" cy="329184"/>
          </a:xfrm>
          <a:prstGeom prst="rect">
            <a:avLst/>
          </a:prstGeom>
          <a:solidFill>
            <a:srgbClr val="FFF0E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837176" y="268833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320040" y="2980944"/>
            <a:ext cx="1060704" cy="329184"/>
          </a:xfrm>
          <a:prstGeom prst="rect">
            <a:avLst/>
          </a:prstGeom>
          <a:solidFill>
            <a:srgbClr val="FFF0E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56616" y="30175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1417320" y="2980944"/>
            <a:ext cx="877824" cy="329184"/>
          </a:xfrm>
          <a:prstGeom prst="rect">
            <a:avLst/>
          </a:prstGeom>
          <a:solidFill>
            <a:srgbClr val="FFF0E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53896" y="3017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7.83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2331720" y="2980944"/>
            <a:ext cx="877824" cy="329184"/>
          </a:xfrm>
          <a:prstGeom prst="rect">
            <a:avLst/>
          </a:prstGeom>
          <a:solidFill>
            <a:srgbClr val="FFF0E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368296" y="3017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3.55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3246120" y="2980944"/>
            <a:ext cx="694944" cy="329184"/>
          </a:xfrm>
          <a:prstGeom prst="rect">
            <a:avLst/>
          </a:prstGeom>
          <a:solidFill>
            <a:srgbClr val="FFF0E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282696" y="3017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45.3%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3977640" y="2980944"/>
            <a:ext cx="786384" cy="329184"/>
          </a:xfrm>
          <a:prstGeom prst="rect">
            <a:avLst/>
          </a:prstGeom>
          <a:solidFill>
            <a:srgbClr val="FFF0E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014216" y="3017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4.28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4800600" y="2980944"/>
            <a:ext cx="694944" cy="329184"/>
          </a:xfrm>
          <a:prstGeom prst="rect">
            <a:avLst/>
          </a:prstGeom>
          <a:solidFill>
            <a:srgbClr val="FFF0E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837176" y="3017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320040" y="3419856"/>
            <a:ext cx="6217920" cy="4873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Jul-26 MT offtake: ₹36.06 Cr (+64.2% YoY vs Jul-25 ₹21.96 Cr). L3M May–Jul: ₹114.66 Cr (+65.8% YoY vs ₹69.16 Cr LY).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 South-1 + Central: protect hero-SKU OSA; avoid unnecessary loading.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North: weekly EAN-level gap closure in Reliance + DMart. Apollo 98.3% is the playbook.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East: non-Hero SKU loading moratorium until Aug offtake confirmed. Reliance East 52.9% is the core problem.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South-2: DMart S-2 45.1% = lowest DMart nationally. Store-level audit by 28-Aug.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0" y="8412480"/>
            <a:ext cx="6858000" cy="731520"/>
          </a:xfrm>
          <a:prstGeom prst="rect">
            <a:avLst/>
          </a:prstGeom>
          <a:solidFill>
            <a:srgbClr val="183B39"/>
          </a:solidFill>
          <a:ln w="12700">
            <a:solidFill>
              <a:srgbClr val="183B39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20040" y="8467344"/>
            <a:ext cx="621792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 Weekly ZSM-owned gap closure loop: North → Reliance + DMart EANs; East → Reliance exclusively. Report to Sales Lead every Friday from 22-Aug.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7FBFA"/>
          </a:solidFill>
          <a:ln w="12700">
            <a:solidFill>
              <a:srgbClr val="F7FB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858000" cy="914400"/>
          </a:xfrm>
          <a:prstGeom prst="rect">
            <a:avLst/>
          </a:prstGeom>
          <a:solidFill>
            <a:srgbClr val="116F68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99.7% PROVES DEMAND IS REAL — DMART AND RELIANCE ARE EXECUTION GAPS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20040" y="566928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FF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deep dive | July 2026 | ₹ Cr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005840"/>
            <a:ext cx="1481328" cy="822960"/>
          </a:xfrm>
          <a:prstGeom prst="rect">
            <a:avLst/>
          </a:prstGeom>
          <a:solidFill>
            <a:srgbClr val="DFF2ED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042416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GAP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74904" y="1225296"/>
            <a:ext cx="13898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₹4.29 Cr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74904" y="1536192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 conversion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1874520" y="1005840"/>
            <a:ext cx="1481328" cy="822960"/>
          </a:xfrm>
          <a:prstGeom prst="rect">
            <a:avLst/>
          </a:prstGeom>
          <a:solidFill>
            <a:srgbClr val="DFF2ED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29384" y="1042416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GAP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929384" y="1225296"/>
            <a:ext cx="13898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₹7.61 Cr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29384" y="1536192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 conversion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429000" y="1005840"/>
            <a:ext cx="1481328" cy="822960"/>
          </a:xfrm>
          <a:prstGeom prst="rect">
            <a:avLst/>
          </a:prstGeom>
          <a:solidFill>
            <a:srgbClr val="DFF2ED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83864" y="1042416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483864" y="1225296"/>
            <a:ext cx="13898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99.7%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83864" y="1536192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Near-parity flow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983480" y="1005840"/>
            <a:ext cx="1481328" cy="822960"/>
          </a:xfrm>
          <a:prstGeom prst="rect">
            <a:avLst/>
          </a:prstGeom>
          <a:solidFill>
            <a:srgbClr val="DFF2ED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8344" y="1042416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GAP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038344" y="1225296"/>
            <a:ext cx="13898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₹11.89 Cr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38344" y="1536192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+ Reliance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320040" y="1920240"/>
            <a:ext cx="621792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99.7% conversion in the same assortment window confirms demand is present — DMart and Reliance gaps are execution deficits.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DMart: attack South-2 first (45.1% conversion = lowest nationally), then North; review hero-SKU availability and DC-to-store fill rate.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North 44.9% is most critical nationally; East 52.9% requires EAN-store failure mapping with weekly owner review from 22-Aug.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Apollo replenishment and review cadence across DMart and Reliance as the national execution playbook.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above 100%: treat as opening-stock timing signal; do not increase primary until stock is reconciled.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50% of DMart + Reliance gap adds ~₹5.9 Cr monthly offtake.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0" y="8412480"/>
            <a:ext cx="6858000" cy="731520"/>
          </a:xfrm>
          <a:prstGeom prst="rect">
            <a:avLst/>
          </a:prstGeom>
          <a:solidFill>
            <a:srgbClr val="183B39"/>
          </a:solidFill>
          <a:ln w="12700">
            <a:solidFill>
              <a:srgbClr val="183B3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8467344"/>
            <a:ext cx="621792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 Sales Lead + Category | Apollo audit by 31-Aug. Reliance North EAN-store list by 05-Sep. DMart S-2 store audit by 28-Aug.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7FBFA"/>
          </a:solidFill>
          <a:ln w="12700">
            <a:solidFill>
              <a:srgbClr val="F7FB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858000" cy="914400"/>
          </a:xfrm>
          <a:prstGeom prst="rect">
            <a:avLst/>
          </a:prstGeom>
          <a:solidFill>
            <a:srgbClr val="116F68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/ FSN+NYKAA: 99.4% FLOW — OUTPERFORMS MT AVERAGE BY 26 PP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20040" y="566928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FF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channel | FSN + Nykaa | January–July 2026 | Pan India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005840"/>
            <a:ext cx="1481328" cy="822960"/>
          </a:xfrm>
          <a:prstGeom prst="rect">
            <a:avLst/>
          </a:prstGeom>
          <a:solidFill>
            <a:srgbClr val="DFF2ED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042416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JUL-26 OFFTAKE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74904" y="1225296"/>
            <a:ext cx="13898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74904" y="1536192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-4.6% MoM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1874520" y="1005840"/>
            <a:ext cx="1481328" cy="822960"/>
          </a:xfrm>
          <a:prstGeom prst="rect">
            <a:avLst/>
          </a:prstGeom>
          <a:solidFill>
            <a:srgbClr val="DFF2ED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29384" y="1042416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929384" y="1225296"/>
            <a:ext cx="13898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29384" y="1536192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 pp vs MT 73.4%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429000" y="1005840"/>
            <a:ext cx="1481328" cy="822960"/>
          </a:xfrm>
          <a:prstGeom prst="rect">
            <a:avLst/>
          </a:prstGeom>
          <a:solidFill>
            <a:srgbClr val="DFF2ED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83864" y="1042416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FYTD APR–JUL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483864" y="1225296"/>
            <a:ext cx="13898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₹8.79 Cr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83864" y="1536192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4-month run rate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983480" y="1005840"/>
            <a:ext cx="1481328" cy="822960"/>
          </a:xfrm>
          <a:prstGeom prst="rect">
            <a:avLst/>
          </a:prstGeom>
          <a:solidFill>
            <a:srgbClr val="DFF2ED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8344" y="1042416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EANs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038344" y="1225296"/>
            <a:ext cx="13898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38344" y="1536192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from 222 in Jan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320040" y="1920240"/>
            <a:ext cx="621792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7-month trend: Jan ₹1.64 Cr → Feb ₹1.68 Cr → Mar ₹1.73 Cr → Apr ₹2.29 Cr → May ₹2.08 Cr → Jun ₹2.17 Cr → Jul ₹2.07 Cr. Absolute trend is positive.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-4.6% MoM is article-mix softness, not account deterioration. EAN count declining (222 → 198) while value holds = better productivity per EAN.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articles: Rice FW 100ml ₹0.27 Cr, Rice FW 50ml ₹0.19 Cr, Ubtan FW ₹0.14 Cr. Top-2 (₹0.46 Cr combined) determine August recovery.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add new EANs until July sell-through is validated in the August read.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OSA target to 100% for Rice FW 100ml and Ubtan FW on Nykaa.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article-level sell-through in Nykaa SS before September reorder decision.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0" y="8412480"/>
            <a:ext cx="6858000" cy="731520"/>
          </a:xfrm>
          <a:prstGeom prst="rect">
            <a:avLst/>
          </a:prstGeom>
          <a:solidFill>
            <a:srgbClr val="183B39"/>
          </a:solidFill>
          <a:ln w="12700">
            <a:solidFill>
              <a:srgbClr val="183B3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8467344"/>
            <a:ext cx="621792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 NKAM FSN / Nykaa + Category | 30-Aug. Supply chain to validate Nykaa SS article sell-through for September reorder.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7FBFA"/>
          </a:solidFill>
          <a:ln w="12700">
            <a:solidFill>
              <a:srgbClr val="F7FB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858000" cy="914400"/>
          </a:xfrm>
          <a:prstGeom prst="rect">
            <a:avLst/>
          </a:prstGeom>
          <a:solidFill>
            <a:srgbClr val="116F68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NPI: ₹2.82 CR — RELIANCE + DMART HOLD 80.9% OF NPI VALUE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20040" y="566928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FF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contribution | Overall, zone and chain | July 2026 | NSV basis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005840"/>
            <a:ext cx="1481328" cy="822960"/>
          </a:xfrm>
          <a:prstGeom prst="rect">
            <a:avLst/>
          </a:prstGeom>
          <a:solidFill>
            <a:srgbClr val="DFF2ED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1042416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SALES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74904" y="1225296"/>
            <a:ext cx="13898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₹2.82 Cr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74904" y="1536192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offtake (NSV)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1874520" y="1005840"/>
            <a:ext cx="1481328" cy="822960"/>
          </a:xfrm>
          <a:prstGeom prst="rect">
            <a:avLst/>
          </a:prstGeom>
          <a:solidFill>
            <a:srgbClr val="DFF2ED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29384" y="1042416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929384" y="1225296"/>
            <a:ext cx="13898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7.82%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29384" y="1536192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total sales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429000" y="1005840"/>
            <a:ext cx="1481328" cy="822960"/>
          </a:xfrm>
          <a:prstGeom prst="rect">
            <a:avLst/>
          </a:prstGeom>
          <a:solidFill>
            <a:srgbClr val="DFF2ED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83864" y="1042416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EANs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483864" y="1225296"/>
            <a:ext cx="13898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/ 60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83864" y="1536192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require audit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983480" y="1005840"/>
            <a:ext cx="1481328" cy="822960"/>
          </a:xfrm>
          <a:prstGeom prst="rect">
            <a:avLst/>
          </a:prstGeom>
          <a:solidFill>
            <a:srgbClr val="DFF2ED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8344" y="1042416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A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NPI MIX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038344" y="1225296"/>
            <a:ext cx="13898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10.2%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38344" y="1536192"/>
            <a:ext cx="1389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nationally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320040" y="1920240"/>
            <a:ext cx="1426464" cy="256032"/>
          </a:xfrm>
          <a:prstGeom prst="rect">
            <a:avLst/>
          </a:prstGeom>
          <a:solidFill>
            <a:srgbClr val="116F68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6616" y="195681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783080" y="1920240"/>
            <a:ext cx="1060704" cy="256032"/>
          </a:xfrm>
          <a:prstGeom prst="rect">
            <a:avLst/>
          </a:prstGeom>
          <a:solidFill>
            <a:srgbClr val="116F68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819656" y="1956816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NSV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2880360" y="1920240"/>
            <a:ext cx="877824" cy="256032"/>
          </a:xfrm>
          <a:prstGeom prst="rect">
            <a:avLst/>
          </a:prstGeom>
          <a:solidFill>
            <a:srgbClr val="116F68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16936" y="1956816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Share%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20040" y="2176272"/>
            <a:ext cx="1426464" cy="274320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6616" y="221284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783080" y="2176272"/>
            <a:ext cx="1060704" cy="274320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19656" y="221284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₹1.30 Cr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880360" y="2176272"/>
            <a:ext cx="877824" cy="274320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16936" y="221284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46.3%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20040" y="2450592"/>
            <a:ext cx="142646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56616" y="248716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783080" y="2450592"/>
            <a:ext cx="106070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819656" y="248716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₹0.98 Cr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880360" y="2450592"/>
            <a:ext cx="87782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16936" y="248716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34.6%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20040" y="2724912"/>
            <a:ext cx="1426464" cy="274320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56616" y="276148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1783080" y="2724912"/>
            <a:ext cx="1060704" cy="274320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819656" y="276148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 Cr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880360" y="2724912"/>
            <a:ext cx="877824" cy="274320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16936" y="27614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6.4%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20040" y="2999232"/>
            <a:ext cx="142646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56616" y="303580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1783080" y="2999232"/>
            <a:ext cx="106070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819656" y="30358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880360" y="2999232"/>
            <a:ext cx="87782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16936" y="303580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4.6%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320040" y="3273552"/>
            <a:ext cx="1426464" cy="274320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56616" y="331012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H&amp;G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1783080" y="3273552"/>
            <a:ext cx="1060704" cy="274320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819656" y="331012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₹0.06 Cr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2880360" y="3273552"/>
            <a:ext cx="877824" cy="274320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916936" y="331012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2.1%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320040" y="3547872"/>
            <a:ext cx="142646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56616" y="358444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1783080" y="3547872"/>
            <a:ext cx="106070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819656" y="358444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 Cr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2880360" y="3547872"/>
            <a:ext cx="87782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916936" y="358444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1.8%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320040" y="3822192"/>
            <a:ext cx="1426464" cy="274320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56616" y="385876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1783080" y="3822192"/>
            <a:ext cx="1060704" cy="274320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819656" y="385876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₹0.04 Cr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2880360" y="3822192"/>
            <a:ext cx="877824" cy="274320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916936" y="385876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1.3%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320040" y="4096512"/>
            <a:ext cx="142646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56616" y="413308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Sancus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1783080" y="4096512"/>
            <a:ext cx="106070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819656" y="413308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₹0.03 Cr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2880360" y="4096512"/>
            <a:ext cx="87782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916936" y="41330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1.1%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3337560" y="192024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NPI ARTICLES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3337560" y="2176272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Fall Shampoo — ₹0.31 Cr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Oil 200ml — ₹0.30 Cr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Gentle Cleansing Shampoo — ₹0.21 Cr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Multani Mitti FW 100ml — ₹0.20 Cr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Vitamin C Glow Sunscreen — ₹0.20 Cr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Lemon Anti-Dandruff Shampoo — ₹0.19 Cr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Rosemary Anti-Hair Fall Shampoo — ₹0.18 Cr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Rice Water Dewy Sunscreen — ₹0.18 Cr</a:t>
            </a:r>
            <a:endParaRPr lang="en-US" sz="750" dirty="0"/>
          </a:p>
        </p:txBody>
      </p:sp>
      <p:sp>
        <p:nvSpPr>
          <p:cNvPr id="78" name="Text 76"/>
          <p:cNvSpPr/>
          <p:nvPr/>
        </p:nvSpPr>
        <p:spPr>
          <a:xfrm>
            <a:off x="3337560" y="452628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ZERO-SALE EANs:</a:t>
            </a:r>
            <a:endParaRPr lang="en-US" sz="750" dirty="0"/>
          </a:p>
        </p:txBody>
      </p:sp>
      <p:sp>
        <p:nvSpPr>
          <p:cNvPr id="79" name="Text 77"/>
          <p:cNvSpPr/>
          <p:nvPr/>
        </p:nvSpPr>
        <p:spPr>
          <a:xfrm>
            <a:off x="3337560" y="4718304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BBLUNT Cherry Red Hair Colour 130g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TDC Peptide–Stem Cell Hair Serum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store receipt, shelf visibility and scheme support by 28-Aug.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0" y="8412480"/>
            <a:ext cx="6858000" cy="731520"/>
          </a:xfrm>
          <a:prstGeom prst="rect">
            <a:avLst/>
          </a:prstGeom>
          <a:solidFill>
            <a:srgbClr val="183B39"/>
          </a:solidFill>
          <a:ln w="12700">
            <a:solidFill>
              <a:srgbClr val="183B39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20040" y="8467344"/>
            <a:ext cx="621792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 Trade Marketing + Supply | 28-Aug. Prioritize Reliance + DMart NPI visibility (80.9% of NPI value). No new NPI loading until zero-sellers are cleared.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7FBFA"/>
          </a:solidFill>
          <a:ln w="12700">
            <a:solidFill>
              <a:srgbClr val="F7FB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858000" cy="914400"/>
          </a:xfrm>
          <a:prstGeom prst="rect">
            <a:avLst/>
          </a:prstGeom>
          <a:solidFill>
            <a:srgbClr val="116F68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EXECUTION PLAN: RECONCILE → SIZE → SCALE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20040" y="566928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FF2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uplift roadmap | owners, actions and proof points | Aug–Oct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005840"/>
            <a:ext cx="6217920" cy="256032"/>
          </a:xfrm>
          <a:prstGeom prst="rect">
            <a:avLst/>
          </a:prstGeom>
          <a:solidFill>
            <a:srgbClr val="116F68"/>
          </a:solidFill>
          <a:ln w="12700">
            <a:solidFill>
              <a:srgbClr val="116F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42416"/>
            <a:ext cx="6035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 DAYS (AUG)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1261872"/>
            <a:ext cx="6217920" cy="292608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298448"/>
            <a:ext cx="6035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Reconcile SAH / WD / PDO / OOS fields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0040" y="1554480"/>
            <a:ext cx="6217920" cy="292608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591056"/>
            <a:ext cx="6035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Publish state × chain × hero-EAN gaps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0040" y="1847088"/>
            <a:ext cx="6217920" cy="292608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1883664"/>
            <a:ext cx="6035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Weekly ZSM scoreboard live from 22-Aug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20040" y="2139696"/>
            <a:ext cx="6217920" cy="292608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176272"/>
            <a:ext cx="6035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NPI zero-seller audit by 28-Aug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0040" y="2542032"/>
            <a:ext cx="6217920" cy="256032"/>
          </a:xfrm>
          <a:prstGeom prst="rect">
            <a:avLst/>
          </a:prstGeom>
          <a:solidFill>
            <a:srgbClr val="2B9A66"/>
          </a:solidFill>
          <a:ln w="12700">
            <a:solidFill>
              <a:srgbClr val="2B9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578608"/>
            <a:ext cx="6035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 DAYS (SEP)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20040" y="2798064"/>
            <a:ext cx="6217920" cy="292608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2834640"/>
            <a:ext cx="6035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Size white space in ₹ using productive stores × PDO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0040" y="3090672"/>
            <a:ext cx="6217920" cy="292608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127248"/>
            <a:ext cx="6035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 Shampoo pack pilots — DMart + Apollo (top 3 formats)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20040" y="3383280"/>
            <a:ext cx="6217920" cy="292608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419856"/>
            <a:ext cx="6035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Restore Reliance North top-20 declining EANs by 05-Sep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20040" y="3675888"/>
            <a:ext cx="6217920" cy="292608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3712464"/>
            <a:ext cx="6035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Nykaa September reorder based on July sell-through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0040" y="4078224"/>
            <a:ext cx="6217920" cy="256032"/>
          </a:xfrm>
          <a:prstGeom prst="rect">
            <a:avLst/>
          </a:prstGeom>
          <a:solidFill>
            <a:srgbClr val="183B39"/>
          </a:solidFill>
          <a:ln w="12700">
            <a:solidFill>
              <a:srgbClr val="183B3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4114800"/>
            <a:ext cx="6035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DAYS (OCT)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20040" y="4334256"/>
            <a:ext cx="6217920" cy="292608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1480" y="4370832"/>
            <a:ext cx="6035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Scale only proven state-chain-SKU cells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0040" y="4626864"/>
            <a:ext cx="6217920" cy="292608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" y="4663440"/>
            <a:ext cx="6035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Reset load rules by verified conversion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20040" y="4919472"/>
            <a:ext cx="6217920" cy="292608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1480" y="4956048"/>
            <a:ext cx="6035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Rationalize dead/low-productivity packs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20040" y="5212080"/>
            <a:ext cx="6217920" cy="292608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1480" y="5248656"/>
            <a:ext cx="6035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Embed weekly owner and action receipts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320040" y="5614416"/>
            <a:ext cx="6217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MANAGEMENT SCOREBOARD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20040" y="5843016"/>
            <a:ext cx="2249424" cy="237744"/>
          </a:xfrm>
          <a:prstGeom prst="rect">
            <a:avLst/>
          </a:prstGeom>
          <a:solidFill>
            <a:srgbClr val="F7FBFA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6616" y="5870448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606040" y="5843016"/>
            <a:ext cx="1335024" cy="23774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42616" y="58704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&gt;90%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977640" y="5843016"/>
            <a:ext cx="2066544" cy="23774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014216" y="5870448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20040" y="6080760"/>
            <a:ext cx="2249424" cy="237744"/>
          </a:xfrm>
          <a:prstGeom prst="rect">
            <a:avLst/>
          </a:prstGeom>
          <a:solidFill>
            <a:srgbClr val="F7FBFA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56616" y="6108192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606040" y="6080760"/>
            <a:ext cx="1335024" cy="23774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42616" y="6108192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weekly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977640" y="6080760"/>
            <a:ext cx="2066544" cy="23774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14216" y="610819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20040" y="6318504"/>
            <a:ext cx="2249424" cy="237744"/>
          </a:xfrm>
          <a:prstGeom prst="rect">
            <a:avLst/>
          </a:prstGeom>
          <a:solidFill>
            <a:srgbClr val="F7FBFA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6616" y="6345936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gap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606040" y="6318504"/>
            <a:ext cx="1335024" cy="23774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42616" y="6345936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weekly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3977640" y="6318504"/>
            <a:ext cx="2066544" cy="23774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14216" y="6345936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20040" y="6556248"/>
            <a:ext cx="2249424" cy="237744"/>
          </a:xfrm>
          <a:prstGeom prst="rect">
            <a:avLst/>
          </a:prstGeom>
          <a:solidFill>
            <a:srgbClr val="F7FBFA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56616" y="6583680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2606040" y="6556248"/>
            <a:ext cx="1335024" cy="23774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642616" y="658368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&gt;95%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3977640" y="6556248"/>
            <a:ext cx="2066544" cy="23774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14216" y="658368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+ Supply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320040" y="6793992"/>
            <a:ext cx="2249424" cy="237744"/>
          </a:xfrm>
          <a:prstGeom prst="rect">
            <a:avLst/>
          </a:prstGeom>
          <a:solidFill>
            <a:srgbClr val="F7FBFA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56616" y="6821424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DMart/Reliance gap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2606040" y="6793992"/>
            <a:ext cx="1335024" cy="23774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642616" y="6821424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50%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3977640" y="6793992"/>
            <a:ext cx="2066544" cy="237744"/>
          </a:xfrm>
          <a:prstGeom prst="rect">
            <a:avLst/>
          </a:prstGeom>
          <a:solidFill>
            <a:srgbClr val="DFF2ED"/>
          </a:solidFill>
          <a:ln w="12700">
            <a:solidFill>
              <a:srgbClr val="D0E8E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14216" y="6821424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KAMs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0" y="8412480"/>
            <a:ext cx="6858000" cy="731520"/>
          </a:xfrm>
          <a:prstGeom prst="rect">
            <a:avLst/>
          </a:prstGeom>
          <a:solidFill>
            <a:srgbClr val="183B39"/>
          </a:solidFill>
          <a:ln w="12700">
            <a:solidFill>
              <a:srgbClr val="183B39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20040" y="8467344"/>
            <a:ext cx="621792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CHAIR:  Sales Lead — first review 22-Aug. No exceptions to owner-date accountability. Analytics on data exceptions with zero unresolved by each cycle.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2026-08-19T18:21:43Z</dcterms:created>
  <dcterms:modified xsi:type="dcterms:W3CDTF">2026-08-19T18:21:43Z</dcterms:modified>
</cp:coreProperties>
</file>