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183B39"/>
          </a:solidFill>
          <a:ln w="12700">
            <a:solidFill>
              <a:srgbClr val="183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6858000" cy="4114800"/>
          </a:xfrm>
          <a:prstGeom prst="rect">
            <a:avLst/>
          </a:prstGeom>
          <a:solidFill>
            <a:srgbClr val="116F68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F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214884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34290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5212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F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  |  Modern Trade Channel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86868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F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leadership use only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914400"/>
          </a:xfrm>
          <a:prstGeom prst="rect">
            <a:avLst/>
          </a:prstGeom>
          <a:solidFill>
            <a:srgbClr val="116F68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JULY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F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| Primary vs Offtake | ₹ Cr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JUL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7490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₹36.06 Cr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+64.2% YoY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7452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938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MAY–JUL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92938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₹114.66 Cr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938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+65.8% YoY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2900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8386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8386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&gt;90% target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98348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3834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3834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₹13.11 Cr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3834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+ East 70.5%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20040" y="1920240"/>
            <a:ext cx="6217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₹36.06 Cr Jul offtake (+64.2% YoY); L3M ₹114.66 Cr (+65.8% YoY) — demand is growing faster than conversion is allowing.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gap: ₹13.11 Cr at 73.4% conversion. North (58.5%) and East (45.3%) hold 70.5% of gap — both are execution failures, not demand failures.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99.7% conversion proves demand is real. DMart 76.5% and Reliance 51.4% are recoverable through EAN-level action.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/ FSN+Nykaa: ₹2.07 Cr at 99.4% flow — outperforms MT by 26 pp. FYTD ₹8.79 Cr.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NPI: ₹2.82 Cr (7.82% mix), 58/60 EANs billing. Reliance 46.3% + DMart 34.6% = 80.9% of NPI value. Two zero-sellers need audit before next load.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plan: Phase 1 — field reconciliation (Aug); Phase 2 — white-space sizing (Sep); Phase 3 — controlled scale (Oct).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8412480"/>
            <a:ext cx="6858000" cy="731520"/>
          </a:xfrm>
          <a:prstGeom prst="rect">
            <a:avLst/>
          </a:prstGeom>
          <a:solidFill>
            <a:srgbClr val="183B39"/>
          </a:solidFill>
          <a:ln w="12700">
            <a:solidFill>
              <a:srgbClr val="183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8467344"/>
            <a:ext cx="6217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Validate Reliance Aug-26 offtake by 05-Aug — Paisa Vasool event expected to recover pipeline (LY: Reliance offtake +46.4% MoM in Aug-25 vs Jul-25). DMart gap (76.5%) needs intervention now. Weekly scoreboard from 22-Aug.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914400"/>
          </a:xfrm>
          <a:prstGeom prst="rect">
            <a:avLst/>
          </a:prstGeom>
          <a:solidFill>
            <a:srgbClr val="116F68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+ EAST HOLD 70.5% OF NATIONAL GAP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F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portfolio | primary vs offtake | July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060704" cy="329184"/>
          </a:xfrm>
          <a:prstGeom prst="rect">
            <a:avLst/>
          </a:prstGeom>
          <a:solidFill>
            <a:srgbClr val="116F68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0424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417320" y="1005840"/>
            <a:ext cx="877824" cy="329184"/>
          </a:xfrm>
          <a:prstGeom prst="rect">
            <a:avLst/>
          </a:prstGeom>
          <a:solidFill>
            <a:srgbClr val="116F68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53896" y="10424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₹Cr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31720" y="1005840"/>
            <a:ext cx="877824" cy="329184"/>
          </a:xfrm>
          <a:prstGeom prst="rect">
            <a:avLst/>
          </a:prstGeom>
          <a:solidFill>
            <a:srgbClr val="116F68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8296" y="10424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₹Cr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694944" cy="329184"/>
          </a:xfrm>
          <a:prstGeom prst="rect">
            <a:avLst/>
          </a:prstGeom>
          <a:solidFill>
            <a:srgbClr val="116F68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0424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977640" y="1005840"/>
            <a:ext cx="786384" cy="329184"/>
          </a:xfrm>
          <a:prstGeom prst="rect">
            <a:avLst/>
          </a:prstGeom>
          <a:solidFill>
            <a:srgbClr val="116F68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14216" y="10424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₹Cr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00600" y="1005840"/>
            <a:ext cx="694944" cy="329184"/>
          </a:xfrm>
          <a:prstGeom prst="rect">
            <a:avLst/>
          </a:prstGeom>
          <a:solidFill>
            <a:srgbClr val="116F68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10424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040" y="1335024"/>
            <a:ext cx="106070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1371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417320" y="1335024"/>
            <a:ext cx="87782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3896" y="1371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31720" y="1335024"/>
            <a:ext cx="87782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68296" y="1371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8.28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1335024"/>
            <a:ext cx="69494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82696" y="1371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977640" y="1335024"/>
            <a:ext cx="78638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14216" y="1371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1335024"/>
            <a:ext cx="69494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7176" y="1371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1664208"/>
            <a:ext cx="106070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" y="17007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417320" y="1664208"/>
            <a:ext cx="87782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53896" y="17007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31720" y="1664208"/>
            <a:ext cx="87782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68296" y="17007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8.19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46120" y="1664208"/>
            <a:ext cx="69494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82696" y="17007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77640" y="1664208"/>
            <a:ext cx="78638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14216" y="170078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00600" y="1664208"/>
            <a:ext cx="69494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37176" y="17007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1993392"/>
            <a:ext cx="106070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" y="20299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417320" y="1993392"/>
            <a:ext cx="87782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53896" y="20299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2.69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331720" y="1993392"/>
            <a:ext cx="87782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68296" y="20299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46120" y="1993392"/>
            <a:ext cx="69494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82696" y="2029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977640" y="1993392"/>
            <a:ext cx="78638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14216" y="20299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00600" y="1993392"/>
            <a:ext cx="694944" cy="32918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37176" y="2029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2322576"/>
            <a:ext cx="106070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6616" y="23591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417320" y="2322576"/>
            <a:ext cx="87782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53896" y="2359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6.89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331720" y="2322576"/>
            <a:ext cx="87782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68296" y="2359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4.91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46120" y="2322576"/>
            <a:ext cx="69494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82696" y="23591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977640" y="2322576"/>
            <a:ext cx="78638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14216" y="23591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1.98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00600" y="2322576"/>
            <a:ext cx="69494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37176" y="23591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20040" y="2651760"/>
            <a:ext cx="106070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6616" y="26883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417320" y="2651760"/>
            <a:ext cx="87782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453896" y="26883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11.95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331720" y="2651760"/>
            <a:ext cx="87782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368296" y="26883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6.99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246120" y="2651760"/>
            <a:ext cx="69494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82696" y="268833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977640" y="2651760"/>
            <a:ext cx="78638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14216" y="268833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4.97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800600" y="2651760"/>
            <a:ext cx="69494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37176" y="268833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20040" y="2980944"/>
            <a:ext cx="106070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56616" y="3017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1417320" y="2980944"/>
            <a:ext cx="87782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53896" y="3017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7.83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331720" y="2980944"/>
            <a:ext cx="87782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368296" y="3017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3.55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246120" y="2980944"/>
            <a:ext cx="69494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82696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977640" y="2980944"/>
            <a:ext cx="78638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14216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4.28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800600" y="2980944"/>
            <a:ext cx="694944" cy="329184"/>
          </a:xfrm>
          <a:prstGeom prst="rect">
            <a:avLst/>
          </a:prstGeom>
          <a:solidFill>
            <a:srgbClr val="FFF0E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37176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320040" y="3419856"/>
            <a:ext cx="6217920" cy="4873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 MT offtake: ₹36.06 Cr (+64.2% YoY vs Jul-25 ₹21.96 Cr). L3M May–Jul: ₹114.66 Cr (+65.8% YoY vs ₹69.16 Cr LY).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 + Central: protect hero-SKU OSA; avoid unnecessary loading.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North: validate Reliance Aug offtake first (Paisa Vasool — LY +46.4% MoM). DMart EAN gap closure weekly regardless.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East: moratorium holds; check Reliance offtake 05-Aug — if Paisa Vasool converts pipeline, EAN fix may be smaller; if not, full Reliance East exception list by 10-Aug.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South-2: DMart S-2 45.1% = lowest DMart nationally. Store-level audit by 28-Aug.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0" y="8412480"/>
            <a:ext cx="6858000" cy="731520"/>
          </a:xfrm>
          <a:prstGeom prst="rect">
            <a:avLst/>
          </a:prstGeom>
          <a:solidFill>
            <a:srgbClr val="183B39"/>
          </a:solidFill>
          <a:ln w="12700">
            <a:solidFill>
              <a:srgbClr val="183B3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20040" y="8467344"/>
            <a:ext cx="6217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Weekly ZSM-owned gap closure loop: North → Reliance + DMart EANs; East → Reliance exclusively. Report to Sales Lead every Friday from 22-Aug.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914400"/>
          </a:xfrm>
          <a:prstGeom prst="rect">
            <a:avLst/>
          </a:prstGeom>
          <a:solidFill>
            <a:srgbClr val="116F68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99.7% PROVES DEMAND IS REAL — DMART AND RELIANCE ARE EXECUTION GAPS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F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deep dive | July 2026 | ₹ Cr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GAP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7490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₹4.29 Cr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conversion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7452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938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GAP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92938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₹7.61 Cr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938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conversion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2900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8386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8386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Near-parity flow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98348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3834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GAP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3834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₹11.89 Cr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3834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+ Reliance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20040" y="1920240"/>
            <a:ext cx="6217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99.7% confirms demand is present. Reliance gap (51.4%) partly reflects Paisa Vasool pipeline build — LY Reliance offtake rose +46.4% in Aug-25 vs Jul-25. Validate Aug-26 Reliance offtake before declaring full execution deficit.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attack South-2 first (45.1% conversion = lowest nationally), then North; review hero-SKU availability and DC-to-store fill rate.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North 44.9% is most critical nationally; East 52.9% requires EAN-store failure mapping with weekly owner review from 22-Aug.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Apollo replenishment and review cadence across DMart and Reliance as the national execution playbook.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above 100%: treat as opening-stock timing signal; do not increase primary until stock is reconciled.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50% of DMart + Reliance gap adds ~₹5.9 Cr monthly offtake.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8412480"/>
            <a:ext cx="6858000" cy="731520"/>
          </a:xfrm>
          <a:prstGeom prst="rect">
            <a:avLst/>
          </a:prstGeom>
          <a:solidFill>
            <a:srgbClr val="183B39"/>
          </a:solidFill>
          <a:ln w="12700">
            <a:solidFill>
              <a:srgbClr val="183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8467344"/>
            <a:ext cx="6217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 Sales Lead + Category | Apollo audit by 31-Aug. Reliance North EAN-store list by 05-Sep. DMart S-2 store audit by 28-Aug.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914400"/>
          </a:xfrm>
          <a:prstGeom prst="rect">
            <a:avLst/>
          </a:prstGeom>
          <a:solidFill>
            <a:srgbClr val="116F68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/ FSN+NYKAA: 99.4% FLOW — OUTPERFORMS MT AVERAGE BY 26 PP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F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channel | FSN + Nykaa | January–July 2026 | Pan India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 OFFTAKE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7490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-4.6% MoM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7452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938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92938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938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 pp vs MT 73.4%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2900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APR–JUL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8386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₹8.79 Cr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8386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run rate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98348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3834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3834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3834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222 in Jan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20040" y="1920240"/>
            <a:ext cx="6217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7-month trend: Jan ₹1.64 Cr → Feb ₹1.68 Cr → Mar ₹1.73 Cr → Apr ₹2.29 Cr → May ₹2.08 Cr → Jun ₹2.17 Cr → Jul ₹2.07 Cr. Absolute trend is positive.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-4.6% MoM is article-mix softness, not account deterioration. EAN count declining (222 → 198) while value holds = better productivity per EAN.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articles: Rice FW 100ml ₹0.27 Cr, Rice FW 50ml ₹0.19 Cr, Ubtan FW ₹0.14 Cr. Top-2 (₹0.46 Cr combined) determine August recovery.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add new EANs until July sell-through is validated in the August read.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OSA target to 100% for Rice FW 100ml and Ubtan FW on Nykaa.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article-level sell-through in Nykaa SS before September reorder decision.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8412480"/>
            <a:ext cx="6858000" cy="731520"/>
          </a:xfrm>
          <a:prstGeom prst="rect">
            <a:avLst/>
          </a:prstGeom>
          <a:solidFill>
            <a:srgbClr val="183B39"/>
          </a:solidFill>
          <a:ln w="12700">
            <a:solidFill>
              <a:srgbClr val="183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8467344"/>
            <a:ext cx="6217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 NKAM FSN / Nykaa + Category | 30-Aug. Supply chain to validate Nykaa SS article sell-through for September reorder.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914400"/>
          </a:xfrm>
          <a:prstGeom prst="rect">
            <a:avLst/>
          </a:prstGeom>
          <a:solidFill>
            <a:srgbClr val="116F68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NPI: ₹2.82 CR — RELIANCE + DMART HOLD 80.9% OF NPI VALUE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F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contribution | Overall, zone and chain | July 2026 | NSV basis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SALES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7490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₹2.82 Cr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offtake (NSV)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7452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938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92938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7.82%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938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sales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2900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EANs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8386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8386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require audit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983480" y="1005840"/>
            <a:ext cx="1481328" cy="822960"/>
          </a:xfrm>
          <a:prstGeom prst="rect">
            <a:avLst/>
          </a:prstGeom>
          <a:solidFill>
            <a:srgbClr val="DFF2ED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38344" y="104241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NPI MIX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38344" y="12252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38344" y="15361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nationally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" y="1920240"/>
            <a:ext cx="1426464" cy="256032"/>
          </a:xfrm>
          <a:prstGeom prst="rect">
            <a:avLst/>
          </a:prstGeom>
          <a:solidFill>
            <a:srgbClr val="116F68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" y="19568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783080" y="1920240"/>
            <a:ext cx="1060704" cy="256032"/>
          </a:xfrm>
          <a:prstGeom prst="rect">
            <a:avLst/>
          </a:prstGeom>
          <a:solidFill>
            <a:srgbClr val="116F68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19656" y="195681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880360" y="1920240"/>
            <a:ext cx="877824" cy="256032"/>
          </a:xfrm>
          <a:prstGeom prst="rect">
            <a:avLst/>
          </a:prstGeom>
          <a:solidFill>
            <a:srgbClr val="116F68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16936" y="19568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2176272"/>
            <a:ext cx="1426464" cy="274320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" y="22128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783080" y="2176272"/>
            <a:ext cx="1060704" cy="274320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19656" y="22128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₹1.30 Cr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80360" y="2176272"/>
            <a:ext cx="877824" cy="274320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6936" y="22128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2450592"/>
            <a:ext cx="14264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" y="2487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783080" y="2450592"/>
            <a:ext cx="10607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19656" y="24871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₹0.98 Cr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880360" y="2450592"/>
            <a:ext cx="87782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16936" y="24871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34.6%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2724912"/>
            <a:ext cx="1426464" cy="274320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616" y="27614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783080" y="2724912"/>
            <a:ext cx="1060704" cy="274320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19656" y="27614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 Cr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880360" y="2724912"/>
            <a:ext cx="877824" cy="274320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16936" y="27614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" y="2999232"/>
            <a:ext cx="14264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6616" y="3035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783080" y="2999232"/>
            <a:ext cx="10607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19656" y="30358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80360" y="2999232"/>
            <a:ext cx="87782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16936" y="30358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3273552"/>
            <a:ext cx="1426464" cy="274320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6616" y="33101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783080" y="3273552"/>
            <a:ext cx="1060704" cy="274320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19656" y="33101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₹0.06 Cr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880360" y="3273552"/>
            <a:ext cx="877824" cy="274320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16936" y="33101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" y="3547872"/>
            <a:ext cx="14264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6616" y="3584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783080" y="3547872"/>
            <a:ext cx="10607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19656" y="3584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 Cr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880360" y="3547872"/>
            <a:ext cx="87782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16936" y="35844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0040" y="3822192"/>
            <a:ext cx="1426464" cy="274320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6616" y="38587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783080" y="3822192"/>
            <a:ext cx="1060704" cy="274320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19656" y="38587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₹0.04 Cr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880360" y="3822192"/>
            <a:ext cx="877824" cy="274320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16936" y="38587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0040" y="4096512"/>
            <a:ext cx="14264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56616" y="41330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Sancus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783080" y="4096512"/>
            <a:ext cx="106070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19656" y="41330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₹0.03 Cr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880360" y="4096512"/>
            <a:ext cx="87782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16936" y="41330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33756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NPI ARTICLES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337560" y="2176272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Fall Shampoo — ₹0.31 Cr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Oil 200ml — ₹0.30 Cr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Gentle Cleansing Shampoo — ₹0.21 Cr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Multani Mitti FW 100ml — ₹0.20 Cr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Vitamin C Glow Sunscreen — ₹0.20 Cr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Lemon Anti-Dandruff Shampoo — ₹0.19 Cr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Rosemary Anti-Hair Fall Shampoo — ₹0.18 Cr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Rice Water Dewy Sunscreen — ₹0.18 Cr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337560" y="45262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ZERO-SALE EANs: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3337560" y="4718304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BBLUNT Cherry Red Hair Colour 130g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TDC Peptide–Stem Cell Hair Serum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store receipt, shelf visibility and scheme support by 28-Aug.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0" y="8412480"/>
            <a:ext cx="6858000" cy="731520"/>
          </a:xfrm>
          <a:prstGeom prst="rect">
            <a:avLst/>
          </a:prstGeom>
          <a:solidFill>
            <a:srgbClr val="183B39"/>
          </a:solidFill>
          <a:ln w="12700">
            <a:solidFill>
              <a:srgbClr val="183B3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" y="8467344"/>
            <a:ext cx="6217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 Trade Marketing + Supply | 28-Aug. Prioritize Reliance + DMart NPI visibility (80.9% of NPI value). No new NPI loading until zero-sellers are cleared.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914400"/>
          </a:xfrm>
          <a:prstGeom prst="rect">
            <a:avLst/>
          </a:prstGeom>
          <a:solidFill>
            <a:srgbClr val="116F68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EXECUTION PLAN: RECONCILE → SIZE → SCALE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F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roadmap | owners, actions and proof points | Aug–Oct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6217920" cy="256032"/>
          </a:xfrm>
          <a:prstGeom prst="rect">
            <a:avLst/>
          </a:prstGeom>
          <a:solidFill>
            <a:srgbClr val="116F68"/>
          </a:solidFill>
          <a:ln w="12700">
            <a:solidFill>
              <a:srgbClr val="116F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 (AUG)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6217920" cy="292608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98448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Reconcile SAH / WD / PDO / OOS fields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554480"/>
            <a:ext cx="6217920" cy="292608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91056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 state × chain × hero-EAN gaps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6217920" cy="292608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83664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ZSM scoreboard live from 22-Aug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139696"/>
            <a:ext cx="6217920" cy="292608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76272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NPI zero-seller audit by 28-Aug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542032"/>
            <a:ext cx="6217920" cy="256032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78608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 (SEP)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2798064"/>
            <a:ext cx="6217920" cy="292608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34640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 white space in ₹ using productive stores × PDO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090672"/>
            <a:ext cx="6217920" cy="292608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27248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Shampoo pack pilots — DMart + Apollo (top 3 formats)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383280"/>
            <a:ext cx="6217920" cy="292608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19856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Restore Reliance North top-20 declining EANs by 05-Sep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675888"/>
            <a:ext cx="6217920" cy="292608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12464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Nykaa September reorder based on July sell-through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4078224"/>
            <a:ext cx="6217920" cy="256032"/>
          </a:xfrm>
          <a:prstGeom prst="rect">
            <a:avLst/>
          </a:prstGeom>
          <a:solidFill>
            <a:srgbClr val="183B39"/>
          </a:solidFill>
          <a:ln w="12700">
            <a:solidFill>
              <a:srgbClr val="183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148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 (OCT)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4334256"/>
            <a:ext cx="6217920" cy="292608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370832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 only proven state-chain-SKU cells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4626864"/>
            <a:ext cx="6217920" cy="292608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663440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Reset load rules by verified conversion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919472"/>
            <a:ext cx="6217920" cy="292608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956048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Rationalize dead/low-productivity packs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5212080"/>
            <a:ext cx="6217920" cy="292608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5248656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 weekly owner and action receipts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0040" y="56144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5843016"/>
            <a:ext cx="2249424" cy="237744"/>
          </a:xfrm>
          <a:prstGeom prst="rect">
            <a:avLst/>
          </a:prstGeom>
          <a:solidFill>
            <a:srgbClr val="F7FBFA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" y="58704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606040" y="5843016"/>
            <a:ext cx="1335024" cy="23774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42616" y="587044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977640" y="5843016"/>
            <a:ext cx="2066544" cy="23774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14216" y="58704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0040" y="6080760"/>
            <a:ext cx="2249424" cy="237744"/>
          </a:xfrm>
          <a:prstGeom prst="rect">
            <a:avLst/>
          </a:prstGeom>
          <a:solidFill>
            <a:srgbClr val="F7FBFA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" y="610819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606040" y="6080760"/>
            <a:ext cx="1335024" cy="23774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42616" y="610819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weekly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977640" y="6080760"/>
            <a:ext cx="2066544" cy="23774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14216" y="61081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20040" y="6318504"/>
            <a:ext cx="2249424" cy="237744"/>
          </a:xfrm>
          <a:prstGeom prst="rect">
            <a:avLst/>
          </a:prstGeom>
          <a:solidFill>
            <a:srgbClr val="F7FBFA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" y="63459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606040" y="6318504"/>
            <a:ext cx="1335024" cy="23774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42616" y="63459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weekly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977640" y="6318504"/>
            <a:ext cx="2066544" cy="23774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14216" y="634593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20040" y="6556248"/>
            <a:ext cx="2249424" cy="237744"/>
          </a:xfrm>
          <a:prstGeom prst="rect">
            <a:avLst/>
          </a:prstGeom>
          <a:solidFill>
            <a:srgbClr val="F7FBFA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" y="6583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606040" y="6556248"/>
            <a:ext cx="1335024" cy="23774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42616" y="65836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977640" y="6556248"/>
            <a:ext cx="2066544" cy="23774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14216" y="65836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20040" y="6793992"/>
            <a:ext cx="2249424" cy="237744"/>
          </a:xfrm>
          <a:prstGeom prst="rect">
            <a:avLst/>
          </a:prstGeom>
          <a:solidFill>
            <a:srgbClr val="F7FBFA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6616" y="682142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DMart/Reliance gap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606040" y="6793992"/>
            <a:ext cx="1335024" cy="23774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42616" y="682142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50%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977640" y="6793992"/>
            <a:ext cx="2066544" cy="237744"/>
          </a:xfrm>
          <a:prstGeom prst="rect">
            <a:avLst/>
          </a:prstGeom>
          <a:solidFill>
            <a:srgbClr val="DFF2ED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14216" y="68214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0" y="8412480"/>
            <a:ext cx="6858000" cy="731520"/>
          </a:xfrm>
          <a:prstGeom prst="rect">
            <a:avLst/>
          </a:prstGeom>
          <a:solidFill>
            <a:srgbClr val="183B39"/>
          </a:solidFill>
          <a:ln w="12700">
            <a:solidFill>
              <a:srgbClr val="183B3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8467344"/>
            <a:ext cx="6217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 Sales Lead — first review 22-Aug. No exceptions to owner-date accountability. Analytics on data exceptions with zero unresolved by each cycle.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2026-08-19T18:21:43Z</dcterms:created>
  <dcterms:modified xsi:type="dcterms:W3CDTF">2026-08-19T18:21:43Z</dcterms:modified>
</cp:coreProperties>
</file>