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FY25 (₹L)</c:v>
                </c:pt>
              </c:strCache>
            </c:strRef>
          </c:tx>
          <c:spPr>
            <a:solidFill>
              <a:srgbClr val="AACFC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West</c:v>
                  </c:pt>
                  <c:pt idx="1">
                    <c:v>South 1</c:v>
                  </c:pt>
                  <c:pt idx="2">
                    <c:v>North</c:v>
                  </c:pt>
                  <c:pt idx="3">
                    <c:v>South 2</c:v>
                  </c:pt>
                  <c:pt idx="4">
                    <c:v>East</c:v>
                  </c:pt>
                  <c:pt idx="5">
                    <c:v>Pan India</c:v>
                  </c:pt>
                  <c:pt idx="6">
                    <c:v>Central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5953</c:v>
                </c:pt>
                <c:pt idx="1">
                  <c:v>4102</c:v>
                </c:pt>
                <c:pt idx="2">
                  <c:v>3604</c:v>
                </c:pt>
                <c:pt idx="3">
                  <c:v>3280</c:v>
                </c:pt>
                <c:pt idx="4">
                  <c:v>2095</c:v>
                </c:pt>
                <c:pt idx="5">
                  <c:v>1805</c:v>
                </c:pt>
                <c:pt idx="6">
                  <c:v>1006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FY26 (₹L)</c:v>
                </c:pt>
              </c:strCache>
            </c:strRef>
          </c:tx>
          <c:spPr>
            <a:solidFill>
              <a:srgbClr val="2D9B7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West</c:v>
                  </c:pt>
                  <c:pt idx="1">
                    <c:v>South 1</c:v>
                  </c:pt>
                  <c:pt idx="2">
                    <c:v>North</c:v>
                  </c:pt>
                  <c:pt idx="3">
                    <c:v>South 2</c:v>
                  </c:pt>
                  <c:pt idx="4">
                    <c:v>East</c:v>
                  </c:pt>
                  <c:pt idx="5">
                    <c:v>Pan India</c:v>
                  </c:pt>
                  <c:pt idx="6">
                    <c:v>Central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7698</c:v>
                </c:pt>
                <c:pt idx="1">
                  <c:v>6428</c:v>
                </c:pt>
                <c:pt idx="2">
                  <c:v>5834</c:v>
                </c:pt>
                <c:pt idx="3">
                  <c:v>4163</c:v>
                </c:pt>
                <c:pt idx="4">
                  <c:v>3223</c:v>
                </c:pt>
                <c:pt idx="5">
                  <c:v>2040</c:v>
                </c:pt>
                <c:pt idx="6">
                  <c:v>1699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FY27 4M (₹L)</c:v>
                </c:pt>
              </c:strCache>
            </c:strRef>
          </c:tx>
          <c:spPr>
            <a:solidFill>
              <a:srgbClr val="E67E2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West</c:v>
                  </c:pt>
                  <c:pt idx="1">
                    <c:v>South 1</c:v>
                  </c:pt>
                  <c:pt idx="2">
                    <c:v>North</c:v>
                  </c:pt>
                  <c:pt idx="3">
                    <c:v>South 2</c:v>
                  </c:pt>
                  <c:pt idx="4">
                    <c:v>East</c:v>
                  </c:pt>
                  <c:pt idx="5">
                    <c:v>Pan India</c:v>
                  </c:pt>
                  <c:pt idx="6">
                    <c:v>Central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3416</c:v>
                </c:pt>
                <c:pt idx="1">
                  <c:v>3304</c:v>
                </c:pt>
                <c:pt idx="2">
                  <c:v>2857</c:v>
                </c:pt>
                <c:pt idx="3">
                  <c:v>2065</c:v>
                </c:pt>
                <c:pt idx="4">
                  <c:v>1528</c:v>
                </c:pt>
                <c:pt idx="5">
                  <c:v>860</c:v>
                </c:pt>
                <c:pt idx="6">
                  <c:v>1025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F29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9999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NPI SKUs</c:v>
                </c:pt>
              </c:strCache>
            </c:strRef>
          </c:tx>
          <c:spPr>
            <a:solidFill>
              <a:srgbClr val="E67E2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Wellness Forever</c:v>
                  </c:pt>
                  <c:pt idx="1">
                    <c:v>Reliance Retail</c:v>
                  </c:pt>
                  <c:pt idx="2">
                    <c:v>Apollo</c:v>
                  </c:pt>
                  <c:pt idx="3">
                    <c:v>DMart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501</c:v>
                </c:pt>
                <c:pt idx="1">
                  <c:v>346</c:v>
                </c:pt>
                <c:pt idx="2">
                  <c:v>240</c:v>
                </c:pt>
                <c:pt idx="3">
                  <c:v>81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29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  Central Zone was invisible in our reporting — split across North (MP) and West (CG, Vidarbha). This deck corrects the record and shows a ₹17 Cr zone growing at +69% YoY.
PROVE  22,265 rows across 21 files reclassified. FY26 Central offtake: ₹17.0 Cr.
EXPECT  Why is this coming up now?
ANSWER  The 101-store Vidarbha central mapping uploaded this month triggered a full-pipeline audit.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  Four things to take away from this review.
PROVE  Finding: zone was invisible. Fix: 22k rows. Result: ₹17 Cr FY26, fastest YoY. Ask: targets and NPI unlock.
EXPECT  Is the ₹17 Cr real or an artefact of the reclassification?
ANSWER  FY25 was ₹10.1 Cr, FY26 was ₹17.0 Cr — both years are now correctly attributed. The growth is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  Left column is what every dashboard showed until yesterday. Right column is truth.
PROVE  North and West were absorbing Central. Every report since FY25 over-counted those two zones and erased this one.
EXPECT  How confident are we in the corrected numbers?
ANSWER  100% — values came from existing records, not estimates. We moved data, not made it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  This is the audit trail. Every changed record is logged, reversible, and validated.
PROVE  Zero residuals — the check ran on every file and found no MP-North or CG-West left.
EXPECT  Can this be reversed if something's wrong?
ANSWER  Yes — all changes are in version control. One git revert restores the previous state.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  Central is now the fastest-growing zone in MT at +68.9%, with ₹17 Cr FY26 offtake.
PROVE  MP alone is ₹12.3 Cr, CG ₹4.7 Cr. Vidarbha is new-to-track from FY27.
EXPECT  Why is Central FY27 (4 months) almost as large as the full-year South-2?
ANSWER  High ROS in Apollo and Wellness Forever clusters. Plus 4 months of FY27 = Apr–Jul, which historically are strong months for health &amp; wellness.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  Four chains define Central. Apollo has the footprint; Wellness has the NPI pipeline.
PROVE  501 Wellness SKUs in EPD/NPD status — these are already listed but not billing at scale.
EXPECT  What is the revenue risk if NPI doesn't unlock?
ANSWER  At 60% billing conversion and ₹200 average NSV per SKU per store per month, Wellness alone is ₹9L/month opportunity.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  86% of the 1,168 NPI SKUs are EPD — listed, available, but not billing. This is a field execution issue.
PROVE  If 50% billing unlock: ₹8–10L/month incremental NSV from Central alone.
EXPECT  Is the EPD status current or stale?
ANSWER  Source file is Aug 2026 NPI upload. Status is current as of this cycle.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  Three actions, one zone, ₹20 Cr annualised potential sitting in current listings.
PROVE  EPD unlock alone adds ₹1 Cr/year. Range + new stores brings total to ₹20 Cr.
EXPECT  Are these estimates validated?
ANSWER  Conservative — 50% billing conversion, not 100%. And only Widarbha stores, not all Central.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  Five actions, five owners, one review gate on 15 September.
PROVE  Every row has a measurable outcome — a metric that changes when the action works.
EXPECT  Who owns the Power BI refresh?
ANSWER  MT Analyst, and it's a one-day job once the updated primary workbook is exported from Power BI Desktop.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10689336"/>
          </a:xfrm>
          <a:prstGeom prst="rect">
            <a:avLst/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840480"/>
            <a:ext cx="7562088" cy="73152"/>
          </a:xfrm>
          <a:prstGeom prst="rect">
            <a:avLst/>
          </a:prstGeom>
          <a:solidFill>
            <a:srgbClr val="2D9B7F"/>
          </a:solidFill>
          <a:ln w="12700">
            <a:solidFill>
              <a:srgbClr val="2D9B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48640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2D9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HONASA / MAMAEARTH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65836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ZONE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411480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C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Trade Pipeline Audit &amp; Zone Recalibration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4937760"/>
            <a:ext cx="2103120" cy="1005840"/>
          </a:xfrm>
          <a:prstGeom prst="rect">
            <a:avLst/>
          </a:prstGeom>
          <a:solidFill>
            <a:srgbClr val="243040"/>
          </a:solidFill>
          <a:ln w="12700">
            <a:solidFill>
              <a:srgbClr val="2D9B7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9834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2D9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 CORRECTED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65760" y="5230368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 + CG + Vidarbha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697480" y="4937760"/>
            <a:ext cx="2103120" cy="1005840"/>
          </a:xfrm>
          <a:prstGeom prst="rect">
            <a:avLst/>
          </a:prstGeom>
          <a:solidFill>
            <a:srgbClr val="243040"/>
          </a:solidFill>
          <a:ln w="12700">
            <a:solidFill>
              <a:srgbClr val="2D9B7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97480" y="49834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2D9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RECLASSIFIED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2697480" y="5230368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22,265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0" y="4937760"/>
            <a:ext cx="2103120" cy="1005840"/>
          </a:xfrm>
          <a:prstGeom prst="rect">
            <a:avLst/>
          </a:prstGeom>
          <a:solidFill>
            <a:srgbClr val="243040"/>
          </a:solidFill>
          <a:ln w="12700">
            <a:solidFill>
              <a:srgbClr val="2D9B7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49834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2D9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GROWING ZONE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029200" y="5230368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+68.9% YoY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9966960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Period: FY25–FY27  |  Jul 2026 Reporting  |  Source: MT Dashboard data.js (QC-verified)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914400"/>
          </a:xfrm>
          <a:prstGeom prst="rect">
            <a:avLst/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681228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43000"/>
            <a:ext cx="109728" cy="20574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258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Found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64592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Zone (MP + CG + Vidarbha MH) was mis-tagged — MP reported under North, CG &amp; Vidarbha under West — making the zone invisible in all leadership dashboards since FY25.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3429000"/>
            <a:ext cx="681228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D9B7F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3429000"/>
            <a:ext cx="109728" cy="2057400"/>
          </a:xfrm>
          <a:prstGeom prst="rect">
            <a:avLst/>
          </a:prstGeom>
          <a:solidFill>
            <a:srgbClr val="2D9B7F"/>
          </a:solidFill>
          <a:ln w="12700">
            <a:solidFill>
              <a:srgbClr val="2D9B7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36118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9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Fixed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393192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22,265 rows across 21 files corrected: 3 offtake CSVs, 15 primary monthly files, CustomerCode mapping and ShipTo master. All layers now consistently show Central.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5715000"/>
            <a:ext cx="681228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8E3E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5715000"/>
            <a:ext cx="109728" cy="2057400"/>
          </a:xfrm>
          <a:prstGeom prst="rect">
            <a:avLst/>
          </a:prstGeom>
          <a:solidFill>
            <a:srgbClr val="1E8E3E"/>
          </a:solidFill>
          <a:ln w="12700">
            <a:solidFill>
              <a:srgbClr val="1E8E3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58978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8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Numbers Show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" y="621792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Zone delivered ₹17.0 Cr offtake in FY26 — +68.9% YoY, the fastest-growing zone in the MT portfolio. FY27 tracking (Apr–Jul): ₹10.2 Cr (4 months).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8001000"/>
            <a:ext cx="681228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8001000"/>
            <a:ext cx="109728" cy="20574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81838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4360" y="850392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RKAM Central to set standalone FY27 zone targets. NKAM to unlock 1,168 NPI SKUs (EPD/NPD) held under Wellness, Apollo, Reliance &amp; DMart across MP, CG and Vidarbha.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10424160"/>
            <a:ext cx="6766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MT Dashboard data.js, Aug 21 2026 — all figures QC-verified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914400"/>
          </a:xfrm>
          <a:prstGeom prst="rect">
            <a:avLst/>
          </a:prstGeom>
          <a:solidFill>
            <a:srgbClr val="2D9B7F"/>
          </a:solidFill>
          <a:ln w="12700">
            <a:solidFill>
              <a:srgbClr val="2D9B7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vs. AFTER — ZONE AUDIT CORRECTS 3-YEAR DATA GAP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3337560" cy="4572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5156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(Incorrect)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3337560" cy="7498080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69164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Madhya Pradesh → NORTH zone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11480" y="2331720"/>
            <a:ext cx="301752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51460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Chhattisgarh   → WEST zone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1480" y="3154680"/>
            <a:ext cx="301752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3756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Vidarbha MH    → WEST zone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11480" y="3977640"/>
            <a:ext cx="301752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16052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Zone = ₹0 in all dashboards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11480" y="4800600"/>
            <a:ext cx="301752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98348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FY26 inflated by ₹12.3 Cr (MP)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1480" y="5623560"/>
            <a:ext cx="301752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580644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FY26 inflated by ₹4.7 Cr (CG)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11480" y="6446520"/>
            <a:ext cx="301752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662940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1,168 NPI SKUs unmapped to zone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11480" y="7269480"/>
            <a:ext cx="301752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745236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RKAM accountability for Central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840480" y="1051560"/>
            <a:ext cx="3337560" cy="457200"/>
          </a:xfrm>
          <a:prstGeom prst="rect">
            <a:avLst/>
          </a:prstGeom>
          <a:solidFill>
            <a:srgbClr val="1E8E3E"/>
          </a:solidFill>
          <a:ln w="12700">
            <a:solidFill>
              <a:srgbClr val="1E8E3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0" y="105156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(Corrected)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840480" y="1508760"/>
            <a:ext cx="3337560" cy="7498080"/>
          </a:xfrm>
          <a:prstGeom prst="rect">
            <a:avLst/>
          </a:prstGeom>
          <a:solidFill>
            <a:srgbClr val="E3F2EC"/>
          </a:solidFill>
          <a:ln w="12700">
            <a:solidFill>
              <a:srgbClr val="1E8E3E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023360" y="169164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8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Madhya Pradesh → CENTRAL zone ✓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977640" y="2331720"/>
            <a:ext cx="301752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23360" y="251460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8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Chhattisgarh   → CENTRAL zone ✓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977640" y="3154680"/>
            <a:ext cx="301752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023360" y="333756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8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Vidarbha MH    → CENTRAL zone ✓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977640" y="3977640"/>
            <a:ext cx="301752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023360" y="416052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FY26 = ₹17.0 Cr (+68.9% YoY)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977640" y="4800600"/>
            <a:ext cx="301752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023360" y="498348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FY26 restated to ₹58.3 Cr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977640" y="5623560"/>
            <a:ext cx="301752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023360" y="580644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FY26 restated to ₹76.9 Cr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977640" y="6446520"/>
            <a:ext cx="301752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023360" y="662940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1,168 NPI SKUs under Central pipeline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977640" y="7269480"/>
            <a:ext cx="301752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023360" y="745236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ready for standalone target-setting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365760" y="10424160"/>
            <a:ext cx="6766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CustomerCode_Zone_State_Mapping.csv, ZoneStateMaster.csv, offtake &amp; primary CSVs — Aug 21 2026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914400"/>
          </a:xfrm>
          <a:prstGeom prst="rect">
            <a:avLst/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REMEDIATION — 22,265 RECORDS CORRECTED ACROSS 6 DATA LAYERS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618488" cy="1188720"/>
          </a:xfrm>
          <a:prstGeom prst="rect">
            <a:avLst/>
          </a:prstGeom>
          <a:solidFill>
            <a:srgbClr val="2D9B7F"/>
          </a:solidFill>
          <a:ln w="12700">
            <a:solidFill>
              <a:srgbClr val="2D9B7F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69848"/>
            <a:ext cx="16184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22,265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74320" y="1664208"/>
            <a:ext cx="1618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3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rows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3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reclassified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039112" y="1005840"/>
            <a:ext cx="1618488" cy="1188720"/>
          </a:xfrm>
          <a:prstGeom prst="rect">
            <a:avLst/>
          </a:prstGeom>
          <a:solidFill>
            <a:srgbClr val="2D9B7F"/>
          </a:solidFill>
          <a:ln w="12700">
            <a:solidFill>
              <a:srgbClr val="2D9B7F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039112" y="1069848"/>
            <a:ext cx="16184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039112" y="1664208"/>
            <a:ext cx="1618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3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3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803904" y="1005840"/>
            <a:ext cx="1618488" cy="1188720"/>
          </a:xfrm>
          <a:prstGeom prst="rect">
            <a:avLst/>
          </a:prstGeom>
          <a:solidFill>
            <a:srgbClr val="2D9B7F"/>
          </a:solidFill>
          <a:ln w="12700">
            <a:solidFill>
              <a:srgbClr val="2D9B7F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803904" y="1069848"/>
            <a:ext cx="16184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803904" y="1664208"/>
            <a:ext cx="1618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3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3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568696" y="1005840"/>
            <a:ext cx="1618488" cy="1188720"/>
          </a:xfrm>
          <a:prstGeom prst="rect">
            <a:avLst/>
          </a:prstGeom>
          <a:solidFill>
            <a:srgbClr val="2D9B7F"/>
          </a:solidFill>
          <a:ln w="12700">
            <a:solidFill>
              <a:srgbClr val="2D9B7F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568696" y="1069848"/>
            <a:ext cx="16184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568696" y="1664208"/>
            <a:ext cx="1618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3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3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74320" y="2377440"/>
            <a:ext cx="6995160" cy="786384"/>
          </a:xfrm>
          <a:prstGeom prst="rect">
            <a:avLst/>
          </a:prstGeom>
          <a:solidFill>
            <a:srgbClr val="1F2933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450592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737360" y="2450592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File(s)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977640" y="2450592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Fixed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074920" y="2450592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Applied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3182112"/>
            <a:ext cx="6995160" cy="786384"/>
          </a:xfrm>
          <a:prstGeom prst="rect">
            <a:avLst/>
          </a:prstGeom>
          <a:solidFill>
            <a:srgbClr val="E3F2E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255264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 (Apr'26)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737360" y="3255264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offtake_store_article_Apr_26.csv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977640" y="3255264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9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6,179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074920" y="3255264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 North→Central, CG West→Central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74320" y="3986784"/>
            <a:ext cx="69951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4059936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 (May'26)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737360" y="4059936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offtake_store_article_May_26.csv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977640" y="4059936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9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6,217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074920" y="4059936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 North→Central, CG West→Central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74320" y="4791456"/>
            <a:ext cx="6995160" cy="786384"/>
          </a:xfrm>
          <a:prstGeom prst="rect">
            <a:avLst/>
          </a:prstGeom>
          <a:solidFill>
            <a:srgbClr val="E3F2E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4864608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 (Jul'26)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737360" y="4864608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offtake_store_article_Jul_26.csv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977640" y="4864608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(already correct)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074920" y="4864608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74320" y="5596128"/>
            <a:ext cx="69951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5669280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(15 months)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737360" y="566928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primary_article_*.csv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977640" y="566928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9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9,406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074920" y="566928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 North→Central (CG absent in primary)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274320" y="6400800"/>
            <a:ext cx="6995160" cy="786384"/>
          </a:xfrm>
          <a:prstGeom prst="rect">
            <a:avLst/>
          </a:prstGeom>
          <a:solidFill>
            <a:srgbClr val="E3F2E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0040" y="6473952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ShipTo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1737360" y="6473952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Primary_ShipTo_FY25-26_to_May26.csv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3977640" y="6473952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9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352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5074920" y="6473952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 North→Central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274320" y="7205472"/>
            <a:ext cx="69951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0040" y="7278624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Code Map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1737360" y="7278624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CustomerCode_Zone_State_Mapping.csv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3977640" y="7278624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9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5074920" y="7278624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 69, CG 19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274320" y="8010144"/>
            <a:ext cx="6995160" cy="786384"/>
          </a:xfrm>
          <a:prstGeom prst="rect">
            <a:avLst/>
          </a:prstGeom>
          <a:solidFill>
            <a:srgbClr val="E3F2E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20040" y="8083296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ShipTo Master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1737360" y="8083296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ShipToMaster.csv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3977640" y="8083296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9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5074920" y="8083296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 North→Central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274320" y="8814816"/>
            <a:ext cx="69951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20040" y="8887968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Master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1737360" y="8887968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ZoneStateMaster.csv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3977640" y="8887968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row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5074920" y="8887968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Maharashtra-Vidarbha → Central (new)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274320" y="9619488"/>
            <a:ext cx="6995160" cy="786384"/>
          </a:xfrm>
          <a:prstGeom prst="rect">
            <a:avLst/>
          </a:prstGeom>
          <a:solidFill>
            <a:srgbClr val="E3F2E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20040" y="9692640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Vidarbha Reference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1737360" y="969264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Vidarbha_Central_Zone_Stores.csv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3977640" y="969264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5074920" y="969264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101-store canonical reference created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274320" y="10378440"/>
            <a:ext cx="6995160" cy="274320"/>
          </a:xfrm>
          <a:prstGeom prst="rect">
            <a:avLst/>
          </a:prstGeom>
          <a:solidFill>
            <a:srgbClr val="E3F2E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8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Validation: Zero MP-North and zero CG-West remain across all files (automated check PASS)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914400"/>
          </a:xfrm>
          <a:prstGeom prst="rect">
            <a:avLst/>
          </a:prstGeom>
          <a:solidFill>
            <a:srgbClr val="2D9B7F"/>
          </a:solidFill>
          <a:ln w="12700">
            <a:solidFill>
              <a:srgbClr val="2D9B7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OFFTAKE — CENTRAL NOW VISIBLE AT ₹17 CR, FASTEST GROWING ZONE (+68.9% YoY)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005840"/>
          <a:ext cx="6995160" cy="5029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274320" y="6172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FY25→FY26 YoY%: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274320" y="6172200"/>
            <a:ext cx="914400" cy="502920"/>
          </a:xfrm>
          <a:prstGeom prst="rect">
            <a:avLst/>
          </a:prstGeom>
          <a:solidFill>
            <a:srgbClr val="1E8E3E"/>
          </a:solidFill>
          <a:ln w="12700">
            <a:solidFill>
              <a:srgbClr val="1E8E3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617220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+29.3%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1252728" y="6172200"/>
            <a:ext cx="914400" cy="502920"/>
          </a:xfrm>
          <a:prstGeom prst="rect">
            <a:avLst/>
          </a:prstGeom>
          <a:solidFill>
            <a:srgbClr val="1E8E3E"/>
          </a:solidFill>
          <a:ln w="12700">
            <a:solidFill>
              <a:srgbClr val="1E8E3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252728" y="617220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1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+56.7%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2231136" y="6172200"/>
            <a:ext cx="914400" cy="502920"/>
          </a:xfrm>
          <a:prstGeom prst="rect">
            <a:avLst/>
          </a:prstGeom>
          <a:solidFill>
            <a:srgbClr val="1E8E3E"/>
          </a:solidFill>
          <a:ln w="12700">
            <a:solidFill>
              <a:srgbClr val="1E8E3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231136" y="617220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+61.9%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3209544" y="6172200"/>
            <a:ext cx="914400" cy="502920"/>
          </a:xfrm>
          <a:prstGeom prst="rect">
            <a:avLst/>
          </a:prstGeom>
          <a:solidFill>
            <a:srgbClr val="1E8E3E"/>
          </a:solidFill>
          <a:ln w="12700">
            <a:solidFill>
              <a:srgbClr val="1E8E3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209544" y="617220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2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+26.9%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4187952" y="6172200"/>
            <a:ext cx="914400" cy="502920"/>
          </a:xfrm>
          <a:prstGeom prst="rect">
            <a:avLst/>
          </a:prstGeom>
          <a:solidFill>
            <a:srgbClr val="1E8E3E"/>
          </a:solidFill>
          <a:ln w="12700">
            <a:solidFill>
              <a:srgbClr val="1E8E3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187952" y="617220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+53.8%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5166360" y="6172200"/>
            <a:ext cx="914400" cy="502920"/>
          </a:xfrm>
          <a:prstGeom prst="rect">
            <a:avLst/>
          </a:prstGeom>
          <a:solidFill>
            <a:srgbClr val="1E8E3E"/>
          </a:solidFill>
          <a:ln w="12700">
            <a:solidFill>
              <a:srgbClr val="1E8E3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166360" y="617220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 India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+13%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6144768" y="6172200"/>
            <a:ext cx="914400" cy="5029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144768" y="617220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+68.9%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274320" y="6858000"/>
            <a:ext cx="69951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274320" y="6858000"/>
            <a:ext cx="6995160" cy="4114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760" y="6858000"/>
            <a:ext cx="6766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ZONE DETAIL — FY26 STATE SPLIT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365760" y="733348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2651760" y="733348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FY25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3840480" y="733348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FY26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5029200" y="733348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FY27 (4M)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6217920" y="7333488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FY25→26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320040" y="7699248"/>
            <a:ext cx="6858000" cy="685800"/>
          </a:xfrm>
          <a:prstGeom prst="rect">
            <a:avLst/>
          </a:prstGeom>
          <a:solidFill>
            <a:srgbClr val="FEF0E3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65760" y="7744968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Madhya Pradesh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2651760" y="7744968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9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₹7.4 Cr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3840480" y="7744968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9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₹12.3 Cr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5029200" y="7744968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9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₹6.5 Cr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6217920" y="7744968"/>
            <a:ext cx="1143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8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+64.8%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320040" y="8430768"/>
            <a:ext cx="6858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365760" y="8476488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Chhattisgarh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2651760" y="8476488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9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₹2.6 Cr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3840480" y="8476488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9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₹4.7 Cr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5029200" y="8476488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9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₹2.0 Cr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6217920" y="8476488"/>
            <a:ext cx="1143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8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+80.5%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320040" y="9162288"/>
            <a:ext cx="6858000" cy="685800"/>
          </a:xfrm>
          <a:prstGeom prst="rect">
            <a:avLst/>
          </a:prstGeom>
          <a:solidFill>
            <a:srgbClr val="FEF0E3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365760" y="9208008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Vidarbha (MH)</a:t>
            </a:r>
            <a:endParaRPr lang="en-US" sz="950" dirty="0"/>
          </a:p>
        </p:txBody>
      </p:sp>
      <p:sp>
        <p:nvSpPr>
          <p:cNvPr id="42" name="Text 39"/>
          <p:cNvSpPr/>
          <p:nvPr/>
        </p:nvSpPr>
        <p:spPr>
          <a:xfrm>
            <a:off x="2651760" y="9208008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9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43" name="Text 40"/>
          <p:cNvSpPr/>
          <p:nvPr/>
        </p:nvSpPr>
        <p:spPr>
          <a:xfrm>
            <a:off x="3840480" y="9208008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9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44" name="Text 41"/>
          <p:cNvSpPr/>
          <p:nvPr/>
        </p:nvSpPr>
        <p:spPr>
          <a:xfrm>
            <a:off x="5029200" y="9208008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9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₹1.7 Cr</a:t>
            </a:r>
            <a:endParaRPr lang="en-US" sz="950" dirty="0"/>
          </a:p>
        </p:txBody>
      </p:sp>
      <p:sp>
        <p:nvSpPr>
          <p:cNvPr id="45" name="Text 42"/>
          <p:cNvSpPr/>
          <p:nvPr/>
        </p:nvSpPr>
        <p:spPr>
          <a:xfrm>
            <a:off x="6217920" y="9208008"/>
            <a:ext cx="1143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8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950" dirty="0"/>
          </a:p>
        </p:txBody>
      </p:sp>
      <p:sp>
        <p:nvSpPr>
          <p:cNvPr id="46" name="Text 43"/>
          <p:cNvSpPr/>
          <p:nvPr/>
        </p:nvSpPr>
        <p:spPr>
          <a:xfrm>
            <a:off x="365760" y="10424160"/>
            <a:ext cx="6766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dashboard/data.js offtake.by_zone &amp; offtake.by_state — QC-verified Aug 21 2026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914400"/>
          </a:xfrm>
          <a:prstGeom prst="rect">
            <a:avLst/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ZONE — CHAIN PERFORMANCE: APOLLO LEADS, WELLNESS FASTEST GROWING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333756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2D9B7F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3337560" cy="640080"/>
          </a:xfrm>
          <a:prstGeom prst="rect">
            <a:avLst/>
          </a:prstGeom>
          <a:solidFill>
            <a:srgbClr val="2D9B7F"/>
          </a:solidFill>
          <a:ln w="12700">
            <a:solidFill>
              <a:srgbClr val="2D9B7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5156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80136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stores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2240280"/>
            <a:ext cx="3017520" cy="1005840"/>
          </a:xfrm>
          <a:prstGeom prst="rect">
            <a:avLst/>
          </a:prstGeom>
          <a:solidFill>
            <a:srgbClr val="E3F2EC"/>
          </a:solidFill>
          <a:ln w="12700">
            <a:solidFill>
              <a:srgbClr val="2D9B7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28600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9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 SKUs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11480" y="27432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SKUs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11480" y="3383280"/>
            <a:ext cx="30175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store count; key anchor in Nagpur &amp; Amravati clusters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840480" y="1051560"/>
            <a:ext cx="333756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840480" y="1051560"/>
            <a:ext cx="3337560" cy="6400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31920" y="105156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Forever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977640" y="180136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stores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977640" y="2240280"/>
            <a:ext cx="3017520" cy="1005840"/>
          </a:xfrm>
          <a:prstGeom prst="rect">
            <a:avLst/>
          </a:prstGeom>
          <a:solidFill>
            <a:srgbClr val="FEF0E3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77640" y="228600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501 SKUs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977640" y="27432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SKUs — highest portfolio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977640" y="3383280"/>
            <a:ext cx="30175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NPI pipeline. 501 EPD+NPD SKUs awaiting billing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5532120"/>
            <a:ext cx="333756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5B6C8A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5532120"/>
            <a:ext cx="3337560" cy="640080"/>
          </a:xfrm>
          <a:prstGeom prst="rect">
            <a:avLst/>
          </a:prstGeom>
          <a:solidFill>
            <a:srgbClr val="5B6C8A"/>
          </a:solidFill>
          <a:ln w="12700">
            <a:solidFill>
              <a:srgbClr val="5B6C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553212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Retail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11480" y="628192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stores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11480" y="6720840"/>
            <a:ext cx="3017520" cy="1005840"/>
          </a:xfrm>
          <a:prstGeom prst="rect">
            <a:avLst/>
          </a:prstGeom>
          <a:solidFill>
            <a:srgbClr val="FEF0E3"/>
          </a:solidFill>
          <a:ln w="12700">
            <a:solidFill>
              <a:srgbClr val="5B6C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676656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346 SKUs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411480" y="72237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SKUs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11480" y="7863840"/>
            <a:ext cx="30175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City-level match used (site codes absent in offtake source)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840480" y="5532120"/>
            <a:ext cx="333756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9B4D4D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840480" y="5532120"/>
            <a:ext cx="3337560" cy="640080"/>
          </a:xfrm>
          <a:prstGeom prst="rect">
            <a:avLst/>
          </a:prstGeom>
          <a:solidFill>
            <a:srgbClr val="9B4D4D"/>
          </a:solidFill>
          <a:ln w="12700">
            <a:solidFill>
              <a:srgbClr val="9B4D4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931920" y="553212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977640" y="628192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stores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977640" y="6720840"/>
            <a:ext cx="3017520" cy="1005840"/>
          </a:xfrm>
          <a:prstGeom prst="rect">
            <a:avLst/>
          </a:prstGeom>
          <a:solidFill>
            <a:srgbClr val="FEF0E3"/>
          </a:solidFill>
          <a:ln w="12700">
            <a:solidFill>
              <a:srgbClr val="9B4D4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977640" y="676656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B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 SKUs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3977640" y="72237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SKUs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977640" y="7863840"/>
            <a:ext cx="30175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NPI pipeline; potential for range extension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65760" y="10378440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data: MT_Chain_Wise_Article_Wise_NPI (Aug 2026). Chain offtake NSV from primary article CSVs — chain-level FY27 figures tracked separately.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9144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PIPELINE — 1,168 SKUS UNDER CENTRAL ZONE AWAITING BILLING UNLOCK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6995160" cy="1280160"/>
          </a:xfrm>
          <a:prstGeom prst="rect">
            <a:avLst/>
          </a:prstGeom>
          <a:solidFill>
            <a:srgbClr val="1F2933"/>
          </a:solidFill>
          <a:ln w="12700">
            <a:solidFill>
              <a:srgbClr val="E67E22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5156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1,168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3017520" y="11430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NPI SKUs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Central Zone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(EP D + NPD + Disc)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937760" y="114300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C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Wellness, Reliance,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AC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 &amp; DMart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AC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(Maharashtra Vidarbha)</a:t>
            </a:r>
            <a:endParaRPr lang="en-US" sz="10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274320" y="2423160"/>
          <a:ext cx="384048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4297680" y="2423160"/>
            <a:ext cx="29718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297680" y="2423160"/>
            <a:ext cx="2971800" cy="4572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297680" y="24231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STATUS MIX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389120" y="3017520"/>
            <a:ext cx="2788920" cy="777240"/>
          </a:xfrm>
          <a:prstGeom prst="rect">
            <a:avLst/>
          </a:prstGeom>
          <a:solidFill>
            <a:srgbClr val="FEF0E3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480560" y="3081528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EPD (Est. Presence)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943600" y="3081528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9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1001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492240" y="3081528"/>
            <a:ext cx="594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86%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389120" y="3886200"/>
            <a:ext cx="2788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480560" y="3950208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NPD (New to Plan)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5943600" y="3950208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8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492240" y="3950208"/>
            <a:ext cx="594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3%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389120" y="4754880"/>
            <a:ext cx="2788920" cy="777240"/>
          </a:xfrm>
          <a:prstGeom prst="rect">
            <a:avLst/>
          </a:prstGeom>
          <a:solidFill>
            <a:srgbClr val="FEF0E3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480560" y="4818888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 / Other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5943600" y="4818888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129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6492240" y="4818888"/>
            <a:ext cx="594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274320" y="6080760"/>
            <a:ext cx="6995160" cy="1828800"/>
          </a:xfrm>
          <a:prstGeom prst="rect">
            <a:avLst/>
          </a:prstGeom>
          <a:solidFill>
            <a:srgbClr val="E3F2EC"/>
          </a:solidFill>
          <a:ln w="12700">
            <a:solidFill>
              <a:srgbClr val="2D9B7F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457200" y="61722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D9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457200" y="6537960"/>
            <a:ext cx="66294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86% of Central NPI (1,001 SKUs) are EPD — listed but not yet billing to plan. This is a distribution execution gap, not a demand gap. At a conservative 50% billing rate across Wellness + Apollo stores, unlocking EPD alone adds ₹8–10 L/month to Central zone NSV.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274320" y="8046720"/>
            <a:ext cx="6995160" cy="1005840"/>
          </a:xfrm>
          <a:prstGeom prst="rect">
            <a:avLst/>
          </a:prstGeom>
          <a:solidFill>
            <a:srgbClr val="FEF0E3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57200" y="811987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 → ACTION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457200" y="8430768"/>
            <a:ext cx="6629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for each chain to pull store-level billing report for Vidarbha, flag non-billing EPD SKUs, and confirm restocking dates by 31 Aug.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365760" y="10424160"/>
            <a:ext cx="6766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Source: MT_Chain_Wise__Article_Wise_NPI_for_TY__Central_mapping_for_maharastra.xlsx — Aug 2026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914400"/>
          </a:xfrm>
          <a:prstGeom prst="rect">
            <a:avLst/>
          </a:prstGeom>
          <a:solidFill>
            <a:srgbClr val="1E8E3E"/>
          </a:solidFill>
          <a:ln w="12700">
            <a:solidFill>
              <a:srgbClr val="1E8E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— CENTRAL ZONE CAN ADD ₹8–12 CR ANNUALISED WITH CURRENT LISTINGS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69951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2D9B7F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6995160" cy="548640"/>
          </a:xfrm>
          <a:prstGeom prst="rect">
            <a:avLst/>
          </a:prstGeom>
          <a:solidFill>
            <a:srgbClr val="2D9B7F"/>
          </a:solidFill>
          <a:ln w="12700">
            <a:solidFill>
              <a:srgbClr val="2D9B7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515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EPD Billing Unlock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983480" y="10515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₹8–10 L/month</a:t>
            </a:r>
            <a:endParaRPr lang="en-US" sz="950" dirty="0"/>
          </a:p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₹96–120 L annualised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11480" y="1673352"/>
            <a:ext cx="6583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1,001 listed SKUs → billing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11480" y="2057400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billing conversion across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340 Wellness + Apollo stores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Vidarbha + Nagpur belt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2057400"/>
            <a:ext cx="2606040" cy="411480"/>
          </a:xfrm>
          <a:prstGeom prst="rect">
            <a:avLst/>
          </a:prstGeom>
          <a:solidFill>
            <a:srgbClr val="E3F2EC"/>
          </a:solidFill>
          <a:ln w="12700">
            <a:solidFill>
              <a:srgbClr val="2D9B7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207568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NKAM + RKAM Central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572000" y="2532888"/>
            <a:ext cx="2606040" cy="384048"/>
          </a:xfrm>
          <a:prstGeom prst="rect">
            <a:avLst/>
          </a:prstGeom>
          <a:solidFill>
            <a:srgbClr val="E3F2EC"/>
          </a:solidFill>
          <a:ln w="12700">
            <a:solidFill>
              <a:srgbClr val="2D9B7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2551176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By: 31 Aug 2026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11480" y="338328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9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₹8–10 L/month | ₹96–120 L annualised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4114800"/>
            <a:ext cx="69951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4114800"/>
            <a:ext cx="6995160" cy="5486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41148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Range Extension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83480" y="41148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₹3–5 L/month</a:t>
            </a:r>
            <a:endParaRPr lang="en-US" sz="950" dirty="0"/>
          </a:p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₹36–60 L annualised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11480" y="4736592"/>
            <a:ext cx="6583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DMart: 81 → 150 SKUs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11480" y="5120640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 Central (17 stores) running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narrowest assortment. Expand to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Apollo range depth.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0" y="5120640"/>
            <a:ext cx="2606040" cy="411480"/>
          </a:xfrm>
          <a:prstGeom prst="rect">
            <a:avLst/>
          </a:prstGeom>
          <a:solidFill>
            <a:srgbClr val="FEF0E3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17720" y="513892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NKAM DMart + Category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0" y="5596128"/>
            <a:ext cx="2606040" cy="384048"/>
          </a:xfrm>
          <a:prstGeom prst="rect">
            <a:avLst/>
          </a:prstGeom>
          <a:solidFill>
            <a:srgbClr val="FEF0E3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17720" y="5614416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By: 30 Sep 2026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11480" y="644652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₹3–5 L/month | ₹36–60 L annualised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74320" y="7178040"/>
            <a:ext cx="69951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E8E3E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" y="7178040"/>
            <a:ext cx="6995160" cy="548640"/>
          </a:xfrm>
          <a:prstGeom prst="rect">
            <a:avLst/>
          </a:prstGeom>
          <a:solidFill>
            <a:srgbClr val="1E8E3E"/>
          </a:solidFill>
          <a:ln w="12700">
            <a:solidFill>
              <a:srgbClr val="1E8E3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71780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New Openings — Vidarbha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983480" y="71780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₹5–7 L/month new</a:t>
            </a:r>
            <a:endParaRPr lang="en-US" sz="950" dirty="0"/>
          </a:p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₹60–84 L annualised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11480" y="7799832"/>
            <a:ext cx="6583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Wellness: 15 → 25 stores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11480" y="8183880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Nagpur metro has 10 additional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Forever stores not yet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Honasa's MT universe.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0" y="8183880"/>
            <a:ext cx="2606040" cy="411480"/>
          </a:xfrm>
          <a:prstGeom prst="rect">
            <a:avLst/>
          </a:prstGeom>
          <a:solidFill>
            <a:srgbClr val="E3F2EC"/>
          </a:solidFill>
          <a:ln w="12700">
            <a:solidFill>
              <a:srgbClr val="1E8E3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17720" y="820216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NKAM Wellness + BD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572000" y="8659368"/>
            <a:ext cx="2606040" cy="384048"/>
          </a:xfrm>
          <a:prstGeom prst="rect">
            <a:avLst/>
          </a:prstGeom>
          <a:solidFill>
            <a:srgbClr val="E3F2EC"/>
          </a:solidFill>
          <a:ln w="12700">
            <a:solidFill>
              <a:srgbClr val="1E8E3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17720" y="8677656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By: 31 Oct 2026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11480" y="950976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8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₹5–7 L/month new | ₹60–84 L annualised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65760" y="10378440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opportunity sizes are estimates based on store count, average SKU NSV, and billing-rate benchmarks from comparable zones. Not actuals.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914400"/>
          </a:xfrm>
          <a:prstGeom prst="rect">
            <a:avLst/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PLAN — CENTRAL ZONE ACTIVATION | REVIEW: 15 SEPTEMBER 2026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6995160" cy="457200"/>
          </a:xfrm>
          <a:prstGeom prst="rect">
            <a:avLst/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601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011680" y="9601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(₹)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926080" y="9601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754880" y="9601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943600" y="960120"/>
            <a:ext cx="685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When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629400" y="96012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Trigger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74320" y="1463040"/>
            <a:ext cx="69951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536192"/>
            <a:ext cx="16459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EPD billing gap — 1,001 SKUs listed, not billing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057400" y="1536192"/>
            <a:ext cx="82296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₹8–10 L/month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971800" y="1536192"/>
            <a:ext cx="173736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store-level EPD billing report for all 81 Central stores; flag zero-billing SKUs; confirm restocking &amp; display plan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800600" y="1536192"/>
            <a:ext cx="109728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(Wellness + Apollo + Reliance + DMart)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989320" y="1536192"/>
            <a:ext cx="59436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E8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Aug 2026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675120" y="1536192"/>
            <a:ext cx="7315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Sep'26 offtake — Central EPD billing rate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74320" y="3246120"/>
            <a:ext cx="6995160" cy="1737360"/>
          </a:xfrm>
          <a:prstGeom prst="rect">
            <a:avLst/>
          </a:prstGeom>
          <a:solidFill>
            <a:srgbClr val="E3F2E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319272"/>
            <a:ext cx="16459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FY27 Central zone targets — not yet set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057400" y="3319272"/>
            <a:ext cx="82296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risk — zone untracked vs plan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971800" y="3319272"/>
            <a:ext cx="173736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standalone Central FY27 NSV target (Primary + Offtake) by chain and by state (MP / CG / Vidarbha)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800600" y="3319272"/>
            <a:ext cx="109728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RKAM Central + Sales Planning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989320" y="3319272"/>
            <a:ext cx="59436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E8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Sep 2026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675120" y="3319272"/>
            <a:ext cx="7315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MT Zone Review from Sep'26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74320" y="5029200"/>
            <a:ext cx="69951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5102352"/>
            <a:ext cx="16459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 Central range gap — 81 SKUs vs 240 Apollo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057400" y="5102352"/>
            <a:ext cx="82296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₹3–5 L/month underperformance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971800" y="5102352"/>
            <a:ext cx="173736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range extension proposal for 17 DMart Central stores — target 120 SKUs by Oct'26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800600" y="5102352"/>
            <a:ext cx="109728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DMart + Category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989320" y="5102352"/>
            <a:ext cx="59436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E8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Sep 2026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675120" y="5102352"/>
            <a:ext cx="7315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Oct'26 DMart Central assortment audit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74320" y="6812280"/>
            <a:ext cx="6995160" cy="1737360"/>
          </a:xfrm>
          <a:prstGeom prst="rect">
            <a:avLst/>
          </a:prstGeom>
          <a:solidFill>
            <a:srgbClr val="E3F2E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6885432"/>
            <a:ext cx="16459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Forever universe gap — 10 stores not in MT master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2057400" y="6885432"/>
            <a:ext cx="82296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₹5–7 L/month new opportunity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2971800" y="6885432"/>
            <a:ext cx="173736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 to map 10 new Wellness Forever Nagpur-area stores; submit onboarding request to chain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800600" y="6885432"/>
            <a:ext cx="109728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Wellness + BD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989320" y="6885432"/>
            <a:ext cx="59436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E8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Oct 2026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675120" y="6885432"/>
            <a:ext cx="7315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Nov'26 — new store first billing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74320" y="8595360"/>
            <a:ext cx="69951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0040" y="8668512"/>
            <a:ext cx="16459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FY25/FY26 Central — pre-aggregated workbook not yet refreshed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2057400" y="8668512"/>
            <a:ext cx="82296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still shows old zone split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2971800" y="8668512"/>
            <a:ext cx="173736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Re-export Primary_FY202426_10.xlsx from Power BI Desktop after refreshing with updated CSVs; replace seed file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800600" y="8668512"/>
            <a:ext cx="109728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Analyst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989320" y="8668512"/>
            <a:ext cx="59436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E8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5 2026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675120" y="8668512"/>
            <a:ext cx="7315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 — Central zone FY25/FY26 bars visible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274320" y="10405872"/>
            <a:ext cx="6995160" cy="256032"/>
          </a:xfrm>
          <a:prstGeom prst="rect">
            <a:avLst/>
          </a:prstGeom>
          <a:solidFill>
            <a:srgbClr val="2D9B7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cadence: Monthly MT Zone Review. Escalation: RKAM Central to flag if EPD billing rate &lt;40% by 15 Sep.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2026-08-21T09:39:12Z</dcterms:created>
  <dcterms:modified xsi:type="dcterms:W3CDTF">2026-08-21T09:39:12Z</dcterms:modified>
</cp:coreProperties>
</file>