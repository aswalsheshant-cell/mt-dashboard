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6" r:id="R9cf21f3a157e43a0"/>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1.xml" Id="R9cf21f3a157e43a0"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d23fe900b54efc" /><Relationship Type="http://schemas.openxmlformats.org/officeDocument/2006/relationships/notesMaster" Target="/ppt/notesMasters/notesMaster1.xml" Id="R8b3672fedbd14c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6710f9289d42d0" /><Relationship Type="http://schemas.openxmlformats.org/officeDocument/2006/relationships/chart" Target="/ppt/slides/charts/chart17.xml" Id="R7db5d9e2725b4903" /><Relationship Type="http://schemas.openxmlformats.org/officeDocument/2006/relationships/chart" Target="/ppt/slides/charts/chart18.xml" Id="R6a2b90bd2b2d4fab" /><Relationship Type="http://schemas.openxmlformats.org/officeDocument/2006/relationships/notesSlide" Target="/ppt/notesSlides/notesSlide11.xml" Id="R49f5c116d2dc44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7.xml><?xml version="1.0" encoding="utf-8"?>
<c:chartSpace xmlns:c="http://schemas.openxmlformats.org/drawingml/2006/chart">
  <c:lang val="en-US"/>
  <c:chart>
    <c:plotArea>
      <c:lineChart>
        <c:grouping val="standard"/>
        <c:ser>
          <c:idx val="0"/>
          <c:order val="0"/>
          <c:tx>
            <c:v>Offtake</c:v>
          </c:tx>
          <c:spPr>
            <a:solidFill xmlns:a="http://schemas.openxmlformats.org/drawingml/2006/main">
              <a:srgbClr val="28A596"/>
            </a:solidFill>
            <a:ln xmlns:a="http://schemas.openxmlformats.org/drawingml/2006/main" w="23813">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18.xml><?xml version="1.0" encoding="utf-8"?>
<c:chartSpace xmlns:c="http://schemas.openxmlformats.org/drawingml/2006/chart">
  <c:lang val="en-US"/>
  <c:chart>
    <c:plotArea>
      <c:lineChart>
        <c:grouping val="standard"/>
        <c:ser>
          <c:idx val="0"/>
          <c:order val="0"/>
          <c:tx>
            <c:v>Active EANs</c:v>
          </c:tx>
          <c:spPr>
            <a:solidFill xmlns:a="http://schemas.openxmlformats.org/drawingml/2006/main">
              <a:srgbClr val="2E7DA8"/>
            </a:solidFill>
            <a:ln xmlns:a="http://schemas.openxmlformats.org/drawingml/2006/main" w="23813">
              <a:solidFill>
                <a:srgbClr val="2E7DA8"/>
              </a:solidFill>
            </a:ln>
          </c:spPr>
          <c:marker>
            <c:symbol val="none"/>
          </c:marker>
          <c:cat>
            <c:strLit>
              <c:ptCount val="7"/>
              <c:pt idx="0">
                <c:v>Jan</c:v>
              </c:pt>
              <c:pt idx="1">
                <c:v>Feb</c:v>
              </c:pt>
              <c:pt idx="2">
                <c:v>Mar</c:v>
              </c:pt>
              <c:pt idx="3">
                <c:v>Apr</c:v>
              </c:pt>
              <c:pt idx="4">
                <c:v>May</c:v>
              </c:pt>
              <c:pt idx="5">
                <c:v>Jun</c:v>
              </c:pt>
              <c:pt idx="6">
                <c:v>Jul</c:v>
              </c:pt>
            </c:strLit>
          </c:cat>
          <c:val>
            <c:numLit>
              <c:formatCode>0</c:formatCode>
              <c:ptCount val="7"/>
              <c:pt idx="0">
                <c:v>222</c:v>
              </c:pt>
              <c:pt idx="1">
                <c:v>217</c:v>
              </c:pt>
              <c:pt idx="2">
                <c:v>203</c:v>
              </c:pt>
              <c:pt idx="3">
                <c:v>196</c:v>
              </c:pt>
              <c:pt idx="4">
                <c:v>190</c:v>
              </c:pt>
              <c:pt idx="5">
                <c:v>200</c:v>
              </c:pt>
              <c:pt idx="6">
                <c:v>198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(58.5% conv, ₹4.97 Cr gap) and East (45.3% conv, ₹4.28 Cr gap) together hold 70.5% of national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Weekly ZSM-owned gap closure loop: North targets Reliance + DMart EANs; East targets Reliance exclusively; report to Sales Lead every Friday from 22-Aug</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at 82.3% conversion; DMart West 94.2% is the best DMart rate nationally; Reliance West 54.5% is the only exception; Wellness Forever 134.9% is a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West's 94.2% conversion proves EAN availability discipline works; Reliance West has 45% of billed inventory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to map Reliance West EAN-store failures; restore top-10 declining articles by 30-Aug; hold Wellness Forever loading until timing discrepancy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gap is a Reliance execution failure, not a demand failure — Apollo 98.3% in the same zone proves demand is present; ₹4.97 Cr gap is recoverable through EAN-level corrections</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Pull Reliance North EAN-store pair list; recover top 20 declining items by 05-Sep; use Apollo's 98.3% ordering cadence as the Reliance North playbook</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North | 05-Sep</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S-2 is the highest-value DMart recovery opportunity nationally; Apollo's &gt;100% rate is a data risk — treating it as a success signal would justify loading into an already full pipe</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conversion — worst nationally; ₹7.83 Cr primary vs ₹3.55 Cr offtake; Reliance East 52.9% is the core problem; NPI mix 10.2% is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to place non-Hero SKU loading moratorium pending August offtake data; Reliance East EAN-store failure list — weekly owner review from 22-Aug</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Loading freeze by 22-Aug</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8" name="">
            <a:extLst xmlns:a="http://schemas.openxmlformats.org/drawingml/2006/main">
              <a:ext uri="{FF2B5EF4-FFF2-40B4-BE49-F238E27FC236}">
                <a16:creationId xmlns:a16="http://schemas.microsoft.com/office/drawing/2014/main" id="{542256F9-504C-46FE-893B-A9D3F01A9C1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5B820E0-4A72-48BB-B726-A6D86EAC46E0}"/>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Pan India: Separate view</a:t>
            </a:r>
          </a:p>
        </p:txBody>
      </p:sp>
      <p:sp>
        <p:nvSpPr>
          <p:cNvPr id="3" name="">
            <a:extLst xmlns:a="http://schemas.openxmlformats.org/drawingml/2006/main">
              <a:ext uri="{FF2B5EF4-FFF2-40B4-BE49-F238E27FC236}">
                <a16:creationId xmlns:a16="http://schemas.microsoft.com/office/drawing/2014/main" id="{5E336468-7E9F-4576-8E35-020378B6E7A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67A1901B-C941-46B5-B5E3-BA013AF2191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11</a:t>
            </a:r>
          </a:p>
        </p:txBody>
      </p:sp>
      <p:sp>
        <p:nvSpPr>
          <p:cNvPr id="5" name="">
            <a:extLst xmlns:a="http://schemas.openxmlformats.org/drawingml/2006/main">
              <a:ext uri="{FF2B5EF4-FFF2-40B4-BE49-F238E27FC236}">
                <a16:creationId xmlns:a16="http://schemas.microsoft.com/office/drawing/2014/main" id="{C49A209D-8CC3-4273-BB3E-96E68086BD2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1346DEC-D65D-412A-B0F0-A27E8B171DE2}"/>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 name="">
            <a:extLst xmlns:a="http://schemas.openxmlformats.org/drawingml/2006/main">
              <a:ext uri="{FF2B5EF4-FFF2-40B4-BE49-F238E27FC236}">
                <a16:creationId xmlns:a16="http://schemas.microsoft.com/office/drawing/2014/main" id="{02ACC091-CDF8-4D20-A5E3-BE8705672A75}"/>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081A119-BB4D-4FD8-84B0-BE1AEA5BEB75}"/>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9" name="">
            <a:extLst xmlns:a="http://schemas.openxmlformats.org/drawingml/2006/main">
              <a:ext uri="{FF2B5EF4-FFF2-40B4-BE49-F238E27FC236}">
                <a16:creationId xmlns:a16="http://schemas.microsoft.com/office/drawing/2014/main" id="{703B7170-B35F-4B95-92FA-3C79DA8DCC3D}"/>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92BDB1D-1E57-4368-B3E6-0D2BF8DCA8A2}"/>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11E7547-583A-4369-9CE8-F1C9675D405D}"/>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09E2F1D3-6FF4-400D-BE4C-30363ABCDA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8D04835-588D-40DC-8503-98A204CC2F5D}"/>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EBB2EB39-B628-4DBB-B8BA-B6BBC6AC0D04}"/>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mix</a:t>
            </a:r>
          </a:p>
        </p:txBody>
      </p:sp>
      <p:sp>
        <p:nvSpPr>
          <p:cNvPr id="15" name="">
            <a:extLst xmlns:a="http://schemas.openxmlformats.org/drawingml/2006/main">
              <a:ext uri="{FF2B5EF4-FFF2-40B4-BE49-F238E27FC236}">
                <a16:creationId xmlns:a16="http://schemas.microsoft.com/office/drawing/2014/main" id="{654A58DB-D8E1-498E-AB30-B0588A5D9FBF}"/>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FFFFBDC3-9B84-4706-9BA9-9D385F7453E9}"/>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88B5F0E1-0F30-44C6-8987-7130EA8CEE4E}"/>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13E82C3-4B6B-43CD-8BD2-D631A53E7BF9}"/>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19" name="">
            <a:extLst xmlns:a="http://schemas.openxmlformats.org/drawingml/2006/main">
              <a:ext uri="{FF2B5EF4-FFF2-40B4-BE49-F238E27FC236}">
                <a16:creationId xmlns:a16="http://schemas.microsoft.com/office/drawing/2014/main" id="{4FDFB934-9A2D-471F-98B7-07ACABD5B6A1}"/>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46A744EB-3FA7-4CFD-8A38-5FCB5D135C1F}"/>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3D431C6-5410-4B8E-A000-30E9C61E2995}"/>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22" name="">
            <a:extLst xmlns:a="http://schemas.openxmlformats.org/drawingml/2006/main">
              <a:ext uri="{FF2B5EF4-FFF2-40B4-BE49-F238E27FC236}">
                <a16:creationId xmlns:a16="http://schemas.microsoft.com/office/drawing/2014/main" id="{6E3CB82F-7532-42CB-AC2F-EB42389B133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77CD0DB-48F9-4405-AC5E-43CC03732698}"/>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24" name="">
            <a:extLst xmlns:a="http://schemas.openxmlformats.org/drawingml/2006/main">
              <a:ext uri="{FF2B5EF4-FFF2-40B4-BE49-F238E27FC236}">
                <a16:creationId xmlns:a16="http://schemas.microsoft.com/office/drawing/2014/main" id="{94C286E2-62E4-4D0D-84DD-97403FBDE61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8CAF57-FA0D-4D28-9AF8-4B6F07D7E8A4}"/>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5D2DFF99-605E-4D7B-B598-B896661A57D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305BEF8-408F-428D-851A-8FF506EABFB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Protect account flow  •  Track campaign velocity  •  Build comparable supply view</a:t>
            </a:r>
          </a:p>
        </p:txBody>
      </p:sp>
      <p:sp>
        <p:nvSpPr>
          <p:cNvPr id="28" name="">
            <a:extLst xmlns:a="http://schemas.openxmlformats.org/drawingml/2006/main">
              <a:ext uri="{FF2B5EF4-FFF2-40B4-BE49-F238E27FC236}">
                <a16:creationId xmlns:a16="http://schemas.microsoft.com/office/drawing/2014/main" id="{79D1D316-76D4-4AE2-A3CA-D3241034B40E}"/>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FSN/Nykaa offtake trend (₹ Cr)</a:t>
            </a:r>
          </a:p>
        </p:txBody>
      </p:sp>
      <p:graphicFrame>
        <p:nvGraphicFramePr>
          <p:cNvPr id="136"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db5d9e2725b4903"/>
          </a:graphicData>
        </a:graphic>
      </p:graphicFrame>
      <p:sp>
        <p:nvSpPr>
          <p:cNvPr id="30" name="">
            <a:extLst xmlns:a="http://schemas.openxmlformats.org/drawingml/2006/main">
              <a:ext uri="{FF2B5EF4-FFF2-40B4-BE49-F238E27FC236}">
                <a16:creationId xmlns:a16="http://schemas.microsoft.com/office/drawing/2014/main" id="{D942CBA3-4260-4DB5-A7D7-8141F971D377}"/>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Active FSN/Nykaa EANs</a:t>
            </a:r>
          </a:p>
        </p:txBody>
      </p:sp>
      <p:graphicFrame>
        <p:nvGraphicFramePr>
          <p:cNvPr id="138"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a2b90bd2b2d4fab"/>
          </a:graphicData>
        </a:graphic>
      </p:graphicFrame>
      <p:sp>
        <p:nvSpPr>
          <p:cNvPr id="32" name="">
            <a:extLst xmlns:a="http://schemas.openxmlformats.org/drawingml/2006/main">
              <a:ext uri="{FF2B5EF4-FFF2-40B4-BE49-F238E27FC236}">
                <a16:creationId xmlns:a16="http://schemas.microsoft.com/office/drawing/2014/main" id="{CF242F22-008A-4E41-8BB0-3D05650AA309}"/>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FAB5D1B-3ADF-402D-B9B3-14BFB8CB107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891497B7-A52B-4617-9558-4C5DBDFF7607}"/>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FSN / Nykaa  ₹2.07 Cr</a:t>
            </a:r>
          </a:p>
        </p:txBody>
      </p:sp>
      <p:sp>
        <p:nvSpPr>
          <p:cNvPr id="35" name="">
            <a:extLst xmlns:a="http://schemas.openxmlformats.org/drawingml/2006/main">
              <a:ext uri="{FF2B5EF4-FFF2-40B4-BE49-F238E27FC236}">
                <a16:creationId xmlns:a16="http://schemas.microsoft.com/office/drawing/2014/main" id="{47577341-4E9F-4DC9-98C9-CF91D28BA2B2}"/>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Pan India  ₹2.07 Cr</a:t>
            </a:r>
          </a:p>
        </p:txBody>
      </p:sp>
      <p:sp>
        <p:nvSpPr>
          <p:cNvPr id="36" name="">
            <a:extLst xmlns:a="http://schemas.openxmlformats.org/drawingml/2006/main">
              <a:ext uri="{FF2B5EF4-FFF2-40B4-BE49-F238E27FC236}">
                <a16:creationId xmlns:a16="http://schemas.microsoft.com/office/drawing/2014/main" id="{6688897B-9521-4F4C-9E80-A52A92316851}"/>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8FB8DCD1-B9A9-4B5F-B7FB-6AEE9C9E22E7}"/>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38" name="">
            <a:extLst xmlns:a="http://schemas.openxmlformats.org/drawingml/2006/main">
              <a:ext uri="{FF2B5EF4-FFF2-40B4-BE49-F238E27FC236}">
                <a16:creationId xmlns:a16="http://schemas.microsoft.com/office/drawing/2014/main" id="{03E43286-D067-4AF7-9DE8-DAD41A17764B}"/>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₹1.65 Cr</a:t>
            </a:r>
          </a:p>
        </p:txBody>
      </p:sp>
      <p:sp>
        <p:nvSpPr>
          <p:cNvPr id="39" name="">
            <a:extLst xmlns:a="http://schemas.openxmlformats.org/drawingml/2006/main">
              <a:ext uri="{FF2B5EF4-FFF2-40B4-BE49-F238E27FC236}">
                <a16:creationId xmlns:a16="http://schemas.microsoft.com/office/drawing/2014/main" id="{8DC675A4-219F-4172-BC8C-8A891D96823F}"/>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₹0.00 Cr</a:t>
            </a:r>
          </a:p>
        </p:txBody>
      </p:sp>
      <p:sp>
        <p:nvSpPr>
          <p:cNvPr id="40" name="">
            <a:extLst xmlns:a="http://schemas.openxmlformats.org/drawingml/2006/main">
              <a:ext uri="{FF2B5EF4-FFF2-40B4-BE49-F238E27FC236}">
                <a16:creationId xmlns:a16="http://schemas.microsoft.com/office/drawing/2014/main" id="{C39D8146-999D-4C6C-9CC0-81E0AFA91A0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₹0.00 Cr</a:t>
            </a:r>
          </a:p>
        </p:txBody>
      </p:sp>
      <p:sp>
        <p:nvSpPr>
          <p:cNvPr id="41" name="">
            <a:extLst xmlns:a="http://schemas.openxmlformats.org/drawingml/2006/main">
              <a:ext uri="{FF2B5EF4-FFF2-40B4-BE49-F238E27FC236}">
                <a16:creationId xmlns:a16="http://schemas.microsoft.com/office/drawing/2014/main" id="{16D4CC3B-24B8-4073-A8D7-3B594023A3AF}"/>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Shampoo  ₹0.00 Cr</a:t>
            </a:r>
          </a:p>
        </p:txBody>
      </p:sp>
      <p:sp>
        <p:nvSpPr>
          <p:cNvPr id="42" name="">
            <a:extLst xmlns:a="http://schemas.openxmlformats.org/drawingml/2006/main">
              <a:ext uri="{FF2B5EF4-FFF2-40B4-BE49-F238E27FC236}">
                <a16:creationId xmlns:a16="http://schemas.microsoft.com/office/drawing/2014/main" id="{79222D36-D772-4260-8AE1-E11D2CB5712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₹0.37 Cr</a:t>
            </a:r>
          </a:p>
        </p:txBody>
      </p:sp>
      <p:sp>
        <p:nvSpPr>
          <p:cNvPr id="43" name="">
            <a:extLst xmlns:a="http://schemas.openxmlformats.org/drawingml/2006/main">
              <a:ext uri="{FF2B5EF4-FFF2-40B4-BE49-F238E27FC236}">
                <a16:creationId xmlns:a16="http://schemas.microsoft.com/office/drawing/2014/main" id="{A9D118BC-AD98-4C1E-B30B-F381AA0193EE}"/>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₹0.00 Cr</a:t>
            </a:r>
          </a:p>
        </p:txBody>
      </p:sp>
      <p:sp>
        <p:nvSpPr>
          <p:cNvPr id="44" name="">
            <a:extLst xmlns:a="http://schemas.openxmlformats.org/drawingml/2006/main">
              <a:ext uri="{FF2B5EF4-FFF2-40B4-BE49-F238E27FC236}">
                <a16:creationId xmlns:a16="http://schemas.microsoft.com/office/drawing/2014/main" id="{84220EB6-957D-418F-BA63-D45B56E48B38}"/>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₹0.00 Cr</a:t>
            </a:r>
          </a:p>
        </p:txBody>
      </p:sp>
      <p:sp>
        <p:nvSpPr>
          <p:cNvPr id="45" name="">
            <a:extLst xmlns:a="http://schemas.openxmlformats.org/drawingml/2006/main">
              <a:ext uri="{FF2B5EF4-FFF2-40B4-BE49-F238E27FC236}">
                <a16:creationId xmlns:a16="http://schemas.microsoft.com/office/drawing/2014/main" id="{0B28F324-D427-49F9-92B0-0D23472F9E8F}"/>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₹0.00 Cr</a:t>
            </a:r>
          </a:p>
        </p:txBody>
      </p:sp>
      <p:sp>
        <p:nvSpPr>
          <p:cNvPr id="46" name="">
            <a:extLst xmlns:a="http://schemas.openxmlformats.org/drawingml/2006/main">
              <a:ext uri="{FF2B5EF4-FFF2-40B4-BE49-F238E27FC236}">
                <a16:creationId xmlns:a16="http://schemas.microsoft.com/office/drawing/2014/main" id="{C87572EA-C306-432C-944D-FA970BFBDA8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FSN / NYKAA + NPI</a:t>
            </a:r>
          </a:p>
        </p:txBody>
      </p:sp>
      <p:sp>
        <p:nvSpPr>
          <p:cNvPr id="47" name="">
            <a:extLst xmlns:a="http://schemas.openxmlformats.org/drawingml/2006/main">
              <a:ext uri="{FF2B5EF4-FFF2-40B4-BE49-F238E27FC236}">
                <a16:creationId xmlns:a16="http://schemas.microsoft.com/office/drawing/2014/main" id="{95F19901-B0E5-479D-A719-118152D11D4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Jul ₹2.07 Cr | 99.4% flow | NPI ₹0.13 Cr (6.3%)</a:t>
            </a:r>
          </a:p>
        </p:txBody>
      </p:sp>
      <p:sp>
        <p:nvSpPr>
          <p:cNvPr id="48" name="">
            <a:extLst xmlns:a="http://schemas.openxmlformats.org/drawingml/2006/main">
              <a:ext uri="{FF2B5EF4-FFF2-40B4-BE49-F238E27FC236}">
                <a16:creationId xmlns:a16="http://schemas.microsoft.com/office/drawing/2014/main" id="{BDE40DD8-108D-4464-B5B7-4293F8A35E05}"/>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9" name="">
            <a:extLst xmlns:a="http://schemas.openxmlformats.org/drawingml/2006/main">
              <a:ext uri="{FF2B5EF4-FFF2-40B4-BE49-F238E27FC236}">
                <a16:creationId xmlns:a16="http://schemas.microsoft.com/office/drawing/2014/main" id="{72FFE7B5-D720-4586-84B8-9D52F7381AB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0" name="">
            <a:extLst xmlns:a="http://schemas.openxmlformats.org/drawingml/2006/main">
              <a:ext uri="{FF2B5EF4-FFF2-40B4-BE49-F238E27FC236}">
                <a16:creationId xmlns:a16="http://schemas.microsoft.com/office/drawing/2014/main" id="{A346C403-263E-4A0C-A5D3-39E804C76553}"/>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35A062B6-7F7E-4B67-84F9-B8950094F508}"/>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2" name="">
            <a:extLst xmlns:a="http://schemas.openxmlformats.org/drawingml/2006/main">
              <a:ext uri="{FF2B5EF4-FFF2-40B4-BE49-F238E27FC236}">
                <a16:creationId xmlns:a16="http://schemas.microsoft.com/office/drawing/2014/main" id="{2E53164B-A6CB-4C2B-832B-6EEAF70336FD}"/>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Pan India delivers ₹2.07 Cr offtake, 5.7% of national value.</a:t>
            </a:r>
          </a:p>
        </p:txBody>
      </p:sp>
      <p:sp>
        <p:nvSpPr>
          <p:cNvPr id="53" name="">
            <a:extLst xmlns:a="http://schemas.openxmlformats.org/drawingml/2006/main">
              <a:ext uri="{FF2B5EF4-FFF2-40B4-BE49-F238E27FC236}">
                <a16:creationId xmlns:a16="http://schemas.microsoft.com/office/drawing/2014/main" id="{56E90185-323A-4339-9B90-7B5404AF6531}"/>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6C745F8-41C1-4EB6-805F-510F7E5BAD43}"/>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5" name="">
            <a:extLst xmlns:a="http://schemas.openxmlformats.org/drawingml/2006/main">
              <a:ext uri="{FF2B5EF4-FFF2-40B4-BE49-F238E27FC236}">
                <a16:creationId xmlns:a16="http://schemas.microsoft.com/office/drawing/2014/main" id="{6B03398A-09C9-42B0-BACC-66ADC792E7B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comparison is unavailable for this national-account view.</a:t>
            </a:r>
          </a:p>
        </p:txBody>
      </p:sp>
      <p:sp>
        <p:nvSpPr>
          <p:cNvPr id="56" name="">
            <a:extLst xmlns:a="http://schemas.openxmlformats.org/drawingml/2006/main">
              <a:ext uri="{FF2B5EF4-FFF2-40B4-BE49-F238E27FC236}">
                <a16:creationId xmlns:a16="http://schemas.microsoft.com/office/drawing/2014/main" id="{D239DFE5-8041-4ACA-B530-97BA3C1F4E4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321AB0F0-9634-442B-AA82-47DEB3A76B1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58" name="">
            <a:extLst xmlns:a="http://schemas.openxmlformats.org/drawingml/2006/main">
              <a:ext uri="{FF2B5EF4-FFF2-40B4-BE49-F238E27FC236}">
                <a16:creationId xmlns:a16="http://schemas.microsoft.com/office/drawing/2014/main" id="{5DB1F20C-B4D8-4008-8386-C33B419020D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awaits a comparable national-account supply view.</a:t>
            </a:r>
          </a:p>
        </p:txBody>
      </p:sp>
      <p:sp>
        <p:nvSpPr>
          <p:cNvPr id="59" name="">
            <a:extLst xmlns:a="http://schemas.openxmlformats.org/drawingml/2006/main">
              <a:ext uri="{FF2B5EF4-FFF2-40B4-BE49-F238E27FC236}">
                <a16:creationId xmlns:a16="http://schemas.microsoft.com/office/drawing/2014/main" id="{3470D6BA-A9A5-484C-9F14-25FF9F711109}"/>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DA56752E-3E1C-446B-A8AC-92835320F75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1" name="">
            <a:extLst xmlns:a="http://schemas.openxmlformats.org/drawingml/2006/main">
              <a:ext uri="{FF2B5EF4-FFF2-40B4-BE49-F238E27FC236}">
                <a16:creationId xmlns:a16="http://schemas.microsoft.com/office/drawing/2014/main" id="{6FCDB877-9761-45CC-B471-BD5B6F29EE1C}"/>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Offtake is reported separately from geographic primary.</a:t>
            </a:r>
          </a:p>
        </p:txBody>
      </p:sp>
      <p:sp>
        <p:nvSpPr>
          <p:cNvPr id="62" name="">
            <a:extLst xmlns:a="http://schemas.openxmlformats.org/drawingml/2006/main">
              <a:ext uri="{FF2B5EF4-FFF2-40B4-BE49-F238E27FC236}">
                <a16:creationId xmlns:a16="http://schemas.microsoft.com/office/drawing/2014/main" id="{62761ED5-7653-4569-B47B-A0B25C5D97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D3C889E3-D837-46AB-BF94-F69C64AED0E2}"/>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4" name="">
            <a:extLst xmlns:a="http://schemas.openxmlformats.org/drawingml/2006/main">
              <a:ext uri="{FF2B5EF4-FFF2-40B4-BE49-F238E27FC236}">
                <a16:creationId xmlns:a16="http://schemas.microsoft.com/office/drawing/2014/main" id="{173A8A1B-AFA0-4368-89F3-15970222051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ranks #7 by national offtake.</a:t>
            </a:r>
          </a:p>
        </p:txBody>
      </p:sp>
      <p:sp>
        <p:nvSpPr>
          <p:cNvPr id="65" name="">
            <a:extLst xmlns:a="http://schemas.openxmlformats.org/drawingml/2006/main">
              <a:ext uri="{FF2B5EF4-FFF2-40B4-BE49-F238E27FC236}">
                <a16:creationId xmlns:a16="http://schemas.microsoft.com/office/drawing/2014/main" id="{06819817-CD29-40E8-A2FE-3D4B7275B363}"/>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7A2C28CA-17B8-482C-97AD-C9C3B289E56F}"/>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67" name="">
            <a:extLst xmlns:a="http://schemas.openxmlformats.org/drawingml/2006/main">
              <a:ext uri="{FF2B5EF4-FFF2-40B4-BE49-F238E27FC236}">
                <a16:creationId xmlns:a16="http://schemas.microsoft.com/office/drawing/2014/main" id="{00DA9C95-A696-407C-BF12-3EEBFB15086B}"/>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contributes ₹2.07 Cr offtake.</a:t>
            </a:r>
          </a:p>
        </p:txBody>
      </p:sp>
      <p:sp>
        <p:nvSpPr>
          <p:cNvPr id="68" name="">
            <a:extLst xmlns:a="http://schemas.openxmlformats.org/drawingml/2006/main">
              <a:ext uri="{FF2B5EF4-FFF2-40B4-BE49-F238E27FC236}">
                <a16:creationId xmlns:a16="http://schemas.microsoft.com/office/drawing/2014/main" id="{6905D21E-F807-4A8F-A704-F8F5CFAA0EB5}"/>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FB2D1E56-1782-436A-AF97-D1DF74D7E2B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0" name="">
            <a:extLst xmlns:a="http://schemas.openxmlformats.org/drawingml/2006/main">
              <a:ext uri="{FF2B5EF4-FFF2-40B4-BE49-F238E27FC236}">
                <a16:creationId xmlns:a16="http://schemas.microsoft.com/office/drawing/2014/main" id="{17EC5139-7CE6-4FCD-B1EA-058D0882AF9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provides no separate state split for Pan India.</a:t>
            </a:r>
          </a:p>
        </p:txBody>
      </p:sp>
      <p:sp>
        <p:nvSpPr>
          <p:cNvPr id="71" name="">
            <a:extLst xmlns:a="http://schemas.openxmlformats.org/drawingml/2006/main">
              <a:ext uri="{FF2B5EF4-FFF2-40B4-BE49-F238E27FC236}">
                <a16:creationId xmlns:a16="http://schemas.microsoft.com/office/drawing/2014/main" id="{E4CC7D2D-0008-4209-8470-CD9EFD566E2D}"/>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79E13546-4D84-4CCE-9FDE-AA9967BB0F3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3" name="">
            <a:extLst xmlns:a="http://schemas.openxmlformats.org/drawingml/2006/main">
              <a:ext uri="{FF2B5EF4-FFF2-40B4-BE49-F238E27FC236}">
                <a16:creationId xmlns:a16="http://schemas.microsoft.com/office/drawing/2014/main" id="{C694E847-1138-4B68-8F63-943564DF51B6}"/>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represents 5.7% of national offtake.</a:t>
            </a:r>
          </a:p>
        </p:txBody>
      </p:sp>
      <p:sp>
        <p:nvSpPr>
          <p:cNvPr id="74" name="">
            <a:extLst xmlns:a="http://schemas.openxmlformats.org/drawingml/2006/main">
              <a:ext uri="{FF2B5EF4-FFF2-40B4-BE49-F238E27FC236}">
                <a16:creationId xmlns:a16="http://schemas.microsoft.com/office/drawing/2014/main" id="{99041D18-4D0A-4BC2-A153-580887B18830}"/>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AD03D31-B1BB-4EA6-AB4B-139220508B7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6" name="">
            <a:extLst xmlns:a="http://schemas.openxmlformats.org/drawingml/2006/main">
              <a:ext uri="{FF2B5EF4-FFF2-40B4-BE49-F238E27FC236}">
                <a16:creationId xmlns:a16="http://schemas.microsoft.com/office/drawing/2014/main" id="{9368275D-261C-4524-8358-A9DDDAA82EE4}"/>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State-level conversion cannot be calculated without primary mapping.</a:t>
            </a:r>
          </a:p>
        </p:txBody>
      </p:sp>
      <p:sp>
        <p:nvSpPr>
          <p:cNvPr id="77" name="">
            <a:extLst xmlns:a="http://schemas.openxmlformats.org/drawingml/2006/main">
              <a:ext uri="{FF2B5EF4-FFF2-40B4-BE49-F238E27FC236}">
                <a16:creationId xmlns:a16="http://schemas.microsoft.com/office/drawing/2014/main" id="{73FF990E-ACE2-44EE-88AA-475CE3EBC92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6A0F0B14-C7C0-4BAE-B56A-49ED7631683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79" name="">
            <a:extLst xmlns:a="http://schemas.openxmlformats.org/drawingml/2006/main">
              <a:ext uri="{FF2B5EF4-FFF2-40B4-BE49-F238E27FC236}">
                <a16:creationId xmlns:a16="http://schemas.microsoft.com/office/drawing/2014/main" id="{DB1A3382-8EE3-40D1-B222-9FDF5E91FADB}"/>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Manage this scope as a national account rather than a geography.</a:t>
            </a:r>
          </a:p>
        </p:txBody>
      </p:sp>
      <p:sp>
        <p:nvSpPr>
          <p:cNvPr id="80" name="">
            <a:extLst xmlns:a="http://schemas.openxmlformats.org/drawingml/2006/main">
              <a:ext uri="{FF2B5EF4-FFF2-40B4-BE49-F238E27FC236}">
                <a16:creationId xmlns:a16="http://schemas.microsoft.com/office/drawing/2014/main" id="{CFD2CEE5-1990-47A7-B56A-B681A6FE506F}"/>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5C6E42A-35BE-4595-9D16-C5A79F0E81C1}"/>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2" name="">
            <a:extLst xmlns:a="http://schemas.openxmlformats.org/drawingml/2006/main">
              <a:ext uri="{FF2B5EF4-FFF2-40B4-BE49-F238E27FC236}">
                <a16:creationId xmlns:a16="http://schemas.microsoft.com/office/drawing/2014/main" id="{63D9E05E-05A9-46CB-8953-ACECDD184D0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FSN / Nykaa contributes ₹2.07 Cr offtake.</a:t>
            </a:r>
          </a:p>
        </p:txBody>
      </p:sp>
      <p:sp>
        <p:nvSpPr>
          <p:cNvPr id="83" name="">
            <a:extLst xmlns:a="http://schemas.openxmlformats.org/drawingml/2006/main">
              <a:ext uri="{FF2B5EF4-FFF2-40B4-BE49-F238E27FC236}">
                <a16:creationId xmlns:a16="http://schemas.microsoft.com/office/drawing/2014/main" id="{4D471B46-461B-4593-971B-746E60716244}"/>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38A5D4A1-25A8-4647-9E19-99D720475812}"/>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5" name="">
            <a:extLst xmlns:a="http://schemas.openxmlformats.org/drawingml/2006/main">
              <a:ext uri="{FF2B5EF4-FFF2-40B4-BE49-F238E27FC236}">
                <a16:creationId xmlns:a16="http://schemas.microsoft.com/office/drawing/2014/main" id="{3225AFC2-3326-4E54-A096-A7743FFBE7C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FSN / Nykaa represents 100% of the Pan India chain cut.</a:t>
            </a:r>
          </a:p>
        </p:txBody>
      </p:sp>
      <p:sp>
        <p:nvSpPr>
          <p:cNvPr id="86" name="">
            <a:extLst xmlns:a="http://schemas.openxmlformats.org/drawingml/2006/main">
              <a:ext uri="{FF2B5EF4-FFF2-40B4-BE49-F238E27FC236}">
                <a16:creationId xmlns:a16="http://schemas.microsoft.com/office/drawing/2014/main" id="{49995895-4B39-4CF3-8A9D-341394B952D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2322AC9C-7077-47AC-8AD2-234E0817496E}"/>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88" name="">
            <a:extLst xmlns:a="http://schemas.openxmlformats.org/drawingml/2006/main">
              <a:ext uri="{FF2B5EF4-FFF2-40B4-BE49-F238E27FC236}">
                <a16:creationId xmlns:a16="http://schemas.microsoft.com/office/drawing/2014/main" id="{62152819-E460-45D0-BA5D-C950970ABB6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Geographic primary comparison is unavailable for this account.</a:t>
            </a:r>
          </a:p>
        </p:txBody>
      </p:sp>
      <p:sp>
        <p:nvSpPr>
          <p:cNvPr id="89" name="">
            <a:extLst xmlns:a="http://schemas.openxmlformats.org/drawingml/2006/main">
              <a:ext uri="{FF2B5EF4-FFF2-40B4-BE49-F238E27FC236}">
                <a16:creationId xmlns:a16="http://schemas.microsoft.com/office/drawing/2014/main" id="{5BBE7F6F-0C2A-463E-932E-8064E6651A3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A4B52EC5-3C54-4F5D-81DE-388C707A050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1" name="">
            <a:extLst xmlns:a="http://schemas.openxmlformats.org/drawingml/2006/main">
              <a:ext uri="{FF2B5EF4-FFF2-40B4-BE49-F238E27FC236}">
                <a16:creationId xmlns:a16="http://schemas.microsoft.com/office/drawing/2014/main" id="{89B98E10-AE88-4E1F-BC8F-3A0698F5349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Primary–offtake gap interpretation is therefore not valid here.</a:t>
            </a:r>
          </a:p>
        </p:txBody>
      </p:sp>
      <p:sp>
        <p:nvSpPr>
          <p:cNvPr id="92" name="">
            <a:extLst xmlns:a="http://schemas.openxmlformats.org/drawingml/2006/main">
              <a:ext uri="{FF2B5EF4-FFF2-40B4-BE49-F238E27FC236}">
                <a16:creationId xmlns:a16="http://schemas.microsoft.com/office/drawing/2014/main" id="{A08738EE-20E4-4F27-A623-3E81765D4866}"/>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08C618DF-B2FF-466A-B027-F0EDD6A7CA8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4" name="">
            <a:extLst xmlns:a="http://schemas.openxmlformats.org/drawingml/2006/main">
              <a:ext uri="{FF2B5EF4-FFF2-40B4-BE49-F238E27FC236}">
                <a16:creationId xmlns:a16="http://schemas.microsoft.com/office/drawing/2014/main" id="{C26DB9B8-81DD-4959-B5E0-BD0AC50A0929}"/>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Maintain a standalone national-account flow dashboard.</a:t>
            </a:r>
          </a:p>
        </p:txBody>
      </p:sp>
      <p:sp>
        <p:nvSpPr>
          <p:cNvPr id="95" name="">
            <a:extLst xmlns:a="http://schemas.openxmlformats.org/drawingml/2006/main">
              <a:ext uri="{FF2B5EF4-FFF2-40B4-BE49-F238E27FC236}">
                <a16:creationId xmlns:a16="http://schemas.microsoft.com/office/drawing/2014/main" id="{A19ACFB8-6E51-4C79-8EBF-8A9F758F1BC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FSN/Nykaa: 99.4% flow | July ₹2.07 Cr | NPI 6.3%</a:t>
            </a:r>
          </a:p>
        </p:txBody>
      </p:sp>
      <p:sp>
        <p:nvSpPr>
          <p:cNvPr id="96" name="">
            <a:extLst xmlns:a="http://schemas.openxmlformats.org/drawingml/2006/main">
              <a:ext uri="{FF2B5EF4-FFF2-40B4-BE49-F238E27FC236}">
                <a16:creationId xmlns:a16="http://schemas.microsoft.com/office/drawing/2014/main" id="{535617B3-6083-4B99-86D9-48ED17B5837C}"/>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97" name="">
            <a:extLst xmlns:a="http://schemas.openxmlformats.org/drawingml/2006/main">
              <a:ext uri="{FF2B5EF4-FFF2-40B4-BE49-F238E27FC236}">
                <a16:creationId xmlns:a16="http://schemas.microsoft.com/office/drawing/2014/main" id="{4E3516E3-10C6-4299-A676-6088E8D02C8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8" name="">
            <a:extLst xmlns:a="http://schemas.openxmlformats.org/drawingml/2006/main">
              <a:ext uri="{FF2B5EF4-FFF2-40B4-BE49-F238E27FC236}">
                <a16:creationId xmlns:a16="http://schemas.microsoft.com/office/drawing/2014/main" id="{55526B48-2906-47CC-8E07-2EDA34FB0056}"/>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FSN / Nykaa ₹2.07 Cr at 99.4% flow; -4.6% MoM from June ₹2.17 Cr; EAN count 198 (from 222 in January); 7-month absolute trend is positive</a:t>
            </a:r>
          </a:p>
        </p:txBody>
      </p:sp>
      <p:sp>
        <p:nvSpPr>
          <p:cNvPr id="99" name="">
            <a:extLst xmlns:a="http://schemas.openxmlformats.org/drawingml/2006/main">
              <a:ext uri="{FF2B5EF4-FFF2-40B4-BE49-F238E27FC236}">
                <a16:creationId xmlns:a16="http://schemas.microsoft.com/office/drawing/2014/main" id="{678CE133-B738-4EA3-806D-99BAC20946C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0" name="">
            <a:extLst xmlns:a="http://schemas.openxmlformats.org/drawingml/2006/main">
              <a:ext uri="{FF2B5EF4-FFF2-40B4-BE49-F238E27FC236}">
                <a16:creationId xmlns:a16="http://schemas.microsoft.com/office/drawing/2014/main" id="{B36DA269-2615-4B37-9A4C-8BD1517D568C}"/>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1" name="">
            <a:extLst xmlns:a="http://schemas.openxmlformats.org/drawingml/2006/main">
              <a:ext uri="{FF2B5EF4-FFF2-40B4-BE49-F238E27FC236}">
                <a16:creationId xmlns:a16="http://schemas.microsoft.com/office/drawing/2014/main" id="{82A05BA0-2D00-4FFC-B65B-1EEA12CE6060}"/>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July's decline is article-mix softness, not account deterioration; declining EAN count while value holds means portfolio productivity per EAN is improving</a:t>
            </a:r>
          </a:p>
        </p:txBody>
      </p:sp>
      <p:sp>
        <p:nvSpPr>
          <p:cNvPr id="102" name="">
            <a:extLst xmlns:a="http://schemas.openxmlformats.org/drawingml/2006/main">
              <a:ext uri="{FF2B5EF4-FFF2-40B4-BE49-F238E27FC236}">
                <a16:creationId xmlns:a16="http://schemas.microsoft.com/office/drawing/2014/main" id="{1E76688C-42BB-45D5-BF64-78BB1A1713E9}"/>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36D44538-B758-4C6D-B88F-767B6A1CD139}"/>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4" name="">
            <a:extLst xmlns:a="http://schemas.openxmlformats.org/drawingml/2006/main">
              <a:ext uri="{FF2B5EF4-FFF2-40B4-BE49-F238E27FC236}">
                <a16:creationId xmlns:a16="http://schemas.microsoft.com/office/drawing/2014/main" id="{EDBE8DDF-942B-4B2A-8D51-C0D10C0A9EBF}"/>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Protect top-8 face-wash and sunscreen articles (₹1.41 Cr combined); do not add new EANs until July sellthrough is validated in the August read</a:t>
            </a:r>
          </a:p>
        </p:txBody>
      </p:sp>
      <p:sp>
        <p:nvSpPr>
          <p:cNvPr id="105" name="">
            <a:extLst xmlns:a="http://schemas.openxmlformats.org/drawingml/2006/main">
              <a:ext uri="{FF2B5EF4-FFF2-40B4-BE49-F238E27FC236}">
                <a16:creationId xmlns:a16="http://schemas.microsoft.com/office/drawing/2014/main" id="{5DE2C4A5-F9AE-4C0A-B0AA-7570957DF62D}"/>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5056F79B-86F7-4BC6-A0CB-DD9B31D312D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07" name="">
            <a:extLst xmlns:a="http://schemas.openxmlformats.org/drawingml/2006/main">
              <a:ext uri="{FF2B5EF4-FFF2-40B4-BE49-F238E27FC236}">
                <a16:creationId xmlns:a16="http://schemas.microsoft.com/office/drawing/2014/main" id="{0BAEAF49-899C-41A9-94E8-4C4CE534B86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Category | 30-Aug</a:t>
            </a:r>
          </a:p>
        </p:txBody>
      </p:sp>
    </p:spTree>
    <p:extLst>
      <p:ext uri="{BB962C8B-B14F-4D97-AF65-F5344CB8AC3E}">
        <p14:creationId xmlns:p14="http://schemas.microsoft.com/office/powerpoint/2010/main" val="532038984"/>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Three urgent recovery chains (Reliance -15%, Metro -20.5%, Arambagh -22.5%); three scale chains (Lulu +46.5%, VMM +18.2%, Sasta Sundar +127.8%); each has a distinct root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execution (VMM), seasonal concentration (Wellness) — one intervention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FSN/Nykaa maintains near-parity flow despite modest July softness</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FSN/Nykaa versus Pan India | January–July 2026</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₹2.08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SS</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Pan India</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Pan India</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SEVEN-MONTH OFFTAKE TREND</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 face-wash and sunscreen availability, reverse the 4.6% June–July softness, and retain &gt;95% flow conversion as the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July ₹2.07 Cr vs June ₹2.17 Cr (-4.6%); 7-month trend Jan ₹1.64 Cr → Jul ₹2.07 Cr; Rice FW 100ml is top article at ₹0.27 Cr; 99.4% flow maintained throughout</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-4.6% MoM is article-level, not account-level; top 2 articles — Rice FW 100ml + 50ml combined ₹0.46 Cr — directly determine whether August recovers</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target for Rice FW 100ml and Ubtan FW to 100% on Nykaa; review article-level sellthrough in Nykaa SS before September reorder decision</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Audit listing, stock receipt, OSA and launch visibility before further loading.</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₹2.82 Cr NPI, 7.82% mix, 58/60 EANs billing; East leads NPI mix at 10.2%; zero-sellers: BBLUNT Cherry Red Hair Colour 130g + TDC Peptide Stem Cell Hair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Audit both zero-sellers: confirm store receipt, shelf visibility and scheme support by 28-Aug; no further NPI loading in same categories until these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conv); Reliance ₹7.61 Cr gap (51.4% conv); Apollo ₹0.02 Cr gap (99.7% conv); two chains account for 90.7% of national gap</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Apollo's 99.7% conversion in the same assortment window proves demand is real — DMart and Reliance gaps are execution deficits; closing 50% adds ~₹5.9 Cr monthly offtake</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Map Apollo's EAN selection and replenishment cadence; present as the DMart and Reliance execution playbook in the 31-Aug account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₹24.49 Cr at 73.4% conv; TDC ₹11.03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and TDC have nearly identical conversion — the same chain-zone-EAN fix applies to both brands simultaneously; BBlunt 35.2% is structural underperformance requiring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store-level demand; reconcile Aqualogica opening stock before September load; apply chain-zone-EAN exception fix to TDC in parallel with ME</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₹13.11 Cr national gap; 73.4% conversion vs &gt;90% target; North + East hold 70.5% of gap requiring week-by-week owner accountability</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Weekly scoreboard live from 22-Aug: North ZSM + East ZSM on gap metrics; KAMs on Hero-SKU OSA; Analytics on data exceptions; no exceptions to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