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drawings/drawing2.xml" ContentType="application/vnd.openxmlformats-officedocument.drawingml.chartshap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heme/themeOverride1.xml" ContentType="application/vnd.openxmlformats-officedocument.themeOverride+xml"/>
  <Override PartName="/ppt/charts/chart13.xml" ContentType="application/vnd.openxmlformats-officedocument.drawingml.chart+xml"/>
  <Override PartName="/ppt/theme/themeOverride2.xml" ContentType="application/vnd.openxmlformats-officedocument.themeOverride+xml"/>
  <Override PartName="/ppt/drawings/drawing3.xml" ContentType="application/vnd.openxmlformats-officedocument.drawingml.chartshapes+xml"/>
  <Override PartName="/ppt/charts/chart14.xml" ContentType="application/vnd.openxmlformats-officedocument.drawingml.chart+xml"/>
  <Override PartName="/ppt/theme/themeOverride3.xml" ContentType="application/vnd.openxmlformats-officedocument.themeOverride+xml"/>
  <Override PartName="/ppt/drawings/drawing4.xml" ContentType="application/vnd.openxmlformats-officedocument.drawingml.chartshap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5.xml" ContentType="application/vnd.openxmlformats-officedocument.drawingml.chart+xml"/>
  <Override PartName="/ppt/theme/themeOverride4.xml" ContentType="application/vnd.openxmlformats-officedocument.themeOverride+xml"/>
  <Override PartName="/ppt/charts/chart16.xml" ContentType="application/vnd.openxmlformats-officedocument.drawingml.chart+xml"/>
  <Override PartName="/ppt/theme/themeOverride5.xml" ContentType="application/vnd.openxmlformats-officedocument.themeOverride+xml"/>
  <Override PartName="/ppt/charts/chart17.xml" ContentType="application/vnd.openxmlformats-officedocument.drawingml.chart+xml"/>
  <Override PartName="/ppt/theme/themeOverride6.xml" ContentType="application/vnd.openxmlformats-officedocument.themeOverride+xml"/>
  <Override PartName="/ppt/drawings/drawing5.xml" ContentType="application/vnd.openxmlformats-officedocument.drawingml.chartshapes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93" r:id="rId30"/>
    <p:sldId id="258" r:id="rId3"/>
    <p:sldId id="269" r:id="rId4"/>
    <p:sldId id="276" r:id="rId5"/>
    <p:sldId id="290" r:id="rId6"/>
    <p:sldId id="291" r:id="rId7"/>
    <p:sldId id="292" r:id="rId8"/>
    <p:sldId id="277" r:id="rId9"/>
    <p:sldId id="278" r:id="rId10"/>
    <p:sldId id="270" r:id="rId11"/>
    <p:sldId id="271" r:id="rId12"/>
    <p:sldId id="272" r:id="rId13"/>
    <p:sldId id="273" r:id="rId14"/>
    <p:sldId id="274" r:id="rId15"/>
    <p:sldId id="275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6FBF8"/>
    <a:srgbClr val="289C83"/>
    <a:srgbClr val="1E7461"/>
    <a:srgbClr val="70F4BB"/>
    <a:srgbClr val="2DAD92"/>
    <a:srgbClr val="2EB094"/>
    <a:srgbClr val="6DD9C2"/>
    <a:srgbClr val="CC99FF"/>
    <a:srgbClr val="FFFF66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75446" autoAdjust="0"/>
  </p:normalViewPr>
  <p:slideViewPr>
    <p:cSldViewPr snapToGrid="0" snapToObjects="1">
      <p:cViewPr varScale="1">
        <p:scale>
          <a:sx n="42" d="100"/>
          <a:sy n="42" d="100"/>
        </p:scale>
        <p:origin x="2268" y="56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slide" Target="slides/slide24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3.xml"/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3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4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themeOverride" Target="../theme/themeOverride5.xml"/></Relationships>
</file>

<file path=ppt/charts/_rels/chart17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5.xml"/><Relationship Id="rId1" Type="http://schemas.openxmlformats.org/officeDocument/2006/relationships/themeOverride" Target="../theme/themeOverride6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3039</c:v>
                </c:pt>
                <c:pt idx="1">
                  <c:v>2761</c:v>
                </c:pt>
                <c:pt idx="2">
                  <c:v>3234</c:v>
                </c:pt>
                <c:pt idx="3">
                  <c:v>3589</c:v>
                </c:pt>
                <c:pt idx="4">
                  <c:v>4019</c:v>
                </c:pt>
                <c:pt idx="5">
                  <c:v>3652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967</c:v>
                </c:pt>
                <c:pt idx="1">
                  <c:v>928</c:v>
                </c:pt>
                <c:pt idx="2">
                  <c:v>1225</c:v>
                </c:pt>
                <c:pt idx="3">
                  <c:v>1257</c:v>
                </c:pt>
                <c:pt idx="4">
                  <c:v>1518</c:v>
                </c:pt>
                <c:pt idx="5">
                  <c:v>1412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899</c:v>
                </c:pt>
                <c:pt idx="1">
                  <c:v>756</c:v>
                </c:pt>
                <c:pt idx="2">
                  <c:v>804</c:v>
                </c:pt>
                <c:pt idx="3">
                  <c:v>867</c:v>
                </c:pt>
                <c:pt idx="4">
                  <c:v>990</c:v>
                </c:pt>
                <c:pt idx="5">
                  <c:v>947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Jan-26</c:v>
                </c:pt>
                <c:pt idx="1">
                  <c:v>Feb-26</c:v>
                </c:pt>
                <c:pt idx="2">
                  <c:v>Mar-26</c:v>
                </c:pt>
                <c:pt idx="3">
                  <c:v>Apr-26</c:v>
                </c:pt>
                <c:pt idx="4">
                  <c:v>May-26</c:v>
                </c:pt>
                <c:pt idx="5">
                  <c:v>Jun-26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534</c:v>
                </c:pt>
                <c:pt idx="1">
                  <c:v>512</c:v>
                </c:pt>
                <c:pt idx="2">
                  <c:v>570</c:v>
                </c:pt>
                <c:pt idx="3">
                  <c:v>699</c:v>
                </c:pt>
                <c:pt idx="4">
                  <c:v>752</c:v>
                </c:pt>
                <c:pt idx="5">
                  <c:v>599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1412</c:v>
                </c:pt>
                <c:pt idx="1">
                  <c:v>947</c:v>
                </c:pt>
                <c:pt idx="2">
                  <c:v>599</c:v>
                </c:pt>
                <c:pt idx="3">
                  <c:v>217</c:v>
                </c:pt>
                <c:pt idx="4">
                  <c:v>79</c:v>
                </c:pt>
                <c:pt idx="5">
                  <c:v>52</c:v>
                </c:pt>
                <c:pt idx="6">
                  <c:v>116</c:v>
                </c:pt>
                <c:pt idx="7">
                  <c:v>60</c:v>
                </c:pt>
                <c:pt idx="8">
                  <c:v>40</c:v>
                </c:pt>
                <c:pt idx="9">
                  <c:v>44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38.7</c:v>
                </c:pt>
                <c:pt idx="1">
                  <c:v>25.9</c:v>
                </c:pt>
                <c:pt idx="2">
                  <c:v>16.4</c:v>
                </c:pt>
                <c:pt idx="3">
                  <c:v>5.9</c:v>
                </c:pt>
                <c:pt idx="4">
                  <c:v>3.2</c:v>
                </c:pt>
                <c:pt idx="5">
                  <c:v>2.2</c:v>
                </c:pt>
                <c:pt idx="6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835</c:v>
                </c:pt>
                <c:pt idx="1">
                  <c:v>810</c:v>
                </c:pt>
                <c:pt idx="2">
                  <c:v>903</c:v>
                </c:pt>
                <c:pt idx="3">
                  <c:v>757</c:v>
                </c:pt>
                <c:pt idx="4">
                  <c:v>866</c:v>
                </c:pt>
                <c:pt idx="5">
                  <c:v>803</c:v>
                </c:pt>
                <c:pt idx="6">
                  <c:v>768</c:v>
                </c:pt>
                <c:pt idx="7">
                  <c:v>844</c:v>
                </c:pt>
                <c:pt idx="8">
                  <c:v>829</c:v>
                </c:pt>
                <c:pt idx="9">
                  <c:v>940</c:v>
                </c:pt>
                <c:pt idx="10">
                  <c:v>1005</c:v>
                </c:pt>
                <c:pt idx="11">
                  <c:v>1120</c:v>
                </c:pt>
                <c:pt idx="12">
                  <c:v>1103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491</c:v>
                </c:pt>
                <c:pt idx="1">
                  <c:v>510</c:v>
                </c:pt>
                <c:pt idx="2">
                  <c:v>634</c:v>
                </c:pt>
                <c:pt idx="3">
                  <c:v>489</c:v>
                </c:pt>
                <c:pt idx="4">
                  <c:v>602</c:v>
                </c:pt>
                <c:pt idx="5">
                  <c:v>534</c:v>
                </c:pt>
                <c:pt idx="6">
                  <c:v>631</c:v>
                </c:pt>
                <c:pt idx="7">
                  <c:v>700</c:v>
                </c:pt>
                <c:pt idx="8">
                  <c:v>569</c:v>
                </c:pt>
                <c:pt idx="9">
                  <c:v>631</c:v>
                </c:pt>
                <c:pt idx="10">
                  <c:v>716</c:v>
                </c:pt>
                <c:pt idx="11">
                  <c:v>788</c:v>
                </c:pt>
                <c:pt idx="12">
                  <c:v>652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120629355289873E-2"/>
          <c:y val="0.26949285491099939"/>
          <c:w val="0.91851889873353298"/>
          <c:h val="0.46159014040498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145</c:v>
                </c:pt>
                <c:pt idx="1">
                  <c:v>100</c:v>
                </c:pt>
                <c:pt idx="2">
                  <c:v>94</c:v>
                </c:pt>
                <c:pt idx="3">
                  <c:v>87</c:v>
                </c:pt>
                <c:pt idx="4">
                  <c:v>103</c:v>
                </c:pt>
                <c:pt idx="5">
                  <c:v>89</c:v>
                </c:pt>
                <c:pt idx="6">
                  <c:v>92</c:v>
                </c:pt>
                <c:pt idx="7">
                  <c:v>109</c:v>
                </c:pt>
                <c:pt idx="8">
                  <c:v>166</c:v>
                </c:pt>
                <c:pt idx="9">
                  <c:v>306</c:v>
                </c:pt>
                <c:pt idx="10">
                  <c:v>364</c:v>
                </c:pt>
                <c:pt idx="11">
                  <c:v>352</c:v>
                </c:pt>
                <c:pt idx="12">
                  <c:v>245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47</c:v>
                </c:pt>
                <c:pt idx="1">
                  <c:v>57</c:v>
                </c:pt>
                <c:pt idx="2">
                  <c:v>71</c:v>
                </c:pt>
                <c:pt idx="3">
                  <c:v>74</c:v>
                </c:pt>
                <c:pt idx="4">
                  <c:v>90</c:v>
                </c:pt>
                <c:pt idx="5">
                  <c:v>105</c:v>
                </c:pt>
                <c:pt idx="6">
                  <c:v>170</c:v>
                </c:pt>
                <c:pt idx="7">
                  <c:v>307</c:v>
                </c:pt>
                <c:pt idx="8">
                  <c:v>281</c:v>
                </c:pt>
                <c:pt idx="9">
                  <c:v>340</c:v>
                </c:pt>
                <c:pt idx="10">
                  <c:v>405</c:v>
                </c:pt>
                <c:pt idx="11">
                  <c:v>557</c:v>
                </c:pt>
                <c:pt idx="12">
                  <c:v>602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85</c:v>
                </c:pt>
                <c:pt idx="1">
                  <c:v>72</c:v>
                </c:pt>
                <c:pt idx="2">
                  <c:v>77</c:v>
                </c:pt>
                <c:pt idx="3">
                  <c:v>75</c:v>
                </c:pt>
                <c:pt idx="4">
                  <c:v>84</c:v>
                </c:pt>
                <c:pt idx="5">
                  <c:v>89</c:v>
                </c:pt>
                <c:pt idx="6">
                  <c:v>104</c:v>
                </c:pt>
                <c:pt idx="7">
                  <c:v>124</c:v>
                </c:pt>
                <c:pt idx="8">
                  <c:v>135</c:v>
                </c:pt>
                <c:pt idx="9">
                  <c:v>245</c:v>
                </c:pt>
                <c:pt idx="10">
                  <c:v>334</c:v>
                </c:pt>
                <c:pt idx="11">
                  <c:v>429</c:v>
                </c:pt>
                <c:pt idx="12">
                  <c:v>296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61</c:v>
                </c:pt>
                <c:pt idx="1">
                  <c:v>64</c:v>
                </c:pt>
                <c:pt idx="2">
                  <c:v>71</c:v>
                </c:pt>
                <c:pt idx="3">
                  <c:v>57</c:v>
                </c:pt>
                <c:pt idx="4">
                  <c:v>70</c:v>
                </c:pt>
                <c:pt idx="5">
                  <c:v>76</c:v>
                </c:pt>
                <c:pt idx="6">
                  <c:v>92</c:v>
                </c:pt>
                <c:pt idx="7">
                  <c:v>93</c:v>
                </c:pt>
                <c:pt idx="8">
                  <c:v>79</c:v>
                </c:pt>
                <c:pt idx="9">
                  <c:v>81</c:v>
                </c:pt>
                <c:pt idx="10">
                  <c:v>96</c:v>
                </c:pt>
                <c:pt idx="11">
                  <c:v>92</c:v>
                </c:pt>
                <c:pt idx="12">
                  <c:v>92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  <c:userShapes r:id="rId2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385</c:v>
                </c:pt>
                <c:pt idx="1">
                  <c:v>827</c:v>
                </c:pt>
                <c:pt idx="2">
                  <c:v>741</c:v>
                </c:pt>
                <c:pt idx="3">
                  <c:v>517</c:v>
                </c:pt>
                <c:pt idx="4">
                  <c:v>963</c:v>
                </c:pt>
                <c:pt idx="5">
                  <c:v>217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10.5</c:v>
                </c:pt>
                <c:pt idx="1">
                  <c:v>22.7</c:v>
                </c:pt>
                <c:pt idx="2">
                  <c:v>20.3</c:v>
                </c:pt>
                <c:pt idx="3">
                  <c:v>14.2</c:v>
                </c:pt>
                <c:pt idx="4">
                  <c:v>26.4</c:v>
                </c:pt>
                <c:pt idx="5">
                  <c:v>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52229425220965E-2"/>
          <c:y val="5.6173665425582227E-2"/>
          <c:w val="0.69038886511817699"/>
          <c:h val="0.82429428996692233"/>
        </c:manualLayout>
      </c:layout>
      <c:lineChart>
        <c:grouping val="standard"/>
        <c:varyColors val="1"/>
        <c:ser>
          <c:idx val="0"/>
          <c:order val="0"/>
          <c:tx>
            <c:v>Lulu</c:v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Dashboard!$B$11:$B$13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0.08</c:v>
                </c:pt>
                <c:pt idx="2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F-4B77-9B19-01F911A5DCDF}"/>
            </c:ext>
          </c:extLst>
        </c:ser>
        <c:ser>
          <c:idx val="1"/>
          <c:order val="1"/>
          <c:tx>
            <c:v>MRL</c:v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Dashboard!$C$11:$C$13</c:f>
              <c:numCache>
                <c:formatCode>0%</c:formatCode>
                <c:ptCount val="3"/>
                <c:pt idx="0">
                  <c:v>0.08</c:v>
                </c:pt>
                <c:pt idx="1">
                  <c:v>0.11</c:v>
                </c:pt>
                <c:pt idx="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9F-4B77-9B19-01F911A5DCDF}"/>
            </c:ext>
          </c:extLst>
        </c:ser>
        <c:ser>
          <c:idx val="2"/>
          <c:order val="2"/>
          <c:tx>
            <c:v>Wellness</c:v>
          </c:tx>
          <c:marker>
            <c:spPr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74000">
                    <a:srgbClr val="4472C4">
                      <a:lumMod val="45000"/>
                      <a:lumOff val="55000"/>
                    </a:srgbClr>
                  </a:gs>
                  <a:gs pos="83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</c:spPr>
          </c:marker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Dashboard!$D$11:$D$13</c:f>
              <c:numCache>
                <c:formatCode>0%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9F-4B77-9B19-01F911A5DCDF}"/>
            </c:ext>
          </c:extLst>
        </c:ser>
        <c:ser>
          <c:idx val="3"/>
          <c:order val="3"/>
          <c:tx>
            <c:v>Reliance</c:v>
          </c:tx>
          <c:dLbls>
            <c:dLbl>
              <c:idx val="0"/>
              <c:layout>
                <c:manualLayout>
                  <c:x val="-6.5825517943514128E-2"/>
                  <c:y val="-3.04171479828373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9F-4B77-9B19-01F911A5DCDF}"/>
                </c:ext>
              </c:extLst>
            </c:dLbl>
            <c:dLbl>
              <c:idx val="1"/>
              <c:layout>
                <c:manualLayout>
                  <c:x val="-4.0962337986315982E-2"/>
                  <c:y val="-6.6184356962378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Dashboard!$E$11:$E$13</c:f>
              <c:numCache>
                <c:formatCode>0%</c:formatCode>
                <c:ptCount val="3"/>
                <c:pt idx="0">
                  <c:v>0.20718442854754462</c:v>
                </c:pt>
                <c:pt idx="1">
                  <c:v>0.21346265967674624</c:v>
                </c:pt>
                <c:pt idx="2">
                  <c:v>0.22339169185102428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9F-4B77-9B19-01F911A5DC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tr"/>
      <c:layout>
        <c:manualLayout>
          <c:xMode val="edge"/>
          <c:yMode val="edge"/>
          <c:x val="0.74452294917720518"/>
          <c:y val="7.1534417959081747E-2"/>
          <c:w val="0.23342472603893366"/>
          <c:h val="0.85442886761110248"/>
        </c:manualLayout>
      </c:layout>
      <c:overlay val="1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0958371378232746"/>
          <c:y val="5.6173665425582227E-2"/>
          <c:w val="0.69041628621767259"/>
          <c:h val="0.53270627501883594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4.6311155723487991E-2</c:v>
                </c:pt>
                <c:pt idx="1">
                  <c:v>4.4976938700190712E-2</c:v>
                </c:pt>
                <c:pt idx="2">
                  <c:v>4.7376640891140534E-2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7-44C3-8A13-EEEB00F24211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6.1744745065556897E-2</c:v>
                </c:pt>
                <c:pt idx="1">
                  <c:v>7.2711451374257635E-2</c:v>
                </c:pt>
                <c:pt idx="2">
                  <c:v>7.3387497920415143E-2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7-44C3-8A13-EEEB00F24211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5.8944655595081497E-2</c:v>
                </c:pt>
                <c:pt idx="1">
                  <c:v>5.7601116285340231E-2</c:v>
                </c:pt>
                <c:pt idx="2">
                  <c:v>5.1344642247961876E-2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7-44C3-8A13-EEEB00F24211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0.35391615456625536</c:v>
                </c:pt>
                <c:pt idx="1">
                  <c:v>0.43728303003840074</c:v>
                </c:pt>
                <c:pt idx="2">
                  <c:v>0.65795151650330852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7-44C3-8A13-EEEB00F2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-0.2"/>
        </c:scaling>
        <c:delete val="1"/>
        <c:axPos val="l"/>
        <c:numFmt formatCode="0%" sourceLinked="0"/>
        <c:majorTickMark val="out"/>
        <c:minorTickMark val="none"/>
        <c:tickLblPos val="nextTo"/>
        <c:crossAx val="48650112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solidFill>
          <a:sysClr val="window" lastClr="FFFFFF"/>
        </a:solidFill>
        <a:ln w="19050">
          <a:noFill/>
          <a:prstDash val="solid"/>
        </a:ln>
        <a:effectLst/>
      </c:spPr>
    </c:plotArea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46084568085421E-2"/>
          <c:y val="0.12760314498958977"/>
          <c:w val="0.74919495968214544"/>
          <c:h val="0.75260349779893998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7.8940184297406624E-2</c:v>
                </c:pt>
                <c:pt idx="1">
                  <c:v>9.1252676264604593E-2</c:v>
                </c:pt>
                <c:pt idx="2">
                  <c:v>9.2900024160010891E-2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CDE-BCA3-79E0AAF2B8B6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B-4CDE-BCA3-79E0AAF2B8B6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0.21648335126659687</c:v>
                </c:pt>
                <c:pt idx="1">
                  <c:v>0.18565398116611648</c:v>
                </c:pt>
                <c:pt idx="2">
                  <c:v>0.25308976853615012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B-4CDE-BCA3-79E0AAF2B8B6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0.30105733370847576</c:v>
                </c:pt>
                <c:pt idx="1">
                  <c:v>0.34729910332316388</c:v>
                </c:pt>
                <c:pt idx="2">
                  <c:v>0.33479432523501801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0B-4CDE-BCA3-79E0AAF2B8B6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0.19217005110269872</c:v>
                </c:pt>
                <c:pt idx="1">
                  <c:v>0.19216297920895509</c:v>
                </c:pt>
                <c:pt idx="2">
                  <c:v>0.22397644885676518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0B-4CDE-BCA3-79E0AAF2B8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1.53</c:v>
                </c:pt>
                <c:pt idx="2">
                  <c:v>0.45</c:v>
                </c:pt>
                <c:pt idx="4">
                  <c:v>45.86</c:v>
                </c:pt>
                <c:pt idx="6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B-488A-8575-5BF1DC4FA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Leader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103.48</c:v>
                </c:pt>
                <c:pt idx="1">
                  <c:v>59.59</c:v>
                </c:pt>
                <c:pt idx="2">
                  <c:v>59.4</c:v>
                </c:pt>
                <c:pt idx="3">
                  <c:v>55</c:v>
                </c:pt>
                <c:pt idx="4">
                  <c:v>45.86</c:v>
                </c:pt>
                <c:pt idx="5">
                  <c:v>51.61</c:v>
                </c:pt>
                <c:pt idx="6">
                  <c:v>12.76</c:v>
                </c:pt>
                <c:pt idx="7">
                  <c:v>31.18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B-488A-8575-5BF1DC4FA4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solidFill>
        <a:sysClr val="windowText" lastClr="000000"/>
      </a:solidFill>
    </a:ln>
    <a:effectLst/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Face Wash MS %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5.7</c:v>
                </c:pt>
                <c:pt idx="1">
                  <c:v>8.2100000000000009</c:v>
                </c:pt>
                <c:pt idx="2">
                  <c:v>7.32</c:v>
                </c:pt>
                <c:pt idx="3">
                  <c:v>8.1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DB12-4983-9EB2-8FB665154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21825"/>
        <c:axId val="75681990"/>
      </c:barChart>
      <c:catAx>
        <c:axId val="15121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95959"/>
                </a:solidFill>
                <a:uFillTx/>
                <a:latin typeface="Arial"/>
              </a:defRPr>
            </a:pPr>
            <a:endParaRPr lang="en-US"/>
          </a:p>
        </c:txPr>
        <c:crossAx val="75681990"/>
        <c:crosses val="autoZero"/>
        <c:auto val="1"/>
        <c:lblAlgn val="ctr"/>
        <c:lblOffset val="100"/>
        <c:noMultiLvlLbl val="0"/>
      </c:catAx>
      <c:valAx>
        <c:axId val="75681990"/>
        <c:scaling>
          <c:orientation val="minMax"/>
          <c:max val="9.5"/>
        </c:scaling>
        <c:delete val="1"/>
        <c:axPos val="l"/>
        <c:numFmt formatCode="General" sourceLinked="1"/>
        <c:majorTickMark val="out"/>
        <c:minorTickMark val="none"/>
        <c:tickLblPos val="nextTo"/>
        <c:crossAx val="15121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0">
      <a:solidFill>
        <a:sysClr val="windowText" lastClr="000000"/>
      </a:solidFill>
    </a:ln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Shampoo MS %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1E276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5E94-4461-9F6A-C9E07ACD51E8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5E94-4461-9F6A-C9E07ACD51E8}"/>
              </c:ext>
            </c:extLst>
          </c:dPt>
          <c:dPt>
            <c:idx val="2"/>
            <c:bubble3D val="0"/>
            <c:spPr>
              <a:solidFill>
                <a:srgbClr val="D9760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5E94-4461-9F6A-C9E07ACD51E8}"/>
              </c:ext>
            </c:extLst>
          </c:dPt>
          <c:dPt>
            <c:idx val="3"/>
            <c:bubble3D val="0"/>
            <c:spPr>
              <a:solidFill>
                <a:srgbClr val="1F7A3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5E94-4461-9F6A-C9E07ACD51E8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4-4461-9F6A-C9E07ACD51E8}"/>
                </c:ext>
              </c:extLst>
            </c:dLbl>
            <c:dLbl>
              <c:idx val="1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4-4461-9F6A-C9E07ACD51E8}"/>
                </c:ext>
              </c:extLst>
            </c:dLbl>
            <c:dLbl>
              <c:idx val="2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4-4461-9F6A-C9E07ACD51E8}"/>
                </c:ext>
              </c:extLst>
            </c:dLbl>
            <c:dLbl>
              <c:idx val="3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4-4461-9F6A-C9E07ACD5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2.99</c:v>
                </c:pt>
                <c:pt idx="1">
                  <c:v>2.19</c:v>
                </c:pt>
                <c:pt idx="2">
                  <c:v>3.08</c:v>
                </c:pt>
                <c:pt idx="3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4-4461-9F6A-C9E07ACD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ysClr val="windowText" lastClr="000000"/>
      </a:solidFill>
    </a:ln>
  </c:spPr>
  <c:userShapes r:id="rId2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103</c:v>
                </c:pt>
                <c:pt idx="3">
                  <c:v>81</c:v>
                </c:pt>
                <c:pt idx="4">
                  <c:v>80</c:v>
                </c:pt>
                <c:pt idx="5">
                  <c:v>80</c:v>
                </c:pt>
                <c:pt idx="6">
                  <c:v>82</c:v>
                </c:pt>
                <c:pt idx="7">
                  <c:v>108</c:v>
                </c:pt>
                <c:pt idx="8">
                  <c:v>98</c:v>
                </c:pt>
                <c:pt idx="9">
                  <c:v>118</c:v>
                </c:pt>
                <c:pt idx="10">
                  <c:v>122</c:v>
                </c:pt>
                <c:pt idx="11">
                  <c:v>134</c:v>
                </c:pt>
                <c:pt idx="12">
                  <c:v>126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</c:v>
                </c:pt>
                <c:pt idx="1">
                  <c:v>61</c:v>
                </c:pt>
                <c:pt idx="2">
                  <c:v>99</c:v>
                </c:pt>
                <c:pt idx="3">
                  <c:v>63</c:v>
                </c:pt>
                <c:pt idx="4">
                  <c:v>66</c:v>
                </c:pt>
                <c:pt idx="5">
                  <c:v>67</c:v>
                </c:pt>
                <c:pt idx="6">
                  <c:v>88</c:v>
                </c:pt>
                <c:pt idx="7">
                  <c:v>104</c:v>
                </c:pt>
                <c:pt idx="8">
                  <c:v>71</c:v>
                </c:pt>
                <c:pt idx="9">
                  <c:v>77</c:v>
                </c:pt>
                <c:pt idx="10">
                  <c:v>107</c:v>
                </c:pt>
                <c:pt idx="11">
                  <c:v>122</c:v>
                </c:pt>
                <c:pt idx="12">
                  <c:v>110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16</c:v>
                </c:pt>
                <c:pt idx="9">
                  <c:v>19</c:v>
                </c:pt>
                <c:pt idx="10">
                  <c:v>30</c:v>
                </c:pt>
                <c:pt idx="11">
                  <c:v>36</c:v>
                </c:pt>
                <c:pt idx="12">
                  <c:v>25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12</c:v>
                </c:pt>
                <c:pt idx="10">
                  <c:v>17</c:v>
                </c:pt>
                <c:pt idx="11">
                  <c:v>18</c:v>
                </c:pt>
                <c:pt idx="12">
                  <c:v>22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7</c:v>
                </c:pt>
                <c:pt idx="9">
                  <c:v>10</c:v>
                </c:pt>
                <c:pt idx="10">
                  <c:v>15</c:v>
                </c:pt>
                <c:pt idx="11">
                  <c:v>18</c:v>
                </c:pt>
                <c:pt idx="12">
                  <c:v>14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11</c:v>
                </c:pt>
                <c:pt idx="8">
                  <c:v>6</c:v>
                </c:pt>
                <c:pt idx="9">
                  <c:v>5</c:v>
                </c:pt>
                <c:pt idx="10">
                  <c:v>6</c:v>
                </c:pt>
                <c:pt idx="11">
                  <c:v>7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191</c:v>
                </c:pt>
                <c:pt idx="1">
                  <c:v>187</c:v>
                </c:pt>
                <c:pt idx="2">
                  <c:v>227</c:v>
                </c:pt>
                <c:pt idx="3">
                  <c:v>177</c:v>
                </c:pt>
                <c:pt idx="4">
                  <c:v>199</c:v>
                </c:pt>
                <c:pt idx="5">
                  <c:v>182</c:v>
                </c:pt>
                <c:pt idx="6">
                  <c:v>181</c:v>
                </c:pt>
                <c:pt idx="7">
                  <c:v>198</c:v>
                </c:pt>
                <c:pt idx="8">
                  <c:v>195</c:v>
                </c:pt>
                <c:pt idx="9">
                  <c:v>230</c:v>
                </c:pt>
                <c:pt idx="10">
                  <c:v>247</c:v>
                </c:pt>
                <c:pt idx="11">
                  <c:v>266</c:v>
                </c:pt>
                <c:pt idx="12">
                  <c:v>246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102</c:v>
                </c:pt>
                <c:pt idx="1">
                  <c:v>115</c:v>
                </c:pt>
                <c:pt idx="2">
                  <c:v>159</c:v>
                </c:pt>
                <c:pt idx="3">
                  <c:v>109</c:v>
                </c:pt>
                <c:pt idx="4">
                  <c:v>136</c:v>
                </c:pt>
                <c:pt idx="5">
                  <c:v>119</c:v>
                </c:pt>
                <c:pt idx="6">
                  <c:v>146</c:v>
                </c:pt>
                <c:pt idx="7">
                  <c:v>171</c:v>
                </c:pt>
                <c:pt idx="8">
                  <c:v>134</c:v>
                </c:pt>
                <c:pt idx="9">
                  <c:v>146</c:v>
                </c:pt>
                <c:pt idx="10">
                  <c:v>176</c:v>
                </c:pt>
                <c:pt idx="11">
                  <c:v>189</c:v>
                </c:pt>
                <c:pt idx="12">
                  <c:v>149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45</c:v>
                </c:pt>
                <c:pt idx="1">
                  <c:v>26</c:v>
                </c:pt>
                <c:pt idx="2">
                  <c:v>23</c:v>
                </c:pt>
                <c:pt idx="3">
                  <c:v>21</c:v>
                </c:pt>
                <c:pt idx="4">
                  <c:v>23</c:v>
                </c:pt>
                <c:pt idx="5">
                  <c:v>20</c:v>
                </c:pt>
                <c:pt idx="6">
                  <c:v>22</c:v>
                </c:pt>
                <c:pt idx="7">
                  <c:v>22</c:v>
                </c:pt>
                <c:pt idx="8">
                  <c:v>40</c:v>
                </c:pt>
                <c:pt idx="9">
                  <c:v>72</c:v>
                </c:pt>
                <c:pt idx="10">
                  <c:v>86</c:v>
                </c:pt>
                <c:pt idx="11">
                  <c:v>89</c:v>
                </c:pt>
                <c:pt idx="12">
                  <c:v>65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12</c:v>
                </c:pt>
                <c:pt idx="2">
                  <c:v>18</c:v>
                </c:pt>
                <c:pt idx="3">
                  <c:v>21</c:v>
                </c:pt>
                <c:pt idx="4">
                  <c:v>27</c:v>
                </c:pt>
                <c:pt idx="5">
                  <c:v>29</c:v>
                </c:pt>
                <c:pt idx="6">
                  <c:v>43</c:v>
                </c:pt>
                <c:pt idx="7">
                  <c:v>67</c:v>
                </c:pt>
                <c:pt idx="8">
                  <c:v>63</c:v>
                </c:pt>
                <c:pt idx="9">
                  <c:v>84</c:v>
                </c:pt>
                <c:pt idx="10">
                  <c:v>94</c:v>
                </c:pt>
                <c:pt idx="11">
                  <c:v>132</c:v>
                </c:pt>
                <c:pt idx="12">
                  <c:v>143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12</c:v>
                </c:pt>
                <c:pt idx="2">
                  <c:v>13</c:v>
                </c:pt>
                <c:pt idx="3">
                  <c:v>11</c:v>
                </c:pt>
                <c:pt idx="4">
                  <c:v>15</c:v>
                </c:pt>
                <c:pt idx="5">
                  <c:v>14</c:v>
                </c:pt>
                <c:pt idx="6">
                  <c:v>17</c:v>
                </c:pt>
                <c:pt idx="7">
                  <c:v>18</c:v>
                </c:pt>
                <c:pt idx="8">
                  <c:v>26</c:v>
                </c:pt>
                <c:pt idx="9">
                  <c:v>54</c:v>
                </c:pt>
                <c:pt idx="10">
                  <c:v>68</c:v>
                </c:pt>
                <c:pt idx="11">
                  <c:v>92</c:v>
                </c:pt>
                <c:pt idx="12">
                  <c:v>69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10</c:v>
                </c:pt>
                <c:pt idx="3">
                  <c:v>7</c:v>
                </c:pt>
                <c:pt idx="4">
                  <c:v>10</c:v>
                </c:pt>
                <c:pt idx="5">
                  <c:v>10</c:v>
                </c:pt>
                <c:pt idx="6">
                  <c:v>13</c:v>
                </c:pt>
                <c:pt idx="7">
                  <c:v>14</c:v>
                </c:pt>
                <c:pt idx="8">
                  <c:v>12</c:v>
                </c:pt>
                <c:pt idx="9">
                  <c:v>15</c:v>
                </c:pt>
                <c:pt idx="10">
                  <c:v>17</c:v>
                </c:pt>
                <c:pt idx="11">
                  <c:v>16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123</c:v>
                </c:pt>
                <c:pt idx="1">
                  <c:v>119</c:v>
                </c:pt>
                <c:pt idx="2">
                  <c:v>145</c:v>
                </c:pt>
                <c:pt idx="3">
                  <c:v>128</c:v>
                </c:pt>
                <c:pt idx="4">
                  <c:v>137</c:v>
                </c:pt>
                <c:pt idx="5">
                  <c:v>126</c:v>
                </c:pt>
                <c:pt idx="6">
                  <c:v>129</c:v>
                </c:pt>
                <c:pt idx="7">
                  <c:v>138</c:v>
                </c:pt>
                <c:pt idx="8">
                  <c:v>137</c:v>
                </c:pt>
                <c:pt idx="9">
                  <c:v>144</c:v>
                </c:pt>
                <c:pt idx="10">
                  <c:v>161</c:v>
                </c:pt>
                <c:pt idx="11">
                  <c:v>189</c:v>
                </c:pt>
                <c:pt idx="12">
                  <c:v>171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104</c:v>
                </c:pt>
                <c:pt idx="1">
                  <c:v>108</c:v>
                </c:pt>
                <c:pt idx="2">
                  <c:v>128</c:v>
                </c:pt>
                <c:pt idx="3">
                  <c:v>109</c:v>
                </c:pt>
                <c:pt idx="4">
                  <c:v>124</c:v>
                </c:pt>
                <c:pt idx="5">
                  <c:v>107</c:v>
                </c:pt>
                <c:pt idx="6">
                  <c:v>125</c:v>
                </c:pt>
                <c:pt idx="7">
                  <c:v>143</c:v>
                </c:pt>
                <c:pt idx="8">
                  <c:v>119</c:v>
                </c:pt>
                <c:pt idx="9">
                  <c:v>130</c:v>
                </c:pt>
                <c:pt idx="10">
                  <c:v>138</c:v>
                </c:pt>
                <c:pt idx="11">
                  <c:v>170</c:v>
                </c:pt>
                <c:pt idx="12">
                  <c:v>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23</c:v>
                </c:pt>
                <c:pt idx="1">
                  <c:v>20</c:v>
                </c:pt>
                <c:pt idx="2">
                  <c:v>21</c:v>
                </c:pt>
                <c:pt idx="3">
                  <c:v>21</c:v>
                </c:pt>
                <c:pt idx="4">
                  <c:v>22</c:v>
                </c:pt>
                <c:pt idx="5">
                  <c:v>20</c:v>
                </c:pt>
                <c:pt idx="6">
                  <c:v>22</c:v>
                </c:pt>
                <c:pt idx="7">
                  <c:v>28</c:v>
                </c:pt>
                <c:pt idx="8">
                  <c:v>32</c:v>
                </c:pt>
                <c:pt idx="9">
                  <c:v>51</c:v>
                </c:pt>
                <c:pt idx="10">
                  <c:v>70</c:v>
                </c:pt>
                <c:pt idx="11">
                  <c:v>70</c:v>
                </c:pt>
                <c:pt idx="12">
                  <c:v>53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17</c:v>
                </c:pt>
                <c:pt idx="2">
                  <c:v>20</c:v>
                </c:pt>
                <c:pt idx="3">
                  <c:v>20</c:v>
                </c:pt>
                <c:pt idx="4">
                  <c:v>23</c:v>
                </c:pt>
                <c:pt idx="5">
                  <c:v>30</c:v>
                </c:pt>
                <c:pt idx="6">
                  <c:v>45</c:v>
                </c:pt>
                <c:pt idx="7">
                  <c:v>68</c:v>
                </c:pt>
                <c:pt idx="8">
                  <c:v>58</c:v>
                </c:pt>
                <c:pt idx="9">
                  <c:v>65</c:v>
                </c:pt>
                <c:pt idx="10">
                  <c:v>85</c:v>
                </c:pt>
                <c:pt idx="11">
                  <c:v>116</c:v>
                </c:pt>
                <c:pt idx="12">
                  <c:v>117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30</c:v>
                </c:pt>
                <c:pt idx="1">
                  <c:v>29</c:v>
                </c:pt>
                <c:pt idx="2">
                  <c:v>31</c:v>
                </c:pt>
                <c:pt idx="3">
                  <c:v>33</c:v>
                </c:pt>
                <c:pt idx="4">
                  <c:v>28</c:v>
                </c:pt>
                <c:pt idx="5">
                  <c:v>31</c:v>
                </c:pt>
                <c:pt idx="6">
                  <c:v>40</c:v>
                </c:pt>
                <c:pt idx="7">
                  <c:v>48</c:v>
                </c:pt>
                <c:pt idx="8">
                  <c:v>40</c:v>
                </c:pt>
                <c:pt idx="9">
                  <c:v>72</c:v>
                </c:pt>
                <c:pt idx="10">
                  <c:v>115</c:v>
                </c:pt>
                <c:pt idx="11">
                  <c:v>131</c:v>
                </c:pt>
                <c:pt idx="12">
                  <c:v>93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20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27</c:v>
                </c:pt>
                <c:pt idx="7">
                  <c:v>28</c:v>
                </c:pt>
                <c:pt idx="8">
                  <c:v>24</c:v>
                </c:pt>
                <c:pt idx="9">
                  <c:v>25</c:v>
                </c:pt>
                <c:pt idx="10">
                  <c:v>28</c:v>
                </c:pt>
                <c:pt idx="11">
                  <c:v>30</c:v>
                </c:pt>
                <c:pt idx="12">
                  <c:v>31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108</c:v>
                </c:pt>
                <c:pt idx="1">
                  <c:v>102</c:v>
                </c:pt>
                <c:pt idx="2">
                  <c:v>98</c:v>
                </c:pt>
                <c:pt idx="3">
                  <c:v>87</c:v>
                </c:pt>
                <c:pt idx="4">
                  <c:v>100</c:v>
                </c:pt>
                <c:pt idx="5">
                  <c:v>93</c:v>
                </c:pt>
                <c:pt idx="6">
                  <c:v>91</c:v>
                </c:pt>
                <c:pt idx="7">
                  <c:v>104</c:v>
                </c:pt>
                <c:pt idx="8">
                  <c:v>101</c:v>
                </c:pt>
                <c:pt idx="9">
                  <c:v>115</c:v>
                </c:pt>
                <c:pt idx="10">
                  <c:v>123</c:v>
                </c:pt>
                <c:pt idx="11">
                  <c:v>145</c:v>
                </c:pt>
                <c:pt idx="12">
                  <c:v>156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81</c:v>
                </c:pt>
                <c:pt idx="1">
                  <c:v>80</c:v>
                </c:pt>
                <c:pt idx="2">
                  <c:v>84</c:v>
                </c:pt>
                <c:pt idx="3">
                  <c:v>74</c:v>
                </c:pt>
                <c:pt idx="4">
                  <c:v>95</c:v>
                </c:pt>
                <c:pt idx="5">
                  <c:v>87</c:v>
                </c:pt>
                <c:pt idx="6">
                  <c:v>104</c:v>
                </c:pt>
                <c:pt idx="7">
                  <c:v>108</c:v>
                </c:pt>
                <c:pt idx="8">
                  <c:v>92</c:v>
                </c:pt>
                <c:pt idx="9">
                  <c:v>103</c:v>
                </c:pt>
                <c:pt idx="10">
                  <c:v>112</c:v>
                </c:pt>
                <c:pt idx="11">
                  <c:v>119</c:v>
                </c:pt>
                <c:pt idx="12">
                  <c:v>105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12</c:v>
                </c:pt>
                <c:pt idx="2">
                  <c:v>11</c:v>
                </c:pt>
                <c:pt idx="3">
                  <c:v>10</c:v>
                </c:pt>
                <c:pt idx="4">
                  <c:v>11</c:v>
                </c:pt>
                <c:pt idx="5">
                  <c:v>9</c:v>
                </c:pt>
                <c:pt idx="6">
                  <c:v>9</c:v>
                </c:pt>
                <c:pt idx="7">
                  <c:v>12</c:v>
                </c:pt>
                <c:pt idx="8">
                  <c:v>14</c:v>
                </c:pt>
                <c:pt idx="9">
                  <c:v>31</c:v>
                </c:pt>
                <c:pt idx="10">
                  <c:v>38</c:v>
                </c:pt>
                <c:pt idx="11">
                  <c:v>40</c:v>
                </c:pt>
                <c:pt idx="12">
                  <c:v>28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7</c:v>
                </c:pt>
                <c:pt idx="6">
                  <c:v>14</c:v>
                </c:pt>
                <c:pt idx="7">
                  <c:v>28</c:v>
                </c:pt>
                <c:pt idx="8">
                  <c:v>21</c:v>
                </c:pt>
                <c:pt idx="9">
                  <c:v>29</c:v>
                </c:pt>
                <c:pt idx="10">
                  <c:v>42</c:v>
                </c:pt>
                <c:pt idx="11">
                  <c:v>62</c:v>
                </c:pt>
                <c:pt idx="12">
                  <c:v>66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8</c:v>
                </c:pt>
                <c:pt idx="5">
                  <c:v>9</c:v>
                </c:pt>
                <c:pt idx="6">
                  <c:v>13</c:v>
                </c:pt>
                <c:pt idx="7">
                  <c:v>17</c:v>
                </c:pt>
                <c:pt idx="8">
                  <c:v>15</c:v>
                </c:pt>
                <c:pt idx="9">
                  <c:v>25</c:v>
                </c:pt>
                <c:pt idx="10">
                  <c:v>35</c:v>
                </c:pt>
                <c:pt idx="11">
                  <c:v>57</c:v>
                </c:pt>
                <c:pt idx="12">
                  <c:v>35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8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258</c:v>
                </c:pt>
                <c:pt idx="1">
                  <c:v>229</c:v>
                </c:pt>
                <c:pt idx="2">
                  <c:v>257</c:v>
                </c:pt>
                <c:pt idx="3">
                  <c:v>216</c:v>
                </c:pt>
                <c:pt idx="4">
                  <c:v>287</c:v>
                </c:pt>
                <c:pt idx="5">
                  <c:v>248</c:v>
                </c:pt>
                <c:pt idx="6">
                  <c:v>217</c:v>
                </c:pt>
                <c:pt idx="7">
                  <c:v>225</c:v>
                </c:pt>
                <c:pt idx="8">
                  <c:v>224</c:v>
                </c:pt>
                <c:pt idx="9">
                  <c:v>260</c:v>
                </c:pt>
                <c:pt idx="10">
                  <c:v>259</c:v>
                </c:pt>
                <c:pt idx="11">
                  <c:v>290</c:v>
                </c:pt>
                <c:pt idx="12">
                  <c:v>296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133</c:v>
                </c:pt>
                <c:pt idx="1">
                  <c:v>128</c:v>
                </c:pt>
                <c:pt idx="2">
                  <c:v>149</c:v>
                </c:pt>
                <c:pt idx="3">
                  <c:v>120</c:v>
                </c:pt>
                <c:pt idx="4">
                  <c:v>168</c:v>
                </c:pt>
                <c:pt idx="5">
                  <c:v>140</c:v>
                </c:pt>
                <c:pt idx="6">
                  <c:v>155</c:v>
                </c:pt>
                <c:pt idx="7">
                  <c:v>162</c:v>
                </c:pt>
                <c:pt idx="8">
                  <c:v>142</c:v>
                </c:pt>
                <c:pt idx="9">
                  <c:v>164</c:v>
                </c:pt>
                <c:pt idx="10">
                  <c:v>169</c:v>
                </c:pt>
                <c:pt idx="11">
                  <c:v>175</c:v>
                </c:pt>
                <c:pt idx="12">
                  <c:v>176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34</c:v>
                </c:pt>
                <c:pt idx="1">
                  <c:v>19</c:v>
                </c:pt>
                <c:pt idx="2">
                  <c:v>20</c:v>
                </c:pt>
                <c:pt idx="3">
                  <c:v>18</c:v>
                </c:pt>
                <c:pt idx="4">
                  <c:v>30</c:v>
                </c:pt>
                <c:pt idx="5">
                  <c:v>21</c:v>
                </c:pt>
                <c:pt idx="6">
                  <c:v>20</c:v>
                </c:pt>
                <c:pt idx="7">
                  <c:v>23</c:v>
                </c:pt>
                <c:pt idx="8">
                  <c:v>45</c:v>
                </c:pt>
                <c:pt idx="9">
                  <c:v>107</c:v>
                </c:pt>
                <c:pt idx="10">
                  <c:v>103</c:v>
                </c:pt>
                <c:pt idx="11">
                  <c:v>88</c:v>
                </c:pt>
                <c:pt idx="12">
                  <c:v>50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18</c:v>
                </c:pt>
                <c:pt idx="3">
                  <c:v>18</c:v>
                </c:pt>
                <c:pt idx="4">
                  <c:v>24</c:v>
                </c:pt>
                <c:pt idx="5">
                  <c:v>25</c:v>
                </c:pt>
                <c:pt idx="6">
                  <c:v>52</c:v>
                </c:pt>
                <c:pt idx="7">
                  <c:v>124</c:v>
                </c:pt>
                <c:pt idx="8">
                  <c:v>119</c:v>
                </c:pt>
                <c:pt idx="9">
                  <c:v>140</c:v>
                </c:pt>
                <c:pt idx="10">
                  <c:v>152</c:v>
                </c:pt>
                <c:pt idx="11">
                  <c:v>215</c:v>
                </c:pt>
                <c:pt idx="12">
                  <c:v>238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13</c:v>
                </c:pt>
                <c:pt idx="2">
                  <c:v>14</c:v>
                </c:pt>
                <c:pt idx="3">
                  <c:v>13</c:v>
                </c:pt>
                <c:pt idx="4">
                  <c:v>23</c:v>
                </c:pt>
                <c:pt idx="5">
                  <c:v>23</c:v>
                </c:pt>
                <c:pt idx="6">
                  <c:v>24</c:v>
                </c:pt>
                <c:pt idx="7">
                  <c:v>26</c:v>
                </c:pt>
                <c:pt idx="8">
                  <c:v>38</c:v>
                </c:pt>
                <c:pt idx="9">
                  <c:v>74</c:v>
                </c:pt>
                <c:pt idx="10">
                  <c:v>85</c:v>
                </c:pt>
                <c:pt idx="11">
                  <c:v>119</c:v>
                </c:pt>
                <c:pt idx="12">
                  <c:v>76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17</c:v>
                </c:pt>
                <c:pt idx="2">
                  <c:v>18</c:v>
                </c:pt>
                <c:pt idx="3">
                  <c:v>15</c:v>
                </c:pt>
                <c:pt idx="4">
                  <c:v>19</c:v>
                </c:pt>
                <c:pt idx="5">
                  <c:v>21</c:v>
                </c:pt>
                <c:pt idx="6">
                  <c:v>20</c:v>
                </c:pt>
                <c:pt idx="7">
                  <c:v>20</c:v>
                </c:pt>
                <c:pt idx="8">
                  <c:v>19</c:v>
                </c:pt>
                <c:pt idx="9">
                  <c:v>19</c:v>
                </c:pt>
                <c:pt idx="10">
                  <c:v>22</c:v>
                </c:pt>
                <c:pt idx="11">
                  <c:v>19</c:v>
                </c:pt>
                <c:pt idx="12">
                  <c:v>18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74</c:v>
                </c:pt>
                <c:pt idx="1">
                  <c:v>93</c:v>
                </c:pt>
                <c:pt idx="2">
                  <c:v>73</c:v>
                </c:pt>
                <c:pt idx="3">
                  <c:v>68</c:v>
                </c:pt>
                <c:pt idx="4">
                  <c:v>63</c:v>
                </c:pt>
                <c:pt idx="5">
                  <c:v>74</c:v>
                </c:pt>
                <c:pt idx="6">
                  <c:v>68</c:v>
                </c:pt>
                <c:pt idx="7">
                  <c:v>71</c:v>
                </c:pt>
                <c:pt idx="8">
                  <c:v>74</c:v>
                </c:pt>
                <c:pt idx="9">
                  <c:v>73</c:v>
                </c:pt>
                <c:pt idx="10">
                  <c:v>93</c:v>
                </c:pt>
                <c:pt idx="11">
                  <c:v>96</c:v>
                </c:pt>
                <c:pt idx="12">
                  <c:v>108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15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13</c:v>
                </c:pt>
                <c:pt idx="5">
                  <c:v>14</c:v>
                </c:pt>
                <c:pt idx="6">
                  <c:v>13</c:v>
                </c:pt>
                <c:pt idx="7">
                  <c:v>12</c:v>
                </c:pt>
                <c:pt idx="8">
                  <c:v>11</c:v>
                </c:pt>
                <c:pt idx="9">
                  <c:v>11</c:v>
                </c:pt>
                <c:pt idx="10">
                  <c:v>14</c:v>
                </c:pt>
                <c:pt idx="11">
                  <c:v>13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14</c:v>
                </c:pt>
                <c:pt idx="2">
                  <c:v>10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12</c:v>
                </c:pt>
                <c:pt idx="8">
                  <c:v>19</c:v>
                </c:pt>
                <c:pt idx="9">
                  <c:v>26</c:v>
                </c:pt>
                <c:pt idx="10">
                  <c:v>37</c:v>
                </c:pt>
                <c:pt idx="11">
                  <c:v>29</c:v>
                </c:pt>
                <c:pt idx="12">
                  <c:v>24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8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15</c:v>
                </c:pt>
                <c:pt idx="11">
                  <c:v>14</c:v>
                </c:pt>
                <c:pt idx="12">
                  <c:v>16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4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16</c:v>
                </c:pt>
                <c:pt idx="11">
                  <c:v>12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Jun</c:v>
                </c:pt>
                <c:pt idx="1">
                  <c:v>Jul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  <c:pt idx="5">
                  <c:v>Nov</c:v>
                </c:pt>
                <c:pt idx="6">
                  <c:v>Dec</c:v>
                </c:pt>
                <c:pt idx="7">
                  <c:v>Jan</c:v>
                </c:pt>
                <c:pt idx="8">
                  <c:v>Feb</c:v>
                </c:pt>
                <c:pt idx="9">
                  <c:v>Mar</c:v>
                </c:pt>
                <c:pt idx="10">
                  <c:v>Apr</c:v>
                </c:pt>
                <c:pt idx="11">
                  <c:v>May</c:v>
                </c:pt>
                <c:pt idx="12">
                  <c:v>Jun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  <c:pt idx="4">
                  <c:v>10</c:v>
                </c:pt>
                <c:pt idx="5">
                  <c:v>11</c:v>
                </c:pt>
                <c:pt idx="6">
                  <c:v>17</c:v>
                </c:pt>
                <c:pt idx="7">
                  <c:v>11</c:v>
                </c:pt>
                <c:pt idx="8">
                  <c:v>10</c:v>
                </c:pt>
                <c:pt idx="9">
                  <c:v>9</c:v>
                </c:pt>
                <c:pt idx="10">
                  <c:v>13</c:v>
                </c:pt>
                <c:pt idx="11">
                  <c:v>10</c:v>
                </c:pt>
                <c:pt idx="12">
                  <c:v>9</c:v>
                </c:pt>
              </c:numCache>
            </c:numRef>
          </c:val>
          <c:extLst xmlns:ns5="http://schemas.microsoft.com/office/drawing/2014/chart" xmlns:ns4="http://schemas.microsoft.com/office/drawing/2012/chart" xmlns:ns2="http://schemas.microsoft.com/office/drawing/2007/8/2/chart" xmlns:ns1="http://schemas.openxmlformats.org/markup-compatibility/2006">
            <c:ext xmlns:c16="http://schemas.microsoft.com/office/drawing/2014/chart" uri="{C3380CC4-5D6E-409C-BE32-E72D297353CC}">
              <c16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03459C-1D66-4710-89D5-D5F5E14A937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8D4F16-44A7-42A3-A434-61A9821A57FD}">
      <dgm:prSet custT="1"/>
      <dgm:spPr/>
      <dgm:t>
        <a:bodyPr/>
        <a:lstStyle/>
        <a:p>
          <a:pPr algn="ctr"/>
          <a:r>
            <a:rPr lang="en-US" sz="1400" b="1" dirty="0"/>
            <a:t>Key Insights:</a:t>
          </a:r>
          <a:endParaRPr lang="en-IN" sz="1400" dirty="0"/>
        </a:p>
      </dgm:t>
    </dgm:pt>
    <dgm:pt modelId="{3D3F4EF9-76F6-4B1F-97CA-6F48CF3FFB05}" type="parTrans" cxnId="{572A3D41-00D1-4A3C-B823-6ADD7A809769}">
      <dgm:prSet/>
      <dgm:spPr/>
      <dgm:t>
        <a:bodyPr/>
        <a:lstStyle/>
        <a:p>
          <a:endParaRPr lang="en-IN"/>
        </a:p>
      </dgm:t>
    </dgm:pt>
    <dgm:pt modelId="{C2DECF14-2383-4C37-863A-EC0093DB8623}" type="sibTrans" cxnId="{572A3D41-00D1-4A3C-B823-6ADD7A809769}">
      <dgm:prSet/>
      <dgm:spPr/>
      <dgm:t>
        <a:bodyPr/>
        <a:lstStyle/>
        <a:p>
          <a:endParaRPr lang="en-IN"/>
        </a:p>
      </dgm:t>
    </dgm:pt>
    <dgm:pt modelId="{87E49969-AFF0-4C2D-9F91-2EC054FCCAAC}">
      <dgm:prSet custT="1"/>
      <dgm:spPr/>
      <dgm:t>
        <a:bodyPr/>
        <a:lstStyle/>
        <a:p>
          <a:r>
            <a:rPr lang="en-US" sz="900" dirty="0"/>
            <a:t>Category ₹83 Cr (+13% YoY). Himalaya leads (21.6%) but down 3.3 pt. </a:t>
          </a:r>
          <a:r>
            <a:rPr lang="en-US" sz="900" dirty="0" err="1"/>
            <a:t>Mamaearth</a:t>
          </a:r>
          <a:r>
            <a:rPr lang="en-US" sz="900" dirty="0"/>
            <a:t> (#4, +3.1 pt) is the biggest gainer. ★ = </a:t>
          </a:r>
          <a:r>
            <a:rPr lang="en-US" sz="900" dirty="0" err="1"/>
            <a:t>Honasa</a:t>
          </a:r>
          <a:r>
            <a:rPr lang="en-US" sz="900" dirty="0"/>
            <a:t>.</a:t>
          </a:r>
          <a:endParaRPr lang="en-IN" sz="900" dirty="0"/>
        </a:p>
      </dgm:t>
    </dgm:pt>
    <dgm:pt modelId="{23B6B4E8-52F4-41E9-8194-EE8E10CCC699}" type="parTrans" cxnId="{23D46F68-A7F7-4404-A94E-F38E272054DC}">
      <dgm:prSet/>
      <dgm:spPr/>
      <dgm:t>
        <a:bodyPr/>
        <a:lstStyle/>
        <a:p>
          <a:endParaRPr lang="en-IN"/>
        </a:p>
      </dgm:t>
    </dgm:pt>
    <dgm:pt modelId="{7C6C15CF-A8AA-4F3A-A95E-741E99069EA8}" type="sibTrans" cxnId="{23D46F68-A7F7-4404-A94E-F38E272054DC}">
      <dgm:prSet/>
      <dgm:spPr/>
      <dgm:t>
        <a:bodyPr/>
        <a:lstStyle/>
        <a:p>
          <a:endParaRPr lang="en-IN"/>
        </a:p>
      </dgm:t>
    </dgm:pt>
    <dgm:pt modelId="{52572700-72E5-413D-8805-1A6E3F05A616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is the #4 Face Wash brand in MT at 11.6% (+3.1 pt YoY). The legacy leader Himalaya is down 3.3 pt. </a:t>
          </a:r>
          <a:endParaRPr lang="en-IN" sz="900" dirty="0"/>
        </a:p>
      </dgm:t>
    </dgm:pt>
    <dgm:pt modelId="{F3131F66-5DCF-4146-B5F6-E087F2CC272C}" type="parTrans" cxnId="{CA3757B4-7A7C-4D89-A07E-66695AE9B75F}">
      <dgm:prSet/>
      <dgm:spPr/>
      <dgm:t>
        <a:bodyPr/>
        <a:lstStyle/>
        <a:p>
          <a:endParaRPr lang="en-IN"/>
        </a:p>
      </dgm:t>
    </dgm:pt>
    <dgm:pt modelId="{F9B6203A-2301-47AF-BC08-ACA759654F02}" type="sibTrans" cxnId="{CA3757B4-7A7C-4D89-A07E-66695AE9B75F}">
      <dgm:prSet/>
      <dgm:spPr/>
      <dgm:t>
        <a:bodyPr/>
        <a:lstStyle/>
        <a:p>
          <a:endParaRPr lang="en-IN"/>
        </a:p>
      </dgm:t>
    </dgm:pt>
    <dgm:pt modelId="{9DCCF6CA-4A10-4ADA-A146-221BE34A7A05}">
      <dgm:prSet custT="1"/>
      <dgm:spPr/>
      <dgm:t>
        <a:bodyPr/>
        <a:lstStyle/>
        <a:p>
          <a:r>
            <a:rPr lang="en-US" sz="900" dirty="0"/>
            <a:t>The gains are distribution-led: ME weighted handling moved 81→87% &amp; The Derma Co weighted handling moved .6 →14.2%. </a:t>
          </a:r>
          <a:endParaRPr lang="en-IN" sz="900" dirty="0"/>
        </a:p>
      </dgm:t>
    </dgm:pt>
    <dgm:pt modelId="{B809DD88-988F-4B43-BDBB-86BD549B2261}" type="parTrans" cxnId="{AE91A830-5A56-4E87-AEBA-165B309E8088}">
      <dgm:prSet/>
      <dgm:spPr/>
      <dgm:t>
        <a:bodyPr/>
        <a:lstStyle/>
        <a:p>
          <a:endParaRPr lang="en-IN"/>
        </a:p>
      </dgm:t>
    </dgm:pt>
    <dgm:pt modelId="{CF485B60-5D6C-40EC-9C6F-20E352480155}" type="sibTrans" cxnId="{AE91A830-5A56-4E87-AEBA-165B309E8088}">
      <dgm:prSet/>
      <dgm:spPr/>
      <dgm:t>
        <a:bodyPr/>
        <a:lstStyle/>
        <a:p>
          <a:endParaRPr lang="en-IN"/>
        </a:p>
      </dgm:t>
    </dgm:pt>
    <dgm:pt modelId="{AD6E3193-4514-4A2B-BE9C-39882F9A2686}" type="pres">
      <dgm:prSet presAssocID="{B003459C-1D66-4710-89D5-D5F5E14A937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8A5A1A7-49EE-4743-A08D-67E6CADAFD57}" type="pres">
      <dgm:prSet presAssocID="{A88D4F16-44A7-42A3-A434-61A9821A57FD}" presName="horFlow" presStyleCnt="0"/>
      <dgm:spPr/>
    </dgm:pt>
    <dgm:pt modelId="{AC9DFAA5-85F2-4063-83FE-0003ECDF3129}" type="pres">
      <dgm:prSet presAssocID="{A88D4F16-44A7-42A3-A434-61A9821A57FD}" presName="bigChev" presStyleLbl="node1" presStyleIdx="0" presStyleCnt="1" custScaleX="73148" custScaleY="104764"/>
      <dgm:spPr/>
    </dgm:pt>
    <dgm:pt modelId="{6359CE99-CB1F-4F08-8C17-30AFE0A4C310}" type="pres">
      <dgm:prSet presAssocID="{23B6B4E8-52F4-41E9-8194-EE8E10CCC699}" presName="parTrans" presStyleCnt="0"/>
      <dgm:spPr/>
    </dgm:pt>
    <dgm:pt modelId="{B45F4E3A-F28A-4933-AFD2-26B673249C7F}" type="pres">
      <dgm:prSet presAssocID="{87E49969-AFF0-4C2D-9F91-2EC054FCCAAC}" presName="node" presStyleLbl="alignAccFollowNode1" presStyleIdx="0" presStyleCnt="3" custScaleX="97781" custScaleY="114375">
        <dgm:presLayoutVars>
          <dgm:bulletEnabled val="1"/>
        </dgm:presLayoutVars>
      </dgm:prSet>
      <dgm:spPr/>
    </dgm:pt>
    <dgm:pt modelId="{58DA012F-2DF5-4CF8-A157-C603A031B9A5}" type="pres">
      <dgm:prSet presAssocID="{7C6C15CF-A8AA-4F3A-A95E-741E99069EA8}" presName="sibTrans" presStyleCnt="0"/>
      <dgm:spPr/>
    </dgm:pt>
    <dgm:pt modelId="{EABA3E1B-A6F8-4933-8515-1587A22C6B11}" type="pres">
      <dgm:prSet presAssocID="{52572700-72E5-413D-8805-1A6E3F05A616}" presName="node" presStyleLbl="alignAccFollowNode1" presStyleIdx="1" presStyleCnt="3" custScaleX="100512" custScaleY="114215">
        <dgm:presLayoutVars>
          <dgm:bulletEnabled val="1"/>
        </dgm:presLayoutVars>
      </dgm:prSet>
      <dgm:spPr/>
    </dgm:pt>
    <dgm:pt modelId="{C1047C29-2B73-45AA-8FF9-A3C9ACEA117E}" type="pres">
      <dgm:prSet presAssocID="{F9B6203A-2301-47AF-BC08-ACA759654F02}" presName="sibTrans" presStyleCnt="0"/>
      <dgm:spPr/>
    </dgm:pt>
    <dgm:pt modelId="{F4933751-6B04-458B-9157-85E9F085117B}" type="pres">
      <dgm:prSet presAssocID="{9DCCF6CA-4A10-4ADA-A146-221BE34A7A05}" presName="node" presStyleLbl="alignAccFollowNode1" presStyleIdx="2" presStyleCnt="3" custScaleX="99566" custScaleY="114375">
        <dgm:presLayoutVars>
          <dgm:bulletEnabled val="1"/>
        </dgm:presLayoutVars>
      </dgm:prSet>
      <dgm:spPr/>
    </dgm:pt>
  </dgm:ptLst>
  <dgm:cxnLst>
    <dgm:cxn modelId="{AE91A830-5A56-4E87-AEBA-165B309E8088}" srcId="{A88D4F16-44A7-42A3-A434-61A9821A57FD}" destId="{9DCCF6CA-4A10-4ADA-A146-221BE34A7A05}" srcOrd="2" destOrd="0" parTransId="{B809DD88-988F-4B43-BDBB-86BD549B2261}" sibTransId="{CF485B60-5D6C-40EC-9C6F-20E352480155}"/>
    <dgm:cxn modelId="{D9783132-0E6A-4D76-B3F2-376F77AA9E0A}" type="presOf" srcId="{A88D4F16-44A7-42A3-A434-61A9821A57FD}" destId="{AC9DFAA5-85F2-4063-83FE-0003ECDF3129}" srcOrd="0" destOrd="0" presId="urn:microsoft.com/office/officeart/2005/8/layout/lProcess3"/>
    <dgm:cxn modelId="{C1E7D736-BF55-4E3B-B76E-1D22C51B6BC9}" type="presOf" srcId="{9DCCF6CA-4A10-4ADA-A146-221BE34A7A05}" destId="{F4933751-6B04-458B-9157-85E9F085117B}" srcOrd="0" destOrd="0" presId="urn:microsoft.com/office/officeart/2005/8/layout/lProcess3"/>
    <dgm:cxn modelId="{04F9853A-B687-4C18-A36A-471DE764BB4A}" type="presOf" srcId="{52572700-72E5-413D-8805-1A6E3F05A616}" destId="{EABA3E1B-A6F8-4933-8515-1587A22C6B11}" srcOrd="0" destOrd="0" presId="urn:microsoft.com/office/officeart/2005/8/layout/lProcess3"/>
    <dgm:cxn modelId="{572A3D41-00D1-4A3C-B823-6ADD7A809769}" srcId="{B003459C-1D66-4710-89D5-D5F5E14A9374}" destId="{A88D4F16-44A7-42A3-A434-61A9821A57FD}" srcOrd="0" destOrd="0" parTransId="{3D3F4EF9-76F6-4B1F-97CA-6F48CF3FFB05}" sibTransId="{C2DECF14-2383-4C37-863A-EC0093DB8623}"/>
    <dgm:cxn modelId="{23D46F68-A7F7-4404-A94E-F38E272054DC}" srcId="{A88D4F16-44A7-42A3-A434-61A9821A57FD}" destId="{87E49969-AFF0-4C2D-9F91-2EC054FCCAAC}" srcOrd="0" destOrd="0" parTransId="{23B6B4E8-52F4-41E9-8194-EE8E10CCC699}" sibTransId="{7C6C15CF-A8AA-4F3A-A95E-741E99069EA8}"/>
    <dgm:cxn modelId="{29DDA381-7530-48E7-AEE3-7253EEA10B96}" type="presOf" srcId="{87E49969-AFF0-4C2D-9F91-2EC054FCCAAC}" destId="{B45F4E3A-F28A-4933-AFD2-26B673249C7F}" srcOrd="0" destOrd="0" presId="urn:microsoft.com/office/officeart/2005/8/layout/lProcess3"/>
    <dgm:cxn modelId="{CA3757B4-7A7C-4D89-A07E-66695AE9B75F}" srcId="{A88D4F16-44A7-42A3-A434-61A9821A57FD}" destId="{52572700-72E5-413D-8805-1A6E3F05A616}" srcOrd="1" destOrd="0" parTransId="{F3131F66-5DCF-4146-B5F6-E087F2CC272C}" sibTransId="{F9B6203A-2301-47AF-BC08-ACA759654F02}"/>
    <dgm:cxn modelId="{76732CF6-396B-4DFA-AB5C-36D67923B029}" type="presOf" srcId="{B003459C-1D66-4710-89D5-D5F5E14A9374}" destId="{AD6E3193-4514-4A2B-BE9C-39882F9A2686}" srcOrd="0" destOrd="0" presId="urn:microsoft.com/office/officeart/2005/8/layout/lProcess3"/>
    <dgm:cxn modelId="{533D6C61-C347-4617-B058-A19377F9F06F}" type="presParOf" srcId="{AD6E3193-4514-4A2B-BE9C-39882F9A2686}" destId="{D8A5A1A7-49EE-4743-A08D-67E6CADAFD57}" srcOrd="0" destOrd="0" presId="urn:microsoft.com/office/officeart/2005/8/layout/lProcess3"/>
    <dgm:cxn modelId="{1F7715B7-ABED-4585-AA96-F284C1795814}" type="presParOf" srcId="{D8A5A1A7-49EE-4743-A08D-67E6CADAFD57}" destId="{AC9DFAA5-85F2-4063-83FE-0003ECDF3129}" srcOrd="0" destOrd="0" presId="urn:microsoft.com/office/officeart/2005/8/layout/lProcess3"/>
    <dgm:cxn modelId="{79F7A6DD-D3BD-4B48-ADA3-F83C536E8D56}" type="presParOf" srcId="{D8A5A1A7-49EE-4743-A08D-67E6CADAFD57}" destId="{6359CE99-CB1F-4F08-8C17-30AFE0A4C310}" srcOrd="1" destOrd="0" presId="urn:microsoft.com/office/officeart/2005/8/layout/lProcess3"/>
    <dgm:cxn modelId="{EF8CED7C-93EC-4ED1-BD7F-2D6CD748B053}" type="presParOf" srcId="{D8A5A1A7-49EE-4743-A08D-67E6CADAFD57}" destId="{B45F4E3A-F28A-4933-AFD2-26B673249C7F}" srcOrd="2" destOrd="0" presId="urn:microsoft.com/office/officeart/2005/8/layout/lProcess3"/>
    <dgm:cxn modelId="{ADEA485C-7B33-4A45-93DF-637749C51B67}" type="presParOf" srcId="{D8A5A1A7-49EE-4743-A08D-67E6CADAFD57}" destId="{58DA012F-2DF5-4CF8-A157-C603A031B9A5}" srcOrd="3" destOrd="0" presId="urn:microsoft.com/office/officeart/2005/8/layout/lProcess3"/>
    <dgm:cxn modelId="{33165E48-9C02-4A3A-8A09-02E1CF59F59D}" type="presParOf" srcId="{D8A5A1A7-49EE-4743-A08D-67E6CADAFD57}" destId="{EABA3E1B-A6F8-4933-8515-1587A22C6B11}" srcOrd="4" destOrd="0" presId="urn:microsoft.com/office/officeart/2005/8/layout/lProcess3"/>
    <dgm:cxn modelId="{9D273AF1-8D07-4980-8BB4-4CB3131BA62A}" type="presParOf" srcId="{D8A5A1A7-49EE-4743-A08D-67E6CADAFD57}" destId="{C1047C29-2B73-45AA-8FF9-A3C9ACEA117E}" srcOrd="5" destOrd="0" presId="urn:microsoft.com/office/officeart/2005/8/layout/lProcess3"/>
    <dgm:cxn modelId="{76D999B4-34D5-496D-885D-186AADEC1AAA}" type="presParOf" srcId="{D8A5A1A7-49EE-4743-A08D-67E6CADAFD57}" destId="{F4933751-6B04-458B-9157-85E9F085117B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B36DA-30FD-429E-B9A4-51B560F482B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2710A2-009A-4113-971E-D380B36D09E6}">
      <dgm:prSet/>
      <dgm:spPr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b="1" dirty="0"/>
            <a:t>HONASA IS GAINING MODERN TRADE SHARE, LED BY STRONGER DISTRIBUTION</a:t>
          </a:r>
          <a:endParaRPr lang="en-IN" b="1" dirty="0"/>
        </a:p>
      </dgm:t>
    </dgm:pt>
    <dgm:pt modelId="{77A8BBB5-2042-49F7-863A-76353FCFE8F7}" type="parTrans" cxnId="{BC8A70D3-BF2B-4A5F-8773-9FC967FF8CC9}">
      <dgm:prSet/>
      <dgm:spPr/>
      <dgm:t>
        <a:bodyPr/>
        <a:lstStyle/>
        <a:p>
          <a:endParaRPr lang="en-IN"/>
        </a:p>
      </dgm:t>
    </dgm:pt>
    <dgm:pt modelId="{7143A624-5FB9-45AF-BF01-CF0F3C8992E9}" type="sibTrans" cxnId="{BC8A70D3-BF2B-4A5F-8773-9FC967FF8CC9}">
      <dgm:prSet/>
      <dgm:spPr/>
      <dgm:t>
        <a:bodyPr/>
        <a:lstStyle/>
        <a:p>
          <a:endParaRPr lang="en-IN"/>
        </a:p>
      </dgm:t>
    </dgm:pt>
    <dgm:pt modelId="{65062155-B76B-4E17-B234-C42AA233000B}">
      <dgm:prSet/>
      <dgm:spPr/>
      <dgm:t>
        <a:bodyPr anchor="ctr"/>
        <a:lstStyle/>
        <a:p>
          <a:r>
            <a:rPr lang="en-US" b="1" dirty="0"/>
            <a:t>What happened —</a:t>
          </a:r>
          <a:r>
            <a:rPr lang="en-US" dirty="0"/>
            <a:t> </a:t>
          </a:r>
          <a:r>
            <a:rPr lang="en-US" dirty="0" err="1"/>
            <a:t>Mamaearth</a:t>
          </a:r>
          <a:r>
            <a:rPr lang="en-US" dirty="0"/>
            <a:t> is the </a:t>
          </a:r>
          <a:r>
            <a:rPr lang="en-IN" dirty="0"/>
            <a:t>★</a:t>
          </a:r>
          <a:r>
            <a:rPr lang="en-US" dirty="0"/>
            <a:t>#4 Face Wash brand in MT at 11.6% (+3.1 pt YoY) and is gaining in Shampoo at 3.9% (+1.3 pt). The legacy leader Himalaya is down 3.3 pt.</a:t>
          </a:r>
          <a:endParaRPr lang="en-IN" dirty="0"/>
        </a:p>
      </dgm:t>
    </dgm:pt>
    <dgm:pt modelId="{8EBADEEC-D99C-40E2-9C3E-97ED7271DAF0}" type="parTrans" cxnId="{557630BE-3F3C-4E2C-9CF4-4F2EA7032795}">
      <dgm:prSet/>
      <dgm:spPr/>
      <dgm:t>
        <a:bodyPr/>
        <a:lstStyle/>
        <a:p>
          <a:endParaRPr lang="en-IN"/>
        </a:p>
      </dgm:t>
    </dgm:pt>
    <dgm:pt modelId="{CAE335FC-6799-4C68-A04B-8F4C99A3522A}" type="sibTrans" cxnId="{557630BE-3F3C-4E2C-9CF4-4F2EA7032795}">
      <dgm:prSet/>
      <dgm:spPr/>
      <dgm:t>
        <a:bodyPr/>
        <a:lstStyle/>
        <a:p>
          <a:endParaRPr lang="en-IN"/>
        </a:p>
      </dgm:t>
    </dgm:pt>
    <dgm:pt modelId="{AD2F7022-A92B-4326-809D-8C15496F8AF5}">
      <dgm:prSet/>
      <dgm:spPr/>
      <dgm:t>
        <a:bodyPr anchor="ctr"/>
        <a:lstStyle/>
        <a:p>
          <a:r>
            <a:rPr lang="en-US" b="1" dirty="0"/>
            <a:t>Why — </a:t>
          </a:r>
          <a:r>
            <a:rPr lang="en-US" dirty="0"/>
            <a:t>The gains are distribution-led: </a:t>
          </a:r>
          <a:r>
            <a:rPr lang="en-US" dirty="0" err="1"/>
            <a:t>Mamaearth</a:t>
          </a:r>
          <a:r>
            <a:rPr lang="en-US" dirty="0"/>
            <a:t> weighted handling moved 81→87% (FW) and 76→81% (Shampoo). The Derma Co is building MT from near-zero (0.6→14.2% handling).</a:t>
          </a:r>
          <a:endParaRPr lang="en-IN" dirty="0"/>
        </a:p>
      </dgm:t>
    </dgm:pt>
    <dgm:pt modelId="{ECE58BA4-3994-49E3-92E3-13878623A988}" type="parTrans" cxnId="{0DBC56BB-FABC-40C2-A142-B5B12F9F6A28}">
      <dgm:prSet/>
      <dgm:spPr/>
      <dgm:t>
        <a:bodyPr/>
        <a:lstStyle/>
        <a:p>
          <a:endParaRPr lang="en-IN"/>
        </a:p>
      </dgm:t>
    </dgm:pt>
    <dgm:pt modelId="{20D77FC4-020E-4F7C-894A-6AADA65B8F59}" type="sibTrans" cxnId="{0DBC56BB-FABC-40C2-A142-B5B12F9F6A28}">
      <dgm:prSet/>
      <dgm:spPr/>
      <dgm:t>
        <a:bodyPr/>
        <a:lstStyle/>
        <a:p>
          <a:endParaRPr lang="en-IN"/>
        </a:p>
      </dgm:t>
    </dgm:pt>
    <dgm:pt modelId="{C95A7DCC-3215-4427-A522-A9DB460B3818}">
      <dgm:prSet/>
      <dgm:spPr/>
      <dgm:t>
        <a:bodyPr anchor="ctr"/>
        <a:lstStyle/>
        <a:p>
          <a:r>
            <a:rPr lang="en-US" b="1" dirty="0"/>
            <a:t>Impact — </a:t>
          </a:r>
          <a:r>
            <a:rPr lang="en-US" dirty="0" err="1"/>
            <a:t>Honasa</a:t>
          </a:r>
          <a:r>
            <a:rPr lang="en-US" dirty="0"/>
            <a:t> is converting MT shelf into share in the two largest cleansing categories, worth ₹9.6 Cr + ₹6.5 Cr monthly RR and rising.</a:t>
          </a:r>
          <a:endParaRPr lang="en-IN" dirty="0"/>
        </a:p>
      </dgm:t>
    </dgm:pt>
    <dgm:pt modelId="{EA264769-8ED4-4932-98D6-FD482E0D63DB}" type="parTrans" cxnId="{4144644D-09D3-40B0-BF02-B5C18B638B52}">
      <dgm:prSet/>
      <dgm:spPr/>
      <dgm:t>
        <a:bodyPr/>
        <a:lstStyle/>
        <a:p>
          <a:endParaRPr lang="en-IN"/>
        </a:p>
      </dgm:t>
    </dgm:pt>
    <dgm:pt modelId="{23ACEAC4-F078-47AD-9EC3-923BAD8E42AE}" type="sibTrans" cxnId="{4144644D-09D3-40B0-BF02-B5C18B638B52}">
      <dgm:prSet/>
      <dgm:spPr/>
      <dgm:t>
        <a:bodyPr/>
        <a:lstStyle/>
        <a:p>
          <a:endParaRPr lang="en-IN"/>
        </a:p>
      </dgm:t>
    </dgm:pt>
    <dgm:pt modelId="{0231D5BF-FF2C-47A3-9220-CA1B4AB7CB93}">
      <dgm:prSet/>
      <dgm:spPr/>
      <dgm:t>
        <a:bodyPr anchor="ctr"/>
        <a:lstStyle/>
        <a:p>
          <a:r>
            <a:rPr lang="en-US" b="1" dirty="0"/>
            <a:t>Action — </a:t>
          </a:r>
          <a:r>
            <a:rPr lang="en-US" dirty="0"/>
            <a:t>Need to protect the FW Distribution gain and checked for Shampoo assortment gaps in chains to identify further growth opportunities.</a:t>
          </a:r>
          <a:endParaRPr lang="en-IN" dirty="0"/>
        </a:p>
      </dgm:t>
    </dgm:pt>
    <dgm:pt modelId="{79B768AB-A91E-4780-81A9-835F5D174731}" type="parTrans" cxnId="{F2A07B7C-864A-40D5-B4C3-1F4858D9A574}">
      <dgm:prSet/>
      <dgm:spPr/>
      <dgm:t>
        <a:bodyPr/>
        <a:lstStyle/>
        <a:p>
          <a:endParaRPr lang="en-IN"/>
        </a:p>
      </dgm:t>
    </dgm:pt>
    <dgm:pt modelId="{E361D35A-9D18-4D8D-BF61-FDC36DD7A871}" type="sibTrans" cxnId="{F2A07B7C-864A-40D5-B4C3-1F4858D9A574}">
      <dgm:prSet/>
      <dgm:spPr/>
      <dgm:t>
        <a:bodyPr/>
        <a:lstStyle/>
        <a:p>
          <a:endParaRPr lang="en-IN"/>
        </a:p>
      </dgm:t>
    </dgm:pt>
    <dgm:pt modelId="{4458F8B2-7309-4B79-B1ED-66772D733DE5}" type="pres">
      <dgm:prSet presAssocID="{75EB36DA-30FD-429E-B9A4-51B560F482B3}" presName="vert0" presStyleCnt="0">
        <dgm:presLayoutVars>
          <dgm:dir/>
          <dgm:animOne val="branch"/>
          <dgm:animLvl val="lvl"/>
        </dgm:presLayoutVars>
      </dgm:prSet>
      <dgm:spPr/>
    </dgm:pt>
    <dgm:pt modelId="{E1A54491-AF60-4F4A-8502-1EC3307DAD88}" type="pres">
      <dgm:prSet presAssocID="{C32710A2-009A-4113-971E-D380B36D09E6}" presName="thickLine" presStyleLbl="alignNode1" presStyleIdx="0" presStyleCnt="1"/>
      <dgm:spPr/>
    </dgm:pt>
    <dgm:pt modelId="{CB6BA72A-8EE0-4FC8-8FA4-54E4E6C5ED45}" type="pres">
      <dgm:prSet presAssocID="{C32710A2-009A-4113-971E-D380B36D09E6}" presName="horz1" presStyleCnt="0"/>
      <dgm:spPr/>
    </dgm:pt>
    <dgm:pt modelId="{3B507AF8-74BE-4443-B823-02C4F7422963}" type="pres">
      <dgm:prSet presAssocID="{C32710A2-009A-4113-971E-D380B36D09E6}" presName="tx1" presStyleLbl="revTx" presStyleIdx="0" presStyleCnt="5"/>
      <dgm:spPr/>
    </dgm:pt>
    <dgm:pt modelId="{1C525586-FFAD-4571-8EBA-CC0DC154B7EA}" type="pres">
      <dgm:prSet presAssocID="{C32710A2-009A-4113-971E-D380B36D09E6}" presName="vert1" presStyleCnt="0"/>
      <dgm:spPr/>
    </dgm:pt>
    <dgm:pt modelId="{63B59168-D6A9-41C1-B52C-0CD7F2EDF0B0}" type="pres">
      <dgm:prSet presAssocID="{65062155-B76B-4E17-B234-C42AA233000B}" presName="vertSpace2a" presStyleCnt="0"/>
      <dgm:spPr/>
    </dgm:pt>
    <dgm:pt modelId="{C8B4FAEE-E7A3-4EBE-88EB-8866AB80EE67}" type="pres">
      <dgm:prSet presAssocID="{65062155-B76B-4E17-B234-C42AA233000B}" presName="horz2" presStyleCnt="0"/>
      <dgm:spPr/>
    </dgm:pt>
    <dgm:pt modelId="{84322DDF-A8D5-49B8-B460-A4052A9E28E1}" type="pres">
      <dgm:prSet presAssocID="{65062155-B76B-4E17-B234-C42AA233000B}" presName="horzSpace2" presStyleCnt="0"/>
      <dgm:spPr/>
    </dgm:pt>
    <dgm:pt modelId="{5E9C23F4-222C-484A-A108-B17963B330E8}" type="pres">
      <dgm:prSet presAssocID="{65062155-B76B-4E17-B234-C42AA233000B}" presName="tx2" presStyleLbl="revTx" presStyleIdx="1" presStyleCnt="5"/>
      <dgm:spPr/>
    </dgm:pt>
    <dgm:pt modelId="{FAF4E696-6F7F-475B-93ED-5E188493B912}" type="pres">
      <dgm:prSet presAssocID="{65062155-B76B-4E17-B234-C42AA233000B}" presName="vert2" presStyleCnt="0"/>
      <dgm:spPr/>
    </dgm:pt>
    <dgm:pt modelId="{3014EFA0-5169-4D60-A5D7-934DE2186031}" type="pres">
      <dgm:prSet presAssocID="{65062155-B76B-4E17-B234-C42AA233000B}" presName="thinLine2b" presStyleLbl="callout" presStyleIdx="0" presStyleCnt="4"/>
      <dgm:spPr/>
    </dgm:pt>
    <dgm:pt modelId="{39C494F3-19B0-4FB7-90E5-F670D3B4B257}" type="pres">
      <dgm:prSet presAssocID="{65062155-B76B-4E17-B234-C42AA233000B}" presName="vertSpace2b" presStyleCnt="0"/>
      <dgm:spPr/>
    </dgm:pt>
    <dgm:pt modelId="{5498A288-DDD5-4853-9327-3F6A151FAE97}" type="pres">
      <dgm:prSet presAssocID="{AD2F7022-A92B-4326-809D-8C15496F8AF5}" presName="horz2" presStyleCnt="0"/>
      <dgm:spPr/>
    </dgm:pt>
    <dgm:pt modelId="{3F6E9E9D-FE16-4198-9FB1-0AF8A68AB476}" type="pres">
      <dgm:prSet presAssocID="{AD2F7022-A92B-4326-809D-8C15496F8AF5}" presName="horzSpace2" presStyleCnt="0"/>
      <dgm:spPr/>
    </dgm:pt>
    <dgm:pt modelId="{E45FC06D-6131-4C7B-A993-903F08057C44}" type="pres">
      <dgm:prSet presAssocID="{AD2F7022-A92B-4326-809D-8C15496F8AF5}" presName="tx2" presStyleLbl="revTx" presStyleIdx="2" presStyleCnt="5"/>
      <dgm:spPr/>
    </dgm:pt>
    <dgm:pt modelId="{5956D816-3A2A-4FF7-8EA9-1EDAAF1FB6FE}" type="pres">
      <dgm:prSet presAssocID="{AD2F7022-A92B-4326-809D-8C15496F8AF5}" presName="vert2" presStyleCnt="0"/>
      <dgm:spPr/>
    </dgm:pt>
    <dgm:pt modelId="{F922B264-6F20-4425-AC71-9BADBD8A3A38}" type="pres">
      <dgm:prSet presAssocID="{AD2F7022-A92B-4326-809D-8C15496F8AF5}" presName="thinLine2b" presStyleLbl="callout" presStyleIdx="1" presStyleCnt="4"/>
      <dgm:spPr/>
    </dgm:pt>
    <dgm:pt modelId="{5DA1D6C3-C866-47C8-B04A-EA15568887FE}" type="pres">
      <dgm:prSet presAssocID="{AD2F7022-A92B-4326-809D-8C15496F8AF5}" presName="vertSpace2b" presStyleCnt="0"/>
      <dgm:spPr/>
    </dgm:pt>
    <dgm:pt modelId="{2E8A8921-BE3D-4F50-AC22-6C0B922A5820}" type="pres">
      <dgm:prSet presAssocID="{C95A7DCC-3215-4427-A522-A9DB460B3818}" presName="horz2" presStyleCnt="0"/>
      <dgm:spPr/>
    </dgm:pt>
    <dgm:pt modelId="{747D342F-7564-44FB-A10F-D2A845DCB75E}" type="pres">
      <dgm:prSet presAssocID="{C95A7DCC-3215-4427-A522-A9DB460B3818}" presName="horzSpace2" presStyleCnt="0"/>
      <dgm:spPr/>
    </dgm:pt>
    <dgm:pt modelId="{62D7282F-3AA8-4F87-A566-78073F7C75EA}" type="pres">
      <dgm:prSet presAssocID="{C95A7DCC-3215-4427-A522-A9DB460B3818}" presName="tx2" presStyleLbl="revTx" presStyleIdx="3" presStyleCnt="5"/>
      <dgm:spPr/>
    </dgm:pt>
    <dgm:pt modelId="{1DBCDDB6-6592-4860-9B19-39ADE4DB973A}" type="pres">
      <dgm:prSet presAssocID="{C95A7DCC-3215-4427-A522-A9DB460B3818}" presName="vert2" presStyleCnt="0"/>
      <dgm:spPr/>
    </dgm:pt>
    <dgm:pt modelId="{8DC5D532-BBE1-460A-89C0-ACB6DAE14AE6}" type="pres">
      <dgm:prSet presAssocID="{C95A7DCC-3215-4427-A522-A9DB460B3818}" presName="thinLine2b" presStyleLbl="callout" presStyleIdx="2" presStyleCnt="4"/>
      <dgm:spPr/>
    </dgm:pt>
    <dgm:pt modelId="{22A50117-8D7B-4228-A30A-E75B7155CE8F}" type="pres">
      <dgm:prSet presAssocID="{C95A7DCC-3215-4427-A522-A9DB460B3818}" presName="vertSpace2b" presStyleCnt="0"/>
      <dgm:spPr/>
    </dgm:pt>
    <dgm:pt modelId="{64471B8F-F3FB-4176-B9E4-FEFEA83F20F6}" type="pres">
      <dgm:prSet presAssocID="{0231D5BF-FF2C-47A3-9220-CA1B4AB7CB93}" presName="horz2" presStyleCnt="0"/>
      <dgm:spPr/>
    </dgm:pt>
    <dgm:pt modelId="{579E74B1-70B1-4C7D-8FE6-1489450309D8}" type="pres">
      <dgm:prSet presAssocID="{0231D5BF-FF2C-47A3-9220-CA1B4AB7CB93}" presName="horzSpace2" presStyleCnt="0"/>
      <dgm:spPr/>
    </dgm:pt>
    <dgm:pt modelId="{E42BC4FB-B2B9-457A-B6B4-FE95B4CFE12C}" type="pres">
      <dgm:prSet presAssocID="{0231D5BF-FF2C-47A3-9220-CA1B4AB7CB93}" presName="tx2" presStyleLbl="revTx" presStyleIdx="4" presStyleCnt="5"/>
      <dgm:spPr/>
    </dgm:pt>
    <dgm:pt modelId="{842F7F69-C9FB-4612-A5F7-A25F5B9258C3}" type="pres">
      <dgm:prSet presAssocID="{0231D5BF-FF2C-47A3-9220-CA1B4AB7CB93}" presName="vert2" presStyleCnt="0"/>
      <dgm:spPr/>
    </dgm:pt>
    <dgm:pt modelId="{092B1DD1-FC62-4791-879B-64E5524300D7}" type="pres">
      <dgm:prSet presAssocID="{0231D5BF-FF2C-47A3-9220-CA1B4AB7CB93}" presName="thinLine2b" presStyleLbl="callout" presStyleIdx="3" presStyleCnt="4"/>
      <dgm:spPr/>
    </dgm:pt>
    <dgm:pt modelId="{20B40DFB-F8CA-4BAF-AFF6-27C7BB5E08E9}" type="pres">
      <dgm:prSet presAssocID="{0231D5BF-FF2C-47A3-9220-CA1B4AB7CB93}" presName="vertSpace2b" presStyleCnt="0"/>
      <dgm:spPr/>
    </dgm:pt>
  </dgm:ptLst>
  <dgm:cxnLst>
    <dgm:cxn modelId="{C2FCC767-0288-47FD-9624-EF8ADA1B5CDD}" type="presOf" srcId="{75EB36DA-30FD-429E-B9A4-51B560F482B3}" destId="{4458F8B2-7309-4B79-B1ED-66772D733DE5}" srcOrd="0" destOrd="0" presId="urn:microsoft.com/office/officeart/2008/layout/LinedList"/>
    <dgm:cxn modelId="{4144644D-09D3-40B0-BF02-B5C18B638B52}" srcId="{C32710A2-009A-4113-971E-D380B36D09E6}" destId="{C95A7DCC-3215-4427-A522-A9DB460B3818}" srcOrd="2" destOrd="0" parTransId="{EA264769-8ED4-4932-98D6-FD482E0D63DB}" sibTransId="{23ACEAC4-F078-47AD-9EC3-923BAD8E42AE}"/>
    <dgm:cxn modelId="{F2A07B7C-864A-40D5-B4C3-1F4858D9A574}" srcId="{C32710A2-009A-4113-971E-D380B36D09E6}" destId="{0231D5BF-FF2C-47A3-9220-CA1B4AB7CB93}" srcOrd="3" destOrd="0" parTransId="{79B768AB-A91E-4780-81A9-835F5D174731}" sibTransId="{E361D35A-9D18-4D8D-BF61-FDC36DD7A871}"/>
    <dgm:cxn modelId="{9F224C98-A5BF-46A2-A540-055DABFFA67A}" type="presOf" srcId="{65062155-B76B-4E17-B234-C42AA233000B}" destId="{5E9C23F4-222C-484A-A108-B17963B330E8}" srcOrd="0" destOrd="0" presId="urn:microsoft.com/office/officeart/2008/layout/LinedList"/>
    <dgm:cxn modelId="{DDCE4F99-D085-46B9-BA80-CD977D309E88}" type="presOf" srcId="{C95A7DCC-3215-4427-A522-A9DB460B3818}" destId="{62D7282F-3AA8-4F87-A566-78073F7C75EA}" srcOrd="0" destOrd="0" presId="urn:microsoft.com/office/officeart/2008/layout/LinedList"/>
    <dgm:cxn modelId="{0DC6DB9F-D289-45DC-A118-BC7240D24651}" type="presOf" srcId="{AD2F7022-A92B-4326-809D-8C15496F8AF5}" destId="{E45FC06D-6131-4C7B-A993-903F08057C44}" srcOrd="0" destOrd="0" presId="urn:microsoft.com/office/officeart/2008/layout/LinedList"/>
    <dgm:cxn modelId="{C6138AA3-EE38-485D-897E-8B85585F309B}" type="presOf" srcId="{C32710A2-009A-4113-971E-D380B36D09E6}" destId="{3B507AF8-74BE-4443-B823-02C4F7422963}" srcOrd="0" destOrd="0" presId="urn:microsoft.com/office/officeart/2008/layout/LinedList"/>
    <dgm:cxn modelId="{0DBC56BB-FABC-40C2-A142-B5B12F9F6A28}" srcId="{C32710A2-009A-4113-971E-D380B36D09E6}" destId="{AD2F7022-A92B-4326-809D-8C15496F8AF5}" srcOrd="1" destOrd="0" parTransId="{ECE58BA4-3994-49E3-92E3-13878623A988}" sibTransId="{20D77FC4-020E-4F7C-894A-6AADA65B8F59}"/>
    <dgm:cxn modelId="{557630BE-3F3C-4E2C-9CF4-4F2EA7032795}" srcId="{C32710A2-009A-4113-971E-D380B36D09E6}" destId="{65062155-B76B-4E17-B234-C42AA233000B}" srcOrd="0" destOrd="0" parTransId="{8EBADEEC-D99C-40E2-9C3E-97ED7271DAF0}" sibTransId="{CAE335FC-6799-4C68-A04B-8F4C99A3522A}"/>
    <dgm:cxn modelId="{BC8A70D3-BF2B-4A5F-8773-9FC967FF8CC9}" srcId="{75EB36DA-30FD-429E-B9A4-51B560F482B3}" destId="{C32710A2-009A-4113-971E-D380B36D09E6}" srcOrd="0" destOrd="0" parTransId="{77A8BBB5-2042-49F7-863A-76353FCFE8F7}" sibTransId="{7143A624-5FB9-45AF-BF01-CF0F3C8992E9}"/>
    <dgm:cxn modelId="{A31D49D4-1DB4-4CA5-8DFE-26D02212E6E6}" type="presOf" srcId="{0231D5BF-FF2C-47A3-9220-CA1B4AB7CB93}" destId="{E42BC4FB-B2B9-457A-B6B4-FE95B4CFE12C}" srcOrd="0" destOrd="0" presId="urn:microsoft.com/office/officeart/2008/layout/LinedList"/>
    <dgm:cxn modelId="{3AB21902-67C7-401B-B15F-A1DA86DBEC47}" type="presParOf" srcId="{4458F8B2-7309-4B79-B1ED-66772D733DE5}" destId="{E1A54491-AF60-4F4A-8502-1EC3307DAD88}" srcOrd="0" destOrd="0" presId="urn:microsoft.com/office/officeart/2008/layout/LinedList"/>
    <dgm:cxn modelId="{D78A1E92-3096-4E60-98BB-084C2B005E02}" type="presParOf" srcId="{4458F8B2-7309-4B79-B1ED-66772D733DE5}" destId="{CB6BA72A-8EE0-4FC8-8FA4-54E4E6C5ED45}" srcOrd="1" destOrd="0" presId="urn:microsoft.com/office/officeart/2008/layout/LinedList"/>
    <dgm:cxn modelId="{8955D87E-5A4D-40F9-A7C5-6B3958627CE0}" type="presParOf" srcId="{CB6BA72A-8EE0-4FC8-8FA4-54E4E6C5ED45}" destId="{3B507AF8-74BE-4443-B823-02C4F7422963}" srcOrd="0" destOrd="0" presId="urn:microsoft.com/office/officeart/2008/layout/LinedList"/>
    <dgm:cxn modelId="{BCBB8ECB-22B9-4212-BE7F-E07239677EB0}" type="presParOf" srcId="{CB6BA72A-8EE0-4FC8-8FA4-54E4E6C5ED45}" destId="{1C525586-FFAD-4571-8EBA-CC0DC154B7EA}" srcOrd="1" destOrd="0" presId="urn:microsoft.com/office/officeart/2008/layout/LinedList"/>
    <dgm:cxn modelId="{23E79147-D1FB-4BAF-A3ED-52286EEA67A5}" type="presParOf" srcId="{1C525586-FFAD-4571-8EBA-CC0DC154B7EA}" destId="{63B59168-D6A9-41C1-B52C-0CD7F2EDF0B0}" srcOrd="0" destOrd="0" presId="urn:microsoft.com/office/officeart/2008/layout/LinedList"/>
    <dgm:cxn modelId="{5F1CAAAC-7956-4F5E-9C90-EDE723CA080A}" type="presParOf" srcId="{1C525586-FFAD-4571-8EBA-CC0DC154B7EA}" destId="{C8B4FAEE-E7A3-4EBE-88EB-8866AB80EE67}" srcOrd="1" destOrd="0" presId="urn:microsoft.com/office/officeart/2008/layout/LinedList"/>
    <dgm:cxn modelId="{31834F5C-EDA1-4F2A-9F99-DFA5FAE96C2A}" type="presParOf" srcId="{C8B4FAEE-E7A3-4EBE-88EB-8866AB80EE67}" destId="{84322DDF-A8D5-49B8-B460-A4052A9E28E1}" srcOrd="0" destOrd="0" presId="urn:microsoft.com/office/officeart/2008/layout/LinedList"/>
    <dgm:cxn modelId="{D9A26043-D95D-4D28-B75A-EEB4D4C18696}" type="presParOf" srcId="{C8B4FAEE-E7A3-4EBE-88EB-8866AB80EE67}" destId="{5E9C23F4-222C-484A-A108-B17963B330E8}" srcOrd="1" destOrd="0" presId="urn:microsoft.com/office/officeart/2008/layout/LinedList"/>
    <dgm:cxn modelId="{D396140F-C327-4B9E-81B9-519219CEF1C4}" type="presParOf" srcId="{C8B4FAEE-E7A3-4EBE-88EB-8866AB80EE67}" destId="{FAF4E696-6F7F-475B-93ED-5E188493B912}" srcOrd="2" destOrd="0" presId="urn:microsoft.com/office/officeart/2008/layout/LinedList"/>
    <dgm:cxn modelId="{EE8B8F39-E981-420C-BBC8-1F4254DF65A8}" type="presParOf" srcId="{1C525586-FFAD-4571-8EBA-CC0DC154B7EA}" destId="{3014EFA0-5169-4D60-A5D7-934DE2186031}" srcOrd="2" destOrd="0" presId="urn:microsoft.com/office/officeart/2008/layout/LinedList"/>
    <dgm:cxn modelId="{D6D54DA1-B28F-46CB-9325-5A88D8948B17}" type="presParOf" srcId="{1C525586-FFAD-4571-8EBA-CC0DC154B7EA}" destId="{39C494F3-19B0-4FB7-90E5-F670D3B4B257}" srcOrd="3" destOrd="0" presId="urn:microsoft.com/office/officeart/2008/layout/LinedList"/>
    <dgm:cxn modelId="{572D55D7-6C07-474F-BD58-2F4E7BAA3808}" type="presParOf" srcId="{1C525586-FFAD-4571-8EBA-CC0DC154B7EA}" destId="{5498A288-DDD5-4853-9327-3F6A151FAE97}" srcOrd="4" destOrd="0" presId="urn:microsoft.com/office/officeart/2008/layout/LinedList"/>
    <dgm:cxn modelId="{F218E96C-3CF3-4DFB-960C-0883FD9E7B41}" type="presParOf" srcId="{5498A288-DDD5-4853-9327-3F6A151FAE97}" destId="{3F6E9E9D-FE16-4198-9FB1-0AF8A68AB476}" srcOrd="0" destOrd="0" presId="urn:microsoft.com/office/officeart/2008/layout/LinedList"/>
    <dgm:cxn modelId="{3251F834-C988-4C95-92D0-7D59F0478919}" type="presParOf" srcId="{5498A288-DDD5-4853-9327-3F6A151FAE97}" destId="{E45FC06D-6131-4C7B-A993-903F08057C44}" srcOrd="1" destOrd="0" presId="urn:microsoft.com/office/officeart/2008/layout/LinedList"/>
    <dgm:cxn modelId="{B470ECA7-A5F3-4861-8E18-2677E2F4A467}" type="presParOf" srcId="{5498A288-DDD5-4853-9327-3F6A151FAE97}" destId="{5956D816-3A2A-4FF7-8EA9-1EDAAF1FB6FE}" srcOrd="2" destOrd="0" presId="urn:microsoft.com/office/officeart/2008/layout/LinedList"/>
    <dgm:cxn modelId="{CD33BF6E-A8C8-4F27-96EB-156C27371EEB}" type="presParOf" srcId="{1C525586-FFAD-4571-8EBA-CC0DC154B7EA}" destId="{F922B264-6F20-4425-AC71-9BADBD8A3A38}" srcOrd="5" destOrd="0" presId="urn:microsoft.com/office/officeart/2008/layout/LinedList"/>
    <dgm:cxn modelId="{C8E64ABA-F452-40A6-A4AC-F5E23E681436}" type="presParOf" srcId="{1C525586-FFAD-4571-8EBA-CC0DC154B7EA}" destId="{5DA1D6C3-C866-47C8-B04A-EA15568887FE}" srcOrd="6" destOrd="0" presId="urn:microsoft.com/office/officeart/2008/layout/LinedList"/>
    <dgm:cxn modelId="{BADDD9CB-1AA6-4F73-A1E3-FE1680BA1A68}" type="presParOf" srcId="{1C525586-FFAD-4571-8EBA-CC0DC154B7EA}" destId="{2E8A8921-BE3D-4F50-AC22-6C0B922A5820}" srcOrd="7" destOrd="0" presId="urn:microsoft.com/office/officeart/2008/layout/LinedList"/>
    <dgm:cxn modelId="{EABD49A0-DAA5-43A7-8FA3-E786316B34C7}" type="presParOf" srcId="{2E8A8921-BE3D-4F50-AC22-6C0B922A5820}" destId="{747D342F-7564-44FB-A10F-D2A845DCB75E}" srcOrd="0" destOrd="0" presId="urn:microsoft.com/office/officeart/2008/layout/LinedList"/>
    <dgm:cxn modelId="{0EECFB8E-F6E1-4D23-B648-D80BFD7B8F9B}" type="presParOf" srcId="{2E8A8921-BE3D-4F50-AC22-6C0B922A5820}" destId="{62D7282F-3AA8-4F87-A566-78073F7C75EA}" srcOrd="1" destOrd="0" presId="urn:microsoft.com/office/officeart/2008/layout/LinedList"/>
    <dgm:cxn modelId="{B2046D31-882E-4168-9B6F-7D43FD1F5666}" type="presParOf" srcId="{2E8A8921-BE3D-4F50-AC22-6C0B922A5820}" destId="{1DBCDDB6-6592-4860-9B19-39ADE4DB973A}" srcOrd="2" destOrd="0" presId="urn:microsoft.com/office/officeart/2008/layout/LinedList"/>
    <dgm:cxn modelId="{C0F349F0-D130-40B3-856F-3BA37EE65F0F}" type="presParOf" srcId="{1C525586-FFAD-4571-8EBA-CC0DC154B7EA}" destId="{8DC5D532-BBE1-460A-89C0-ACB6DAE14AE6}" srcOrd="8" destOrd="0" presId="urn:microsoft.com/office/officeart/2008/layout/LinedList"/>
    <dgm:cxn modelId="{B56FC561-24A3-480C-AB59-125A4F481241}" type="presParOf" srcId="{1C525586-FFAD-4571-8EBA-CC0DC154B7EA}" destId="{22A50117-8D7B-4228-A30A-E75B7155CE8F}" srcOrd="9" destOrd="0" presId="urn:microsoft.com/office/officeart/2008/layout/LinedList"/>
    <dgm:cxn modelId="{6318A558-CE03-435F-9350-145906589A84}" type="presParOf" srcId="{1C525586-FFAD-4571-8EBA-CC0DC154B7EA}" destId="{64471B8F-F3FB-4176-B9E4-FEFEA83F20F6}" srcOrd="10" destOrd="0" presId="urn:microsoft.com/office/officeart/2008/layout/LinedList"/>
    <dgm:cxn modelId="{BABAAC55-A042-43AB-AE25-6CF1ED3F9F04}" type="presParOf" srcId="{64471B8F-F3FB-4176-B9E4-FEFEA83F20F6}" destId="{579E74B1-70B1-4C7D-8FE6-1489450309D8}" srcOrd="0" destOrd="0" presId="urn:microsoft.com/office/officeart/2008/layout/LinedList"/>
    <dgm:cxn modelId="{8D4A277A-0F05-4CB0-9BC4-61B5E56F9ED5}" type="presParOf" srcId="{64471B8F-F3FB-4176-B9E4-FEFEA83F20F6}" destId="{E42BC4FB-B2B9-457A-B6B4-FE95B4CFE12C}" srcOrd="1" destOrd="0" presId="urn:microsoft.com/office/officeart/2008/layout/LinedList"/>
    <dgm:cxn modelId="{0FADBEEB-B71D-4884-ACA5-4F8A4E30DD5A}" type="presParOf" srcId="{64471B8F-F3FB-4176-B9E4-FEFEA83F20F6}" destId="{842F7F69-C9FB-4612-A5F7-A25F5B9258C3}" srcOrd="2" destOrd="0" presId="urn:microsoft.com/office/officeart/2008/layout/LinedList"/>
    <dgm:cxn modelId="{54DFCB68-F7C7-4AF7-A8AB-70354883EC73}" type="presParOf" srcId="{1C525586-FFAD-4571-8EBA-CC0DC154B7EA}" destId="{092B1DD1-FC62-4791-879B-64E5524300D7}" srcOrd="11" destOrd="0" presId="urn:microsoft.com/office/officeart/2008/layout/LinedList"/>
    <dgm:cxn modelId="{89CFDCA0-76ED-41B9-9126-8BDE11AE9C6C}" type="presParOf" srcId="{1C525586-FFAD-4571-8EBA-CC0DC154B7EA}" destId="{20B40DFB-F8CA-4BAF-AFF6-27C7BB5E08E9}" srcOrd="12" destOrd="0" presId="urn:microsoft.com/office/officeart/2008/layout/LinedList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6750C4-ABC0-4C9D-9091-09703C9AC4E2}" type="doc">
      <dgm:prSet loTypeId="urn:microsoft.com/office/officeart/2005/8/layout/l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FC8273-F82C-49C1-88D0-B81F65EF0EC5}">
      <dgm:prSet custT="1"/>
      <dgm:spPr/>
      <dgm:t>
        <a:bodyPr/>
        <a:lstStyle/>
        <a:p>
          <a:r>
            <a:rPr lang="en-US" sz="900" b="1" dirty="0"/>
            <a:t>Key Insights</a:t>
          </a:r>
          <a:endParaRPr lang="en-IN" sz="900" dirty="0"/>
        </a:p>
      </dgm:t>
    </dgm:pt>
    <dgm:pt modelId="{2B970594-08CF-4850-8EDD-3D076ABC06DC}" type="parTrans" cxnId="{E20E84E8-2813-41F9-B80C-0EB767889401}">
      <dgm:prSet/>
      <dgm:spPr/>
      <dgm:t>
        <a:bodyPr/>
        <a:lstStyle/>
        <a:p>
          <a:endParaRPr lang="en-IN"/>
        </a:p>
      </dgm:t>
    </dgm:pt>
    <dgm:pt modelId="{804D3B1E-43B5-45F8-8FD7-FAA5EF8EB8A0}" type="sibTrans" cxnId="{E20E84E8-2813-41F9-B80C-0EB767889401}">
      <dgm:prSet/>
      <dgm:spPr/>
      <dgm:t>
        <a:bodyPr/>
        <a:lstStyle/>
        <a:p>
          <a:endParaRPr lang="en-IN"/>
        </a:p>
      </dgm:t>
    </dgm:pt>
    <dgm:pt modelId="{5F04684C-213A-40A4-BF75-9BB00EE192A9}">
      <dgm:prSet custT="1"/>
      <dgm:spPr/>
      <dgm:t>
        <a:bodyPr/>
        <a:lstStyle/>
        <a:p>
          <a:r>
            <a:rPr lang="en-US" sz="900" dirty="0"/>
            <a:t>Face Wash category size is ₹166 Cr.</a:t>
          </a:r>
          <a:endParaRPr lang="en-IN" sz="900" dirty="0"/>
        </a:p>
      </dgm:t>
    </dgm:pt>
    <dgm:pt modelId="{33EB2E9C-66A1-45FB-A163-F23B23D5B7F0}" type="parTrans" cxnId="{5699E2B3-50D0-45FF-9538-EB734158738D}">
      <dgm:prSet/>
      <dgm:spPr/>
      <dgm:t>
        <a:bodyPr/>
        <a:lstStyle/>
        <a:p>
          <a:endParaRPr lang="en-IN"/>
        </a:p>
      </dgm:t>
    </dgm:pt>
    <dgm:pt modelId="{D3B6A091-3B71-4808-85FE-2C3481B60BB9}" type="sibTrans" cxnId="{5699E2B3-50D0-45FF-9538-EB734158738D}">
      <dgm:prSet/>
      <dgm:spPr/>
      <dgm:t>
        <a:bodyPr/>
        <a:lstStyle/>
        <a:p>
          <a:endParaRPr lang="en-IN"/>
        </a:p>
      </dgm:t>
    </dgm:pt>
    <dgm:pt modelId="{68C2ABE7-7329-4D88-88C6-19E80AC3C835}">
      <dgm:prSet custT="1"/>
      <dgm:spPr/>
      <dgm:t>
        <a:bodyPr/>
        <a:lstStyle/>
        <a:p>
          <a:r>
            <a:rPr lang="en-US" sz="900" dirty="0"/>
            <a:t>Dove leads the category with 17.8% share.</a:t>
          </a:r>
          <a:endParaRPr lang="en-IN" sz="900" dirty="0"/>
        </a:p>
      </dgm:t>
    </dgm:pt>
    <dgm:pt modelId="{206BCBA7-8397-4724-A10C-4FD9D6B57C7B}" type="parTrans" cxnId="{40BDD8FD-AEF7-45AE-BCED-0D1A6C5D729F}">
      <dgm:prSet/>
      <dgm:spPr/>
      <dgm:t>
        <a:bodyPr/>
        <a:lstStyle/>
        <a:p>
          <a:endParaRPr lang="en-IN"/>
        </a:p>
      </dgm:t>
    </dgm:pt>
    <dgm:pt modelId="{505CDC2C-0D28-47B8-B3E5-4E97CA2B5074}" type="sibTrans" cxnId="{40BDD8FD-AEF7-45AE-BCED-0D1A6C5D729F}">
      <dgm:prSet/>
      <dgm:spPr/>
      <dgm:t>
        <a:bodyPr/>
        <a:lstStyle/>
        <a:p>
          <a:endParaRPr lang="en-IN"/>
        </a:p>
      </dgm:t>
    </dgm:pt>
    <dgm:pt modelId="{1C633E28-23F6-43C7-A9A9-3DC09B7C93A1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ranks #7 with 3.9% share.</a:t>
          </a:r>
          <a:endParaRPr lang="en-IN" sz="900" dirty="0"/>
        </a:p>
      </dgm:t>
    </dgm:pt>
    <dgm:pt modelId="{161488AA-B640-4A37-9CF9-87C218033D75}" type="parTrans" cxnId="{DDE8710E-5770-447C-A682-B68A2A932409}">
      <dgm:prSet/>
      <dgm:spPr/>
      <dgm:t>
        <a:bodyPr/>
        <a:lstStyle/>
        <a:p>
          <a:endParaRPr lang="en-IN"/>
        </a:p>
      </dgm:t>
    </dgm:pt>
    <dgm:pt modelId="{2757AEA1-EA51-42EB-B4D5-9B7D02309E8A}" type="sibTrans" cxnId="{DDE8710E-5770-447C-A682-B68A2A932409}">
      <dgm:prSet/>
      <dgm:spPr/>
      <dgm:t>
        <a:bodyPr/>
        <a:lstStyle/>
        <a:p>
          <a:endParaRPr lang="en-IN"/>
        </a:p>
      </dgm:t>
    </dgm:pt>
    <dgm:pt modelId="{A497CF4D-07CE-4489-A252-2F82C2339DB3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has gained </a:t>
          </a:r>
          <a:r>
            <a:rPr lang="en-IN" sz="900" b="0" i="0" dirty="0"/>
            <a:t>▲ +134 Bps YOY.</a:t>
          </a:r>
          <a:endParaRPr lang="en-IN" sz="900" dirty="0"/>
        </a:p>
      </dgm:t>
    </dgm:pt>
    <dgm:pt modelId="{D91B9C50-805A-4DFB-A3DA-617BF09A859D}" type="parTrans" cxnId="{2AC6ED87-00DB-4AA2-99EA-C5D9CD56DF5C}">
      <dgm:prSet/>
      <dgm:spPr/>
      <dgm:t>
        <a:bodyPr/>
        <a:lstStyle/>
        <a:p>
          <a:endParaRPr lang="en-IN"/>
        </a:p>
      </dgm:t>
    </dgm:pt>
    <dgm:pt modelId="{F9BCB82A-09F6-457B-B41C-73A6BA6ED05D}" type="sibTrans" cxnId="{2AC6ED87-00DB-4AA2-99EA-C5D9CD56DF5C}">
      <dgm:prSet/>
      <dgm:spPr/>
      <dgm:t>
        <a:bodyPr/>
        <a:lstStyle/>
        <a:p>
          <a:endParaRPr lang="en-IN"/>
        </a:p>
      </dgm:t>
    </dgm:pt>
    <dgm:pt modelId="{0FDB900C-170F-4DD4-878D-53CA40FFC88C}">
      <dgm:prSet custT="1"/>
      <dgm:spPr/>
      <dgm:t>
        <a:bodyPr/>
        <a:lstStyle/>
        <a:p>
          <a:pPr algn="ctr"/>
          <a:r>
            <a:rPr lang="en-US" sz="900" dirty="0"/>
            <a:t>Shampoo distribution remains under-indexed vs Face Wash Dist.</a:t>
          </a:r>
          <a:endParaRPr lang="en-IN" sz="900" dirty="0"/>
        </a:p>
      </dgm:t>
    </dgm:pt>
    <dgm:pt modelId="{466A949E-8297-47C4-ADA8-CF39B0BE8C14}" type="parTrans" cxnId="{4A6087EC-DC6D-4F3A-94A4-27EA2EBBAE78}">
      <dgm:prSet/>
      <dgm:spPr/>
      <dgm:t>
        <a:bodyPr/>
        <a:lstStyle/>
        <a:p>
          <a:endParaRPr lang="en-IN"/>
        </a:p>
      </dgm:t>
    </dgm:pt>
    <dgm:pt modelId="{8593A00F-7F6D-49E6-BAF2-7D2BDF26A4D8}" type="sibTrans" cxnId="{4A6087EC-DC6D-4F3A-94A4-27EA2EBBAE78}">
      <dgm:prSet/>
      <dgm:spPr/>
      <dgm:t>
        <a:bodyPr/>
        <a:lstStyle/>
        <a:p>
          <a:endParaRPr lang="en-IN"/>
        </a:p>
      </dgm:t>
    </dgm:pt>
    <dgm:pt modelId="{B6B5BCF5-9087-401A-873A-EC079ECFC9F0}" type="pres">
      <dgm:prSet presAssocID="{216750C4-ABC0-4C9D-9091-09703C9AC4E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A76498F-E9C0-4631-8EEA-8821E72E4AA4}" type="pres">
      <dgm:prSet presAssocID="{08FC8273-F82C-49C1-88D0-B81F65EF0EC5}" presName="horFlow" presStyleCnt="0"/>
      <dgm:spPr/>
    </dgm:pt>
    <dgm:pt modelId="{78C14A7B-3B65-4C70-B03D-5F0637CE3B5E}" type="pres">
      <dgm:prSet presAssocID="{08FC8273-F82C-49C1-88D0-B81F65EF0EC5}" presName="bigChev" presStyleLbl="node1" presStyleIdx="0" presStyleCnt="1" custScaleX="101974" custScaleY="159029"/>
      <dgm:spPr/>
    </dgm:pt>
    <dgm:pt modelId="{16B3E8AD-D598-499D-A28C-AEF6B836E47A}" type="pres">
      <dgm:prSet presAssocID="{33EB2E9C-66A1-45FB-A163-F23B23D5B7F0}" presName="parTrans" presStyleCnt="0"/>
      <dgm:spPr/>
    </dgm:pt>
    <dgm:pt modelId="{5973C509-4AB8-4735-966D-2D967081E106}" type="pres">
      <dgm:prSet presAssocID="{5F04684C-213A-40A4-BF75-9BB00EE192A9}" presName="node" presStyleLbl="alignAccFollowNode1" presStyleIdx="0" presStyleCnt="5" custScaleX="124427" custScaleY="168055">
        <dgm:presLayoutVars>
          <dgm:bulletEnabled val="1"/>
        </dgm:presLayoutVars>
      </dgm:prSet>
      <dgm:spPr/>
    </dgm:pt>
    <dgm:pt modelId="{A465F7EE-5826-4E91-8049-F2A9A480CA57}" type="pres">
      <dgm:prSet presAssocID="{D3B6A091-3B71-4808-85FE-2C3481B60BB9}" presName="sibTrans" presStyleCnt="0"/>
      <dgm:spPr/>
    </dgm:pt>
    <dgm:pt modelId="{E9687380-6A82-460F-8F04-ADD58EE968CC}" type="pres">
      <dgm:prSet presAssocID="{68C2ABE7-7329-4D88-88C6-19E80AC3C835}" presName="node" presStyleLbl="alignAccFollowNode1" presStyleIdx="1" presStyleCnt="5" custScaleX="130455" custScaleY="142315">
        <dgm:presLayoutVars>
          <dgm:bulletEnabled val="1"/>
        </dgm:presLayoutVars>
      </dgm:prSet>
      <dgm:spPr/>
    </dgm:pt>
    <dgm:pt modelId="{72E4ABD4-D89D-4E78-970A-E01D7C1F75CD}" type="pres">
      <dgm:prSet presAssocID="{505CDC2C-0D28-47B8-B3E5-4E97CA2B5074}" presName="sibTrans" presStyleCnt="0"/>
      <dgm:spPr/>
    </dgm:pt>
    <dgm:pt modelId="{2F73885B-CDC5-433F-94F0-1740FB0BA9A6}" type="pres">
      <dgm:prSet presAssocID="{1C633E28-23F6-43C7-A9A9-3DC09B7C93A1}" presName="node" presStyleLbl="alignAccFollowNode1" presStyleIdx="2" presStyleCnt="5" custScaleX="125586" custScaleY="168055">
        <dgm:presLayoutVars>
          <dgm:bulletEnabled val="1"/>
        </dgm:presLayoutVars>
      </dgm:prSet>
      <dgm:spPr/>
    </dgm:pt>
    <dgm:pt modelId="{B401AD46-3C31-42B6-8879-1972A925F20B}" type="pres">
      <dgm:prSet presAssocID="{2757AEA1-EA51-42EB-B4D5-9B7D02309E8A}" presName="sibTrans" presStyleCnt="0"/>
      <dgm:spPr/>
    </dgm:pt>
    <dgm:pt modelId="{396E9B92-0D71-4E89-AEFC-311FEFF5F3F1}" type="pres">
      <dgm:prSet presAssocID="{A497CF4D-07CE-4489-A252-2F82C2339DB3}" presName="node" presStyleLbl="alignAccFollowNode1" presStyleIdx="3" presStyleCnt="5" custScaleX="144592" custScaleY="200648">
        <dgm:presLayoutVars>
          <dgm:bulletEnabled val="1"/>
        </dgm:presLayoutVars>
      </dgm:prSet>
      <dgm:spPr/>
    </dgm:pt>
    <dgm:pt modelId="{BA19C750-A68F-4118-99F8-EF22DAEAEF6A}" type="pres">
      <dgm:prSet presAssocID="{F9BCB82A-09F6-457B-B41C-73A6BA6ED05D}" presName="sibTrans" presStyleCnt="0"/>
      <dgm:spPr/>
    </dgm:pt>
    <dgm:pt modelId="{D1A1E34E-0E15-4817-855B-5BE12623273D}" type="pres">
      <dgm:prSet presAssocID="{0FDB900C-170F-4DD4-878D-53CA40FFC88C}" presName="node" presStyleLbl="alignAccFollowNode1" presStyleIdx="4" presStyleCnt="5" custScaleX="168534" custScaleY="242471" custLinFactNeighborX="-24812" custLinFactNeighborY="3899">
        <dgm:presLayoutVars>
          <dgm:bulletEnabled val="1"/>
        </dgm:presLayoutVars>
      </dgm:prSet>
      <dgm:spPr/>
    </dgm:pt>
  </dgm:ptLst>
  <dgm:cxnLst>
    <dgm:cxn modelId="{DDE8710E-5770-447C-A682-B68A2A932409}" srcId="{08FC8273-F82C-49C1-88D0-B81F65EF0EC5}" destId="{1C633E28-23F6-43C7-A9A9-3DC09B7C93A1}" srcOrd="2" destOrd="0" parTransId="{161488AA-B640-4A37-9CF9-87C218033D75}" sibTransId="{2757AEA1-EA51-42EB-B4D5-9B7D02309E8A}"/>
    <dgm:cxn modelId="{09E68717-2B7C-4986-9199-9E7A4CAD2133}" type="presOf" srcId="{08FC8273-F82C-49C1-88D0-B81F65EF0EC5}" destId="{78C14A7B-3B65-4C70-B03D-5F0637CE3B5E}" srcOrd="0" destOrd="0" presId="urn:microsoft.com/office/officeart/2005/8/layout/lProcess3"/>
    <dgm:cxn modelId="{C558DB42-B569-4009-A08D-B352C390C8B2}" type="presOf" srcId="{5F04684C-213A-40A4-BF75-9BB00EE192A9}" destId="{5973C509-4AB8-4735-966D-2D967081E106}" srcOrd="0" destOrd="0" presId="urn:microsoft.com/office/officeart/2005/8/layout/lProcess3"/>
    <dgm:cxn modelId="{5C5BA947-3F26-4FEF-984A-1BB3849C6B5D}" type="presOf" srcId="{216750C4-ABC0-4C9D-9091-09703C9AC4E2}" destId="{B6B5BCF5-9087-401A-873A-EC079ECFC9F0}" srcOrd="0" destOrd="0" presId="urn:microsoft.com/office/officeart/2005/8/layout/lProcess3"/>
    <dgm:cxn modelId="{11EFCE7C-F4DC-42CC-872E-DC0A30708279}" type="presOf" srcId="{1C633E28-23F6-43C7-A9A9-3DC09B7C93A1}" destId="{2F73885B-CDC5-433F-94F0-1740FB0BA9A6}" srcOrd="0" destOrd="0" presId="urn:microsoft.com/office/officeart/2005/8/layout/lProcess3"/>
    <dgm:cxn modelId="{2AC6ED87-00DB-4AA2-99EA-C5D9CD56DF5C}" srcId="{08FC8273-F82C-49C1-88D0-B81F65EF0EC5}" destId="{A497CF4D-07CE-4489-A252-2F82C2339DB3}" srcOrd="3" destOrd="0" parTransId="{D91B9C50-805A-4DFB-A3DA-617BF09A859D}" sibTransId="{F9BCB82A-09F6-457B-B41C-73A6BA6ED05D}"/>
    <dgm:cxn modelId="{5699E2B3-50D0-45FF-9538-EB734158738D}" srcId="{08FC8273-F82C-49C1-88D0-B81F65EF0EC5}" destId="{5F04684C-213A-40A4-BF75-9BB00EE192A9}" srcOrd="0" destOrd="0" parTransId="{33EB2E9C-66A1-45FB-A163-F23B23D5B7F0}" sibTransId="{D3B6A091-3B71-4808-85FE-2C3481B60BB9}"/>
    <dgm:cxn modelId="{A70BAEC2-A695-428D-8ADA-C7CF89F3A02F}" type="presOf" srcId="{0FDB900C-170F-4DD4-878D-53CA40FFC88C}" destId="{D1A1E34E-0E15-4817-855B-5BE12623273D}" srcOrd="0" destOrd="0" presId="urn:microsoft.com/office/officeart/2005/8/layout/lProcess3"/>
    <dgm:cxn modelId="{2E2AF8C5-94A1-420F-A888-64EBF5EB1D79}" type="presOf" srcId="{68C2ABE7-7329-4D88-88C6-19E80AC3C835}" destId="{E9687380-6A82-460F-8F04-ADD58EE968CC}" srcOrd="0" destOrd="0" presId="urn:microsoft.com/office/officeart/2005/8/layout/lProcess3"/>
    <dgm:cxn modelId="{CF58A8CE-1852-44E8-A106-DD41EDE3B5F8}" type="presOf" srcId="{A497CF4D-07CE-4489-A252-2F82C2339DB3}" destId="{396E9B92-0D71-4E89-AEFC-311FEFF5F3F1}" srcOrd="0" destOrd="0" presId="urn:microsoft.com/office/officeart/2005/8/layout/lProcess3"/>
    <dgm:cxn modelId="{E20E84E8-2813-41F9-B80C-0EB767889401}" srcId="{216750C4-ABC0-4C9D-9091-09703C9AC4E2}" destId="{08FC8273-F82C-49C1-88D0-B81F65EF0EC5}" srcOrd="0" destOrd="0" parTransId="{2B970594-08CF-4850-8EDD-3D076ABC06DC}" sibTransId="{804D3B1E-43B5-45F8-8FD7-FAA5EF8EB8A0}"/>
    <dgm:cxn modelId="{4A6087EC-DC6D-4F3A-94A4-27EA2EBBAE78}" srcId="{08FC8273-F82C-49C1-88D0-B81F65EF0EC5}" destId="{0FDB900C-170F-4DD4-878D-53CA40FFC88C}" srcOrd="4" destOrd="0" parTransId="{466A949E-8297-47C4-ADA8-CF39B0BE8C14}" sibTransId="{8593A00F-7F6D-49E6-BAF2-7D2BDF26A4D8}"/>
    <dgm:cxn modelId="{40BDD8FD-AEF7-45AE-BCED-0D1A6C5D729F}" srcId="{08FC8273-F82C-49C1-88D0-B81F65EF0EC5}" destId="{68C2ABE7-7329-4D88-88C6-19E80AC3C835}" srcOrd="1" destOrd="0" parTransId="{206BCBA7-8397-4724-A10C-4FD9D6B57C7B}" sibTransId="{505CDC2C-0D28-47B8-B3E5-4E97CA2B5074}"/>
    <dgm:cxn modelId="{AD415EDF-65FA-42B3-B6EE-7A8A1E5DE7D7}" type="presParOf" srcId="{B6B5BCF5-9087-401A-873A-EC079ECFC9F0}" destId="{CA76498F-E9C0-4631-8EEA-8821E72E4AA4}" srcOrd="0" destOrd="0" presId="urn:microsoft.com/office/officeart/2005/8/layout/lProcess3"/>
    <dgm:cxn modelId="{4C126FD4-A3E7-4121-B64E-7DC4C5B459F7}" type="presParOf" srcId="{CA76498F-E9C0-4631-8EEA-8821E72E4AA4}" destId="{78C14A7B-3B65-4C70-B03D-5F0637CE3B5E}" srcOrd="0" destOrd="0" presId="urn:microsoft.com/office/officeart/2005/8/layout/lProcess3"/>
    <dgm:cxn modelId="{ADBE2A6F-5FD9-402D-8F0F-A96C83AD6944}" type="presParOf" srcId="{CA76498F-E9C0-4631-8EEA-8821E72E4AA4}" destId="{16B3E8AD-D598-499D-A28C-AEF6B836E47A}" srcOrd="1" destOrd="0" presId="urn:microsoft.com/office/officeart/2005/8/layout/lProcess3"/>
    <dgm:cxn modelId="{EE4EFAE2-F642-4E74-AD84-6364F2AE9BAD}" type="presParOf" srcId="{CA76498F-E9C0-4631-8EEA-8821E72E4AA4}" destId="{5973C509-4AB8-4735-966D-2D967081E106}" srcOrd="2" destOrd="0" presId="urn:microsoft.com/office/officeart/2005/8/layout/lProcess3"/>
    <dgm:cxn modelId="{889887D3-4AB5-4E02-B626-5DCB1EBD6194}" type="presParOf" srcId="{CA76498F-E9C0-4631-8EEA-8821E72E4AA4}" destId="{A465F7EE-5826-4E91-8049-F2A9A480CA57}" srcOrd="3" destOrd="0" presId="urn:microsoft.com/office/officeart/2005/8/layout/lProcess3"/>
    <dgm:cxn modelId="{6069F2D3-2F0E-4EF5-B23B-A4CB789F562A}" type="presParOf" srcId="{CA76498F-E9C0-4631-8EEA-8821E72E4AA4}" destId="{E9687380-6A82-460F-8F04-ADD58EE968CC}" srcOrd="4" destOrd="0" presId="urn:microsoft.com/office/officeart/2005/8/layout/lProcess3"/>
    <dgm:cxn modelId="{85830F1A-C580-4D9C-BC83-297231640ED1}" type="presParOf" srcId="{CA76498F-E9C0-4631-8EEA-8821E72E4AA4}" destId="{72E4ABD4-D89D-4E78-970A-E01D7C1F75CD}" srcOrd="5" destOrd="0" presId="urn:microsoft.com/office/officeart/2005/8/layout/lProcess3"/>
    <dgm:cxn modelId="{CB9A9B38-61D8-4D68-AC60-01823EEAF62D}" type="presParOf" srcId="{CA76498F-E9C0-4631-8EEA-8821E72E4AA4}" destId="{2F73885B-CDC5-433F-94F0-1740FB0BA9A6}" srcOrd="6" destOrd="0" presId="urn:microsoft.com/office/officeart/2005/8/layout/lProcess3"/>
    <dgm:cxn modelId="{8841B721-1966-4D0C-B6A7-9EACA10ECD8E}" type="presParOf" srcId="{CA76498F-E9C0-4631-8EEA-8821E72E4AA4}" destId="{B401AD46-3C31-42B6-8879-1972A925F20B}" srcOrd="7" destOrd="0" presId="urn:microsoft.com/office/officeart/2005/8/layout/lProcess3"/>
    <dgm:cxn modelId="{ABB9A776-5958-455A-9C41-59DEA47445D6}" type="presParOf" srcId="{CA76498F-E9C0-4631-8EEA-8821E72E4AA4}" destId="{396E9B92-0D71-4E89-AEFC-311FEFF5F3F1}" srcOrd="8" destOrd="0" presId="urn:microsoft.com/office/officeart/2005/8/layout/lProcess3"/>
    <dgm:cxn modelId="{7202D997-CECF-4818-A944-37A4F47DBEF7}" type="presParOf" srcId="{CA76498F-E9C0-4631-8EEA-8821E72E4AA4}" destId="{BA19C750-A68F-4118-99F8-EF22DAEAEF6A}" srcOrd="9" destOrd="0" presId="urn:microsoft.com/office/officeart/2005/8/layout/lProcess3"/>
    <dgm:cxn modelId="{DBA51DBF-1945-4595-BFDE-6DBF27368842}" type="presParOf" srcId="{CA76498F-E9C0-4631-8EEA-8821E72E4AA4}" destId="{D1A1E34E-0E15-4817-855B-5BE12623273D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DFAA5-85F2-4063-83FE-0003ECDF3129}">
      <dsp:nvSpPr>
        <dsp:cNvPr id="0" name=""/>
        <dsp:cNvSpPr/>
      </dsp:nvSpPr>
      <dsp:spPr>
        <a:xfrm>
          <a:off x="3894" y="34348"/>
          <a:ext cx="1817681" cy="104132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Insights:</a:t>
          </a:r>
          <a:endParaRPr lang="en-IN" sz="1400" kern="1200" dirty="0"/>
        </a:p>
      </dsp:txBody>
      <dsp:txXfrm>
        <a:off x="524558" y="34348"/>
        <a:ext cx="776354" cy="1041327"/>
      </dsp:txXfrm>
    </dsp:sp>
    <dsp:sp modelId="{B45F4E3A-F28A-4933-AFD2-26B673249C7F}">
      <dsp:nvSpPr>
        <dsp:cNvPr id="0" name=""/>
        <dsp:cNvSpPr/>
      </dsp:nvSpPr>
      <dsp:spPr>
        <a:xfrm>
          <a:off x="1498534" y="83215"/>
          <a:ext cx="2016731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Category ₹83 Cr (+13% YoY). Himalaya leads (21.6%) but down 3.3 pt. </a:t>
          </a:r>
          <a:r>
            <a:rPr lang="en-US" sz="900" kern="1200" dirty="0" err="1"/>
            <a:t>Mamaearth</a:t>
          </a:r>
          <a:r>
            <a:rPr lang="en-US" sz="900" kern="1200" dirty="0"/>
            <a:t> (#4, +3.1 pt) is the biggest gainer. ★ = </a:t>
          </a:r>
          <a:r>
            <a:rPr lang="en-US" sz="900" kern="1200" dirty="0" err="1"/>
            <a:t>Honasa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1970330" y="83215"/>
        <a:ext cx="1073139" cy="943592"/>
      </dsp:txXfrm>
    </dsp:sp>
    <dsp:sp modelId="{EABA3E1B-A6F8-4933-8515-1587A22C6B11}">
      <dsp:nvSpPr>
        <dsp:cNvPr id="0" name=""/>
        <dsp:cNvSpPr/>
      </dsp:nvSpPr>
      <dsp:spPr>
        <a:xfrm>
          <a:off x="3226516" y="83875"/>
          <a:ext cx="2073057" cy="94227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is the #4 Face Wash brand in MT at 11.6% (+3.1 pt YoY). The legacy leader Himalaya is down 3.3 pt. </a:t>
          </a:r>
          <a:endParaRPr lang="en-IN" sz="900" kern="1200" dirty="0"/>
        </a:p>
      </dsp:txBody>
      <dsp:txXfrm>
        <a:off x="3697652" y="83875"/>
        <a:ext cx="1130785" cy="942272"/>
      </dsp:txXfrm>
    </dsp:sp>
    <dsp:sp modelId="{F4933751-6B04-458B-9157-85E9F085117B}">
      <dsp:nvSpPr>
        <dsp:cNvPr id="0" name=""/>
        <dsp:cNvSpPr/>
      </dsp:nvSpPr>
      <dsp:spPr>
        <a:xfrm>
          <a:off x="5010824" y="83215"/>
          <a:ext cx="2053546" cy="9435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gains are distribution-led: ME weighted handling moved 81→87% &amp; The Derma Co weighted handling moved .6 →14.2%. </a:t>
          </a:r>
          <a:endParaRPr lang="en-IN" sz="900" kern="1200" dirty="0"/>
        </a:p>
      </dsp:txBody>
      <dsp:txXfrm>
        <a:off x="5482620" y="83215"/>
        <a:ext cx="1109954" cy="943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54491-AF60-4F4A-8502-1EC3307DAD88}">
      <dsp:nvSpPr>
        <dsp:cNvPr id="0" name=""/>
        <dsp:cNvSpPr/>
      </dsp:nvSpPr>
      <dsp:spPr>
        <a:xfrm>
          <a:off x="0" y="0"/>
          <a:ext cx="71159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07AF8-74BE-4443-B823-02C4F7422963}">
      <dsp:nvSpPr>
        <dsp:cNvPr id="0" name=""/>
        <dsp:cNvSpPr/>
      </dsp:nvSpPr>
      <dsp:spPr>
        <a:xfrm>
          <a:off x="0" y="0"/>
          <a:ext cx="1423189" cy="1876036"/>
        </a:xfrm>
        <a:prstGeom prst="rect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HONASA IS GAINING MODERN TRADE SHARE, LED BY STRONGER DISTRIBUTION</a:t>
          </a:r>
          <a:endParaRPr lang="en-IN" sz="1600" b="1" kern="1200" dirty="0"/>
        </a:p>
      </dsp:txBody>
      <dsp:txXfrm>
        <a:off x="0" y="0"/>
        <a:ext cx="1423189" cy="1876036"/>
      </dsp:txXfrm>
    </dsp:sp>
    <dsp:sp modelId="{5E9C23F4-222C-484A-A108-B17963B330E8}">
      <dsp:nvSpPr>
        <dsp:cNvPr id="0" name=""/>
        <dsp:cNvSpPr/>
      </dsp:nvSpPr>
      <dsp:spPr>
        <a:xfrm>
          <a:off x="1529928" y="2205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What happened —</a:t>
          </a:r>
          <a:r>
            <a:rPr lang="en-US" sz="1100" kern="1200" dirty="0"/>
            <a:t> </a:t>
          </a:r>
          <a:r>
            <a:rPr lang="en-US" sz="1100" kern="1200" dirty="0" err="1"/>
            <a:t>Mamaearth</a:t>
          </a:r>
          <a:r>
            <a:rPr lang="en-US" sz="1100" kern="1200" dirty="0"/>
            <a:t> is the </a:t>
          </a:r>
          <a:r>
            <a:rPr lang="en-IN" sz="1100" kern="1200" dirty="0"/>
            <a:t>★</a:t>
          </a:r>
          <a:r>
            <a:rPr lang="en-US" sz="1100" kern="1200" dirty="0"/>
            <a:t>#4 Face Wash brand in MT at 11.6% (+3.1 pt YoY) and is gaining in Shampoo at 3.9% (+1.3 pt). The legacy leader Himalaya is down 3.3 pt.</a:t>
          </a:r>
          <a:endParaRPr lang="en-IN" sz="1100" kern="1200" dirty="0"/>
        </a:p>
      </dsp:txBody>
      <dsp:txXfrm>
        <a:off x="1529928" y="22053"/>
        <a:ext cx="5586019" cy="441069"/>
      </dsp:txXfrm>
    </dsp:sp>
    <dsp:sp modelId="{3014EFA0-5169-4D60-A5D7-934DE2186031}">
      <dsp:nvSpPr>
        <dsp:cNvPr id="0" name=""/>
        <dsp:cNvSpPr/>
      </dsp:nvSpPr>
      <dsp:spPr>
        <a:xfrm>
          <a:off x="1423189" y="46312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FC06D-6131-4C7B-A993-903F08057C44}">
      <dsp:nvSpPr>
        <dsp:cNvPr id="0" name=""/>
        <dsp:cNvSpPr/>
      </dsp:nvSpPr>
      <dsp:spPr>
        <a:xfrm>
          <a:off x="1529928" y="485176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Why — </a:t>
          </a:r>
          <a:r>
            <a:rPr lang="en-US" sz="1100" kern="1200" dirty="0"/>
            <a:t>The gains are distribution-led: </a:t>
          </a:r>
          <a:r>
            <a:rPr lang="en-US" sz="1100" kern="1200" dirty="0" err="1"/>
            <a:t>Mamaearth</a:t>
          </a:r>
          <a:r>
            <a:rPr lang="en-US" sz="1100" kern="1200" dirty="0"/>
            <a:t> weighted handling moved 81→87% (FW) and 76→81% (Shampoo). The Derma Co is building MT from near-zero (0.6→14.2% handling).</a:t>
          </a:r>
          <a:endParaRPr lang="en-IN" sz="1100" kern="1200" dirty="0"/>
        </a:p>
      </dsp:txBody>
      <dsp:txXfrm>
        <a:off x="1529928" y="485176"/>
        <a:ext cx="5586019" cy="441069"/>
      </dsp:txXfrm>
    </dsp:sp>
    <dsp:sp modelId="{F922B264-6F20-4425-AC71-9BADBD8A3A38}">
      <dsp:nvSpPr>
        <dsp:cNvPr id="0" name=""/>
        <dsp:cNvSpPr/>
      </dsp:nvSpPr>
      <dsp:spPr>
        <a:xfrm>
          <a:off x="1423189" y="926246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7282F-3AA8-4F87-A566-78073F7C75EA}">
      <dsp:nvSpPr>
        <dsp:cNvPr id="0" name=""/>
        <dsp:cNvSpPr/>
      </dsp:nvSpPr>
      <dsp:spPr>
        <a:xfrm>
          <a:off x="1529928" y="948300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Impact — </a:t>
          </a:r>
          <a:r>
            <a:rPr lang="en-US" sz="1100" kern="1200" dirty="0" err="1"/>
            <a:t>Honasa</a:t>
          </a:r>
          <a:r>
            <a:rPr lang="en-US" sz="1100" kern="1200" dirty="0"/>
            <a:t> is converting MT shelf into share in the two largest cleansing categories, worth ₹9.6 Cr + ₹6.5 Cr monthly RR and rising.</a:t>
          </a:r>
          <a:endParaRPr lang="en-IN" sz="1100" kern="1200" dirty="0"/>
        </a:p>
      </dsp:txBody>
      <dsp:txXfrm>
        <a:off x="1529928" y="948300"/>
        <a:ext cx="5586019" cy="441069"/>
      </dsp:txXfrm>
    </dsp:sp>
    <dsp:sp modelId="{8DC5D532-BBE1-460A-89C0-ACB6DAE14AE6}">
      <dsp:nvSpPr>
        <dsp:cNvPr id="0" name=""/>
        <dsp:cNvSpPr/>
      </dsp:nvSpPr>
      <dsp:spPr>
        <a:xfrm>
          <a:off x="1423189" y="1389370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BC4FB-B2B9-457A-B6B4-FE95B4CFE12C}">
      <dsp:nvSpPr>
        <dsp:cNvPr id="0" name=""/>
        <dsp:cNvSpPr/>
      </dsp:nvSpPr>
      <dsp:spPr>
        <a:xfrm>
          <a:off x="1529928" y="1411423"/>
          <a:ext cx="5586019" cy="441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Action — </a:t>
          </a:r>
          <a:r>
            <a:rPr lang="en-US" sz="1100" kern="1200" dirty="0"/>
            <a:t>Need to protect the FW Distribution gain and checked for Shampoo assortment gaps in chains to identify further growth opportunities.</a:t>
          </a:r>
          <a:endParaRPr lang="en-IN" sz="1100" kern="1200" dirty="0"/>
        </a:p>
      </dsp:txBody>
      <dsp:txXfrm>
        <a:off x="1529928" y="1411423"/>
        <a:ext cx="5586019" cy="441069"/>
      </dsp:txXfrm>
    </dsp:sp>
    <dsp:sp modelId="{092B1DD1-FC62-4791-879B-64E5524300D7}">
      <dsp:nvSpPr>
        <dsp:cNvPr id="0" name=""/>
        <dsp:cNvSpPr/>
      </dsp:nvSpPr>
      <dsp:spPr>
        <a:xfrm>
          <a:off x="1423189" y="1852493"/>
          <a:ext cx="56927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14A7B-3B65-4C70-B03D-5F0637CE3B5E}">
      <dsp:nvSpPr>
        <dsp:cNvPr id="0" name=""/>
        <dsp:cNvSpPr/>
      </dsp:nvSpPr>
      <dsp:spPr>
        <a:xfrm>
          <a:off x="3215" y="173331"/>
          <a:ext cx="1183516" cy="738280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Key Insights</a:t>
          </a:r>
          <a:endParaRPr lang="en-IN" sz="900" kern="1200" dirty="0"/>
        </a:p>
      </dsp:txBody>
      <dsp:txXfrm>
        <a:off x="372355" y="173331"/>
        <a:ext cx="445236" cy="738280"/>
      </dsp:txXfrm>
    </dsp:sp>
    <dsp:sp modelId="{5973C509-4AB8-4735-966D-2D967081E106}">
      <dsp:nvSpPr>
        <dsp:cNvPr id="0" name=""/>
        <dsp:cNvSpPr/>
      </dsp:nvSpPr>
      <dsp:spPr>
        <a:xfrm>
          <a:off x="1035853" y="218695"/>
          <a:ext cx="1198609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Face Wash category size is ₹166 Cr.</a:t>
          </a:r>
          <a:endParaRPr lang="en-IN" sz="900" kern="1200" dirty="0"/>
        </a:p>
      </dsp:txBody>
      <dsp:txXfrm>
        <a:off x="1359629" y="218695"/>
        <a:ext cx="551058" cy="647551"/>
      </dsp:txXfrm>
    </dsp:sp>
    <dsp:sp modelId="{E9687380-6A82-460F-8F04-ADD58EE968CC}">
      <dsp:nvSpPr>
        <dsp:cNvPr id="0" name=""/>
        <dsp:cNvSpPr/>
      </dsp:nvSpPr>
      <dsp:spPr>
        <a:xfrm>
          <a:off x="2099600" y="268286"/>
          <a:ext cx="1256677" cy="54836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Dove leads the category with 17.8% share.</a:t>
          </a:r>
          <a:endParaRPr lang="en-IN" sz="900" kern="1200" dirty="0"/>
        </a:p>
      </dsp:txBody>
      <dsp:txXfrm>
        <a:off x="2373785" y="268286"/>
        <a:ext cx="708308" cy="548369"/>
      </dsp:txXfrm>
    </dsp:sp>
    <dsp:sp modelId="{2F73885B-CDC5-433F-94F0-1740FB0BA9A6}">
      <dsp:nvSpPr>
        <dsp:cNvPr id="0" name=""/>
        <dsp:cNvSpPr/>
      </dsp:nvSpPr>
      <dsp:spPr>
        <a:xfrm>
          <a:off x="3221414" y="218695"/>
          <a:ext cx="1209773" cy="64755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ranks #7 with 3.9% share.</a:t>
          </a:r>
          <a:endParaRPr lang="en-IN" sz="900" kern="1200" dirty="0"/>
        </a:p>
      </dsp:txBody>
      <dsp:txXfrm>
        <a:off x="3545190" y="218695"/>
        <a:ext cx="562222" cy="647551"/>
      </dsp:txXfrm>
    </dsp:sp>
    <dsp:sp modelId="{396E9B92-0D71-4E89-AEFC-311FEFF5F3F1}">
      <dsp:nvSpPr>
        <dsp:cNvPr id="0" name=""/>
        <dsp:cNvSpPr/>
      </dsp:nvSpPr>
      <dsp:spPr>
        <a:xfrm>
          <a:off x="4296326" y="155901"/>
          <a:ext cx="1392859" cy="77313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has gained </a:t>
          </a:r>
          <a:r>
            <a:rPr lang="en-IN" sz="900" b="0" i="0" kern="1200" dirty="0"/>
            <a:t>▲ +134 Bps YOY.</a:t>
          </a:r>
          <a:endParaRPr lang="en-IN" sz="900" kern="1200" dirty="0"/>
        </a:p>
      </dsp:txBody>
      <dsp:txXfrm>
        <a:off x="4682896" y="155901"/>
        <a:ext cx="619720" cy="773139"/>
      </dsp:txXfrm>
    </dsp:sp>
    <dsp:sp modelId="{D1A1E34E-0E15-4817-855B-5BE12623273D}">
      <dsp:nvSpPr>
        <dsp:cNvPr id="0" name=""/>
        <dsp:cNvSpPr/>
      </dsp:nvSpPr>
      <dsp:spPr>
        <a:xfrm>
          <a:off x="5520861" y="90349"/>
          <a:ext cx="1623493" cy="93429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Shampoo distribution remains under-indexed vs Face Wash Dist.</a:t>
          </a:r>
          <a:endParaRPr lang="en-IN" sz="900" kern="1200" dirty="0"/>
        </a:p>
      </dsp:txBody>
      <dsp:txXfrm>
        <a:off x="5988007" y="90349"/>
        <a:ext cx="689201" cy="934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0.13544</cdr:x>
      <cdr:y>0.03437</cdr:y>
    </cdr:from>
    <cdr:to>
      <cdr:x>0.4784</cdr:x>
      <cdr:y>0.20956</cdr:y>
    </cdr:to>
    <cdr:sp macro="" textlink="">
      <cdr:nvSpPr>
        <cdr:cNvPr id="2" name="Text 5">
          <a:extLst xmlns:a="http://schemas.openxmlformats.org/drawingml/2006/main">
            <a:ext uri="{FF2B5EF4-FFF2-40B4-BE49-F238E27FC236}">
              <a16:creationId xmlns:a16="http://schemas.microsoft.com/office/drawing/2014/main" id="{573815EF-2900-A007-314E-40A00F1BF0E4}"/>
            </a:ext>
          </a:extLst>
        </cdr:cNvPr>
        <cdr:cNvSpPr/>
      </cdr:nvSpPr>
      <cdr:spPr>
        <a:xfrm xmlns:a="http://schemas.openxmlformats.org/drawingml/2006/main">
          <a:off x="318896" y="47036"/>
          <a:ext cx="807483" cy="2397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400" b="1" kern="1200" dirty="0">
              <a:solidFill>
                <a:schemeClr val="tx1"/>
              </a:solidFill>
              <a:effectLst/>
            </a:rPr>
            <a:t>Sun Care</a:t>
          </a:r>
          <a:endParaRPr lang="en-IN" sz="1400" dirty="0">
            <a:solidFill>
              <a:schemeClr val="tx1"/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0.51536</cdr:x>
      <cdr:y>0.03243</cdr:y>
    </cdr:from>
    <cdr:to>
      <cdr:x>0.66517</cdr:x>
      <cdr:y>0.223</cdr:y>
    </cdr:to>
    <cdr:sp macro="" textlink="">
      <cdr:nvSpPr>
        <cdr:cNvPr id="3" name="Text 6">
          <a:extLst xmlns:a="http://schemas.openxmlformats.org/drawingml/2006/main">
            <a:ext uri="{FF2B5EF4-FFF2-40B4-BE49-F238E27FC236}">
              <a16:creationId xmlns:a16="http://schemas.microsoft.com/office/drawing/2014/main" id="{B8CC834D-A1C0-16B8-D31E-8DF1A466C48C}"/>
            </a:ext>
          </a:extLst>
        </cdr:cNvPr>
        <cdr:cNvSpPr/>
      </cdr:nvSpPr>
      <cdr:spPr>
        <a:xfrm xmlns:a="http://schemas.openxmlformats.org/drawingml/2006/main">
          <a:off x="1213397" y="44374"/>
          <a:ext cx="352719" cy="26079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US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GOLY </a:t>
          </a:r>
          <a:endParaRPr lang="en-IN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  <a:p xmlns:a="http://schemas.openxmlformats.org/drawingml/2006/main">
          <a:pPr marL="0" indent="0" algn="l" defTabSz="914400" rtl="0" eaLnBrk="1" latinLnBrk="0" hangingPunct="1">
            <a:buNone/>
          </a:pPr>
          <a:r>
            <a:rPr lang="en-IN" sz="800" b="1" kern="1200" dirty="0">
              <a:solidFill>
                <a:srgbClr val="2E8B57"/>
              </a:solidFill>
              <a:latin typeface="Calibri"/>
              <a:ea typeface="+mn-ea"/>
              <a:cs typeface="+mn-cs"/>
            </a:rPr>
            <a:t>▲ 356</a:t>
          </a:r>
          <a:endParaRPr lang="en-US" sz="800" b="1" kern="1200" dirty="0">
            <a:solidFill>
              <a:srgbClr val="2E8B57"/>
            </a:solidFill>
            <a:latin typeface="Calibri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0.74517</cdr:x>
      <cdr:y>0.04669</cdr:y>
    </cdr:from>
    <cdr:to>
      <cdr:x>0.97788</cdr:x>
      <cdr:y>0.185</cdr:y>
    </cdr:to>
    <cdr:sp macro="" textlink="">
      <cdr:nvSpPr>
        <cdr:cNvPr id="4" name="Text 7">
          <a:extLst xmlns:a="http://schemas.openxmlformats.org/drawingml/2006/main">
            <a:ext uri="{FF2B5EF4-FFF2-40B4-BE49-F238E27FC236}">
              <a16:creationId xmlns:a16="http://schemas.microsoft.com/office/drawing/2014/main" id="{4ED6EDAE-5A2F-8C7E-D267-522D20C6C37E}"/>
            </a:ext>
          </a:extLst>
        </cdr:cNvPr>
        <cdr:cNvSpPr/>
      </cdr:nvSpPr>
      <cdr:spPr>
        <a:xfrm xmlns:a="http://schemas.openxmlformats.org/drawingml/2006/main">
          <a:off x="1754487" y="63894"/>
          <a:ext cx="547895" cy="1892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accent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accen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sz="800" b="1">
              <a:solidFill>
                <a:srgbClr val="2E8B57"/>
              </a:solidFill>
              <a:latin typeface="Calibri"/>
            </a:rPr>
            <a:t>MoM </a:t>
          </a:r>
          <a:r>
            <a:rPr sz="800" b="1">
              <a:solidFill>
                <a:srgbClr val="008A3D"/>
              </a:solidFill>
              <a:latin typeface="Calibri"/>
            </a:rPr>
            <a:t>▲ </a:t>
          </a:r>
          <a:r>
            <a:rPr lang="en-IN" sz="800" b="1">
              <a:solidFill>
                <a:srgbClr val="008A3D"/>
              </a:solidFill>
              <a:latin typeface="Calibri"/>
            </a:rPr>
            <a:t>2</a:t>
          </a:r>
          <a:r>
            <a:rPr sz="800" b="1">
              <a:solidFill>
                <a:srgbClr val="008A3D"/>
              </a:solidFill>
              <a:latin typeface="Calibri"/>
            </a:rPr>
            <a:t>8%</a:t>
          </a:r>
          <a:endParaRPr lang="en-US" sz="800" b="1">
            <a:latin typeface="+mj-lt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0.14434</cdr:x>
      <cdr:y>0.02919</cdr:y>
    </cdr:from>
    <cdr:to>
      <cdr:x>0.60225</cdr:x>
      <cdr:y>0.21399</cdr:y>
    </cdr:to>
    <cdr:sp macro="" textlink="">
      <cdr:nvSpPr>
        <cdr:cNvPr id="2" name="Text 13">
          <a:extLst xmlns:a="http://schemas.openxmlformats.org/drawingml/2006/main">
            <a:ext uri="{FF2B5EF4-FFF2-40B4-BE49-F238E27FC236}">
              <a16:creationId xmlns:a16="http://schemas.microsoft.com/office/drawing/2014/main" id="{23EF3F87-F6D1-78AB-3C0F-B06F73797DE8}"/>
            </a:ext>
          </a:extLst>
        </cdr:cNvPr>
        <cdr:cNvSpPr/>
      </cdr:nvSpPr>
      <cdr:spPr>
        <a:xfrm xmlns:a="http://schemas.openxmlformats.org/drawingml/2006/main">
          <a:off x="320271" y="39940"/>
          <a:ext cx="1016000" cy="25290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1400" b="1" dirty="0">
              <a:solidFill>
                <a:srgbClr val="111827"/>
              </a:solidFill>
              <a:latin typeface="Calibri"/>
            </a:rPr>
            <a:t>Face Serum</a:t>
          </a:r>
          <a:endParaRPr lang="en-US" sz="1400" b="1" dirty="0">
            <a:latin typeface="+mj-lt"/>
          </a:endParaRPr>
        </a:p>
      </cdr:txBody>
    </cdr:sp>
  </cdr:relSizeAnchor>
  <cdr:relSizeAnchor xmlns:cdr="http://schemas.openxmlformats.org/drawingml/2006/chartDrawing">
    <cdr:from>
      <cdr:x>0.58556</cdr:x>
      <cdr:y>0.00022</cdr:y>
    </cdr:from>
    <cdr:to>
      <cdr:x>0.75841</cdr:x>
      <cdr:y>0.20438</cdr:y>
    </cdr:to>
    <cdr:sp macro="" textlink="">
      <cdr:nvSpPr>
        <cdr:cNvPr id="3" name="Text 14">
          <a:extLst xmlns:a="http://schemas.openxmlformats.org/drawingml/2006/main">
            <a:ext uri="{FF2B5EF4-FFF2-40B4-BE49-F238E27FC236}">
              <a16:creationId xmlns:a16="http://schemas.microsoft.com/office/drawing/2014/main" id="{CAEB6D30-513C-DF28-759F-EF186C248833}"/>
            </a:ext>
          </a:extLst>
        </cdr:cNvPr>
        <cdr:cNvSpPr/>
      </cdr:nvSpPr>
      <cdr:spPr>
        <a:xfrm xmlns:a="http://schemas.openxmlformats.org/drawingml/2006/main">
          <a:off x="1299229" y="299"/>
          <a:ext cx="383521" cy="27940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2E8B57"/>
              </a:solidFill>
              <a:latin typeface="Calibri"/>
            </a:rPr>
            <a:t>GOLY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008A3D"/>
              </a:solidFill>
              <a:latin typeface="Calibri"/>
            </a:rPr>
            <a:t>▲ 46%</a:t>
          </a:r>
          <a:endParaRPr lang="en-US" sz="900" b="1">
            <a:latin typeface="+mj-lt"/>
          </a:endParaRPr>
        </a:p>
      </cdr:txBody>
    </cdr:sp>
  </cdr:relSizeAnchor>
  <cdr:relSizeAnchor xmlns:cdr="http://schemas.openxmlformats.org/drawingml/2006/chartDrawing">
    <cdr:from>
      <cdr:x>0.81281</cdr:x>
      <cdr:y>0.0095</cdr:y>
    </cdr:from>
    <cdr:to>
      <cdr:x>0.9771</cdr:x>
      <cdr:y>0.18698</cdr:y>
    </cdr:to>
    <cdr:sp macro="" textlink="">
      <cdr:nvSpPr>
        <cdr:cNvPr id="4" name="Text 15">
          <a:extLst xmlns:a="http://schemas.openxmlformats.org/drawingml/2006/main">
            <a:ext uri="{FF2B5EF4-FFF2-40B4-BE49-F238E27FC236}">
              <a16:creationId xmlns:a16="http://schemas.microsoft.com/office/drawing/2014/main" id="{38043CDA-B4CC-0A63-1373-A029921B3813}"/>
            </a:ext>
          </a:extLst>
        </cdr:cNvPr>
        <cdr:cNvSpPr/>
      </cdr:nvSpPr>
      <cdr:spPr>
        <a:xfrm xmlns:a="http://schemas.openxmlformats.org/drawingml/2006/main">
          <a:off x="1803456" y="12999"/>
          <a:ext cx="364535" cy="24287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lIns="0" tIns="0" rIns="0" bIns="0" rtlCol="0" anchor="t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indent="0">
            <a:buNone/>
          </a:pPr>
          <a:r>
            <a:rPr lang="en-US" sz="900" b="1">
              <a:solidFill>
                <a:srgbClr val="D03A3A"/>
              </a:solidFill>
              <a:latin typeface="Calibri"/>
            </a:rPr>
            <a:t>MoM </a:t>
          </a:r>
        </a:p>
        <a:p xmlns:a="http://schemas.openxmlformats.org/drawingml/2006/main">
          <a:pPr marL="0" indent="0">
            <a:buNone/>
          </a:pPr>
          <a:r>
            <a:rPr sz="900" b="1">
              <a:solidFill>
                <a:srgbClr val="C00000"/>
              </a:solidFill>
              <a:latin typeface="Calibri"/>
            </a:rPr>
            <a:t>▼ 4%</a:t>
          </a:r>
          <a:endParaRPr lang="en-US" sz="900" b="1">
            <a:latin typeface="+mj-lt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0.00077</cdr:y>
    </cdr:from>
    <cdr:to>
      <cdr:x>0.473</cdr:x>
      <cdr:y>0.10927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0" y="1635"/>
          <a:ext cx="1455089" cy="229108"/>
        </a:xfrm>
        <a:prstGeom xmlns:a="http://schemas.openxmlformats.org/drawingml/2006/main" prst="rect">
          <a:avLst/>
        </a:prstGeom>
        <a:solidFill xmlns:a="http://schemas.openxmlformats.org/drawingml/2006/main">
          <a:srgbClr val="CC99FF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/>
            <a:t>Shampoo M/S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5.78801E-7</cdr:x>
      <cdr:y>0</cdr:y>
    </cdr:from>
    <cdr:to>
      <cdr:x>0.39837</cdr:x>
      <cdr:y>0.10323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2" y="0"/>
          <a:ext cx="1376542" cy="219456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>
              <a:solidFill>
                <a:schemeClr val="bg1"/>
              </a:solidFill>
            </a:rPr>
            <a:t>Suncare M/S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0.11347</cdr:y>
    </cdr:to>
    <cdr:sp macro="" textlink="">
      <cdr:nvSpPr>
        <cdr:cNvPr id="2" name="TextBox 9">
          <a:extLst xmlns:a="http://schemas.openxmlformats.org/drawingml/2006/main">
            <a:ext uri="{FF2B5EF4-FFF2-40B4-BE49-F238E27FC236}">
              <a16:creationId xmlns:a16="http://schemas.microsoft.com/office/drawing/2014/main" id="{50E9FDCF-2A4B-7AB8-CDCD-392E6C187C28}"/>
            </a:ext>
          </a:extLst>
        </cdr:cNvPr>
        <cdr:cNvSpPr txBox="1"/>
      </cdr:nvSpPr>
      <cdr:spPr>
        <a:xfrm xmlns:a="http://schemas.openxmlformats.org/drawingml/2006/main">
          <a:off x="0" y="0"/>
          <a:ext cx="3335193" cy="276999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200" b="1" dirty="0">
              <a:solidFill>
                <a:srgbClr val="1E2761"/>
              </a:solidFill>
              <a:ea typeface="Calibri"/>
            </a:rPr>
            <a:t>Shampoo Market Share by Zone (%)</a:t>
          </a:r>
          <a:endParaRPr lang="en-IN" sz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089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13" Type="http://schemas.openxmlformats.org/officeDocument/2006/relationships/image" Target="../media/image5.png"/><Relationship Id="rId3" Type="http://schemas.openxmlformats.org/officeDocument/2006/relationships/chart" Target="../charts/chart4.xml"/><Relationship Id="rId7" Type="http://schemas.openxmlformats.org/officeDocument/2006/relationships/chart" Target="../charts/chart8.xml"/><Relationship Id="rId12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11" Type="http://schemas.openxmlformats.org/officeDocument/2006/relationships/image" Target="../media/image3.jpeg"/><Relationship Id="rId5" Type="http://schemas.openxmlformats.org/officeDocument/2006/relationships/chart" Target="../charts/chart6.xml"/><Relationship Id="rId10" Type="http://schemas.openxmlformats.org/officeDocument/2006/relationships/image" Target="../media/image2.png"/><Relationship Id="rId4" Type="http://schemas.openxmlformats.org/officeDocument/2006/relationships/chart" Target="../charts/chart5.xml"/><Relationship Id="rId9" Type="http://schemas.openxmlformats.org/officeDocument/2006/relationships/image" Target="../media/image1.png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19.xml"/><Relationship Id="rId7" Type="http://schemas.openxmlformats.org/officeDocument/2006/relationships/chart" Target="../charts/chart23.xml"/><Relationship Id="rId12" Type="http://schemas.openxmlformats.org/officeDocument/2006/relationships/image" Target="../media/image5.png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2.xml"/><Relationship Id="rId11" Type="http://schemas.openxmlformats.org/officeDocument/2006/relationships/image" Target="../media/image4.jpg"/><Relationship Id="rId5" Type="http://schemas.openxmlformats.org/officeDocument/2006/relationships/chart" Target="../charts/chart21.xml"/><Relationship Id="rId10" Type="http://schemas.openxmlformats.org/officeDocument/2006/relationships/image" Target="../media/image3.jpeg"/><Relationship Id="rId4" Type="http://schemas.openxmlformats.org/officeDocument/2006/relationships/chart" Target="../charts/chart20.xml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25.xml"/><Relationship Id="rId7" Type="http://schemas.openxmlformats.org/officeDocument/2006/relationships/chart" Target="../charts/chart29.xml"/><Relationship Id="rId12" Type="http://schemas.openxmlformats.org/officeDocument/2006/relationships/image" Target="../media/image5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8.xml"/><Relationship Id="rId11" Type="http://schemas.openxmlformats.org/officeDocument/2006/relationships/image" Target="../media/image4.jpg"/><Relationship Id="rId5" Type="http://schemas.openxmlformats.org/officeDocument/2006/relationships/chart" Target="../charts/chart27.xml"/><Relationship Id="rId10" Type="http://schemas.openxmlformats.org/officeDocument/2006/relationships/image" Target="../media/image3.jpeg"/><Relationship Id="rId4" Type="http://schemas.openxmlformats.org/officeDocument/2006/relationships/chart" Target="../charts/chart26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1.xml"/><Relationship Id="rId7" Type="http://schemas.openxmlformats.org/officeDocument/2006/relationships/chart" Target="../charts/chart35.xml"/><Relationship Id="rId12" Type="http://schemas.openxmlformats.org/officeDocument/2006/relationships/image" Target="../media/image5.png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4.xml"/><Relationship Id="rId11" Type="http://schemas.openxmlformats.org/officeDocument/2006/relationships/image" Target="../media/image4.jpg"/><Relationship Id="rId5" Type="http://schemas.openxmlformats.org/officeDocument/2006/relationships/chart" Target="../charts/chart33.xml"/><Relationship Id="rId10" Type="http://schemas.openxmlformats.org/officeDocument/2006/relationships/image" Target="../media/image3.jpeg"/><Relationship Id="rId4" Type="http://schemas.openxmlformats.org/officeDocument/2006/relationships/chart" Target="../charts/chart32.xml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37.xml"/><Relationship Id="rId7" Type="http://schemas.openxmlformats.org/officeDocument/2006/relationships/chart" Target="../charts/chart41.xml"/><Relationship Id="rId12" Type="http://schemas.openxmlformats.org/officeDocument/2006/relationships/image" Target="../media/image5.png"/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0.xml"/><Relationship Id="rId11" Type="http://schemas.openxmlformats.org/officeDocument/2006/relationships/image" Target="../media/image4.jpg"/><Relationship Id="rId5" Type="http://schemas.openxmlformats.org/officeDocument/2006/relationships/chart" Target="../charts/chart39.xml"/><Relationship Id="rId10" Type="http://schemas.openxmlformats.org/officeDocument/2006/relationships/image" Target="../media/image3.jpeg"/><Relationship Id="rId4" Type="http://schemas.openxmlformats.org/officeDocument/2006/relationships/chart" Target="../charts/chart38.xml"/><Relationship Id="rId9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3.xml"/><Relationship Id="rId7" Type="http://schemas.openxmlformats.org/officeDocument/2006/relationships/chart" Target="../charts/chart47.xml"/><Relationship Id="rId12" Type="http://schemas.openxmlformats.org/officeDocument/2006/relationships/image" Target="../media/image5.png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6.xml"/><Relationship Id="rId11" Type="http://schemas.openxmlformats.org/officeDocument/2006/relationships/image" Target="../media/image4.jpg"/><Relationship Id="rId5" Type="http://schemas.openxmlformats.org/officeDocument/2006/relationships/chart" Target="../charts/chart45.xml"/><Relationship Id="rId10" Type="http://schemas.openxmlformats.org/officeDocument/2006/relationships/image" Target="../media/image3.jpeg"/><Relationship Id="rId4" Type="http://schemas.openxmlformats.org/officeDocument/2006/relationships/chart" Target="../charts/chart44.xml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chart" Target="../charts/chart49.xml"/><Relationship Id="rId7" Type="http://schemas.openxmlformats.org/officeDocument/2006/relationships/chart" Target="../charts/chart53.xml"/><Relationship Id="rId12" Type="http://schemas.openxmlformats.org/officeDocument/2006/relationships/image" Target="../media/image5.png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2.xml"/><Relationship Id="rId11" Type="http://schemas.openxmlformats.org/officeDocument/2006/relationships/image" Target="../media/image4.jpg"/><Relationship Id="rId5" Type="http://schemas.openxmlformats.org/officeDocument/2006/relationships/chart" Target="../charts/chart51.xml"/><Relationship Id="rId10" Type="http://schemas.openxmlformats.org/officeDocument/2006/relationships/image" Target="../media/image3.jpeg"/><Relationship Id="rId4" Type="http://schemas.openxmlformats.org/officeDocument/2006/relationships/chart" Target="../charts/chart50.xml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7" Type="http://schemas.openxmlformats.org/officeDocument/2006/relationships/image" Target="../media/image21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417740"/>
            <a:ext cx="7580694" cy="3077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SUMMARY &amp; KEY INSIGHTS JUNE’26 + Q1 FY27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Jun'26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36.52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May'26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40.19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MoM ▼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9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36.14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 L3M ▲ </a:t>
            </a:r>
            <a:r>
              <a:rPr lang="en-IN" sz="900" b="1" dirty="0">
                <a:solidFill>
                  <a:srgbClr val="008A3D"/>
                </a:solidFill>
                <a:latin typeface="Calibri"/>
              </a:rPr>
              <a:t>1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Calibri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60.8%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</a:t>
            </a:r>
            <a:r>
              <a:rPr lang="en-US" sz="900" b="1" u="none" strike="noStrike" dirty="0">
                <a:solidFill>
                  <a:srgbClr val="176C5D"/>
                </a:solidFill>
                <a:effectLst/>
                <a:uFillTx/>
                <a:latin typeface="Calibri"/>
                <a:ea typeface="Aptos Display"/>
              </a:rPr>
              <a:t>₹ 13.81 Cr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5A85"/>
                </a:solidFill>
                <a:latin typeface="Calibri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 flipV="1">
            <a:off x="329564" y="1863590"/>
            <a:ext cx="6908829" cy="9894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Jun'26 NSV closed at Rs.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36.52 Cr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61% YoY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1.1%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L3M Avg, adding +1,381 Lacs YoY — the best-ever June despite a seasonal ▼9% MoM off the May record.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closed at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₹112.60 Cr, </a:t>
            </a:r>
            <a:r>
              <a:rPr lang="en-US" sz="12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61%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Q1 FY26 (₹69.92 Cr)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zone grew ≥54%;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broad-based, not a base effect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Reliance and Apollo delivered 81.0% of Jun'26 offtake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concentration steady vs May; Walmart CNC billed nil in Jun (watch-out).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remain the growth engines &amp;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69.9% portfolio share.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p14:modId xmlns:p14="http://schemas.microsoft.com/office/powerpoint/2010/main"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6B156FE4-172B-BA3D-9CDC-FAB8090CC183}"/>
              </a:ext>
            </a:extLst>
          </p:cNvPr>
          <p:cNvSpPr txBox="1"/>
          <p:nvPr/>
        </p:nvSpPr>
        <p:spPr>
          <a:xfrm>
            <a:off x="4315306" y="1576925"/>
            <a:ext cx="2894992" cy="29655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>
              <a:defRPr sz="1200" b="1">
                <a:solidFill>
                  <a:srgbClr val="1F5A85"/>
                </a:solidFill>
                <a:latin typeface="Calibri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en-US" dirty="0"/>
              <a:t>Jun’26 Chain Sales Contribution % &amp; Sales</a:t>
            </a:r>
            <a:endParaRPr lang="en-IN" dirty="0"/>
          </a:p>
        </p:txBody>
      </p:sp>
      <p:graphicFrame>
        <p:nvGraphicFramePr>
          <p:cNvPr id="27" name="Chart 1">
            <a:extLst>
              <a:ext uri="{FF2B5EF4-FFF2-40B4-BE49-F238E27FC236}">
                <a16:creationId xmlns:a16="http://schemas.microsoft.com/office/drawing/2014/main"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1" name="Text 5">
            <a:extLst>
              <a:ext uri="{FF2B5EF4-FFF2-40B4-BE49-F238E27FC236}">
                <a16:creationId xmlns:a16="http://schemas.microsoft.com/office/drawing/2014/main"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Calibri"/>
              </a:rPr>
              <a:t>Best-ever</a:t>
            </a:r>
            <a:r>
              <a:rPr lang="en-IN" sz="1100" b="1" dirty="0">
                <a:solidFill>
                  <a:srgbClr val="176C5D"/>
                </a:solidFill>
                <a:latin typeface="Calibri"/>
              </a:rPr>
              <a:t> June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a16:creationId xmlns:a16="http://schemas.microsoft.com/office/drawing/2014/main"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Aptos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1A1F2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318543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a16:colId xmlns:a16="http://schemas.microsoft.com/office/drawing/2014/main" val="1838313960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50666695"/>
                    </a:ext>
                  </a:extLst>
                </a:gridCol>
                <a:gridCol w="535654">
                  <a:extLst>
                    <a:ext uri="{9D8B030D-6E8A-4147-A177-3AD203B41FA5}">
                      <a16:colId xmlns:a16="http://schemas.microsoft.com/office/drawing/2014/main" val="3063166510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2768301204"/>
                    </a:ext>
                  </a:extLst>
                </a:gridCol>
                <a:gridCol w="585873">
                  <a:extLst>
                    <a:ext uri="{9D8B030D-6E8A-4147-A177-3AD203B41FA5}">
                      <a16:colId xmlns:a16="http://schemas.microsoft.com/office/drawing/2014/main" val="3413074066"/>
                    </a:ext>
                  </a:extLst>
                </a:gridCol>
                <a:gridCol w="552394">
                  <a:extLst>
                    <a:ext uri="{9D8B030D-6E8A-4147-A177-3AD203B41FA5}">
                      <a16:colId xmlns:a16="http://schemas.microsoft.com/office/drawing/2014/main" val="672052579"/>
                    </a:ext>
                  </a:extLst>
                </a:gridCol>
                <a:gridCol w="602611">
                  <a:extLst>
                    <a:ext uri="{9D8B030D-6E8A-4147-A177-3AD203B41FA5}">
                      <a16:colId xmlns:a16="http://schemas.microsoft.com/office/drawing/2014/main" val="2277892322"/>
                    </a:ext>
                  </a:extLst>
                </a:gridCol>
                <a:gridCol w="636090">
                  <a:extLst>
                    <a:ext uri="{9D8B030D-6E8A-4147-A177-3AD203B41FA5}">
                      <a16:colId xmlns:a16="http://schemas.microsoft.com/office/drawing/2014/main" val="1105121212"/>
                    </a:ext>
                  </a:extLst>
                </a:gridCol>
                <a:gridCol w="669568">
                  <a:extLst>
                    <a:ext uri="{9D8B030D-6E8A-4147-A177-3AD203B41FA5}">
                      <a16:colId xmlns:a16="http://schemas.microsoft.com/office/drawing/2014/main" val="1902174447"/>
                    </a:ext>
                  </a:extLst>
                </a:gridCol>
                <a:gridCol w="719786">
                  <a:extLst>
                    <a:ext uri="{9D8B030D-6E8A-4147-A177-3AD203B41FA5}">
                      <a16:colId xmlns:a16="http://schemas.microsoft.com/office/drawing/2014/main" val="1849337359"/>
                    </a:ext>
                  </a:extLst>
                </a:gridCol>
                <a:gridCol w="619350">
                  <a:extLst>
                    <a:ext uri="{9D8B030D-6E8A-4147-A177-3AD203B41FA5}">
                      <a16:colId xmlns:a16="http://schemas.microsoft.com/office/drawing/2014/main"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Avg(MAM)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Jun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1,257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1,412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1,333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▼ 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2,271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2,761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3,234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4,019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3,652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3,614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▼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746952" y="3757079"/>
            <a:ext cx="563590" cy="19771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1310541" y="3737538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32%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793618" y="3741302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2%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p14:modId xmlns:p14="http://schemas.microsoft.com/office/powerpoint/2010/main" val="2150354223"/>
              </p:ext>
            </p:extLst>
          </p:nvPr>
        </p:nvGraphicFramePr>
        <p:xfrm>
          <a:off x="210851" y="3703011"/>
          <a:ext cx="2323982" cy="1365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893646" y="3749587"/>
            <a:ext cx="781916" cy="1976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517968" y="3757079"/>
            <a:ext cx="631660" cy="192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GOLY ▲ 33%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4305437" y="3741022"/>
            <a:ext cx="429635" cy="230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17%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p14:modId xmlns:p14="http://schemas.microsoft.com/office/powerpoint/2010/main" val="2651253694"/>
              </p:ext>
            </p:extLst>
          </p:nvPr>
        </p:nvGraphicFramePr>
        <p:xfrm>
          <a:off x="2672857" y="3707938"/>
          <a:ext cx="2323982" cy="1374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486475" y="3767568"/>
            <a:ext cx="727073" cy="237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6076907" y="3771849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69%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571329" y="3778708"/>
            <a:ext cx="727073" cy="211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30%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p14:modId xmlns:p14="http://schemas.microsoft.com/office/powerpoint/2010/main" val="1233770975"/>
              </p:ext>
            </p:extLst>
          </p:nvPr>
        </p:nvGraphicFramePr>
        <p:xfrm>
          <a:off x="5118084" y="3683583"/>
          <a:ext cx="2268449" cy="1385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Calibri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p14:modId xmlns:p14="http://schemas.microsoft.com/office/powerpoint/2010/main"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p14:modId xmlns:p14="http://schemas.microsoft.com/office/powerpoint/2010/main" val="688849826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p14:modId xmlns:p14="http://schemas.microsoft.com/office/powerpoint/2010/main" val="3438448836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81" name="Text 5">
            <a:extLst>
              <a:ext uri="{FF2B5EF4-FFF2-40B4-BE49-F238E27FC236}">
                <a16:creationId xmlns:a16="http://schemas.microsoft.com/office/drawing/2014/main" id="{573815EF-2900-A007-314E-40A00F1BF0E4}"/>
              </a:ext>
            </a:extLst>
          </p:cNvPr>
          <p:cNvSpPr/>
          <p:nvPr/>
        </p:nvSpPr>
        <p:spPr>
          <a:xfrm>
            <a:off x="547229" y="6193741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4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a16:creationId xmlns:a16="http://schemas.microsoft.com/office/drawing/2014/main" id="{B8CC834D-A1C0-16B8-D31E-8DF1A466C48C}"/>
              </a:ext>
            </a:extLst>
          </p:cNvPr>
          <p:cNvSpPr/>
          <p:nvPr/>
        </p:nvSpPr>
        <p:spPr>
          <a:xfrm>
            <a:off x="1076354" y="6197429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GOLY ▲ 1181%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a16:creationId xmlns:a16="http://schemas.microsoft.com/office/drawing/2014/main" id="{4ED6EDAE-5A2F-8C7E-D267-522D20C6C37E}"/>
              </a:ext>
            </a:extLst>
          </p:cNvPr>
          <p:cNvSpPr/>
          <p:nvPr/>
        </p:nvSpPr>
        <p:spPr>
          <a:xfrm>
            <a:off x="1787285" y="6185199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Calibri"/>
              </a:rPr>
              <a:t>MoM ▲ 8%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Calibri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5919" y="616070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6" y="6191803"/>
            <a:ext cx="170596" cy="36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21">
            <a:extLst>
              <a:ext uri="{FF2B5EF4-FFF2-40B4-BE49-F238E27FC236}">
                <a16:creationId xmlns:a16="http://schemas.microsoft.com/office/drawing/2014/main"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800" dirty="0">
                <a:latin typeface="Calibri"/>
              </a:rPr>
              <a:t>Rice Dewy Bright Face Wash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Face Wash portfolio with NSV of ₹5.40 Cr.</a:t>
            </a:r>
          </a:p>
          <a:p>
            <a:r>
              <a:rPr lang="en-US" sz="800" dirty="0">
                <a:latin typeface="Calibri"/>
              </a:rPr>
              <a:t>Onion Shampoo variants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>
                <a:latin typeface="Calibri"/>
              </a:rPr>
              <a:t>Ultra Light Sunscreen from </a:t>
            </a:r>
            <a:r>
              <a:rPr lang="en-US" sz="800" dirty="0" err="1">
                <a:latin typeface="Calibri"/>
              </a:rPr>
              <a:t>Mamaearth</a:t>
            </a:r>
            <a:r>
              <a:rPr lang="en-US" sz="800" dirty="0">
                <a:latin typeface="Calibri"/>
              </a:rPr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 (May'26 SKU basis): </a:t>
            </a:r>
            <a:r>
              <a:rPr lang="en-US" sz="900" dirty="0">
                <a:latin typeface="Calibri"/>
              </a:rPr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latin typeface="Calibri"/>
              </a:rPr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>
                <a:latin typeface="Calibri"/>
              </a:rPr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MAY'26 VS MAY'25  (QTY EXTRACT: MAY'26 BASIS — JUN'26 AWAITED)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  Description automatically generated">
            <a:extLst>
              <a:ext uri="{FF2B5EF4-FFF2-40B4-BE49-F238E27FC236}">
                <a16:creationId xmlns:a16="http://schemas.microsoft.com/office/drawing/2014/main"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320040" y="3777030"/>
            <a:ext cx="172162" cy="355054"/>
          </a:xfrm>
          <a:prstGeom prst="rect">
            <a:avLst/>
          </a:prstGeom>
        </p:spPr>
      </p:pic>
      <p:pic>
        <p:nvPicPr>
          <p:cNvPr id="13" name="Picture 12" descr="A yellow bottle of sunscreen  Description automatically generated">
            <a:extLst>
              <a:ext uri="{FF2B5EF4-FFF2-40B4-BE49-F238E27FC236}">
                <a16:creationId xmlns:a16="http://schemas.microsoft.com/office/drawing/2014/main"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248859" y="3777030"/>
            <a:ext cx="146146" cy="330068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154431" y="6181264"/>
            <a:ext cx="221578" cy="387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705178" y="3764389"/>
            <a:ext cx="181821" cy="38669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a16:colId xmlns:a16="http://schemas.microsoft.com/office/drawing/2014/main" val="7783453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65270024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554711202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6436525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134832599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4191564383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2820173786"/>
                    </a:ext>
                  </a:extLst>
                </a:gridCol>
                <a:gridCol w="904677">
                  <a:extLst>
                    <a:ext uri="{9D8B030D-6E8A-4147-A177-3AD203B41FA5}">
                      <a16:colId xmlns:a16="http://schemas.microsoft.com/office/drawing/2014/main"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a16:colId xmlns:a16="http://schemas.microsoft.com/office/drawing/2014/main" val="187985350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16742566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08734033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367184648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3296042857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794637982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2151274359"/>
                    </a:ext>
                  </a:extLst>
                </a:gridCol>
                <a:gridCol w="911974">
                  <a:extLst>
                    <a:ext uri="{9D8B030D-6E8A-4147-A177-3AD203B41FA5}">
                      <a16:colId xmlns:a16="http://schemas.microsoft.com/office/drawing/2014/main"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008A3D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18215"/>
              </p:ext>
            </p:extLst>
          </p:nvPr>
        </p:nvGraphicFramePr>
        <p:xfrm>
          <a:off x="183651" y="572366"/>
          <a:ext cx="7164935" cy="162718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a16:colId xmlns:a16="http://schemas.microsoft.com/office/drawing/2014/main" val="3848970531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1522408997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226368320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828023372"/>
                    </a:ext>
                  </a:extLst>
                </a:gridCol>
                <a:gridCol w="589520">
                  <a:extLst>
                    <a:ext uri="{9D8B030D-6E8A-4147-A177-3AD203B41FA5}">
                      <a16:colId xmlns:a16="http://schemas.microsoft.com/office/drawing/2014/main" val="3845673820"/>
                    </a:ext>
                  </a:extLst>
                </a:gridCol>
                <a:gridCol w="574404">
                  <a:extLst>
                    <a:ext uri="{9D8B030D-6E8A-4147-A177-3AD203B41FA5}">
                      <a16:colId xmlns:a16="http://schemas.microsoft.com/office/drawing/2014/main" val="4180414308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3702109773"/>
                    </a:ext>
                  </a:extLst>
                </a:gridCol>
                <a:gridCol w="695331">
                  <a:extLst>
                    <a:ext uri="{9D8B030D-6E8A-4147-A177-3AD203B41FA5}">
                      <a16:colId xmlns:a16="http://schemas.microsoft.com/office/drawing/2014/main" val="3174125610"/>
                    </a:ext>
                  </a:extLst>
                </a:gridCol>
                <a:gridCol w="483709">
                  <a:extLst>
                    <a:ext uri="{9D8B030D-6E8A-4147-A177-3AD203B41FA5}">
                      <a16:colId xmlns:a16="http://schemas.microsoft.com/office/drawing/2014/main" val="3399407347"/>
                    </a:ext>
                  </a:extLst>
                </a:gridCol>
                <a:gridCol w="604636">
                  <a:extLst>
                    <a:ext uri="{9D8B030D-6E8A-4147-A177-3AD203B41FA5}">
                      <a16:colId xmlns:a16="http://schemas.microsoft.com/office/drawing/2014/main" val="443509617"/>
                    </a:ext>
                  </a:extLst>
                </a:gridCol>
                <a:gridCol w="680215">
                  <a:extLst>
                    <a:ext uri="{9D8B030D-6E8A-4147-A177-3AD203B41FA5}">
                      <a16:colId xmlns:a16="http://schemas.microsoft.com/office/drawing/2014/main"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/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1,994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2,184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2,470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2,825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2,552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2,648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▼ 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1,098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1,010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388%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▼ 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38%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2,271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3,652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3,614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5860741"/>
                  </a:ext>
                </a:extLst>
              </a:tr>
            </a:tbl>
          </a:graphicData>
        </a:graphic>
      </p:graphicFrame>
      <p:sp>
        <p:nvSpPr>
          <p:cNvPr id="20" name="Shape 21">
            <a:extLst>
              <a:ext uri="{FF2B5EF4-FFF2-40B4-BE49-F238E27FC236}">
                <a16:creationId xmlns:a16="http://schemas.microsoft.com/office/drawing/2014/main" id="{5B7DF914-149A-FC9E-7E02-630EAAC9B064}"/>
              </a:ext>
            </a:extLst>
          </p:cNvPr>
          <p:cNvSpPr/>
          <p:nvPr/>
        </p:nvSpPr>
        <p:spPr>
          <a:xfrm>
            <a:off x="208385" y="2216475"/>
            <a:ext cx="7140201" cy="1031161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Strategic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Brand</a:t>
            </a:r>
            <a:r>
              <a:rPr lang="en-US" sz="1200" b="1" spc="-25" dirty="0">
                <a:effectLst/>
                <a:latin typeface="Calibri"/>
                <a:ea typeface="Arial MT"/>
                <a:cs typeface="Calibri"/>
              </a:rPr>
              <a:t> </a:t>
            </a:r>
            <a:r>
              <a:rPr lang="en-US" sz="1200" b="1" dirty="0">
                <a:effectLst/>
                <a:latin typeface="Calibri"/>
                <a:ea typeface="Arial MT"/>
                <a:cs typeface="Calibri"/>
              </a:rPr>
              <a:t>Portfolio</a:t>
            </a:r>
          </a:p>
          <a:p>
            <a:endParaRPr lang="en-US" sz="1000" b="1" dirty="0">
              <a:solidFill>
                <a:srgbClr val="1F7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portfolio Leader at 69.9% share, growing a steady +28% YoY. </a:t>
            </a:r>
          </a:p>
          <a:p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 scaling brand now 27.7% of NSV vs single digits a </a:t>
            </a:r>
            <a:r>
              <a:rPr lang="en-US" sz="1000" dirty="0" err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ago, on a genuinely low FY25 base.</a:t>
            </a: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holds structural growth at ▲ 24% YoY, though Jun cooled ▼ 14% MoM with Sun Care seasonality. Contribution remains small (1.7%), so it is not yet moving the overall portfolio trajectory.</a:t>
            </a:r>
            <a:endParaRPr lang="en-IN" sz="10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Calibri"/>
              </a:rPr>
              <a:t>Zone share, Jun’26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Calibri"/>
              </a:rPr>
              <a:t>Zone Jun’26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Calibri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329184" y="5389561"/>
            <a:ext cx="6903719" cy="5163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numCol="1" spcCol="720000" rtlCol="0" anchor="t">
            <a:noAutofit/>
          </a:bodyPr>
          <a:lstStyle/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Zone Insights | Jun’26</a:t>
            </a:r>
            <a:endParaRPr lang="en-US" dirty="0">
              <a:solidFill>
                <a:srgbClr val="1E746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West remained the largest zone</a:t>
            </a:r>
            <a:r>
              <a:rPr lang="en-US" sz="1400" dirty="0">
                <a:latin typeface="Calibri"/>
              </a:rPr>
              <a:t> with NSV of </a:t>
            </a:r>
            <a:r>
              <a:rPr lang="en-US" sz="1400" b="1" dirty="0">
                <a:latin typeface="Calibri"/>
              </a:rPr>
              <a:t>₹963 Lacs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26.4%</a:t>
            </a:r>
            <a:r>
              <a:rPr lang="en-US" sz="1400" dirty="0">
                <a:latin typeface="Calibri"/>
              </a:rPr>
              <a:t> to overall MT offtake.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Every zone grew ≥54% YoY in Jun’26</a:t>
            </a:r>
            <a:r>
              <a:rPr lang="en-US" sz="1400" dirty="0">
                <a:latin typeface="Calibri"/>
              </a:rPr>
              <a:t> — the growth mix stays broad-based across the national footprint.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East delivered the strongest YoY growth at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 71%, </a:t>
            </a:r>
            <a:r>
              <a:rPr lang="en-US" sz="1400" dirty="0">
                <a:latin typeface="Calibri"/>
              </a:rPr>
              <a:t>with North (+65%) and South-1 (+63%) close behind — scale-up momentum is holding.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Dmart</a:t>
            </a:r>
            <a:r>
              <a:rPr lang="en-US" sz="1400" b="1" dirty="0">
                <a:latin typeface="Calibri"/>
              </a:rPr>
              <a:t> is the #1 chain in 4 out of 5 zones</a:t>
            </a:r>
            <a:r>
              <a:rPr lang="en-US" sz="1400" dirty="0">
                <a:latin typeface="Calibri"/>
              </a:rPr>
              <a:t>: North, South-1, South-2 and West — overtaking Apollo in South-1 this month. This confirms </a:t>
            </a:r>
            <a:r>
              <a:rPr lang="en-US" sz="1400" dirty="0" err="1">
                <a:latin typeface="Calibri"/>
              </a:rPr>
              <a:t>Dmart</a:t>
            </a:r>
            <a:r>
              <a:rPr lang="en-US" sz="1400" dirty="0">
                <a:latin typeface="Calibri"/>
              </a:rPr>
              <a:t> as a national growth engine, not limited to one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Apollo holds #2 in the southern zones and remains the pharmacy-channel engine</a:t>
            </a:r>
            <a:r>
              <a:rPr lang="en-US" sz="1400" dirty="0">
                <a:latin typeface="Calibri"/>
              </a:rPr>
              <a:t>, though Jun cooled ▼20% MoM after the May high, largely driven by </a:t>
            </a:r>
            <a:r>
              <a:rPr lang="en-US" sz="1400" b="1" dirty="0">
                <a:latin typeface="Calibri"/>
              </a:rPr>
              <a:t>The Derma Co.</a:t>
            </a:r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dirty="0">
                <a:solidFill>
                  <a:srgbClr val="1E7461"/>
                </a:solidFill>
                <a:latin typeface="Calibri"/>
              </a:rPr>
              <a:t>Brand &amp; Category Repeats Across </a:t>
            </a:r>
            <a:r>
              <a:rPr lang="en-US" b="1" dirty="0">
                <a:solidFill>
                  <a:schemeClr val="bg1"/>
                </a:solidFill>
                <a:latin typeface="Calibri"/>
              </a:rPr>
              <a:t>Zones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The Derma Co. held ₹1,010 Lacs in Jun (record ₹1,100 in May)</a:t>
            </a:r>
            <a:r>
              <a:rPr lang="en-US" sz="1400" dirty="0">
                <a:latin typeface="Calibri"/>
              </a:rPr>
              <a:t>, contributing </a:t>
            </a:r>
            <a:r>
              <a:rPr lang="en-US" sz="1400" b="1" dirty="0">
                <a:latin typeface="Calibri"/>
              </a:rPr>
              <a:t>27.7%</a:t>
            </a:r>
            <a:r>
              <a:rPr lang="en-US" sz="1400" dirty="0">
                <a:latin typeface="Calibri"/>
              </a:rPr>
              <a:t> to the portfolio. The brand grew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▲388% </a:t>
            </a:r>
            <a:r>
              <a:rPr lang="en-US" sz="1400" b="1" dirty="0">
                <a:latin typeface="Calibri"/>
              </a:rPr>
              <a:t>YoY</a:t>
            </a:r>
            <a:r>
              <a:rPr lang="en-US" sz="1400" dirty="0">
                <a:latin typeface="Calibri"/>
              </a:rPr>
              <a:t>, still the fastest-scaling growth engine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Face Cleanser and Sun Care remained the top 2 growth drivers for The Derma Co. in 5 out of 6 zones</a:t>
            </a:r>
            <a:r>
              <a:rPr lang="en-US" sz="1400" dirty="0">
                <a:latin typeface="Calibri"/>
              </a:rPr>
              <a:t>, making them the clearest scale-up levers. </a:t>
            </a:r>
            <a:r>
              <a:rPr lang="en-US" sz="1400" dirty="0">
                <a:solidFill>
                  <a:srgbClr val="404040"/>
                </a:solidFill>
                <a:latin typeface="Calibri"/>
              </a:rPr>
              <a:t>FSN grew +32% YoY — improving, but still slower than the network (+61%).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/>
              </a:rPr>
              <a:t>Mamaearth</a:t>
            </a:r>
            <a:r>
              <a:rPr lang="en-US" sz="1400" b="1" dirty="0">
                <a:latin typeface="Calibri"/>
              </a:rPr>
              <a:t> Face Cleanser and Shampoo ranked as the #1/#2 sub-categories by value across every zone</a:t>
            </a:r>
            <a:r>
              <a:rPr lang="en-US" sz="1400" dirty="0">
                <a:latin typeface="Calibri"/>
              </a:rPr>
              <a:t>, confirming their role as stable national anchors.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/>
              </a:rPr>
              <a:t>Sun Care cooled seasonally across zones (▼30% MoM off the summer peak)</a:t>
            </a:r>
            <a:r>
              <a:rPr lang="en-US" sz="1400" dirty="0">
                <a:latin typeface="Calibri"/>
              </a:rPr>
              <a:t> — in line with category seasonality; sunscreen distribution gains should be protected into monsoon.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54309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a16:colId xmlns:a16="http://schemas.microsoft.com/office/drawing/2014/main" val="1796692111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4130509951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826358126"/>
                    </a:ext>
                  </a:extLst>
                </a:gridCol>
                <a:gridCol w="676495">
                  <a:extLst>
                    <a:ext uri="{9D8B030D-6E8A-4147-A177-3AD203B41FA5}">
                      <a16:colId xmlns:a16="http://schemas.microsoft.com/office/drawing/2014/main" val="354505304"/>
                    </a:ext>
                  </a:extLst>
                </a:gridCol>
                <a:gridCol w="659149">
                  <a:extLst>
                    <a:ext uri="{9D8B030D-6E8A-4147-A177-3AD203B41FA5}">
                      <a16:colId xmlns:a16="http://schemas.microsoft.com/office/drawing/2014/main" val="816571884"/>
                    </a:ext>
                  </a:extLst>
                </a:gridCol>
                <a:gridCol w="693841">
                  <a:extLst>
                    <a:ext uri="{9D8B030D-6E8A-4147-A177-3AD203B41FA5}">
                      <a16:colId xmlns:a16="http://schemas.microsoft.com/office/drawing/2014/main" val="555739565"/>
                    </a:ext>
                  </a:extLst>
                </a:gridCol>
                <a:gridCol w="624457">
                  <a:extLst>
                    <a:ext uri="{9D8B030D-6E8A-4147-A177-3AD203B41FA5}">
                      <a16:colId xmlns:a16="http://schemas.microsoft.com/office/drawing/2014/main" val="2296702728"/>
                    </a:ext>
                  </a:extLst>
                </a:gridCol>
                <a:gridCol w="503035">
                  <a:extLst>
                    <a:ext uri="{9D8B030D-6E8A-4147-A177-3AD203B41FA5}">
                      <a16:colId xmlns:a16="http://schemas.microsoft.com/office/drawing/2014/main" val="3831480518"/>
                    </a:ext>
                  </a:extLst>
                </a:gridCol>
                <a:gridCol w="797917">
                  <a:extLst>
                    <a:ext uri="{9D8B030D-6E8A-4147-A177-3AD203B41FA5}">
                      <a16:colId xmlns:a16="http://schemas.microsoft.com/office/drawing/2014/main" val="1086156123"/>
                    </a:ext>
                  </a:extLst>
                </a:gridCol>
                <a:gridCol w="711187">
                  <a:extLst>
                    <a:ext uri="{9D8B030D-6E8A-4147-A177-3AD203B41FA5}">
                      <a16:colId xmlns:a16="http://schemas.microsoft.com/office/drawing/2014/main"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/>
                      </a:r>
                      <a:endParaRPr lang="en-IN" sz="14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Jun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385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11%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500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847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765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741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773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▼ 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334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428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486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1,015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937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/>
                        </a:rPr>
                        <a:t>203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348988"/>
                  </a:ext>
                </a:extLst>
              </a:tr>
            </a:tbl>
          </a:graphicData>
        </a:graphic>
      </p:graphicFrame>
      <p:sp>
        <p:nvSpPr>
          <p:cNvPr id="15" name="Shape 64">
            <a:extLst>
              <a:ext uri="{FF2B5EF4-FFF2-40B4-BE49-F238E27FC236}">
                <a16:creationId xmlns:a16="http://schemas.microsoft.com/office/drawing/2014/main" id="{E7CD4EB2-142A-8EFA-51E0-5F02C7C991AA}"/>
              </a:ext>
            </a:extLst>
          </p:cNvPr>
          <p:cNvSpPr/>
          <p:nvPr/>
        </p:nvSpPr>
        <p:spPr>
          <a:xfrm>
            <a:off x="320039" y="841147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16" name="Shape 64">
            <a:extLst>
              <a:ext uri="{FF2B5EF4-FFF2-40B4-BE49-F238E27FC236}">
                <a16:creationId xmlns:a16="http://schemas.microsoft.com/office/drawing/2014/main" id="{E050BDAA-C913-441A-CD85-620B427F4BF7}"/>
              </a:ext>
            </a:extLst>
          </p:cNvPr>
          <p:cNvSpPr/>
          <p:nvPr/>
        </p:nvSpPr>
        <p:spPr>
          <a:xfrm>
            <a:off x="320039" y="8183192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3 / 21</a:t>
            </a:r>
          </a:p>
        </p:txBody>
      </p:sp>
    </p:spTree>
    <p:extLst>
      <p:ext uri="{BB962C8B-B14F-4D97-AF65-F5344CB8AC3E}">
        <p14:creationId xmlns:p14="http://schemas.microsoft.com/office/powerpoint/2010/main" val="270740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MARKET SHARE — GROSS SALES BASIS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Honasa share of category Gross Sales, by chain  |  NEW — basis differs from NSV elsewhere in this deck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" y="23612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by Chain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4592" y="4585723"/>
            <a:ext cx="6886166" cy="22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33180" y="86755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0D2A8-F9F0-8CC1-6209-E2DDBA6CAB94}"/>
              </a:ext>
            </a:extLst>
          </p:cNvPr>
          <p:cNvSpPr txBox="1"/>
          <p:nvPr/>
        </p:nvSpPr>
        <p:spPr>
          <a:xfrm>
            <a:off x="164592" y="607972"/>
            <a:ext cx="6977605" cy="17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Calibri"/>
              </a:rPr>
              <a:t>MARKET SHARE SUMMARY — MAY'26 VS APR'26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C9184-40E8-0278-FABE-3E85AC7B3074}"/>
              </a:ext>
            </a:extLst>
          </p:cNvPr>
          <p:cNvSpPr/>
          <p:nvPr/>
        </p:nvSpPr>
        <p:spPr>
          <a:xfrm flipV="1">
            <a:off x="164593" y="2561602"/>
            <a:ext cx="6977604" cy="4862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5167BE8-2365-C47D-7FC4-FF853320F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524392"/>
              </p:ext>
            </p:extLst>
          </p:nvPr>
        </p:nvGraphicFramePr>
        <p:xfrm>
          <a:off x="164593" y="873780"/>
          <a:ext cx="6977605" cy="1621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92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823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Honasa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GS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Mkt 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Mkt Share %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MRL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59.7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2,128.7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3%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7A3D"/>
                          </a:solidFill>
                          <a:latin typeface="Calibri"/>
                        </a:rPr>
                        <a:t>▲ +31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111.5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2,848.0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-21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137.4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977.6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14%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-35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Reliance Retail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2,052.0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19,298.6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>
                          <a:solidFill>
                            <a:srgbClr val="262626"/>
                          </a:solidFill>
                          <a:latin typeface="Calibri"/>
                        </a:rPr>
                        <a:t>11%</a:t>
                      </a:r>
                      <a:endParaRPr sz="1200" b="0">
                        <a:solidFill>
                          <a:srgbClr val="262626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C0392B"/>
                          </a:solidFill>
                          <a:latin typeface="Calibri"/>
                        </a:rPr>
                        <a:t>▼ -38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3536467-987E-B510-CB4B-2C7C6DD045C7}"/>
              </a:ext>
            </a:extLst>
          </p:cNvPr>
          <p:cNvSpPr/>
          <p:nvPr/>
        </p:nvSpPr>
        <p:spPr>
          <a:xfrm>
            <a:off x="179208" y="2650057"/>
            <a:ext cx="3416132" cy="89019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000" b="1" dirty="0">
                <a:solidFill>
                  <a:srgbClr val="1E2761"/>
                </a:solidFill>
                <a:latin typeface="Calibri"/>
              </a:rPr>
              <a:t>MRL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2.80% | MoM ▲ +31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Build — low share, large market; expand assortment &amp; visibility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8584D2-B47F-A543-EB0A-0CEDB933EAC8}"/>
              </a:ext>
            </a:extLst>
          </p:cNvPr>
          <p:cNvSpPr/>
          <p:nvPr/>
        </p:nvSpPr>
        <p:spPr>
          <a:xfrm>
            <a:off x="164592" y="2650057"/>
            <a:ext cx="3378594" cy="53243"/>
          </a:xfrm>
          <a:prstGeom prst="rect">
            <a:avLst/>
          </a:prstGeom>
          <a:solidFill>
            <a:srgbClr val="1F6F78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59EF4B-A544-FAA5-F705-C806019D0BF6}"/>
              </a:ext>
            </a:extLst>
          </p:cNvPr>
          <p:cNvSpPr/>
          <p:nvPr/>
        </p:nvSpPr>
        <p:spPr>
          <a:xfrm>
            <a:off x="3672164" y="2729068"/>
            <a:ext cx="3470032" cy="811182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1800" b="1" dirty="0">
                <a:solidFill>
                  <a:srgbClr val="1E2761"/>
                </a:solidFill>
                <a:latin typeface="Calibri"/>
              </a:rPr>
              <a:t>Lulu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3.91% | MoM ▼ -21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Fix — review listing gaps in declining sub-categories</a:t>
            </a:r>
            <a:endParaRPr lang="en-IN" sz="1100" b="1" dirty="0">
              <a:solidFill>
                <a:srgbClr val="1E2761"/>
              </a:solidFill>
              <a:latin typeface="Calibri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BCBC16-D9D2-6F52-42EA-4D388C92C606}"/>
              </a:ext>
            </a:extLst>
          </p:cNvPr>
          <p:cNvSpPr/>
          <p:nvPr/>
        </p:nvSpPr>
        <p:spPr>
          <a:xfrm>
            <a:off x="3634626" y="2650057"/>
            <a:ext cx="3416132" cy="61096"/>
          </a:xfrm>
          <a:prstGeom prst="rect">
            <a:avLst/>
          </a:prstGeom>
          <a:solidFill>
            <a:srgbClr val="B8860B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EA8BD1-964A-81EB-77A1-2CB85F9D64C9}"/>
              </a:ext>
            </a:extLst>
          </p:cNvPr>
          <p:cNvSpPr/>
          <p:nvPr/>
        </p:nvSpPr>
        <p:spPr>
          <a:xfrm>
            <a:off x="101510" y="3659185"/>
            <a:ext cx="3507571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IN" sz="2000" b="1" dirty="0">
                <a:solidFill>
                  <a:srgbClr val="1E2761"/>
                </a:solidFill>
                <a:latin typeface="Calibri"/>
              </a:rPr>
              <a:t>Wellness Forever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Mkt Share 14.06% | MoM ▼ -35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IN" sz="1100" dirty="0">
                <a:solidFill>
                  <a:srgbClr val="404040"/>
                </a:solidFill>
                <a:latin typeface="Calibri"/>
              </a:rPr>
              <a:t>•  Protect — stronghold chain; monitor pharmacy-channel pressure</a:t>
            </a: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C24ECE-A21F-F843-BDC6-DFEBE708BE3F}"/>
              </a:ext>
            </a:extLst>
          </p:cNvPr>
          <p:cNvSpPr/>
          <p:nvPr/>
        </p:nvSpPr>
        <p:spPr>
          <a:xfrm>
            <a:off x="179207" y="3619111"/>
            <a:ext cx="3378594" cy="5324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DC8FA77-A565-0C4B-CE2C-963525AC41C8}"/>
              </a:ext>
            </a:extLst>
          </p:cNvPr>
          <p:cNvSpPr/>
          <p:nvPr/>
        </p:nvSpPr>
        <p:spPr>
          <a:xfrm>
            <a:off x="3672163" y="3640123"/>
            <a:ext cx="3441677" cy="107405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defTabSz="457200"/>
            <a:r>
              <a:rPr lang="en-US" sz="2400" b="1" dirty="0">
                <a:solidFill>
                  <a:srgbClr val="1E2761"/>
                </a:solidFill>
                <a:latin typeface="Calibri"/>
              </a:rPr>
              <a:t>Reliance Retail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Mkt Share 10.63% | MoM ▼ -38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lang="en-US" sz="1100" dirty="0">
                <a:solidFill>
                  <a:srgbClr val="404040"/>
                </a:solidFill>
                <a:latin typeface="Calibri"/>
              </a:rPr>
              <a:t>•  Protect &amp; Accelerate — largest base; review category mix shift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E6DEA8D-9D8B-9353-0CF4-90A3E4ABE2FF}"/>
              </a:ext>
            </a:extLst>
          </p:cNvPr>
          <p:cNvSpPr/>
          <p:nvPr/>
        </p:nvSpPr>
        <p:spPr>
          <a:xfrm>
            <a:off x="3649241" y="3619111"/>
            <a:ext cx="3416132" cy="61096"/>
          </a:xfrm>
          <a:prstGeom prst="rect">
            <a:avLst/>
          </a:prstGeom>
          <a:solidFill>
            <a:srgbClr val="1F7A3D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7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6093315"/>
              </p:ext>
            </p:extLst>
          </p:nvPr>
        </p:nvGraphicFramePr>
        <p:xfrm>
          <a:off x="166564" y="4793176"/>
          <a:ext cx="3455418" cy="2130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8" name="Rectangle 47">
            <a:extLst>
              <a:ext uri="{FF2B5EF4-FFF2-40B4-BE49-F238E27FC236}">
                <a16:creationId xmlns:a16="http://schemas.microsoft.com/office/drawing/2014/main" id="{6D948830-5875-429E-B2E8-06A2446FF79B}"/>
              </a:ext>
            </a:extLst>
          </p:cNvPr>
          <p:cNvSpPr/>
          <p:nvPr/>
        </p:nvSpPr>
        <p:spPr>
          <a:xfrm>
            <a:off x="179207" y="4785237"/>
            <a:ext cx="875845" cy="310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bg1"/>
                </a:solidFill>
                <a:latin typeface="Calibri"/>
              </a:rPr>
              <a:t>FW M/S</a:t>
            </a:r>
          </a:p>
        </p:txBody>
      </p:sp>
      <p:graphicFrame>
        <p:nvGraphicFramePr>
          <p:cNvPr id="49" name="Chart">
            <a:extLst>
              <a:ext uri="{FF2B5EF4-FFF2-40B4-BE49-F238E27FC236}">
                <a16:creationId xmlns:a16="http://schemas.microsoft.com/office/drawing/2014/main" id="{3FFAD1AD-462A-48E2-8AFA-503AE095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0448606"/>
              </p:ext>
            </p:extLst>
          </p:nvPr>
        </p:nvGraphicFramePr>
        <p:xfrm>
          <a:off x="3677591" y="4803073"/>
          <a:ext cx="3455418" cy="2148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" name="Chart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489623"/>
              </p:ext>
            </p:extLst>
          </p:nvPr>
        </p:nvGraphicFramePr>
        <p:xfrm>
          <a:off x="193824" y="7032150"/>
          <a:ext cx="3455417" cy="2125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700BEB62-5218-93B2-569B-61E16123FB26}"/>
              </a:ext>
            </a:extLst>
          </p:cNvPr>
          <p:cNvSpPr txBox="1"/>
          <p:nvPr/>
        </p:nvSpPr>
        <p:spPr>
          <a:xfrm>
            <a:off x="3693221" y="7032150"/>
            <a:ext cx="3420619" cy="208500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t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MRL's </a:t>
            </a:r>
            <a:r>
              <a:rPr sz="1200" dirty="0" err="1">
                <a:solidFill>
                  <a:sysClr val="windowText" lastClr="000000"/>
                </a:solidFill>
                <a:latin typeface="Calibri"/>
              </a:rPr>
              <a:t>Honasa</a:t>
            </a:r>
            <a:r>
              <a:rPr sz="1200" dirty="0">
                <a:solidFill>
                  <a:sysClr val="windowText" lastClr="000000"/>
                </a:solidFill>
                <a:latin typeface="Calibri"/>
              </a:rPr>
              <a:t> share nearly doubled over the period, 8% to 14% — the fastest-improving chain in this view.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Wellness Forever holds the strongest relative position across all three months (15% to 18%), consistent with the stronghold-chain read on the previous page even though the absolute share level differs.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dirty="0">
                <a:solidFill>
                  <a:sysClr val="windowText" lastClr="000000"/>
                </a:solidFill>
                <a:latin typeface="Calibri"/>
              </a:rPr>
              <a:t>•  Lulu and Reliance are comparatively flat over the period (Lulu 7% to 8%; Reliance 10% to 11%).</a:t>
            </a:r>
          </a:p>
        </p:txBody>
      </p:sp>
      <p:sp>
        <p:nvSpPr>
          <p:cNvPr id="10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4 / 21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379C9D4B-2F0C-E811-B5BC-4C5923256D3C}"/>
              </a:ext>
            </a:extLst>
          </p:cNvPr>
          <p:cNvSpPr/>
          <p:nvPr/>
        </p:nvSpPr>
        <p:spPr>
          <a:xfrm>
            <a:off x="232255" y="4956952"/>
            <a:ext cx="3812166" cy="78148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-7713" y="0"/>
            <a:ext cx="7570563" cy="56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INSIGHTS| BRAND (MAMAEARTH &amp; THE DERMA CO.| CATEGORY (FACEWASH  &amp; SHAMPOO)</a:t>
            </a:r>
            <a:endParaRPr lang="en-US" sz="2000" b="1" dirty="0"/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B9142154-E71F-1D64-C69C-BEDD14795E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802719"/>
              </p:ext>
            </p:extLst>
          </p:nvPr>
        </p:nvGraphicFramePr>
        <p:xfrm>
          <a:off x="280013" y="5797984"/>
          <a:ext cx="7068266" cy="111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 14">
            <a:extLst>
              <a:ext uri="{FF2B5EF4-FFF2-40B4-BE49-F238E27FC236}">
                <a16:creationId xmlns:a16="http://schemas.microsoft.com/office/drawing/2014/main" id="{44292181-E87A-FAFC-E853-8E63053EE850}"/>
              </a:ext>
            </a:extLst>
          </p:cNvPr>
          <p:cNvSpPr/>
          <p:nvPr/>
        </p:nvSpPr>
        <p:spPr>
          <a:xfrm>
            <a:off x="8301150" y="76449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3578703-5602-E615-6449-0FE82BA38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09311"/>
              </p:ext>
            </p:extLst>
          </p:nvPr>
        </p:nvGraphicFramePr>
        <p:xfrm>
          <a:off x="234347" y="599313"/>
          <a:ext cx="7126505" cy="1709206"/>
        </p:xfrm>
        <a:graphic>
          <a:graphicData uri="http://schemas.openxmlformats.org/drawingml/2006/table">
            <a:tbl>
              <a:tblPr/>
              <a:tblGrid>
                <a:gridCol w="1638971">
                  <a:extLst>
                    <a:ext uri="{9D8B030D-6E8A-4147-A177-3AD203B41FA5}">
                      <a16:colId xmlns:a16="http://schemas.microsoft.com/office/drawing/2014/main" val="1040054215"/>
                    </a:ext>
                  </a:extLst>
                </a:gridCol>
                <a:gridCol w="759047">
                  <a:extLst>
                    <a:ext uri="{9D8B030D-6E8A-4147-A177-3AD203B41FA5}">
                      <a16:colId xmlns:a16="http://schemas.microsoft.com/office/drawing/2014/main" val="2448826045"/>
                    </a:ext>
                  </a:extLst>
                </a:gridCol>
                <a:gridCol w="775045">
                  <a:extLst>
                    <a:ext uri="{9D8B030D-6E8A-4147-A177-3AD203B41FA5}">
                      <a16:colId xmlns:a16="http://schemas.microsoft.com/office/drawing/2014/main" val="2451325949"/>
                    </a:ext>
                  </a:extLst>
                </a:gridCol>
                <a:gridCol w="901257">
                  <a:extLst>
                    <a:ext uri="{9D8B030D-6E8A-4147-A177-3AD203B41FA5}">
                      <a16:colId xmlns:a16="http://schemas.microsoft.com/office/drawing/2014/main" val="1241636394"/>
                    </a:ext>
                  </a:extLst>
                </a:gridCol>
                <a:gridCol w="718161">
                  <a:extLst>
                    <a:ext uri="{9D8B030D-6E8A-4147-A177-3AD203B41FA5}">
                      <a16:colId xmlns:a16="http://schemas.microsoft.com/office/drawing/2014/main" val="1072936001"/>
                    </a:ext>
                  </a:extLst>
                </a:gridCol>
                <a:gridCol w="785711">
                  <a:extLst>
                    <a:ext uri="{9D8B030D-6E8A-4147-A177-3AD203B41FA5}">
                      <a16:colId xmlns:a16="http://schemas.microsoft.com/office/drawing/2014/main" val="4003672162"/>
                    </a:ext>
                  </a:extLst>
                </a:gridCol>
                <a:gridCol w="673721">
                  <a:extLst>
                    <a:ext uri="{9D8B030D-6E8A-4147-A177-3AD203B41FA5}">
                      <a16:colId xmlns:a16="http://schemas.microsoft.com/office/drawing/2014/main" val="3060532485"/>
                    </a:ext>
                  </a:extLst>
                </a:gridCol>
                <a:gridCol w="874592">
                  <a:extLst>
                    <a:ext uri="{9D8B030D-6E8A-4147-A177-3AD203B41FA5}">
                      <a16:colId xmlns:a16="http://schemas.microsoft.com/office/drawing/2014/main" val="1825462759"/>
                    </a:ext>
                  </a:extLst>
                </a:gridCol>
              </a:tblGrid>
              <a:tr h="5097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Brand (Category)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 </a:t>
                      </a:r>
                      <a:b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</a:t>
                      </a:r>
                      <a:b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Wtd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</a:t>
                      </a:r>
                      <a:r>
                        <a:rPr lang="en-IN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Dist</a:t>
                      </a: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 </a:t>
                      </a:r>
                    </a:p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85786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4831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The Derma Co FW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32997"/>
                  </a:ext>
                </a:extLst>
              </a:tr>
              <a:tr h="39982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Shampoo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+134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63541"/>
                  </a:ext>
                </a:extLst>
              </a:tr>
            </a:tbl>
          </a:graphicData>
        </a:graphic>
      </p:graphicFrame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010D717D-B200-F9C1-F0E0-9B6C4374F3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627803"/>
              </p:ext>
            </p:extLst>
          </p:nvPr>
        </p:nvGraphicFramePr>
        <p:xfrm>
          <a:off x="234347" y="2661016"/>
          <a:ext cx="7115948" cy="1876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4F619751-52E2-97A6-50D1-C8D2040E4488}"/>
              </a:ext>
            </a:extLst>
          </p:cNvPr>
          <p:cNvSpPr/>
          <p:nvPr/>
        </p:nvSpPr>
        <p:spPr>
          <a:xfrm>
            <a:off x="232256" y="5803321"/>
            <a:ext cx="45719" cy="1126007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A08DE1-78F5-E319-DC0C-43F567ADC4D5}"/>
              </a:ext>
            </a:extLst>
          </p:cNvPr>
          <p:cNvSpPr/>
          <p:nvPr/>
        </p:nvSpPr>
        <p:spPr>
          <a:xfrm>
            <a:off x="232255" y="5770936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1B45652C-03FE-342E-DAD9-AFC958C3B610}"/>
              </a:ext>
            </a:extLst>
          </p:cNvPr>
          <p:cNvSpPr/>
          <p:nvPr/>
        </p:nvSpPr>
        <p:spPr>
          <a:xfrm>
            <a:off x="251039" y="5797985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EBD2F1-506F-0C36-C7C0-69DD818A90A8}"/>
              </a:ext>
            </a:extLst>
          </p:cNvPr>
          <p:cNvSpPr/>
          <p:nvPr/>
        </p:nvSpPr>
        <p:spPr>
          <a:xfrm flipH="1">
            <a:off x="7304576" y="5804460"/>
            <a:ext cx="45719" cy="1111940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B9DB11-20E5-31CE-3C2B-9867D46644EF}"/>
              </a:ext>
            </a:extLst>
          </p:cNvPr>
          <p:cNvSpPr txBox="1"/>
          <p:nvPr/>
        </p:nvSpPr>
        <p:spPr>
          <a:xfrm>
            <a:off x="244828" y="2273076"/>
            <a:ext cx="711602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kern="0" spc="100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Key Insights for Facewash &amp; Shampoo M/s</a:t>
            </a:r>
            <a:endParaRPr lang="en-US" sz="2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20BF0-7E50-AF2D-E0AF-738051766144}"/>
              </a:ext>
            </a:extLst>
          </p:cNvPr>
          <p:cNvSpPr txBox="1"/>
          <p:nvPr/>
        </p:nvSpPr>
        <p:spPr>
          <a:xfrm>
            <a:off x="239785" y="4562649"/>
            <a:ext cx="71356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mbria" pitchFamily="34" charset="-122"/>
                <a:cs typeface="Calibri" pitchFamily="34" charset="-120"/>
              </a:rPr>
              <a:t>FACE WASH | BRAND |MARKET SHARE </a:t>
            </a:r>
            <a:endParaRPr 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F7B7DEB-7D5B-EB9E-53AE-4EBB23EA8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13159"/>
              </p:ext>
            </p:extLst>
          </p:nvPr>
        </p:nvGraphicFramePr>
        <p:xfrm>
          <a:off x="239785" y="6984067"/>
          <a:ext cx="7108313" cy="3593910"/>
        </p:xfrm>
        <a:graphic>
          <a:graphicData uri="http://schemas.openxmlformats.org/drawingml/2006/table">
            <a:tbl>
              <a:tblPr/>
              <a:tblGrid>
                <a:gridCol w="577498">
                  <a:extLst>
                    <a:ext uri="{9D8B030D-6E8A-4147-A177-3AD203B41FA5}">
                      <a16:colId xmlns:a16="http://schemas.microsoft.com/office/drawing/2014/main" val="2077510050"/>
                    </a:ext>
                  </a:extLst>
                </a:gridCol>
                <a:gridCol w="1501493">
                  <a:extLst>
                    <a:ext uri="{9D8B030D-6E8A-4147-A177-3AD203B41FA5}">
                      <a16:colId xmlns:a16="http://schemas.microsoft.com/office/drawing/2014/main" val="1905439698"/>
                    </a:ext>
                  </a:extLst>
                </a:gridCol>
                <a:gridCol w="635988">
                  <a:extLst>
                    <a:ext uri="{9D8B030D-6E8A-4147-A177-3AD203B41FA5}">
                      <a16:colId xmlns:a16="http://schemas.microsoft.com/office/drawing/2014/main" val="228860760"/>
                    </a:ext>
                  </a:extLst>
                </a:gridCol>
                <a:gridCol w="592751">
                  <a:extLst>
                    <a:ext uri="{9D8B030D-6E8A-4147-A177-3AD203B41FA5}">
                      <a16:colId xmlns:a16="http://schemas.microsoft.com/office/drawing/2014/main" val="285040429"/>
                    </a:ext>
                  </a:extLst>
                </a:gridCol>
                <a:gridCol w="645054">
                  <a:extLst>
                    <a:ext uri="{9D8B030D-6E8A-4147-A177-3AD203B41FA5}">
                      <a16:colId xmlns:a16="http://schemas.microsoft.com/office/drawing/2014/main" val="3185290885"/>
                    </a:ext>
                  </a:extLst>
                </a:gridCol>
                <a:gridCol w="965401">
                  <a:extLst>
                    <a:ext uri="{9D8B030D-6E8A-4147-A177-3AD203B41FA5}">
                      <a16:colId xmlns:a16="http://schemas.microsoft.com/office/drawing/2014/main" val="2971838831"/>
                    </a:ext>
                  </a:extLst>
                </a:gridCol>
                <a:gridCol w="1008985">
                  <a:extLst>
                    <a:ext uri="{9D8B030D-6E8A-4147-A177-3AD203B41FA5}">
                      <a16:colId xmlns:a16="http://schemas.microsoft.com/office/drawing/2014/main" val="1677353121"/>
                    </a:ext>
                  </a:extLst>
                </a:gridCol>
                <a:gridCol w="534435">
                  <a:extLst>
                    <a:ext uri="{9D8B030D-6E8A-4147-A177-3AD203B41FA5}">
                      <a16:colId xmlns:a16="http://schemas.microsoft.com/office/drawing/2014/main" val="4225824249"/>
                    </a:ext>
                  </a:extLst>
                </a:gridCol>
                <a:gridCol w="646708">
                  <a:extLst>
                    <a:ext uri="{9D8B030D-6E8A-4147-A177-3AD203B41FA5}">
                      <a16:colId xmlns:a16="http://schemas.microsoft.com/office/drawing/2014/main" val="3515784118"/>
                    </a:ext>
                  </a:extLst>
                </a:gridCol>
              </a:tblGrid>
              <a:tr h="44273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</a:t>
                      </a:r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8266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-328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5769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Garnier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+43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9005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Pond's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▼ -114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7443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 err="1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33876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Clean &amp; clear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8675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Joy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6944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Lakme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18163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Nivea men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6843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Simple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47601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Biotique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-49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39208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Patanjali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-17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962692"/>
                  </a:ext>
                </a:extLst>
              </a:tr>
              <a:tr h="1888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Everyuth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387041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VLCC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0.736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-22%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117633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GLOW &amp; LOVELY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0.665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146126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LOTUS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227"/>
                  </a:ext>
                </a:extLst>
              </a:tr>
              <a:tr h="221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THE DERMA CO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3940%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  <a:endParaRPr lang="en-IN" sz="11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48442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9E03E78B-5ED6-90AA-121F-87E044E83A2C}"/>
              </a:ext>
            </a:extLst>
          </p:cNvPr>
          <p:cNvSpPr/>
          <p:nvPr/>
        </p:nvSpPr>
        <p:spPr>
          <a:xfrm>
            <a:off x="257976" y="6868804"/>
            <a:ext cx="7090303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9F466B6-FE5F-DA4E-34A0-AA74121404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47168"/>
              </p:ext>
            </p:extLst>
          </p:nvPr>
        </p:nvGraphicFramePr>
        <p:xfrm>
          <a:off x="4128740" y="4957440"/>
          <a:ext cx="3229084" cy="785521"/>
        </p:xfrm>
        <a:graphic>
          <a:graphicData uri="http://schemas.openxmlformats.org/drawingml/2006/table">
            <a:tbl>
              <a:tblPr/>
              <a:tblGrid>
                <a:gridCol w="635647">
                  <a:extLst>
                    <a:ext uri="{9D8B030D-6E8A-4147-A177-3AD203B41FA5}">
                      <a16:colId xmlns:a16="http://schemas.microsoft.com/office/drawing/2014/main" val="4192271008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526558863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627186890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072241119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188857945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965029248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2970150461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388586537"/>
                    </a:ext>
                  </a:extLst>
                </a:gridCol>
                <a:gridCol w="114416">
                  <a:extLst>
                    <a:ext uri="{9D8B030D-6E8A-4147-A177-3AD203B41FA5}">
                      <a16:colId xmlns:a16="http://schemas.microsoft.com/office/drawing/2014/main" val="766113091"/>
                    </a:ext>
                  </a:extLst>
                </a:gridCol>
                <a:gridCol w="635647">
                  <a:extLst>
                    <a:ext uri="{9D8B030D-6E8A-4147-A177-3AD203B41FA5}">
                      <a16:colId xmlns:a16="http://schemas.microsoft.com/office/drawing/2014/main" val="499297180"/>
                    </a:ext>
                  </a:extLst>
                </a:gridCol>
              </a:tblGrid>
              <a:tr h="232846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The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Derma Co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FACE</a:t>
                      </a:r>
                      <a:b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WASHz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B0004020202020204" pitchFamily="34" charset="0"/>
                      </a:endParaRPr>
                    </a:p>
                  </a:txBody>
                  <a:tcPr marL="4606" marR="4606" marT="4606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6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May’26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Value .60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Lakhs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F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M/S 0.7%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▲ +71 bps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1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Dist</a:t>
                      </a: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0.6%→14.2%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38582"/>
                  </a:ext>
                </a:extLst>
              </a:tr>
              <a:tr h="31982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4606" marR="4606" marT="4606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107009"/>
                  </a:ext>
                </a:extLst>
              </a:tr>
              <a:tr h="2328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4606" marR="4606" marT="4606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5598"/>
                  </a:ext>
                </a:extLst>
              </a:tr>
            </a:tbl>
          </a:graphicData>
        </a:graphic>
      </p:graphicFrame>
      <p:grpSp>
        <p:nvGrpSpPr>
          <p:cNvPr id="100" name="Group 99">
            <a:extLst>
              <a:ext uri="{FF2B5EF4-FFF2-40B4-BE49-F238E27FC236}">
                <a16:creationId xmlns:a16="http://schemas.microsoft.com/office/drawing/2014/main" id="{BF1ADC7B-6C75-7E99-ADFA-E1880C2AE6B7}"/>
              </a:ext>
            </a:extLst>
          </p:cNvPr>
          <p:cNvGrpSpPr/>
          <p:nvPr/>
        </p:nvGrpSpPr>
        <p:grpSpPr>
          <a:xfrm>
            <a:off x="1026608" y="5171487"/>
            <a:ext cx="179276" cy="253520"/>
            <a:chOff x="995555" y="5177897"/>
            <a:chExt cx="177228" cy="241007"/>
          </a:xfrm>
        </p:grpSpPr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B5511F54-B5BA-4318-3DD3-EF580B187775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  <p:sp>
          <p:nvSpPr>
            <p:cNvPr id="95" name="Arrow: Right 4">
              <a:extLst>
                <a:ext uri="{FF2B5EF4-FFF2-40B4-BE49-F238E27FC236}">
                  <a16:creationId xmlns:a16="http://schemas.microsoft.com/office/drawing/2014/main" id="{DF3C1ACD-D9CF-6F94-3D37-F0B86EEA1D04}"/>
                </a:ext>
              </a:extLst>
            </p:cNvPr>
            <p:cNvSpPr txBox="1"/>
            <p:nvPr/>
          </p:nvSpPr>
          <p:spPr>
            <a:xfrm>
              <a:off x="995555" y="5226099"/>
              <a:ext cx="106683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/>
            </a:p>
          </p:txBody>
        </p:sp>
      </p:grpSp>
      <p:sp>
        <p:nvSpPr>
          <p:cNvPr id="88" name="Flow Box 1">
            <a:extLst>
              <a:ext uri="{FF2B5EF4-FFF2-40B4-BE49-F238E27FC236}">
                <a16:creationId xmlns:a16="http://schemas.microsoft.com/office/drawing/2014/main" id="{65FFDF55-186E-4F70-B848-01B98474871B}"/>
              </a:ext>
            </a:extLst>
          </p:cNvPr>
          <p:cNvSpPr>
            <a:spLocks noGrp="1"/>
          </p:cNvSpPr>
          <p:nvPr/>
        </p:nvSpPr>
        <p:spPr>
          <a:xfrm>
            <a:off x="257975" y="4968416"/>
            <a:ext cx="720197" cy="748609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ME</a:t>
            </a:r>
            <a:endParaRPr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FACE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WASH</a:t>
            </a:r>
            <a:r>
              <a:rPr lang="en-IN" sz="1000" b="1" dirty="0">
                <a:solidFill>
                  <a:schemeClr val="bg1"/>
                </a:solidFill>
              </a:rPr>
              <a:t> Rank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#4 </a:t>
            </a:r>
            <a:endParaRPr sz="1000" b="1" dirty="0">
              <a:solidFill>
                <a:schemeClr val="bg1"/>
              </a:solidFill>
            </a:endParaRPr>
          </a:p>
        </p:txBody>
      </p:sp>
      <p:sp>
        <p:nvSpPr>
          <p:cNvPr id="89" name="Flow Box 2">
            <a:extLst>
              <a:ext uri="{FF2B5EF4-FFF2-40B4-BE49-F238E27FC236}">
                <a16:creationId xmlns:a16="http://schemas.microsoft.com/office/drawing/2014/main" id="{DFAB2D56-689D-4CBB-B28E-14DA7BAB8D4B}"/>
              </a:ext>
            </a:extLst>
          </p:cNvPr>
          <p:cNvSpPr>
            <a:spLocks noGrp="1"/>
          </p:cNvSpPr>
          <p:nvPr/>
        </p:nvSpPr>
        <p:spPr>
          <a:xfrm>
            <a:off x="1254320" y="4974438"/>
            <a:ext cx="674997" cy="742230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Value ₹9.6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51B990B2-3BDA-4993-8961-8793336DBAB2}"/>
              </a:ext>
            </a:extLst>
          </p:cNvPr>
          <p:cNvSpPr/>
          <p:nvPr/>
        </p:nvSpPr>
        <p:spPr>
          <a:xfrm>
            <a:off x="1988245" y="5165711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1" name="Flow Box 3">
            <a:extLst>
              <a:ext uri="{FF2B5EF4-FFF2-40B4-BE49-F238E27FC236}">
                <a16:creationId xmlns:a16="http://schemas.microsoft.com/office/drawing/2014/main" id="{12223511-186F-4E38-A6C9-D4AD296C1461}"/>
              </a:ext>
            </a:extLst>
          </p:cNvPr>
          <p:cNvSpPr>
            <a:spLocks noGrp="1"/>
          </p:cNvSpPr>
          <p:nvPr/>
        </p:nvSpPr>
        <p:spPr>
          <a:xfrm>
            <a:off x="2219007" y="4968792"/>
            <a:ext cx="760205" cy="733733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>
                <a:solidFill>
                  <a:schemeClr val="bg1"/>
                </a:solidFill>
              </a:rPr>
              <a:t>M/S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11.6%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chemeClr val="bg1"/>
                </a:solidFill>
              </a:rPr>
              <a:t>▲</a:t>
            </a:r>
            <a:r>
              <a:rPr sz="1000" b="1" dirty="0">
                <a:solidFill>
                  <a:schemeClr val="bg1"/>
                </a:solidFill>
              </a:rPr>
              <a:t>+311</a:t>
            </a:r>
            <a:endParaRPr lang="en-IN" sz="10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000" b="1" dirty="0">
                <a:solidFill>
                  <a:schemeClr val="bg1"/>
                </a:solidFill>
              </a:rPr>
              <a:t>B</a:t>
            </a:r>
            <a:r>
              <a:rPr sz="1000" b="1" dirty="0" err="1">
                <a:solidFill>
                  <a:schemeClr val="bg1"/>
                </a:solidFill>
              </a:rPr>
              <a:t>ps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92" name="Flow Box 4">
            <a:extLst>
              <a:ext uri="{FF2B5EF4-FFF2-40B4-BE49-F238E27FC236}">
                <a16:creationId xmlns:a16="http://schemas.microsoft.com/office/drawing/2014/main" id="{6809C1E7-C082-4A53-A6C8-628BC455BEFC}"/>
              </a:ext>
            </a:extLst>
          </p:cNvPr>
          <p:cNvSpPr>
            <a:spLocks noGrp="1"/>
          </p:cNvSpPr>
          <p:nvPr/>
        </p:nvSpPr>
        <p:spPr>
          <a:xfrm>
            <a:off x="3289550" y="4957440"/>
            <a:ext cx="735764" cy="762185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dirty="0" err="1">
                <a:solidFill>
                  <a:schemeClr val="bg1"/>
                </a:solidFill>
              </a:rPr>
              <a:t>Dist</a:t>
            </a:r>
            <a:r>
              <a:rPr lang="en-IN" sz="1000" b="1" dirty="0">
                <a:solidFill>
                  <a:schemeClr val="bg1"/>
                </a:solidFill>
              </a:rPr>
              <a:t> </a:t>
            </a:r>
            <a:r>
              <a:rPr sz="1000" b="1" dirty="0">
                <a:solidFill>
                  <a:schemeClr val="bg1"/>
                </a:solidFill>
              </a:rPr>
              <a:t>81→8</a:t>
            </a:r>
            <a:r>
              <a:rPr lang="en-IN" sz="1000" b="1" dirty="0">
                <a:solidFill>
                  <a:schemeClr val="bg1"/>
                </a:solidFill>
              </a:rPr>
              <a:t>7</a:t>
            </a:r>
            <a:r>
              <a:rPr sz="1000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675A98A8-0D5E-4B24-B51C-30292EA1AC26}"/>
              </a:ext>
            </a:extLst>
          </p:cNvPr>
          <p:cNvSpPr/>
          <p:nvPr/>
        </p:nvSpPr>
        <p:spPr>
          <a:xfrm>
            <a:off x="3048108" y="5174959"/>
            <a:ext cx="193005" cy="253520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45341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" y="3934882"/>
            <a:ext cx="7562820" cy="424953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0" y="3980166"/>
            <a:ext cx="7562850" cy="366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SHAMPOO</a:t>
            </a:r>
            <a:endParaRPr lang="en-US" sz="1350" dirty="0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1B6D1794-1D66-C673-96EC-A6D1FC7345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8290860"/>
              </p:ext>
            </p:extLst>
          </p:nvPr>
        </p:nvGraphicFramePr>
        <p:xfrm>
          <a:off x="154235" y="5368581"/>
          <a:ext cx="7181032" cy="1084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09269" y="5319982"/>
            <a:ext cx="60910" cy="1192189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09268" y="6472949"/>
            <a:ext cx="7271718" cy="57553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 flipV="1">
            <a:off x="124458" y="5308057"/>
            <a:ext cx="7271718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80BEB92-7A66-ADCE-38EA-A15EE053485B}"/>
              </a:ext>
            </a:extLst>
          </p:cNvPr>
          <p:cNvSpPr/>
          <p:nvPr/>
        </p:nvSpPr>
        <p:spPr>
          <a:xfrm>
            <a:off x="143242" y="538082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08C298-A068-367C-958B-89B223497564}"/>
              </a:ext>
            </a:extLst>
          </p:cNvPr>
          <p:cNvSpPr/>
          <p:nvPr/>
        </p:nvSpPr>
        <p:spPr>
          <a:xfrm flipH="1">
            <a:off x="7335267" y="5308060"/>
            <a:ext cx="45719" cy="119118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3E0B81-1D4E-027E-8644-ABE438577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384637"/>
              </p:ext>
            </p:extLst>
          </p:nvPr>
        </p:nvGraphicFramePr>
        <p:xfrm>
          <a:off x="158039" y="6586482"/>
          <a:ext cx="7177228" cy="4000409"/>
        </p:xfrm>
        <a:graphic>
          <a:graphicData uri="http://schemas.openxmlformats.org/drawingml/2006/table">
            <a:tbl>
              <a:tblPr/>
              <a:tblGrid>
                <a:gridCol w="460485">
                  <a:extLst>
                    <a:ext uri="{9D8B030D-6E8A-4147-A177-3AD203B41FA5}">
                      <a16:colId xmlns:a16="http://schemas.microsoft.com/office/drawing/2014/main" val="2287102801"/>
                    </a:ext>
                  </a:extLst>
                </a:gridCol>
                <a:gridCol w="1508489">
                  <a:extLst>
                    <a:ext uri="{9D8B030D-6E8A-4147-A177-3AD203B41FA5}">
                      <a16:colId xmlns:a16="http://schemas.microsoft.com/office/drawing/2014/main" val="3967937189"/>
                    </a:ext>
                  </a:extLst>
                </a:gridCol>
                <a:gridCol w="460485">
                  <a:extLst>
                    <a:ext uri="{9D8B030D-6E8A-4147-A177-3AD203B41FA5}">
                      <a16:colId xmlns:a16="http://schemas.microsoft.com/office/drawing/2014/main" val="1876209470"/>
                    </a:ext>
                  </a:extLst>
                </a:gridCol>
                <a:gridCol w="603396">
                  <a:extLst>
                    <a:ext uri="{9D8B030D-6E8A-4147-A177-3AD203B41FA5}">
                      <a16:colId xmlns:a16="http://schemas.microsoft.com/office/drawing/2014/main" val="4020892610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165552266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4020451871"/>
                    </a:ext>
                  </a:extLst>
                </a:gridCol>
                <a:gridCol w="936851">
                  <a:extLst>
                    <a:ext uri="{9D8B030D-6E8A-4147-A177-3AD203B41FA5}">
                      <a16:colId xmlns:a16="http://schemas.microsoft.com/office/drawing/2014/main" val="3277651063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945216774"/>
                    </a:ext>
                  </a:extLst>
                </a:gridCol>
                <a:gridCol w="666910">
                  <a:extLst>
                    <a:ext uri="{9D8B030D-6E8A-4147-A177-3AD203B41FA5}">
                      <a16:colId xmlns:a16="http://schemas.microsoft.com/office/drawing/2014/main" val="2232411814"/>
                    </a:ext>
                  </a:extLst>
                </a:gridCol>
              </a:tblGrid>
              <a:tr h="32576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 Dist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59701"/>
                  </a:ext>
                </a:extLst>
              </a:tr>
              <a:tr h="18379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74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Dove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14778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L'oreal paris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32837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Head &amp; shoulders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14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Tresemme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06104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Clinic plus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1013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Sunsilk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94400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 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68150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Pantene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760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 dirty="0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85179"/>
                  </a:ext>
                </a:extLst>
              </a:tr>
              <a:tr h="34098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 baby care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2335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Meera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236189"/>
                  </a:ext>
                </a:extLst>
              </a:tr>
              <a:tr h="2106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Dabur vatika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  <a:endParaRPr lang="en-IN" sz="1400" b="1" i="0" u="none" strike="noStrike" dirty="0">
                        <a:solidFill>
                          <a:srgbClr val="008A3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  <a:endParaRPr lang="en-IN" sz="14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905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6544" y="2388469"/>
            <a:ext cx="7090763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b="1" dirty="0"/>
              <a:t>• 150ml is the hero pack: </a:t>
            </a:r>
            <a:r>
              <a:rPr lang="en-US" sz="1000" dirty="0"/>
              <a:t>6.7% MT share, ~58% of </a:t>
            </a:r>
            <a:r>
              <a:rPr lang="en-US" sz="1000" dirty="0" err="1"/>
              <a:t>Mamaearth</a:t>
            </a:r>
            <a:r>
              <a:rPr lang="en-US" sz="1000" dirty="0"/>
              <a:t> Face Wash, growing strongly at +98% YoY.</a:t>
            </a:r>
            <a:endParaRPr lang="en-US" sz="1000" b="1" dirty="0"/>
          </a:p>
          <a:p>
            <a:r>
              <a:rPr lang="en-US" sz="1000" b="1" dirty="0"/>
              <a:t>• 150ml has slight MoM softness at -0.4 bps but remains strong YoY with +2.9 bps gain.</a:t>
            </a:r>
          </a:p>
          <a:p>
            <a:r>
              <a:rPr lang="en-US" sz="1000" b="1" dirty="0"/>
              <a:t>• 100ml is the 2</a:t>
            </a:r>
            <a:r>
              <a:rPr lang="en-US" sz="1000" b="1" baseline="30000" dirty="0"/>
              <a:t>nd</a:t>
            </a:r>
            <a:r>
              <a:rPr lang="en-US" sz="1000" b="1" dirty="0"/>
              <a:t> key pack: </a:t>
            </a:r>
            <a:r>
              <a:rPr lang="en-US" sz="1000" dirty="0"/>
              <a:t>~21% contribution but declining -10.7% YoY with negative share movement. Needs availability and promo check.</a:t>
            </a:r>
            <a:endParaRPr lang="en-US" sz="1000" b="1" dirty="0"/>
          </a:p>
          <a:p>
            <a:r>
              <a:rPr lang="en-US" sz="1000" b="1" dirty="0"/>
              <a:t>• 150ml + 100ml contribute ~78% </a:t>
            </a:r>
            <a:r>
              <a:rPr lang="en-US" sz="1000" dirty="0"/>
              <a:t>of the brand, so shelf depth for both packs must be protected in MT</a:t>
            </a:r>
            <a:r>
              <a:rPr lang="en-US" sz="1000" b="1" dirty="0"/>
              <a:t>.</a:t>
            </a:r>
          </a:p>
          <a:p>
            <a:r>
              <a:rPr lang="en-US" sz="1000" b="1" dirty="0"/>
              <a:t>• 200ml is emerging as a growth builder with ~11% contribution &amp; positive share gain. Track chain-wise for scale-up.</a:t>
            </a:r>
          </a:p>
          <a:p>
            <a:r>
              <a:rPr lang="en-US" sz="1000" b="1" dirty="0"/>
              <a:t>• 50ml is a trial pack with ~10.5% contribution and +80% YoY growth. Use for till-points and entry visibility.</a:t>
            </a:r>
          </a:p>
          <a:p>
            <a:r>
              <a:rPr lang="en-US" sz="1000" b="1" dirty="0"/>
              <a:t>• 250ml </a:t>
            </a:r>
            <a:r>
              <a:rPr lang="en-US" sz="1000" dirty="0"/>
              <a:t>is sharply down at -94% YoY and very low contribution.</a:t>
            </a:r>
            <a:endParaRPr lang="en-US" sz="1000" b="1" dirty="0"/>
          </a:p>
          <a:p>
            <a:r>
              <a:rPr lang="en-US" sz="1000" b="1" dirty="0"/>
              <a:t>• Action: </a:t>
            </a:r>
            <a:r>
              <a:rPr lang="en-US" sz="1000" dirty="0"/>
              <a:t>Use 50ml at till-points, impulse counters and trial-led visibility spots.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FACE WASH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F85A83E-85D5-4311-AB31-CEC3E1510A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75334"/>
              </p:ext>
            </p:extLst>
          </p:nvPr>
        </p:nvGraphicFramePr>
        <p:xfrm>
          <a:off x="135382" y="678491"/>
          <a:ext cx="7126506" cy="1676986"/>
        </p:xfrm>
        <a:graphic>
          <a:graphicData uri="http://schemas.openxmlformats.org/drawingml/2006/table">
            <a:tbl>
              <a:tblPr/>
              <a:tblGrid>
                <a:gridCol w="801106">
                  <a:extLst>
                    <a:ext uri="{9D8B030D-6E8A-4147-A177-3AD203B41FA5}">
                      <a16:colId xmlns:a16="http://schemas.microsoft.com/office/drawing/2014/main" val="2384875462"/>
                    </a:ext>
                  </a:extLst>
                </a:gridCol>
                <a:gridCol w="517380">
                  <a:extLst>
                    <a:ext uri="{9D8B030D-6E8A-4147-A177-3AD203B41FA5}">
                      <a16:colId xmlns:a16="http://schemas.microsoft.com/office/drawing/2014/main" val="2593112309"/>
                    </a:ext>
                  </a:extLst>
                </a:gridCol>
                <a:gridCol w="801106">
                  <a:extLst>
                    <a:ext uri="{9D8B030D-6E8A-4147-A177-3AD203B41FA5}">
                      <a16:colId xmlns:a16="http://schemas.microsoft.com/office/drawing/2014/main" val="1583407350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652040375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2239736604"/>
                    </a:ext>
                  </a:extLst>
                </a:gridCol>
                <a:gridCol w="901245">
                  <a:extLst>
                    <a:ext uri="{9D8B030D-6E8A-4147-A177-3AD203B41FA5}">
                      <a16:colId xmlns:a16="http://schemas.microsoft.com/office/drawing/2014/main" val="1708960461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2639501366"/>
                    </a:ext>
                  </a:extLst>
                </a:gridCol>
                <a:gridCol w="834485">
                  <a:extLst>
                    <a:ext uri="{9D8B030D-6E8A-4147-A177-3AD203B41FA5}">
                      <a16:colId xmlns:a16="http://schemas.microsoft.com/office/drawing/2014/main" val="3372754032"/>
                    </a:ext>
                  </a:extLst>
                </a:gridCol>
                <a:gridCol w="634209">
                  <a:extLst>
                    <a:ext uri="{9D8B030D-6E8A-4147-A177-3AD203B41FA5}">
                      <a16:colId xmlns:a16="http://schemas.microsoft.com/office/drawing/2014/main" val="4086455608"/>
                    </a:ext>
                  </a:extLst>
                </a:gridCol>
              </a:tblGrid>
              <a:tr h="177676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 </a:t>
                      </a:r>
                      <a:b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29558"/>
                  </a:ext>
                </a:extLst>
              </a:tr>
              <a:tr h="17767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61074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+290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5.53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1846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-60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-11%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60086"/>
                  </a:ext>
                </a:extLst>
              </a:tr>
              <a:tr h="270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+90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+130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0014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+50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39366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-80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-94%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6938"/>
                  </a:ext>
                </a:extLst>
              </a:tr>
              <a:tr h="17767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59911"/>
                  </a:ext>
                </a:extLst>
              </a:tr>
            </a:tbl>
          </a:graphicData>
        </a:graphic>
      </p:graphicFrame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3C25727F-59E7-04DE-5B50-72F3C442998C}"/>
              </a:ext>
            </a:extLst>
          </p:cNvPr>
          <p:cNvSpPr/>
          <p:nvPr/>
        </p:nvSpPr>
        <p:spPr>
          <a:xfrm>
            <a:off x="138605" y="4437593"/>
            <a:ext cx="7117575" cy="803976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5DA593-DB5E-8DFC-4D3C-965D1A154BA5}"/>
              </a:ext>
            </a:extLst>
          </p:cNvPr>
          <p:cNvGrpSpPr/>
          <p:nvPr/>
        </p:nvGrpSpPr>
        <p:grpSpPr>
          <a:xfrm>
            <a:off x="1677667" y="4715869"/>
            <a:ext cx="368181" cy="277293"/>
            <a:chOff x="996089" y="5177897"/>
            <a:chExt cx="176694" cy="241007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729D5F5B-A64A-98CE-A5CC-E04BCE306898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22" name="Arrow: Right 4">
              <a:extLst>
                <a:ext uri="{FF2B5EF4-FFF2-40B4-BE49-F238E27FC236}">
                  <a16:creationId xmlns:a16="http://schemas.microsoft.com/office/drawing/2014/main" id="{01D39A9F-8F17-7FED-EDDA-CA9DEC9A46DF}"/>
                </a:ext>
              </a:extLst>
            </p:cNvPr>
            <p:cNvSpPr txBox="1"/>
            <p:nvPr/>
          </p:nvSpPr>
          <p:spPr>
            <a:xfrm>
              <a:off x="996089" y="5226099"/>
              <a:ext cx="106148" cy="158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24" name="Flow Box 1">
            <a:extLst>
              <a:ext uri="{FF2B5EF4-FFF2-40B4-BE49-F238E27FC236}">
                <a16:creationId xmlns:a16="http://schemas.microsoft.com/office/drawing/2014/main" id="{18AC2083-4AC2-E809-B938-AB7B19D8CA5E}"/>
              </a:ext>
            </a:extLst>
          </p:cNvPr>
          <p:cNvSpPr>
            <a:spLocks noGrp="1"/>
          </p:cNvSpPr>
          <p:nvPr/>
        </p:nvSpPr>
        <p:spPr>
          <a:xfrm>
            <a:off x="178493" y="4486096"/>
            <a:ext cx="1450779" cy="716250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ME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1" dirty="0">
                <a:solidFill>
                  <a:schemeClr val="bg1"/>
                </a:solidFill>
              </a:rPr>
              <a:t>Shampoo</a:t>
            </a:r>
            <a:endParaRPr sz="1200" b="1" dirty="0">
              <a:solidFill>
                <a:schemeClr val="bg1"/>
              </a:solidFill>
            </a:endParaRPr>
          </a:p>
        </p:txBody>
      </p:sp>
      <p:sp>
        <p:nvSpPr>
          <p:cNvPr id="25" name="Flow Box 2">
            <a:extLst>
              <a:ext uri="{FF2B5EF4-FFF2-40B4-BE49-F238E27FC236}">
                <a16:creationId xmlns:a16="http://schemas.microsoft.com/office/drawing/2014/main" id="{59232D69-DB1E-30EF-9DAA-2A11554791DC}"/>
              </a:ext>
            </a:extLst>
          </p:cNvPr>
          <p:cNvSpPr>
            <a:spLocks noGrp="1"/>
          </p:cNvSpPr>
          <p:nvPr/>
        </p:nvSpPr>
        <p:spPr>
          <a:xfrm>
            <a:off x="2101560" y="4484585"/>
            <a:ext cx="1450779" cy="709091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May'26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Value ₹</a:t>
            </a:r>
            <a:r>
              <a:rPr lang="en-IN" sz="1200" b="1" dirty="0">
                <a:solidFill>
                  <a:schemeClr val="bg1"/>
                </a:solidFill>
              </a:rPr>
              <a:t>6.5</a:t>
            </a:r>
            <a:endParaRPr sz="1200" b="1" dirty="0">
              <a:solidFill>
                <a:schemeClr val="bg1"/>
              </a:solidFill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27" name="Flow Box 3">
            <a:extLst>
              <a:ext uri="{FF2B5EF4-FFF2-40B4-BE49-F238E27FC236}">
                <a16:creationId xmlns:a16="http://schemas.microsoft.com/office/drawing/2014/main" id="{1C740AFB-CEE7-26A8-407D-CAA911563BC9}"/>
              </a:ext>
            </a:extLst>
          </p:cNvPr>
          <p:cNvSpPr>
            <a:spLocks noGrp="1"/>
          </p:cNvSpPr>
          <p:nvPr/>
        </p:nvSpPr>
        <p:spPr>
          <a:xfrm>
            <a:off x="4059343" y="4493256"/>
            <a:ext cx="1318133" cy="709090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400" b="1" dirty="0">
                <a:solidFill>
                  <a:schemeClr val="bg1"/>
                </a:solidFill>
              </a:rPr>
              <a:t>M/S</a:t>
            </a:r>
            <a:r>
              <a:rPr lang="en-IN" sz="1400" b="1" dirty="0">
                <a:solidFill>
                  <a:schemeClr val="bg1"/>
                </a:solidFill>
              </a:rPr>
              <a:t> 3.9</a:t>
            </a:r>
            <a:r>
              <a:rPr sz="1400" b="1" dirty="0">
                <a:solidFill>
                  <a:schemeClr val="bg1"/>
                </a:solidFill>
              </a:rPr>
              <a:t>%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▲ +134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0" i="0" u="none" strike="noStrike" dirty="0">
                <a:solidFill>
                  <a:schemeClr val="bg1"/>
                </a:solidFill>
                <a:effectLst/>
              </a:rPr>
              <a:t>bps </a:t>
            </a:r>
            <a:r>
              <a:rPr sz="1400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30" name="Flow Box 4">
            <a:extLst>
              <a:ext uri="{FF2B5EF4-FFF2-40B4-BE49-F238E27FC236}">
                <a16:creationId xmlns:a16="http://schemas.microsoft.com/office/drawing/2014/main" id="{338421EB-A654-8DE5-7208-E8DFB1B92A7F}"/>
              </a:ext>
            </a:extLst>
          </p:cNvPr>
          <p:cNvSpPr>
            <a:spLocks noGrp="1"/>
          </p:cNvSpPr>
          <p:nvPr/>
        </p:nvSpPr>
        <p:spPr>
          <a:xfrm>
            <a:off x="5908750" y="4485744"/>
            <a:ext cx="1318557" cy="707932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 err="1">
                <a:solidFill>
                  <a:schemeClr val="bg1"/>
                </a:solidFill>
              </a:rPr>
              <a:t>Dist</a:t>
            </a:r>
            <a:r>
              <a:rPr lang="en-IN" sz="1400" b="1" dirty="0">
                <a:solidFill>
                  <a:schemeClr val="bg1"/>
                </a:solidFill>
              </a:rPr>
              <a:t>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400" b="1" dirty="0">
                <a:solidFill>
                  <a:schemeClr val="bg1"/>
                </a:solidFill>
              </a:rPr>
              <a:t>76%→81%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17E33A-6CF9-6232-F89B-34A011C2BD4A}"/>
              </a:ext>
            </a:extLst>
          </p:cNvPr>
          <p:cNvGrpSpPr/>
          <p:nvPr/>
        </p:nvGrpSpPr>
        <p:grpSpPr>
          <a:xfrm>
            <a:off x="3634605" y="4738931"/>
            <a:ext cx="376342" cy="267791"/>
            <a:chOff x="992172" y="5177897"/>
            <a:chExt cx="180611" cy="257914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824812A-F3F7-7E1D-016C-41D868C6B65C}"/>
                </a:ext>
              </a:extLst>
            </p:cNvPr>
            <p:cNvSpPr/>
            <p:nvPr/>
          </p:nvSpPr>
          <p:spPr>
            <a:xfrm>
              <a:off x="992172" y="5177897"/>
              <a:ext cx="180611" cy="25791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2" name="Arrow: Right 4">
              <a:extLst>
                <a:ext uri="{FF2B5EF4-FFF2-40B4-BE49-F238E27FC236}">
                  <a16:creationId xmlns:a16="http://schemas.microsoft.com/office/drawing/2014/main" id="{B7604E29-31FC-917B-AB16-0780BF19344C}"/>
                </a:ext>
              </a:extLst>
            </p:cNvPr>
            <p:cNvSpPr txBox="1"/>
            <p:nvPr/>
          </p:nvSpPr>
          <p:spPr>
            <a:xfrm>
              <a:off x="992172" y="5226098"/>
              <a:ext cx="110066" cy="1754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8FC9B9-B996-D283-FE1B-1632F46A1A54}"/>
              </a:ext>
            </a:extLst>
          </p:cNvPr>
          <p:cNvGrpSpPr/>
          <p:nvPr/>
        </p:nvGrpSpPr>
        <p:grpSpPr>
          <a:xfrm>
            <a:off x="5428911" y="4711894"/>
            <a:ext cx="397574" cy="294836"/>
            <a:chOff x="981983" y="5177897"/>
            <a:chExt cx="190800" cy="256254"/>
          </a:xfrm>
        </p:grpSpPr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A9112158-420F-A389-6461-65534ED407FA}"/>
                </a:ext>
              </a:extLst>
            </p:cNvPr>
            <p:cNvSpPr/>
            <p:nvPr/>
          </p:nvSpPr>
          <p:spPr>
            <a:xfrm>
              <a:off x="981983" y="5177897"/>
              <a:ext cx="190800" cy="2562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IN" sz="2800"/>
            </a:p>
          </p:txBody>
        </p:sp>
        <p:sp>
          <p:nvSpPr>
            <p:cNvPr id="45" name="Arrow: Right 4">
              <a:extLst>
                <a:ext uri="{FF2B5EF4-FFF2-40B4-BE49-F238E27FC236}">
                  <a16:creationId xmlns:a16="http://schemas.microsoft.com/office/drawing/2014/main" id="{65C70857-76D2-4919-84AF-262528A1BC7E}"/>
                </a:ext>
              </a:extLst>
            </p:cNvPr>
            <p:cNvSpPr txBox="1"/>
            <p:nvPr/>
          </p:nvSpPr>
          <p:spPr>
            <a:xfrm>
              <a:off x="981983" y="5226099"/>
              <a:ext cx="120255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35560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lang="en-IN" sz="1600"/>
            </a:p>
          </p:txBody>
        </p:sp>
      </p:grp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96933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135382" y="152525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139452" y="2767316"/>
            <a:ext cx="7171238" cy="2800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• </a:t>
            </a:r>
            <a:r>
              <a:rPr lang="en-US" sz="1600" b="1" dirty="0"/>
              <a:t>400ml is the hero pack</a:t>
            </a:r>
            <a:r>
              <a:rPr lang="en-US" sz="1600" dirty="0"/>
              <a:t>: 3.0% MT share, ~76% of </a:t>
            </a:r>
            <a:r>
              <a:rPr lang="en-US" sz="1600" dirty="0" err="1"/>
              <a:t>Mamaearth</a:t>
            </a:r>
            <a:r>
              <a:rPr lang="en-US" sz="1600" dirty="0"/>
              <a:t> Shampoo, growing +71% YoY.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High concentration risk</a:t>
            </a:r>
            <a:r>
              <a:rPr lang="en-US" sz="1600" dirty="0"/>
              <a:t>: Brand is heavily dependent on one pack, so any chain-level delisting or stock gap can impact overall performance.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250ml needs recovery</a:t>
            </a:r>
            <a:r>
              <a:rPr lang="en-US" sz="1600" dirty="0"/>
              <a:t>: Second key pack at 12.5% contribution but declining -7% YoY. Listing expansion is required.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650ml is emerging</a:t>
            </a:r>
            <a:r>
              <a:rPr lang="en-US" sz="1600" dirty="0"/>
              <a:t>: Small base but gaining share MoM. Track existing &amp; Listing chain wise for future scale-up.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Action:</a:t>
            </a:r>
            <a:r>
              <a:rPr lang="en-US" sz="1600" dirty="0"/>
              <a:t> Need to Protect 400ml availability and increase listing for gaps to secure and increase sales, need to widen 250ml listing for gaining share and to extend the listing  &amp; linking for 650ml as the next opportunity.</a:t>
            </a:r>
            <a:endParaRPr 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151375" y="250153"/>
            <a:ext cx="7118040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0" u="none" strike="noStrike" dirty="0">
                <a:solidFill>
                  <a:srgbClr val="FFFFFF"/>
                </a:solidFill>
                <a:effectLst/>
                <a:latin typeface="Calibri" panose="020B0604020202020204" pitchFamily="34" charset="0"/>
              </a:rPr>
              <a:t>MAMAEARTH SHAMPOO | PACK-SIZE | MAY'26</a:t>
            </a:r>
            <a:r>
              <a:rPr lang="en-US" dirty="0"/>
              <a:t>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DE3B5-36EE-420F-AF74-A0208CB48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29309"/>
              </p:ext>
            </p:extLst>
          </p:nvPr>
        </p:nvGraphicFramePr>
        <p:xfrm>
          <a:off x="151375" y="651667"/>
          <a:ext cx="7118039" cy="2012950"/>
        </p:xfrm>
        <a:graphic>
          <a:graphicData uri="http://schemas.openxmlformats.org/drawingml/2006/table">
            <a:tbl>
              <a:tblPr/>
              <a:tblGrid>
                <a:gridCol w="431396">
                  <a:extLst>
                    <a:ext uri="{9D8B030D-6E8A-4147-A177-3AD203B41FA5}">
                      <a16:colId xmlns:a16="http://schemas.microsoft.com/office/drawing/2014/main" val="2318576066"/>
                    </a:ext>
                  </a:extLst>
                </a:gridCol>
                <a:gridCol w="730055">
                  <a:extLst>
                    <a:ext uri="{9D8B030D-6E8A-4147-A177-3AD203B41FA5}">
                      <a16:colId xmlns:a16="http://schemas.microsoft.com/office/drawing/2014/main" val="2089671565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79983784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505997824"/>
                    </a:ext>
                  </a:extLst>
                </a:gridCol>
                <a:gridCol w="1028714">
                  <a:extLst>
                    <a:ext uri="{9D8B030D-6E8A-4147-A177-3AD203B41FA5}">
                      <a16:colId xmlns:a16="http://schemas.microsoft.com/office/drawing/2014/main" val="2872346768"/>
                    </a:ext>
                  </a:extLst>
                </a:gridCol>
                <a:gridCol w="929161">
                  <a:extLst>
                    <a:ext uri="{9D8B030D-6E8A-4147-A177-3AD203B41FA5}">
                      <a16:colId xmlns:a16="http://schemas.microsoft.com/office/drawing/2014/main" val="1067503429"/>
                    </a:ext>
                  </a:extLst>
                </a:gridCol>
                <a:gridCol w="763240">
                  <a:extLst>
                    <a:ext uri="{9D8B030D-6E8A-4147-A177-3AD203B41FA5}">
                      <a16:colId xmlns:a16="http://schemas.microsoft.com/office/drawing/2014/main" val="4096712120"/>
                    </a:ext>
                  </a:extLst>
                </a:gridCol>
                <a:gridCol w="796424">
                  <a:extLst>
                    <a:ext uri="{9D8B030D-6E8A-4147-A177-3AD203B41FA5}">
                      <a16:colId xmlns:a16="http://schemas.microsoft.com/office/drawing/2014/main" val="3718942374"/>
                    </a:ext>
                  </a:extLst>
                </a:gridCol>
                <a:gridCol w="746648">
                  <a:extLst>
                    <a:ext uri="{9D8B030D-6E8A-4147-A177-3AD203B41FA5}">
                      <a16:colId xmlns:a16="http://schemas.microsoft.com/office/drawing/2014/main" val="419541532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 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</a:t>
                      </a:r>
                    </a:p>
                    <a:p>
                      <a:pPr algn="ctr" rtl="0" fontAlgn="ctr"/>
                      <a:r>
                        <a:rPr lang="en-IN" sz="105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 ₹Cr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5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636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+110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4.96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122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0.82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3448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+26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289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033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0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8910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4431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180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-4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+2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0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180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-5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 bps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-59%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7541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42DC590-D1FD-9DD8-5138-6956995F8BF3}"/>
              </a:ext>
            </a:extLst>
          </p:cNvPr>
          <p:cNvSpPr txBox="1"/>
          <p:nvPr/>
        </p:nvSpPr>
        <p:spPr>
          <a:xfrm>
            <a:off x="135382" y="5609898"/>
            <a:ext cx="7179378" cy="369332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ME Shampoo Pack Availability vs Opportunity Gap</a:t>
            </a:r>
            <a:endParaRPr lang="en-US" sz="1800" b="1" dirty="0">
              <a:solidFill>
                <a:schemeClr val="bg1"/>
              </a:solidFill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FD5412DD-62DE-7EE7-D7EC-5F24EA860C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6444566"/>
              </p:ext>
            </p:extLst>
          </p:nvPr>
        </p:nvGraphicFramePr>
        <p:xfrm>
          <a:off x="180727" y="6110950"/>
          <a:ext cx="7134033" cy="2603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Shape 16">
            <a:extLst>
              <a:ext uri="{FF2B5EF4-FFF2-40B4-BE49-F238E27FC236}">
                <a16:creationId xmlns:a16="http://schemas.microsoft.com/office/drawing/2014/main" id="{78EEF3A1-7740-B1F2-F8CE-770C531074F9}"/>
              </a:ext>
            </a:extLst>
          </p:cNvPr>
          <p:cNvSpPr/>
          <p:nvPr/>
        </p:nvSpPr>
        <p:spPr>
          <a:xfrm>
            <a:off x="183678" y="8748670"/>
            <a:ext cx="3597747" cy="908832"/>
          </a:xfrm>
          <a:prstGeom prst="roundRect">
            <a:avLst>
              <a:gd name="adj" fmla="val 4444"/>
            </a:avLst>
          </a:prstGeom>
          <a:solidFill>
            <a:srgbClr val="E5F4EC"/>
          </a:solidFill>
          <a:ln>
            <a:solidFill>
              <a:schemeClr val="tx1"/>
            </a:solidFill>
          </a:ln>
        </p:spPr>
        <p:txBody>
          <a:bodyPr/>
          <a:lstStyle/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400ml – 45.9 Cr (69% share) #1</a:t>
            </a:r>
          </a:p>
          <a:p>
            <a:pPr marR="0" lvl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kumimoji="0" lang="en-US" sz="1400" b="1" i="0" u="none" strike="noStrike" kern="1200" cap="none" spc="0" normalizeH="0" baseline="0" noProof="0" dirty="0"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250ml – 9.9 Cr (79% share) #-1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650ml Track chain-wise, plan for scale</a:t>
            </a: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53BD4E85-5535-370B-0B31-C665D95AC02B}"/>
              </a:ext>
            </a:extLst>
          </p:cNvPr>
          <p:cNvSpPr/>
          <p:nvPr/>
        </p:nvSpPr>
        <p:spPr>
          <a:xfrm>
            <a:off x="3842377" y="8836199"/>
            <a:ext cx="3419508" cy="1716064"/>
          </a:xfrm>
          <a:prstGeom prst="roundRect">
            <a:avLst>
              <a:gd name="adj" fmla="val 4138"/>
            </a:avLst>
          </a:prstGeom>
          <a:solidFill>
            <a:srgbClr val="FBEAE9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  <a:spcAft>
                <a:spcPts val="300"/>
              </a:spcAft>
              <a:defRPr sz="1100" b="1">
                <a:solidFill>
                  <a:srgbClr val="8B4513"/>
                </a:solidFill>
              </a:defRPr>
            </a:pPr>
            <a:r>
              <a:rPr lang="en-IN" sz="1600" dirty="0"/>
              <a:t>WHERE WE'RE MISSING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340ml – 261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1000ml – 216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1400" dirty="0"/>
              <a:t>580ml – 64 Cr </a:t>
            </a:r>
            <a:r>
              <a:rPr lang="en-US" sz="1400" dirty="0" err="1"/>
              <a:t>Tresemmé</a:t>
            </a:r>
            <a:r>
              <a:rPr lang="en-US" sz="1400" dirty="0"/>
              <a:t> leads | We: 0 Cr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EA26C8-6633-76E7-6AFE-132E91B724C2}"/>
              </a:ext>
            </a:extLst>
          </p:cNvPr>
          <p:cNvSpPr txBox="1"/>
          <p:nvPr/>
        </p:nvSpPr>
        <p:spPr>
          <a:xfrm>
            <a:off x="180726" y="9657502"/>
            <a:ext cx="3597747" cy="101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100" b="1">
                <a:solidFill>
                  <a:srgbClr val="800080"/>
                </a:solidFill>
              </a:defRPr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COMPETITORS STRONG: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Dove: 250ml, 340ml, 400ml, 1000ml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H&amp;S: 180ml, 250ml, 400ml, 580ml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Himalaya: 180ml, 1000ml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222532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781890"/>
              </p:ext>
            </p:extLst>
          </p:nvPr>
        </p:nvGraphicFramePr>
        <p:xfrm>
          <a:off x="245668" y="6021604"/>
          <a:ext cx="3520838" cy="1058550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3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8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4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May'25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Apr'26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May'26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MoM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+mn-lt"/>
                        </a:rPr>
                        <a:t>YoY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3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MS 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6%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  <a:latin typeface="+mn-lt"/>
                        </a:rPr>
                        <a:t>7%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▲+107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bps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9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Sales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  <a:latin typeface="+mn-lt"/>
                        </a:rPr>
                        <a:t> (Cr.)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14.98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17.54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  <a:latin typeface="+mn-lt"/>
                        </a:rPr>
                        <a:t>18.61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▲+6.1%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  <a:latin typeface="+mn-lt"/>
                        </a:rPr>
                        <a:t>▲+24.2%</a:t>
                      </a:r>
                      <a:endParaRPr lang="en-US" sz="9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693213"/>
              </p:ext>
            </p:extLst>
          </p:nvPr>
        </p:nvGraphicFramePr>
        <p:xfrm>
          <a:off x="3786425" y="5998952"/>
          <a:ext cx="3548271" cy="1033027"/>
        </p:xfrm>
        <a:graphic>
          <a:graphicData uri="http://schemas.openxmlformats.org/drawingml/2006/table">
            <a:tbl>
              <a:tblPr/>
              <a:tblGrid>
                <a:gridCol w="54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24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90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MS 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0000"/>
                          </a:solidFill>
                        </a:rPr>
                        <a:t>▼-2bps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▲+75bps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Sales 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A1F29"/>
                          </a:solidFill>
                        </a:rPr>
                        <a:t>(Cr.)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5.49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6.94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F29"/>
                          </a:solidFill>
                        </a:rPr>
                        <a:t>7.75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▲+11.5%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8A3D"/>
                          </a:solidFill>
                        </a:rPr>
                        <a:t>▲+41.1%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694714"/>
              </p:ext>
            </p:extLst>
          </p:nvPr>
        </p:nvGraphicFramePr>
        <p:xfrm>
          <a:off x="256641" y="7339112"/>
          <a:ext cx="3529782" cy="1505958"/>
        </p:xfrm>
        <a:graphic>
          <a:graphicData uri="http://schemas.openxmlformats.org/drawingml/2006/table">
            <a:tbl>
              <a:tblPr/>
              <a:tblGrid>
                <a:gridCol w="100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3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Himalaya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22%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Garnier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-112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F29"/>
                          </a:solidFill>
                        </a:rPr>
                        <a:t>Pond's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-32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+107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F29"/>
                          </a:solidFill>
                        </a:rPr>
                        <a:t>The Derma Co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0%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>
                          <a:solidFill>
                            <a:srgbClr val="1A1F29"/>
                          </a:solidFill>
                        </a:rPr>
                        <a:t>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93780"/>
              </p:ext>
            </p:extLst>
          </p:nvPr>
        </p:nvGraphicFramePr>
        <p:xfrm>
          <a:off x="3815653" y="7360861"/>
          <a:ext cx="3538784" cy="1484208"/>
        </p:xfrm>
        <a:graphic>
          <a:graphicData uri="http://schemas.openxmlformats.org/drawingml/2006/table">
            <a:tbl>
              <a:tblPr/>
              <a:tblGrid>
                <a:gridCol w="860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Dove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-28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</a:rPr>
                        <a:t>H &amp; 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11%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-106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TRESemme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6%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+99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1A1F29"/>
                          </a:solidFill>
                        </a:rPr>
                        <a:t>Mamaearth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+75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A1F29"/>
                          </a:solidFill>
                        </a:rPr>
                        <a:t>Patanjali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>
                          <a:solidFill>
                            <a:srgbClr val="1A1F29"/>
                          </a:solidFill>
                        </a:rPr>
                        <a:t>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-34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56641" y="8859138"/>
            <a:ext cx="6963770" cy="3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 &amp; Action Required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20456" y="9067384"/>
            <a:ext cx="7049154" cy="1417320"/>
          </a:xfrm>
          <a:prstGeom prst="rect">
            <a:avLst/>
          </a:prstGeom>
          <a:solidFill>
            <a:srgbClr val="F3F6F8"/>
          </a:solidFill>
          <a:ln w="9525">
            <a:solidFill>
              <a:srgbClr val="D9E2EC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93801" y="9216454"/>
            <a:ext cx="6703284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broad-based (category value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▲24% YoY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consistent with the strong chain-wise Face category growth seen elsewhere in this deck — reads as genuine share gain, not just category tailwind. Protect and continue distribution push.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gain remains strong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(+75 bps)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marginal MoM dip (</a:t>
            </a:r>
            <a:r>
              <a:rPr lang="en-US" sz="1000" b="1" dirty="0">
                <a:solidFill>
                  <a:srgbClr val="C00000"/>
                </a:solidFill>
                <a:latin typeface="Calibri"/>
              </a:rPr>
              <a:t>-2 bps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</a:t>
            </a:r>
            <a:r>
              <a:rPr lang="en-US" sz="1100" b="1" dirty="0">
                <a:solidFill>
                  <a:srgbClr val="008A3D"/>
                </a:solidFill>
                <a:latin typeface="Calibri"/>
              </a:rPr>
              <a:t>+11.5% </a:t>
            </a:r>
            <a:r>
              <a:rPr lang="en-US" sz="10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 growth suggests Honasa grew slower than the category this month — flag for next-cycle tracking.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44F818-C1F3-2C37-6881-13FF35EC5089}"/>
              </a:ext>
            </a:extLst>
          </p:cNvPr>
          <p:cNvSpPr/>
          <p:nvPr/>
        </p:nvSpPr>
        <p:spPr>
          <a:xfrm>
            <a:off x="220456" y="591616"/>
            <a:ext cx="7126502" cy="611752"/>
          </a:xfrm>
          <a:prstGeom prst="rect">
            <a:avLst/>
          </a:prstGeom>
          <a:solidFill>
            <a:srgbClr val="EAF1FA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confirms the chain-wise growth story: </a:t>
            </a:r>
            <a:r>
              <a:rPr lang="en-US" sz="1150" dirty="0" err="1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150" dirty="0">
                <a:solidFill>
                  <a:srgbClr val="1A1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gained share YoY in both categories nationally. Facewash share gains held steady MoM; Shampoo share dipped slightly MoM even as category value grew.</a:t>
            </a:r>
            <a:endParaRPr lang="en-US" sz="1000" dirty="0"/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190680" y="605684"/>
            <a:ext cx="45719" cy="611752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190679" y="1217436"/>
            <a:ext cx="712650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4D32A58-B0BD-972E-2458-5A95BB9C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416628"/>
              </p:ext>
            </p:extLst>
          </p:nvPr>
        </p:nvGraphicFramePr>
        <p:xfrm>
          <a:off x="298089" y="4200527"/>
          <a:ext cx="3417545" cy="1380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1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3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(20.1%)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+90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(28.3%)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054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(23.0%)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099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(22.1%)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E04AC7A0-24DA-9401-A043-42304A39A049}"/>
              </a:ext>
            </a:extLst>
          </p:cNvPr>
          <p:cNvSpPr txBox="1"/>
          <p:nvPr/>
        </p:nvSpPr>
        <p:spPr>
          <a:xfrm>
            <a:off x="253291" y="3856638"/>
            <a:ext cx="704915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1F4E78"/>
                </a:solidFill>
                <a:latin typeface="Calibri"/>
              </a:rPr>
              <a:t>ZONE-WISE MARKET SHARE — </a:t>
            </a:r>
            <a:r>
              <a:rPr lang="en-IN" sz="1500" b="1" dirty="0">
                <a:solidFill>
                  <a:srgbClr val="1F4E78"/>
                </a:solidFill>
                <a:latin typeface="Calibri"/>
              </a:rPr>
              <a:t>Facewash &amp; </a:t>
            </a:r>
            <a:r>
              <a:rPr sz="1500" b="1" dirty="0">
                <a:solidFill>
                  <a:srgbClr val="1F4E78"/>
                </a:solidFill>
                <a:latin typeface="Calibri"/>
              </a:rPr>
              <a:t>SHAMPOO (NIELSEN MS VAL)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5E60B29-7B97-3BAE-2DF9-5905818B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51749"/>
              </p:ext>
            </p:extLst>
          </p:nvPr>
        </p:nvGraphicFramePr>
        <p:xfrm>
          <a:off x="3781411" y="4197110"/>
          <a:ext cx="3573029" cy="14193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8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34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</a:t>
                      </a:r>
                      <a:endParaRPr lang="en-IN" sz="9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in Zone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18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BF3F3E"/>
                          </a:solidFill>
                          <a:latin typeface="Calibri"/>
                        </a:rPr>
                        <a:t>▼ -26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(15.7%)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57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Head &amp; Shoulders (12.5%)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822">
                <a:tc>
                  <a:txBody>
                    <a:bodyPr/>
                    <a:lstStyle/>
                    <a:p>
                      <a:pPr algn="l"/>
                      <a:r>
                        <a:rPr sz="9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900" b="0" dirty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(13.7%)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84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90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99761"/>
                          </a:solidFill>
                          <a:latin typeface="Calibri"/>
                        </a:rPr>
                        <a:t>▲ +5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(16.8%)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03DA08B-77B6-4C6C-EBB4-86762B7954BD}"/>
              </a:ext>
            </a:extLst>
          </p:cNvPr>
          <p:cNvSpPr/>
          <p:nvPr/>
        </p:nvSpPr>
        <p:spPr>
          <a:xfrm>
            <a:off x="265254" y="5630546"/>
            <a:ext cx="7089185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0E7342-BF61-6D36-5C21-AFF57B37CC07}"/>
              </a:ext>
            </a:extLst>
          </p:cNvPr>
          <p:cNvSpPr/>
          <p:nvPr/>
        </p:nvSpPr>
        <p:spPr>
          <a:xfrm>
            <a:off x="255872" y="5904864"/>
            <a:ext cx="7110751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F670B11B-E40D-D128-EB4A-8C821046106A}"/>
              </a:ext>
            </a:extLst>
          </p:cNvPr>
          <p:cNvSpPr/>
          <p:nvPr/>
        </p:nvSpPr>
        <p:spPr>
          <a:xfrm>
            <a:off x="212502" y="5730514"/>
            <a:ext cx="3457007" cy="277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7E9A84A3-492F-BC57-02CD-E50F19908EC9}"/>
              </a:ext>
            </a:extLst>
          </p:cNvPr>
          <p:cNvSpPr/>
          <p:nvPr/>
        </p:nvSpPr>
        <p:spPr>
          <a:xfrm>
            <a:off x="3716928" y="5719742"/>
            <a:ext cx="3439648" cy="224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830CF712-BF9D-3C8D-F8BF-3D43F04FC3B1}"/>
              </a:ext>
            </a:extLst>
          </p:cNvPr>
          <p:cNvSpPr/>
          <p:nvPr/>
        </p:nvSpPr>
        <p:spPr>
          <a:xfrm>
            <a:off x="256642" y="7042360"/>
            <a:ext cx="3529783" cy="3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Facewash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9395683-BBDE-3919-3AA7-3618A368D32B}"/>
              </a:ext>
            </a:extLst>
          </p:cNvPr>
          <p:cNvSpPr/>
          <p:nvPr/>
        </p:nvSpPr>
        <p:spPr>
          <a:xfrm>
            <a:off x="3815654" y="7042360"/>
            <a:ext cx="3501529" cy="26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 Shampoo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EC256BFB-A312-B510-AFC0-FD1AA1908D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762620"/>
              </p:ext>
            </p:extLst>
          </p:nvPr>
        </p:nvGraphicFramePr>
        <p:xfrm>
          <a:off x="194931" y="1333172"/>
          <a:ext cx="3502216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7" name="Chart 1">
            <a:extLst>
              <a:ext uri="{FF2B5EF4-FFF2-40B4-BE49-F238E27FC236}">
                <a16:creationId xmlns:a16="http://schemas.microsoft.com/office/drawing/2014/main" id="{BF728E2D-1079-B203-9F9E-E72210FA89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1561294"/>
              </p:ext>
            </p:extLst>
          </p:nvPr>
        </p:nvGraphicFramePr>
        <p:xfrm>
          <a:off x="3800962" y="1335263"/>
          <a:ext cx="3553475" cy="24406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5 / 21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9B535-7E46-EFF1-7949-92AFDB3F3028}"/>
              </a:ext>
            </a:extLst>
          </p:cNvPr>
          <p:cNvSpPr/>
          <p:nvPr/>
        </p:nvSpPr>
        <p:spPr>
          <a:xfrm>
            <a:off x="7311205" y="573298"/>
            <a:ext cx="45719" cy="68563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>
            <a:off x="190679" y="573298"/>
            <a:ext cx="7163759" cy="5814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1C2D80-5FC1-B80E-D10C-6A3F267EFABE}"/>
              </a:ext>
            </a:extLst>
          </p:cNvPr>
          <p:cNvSpPr/>
          <p:nvPr/>
        </p:nvSpPr>
        <p:spPr>
          <a:xfrm>
            <a:off x="194931" y="4129117"/>
            <a:ext cx="7171692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E9FDCF-2A4B-7AB8-CDCD-392E6C187C28}"/>
              </a:ext>
            </a:extLst>
          </p:cNvPr>
          <p:cNvSpPr txBox="1"/>
          <p:nvPr/>
        </p:nvSpPr>
        <p:spPr>
          <a:xfrm>
            <a:off x="255873" y="1339402"/>
            <a:ext cx="350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Face Wash Market Share by Zone (%)</a:t>
            </a:r>
            <a:endParaRPr lang="en-US" sz="1200" b="0" u="none" strike="noStrike" dirty="0">
              <a:solidFill>
                <a:srgbClr val="1A1F29"/>
              </a:solidFill>
              <a:effectLst/>
              <a:uFillTx/>
              <a:latin typeface="Calibri"/>
            </a:endParaRPr>
          </a:p>
          <a:p>
            <a:endParaRPr lang="en-IN" sz="1200" dirty="0"/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3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57D34-0CE0-3333-85DE-AB7073C79907}"/>
              </a:ext>
            </a:extLst>
          </p:cNvPr>
          <p:cNvSpPr txBox="1"/>
          <p:nvPr/>
        </p:nvSpPr>
        <p:spPr>
          <a:xfrm>
            <a:off x="192023" y="63806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FACEWASH — TOP CONTRIBUTING STATES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E2B9DE-05A4-660A-7E68-01DBCF744160}"/>
              </a:ext>
            </a:extLst>
          </p:cNvPr>
          <p:cNvSpPr/>
          <p:nvPr/>
        </p:nvSpPr>
        <p:spPr>
          <a:xfrm>
            <a:off x="192023" y="83820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D97DBBC-354C-3227-37A3-CEF3B40C8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975050"/>
              </p:ext>
            </p:extLst>
          </p:nvPr>
        </p:nvGraphicFramePr>
        <p:xfrm>
          <a:off x="192024" y="108519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-122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14%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+28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9%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-42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8%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Madhya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Bihar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-88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1D792F32-CC22-2A79-831E-4F3CDED65A41}"/>
              </a:ext>
            </a:extLst>
          </p:cNvPr>
          <p:cNvSpPr txBox="1"/>
          <p:nvPr/>
        </p:nvSpPr>
        <p:spPr>
          <a:xfrm>
            <a:off x="192023" y="314460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B27280-5074-6293-34D4-296950CAC819}"/>
              </a:ext>
            </a:extLst>
          </p:cNvPr>
          <p:cNvSpPr txBox="1"/>
          <p:nvPr/>
        </p:nvSpPr>
        <p:spPr>
          <a:xfrm>
            <a:off x="192023" y="335078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SHAMPOO — TOP CONTRIBUTING STATES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BE3F23-3992-F713-9337-DD08117E185D}"/>
              </a:ext>
            </a:extLst>
          </p:cNvPr>
          <p:cNvSpPr/>
          <p:nvPr/>
        </p:nvSpPr>
        <p:spPr>
          <a:xfrm>
            <a:off x="192023" y="355092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D79B10F-6B35-5D44-EF24-0F827403A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481965"/>
              </p:ext>
            </p:extLst>
          </p:nvPr>
        </p:nvGraphicFramePr>
        <p:xfrm>
          <a:off x="192024" y="379791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8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15%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+11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-61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10%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7%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+42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3%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+53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2%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Punjab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6%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0">
                          <a:solidFill>
                            <a:srgbClr val="1A1F29"/>
                          </a:solidFill>
                          <a:latin typeface="Calibri"/>
                        </a:rPr>
                        <a:t>1%</a:t>
                      </a:r>
                      <a:endParaRPr sz="850" b="0">
                        <a:solidFill>
                          <a:srgbClr val="1A1F29"/>
                        </a:solidFill>
                        <a:latin typeface="Calibri"/>
                      </a:endParaRP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45097F38-80FE-65D5-CEEB-23A445100D27}"/>
              </a:ext>
            </a:extLst>
          </p:cNvPr>
          <p:cNvSpPr txBox="1"/>
          <p:nvPr/>
        </p:nvSpPr>
        <p:spPr>
          <a:xfrm>
            <a:off x="192023" y="585732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F60EE2-F0FF-441C-34D0-10318CF31257}"/>
              </a:ext>
            </a:extLst>
          </p:cNvPr>
          <p:cNvSpPr/>
          <p:nvPr/>
        </p:nvSpPr>
        <p:spPr>
          <a:xfrm>
            <a:off x="192023" y="6131698"/>
            <a:ext cx="7183833" cy="1149973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71F915-AC3C-E886-CEE2-67CA6AE77950}"/>
              </a:ext>
            </a:extLst>
          </p:cNvPr>
          <p:cNvSpPr/>
          <p:nvPr/>
        </p:nvSpPr>
        <p:spPr>
          <a:xfrm>
            <a:off x="192023" y="6131698"/>
            <a:ext cx="46953" cy="1149973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BC9EFA-0433-FF39-3AFB-FCD51C545262}"/>
              </a:ext>
            </a:extLst>
          </p:cNvPr>
          <p:cNvSpPr txBox="1"/>
          <p:nvPr/>
        </p:nvSpPr>
        <p:spPr>
          <a:xfrm>
            <a:off x="320040" y="6194840"/>
            <a:ext cx="6888028" cy="956672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r>
              <a:rPr sz="1000" b="1">
                <a:solidFill>
                  <a:srgbClr val="D9772E"/>
                </a:solidFill>
                <a:latin typeface="Calibri"/>
              </a:rPr>
              <a:t>High Contribution, Low Share States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C4453"/>
                </a:solidFill>
                <a:latin typeface="Calibri"/>
              </a:rPr>
              <a:t>Facewash: Uttar Pradesh (14.5% contrib, 6.0% share); Maharashtra (13.5% contrib, 6.0% share); West Bengal (8.4% contrib, 5.0% share); Bihar (5.5% contrib, 4.7% share). Shampoo: Maharashtra (14.8% contrib, 1.5% share); Uttar Pradesh (9.7% contrib, 2.5% share); Delhi (7.2% contrib, 1.9% share); Haryana (5.6% contrib, 2.2% share); Punjab (5.5% contrib, 1.4% share). Uttar Pradesh and Maharashtra are the two largest under-penetrated states across both categories — biggest white-space opportunity for distribution and visibility investment.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1E6643-A9A1-4AE4-77E0-64D300ED1ADE}"/>
              </a:ext>
            </a:extLst>
          </p:cNvPr>
          <p:cNvSpPr txBox="1"/>
          <p:nvPr/>
        </p:nvSpPr>
        <p:spPr>
          <a:xfrm>
            <a:off x="192023" y="7425956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CATEGORY, BRAND &amp; PACK-SIZE DRIVING HONASA'S STATE-WISE CHAIN SALES (INTERNAL)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4A5C50-2806-95E8-8A29-7E8C32EC6920}"/>
              </a:ext>
            </a:extLst>
          </p:cNvPr>
          <p:cNvSpPr/>
          <p:nvPr/>
        </p:nvSpPr>
        <p:spPr>
          <a:xfrm>
            <a:off x="192023" y="7626097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D18F9E0-4DB4-B760-1816-5B50B0F7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208565"/>
              </p:ext>
            </p:extLst>
          </p:nvPr>
        </p:nvGraphicFramePr>
        <p:xfrm>
          <a:off x="192024" y="7889358"/>
          <a:ext cx="7078187" cy="221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74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Pack</a:t>
                      </a:r>
                    </a:p>
                  </a:txBody>
                  <a:tcPr marL="63500" marR="63500" marT="25400" marB="25400" anchor="ctr"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Delhi/Ncr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Punjab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C53E1D41-A56D-FA35-DCE0-0348A37C0893}"/>
              </a:ext>
            </a:extLst>
          </p:cNvPr>
          <p:cNvSpPr txBox="1"/>
          <p:nvPr/>
        </p:nvSpPr>
        <p:spPr>
          <a:xfrm>
            <a:off x="192023" y="10217458"/>
            <a:ext cx="7183833" cy="26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7686"/>
                </a:solidFill>
                <a:latin typeface="Calibri"/>
              </a:rPr>
              <a:t>Basis: MT chain extract (MRL + Lulu + Wellness), Data for=HCL rows only — Honasa's internal sales mix, not a competitive denominator. State names from this source do not map 1:1 to Nielsen's state list above (e.g. Kerala/Andhra Pradesh have no separate Nielsen state cut).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6 / 21</a:t>
            </a:r>
          </a:p>
        </p:txBody>
      </p:sp>
      <p:sp>
        <p:nvSpPr>
          <p:cNvPr id="9901" name="DataBasisTag"/>
          <p:cNvSpPr/>
          <p:nvPr/>
        </p:nvSpPr>
        <p:spPr>
          <a:xfrm>
            <a:off x="228600" y="6553200"/>
            <a:ext cx="6858000" cy="228600"/>
          </a:xfrm>
          <a:prstGeom prst="rect">
            <a:avLst/>
          </a:prstGeom>
          <a:noFill/>
        </p:spPr>
        <p:txBody>
          <a:bodyPr wrap="none" anchor="ctr"/>
          <a:lstStyle/>
          <a:p>
            <a:r>
              <a:rPr lang="en-IN" sz="900" b="1" i="1">
                <a:solidFill>
                  <a:srgbClr val="C00000"/>
                </a:solidFill>
              </a:rPr>
              <a:t>DATA BASIS: MAY’26 — JUN’26 NIELSEN / CHAIN-GS REFRESH AWAITED</a:t>
            </a:r>
          </a:p>
        </p:txBody>
      </p:sp>
    </p:spTree>
    <p:extLst>
      <p:ext uri="{BB962C8B-B14F-4D97-AF65-F5344CB8AC3E}">
        <p14:creationId xmlns:p14="http://schemas.microsoft.com/office/powerpoint/2010/main" val="236681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017874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385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10.5%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365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71%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385 for East (10.5% of channel), ▼ 6% MoM off the May-26 record of 411. Q1 FY27 = 1,167 Lacs, ▲ 67% vs Q1 FY26.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-10" dirty="0">
                <a:effectLst/>
                <a:latin typeface="Calibri"/>
                <a:ea typeface="Arial MT"/>
                <a:cs typeface="Calibri"/>
              </a:rPr>
              <a:t/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6% vs L3M and ▲ 71% vs Jun-25 — YoY momentum intact despite seasonal moderation.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/>
            </a:r>
            <a:r>
              <a:rPr sz="900" b="1" dirty="0">
                <a:solidFill>
                  <a:srgbClr val="1C4DD8"/>
                </a:solidFill>
                <a:latin typeface="Calibri"/>
              </a:rPr>
              <a:t/>
            </a:r>
            <a:r>
              <a:rPr sz="900" b="1" dirty="0">
                <a:latin typeface="Calibri"/>
              </a:rPr>
              <a:t/>
            </a:r>
            <a:r>
              <a:rPr sz="900" b="1" dirty="0">
                <a:solidFill>
                  <a:srgbClr val="008A3D"/>
                </a:solidFill>
                <a:latin typeface="Calibri"/>
              </a:rPr>
              <a:t/>
            </a:r>
            <a:r>
              <a:rPr sz="900" b="1" dirty="0">
                <a:solidFill>
                  <a:srgbClr val="1C4DD8"/>
                </a:solidFill>
                <a:latin typeface="Calibri"/>
              </a:rPr>
              <a:t/>
            </a:r>
            <a:r>
              <a:rPr sz="900" b="1" dirty="0">
                <a:latin typeface="Calibri"/>
              </a:rPr>
              <a:t/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707667" y="387017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1159597" y="3861039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56%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633843" y="387291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6%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8971664"/>
              </p:ext>
            </p:extLst>
          </p:nvPr>
        </p:nvGraphicFramePr>
        <p:xfrm>
          <a:off x="180438" y="3792416"/>
          <a:ext cx="2261355" cy="155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942073" y="3861040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651854" y="3914645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96%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4056373" y="3910824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5306248" y="388846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885786" y="390717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108%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352373" y="388791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31%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247040"/>
              </p:ext>
            </p:extLst>
          </p:nvPr>
        </p:nvGraphicFramePr>
        <p:xfrm>
          <a:off x="4830879" y="3790132"/>
          <a:ext cx="2308335" cy="1562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43690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329765" y="55321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643883" y="596560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1203373" y="6004948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633%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776670" y="5981324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823294" y="593770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412706" y="5946619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180%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4140153" y="5928351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22%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4789875"/>
              </p:ext>
            </p:extLst>
          </p:nvPr>
        </p:nvGraphicFramePr>
        <p:xfrm>
          <a:off x="2487615" y="5833529"/>
          <a:ext cx="2467498" cy="1541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489018" y="5906220"/>
            <a:ext cx="670727" cy="12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6173226" y="5916969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Calibri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Calibri"/>
              </a:rPr>
              <a:t>▲ 125%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591667" y="5927470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7243054"/>
              </p:ext>
            </p:extLst>
          </p:nvPr>
        </p:nvGraphicFramePr>
        <p:xfrm>
          <a:off x="4886313" y="5890361"/>
          <a:ext cx="2241504" cy="1490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47328"/>
              </p:ext>
            </p:extLst>
          </p:nvPr>
        </p:nvGraphicFramePr>
        <p:xfrm>
          <a:off x="212691" y="1934878"/>
          <a:ext cx="6961092" cy="1502231"/>
        </p:xfrm>
        <a:graphic>
          <a:graphicData uri="http://schemas.openxmlformats.org/drawingml/2006/table">
            <a:tbl>
              <a:tblPr firstRow="1" firstCol="1" bandRow="1"/>
              <a:tblGrid>
                <a:gridCol w="1183119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47342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4455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8019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/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328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318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596026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150%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600%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45%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East closed Jun-26 at 385, ▲ 6% vs L3M and ▲ 71% vs Jun-25; Q1 FY27 ▲ 67% YoY.</a:t>
              </a:r>
              <a:br/>
              <a:r>
                <a:rPr sz="720" b="1">
                  <a:latin typeface="Calibri"/>
                </a:rPr>
                <a:t> Chain Highlights: Reliance leads; Apollo is the fastest YoY chain.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8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250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150%</a:t>
              </a:r>
              <a:endParaRPr lang="en-IN" sz="12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411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563955" y="5910322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20" y="5924618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59645" y="3868252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4989647" y="386982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5084" y="5922266"/>
            <a:ext cx="199186" cy="284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84778" y="3872916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8 / 21</a:t>
            </a:r>
          </a:p>
        </p:txBody>
      </p:sp>
    </p:spTree>
    <p:extLst>
      <p:ext uri="{BB962C8B-B14F-4D97-AF65-F5344CB8AC3E}">
        <p14:creationId xmlns:p14="http://schemas.microsoft.com/office/powerpoint/2010/main" val="327747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439487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827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22.7%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847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827 for North (22.7% of channel), ▼ 11% MoM off the May-26 record of 934. Q1 FY27 = 2,605 Lacs, ▲ 65% vs Q1 FY26.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/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▼ 2% vs L3M and ▲ 65% vs Jun-25 — YoY momentum intact despite seasonal moderation.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endParaRPr lang="en-IN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8%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246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46%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21%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Jun'26 149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27%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3009613"/>
              </p:ext>
            </p:extLst>
          </p:nvPr>
        </p:nvGraphicFramePr>
        <p:xfrm>
          <a:off x="4830879" y="3790131"/>
          <a:ext cx="2308335" cy="1621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1489%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8%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29"/>
                </a:solidFill>
                <a:latin typeface="Calibri"/>
              </a:rPr>
              <a:t>Jun'26 143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283%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25%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69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▲ 100%</a:t>
            </a:r>
            <a:r>
              <a:rPr sz="900" b="1" dirty="0">
                <a:solidFill>
                  <a:schemeClr val="accent6"/>
                </a:solidFill>
                <a:latin typeface="Calibri"/>
              </a:rPr>
              <a:t/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4314941"/>
              </p:ext>
            </p:extLst>
          </p:nvPr>
        </p:nvGraphicFramePr>
        <p:xfrm>
          <a:off x="4841314" y="5860591"/>
          <a:ext cx="2297900" cy="1481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217857"/>
              </p:ext>
            </p:extLst>
          </p:nvPr>
        </p:nvGraphicFramePr>
        <p:xfrm>
          <a:off x="212691" y="1934878"/>
          <a:ext cx="6937466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81624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712382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701748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661828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/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453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575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242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100%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710743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▼ 23%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260%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36%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North closed Jun-26 at 827, ▼ 2% vs L3M and ▲ 65% vs Jun-25; Q1 FY27 ▲ 65% YoY.</a:t>
              </a:r>
              <a:br/>
              <a:r>
                <a:rPr sz="720" b="1">
                  <a:latin typeface="Calibri"/>
                </a:rPr>
                <a:t> 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326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260%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934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9 / 21</a:t>
            </a:r>
          </a:p>
        </p:txBody>
      </p:sp>
    </p:spTree>
    <p:extLst>
      <p:ext uri="{BB962C8B-B14F-4D97-AF65-F5344CB8AC3E}">
        <p14:creationId xmlns:p14="http://schemas.microsoft.com/office/powerpoint/2010/main" val="1378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13507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741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773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741 for South-1 (20.3% of channel), ▼ 17% MoM off the May-26 record of 894. Q1 FY27 = 2,399 Lacs, ▲ 77% vs Q1 FY26.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/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▼ 4% vs L3M and ▲ 63% vs Jun-25 — YoY momentum intact despite seasonal moderation.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171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▼ 8%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44%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96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130%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948232"/>
              </p:ext>
            </p:extLst>
          </p:nvPr>
        </p:nvGraphicFramePr>
        <p:xfrm>
          <a:off x="4862830" y="3792360"/>
          <a:ext cx="2276384" cy="161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736%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Jun'26 117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210%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29%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93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82%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511334"/>
              </p:ext>
            </p:extLst>
          </p:nvPr>
        </p:nvGraphicFramePr>
        <p:xfrm>
          <a:off x="4887847" y="5856915"/>
          <a:ext cx="2251367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185162"/>
              </p:ext>
            </p:extLst>
          </p:nvPr>
        </p:nvGraphicFramePr>
        <p:xfrm>
          <a:off x="212691" y="1934878"/>
          <a:ext cx="699667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696366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/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583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470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521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251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34709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107%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34%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12%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▼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20609040205080304" pitchFamily="49" charset="-128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South-1 closed Jun-26 at 741, ▼ 4% vs L3M and ▲ 63% vs Jun-25; Q1 FY27 ▲ 77% YoY.</a:t>
              </a:r>
              <a:br/>
              <a:r>
                <a:rPr sz="720" b="1">
                  <a:latin typeface="Calibri"/>
                </a:rPr>
                <a:t> Chain Highlights: Dmart leads; Lulu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221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139%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894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10 / 21</a:t>
            </a:r>
          </a:p>
        </p:txBody>
      </p:sp>
    </p:spTree>
    <p:extLst>
      <p:ext uri="{BB962C8B-B14F-4D97-AF65-F5344CB8AC3E}">
        <p14:creationId xmlns:p14="http://schemas.microsoft.com/office/powerpoint/2010/main" val="2713510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19409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517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14.2%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486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Zone View: Jun-26 closed at 517 for South-2 (14.2% of channel), ▼ 7% MoM off the May-26 record of 554. Q1 FY27 = 1,546 Lacs, ▲ 62% vs Q1 FY26.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/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6% vs L3M and ▲ 55% vs Jun-25 — YoY momentum intact despite seasonal moderation.</a:t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8%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156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30%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12%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Jun'26 105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87%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30%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1220%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66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250%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39%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35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▼ 10%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794944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/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305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396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380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94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387%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463577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17%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106%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▼ 39%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29%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19%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84784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South-2 closed Jun-26 at 517, ▲ 6% vs L3M and ▲ 55% vs Jun-25; Q1 FY27 ▲ 62% YoY.</a:t>
              </a:r>
              <a:br/>
              <a:r>
                <a:rPr sz="720" b="1">
                  <a:latin typeface="Calibri"/>
                </a:rPr>
                <a:t> Chain Highlights: Dmart leads; Apollo is the fastest YoY chain.</a:t>
              </a:r>
              <a:endParaRPr lang="en-IN" sz="900" b="1" dirty="0">
                <a:solidFill>
                  <a:srgbClr val="008A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218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106%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554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405748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106685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963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26.4%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937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>Zone View: Jun-26 closed at 963 for West (26.4% of channel), ▼ 5% MoM off the May-26 record of 1016. Q1 FY27 = 2,881 Lacs, ▲ 54% vs Q1 FY26.</a:t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b="1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900" spc="-10" dirty="0">
                <a:effectLst/>
                <a:latin typeface="Calibri"/>
                <a:ea typeface="Arial MT"/>
                <a:cs typeface="Calibri"/>
              </a:rPr>
              <a:t/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Calibri"/>
              </a:rPr>
              <a:t>Growth View: Jun-26 was ▲ 3% vs L3M and ▲ 63% vs Jun-25 — YoY momentum intact despite seasonal moderation.</a:t>
            </a:r>
            <a:r>
              <a:rPr sz="900" b="1" dirty="0">
                <a:solidFill>
                  <a:srgbClr val="1C4DD8"/>
                </a:solidFill>
                <a:latin typeface="Calibri"/>
              </a:rPr>
              <a:t/>
            </a:r>
            <a:r>
              <a:rPr sz="900" b="1" dirty="0">
                <a:solidFill>
                  <a:srgbClr val="008A3D"/>
                </a:solidFill>
                <a:latin typeface="Calibri"/>
              </a:rPr>
              <a:t/>
            </a:r>
            <a:r>
              <a:rPr sz="900" b="1" dirty="0">
                <a:solidFill>
                  <a:srgbClr val="1C4DD8"/>
                </a:solidFill>
                <a:latin typeface="Calibri"/>
              </a:rPr>
              <a:t/>
            </a:r>
            <a:r>
              <a:rPr sz="900" b="1" dirty="0">
                <a:latin typeface="Calibri"/>
              </a:rPr>
              <a:t/>
            </a:r>
            <a:r>
              <a:rPr sz="900" b="1" dirty="0">
                <a:solidFill>
                  <a:srgbClr val="1C4DD8"/>
                </a:solidFill>
                <a:latin typeface="Calibri"/>
              </a:rPr>
              <a:t/>
            </a:r>
            <a:r>
              <a:rPr sz="900" b="1" dirty="0">
                <a:solidFill>
                  <a:srgbClr val="008A3D"/>
                </a:solidFill>
                <a:latin typeface="Calibri"/>
              </a:rPr>
              <a:t/>
            </a:r>
            <a:r>
              <a:rPr sz="900" b="1" dirty="0">
                <a:solidFill>
                  <a:srgbClr val="1C4DD8"/>
                </a:solidFill>
                <a:latin typeface="Calibri"/>
              </a:rPr>
              <a:t/>
            </a:r>
            <a:r>
              <a:rPr sz="900" b="1" dirty="0">
                <a:latin typeface="Calibri"/>
              </a:rPr>
              <a:t/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15%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296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>
                <a:solidFill>
                  <a:srgbClr val="008A3D"/>
                </a:solidFill>
                <a:latin typeface="Calibri"/>
              </a:rPr>
              <a:t>▲ 32%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Jun'26 176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008A3D"/>
                </a:solidFill>
                <a:latin typeface="Calibri"/>
              </a:rPr>
              <a:t>GOLY ▲ 47%</a:t>
            </a:r>
            <a:endParaRPr lang="en-US" sz="900" dirty="0">
              <a:solidFill>
                <a:srgbClr val="008A3D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43%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50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032755"/>
              </p:ext>
            </p:extLst>
          </p:nvPr>
        </p:nvGraphicFramePr>
        <p:xfrm>
          <a:off x="4849544" y="3784478"/>
          <a:ext cx="2289670" cy="1634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1731%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11%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Jun'26 238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Calibri"/>
              </a:rPr>
              <a:t>▲ 407%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▼ 36%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76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6%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7016938"/>
              </p:ext>
            </p:extLst>
          </p:nvPr>
        </p:nvGraphicFramePr>
        <p:xfrm>
          <a:off x="4930324" y="5845469"/>
          <a:ext cx="2208890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307983"/>
              </p:ext>
            </p:extLst>
          </p:nvPr>
        </p:nvGraphicFramePr>
        <p:xfrm>
          <a:off x="212691" y="1934878"/>
          <a:ext cx="7121624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17605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/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532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608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635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35%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288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574%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83%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160641"/>
              </p:ext>
            </p:extLst>
          </p:nvPr>
        </p:nvGraphicFramePr>
        <p:xfrm>
          <a:off x="212691" y="7863614"/>
          <a:ext cx="7010190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701001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21637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3183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81091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3456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64%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94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▼ 22%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188%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▲ 218%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▲ 200%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91%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250%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70%</a:t>
                      </a:r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80%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46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720" b="1">
                  <a:latin typeface="Calibri"/>
                </a:rPr>
                <a:t>Zone View: West closed Jun-26 at 963, ▲ 3% vs L3M and ▲ 63% vs Jun-25; Q1 FY27 ▲ 54% YoY.</a:t>
              </a:r>
              <a:br/>
              <a:r>
                <a:rPr sz="720" b="1">
                  <a:latin typeface="Calibri"/>
                </a:rPr>
                <a:t> Chain Highlights: Dmart leads; Metro Cnc is the fastest YoY chain.</a:t>
              </a:r>
              <a:endParaRPr lang="en-IN" sz="14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650" b="1" spc="-25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650" b="1" spc="-2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1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646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1A1F29"/>
                  </a:solidFill>
                  <a:latin typeface="+mj-lt"/>
                </a:rPr>
                <a:t>Metro Cnc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200%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65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1016</a:t>
              </a:r>
              <a:r>
                <a:rPr lang="en-US" sz="65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97934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827143"/>
              </p:ext>
            </p:extLst>
          </p:nvPr>
        </p:nvGraphicFramePr>
        <p:xfrm>
          <a:off x="212691" y="82627"/>
          <a:ext cx="7015882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7015882">
                  <a:extLst>
                    <a:ext uri="{9D8B030D-6E8A-4147-A177-3AD203B41FA5}">
                      <a16:colId xmlns:a16="http://schemas.microsoft.com/office/drawing/2014/main"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a16:creationId xmlns:a16="http://schemas.microsoft.com/office/drawing/2014/main"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a16:creationId xmlns:a16="http://schemas.microsoft.com/office/drawing/2014/main"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a16:creationId xmlns:a16="http://schemas.microsoft.com/office/drawing/2014/main"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Jun-26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a16:creationId xmlns:a16="http://schemas.microsoft.com/office/drawing/2014/main"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a16:creationId xmlns:a16="http://schemas.microsoft.com/office/drawing/2014/main"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a16:creationId xmlns:a16="http://schemas.microsoft.com/office/drawing/2014/main"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5.9%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a16:creationId xmlns:a16="http://schemas.microsoft.com/office/drawing/2014/main"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a16:creationId xmlns:a16="http://schemas.microsoft.com/office/drawing/2014/main"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a16:creationId xmlns:a16="http://schemas.microsoft.com/office/drawing/2014/main"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203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a16:creationId xmlns:a16="http://schemas.microsoft.com/office/drawing/2014/main"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a16:creationId xmlns:a16="http://schemas.microsoft.com/office/drawing/2014/main"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a16:creationId xmlns:a16="http://schemas.microsoft.com/office/drawing/2014/main"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Arial MT"/>
                  <a:cs typeface="Calibri"/>
                </a:rPr>
                <a:t>GOLY Jun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a16:creationId xmlns:a16="http://schemas.microsoft.com/office/drawing/2014/main"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a16:creationId xmlns:a16="http://schemas.microsoft.com/office/drawing/2014/main"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427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a16:creationId xmlns:a16="http://schemas.microsoft.com/office/drawing/2014/main"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912670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a16:creationId xmlns:a16="http://schemas.microsoft.com/office/drawing/2014/main"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 MT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Arial MT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a16:creationId xmlns:a16="http://schemas.microsoft.com/office/drawing/2014/main"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6867859"/>
            <a:ext cx="6926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a16:creationId xmlns:a16="http://schemas.microsoft.com/office/drawing/2014/main"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Calibri"/>
                <a:ea typeface="Arial MT"/>
                <a:cs typeface="Calibri"/>
              </a:rPr>
              <a:t>Highlights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Calibri"/>
                <a:ea typeface="Arial MT"/>
                <a:cs typeface="Calibri"/>
              </a:rPr>
              <a:t> </a:t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>Chain View: Jun-26 closed at 217 for FSN (5.9% of channel), ▲ 4% MoM. Q1 FY27 = 654 Lacs, ▲ 25% vs Q1 FY26.</a:t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solidFill>
                  <a:srgbClr val="0F756E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solidFill>
                  <a:srgbClr val="1A1F29"/>
                </a:solidFill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b="1" spc="45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40" dirty="0">
                <a:effectLst/>
                <a:latin typeface="Calibri"/>
                <a:ea typeface="Arial MT"/>
                <a:cs typeface="Calibri"/>
              </a:rPr>
              <a:t/>
            </a:r>
            <a:r>
              <a:rPr lang="en-US" sz="1050" spc="-10" dirty="0">
                <a:effectLst/>
                <a:latin typeface="Calibri"/>
                <a:ea typeface="Arial MT"/>
                <a:cs typeface="Calibri"/>
              </a:rPr>
              <a:t/>
            </a:r>
            <a:endParaRPr lang="en-IN" dirty="0">
              <a:effectLst/>
              <a:latin typeface="+mj-lt"/>
              <a:ea typeface="Arial MT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Calibri"/>
              </a:rPr>
              <a:t>Growth View: Jun-26 was ▲ 7% vs L3M and ▲ 32% vs Jun-25 — best month since the Apr-26 record of 229.</a:t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r>
              <a:rPr sz="1050" b="1" dirty="0">
                <a:solidFill>
                  <a:srgbClr val="008A3D"/>
                </a:solidFill>
                <a:latin typeface="Calibri"/>
              </a:rPr>
              <a:t/>
            </a:r>
            <a:r>
              <a:rPr sz="1050" b="1" dirty="0">
                <a:solidFill>
                  <a:srgbClr val="1C4DD8"/>
                </a:solidFill>
                <a:latin typeface="Calibri"/>
              </a:rPr>
              <a:t/>
            </a:r>
            <a:r>
              <a:rPr sz="1050" b="1" dirty="0">
                <a:latin typeface="Calibri"/>
              </a:rPr>
              <a:t/>
            </a:r>
            <a:endParaRPr lang="en-IN" sz="1400" dirty="0">
              <a:effectLst/>
              <a:latin typeface="+mj-lt"/>
              <a:ea typeface="Arial MT"/>
              <a:cs typeface="Calibri"/>
            </a:endParaRPr>
          </a:p>
          <a:p>
            <a:r>
              <a:rPr sz="750">
                <a:latin typeface="Calibri"/>
              </a:rPr>
              <a:t>Zone Insight: FSN improved to +32% YoY but still trails the network (+61%); assortment plus promo refresh remains the lever.</a:t>
            </a:r>
          </a:p>
        </p:txBody>
      </p:sp>
      <p:sp>
        <p:nvSpPr>
          <p:cNvPr id="149" name="Shape 3">
            <a:extLst>
              <a:ext uri="{FF2B5EF4-FFF2-40B4-BE49-F238E27FC236}">
                <a16:creationId xmlns:a16="http://schemas.microsoft.com/office/drawing/2014/main"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a16:creationId xmlns:a16="http://schemas.microsoft.com/office/drawing/2014/main"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Calibri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a16:creationId xmlns:a16="http://schemas.microsoft.com/office/drawing/2014/main"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46%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a16:creationId xmlns:a16="http://schemas.microsoft.com/office/drawing/2014/main"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a16:creationId xmlns:a16="http://schemas.microsoft.com/office/drawing/2014/main"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108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a16:creationId xmlns:a16="http://schemas.microsoft.com/office/drawing/2014/main" id="{C3EABDE2-E03A-721E-0AE3-C104F928F4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6" name="Text 9">
            <a:extLst>
              <a:ext uri="{FF2B5EF4-FFF2-40B4-BE49-F238E27FC236}">
                <a16:creationId xmlns:a16="http://schemas.microsoft.com/office/drawing/2014/main"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a16:creationId xmlns:a16="http://schemas.microsoft.com/office/drawing/2014/main"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C00000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C00000"/>
                </a:solidFill>
                <a:latin typeface="Calibri"/>
              </a:rPr>
              <a:t>▲ 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a16:creationId xmlns:a16="http://schemas.microsoft.com/office/drawing/2014/main"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23%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a16:creationId xmlns:a16="http://schemas.microsoft.com/office/drawing/2014/main"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a16:creationId xmlns:a16="http://schemas.microsoft.com/office/drawing/2014/main" id="{498335C8-87FE-1BF3-E55D-7F3682FE88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1" name="Text 13">
            <a:extLst>
              <a:ext uri="{FF2B5EF4-FFF2-40B4-BE49-F238E27FC236}">
                <a16:creationId xmlns:a16="http://schemas.microsoft.com/office/drawing/2014/main"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a16:creationId xmlns:a16="http://schemas.microsoft.com/office/drawing/2014/main"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008A3D"/>
                </a:solidFill>
                <a:latin typeface="Calibri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Calibri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a16:creationId xmlns:a16="http://schemas.microsoft.com/office/drawing/2014/main"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17%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a16:creationId xmlns:a16="http://schemas.microsoft.com/office/drawing/2014/main"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24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a16:creationId xmlns:a16="http://schemas.microsoft.com/office/drawing/2014/main" id="{E29320C6-4ABC-47AD-CAC6-8C1A6C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494362"/>
              </p:ext>
            </p:extLst>
          </p:nvPr>
        </p:nvGraphicFramePr>
        <p:xfrm>
          <a:off x="4846340" y="3822048"/>
          <a:ext cx="2292874" cy="1578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6" name="Shape 17">
            <a:extLst>
              <a:ext uri="{FF2B5EF4-FFF2-40B4-BE49-F238E27FC236}">
                <a16:creationId xmlns:a16="http://schemas.microsoft.com/office/drawing/2014/main"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a16:creationId xmlns:a16="http://schemas.microsoft.com/office/drawing/2014/main"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a16:creationId xmlns:a16="http://schemas.microsoft.com/office/drawing/2014/main"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008A3D"/>
                </a:solidFill>
                <a:latin typeface="Calibri"/>
              </a:rPr>
              <a:t> </a:t>
            </a:r>
            <a:r>
              <a:rPr sz="900" b="1">
                <a:solidFill>
                  <a:srgbClr val="008A3D"/>
                </a:solidFill>
                <a:latin typeface="Calibri"/>
              </a:rPr>
              <a:t>▲ 433%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a16:creationId xmlns:a16="http://schemas.microsoft.com/office/drawing/2014/main"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▲ 14%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a16:creationId xmlns:a16="http://schemas.microsoft.com/office/drawing/2014/main"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a16:creationId xmlns:a16="http://schemas.microsoft.com/office/drawing/2014/main" id="{A04A165C-0A2C-703B-D787-4F0EA0143E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3" name="Text 23">
            <a:extLst>
              <a:ext uri="{FF2B5EF4-FFF2-40B4-BE49-F238E27FC236}">
                <a16:creationId xmlns:a16="http://schemas.microsoft.com/office/drawing/2014/main"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a16:creationId xmlns:a16="http://schemas.microsoft.com/office/drawing/2014/main"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8A3D"/>
                </a:solidFill>
                <a:latin typeface="Calibri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Calibri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a16:creationId xmlns:a16="http://schemas.microsoft.com/office/drawing/2014/main"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25%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a16:creationId xmlns:a16="http://schemas.microsoft.com/office/drawing/2014/main"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a16:creationId xmlns:a16="http://schemas.microsoft.com/office/drawing/2014/main" id="{CBBF5C82-1DBC-BF6C-CAEA-410BB465C0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8" name="Text 27">
            <a:extLst>
              <a:ext uri="{FF2B5EF4-FFF2-40B4-BE49-F238E27FC236}">
                <a16:creationId xmlns:a16="http://schemas.microsoft.com/office/drawing/2014/main"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a16:creationId xmlns:a16="http://schemas.microsoft.com/office/drawing/2014/main"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▲ 0%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a16:creationId xmlns:a16="http://schemas.microsoft.com/office/drawing/2014/main"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0000"/>
                </a:solidFill>
                <a:latin typeface="Calibri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C00000"/>
                </a:solidFill>
                <a:latin typeface="Calibri"/>
              </a:rPr>
              <a:t>▼ 10%</a:t>
            </a:r>
            <a:endParaRPr lang="en-US" sz="9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a16:creationId xmlns:a16="http://schemas.microsoft.com/office/drawing/2014/main"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Jun'26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A1F29"/>
                </a:solidFill>
                <a:latin typeface="Calibri"/>
              </a:rPr>
              <a:t>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a16:creationId xmlns:a16="http://schemas.microsoft.com/office/drawing/2014/main" id="{39E95149-09DC-244B-A1A2-AB5A022BF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a16:creationId xmlns:a16="http://schemas.microsoft.com/office/drawing/2014/main"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008320"/>
              </p:ext>
            </p:extLst>
          </p:nvPr>
        </p:nvGraphicFramePr>
        <p:xfrm>
          <a:off x="212691" y="1934878"/>
          <a:ext cx="7111999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207980">
                  <a:extLst>
                    <a:ext uri="{9D8B030D-6E8A-4147-A177-3AD203B41FA5}">
                      <a16:colId xmlns:a16="http://schemas.microsoft.com/office/drawing/2014/main" val="1720933068"/>
                    </a:ext>
                  </a:extLst>
                </a:gridCol>
                <a:gridCol w="617473">
                  <a:extLst>
                    <a:ext uri="{9D8B030D-6E8A-4147-A177-3AD203B41FA5}">
                      <a16:colId xmlns:a16="http://schemas.microsoft.com/office/drawing/2014/main" val="2630805108"/>
                    </a:ext>
                  </a:extLst>
                </a:gridCol>
                <a:gridCol w="811691">
                  <a:extLst>
                    <a:ext uri="{9D8B030D-6E8A-4147-A177-3AD203B41FA5}">
                      <a16:colId xmlns:a16="http://schemas.microsoft.com/office/drawing/2014/main" val="1295913063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4130086957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3066276741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870282349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1716647770"/>
                    </a:ext>
                  </a:extLst>
                </a:gridCol>
                <a:gridCol w="894971">
                  <a:extLst>
                    <a:ext uri="{9D8B030D-6E8A-4147-A177-3AD203B41FA5}">
                      <a16:colId xmlns:a16="http://schemas.microsoft.com/office/drawing/2014/main"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Jun-26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Cont %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/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139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175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82%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157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▼ 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  <a:ea typeface="MS Mincho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MS Mincho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a16:creationId xmlns:a16="http://schemas.microsoft.com/office/drawing/2014/main"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968042"/>
              </p:ext>
            </p:extLst>
          </p:nvPr>
        </p:nvGraphicFramePr>
        <p:xfrm>
          <a:off x="212691" y="7854061"/>
          <a:ext cx="6984190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94693">
                  <a:extLst>
                    <a:ext uri="{9D8B030D-6E8A-4147-A177-3AD203B41FA5}">
                      <a16:colId xmlns:a16="http://schemas.microsoft.com/office/drawing/2014/main" val="1999662838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1604924111"/>
                    </a:ext>
                  </a:extLst>
                </a:gridCol>
                <a:gridCol w="718961">
                  <a:extLst>
                    <a:ext uri="{9D8B030D-6E8A-4147-A177-3AD203B41FA5}">
                      <a16:colId xmlns:a16="http://schemas.microsoft.com/office/drawing/2014/main" val="3900343723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2453469686"/>
                    </a:ext>
                  </a:extLst>
                </a:gridCol>
                <a:gridCol w="770315">
                  <a:extLst>
                    <a:ext uri="{9D8B030D-6E8A-4147-A177-3AD203B41FA5}">
                      <a16:colId xmlns:a16="http://schemas.microsoft.com/office/drawing/2014/main" val="531817117"/>
                    </a:ext>
                  </a:extLst>
                </a:gridCol>
                <a:gridCol w="479307">
                  <a:extLst>
                    <a:ext uri="{9D8B030D-6E8A-4147-A177-3AD203B41FA5}">
                      <a16:colId xmlns:a16="http://schemas.microsoft.com/office/drawing/2014/main" val="1269342238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1250320746"/>
                    </a:ext>
                  </a:extLst>
                </a:gridCol>
                <a:gridCol w="890142">
                  <a:extLst>
                    <a:ext uri="{9D8B030D-6E8A-4147-A177-3AD203B41FA5}">
                      <a16:colId xmlns:a16="http://schemas.microsoft.com/office/drawing/2014/main"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Jun-26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/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217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100%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203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7%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0%</a:t>
                      </a:r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1A1F29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1A1F29"/>
                        </a:solidFill>
                        <a:effectLst/>
                        <a:latin typeface="+mn-lt"/>
                        <a:ea typeface="MS Mincho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a16:creationId xmlns:a16="http://schemas.microsoft.com/office/drawing/2014/main"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742"/>
            <a:ext cx="756285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160207" y="8477611"/>
            <a:ext cx="6979007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a16:creationId xmlns:a16="http://schemas.microsoft.com/office/drawing/2014/main"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a16:creationId xmlns:a16="http://schemas.microsoft.com/office/drawing/2014/main"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a16:creationId xmlns:a16="http://schemas.microsoft.com/office/drawing/2014/main"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a16:creationId xmlns:a16="http://schemas.microsoft.com/office/drawing/2014/main"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a16:creationId xmlns:a16="http://schemas.microsoft.com/office/drawing/2014/main"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a16:creationId xmlns:a16="http://schemas.microsoft.com/office/drawing/2014/main"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a16:creationId xmlns:a16="http://schemas.microsoft.com/office/drawing/2014/main"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a16:creationId xmlns:a16="http://schemas.microsoft.com/office/drawing/2014/main"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a16:creationId xmlns:a16="http://schemas.microsoft.com/office/drawing/2014/main"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a16:creationId xmlns:a16="http://schemas.microsoft.com/office/drawing/2014/main"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a16:creationId xmlns:a16="http://schemas.microsoft.com/office/drawing/2014/main"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Arial MT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a16:creationId xmlns:a16="http://schemas.microsoft.com/office/drawing/2014/main"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08A3D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08A3D"/>
                  </a:solidFill>
                  <a:latin typeface="+mj-lt"/>
                </a:rPr>
                <a:t>Chain Highlights:-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08A3D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 closed Jun-26 at 217, ▲ 7% vs L3M and ▲ 32% vs Jun-25; the Apr-26 record of 229 stands.</a:t>
              </a:r>
              <a:endParaRPr lang="en-IN" sz="1600" spc="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a16:creationId xmlns:a16="http://schemas.microsoft.com/office/drawing/2014/main"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08A3D"/>
                  </a:solidFill>
                  <a:latin typeface="+mj-lt"/>
                  <a:ea typeface="Arial MT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a16:creationId xmlns:a16="http://schemas.microsoft.com/office/drawing/2014/main"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a16:creationId xmlns:a16="http://schemas.microsoft.com/office/drawing/2014/main"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a16:creationId xmlns:a16="http://schemas.microsoft.com/office/drawing/2014/main"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08A3D"/>
                  </a:solidFill>
                  <a:effectLst/>
                  <a:latin typeface="+mj-lt"/>
                  <a:ea typeface="Arial MT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a16:creationId xmlns:a16="http://schemas.microsoft.com/office/drawing/2014/main"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217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a16:creationId xmlns:a16="http://schemas.microsoft.com/office/drawing/2014/main"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1A1F29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32%</a:t>
              </a:r>
              <a:endParaRPr lang="en-IN" sz="10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a16:creationId xmlns:a16="http://schemas.microsoft.com/office/drawing/2014/main"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Arial MT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a16:creationId xmlns:a16="http://schemas.microsoft.com/office/drawing/2014/main"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Apr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1A1F29"/>
                  </a:solidFill>
                  <a:latin typeface="+mj-lt"/>
                  <a:ea typeface="Arial MT"/>
                  <a:cs typeface="Calibri"/>
                </a:rPr>
                <a:t>- </a:t>
              </a:r>
              <a:r>
                <a:rPr lang="en-US" sz="900" b="1" dirty="0">
                  <a:solidFill>
                    <a:srgbClr val="1A1F29"/>
                  </a:solidFill>
                  <a:effectLst/>
                  <a:latin typeface="+mj-lt"/>
                  <a:ea typeface="Arial MT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Arial MT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a16:creationId xmlns:a16="http://schemas.microsoft.com/office/drawing/2014/main"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112827"/>
            <a:ext cx="756285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a16:creationId xmlns:a16="http://schemas.microsoft.com/office/drawing/2014/main"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ottle of rice face wash  Description automatically generated">
            <a:extLst>
              <a:ext uri="{FF2B5EF4-FFF2-40B4-BE49-F238E27FC236}">
                <a16:creationId xmlns:a16="http://schemas.microsoft.com/office/drawing/2014/main"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  Description automatically generated">
            <a:extLst>
              <a:ext uri="{FF2B5EF4-FFF2-40B4-BE49-F238E27FC236}">
                <a16:creationId xmlns:a16="http://schemas.microsoft.com/office/drawing/2014/main"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  AI-generated content may be incorrect.">
            <a:extLst>
              <a:ext uri="{FF2B5EF4-FFF2-40B4-BE49-F238E27FC236}">
                <a16:creationId xmlns:a16="http://schemas.microsoft.com/office/drawing/2014/main"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  Description automatically generated">
            <a:extLst>
              <a:ext uri="{FF2B5EF4-FFF2-40B4-BE49-F238E27FC236}">
                <a16:creationId xmlns:a16="http://schemas.microsoft.com/office/drawing/2014/main"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856524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4126664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Zone-wise Best Execution Images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Best available field execution proof, by zone — and where the image bank still needs to be built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SOUTH-1 —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7" name="TextBox 6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SOUTH-2 — KARNATAKA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9" name="Picture 8" descr="JC_Radhika_s07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46" y="1258143"/>
            <a:ext cx="1845748" cy="2460998"/>
          </a:xfrm>
          <a:prstGeom prst="rect">
            <a:avLst/>
          </a:prstGeom>
        </p:spPr>
      </p:pic>
      <p:pic>
        <p:nvPicPr>
          <p:cNvPr id="10" name="Picture 9" descr="JC_June2026_s10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590" y="1258142"/>
            <a:ext cx="1803708" cy="240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9506" y="3719623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Lulu | Hyderabad* | South-1 | Endcap / Bin-Tower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3160" y="3735910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 dirty="0">
                <a:solidFill>
                  <a:srgbClr val="1E2761"/>
                </a:solidFill>
                <a:latin typeface="Calibri"/>
              </a:rPr>
              <a:t>D-Mart | Bengaluru | South-2 | BOGO Bin Display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3471" y="10993339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1315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APOLLO — SOUTH-1</a:t>
            </a:r>
          </a:p>
        </p:txBody>
      </p:sp>
      <p:pic>
        <p:nvPicPr>
          <p:cNvPr id="19" name="Picture 18" descr="JC_Radhika_s05_p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495" y="4371570"/>
            <a:ext cx="1352781" cy="240494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352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Apollo | Hyderabad* | Eye-Level Shelf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352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Mamaearth Sun Care range fronted with BOGO talkers on a dedicated shelf strip.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9111" y="4167080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 dirty="0">
                <a:solidFill>
                  <a:srgbClr val="1E2761"/>
                </a:solidFill>
                <a:latin typeface="Calibri"/>
              </a:rPr>
              <a:t>LULU — SOUTH-1</a:t>
            </a:r>
          </a:p>
        </p:txBody>
      </p:sp>
      <p:pic>
        <p:nvPicPr>
          <p:cNvPr id="24" name="Picture 23" descr="JC_Radhika_s06_p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675" y="4371570"/>
            <a:ext cx="1803708" cy="24049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22995" y="6872712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Lulu | Hyderabad* | Shampoo Aisle Block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995" y="7065107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78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RELIANCE — SOUTH-1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2678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0" name="Picture 29" descr="JC_Radhika_s08_p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522" y="7855175"/>
            <a:ext cx="1631307" cy="217507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962678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4" name="TextBox 33"/>
          <p:cNvSpPr txBox="1"/>
          <p:nvPr/>
        </p:nvSpPr>
        <p:spPr>
          <a:xfrm>
            <a:off x="1042843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Reliance | Hyderabad* | Branded Endcap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843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'Merawala Combo' endcap with Mamaearth Buy-4-Get-1 signage and combo pricing.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8321" y="739949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D-MART — SOUTH-2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8321" y="759990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38" name="Picture 37" descr="JC_June2026_s10_p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9166" y="7671607"/>
            <a:ext cx="1803708" cy="2404943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708321" y="1012464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0" name="TextBox 39"/>
          <p:cNvSpPr txBox="1"/>
          <p:nvPr/>
        </p:nvSpPr>
        <p:spPr>
          <a:xfrm>
            <a:off x="3788486" y="1017274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 dirty="0">
                <a:solidFill>
                  <a:srgbClr val="1E2761"/>
                </a:solidFill>
                <a:latin typeface="Calibri"/>
              </a:rPr>
              <a:t>D-Mart | Bengaluru | BOGO Bin Display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88486" y="1036514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Derma Co. Hyaluronic Sunscreen bin (geotagged 4-Jun-2026), paired with a Neutrogena combo crate.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Chain-wise Execution Showcase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One best-in-class execution image per chain — curated to avoid repetition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2" name="Rectangle 11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0" name="TextBox 29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Jun'26  |  Honasa Consumer Limited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West Bengal &amp; Derma Range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796" y="879808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44320" y="3700111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Apollo Pharmacy — Skincare aisle, West Bengal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96" y="4005111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44320" y="6825414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FSU — Apollo, West Bengal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796" y="7130414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44320" y="9950717"/>
            <a:ext cx="6874210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counter display — West Bengal</a:t>
            </a:r>
          </a:p>
        </p:txBody>
      </p:sp>
      <p:sp>
        <p:nvSpPr>
          <p:cNvPr id="10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Gujarat Region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17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JC Review Markets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18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TDC / SIS Delhi NCR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19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Stock Depth &amp; Article Range Across Outlets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May 26 JC Review PPT Chakri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20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SOS / SOA – Honasa Portfolio Visibility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lstStyle/>
          <a:p>
            <a:endParaRPr/>
          </a:p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20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425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5260263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320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425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lIns="20000" tIns="0" rIns="20000" bIns="0" anchor="ctr"/>
          <a:lstStyle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r"/>
            <a:r>
              <a:rPr sz="650">
                <a:latin typeface="Calibri"/>
              </a:rPr>
              <a:t>21 / 21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1" name="HdrBand"/>
          <p:cNvSpPr/>
          <p:nvPr/>
        </p:nvSpPr>
        <p:spPr>
          <a:xfrm>
            <a:off x="0" y="0"/>
            <a:ext cx="12192000" cy="754380"/>
          </a:xfrm>
          <a:prstGeom prst="rect">
            <a:avLst/>
          </a:prstGeom>
          <a:solidFill>
            <a:srgbClr val="1F4E5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2" name="Title"/>
          <p:cNvSpPr txBox="1"/>
          <p:nvPr/>
        </p:nvSpPr>
        <p:spPr>
          <a:xfrm>
            <a:off x="274638" y="68580"/>
            <a:ext cx="9000000" cy="4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000" b="1">
                <a:solidFill>
                  <a:srgbClr val="FFFFFF"/>
                </a:solidFill>
                <a:latin typeface="Calibri"/>
              </a:rPr>
              <a:t>Q1 FY27 SCORECARD — OFFTAKE</a:t>
            </a:r>
          </a:p>
        </p:txBody>
      </p:sp>
      <p:sp>
        <p:nvSpPr>
          <p:cNvPr id="9003" name="SubTitle"/>
          <p:cNvSpPr txBox="1"/>
          <p:nvPr/>
        </p:nvSpPr>
        <p:spPr>
          <a:xfrm>
            <a:off x="274638" y="434340"/>
            <a:ext cx="11000000" cy="3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00">
                <a:solidFill>
                  <a:srgbClr val="D9E7EA"/>
                </a:solidFill>
                <a:latin typeface="Calibri"/>
              </a:rPr>
              <a:t>Apr–Jun'26 vs Apr–Jun'25  |  NSV ₹ Lacs  |  MT + EB2B channels</a:t>
            </a:r>
          </a:p>
        </p:txBody>
      </p:sp>
      <p:sp>
        <p:nvSpPr>
          <p:cNvPr id="9004" name="KpiCard Q1 FY27 NSV"/>
          <p:cNvSpPr/>
          <p:nvPr/>
        </p:nvSpPr>
        <p:spPr>
          <a:xfrm>
            <a:off x="274638" y="937260"/>
            <a:ext cx="2743200" cy="868680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5" name="Kpi Q1 FY27 NSV"/>
          <p:cNvSpPr txBox="1"/>
          <p:nvPr/>
        </p:nvSpPr>
        <p:spPr>
          <a:xfrm>
            <a:off x="366078" y="982980"/>
            <a:ext cx="256032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000" b="1">
                <a:solidFill>
                  <a:srgbClr val="5B7C87"/>
                </a:solidFill>
                <a:latin typeface="Calibri"/>
              </a:rPr>
              <a:t>Q1 FY27 NSV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1600" b="1">
                <a:solidFill>
                  <a:srgbClr val="1F4E5F"/>
                </a:solidFill>
                <a:latin typeface="Calibri"/>
              </a:rPr>
              <a:t>₹ 112.60 Cr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950">
                <a:solidFill>
                  <a:srgbClr val="5B7C87"/>
                </a:solidFill>
                <a:latin typeface="Calibri"/>
              </a:rPr>
              <a:t>vs ₹ 69.92 Cr LY</a:t>
            </a:r>
          </a:p>
        </p:txBody>
      </p:sp>
      <p:sp>
        <p:nvSpPr>
          <p:cNvPr id="9006" name="KpiCard Q1 Growth"/>
          <p:cNvSpPr/>
          <p:nvPr/>
        </p:nvSpPr>
        <p:spPr>
          <a:xfrm>
            <a:off x="3246438" y="937260"/>
            <a:ext cx="2743200" cy="868680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7" name="Kpi Q1 Growth"/>
          <p:cNvSpPr txBox="1"/>
          <p:nvPr/>
        </p:nvSpPr>
        <p:spPr>
          <a:xfrm>
            <a:off x="3337878" y="982980"/>
            <a:ext cx="256032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000" b="1">
                <a:solidFill>
                  <a:srgbClr val="5B7C87"/>
                </a:solidFill>
                <a:latin typeface="Calibri"/>
              </a:rPr>
              <a:t>Q1 Growth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1600" b="1">
                <a:solidFill>
                  <a:srgbClr val="1F4E5F"/>
                </a:solidFill>
                <a:latin typeface="Calibri"/>
              </a:rPr>
              <a:t>▲ 61.0%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950">
                <a:solidFill>
                  <a:srgbClr val="5B7C87"/>
                </a:solidFill>
                <a:latin typeface="Calibri"/>
              </a:rPr>
              <a:t>+ ₹ 42.68 Cr YoY</a:t>
            </a:r>
          </a:p>
        </p:txBody>
      </p:sp>
      <p:sp>
        <p:nvSpPr>
          <p:cNvPr id="9008" name="KpiCard Best Month"/>
          <p:cNvSpPr/>
          <p:nvPr/>
        </p:nvSpPr>
        <p:spPr>
          <a:xfrm>
            <a:off x="6218238" y="937260"/>
            <a:ext cx="2743200" cy="868680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Kpi Best Month"/>
          <p:cNvSpPr txBox="1"/>
          <p:nvPr/>
        </p:nvSpPr>
        <p:spPr>
          <a:xfrm>
            <a:off x="6309678" y="982980"/>
            <a:ext cx="256032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000" b="1">
                <a:solidFill>
                  <a:srgbClr val="5B7C87"/>
                </a:solidFill>
                <a:latin typeface="Calibri"/>
              </a:rPr>
              <a:t>Best Month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1600" b="1">
                <a:solidFill>
                  <a:srgbClr val="1F4E5F"/>
                </a:solidFill>
                <a:latin typeface="Calibri"/>
              </a:rPr>
              <a:t>May'26 ₹ 40.19 Cr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950">
                <a:solidFill>
                  <a:srgbClr val="5B7C87"/>
                </a:solidFill>
                <a:latin typeface="Calibri"/>
              </a:rPr>
              <a:t>all-time high</a:t>
            </a:r>
          </a:p>
        </p:txBody>
      </p:sp>
      <p:sp>
        <p:nvSpPr>
          <p:cNvPr id="9010" name="KpiCard Exit Month"/>
          <p:cNvSpPr/>
          <p:nvPr/>
        </p:nvSpPr>
        <p:spPr>
          <a:xfrm>
            <a:off x="9190038" y="937260"/>
            <a:ext cx="2743200" cy="868680"/>
          </a:xfrm>
          <a:prstGeom prst="rect">
            <a:avLst/>
          </a:prstGeom>
          <a:solidFill>
            <a:srgbClr val="F2F6F7"/>
          </a:solidFill>
          <a:ln>
            <a:noFill/>
          </a:ln>
        </p:spPr>
        <p:txBody>
          <a:bodyPr/>
          <a:lstStyle/>
          <a:p/>
        </p:txBody>
      </p:sp>
      <p:sp>
        <p:nvSpPr>
          <p:cNvPr id="9011" name="Kpi Exit Month"/>
          <p:cNvSpPr txBox="1"/>
          <p:nvPr/>
        </p:nvSpPr>
        <p:spPr>
          <a:xfrm>
            <a:off x="9281478" y="982980"/>
            <a:ext cx="2560320" cy="8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000" b="1">
                <a:solidFill>
                  <a:srgbClr val="5B7C87"/>
                </a:solidFill>
                <a:latin typeface="Calibri"/>
              </a:rPr>
              <a:t>Exit Month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IN" sz="1600" b="1">
                <a:solidFill>
                  <a:srgbClr val="1F4E5F"/>
                </a:solidFill>
                <a:latin typeface="Calibri"/>
              </a:rPr>
              <a:t>Jun'26 ₹ 36.52 Cr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IN" sz="950">
                <a:solidFill>
                  <a:srgbClr val="5B7C87"/>
                </a:solidFill>
                <a:latin typeface="Calibri"/>
              </a:rPr>
              <a:t>▲ 61% YoY | best-ever June</a:t>
            </a:r>
          </a:p>
        </p:txBody>
      </p:sp>
      <p:sp>
        <p:nvSpPr>
          <p:cNvPr id="9012" name="ZoneHdr"/>
          <p:cNvSpPr txBox="1"/>
          <p:nvPr/>
        </p:nvSpPr>
        <p:spPr>
          <a:xfrm>
            <a:off x="274638" y="1988820"/>
            <a:ext cx="4000000" cy="27463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50" b="1">
                <a:solidFill>
                  <a:srgbClr val="1F4E5F"/>
                </a:solidFill>
                <a:latin typeface="Calibri"/>
              </a:rPr>
              <a:t>ZONE VIEW</a:t>
            </a:r>
          </a:p>
        </p:txBody>
      </p:sp>
      <p:graphicFrame>
        <p:nvGraphicFramePr>
          <p:cNvPr id="9013" name="Q1ZoneTbl"/>
          <p:cNvGraphicFramePr>
            <a:graphicFrameLocks noGrp="1"/>
          </p:cNvGraphicFramePr>
          <p:nvPr/>
        </p:nvGraphicFramePr>
        <p:xfrm>
          <a:off x="274638" y="2286000"/>
          <a:ext cx="4750000" cy="2197104"/>
        </p:xfrm>
        <a:graphic>
          <a:graphicData uri="http://schemas.openxmlformats.org/drawingml/2006/table">
            <a:tbl>
              <a:tblPr firstRow="1" bandRow="1"/>
              <a:tblGrid>
                <a:gridCol w="1500000"/>
                <a:gridCol w="850000"/>
                <a:gridCol w="850000"/>
                <a:gridCol w="850000"/>
                <a:gridCol w="700000"/>
              </a:tblGrid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700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1,167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67%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1,579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2,605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65%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South-1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1,355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2,399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77%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South-2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953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1,546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62%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1,876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2,881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54%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Pan India (FSN)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654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 b="1">
                          <a:solidFill>
                            <a:srgbClr val="1A1A2E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A1A2E"/>
                          </a:solidFill>
                          <a:latin typeface="Calibri"/>
                        </a:rPr>
                        <a:t>6,992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A1A2E"/>
                          </a:solidFill>
                          <a:latin typeface="Calibri"/>
                        </a:rPr>
                        <a:t>11,260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61%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A1A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14" name="BrandHdr"/>
          <p:cNvSpPr txBox="1"/>
          <p:nvPr/>
        </p:nvSpPr>
        <p:spPr>
          <a:xfrm>
            <a:off x="5303520" y="1988820"/>
            <a:ext cx="4000000" cy="27463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50" b="1">
                <a:solidFill>
                  <a:srgbClr val="1F4E5F"/>
                </a:solidFill>
                <a:latin typeface="Calibri"/>
              </a:rPr>
              <a:t>BRAND VIEW</a:t>
            </a:r>
          </a:p>
        </p:txBody>
      </p:sp>
      <p:graphicFrame>
        <p:nvGraphicFramePr>
          <p:cNvPr id="9015" name="Q1BrandTbl"/>
          <p:cNvGraphicFramePr>
            <a:graphicFrameLocks noGrp="1"/>
          </p:cNvGraphicFramePr>
          <p:nvPr/>
        </p:nvGraphicFramePr>
        <p:xfrm>
          <a:off x="5303520" y="2286000"/>
          <a:ext cx="4850000" cy="1373190"/>
        </p:xfrm>
        <a:graphic>
          <a:graphicData uri="http://schemas.openxmlformats.org/drawingml/2006/table">
            <a:tbl>
              <a:tblPr firstRow="1" bandRow="1"/>
              <a:tblGrid>
                <a:gridCol w="1600000"/>
                <a:gridCol w="850000"/>
                <a:gridCol w="850000"/>
                <a:gridCol w="850000"/>
                <a:gridCol w="700000"/>
              </a:tblGrid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6,118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8,026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31%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630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2,964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370%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Aqualogica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197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13%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Emerging Brands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B23A3A"/>
                          </a:solidFill>
                          <a:latin typeface="Calibri"/>
                        </a:rPr>
                        <a:t>▼ 31%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9016" name="ChainHdr"/>
          <p:cNvSpPr txBox="1"/>
          <p:nvPr/>
        </p:nvSpPr>
        <p:spPr>
          <a:xfrm>
            <a:off x="5303520" y="4360000"/>
            <a:ext cx="4000000" cy="27463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50" b="1">
                <a:solidFill>
                  <a:srgbClr val="1F4E5F"/>
                </a:solidFill>
                <a:latin typeface="Calibri"/>
              </a:rPr>
              <a:t>TOP CHAINS</a:t>
            </a:r>
          </a:p>
        </p:txBody>
      </p:sp>
      <p:graphicFrame>
        <p:nvGraphicFramePr>
          <p:cNvPr id="9017" name="Q1ChainTbl"/>
          <p:cNvGraphicFramePr>
            <a:graphicFrameLocks noGrp="1"/>
          </p:cNvGraphicFramePr>
          <p:nvPr/>
        </p:nvGraphicFramePr>
        <p:xfrm>
          <a:off x="5303520" y="4657725"/>
          <a:ext cx="4850000" cy="1922466"/>
        </p:xfrm>
        <a:graphic>
          <a:graphicData uri="http://schemas.openxmlformats.org/drawingml/2006/table">
            <a:tbl>
              <a:tblPr firstRow="1" bandRow="1"/>
              <a:tblGrid>
                <a:gridCol w="1600000"/>
                <a:gridCol w="850000"/>
                <a:gridCol w="850000"/>
                <a:gridCol w="850000"/>
                <a:gridCol w="700000"/>
              </a:tblGrid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Q1 FY27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FFFFFF"/>
                          </a:solidFill>
                          <a:latin typeface="Calibri"/>
                        </a:rPr>
                        <a:t>Mix %</a:t>
                      </a:r>
                    </a:p>
                  </a:txBody>
                  <a:tcPr marL="54000" marR="54000" marT="18000" marB="18000" anchor="ctr">
                    <a:solidFill>
                      <a:srgbClr val="1F4E5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Dmart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2,600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4,187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61%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Reliance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1,907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2,804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47%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Apollo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793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2,050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159%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FSN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523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654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333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171%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algn="l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248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291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 b="1">
                          <a:solidFill>
                            <a:srgbClr val="1E7A45"/>
                          </a:solidFill>
                          <a:latin typeface="Calibri"/>
                        </a:rPr>
                        <a:t>▲ 17%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sz="1050">
                          <a:solidFill>
                            <a:srgbClr val="1A1A2E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000" marR="54000" marT="18000" marB="18000" anchor="ctr">
                    <a:solidFill>
                      <a:srgbClr val="F2F6F7"/>
                    </a:solidFill>
                  </a:tcPr>
                </a:tc>
              </a:tr>
            </a:tbl>
          </a:graphicData>
        </a:graphic>
      </p:graphicFrame>
      <p:sp>
        <p:nvSpPr>
          <p:cNvPr id="9018" name="Insights"/>
          <p:cNvSpPr txBox="1"/>
          <p:nvPr/>
        </p:nvSpPr>
        <p:spPr>
          <a:xfrm>
            <a:off x="274638" y="4560000"/>
            <a:ext cx="4800600" cy="20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1150" b="1">
                <a:solidFill>
                  <a:srgbClr val="1F4E5F"/>
                </a:solidFill>
                <a:latin typeface="Calibri"/>
              </a:rPr>
              <a:t>WHAT LEADERSHIP SHOULD TAKE AWAY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>
                <a:solidFill>
                  <a:srgbClr val="1A1A2E"/>
                </a:solidFill>
                <a:latin typeface="Calibri"/>
              </a:rPr>
              <a:t>The Derma Co. multiplied ~4.7x YoY in Q1 (₹6.3 Cr → ₹29.6 Cr) and now holds 26% of the Q1 mix vs 9% LY — the structural growth engine.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>
                <a:solidFill>
                  <a:srgbClr val="1A1A2E"/>
                </a:solidFill>
                <a:latin typeface="Calibri"/>
              </a:rPr>
              <a:t>Mamaearth grew +31% on the largest base (71% of mix) — the volume anchor is intact, led by Face Cleanser and Shampoo.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>
                <a:solidFill>
                  <a:srgbClr val="1A1A2E"/>
                </a:solidFill>
                <a:latin typeface="Calibri"/>
              </a:rPr>
              <a:t>Apollo (+159%) and Lulu (+171%) are the fastest-compounding chains — pharmacy &amp; premium formats deserve incremental assortment and visibility investment.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>
                <a:solidFill>
                  <a:srgbClr val="8A2E2E"/>
                </a:solidFill>
                <a:latin typeface="Calibri"/>
              </a:rPr>
              <a:t>Watch-outs: H&amp;G Q1 ▼14% YoY, Walmart CNC billed nil in Jun'26, Wellness Forever (+17%) trails the network (+61%) — chain-level JBP correction needed.</a:t>
            </a:r>
          </a:p>
          <a:p>
            <a:pPr marL="171450" indent="-171450">
              <a:spcBef>
                <a:spcPts val="400"/>
              </a:spcBef>
              <a:buFont typeface="Arial"/>
              <a:buChar char="•"/>
            </a:pPr>
            <a:r>
              <a:rPr lang="en-IN" sz="1050">
                <a:solidFill>
                  <a:srgbClr val="1A1A2E"/>
                </a:solidFill>
                <a:latin typeface="Calibri"/>
              </a:rPr>
              <a:t>Seasonality note: Jun ▼9% MoM is Sun Care-led (▼30% MoM) and in line with category; exit-month YoY of +61% keeps the FY27 run-rate on track.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21939</TotalTime>
  <Words>7376</Words>
  <Application>Microsoft Office PowerPoint</Application>
  <PresentationFormat>Custom</PresentationFormat>
  <Paragraphs>2430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55</cp:revision>
  <dcterms:created xsi:type="dcterms:W3CDTF">2026-06-21T08:36:32Z</dcterms:created>
  <dcterms:modified xsi:type="dcterms:W3CDTF">2026-07-16T03:30:28Z</dcterms:modified>
</cp:coreProperties>
</file>