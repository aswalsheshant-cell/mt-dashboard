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8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DCD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
(absent)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35.88</c:v>
                </c:pt>
                <c:pt idx="1">
                  <c:v>40.19</c:v>
                </c:pt>
                <c:pt idx="2">
                  <c:v/>
                </c:pt>
                <c:pt idx="3">
                  <c:v>36.06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8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</c:v>
                </c:pt>
              </c:strCache>
            </c:strRef>
          </c:tx>
          <c:spPr>
            <a:solidFill>
              <a:srgbClr val="2E7DA8"/>
            </a:solidFill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169.94</c:v>
                </c:pt>
                <c:pt idx="1">
                  <c:v>171.44</c:v>
                </c:pt>
                <c:pt idx="2">
                  <c:v>175.76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165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
(absent)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35.88</c:v>
                </c:pt>
                <c:pt idx="1">
                  <c:v>40.19</c:v>
                </c:pt>
                <c:pt idx="2">
                  <c:v/>
                </c:pt>
                <c:pt idx="3">
                  <c:v>36.06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LY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31.75</c:v>
                </c:pt>
                <c:pt idx="1">
                  <c:v>23.67</c:v>
                </c:pt>
                <c:pt idx="2">
                  <c:v>21.83</c:v>
                </c:pt>
                <c:pt idx="3">
                  <c:v>24.73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Jul-26 NSV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9A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8.27</c:v>
                </c:pt>
                <c:pt idx="1">
                  <c:v>8.18</c:v>
                </c:pt>
                <c:pt idx="2">
                  <c:v>6.97</c:v>
                </c:pt>
                <c:pt idx="3">
                  <c:v>4.87</c:v>
                </c:pt>
                <c:pt idx="4">
                  <c:v>3.54</c:v>
                </c:pt>
                <c:pt idx="5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FY27 YTD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9A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37.33</c:v>
                </c:pt>
                <c:pt idx="1">
                  <c:v>33.08</c:v>
                </c:pt>
                <c:pt idx="2">
                  <c:v>33.4</c:v>
                </c:pt>
                <c:pt idx="3">
                  <c:v>20.64</c:v>
                </c:pt>
                <c:pt idx="4">
                  <c:v>15.29</c:v>
                </c:pt>
                <c:pt idx="5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8.27</c:v>
                </c:pt>
                <c:pt idx="1">
                  <c:v>8.18</c:v>
                </c:pt>
                <c:pt idx="2">
                  <c:v>6.97</c:v>
                </c:pt>
                <c:pt idx="3">
                  <c:v>4.87</c:v>
                </c:pt>
                <c:pt idx="4">
                  <c:v>3.54</c:v>
                </c:pt>
                <c:pt idx="5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497.6</c:v>
                </c:pt>
                <c:pt idx="1">
                  <c:v>434</c:v>
                </c:pt>
                <c:pt idx="2">
                  <c:v>377.3</c:v>
                </c:pt>
                <c:pt idx="3">
                  <c:v>278</c:v>
                </c:pt>
                <c:pt idx="4">
                  <c:v>183.3</c:v>
                </c:pt>
                <c:pt idx="5">
                  <c:v>124.8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2E7DA8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166.22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solidFill>
              <a:srgbClr val="2B9A66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/>
                </c:pt>
                <c:pt idx="1">
                  <c:v>188.56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A596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>184.82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South-2</c:v>
                </c:pt>
              </c:strCache>
            </c:strRef>
          </c:tx>
          <c:spPr>
            <a:solidFill>
              <a:srgbClr val="2B9A66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175.3</c:v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F2B84B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193.17</c:v>
                </c:pt>
                <c:pt idx="5">
                  <c:v/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Central</c:v>
                </c:pt>
              </c:strCache>
            </c:strRef>
          </c:tx>
          <c:spPr>
            <a:solidFill>
              <a:srgbClr val="D6544D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22.96</c:v>
                </c:pt>
                <c:pt idx="1">
                  <c:v>22.71</c:v>
                </c:pt>
                <c:pt idx="2">
                  <c:v>19.36</c:v>
                </c:pt>
                <c:pt idx="3">
                  <c:v>13.53</c:v>
                </c:pt>
                <c:pt idx="4">
                  <c:v>9.83</c:v>
                </c:pt>
                <c:pt idx="5">
                  <c:v>5.88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169.69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6"/>
          <c:min val="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650" b="0" i="0" u="none" strike="noStrike">
                    <a:solidFill>
                      <a:srgbClr val="000000"/>
                    </a:solidFill>
                    <a:latin typeface="Arial"/>
                  </a:rPr>
                  <a:t>NSV share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05"/>
          <c:min val="155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650" b="0" i="0" u="none" strike="noStrike">
                    <a:solidFill>
                      <a:srgbClr val="000000"/>
                    </a:solidFill>
                    <a:latin typeface="Arial"/>
                  </a:rPr>
                  <a:t>ASP (₹/unit)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9A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Lulu</c:v>
                  </c:pt>
                  <c:pt idx="4">
                    <c:v>Wellness Forever</c:v>
                  </c:pt>
                  <c:pt idx="5">
                    <c:v>H&amp;G</c:v>
                  </c:pt>
                  <c:pt idx="6">
                    <c:v>Metro Cnc</c:v>
                  </c:pt>
                  <c:pt idx="7">
                    <c:v>More Retail</c:v>
                  </c:pt>
                  <c:pt idx="8">
                    <c:v>VMM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13.97</c:v>
                </c:pt>
                <c:pt idx="1">
                  <c:v>8.06</c:v>
                </c:pt>
                <c:pt idx="2">
                  <c:v>7.18</c:v>
                </c:pt>
                <c:pt idx="3">
                  <c:v>1.7</c:v>
                </c:pt>
                <c:pt idx="4">
                  <c:v>0.72</c:v>
                </c:pt>
                <c:pt idx="5">
                  <c:v>0.51</c:v>
                </c:pt>
                <c:pt idx="6">
                  <c:v>0.49</c:v>
                </c:pt>
                <c:pt idx="7">
                  <c:v>0.41</c:v>
                </c:pt>
                <c:pt idx="8">
                  <c:v>0.36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Lulu</c:v>
                  </c:pt>
                  <c:pt idx="4">
                    <c:v>Wellness Forever</c:v>
                  </c:pt>
                  <c:pt idx="5">
                    <c:v>H&amp;G</c:v>
                  </c:pt>
                  <c:pt idx="6">
                    <c:v>Metro Cnc</c:v>
                  </c:pt>
                  <c:pt idx="7">
                    <c:v>More Retail</c:v>
                  </c:pt>
                  <c:pt idx="8">
                    <c:v>VMM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158.12</c:v>
                </c:pt>
                <c:pt idx="1">
                  <c:v>202.25</c:v>
                </c:pt>
                <c:pt idx="2">
                  <c:v>174.21</c:v>
                </c:pt>
                <c:pt idx="3">
                  <c:v>303.82</c:v>
                </c:pt>
                <c:pt idx="4">
                  <c:v>225.05</c:v>
                </c:pt>
                <c:pt idx="5">
                  <c:v>281.11</c:v>
                </c:pt>
                <c:pt idx="6">
                  <c:v>212.38</c:v>
                </c:pt>
                <c:pt idx="7">
                  <c:v>192.97</c:v>
                </c:pt>
                <c:pt idx="8">
                  <c:v>177.91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Brand Split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 Derma Co.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Brand Split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Aqualogica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Brand Split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 share %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67.9</c:v>
                </c:pt>
                <c:pt idx="1">
                  <c:v>30.6</c:v>
                </c:pt>
                <c:pt idx="2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 share %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70.2</c:v>
                </c:pt>
                <c:pt idx="1">
                  <c:v>28.5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Face</c:v>
                  </c:pt>
                  <c:pt idx="1">
                    <c:v>Hair</c:v>
                  </c:pt>
                  <c:pt idx="2">
                    <c:v>Body</c:v>
                  </c:pt>
                  <c:pt idx="3">
                    <c:v>Baby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24.07</c:v>
                </c:pt>
                <c:pt idx="1">
                  <c:v>7.87</c:v>
                </c:pt>
                <c:pt idx="2">
                  <c:v>2.08</c:v>
                </c:pt>
                <c:pt idx="3">
                  <c:v>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%</c:v>
                </c:pt>
              </c:strCache>
            </c:strRef>
          </c:tx>
          <c:spPr>
            <a:solidFill>
              <a:srgbClr val="116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6F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Face</c:v>
                  </c:pt>
                  <c:pt idx="1">
                    <c:v>Hair</c:v>
                  </c:pt>
                  <c:pt idx="2">
                    <c:v>Body</c:v>
                  </c:pt>
                  <c:pt idx="3">
                    <c:v>Baby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70.9</c:v>
                </c:pt>
                <c:pt idx="1">
                  <c:v>16.5</c:v>
                </c:pt>
                <c:pt idx="2">
                  <c:v>6.1</c:v>
                </c:pt>
                <c:pt idx="3">
                  <c:v>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Realisation %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41.9</c:v>
                </c:pt>
                <c:pt idx="1">
                  <c:v>42.7</c:v>
                </c:pt>
                <c:pt idx="2">
                  <c:v>41.8</c:v>
                </c:pt>
                <c:pt idx="3">
                  <c:v>43</c:v>
                </c:pt>
                <c:pt idx="4">
                  <c:v>42.1</c:v>
                </c:pt>
                <c:pt idx="5">
                  <c:v>41.1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.5"/>
          <c:min val="40"/>
        </c:scaling>
        <c:delete val="0"/>
        <c:axPos val="b"/>
        <c:majorGridlines>
          <c:spPr>
            <a:ln w="12700" cap="flat">
              <a:solidFill>
                <a:srgbClr val="C8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6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6858000" cy="2926080"/>
          </a:xfrm>
          <a:prstGeom prst="rect">
            <a:avLst/>
          </a:prstGeom>
          <a:solidFill>
            <a:srgbClr val="0E5952"/>
          </a:solidFill>
          <a:ln/>
        </p:spPr>
      </p:sp>
      <p:sp>
        <p:nvSpPr>
          <p:cNvPr id="4" name="Text 2"/>
          <p:cNvSpPr/>
          <p:nvPr/>
        </p:nvSpPr>
        <p:spPr>
          <a:xfrm>
            <a:off x="265176" y="1645920"/>
            <a:ext cx="632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FDCD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5176" y="2157984"/>
            <a:ext cx="6327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Offtake Command Centre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5176" y="3401568"/>
            <a:ext cx="6327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CD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2026  ·  FY27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" y="5559552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₹36.06 Cr  ·  2.05 M units  ·  ASP ₹175.76  ·  Realisation 42.8%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056" y="5907024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Offtake-data view · No primary / gap / conversion · 8-gate PASS_WITH_FLAG · Pattern-Matcher-Router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6492240"/>
            <a:ext cx="1472184" cy="713232"/>
          </a:xfrm>
          <a:prstGeom prst="roundRect">
            <a:avLst>
              <a:gd name="adj" fmla="val 3846"/>
            </a:avLst>
          </a:prstGeom>
          <a:solidFill>
            <a:srgbClr val="0E5952"/>
          </a:solidFill>
          <a:ln w="9525">
            <a:solidFill>
              <a:srgbClr val="28A5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65471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Brands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" y="68762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8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portfolio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1901952" y="6492240"/>
            <a:ext cx="1472184" cy="713232"/>
          </a:xfrm>
          <a:prstGeom prst="roundRect">
            <a:avLst>
              <a:gd name="adj" fmla="val 3846"/>
            </a:avLst>
          </a:prstGeom>
          <a:solidFill>
            <a:srgbClr val="0E5952"/>
          </a:solidFill>
          <a:ln w="9525">
            <a:solidFill>
              <a:srgbClr val="28A5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65471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Zones + eB2B + 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56816" y="68762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8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3483864" y="6492240"/>
            <a:ext cx="1472184" cy="713232"/>
          </a:xfrm>
          <a:prstGeom prst="roundRect">
            <a:avLst>
              <a:gd name="adj" fmla="val 3846"/>
            </a:avLst>
          </a:prstGeom>
          <a:solidFill>
            <a:srgbClr val="0E5952"/>
          </a:solidFill>
          <a:ln w="9525">
            <a:solidFill>
              <a:srgbClr val="28A5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65471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Chains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38728" y="68762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8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offtake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5065776" y="6492240"/>
            <a:ext cx="1472184" cy="713232"/>
          </a:xfrm>
          <a:prstGeom prst="roundRect">
            <a:avLst>
              <a:gd name="adj" fmla="val 3846"/>
            </a:avLst>
          </a:prstGeom>
          <a:solidFill>
            <a:srgbClr val="0E5952"/>
          </a:solidFill>
          <a:ln w="9525">
            <a:solidFill>
              <a:srgbClr val="28A5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6547104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Categories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0" y="687628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8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/ Hair / Body / Baby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265176" y="11100816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Limited — Internal. Not for distribution.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Offtake Snapshot — July 2026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 (geo zones + eB2B + SIS) · Offtake data only · 8-gate PASS_WITH_FLAG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 NSV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₹36.06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69948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9948" y="1261872"/>
            <a:ext cx="64008" cy="841248"/>
          </a:xfrm>
          <a:prstGeom prst="rect">
            <a:avLst/>
          </a:prstGeom>
          <a:solidFill>
            <a:srgbClr val="28A596"/>
          </a:solidFill>
          <a:ln/>
        </p:spPr>
      </p:sp>
      <p:sp>
        <p:nvSpPr>
          <p:cNvPr id="27" name="Text 25"/>
          <p:cNvSpPr/>
          <p:nvPr/>
        </p:nvSpPr>
        <p:spPr>
          <a:xfrm>
            <a:off x="2025396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5396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20.5 L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5396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2,051,674 packs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74720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1261872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 PRICE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0168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₹175.76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0168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÷ units (EXACT)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79492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9492" y="1261872"/>
            <a:ext cx="64008" cy="841248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37" name="Text 35"/>
          <p:cNvSpPr/>
          <p:nvPr/>
        </p:nvSpPr>
        <p:spPr>
          <a:xfrm>
            <a:off x="5234940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34940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42.8%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34940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÷ MRP value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12848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" y="2212848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" y="2304288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MT (6 zones)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420624" y="2487168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₹33.95 Cr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420624" y="281635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1,894,026 units · 94.1% of total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2398776" y="2212848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98776" y="2212848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47" name="Text 45"/>
          <p:cNvSpPr/>
          <p:nvPr/>
        </p:nvSpPr>
        <p:spPr>
          <a:xfrm>
            <a:off x="2554224" y="2304288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(Nykaa / FSN)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2554224" y="2487168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2554224" y="281635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155,142 units · ASP ₹133.19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4532376" y="2212848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32376" y="2212848"/>
            <a:ext cx="64008" cy="84124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52" name="Text 50"/>
          <p:cNvSpPr/>
          <p:nvPr/>
        </p:nvSpPr>
        <p:spPr>
          <a:xfrm>
            <a:off x="4687824" y="2304288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(Azorte / SS etc)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87824" y="2487168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₹0.03 Cr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4687824" y="281635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1,506 units · ASP ₹225.85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265176" y="3163824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56" name="Text 54"/>
          <p:cNvSpPr/>
          <p:nvPr/>
        </p:nvSpPr>
        <p:spPr>
          <a:xfrm>
            <a:off x="393192" y="3182112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NATIONAL NUMBER TELLS YOU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3474720"/>
            <a:ext cx="6327648" cy="2633472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" y="3474720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59" name="Text 57"/>
          <p:cNvSpPr/>
          <p:nvPr/>
        </p:nvSpPr>
        <p:spPr>
          <a:xfrm>
            <a:off x="347472" y="3493008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DIAGNOSTIC — JULY 2026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93192" y="38907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61" name="Text 59"/>
          <p:cNvSpPr/>
          <p:nvPr/>
        </p:nvSpPr>
        <p:spPr>
          <a:xfrm>
            <a:off x="512064" y="3840480"/>
            <a:ext cx="5952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₹36.06 Cr offtake on ₹84.16 Cr MRP value = 42.8% realisation. Every ₹100 of shelf value returns ₹42.80 of NSV.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393192" y="429310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63" name="Text 61"/>
          <p:cNvSpPr/>
          <p:nvPr/>
        </p:nvSpPr>
        <p:spPr>
          <a:xfrm>
            <a:off x="512064" y="4242816"/>
            <a:ext cx="5952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₹175.76 per unit — split: Mamaearth ₹169.60, The Derma Co. ₹188.30, Aqualogica ₹234.50. Portfolio ASP is a weighted blend of brand mix.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393192" y="469544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65" name="Text 63"/>
          <p:cNvSpPr/>
          <p:nvPr/>
        </p:nvSpPr>
        <p:spPr>
          <a:xfrm>
            <a:off x="512064" y="4645152"/>
            <a:ext cx="5952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(Nykaa) realisation 57.4% — structurally higher because MRP is lower (discounts already netted by FSN). Do not benchmark eB2B against geo-MT realisation.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393192" y="5097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" y="5047488"/>
            <a:ext cx="5952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(Azorte / Shoppers Stop etc.) is ₹0.03 Cr — rounding territory. Offtake data for SIS is measured differently; treat as directional only.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393192" y="55001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9" name="Text 67"/>
          <p:cNvSpPr/>
          <p:nvPr/>
        </p:nvSpPr>
        <p:spPr>
          <a:xfrm>
            <a:off x="512064" y="5449824"/>
            <a:ext cx="5952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is absent from the offtake source — Q1 FY27 series = Apr + May + Jul only. Do not impute June.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265176" y="6254496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trend Q1 FY27 — Apr / May / Jul (₹ Cr, June absent)</a:t>
            </a:r>
            <a:endParaRPr lang="en-US" sz="720" dirty="0"/>
          </a:p>
        </p:txBody>
      </p:sp>
      <p:graphicFrame>
        <p:nvGraphicFramePr>
          <p:cNvPr id="71" name="Chart 0" descr=""/>
          <p:cNvGraphicFramePr/>
          <p:nvPr/>
        </p:nvGraphicFramePr>
        <p:xfrm>
          <a:off x="265176" y="6455664"/>
          <a:ext cx="3543483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2" name="Text 69"/>
          <p:cNvSpPr/>
          <p:nvPr/>
        </p:nvSpPr>
        <p:spPr>
          <a:xfrm>
            <a:off x="3935212" y="6254496"/>
            <a:ext cx="2657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trend (₹/unit)</a:t>
            </a:r>
            <a:endParaRPr lang="en-US" sz="720" dirty="0"/>
          </a:p>
        </p:txBody>
      </p:sp>
      <p:graphicFrame>
        <p:nvGraphicFramePr>
          <p:cNvPr id="73" name="Chart 1" descr=""/>
          <p:cNvGraphicFramePr/>
          <p:nvPr/>
        </p:nvGraphicFramePr>
        <p:xfrm>
          <a:off x="3935212" y="6455664"/>
          <a:ext cx="2657612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4" name="Text 70"/>
          <p:cNvSpPr/>
          <p:nvPr/>
        </p:nvSpPr>
        <p:spPr>
          <a:xfrm>
            <a:off x="265176" y="7973568"/>
            <a:ext cx="6327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↓5.0 Cr volume effect + ↑0.9 Cr price/mix = −4.1 Cr vs May. Jul dip is volume (−293k units), not pricing. ASP is rising (+₹4.32 vs May) — mix is healthy.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 Performance — Apr + May + Jul vs Last Year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absent from source · Comparable 3-month LY = Apr-25 + May-25 + Jul-25 · Pre-agg workbook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NSV (3 months)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₹112.13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+ May + Jul · Jun absent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69948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9948" y="1261872"/>
            <a:ext cx="64008" cy="841248"/>
          </a:xfrm>
          <a:prstGeom prst="rect">
            <a:avLst/>
          </a:prstGeom>
          <a:solidFill>
            <a:srgbClr val="5F716E"/>
          </a:solidFill>
          <a:ln/>
        </p:spPr>
      </p:sp>
      <p:sp>
        <p:nvSpPr>
          <p:cNvPr id="27" name="Text 25"/>
          <p:cNvSpPr/>
          <p:nvPr/>
        </p:nvSpPr>
        <p:spPr>
          <a:xfrm>
            <a:off x="2025396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 COMPARABLE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5396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₹80.15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5396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 months LY · pre-agg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74720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1261872"/>
            <a:ext cx="64008" cy="841248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(3M)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0168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0168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comparable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79492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9492" y="1261872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7" name="Text 35"/>
          <p:cNvSpPr/>
          <p:nvPr/>
        </p:nvSpPr>
        <p:spPr>
          <a:xfrm>
            <a:off x="5234940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 FY27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34940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₹37.38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34940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₹112.13 ÷ 3 months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65176" y="2212848"/>
            <a:ext cx="367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offtake NSV — FY27 vs FY26 LY (₹ Cr)</a:t>
            </a:r>
            <a:endParaRPr lang="en-US" sz="72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265176" y="2414016"/>
          <a:ext cx="3670036" cy="21396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Text 39"/>
          <p:cNvSpPr/>
          <p:nvPr/>
        </p:nvSpPr>
        <p:spPr>
          <a:xfrm>
            <a:off x="4061765" y="2212848"/>
            <a:ext cx="2531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— Jul is accelerating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061765" y="2414016"/>
            <a:ext cx="819302" cy="213969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061765" y="2414016"/>
            <a:ext cx="819302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45" name="Text 42"/>
          <p:cNvSpPr/>
          <p:nvPr/>
        </p:nvSpPr>
        <p:spPr>
          <a:xfrm>
            <a:off x="4144061" y="2432304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116629" y="2816352"/>
            <a:ext cx="709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+13.0%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4116629" y="3218688"/>
            <a:ext cx="709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₹35.88 Cr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116629" y="3438144"/>
            <a:ext cx="709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₹31.75 Cr LY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4116629" y="3657600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+₹4.13 Cr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917643" y="2414016"/>
            <a:ext cx="819302" cy="213969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17643" y="2414016"/>
            <a:ext cx="819302" cy="274320"/>
          </a:xfrm>
          <a:prstGeom prst="rect">
            <a:avLst/>
          </a:prstGeom>
          <a:solidFill>
            <a:srgbClr val="28A596"/>
          </a:solidFill>
          <a:ln/>
        </p:spPr>
      </p:sp>
      <p:sp>
        <p:nvSpPr>
          <p:cNvPr id="52" name="Text 49"/>
          <p:cNvSpPr/>
          <p:nvPr/>
        </p:nvSpPr>
        <p:spPr>
          <a:xfrm>
            <a:off x="4999939" y="2432304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972507" y="2816352"/>
            <a:ext cx="709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+69.8%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4972507" y="3218688"/>
            <a:ext cx="709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₹40.19 Cr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972507" y="3438144"/>
            <a:ext cx="709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₹23.67 Cr LY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4972507" y="3657600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+₹16.52 Cr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773522" y="2414016"/>
            <a:ext cx="819302" cy="213969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773522" y="2414016"/>
            <a:ext cx="819302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59" name="Text 56"/>
          <p:cNvSpPr/>
          <p:nvPr/>
        </p:nvSpPr>
        <p:spPr>
          <a:xfrm>
            <a:off x="5855818" y="2432304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828386" y="2816352"/>
            <a:ext cx="709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+45.8%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828386" y="3218688"/>
            <a:ext cx="709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₹36.06 Cr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5828386" y="3438144"/>
            <a:ext cx="709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₹24.73 Cr LY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5828386" y="3657600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+₹11.33 Cr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65176" y="4663440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65" name="Text 62"/>
          <p:cNvSpPr/>
          <p:nvPr/>
        </p:nvSpPr>
        <p:spPr>
          <a:xfrm>
            <a:off x="393192" y="4681728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READ — DIAGNOSTIC &amp; INTERPRETATION</a:t>
            </a:r>
            <a:endParaRPr lang="en-US" sz="720" dirty="0"/>
          </a:p>
        </p:txBody>
      </p:sp>
      <p:sp>
        <p:nvSpPr>
          <p:cNvPr id="66" name="Shape 63"/>
          <p:cNvSpPr/>
          <p:nvPr/>
        </p:nvSpPr>
        <p:spPr>
          <a:xfrm>
            <a:off x="265176" y="4974336"/>
            <a:ext cx="6327648" cy="274320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65176" y="497433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68" name="Text 65"/>
          <p:cNvSpPr/>
          <p:nvPr/>
        </p:nvSpPr>
        <p:spPr>
          <a:xfrm>
            <a:off x="347472" y="499262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DIAGNOSTIC — FY27 vs FY26 COMPARABLE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93192" y="539038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70" name="Text 67"/>
          <p:cNvSpPr/>
          <p:nvPr/>
        </p:nvSpPr>
        <p:spPr>
          <a:xfrm>
            <a:off x="512064" y="5340096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(3-month comparable): ₹112.13 Cr vs ₹80.15 Cr FY26 = +39.9% YoY. Structural growth across all 3 months.</a:t>
            </a:r>
            <a:endParaRPr lang="en-US" sz="780" dirty="0"/>
          </a:p>
        </p:txBody>
      </p:sp>
      <p:sp>
        <p:nvSpPr>
          <p:cNvPr id="71" name="Shape 68"/>
          <p:cNvSpPr/>
          <p:nvPr/>
        </p:nvSpPr>
        <p:spPr>
          <a:xfrm>
            <a:off x="393192" y="58110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72" name="Text 69"/>
          <p:cNvSpPr/>
          <p:nvPr/>
        </p:nvSpPr>
        <p:spPr>
          <a:xfrm>
            <a:off x="512064" y="5760720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is the standout: ₹40.19 Cr (+69.8% vs May-25 ₹23.67 Cr). Likely promotional activation drove a strong billing month. Watch if May demand was pull-forward from June/July.</a:t>
            </a:r>
            <a:endParaRPr lang="en-US" sz="780" dirty="0"/>
          </a:p>
        </p:txBody>
      </p:sp>
      <p:sp>
        <p:nvSpPr>
          <p:cNvPr id="73" name="Shape 70"/>
          <p:cNvSpPr/>
          <p:nvPr/>
        </p:nvSpPr>
        <p:spPr>
          <a:xfrm>
            <a:off x="393192" y="62316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74" name="Text 71"/>
          <p:cNvSpPr/>
          <p:nvPr/>
        </p:nvSpPr>
        <p:spPr>
          <a:xfrm>
            <a:off x="512064" y="6181344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came in at ₹36.06 Cr vs ₹24.73 Cr LY (+45.8%). Post-May softness is normal. The key signal: July grew 45.8% YoY, not declining vs FY26.</a:t>
            </a:r>
            <a:endParaRPr lang="en-US" sz="780" dirty="0"/>
          </a:p>
        </p:txBody>
      </p:sp>
      <p:sp>
        <p:nvSpPr>
          <p:cNvPr id="75" name="Shape 72"/>
          <p:cNvSpPr/>
          <p:nvPr/>
        </p:nvSpPr>
        <p:spPr>
          <a:xfrm>
            <a:off x="393192" y="66522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6" name="Text 73"/>
          <p:cNvSpPr/>
          <p:nvPr/>
        </p:nvSpPr>
        <p:spPr>
          <a:xfrm>
            <a:off x="512064" y="6601968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is absent from the offtake source. The true Q1 4-month total cannot be computed. FY26 June was ₹21.83 Cr — if added to FY26 base, comparable YoY = ₹112.13 Cr vs ₹102.0 Cr = +10%. Use 3-month comparable (+39.9%) as primary lens.</a:t>
            </a:r>
            <a:endParaRPr lang="en-US" sz="780" dirty="0"/>
          </a:p>
        </p:txBody>
      </p:sp>
      <p:sp>
        <p:nvSpPr>
          <p:cNvPr id="77" name="Shape 74"/>
          <p:cNvSpPr/>
          <p:nvPr/>
        </p:nvSpPr>
        <p:spPr>
          <a:xfrm>
            <a:off x="393192" y="707288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78" name="Text 75"/>
          <p:cNvSpPr/>
          <p:nvPr/>
        </p:nvSpPr>
        <p:spPr>
          <a:xfrm>
            <a:off x="512064" y="7022592"/>
            <a:ext cx="5952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monthly avg ₹37.38 Cr vs FY26 same-period avg ₹26.72 Cr. Run rate improvement of +40% is the H1 baseline for planning Aug–Sep targets.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2026 MTD — vs Last Year (July FY26)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EXACT from CSV (220,522 rows) · Jul-25 from pre-aggregated FY26 workbook (NSV only)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128016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OFFTAKE — JULY 2026 vs JULY 2025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572768"/>
            <a:ext cx="2066544" cy="237744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" y="1572768"/>
            <a:ext cx="2066544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159105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(FY27) — THIS YEAR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3852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₹36.06 Cr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6616" y="23957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2,051,674 units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6616" y="261518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₹175.76 / unit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6616" y="281635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42.8%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6616" y="3054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i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EXACT (CSV 220,522 rows, 0 bad)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395728" y="1572768"/>
            <a:ext cx="2066544" cy="237744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95728" y="1572768"/>
            <a:ext cx="2066544" cy="274320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32" name="Text 30"/>
          <p:cNvSpPr/>
          <p:nvPr/>
        </p:nvSpPr>
        <p:spPr>
          <a:xfrm>
            <a:off x="2478024" y="159105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87168" y="193852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+₹11.33 Cr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487168" y="237744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+45.8%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487168" y="276148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2nd highest-growth</a:t>
            </a:r>
            <a:endParaRPr lang="en-US" sz="7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in Q1 FY27 after May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87168" y="32186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+13.0%  ·  May +69.8%  ·  Jul +45.8%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4526280" y="1572768"/>
            <a:ext cx="2066544" cy="2377440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1572768"/>
            <a:ext cx="2066544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9" name="Text 37"/>
          <p:cNvSpPr/>
          <p:nvPr/>
        </p:nvSpPr>
        <p:spPr>
          <a:xfrm>
            <a:off x="4608576" y="159105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 (FY26) — LAST YEAR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17720" y="193852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₹24.73 Cr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17720" y="23957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not in monthly data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17720" y="2615184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ASP: not in monthly data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17720" y="281635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Realisation: not in monthly data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17720" y="3054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i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monthly_fy26[3] from pre-agg workbook</a:t>
            </a:r>
            <a:endParaRPr lang="en-US" sz="620" dirty="0"/>
          </a:p>
        </p:txBody>
      </p:sp>
      <p:sp>
        <p:nvSpPr>
          <p:cNvPr id="45" name="Text 43"/>
          <p:cNvSpPr/>
          <p:nvPr/>
        </p:nvSpPr>
        <p:spPr>
          <a:xfrm>
            <a:off x="265176" y="405993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NSV — July 2026 actual (₹ Cr)</a:t>
            </a:r>
            <a:endParaRPr lang="en-US" sz="72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5176" y="4261104"/>
          <a:ext cx="3118104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3474720" y="405993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NSV — Q1 FY27 YTD (₹ Cr, Apr+May+Jul)</a:t>
            </a:r>
            <a:endParaRPr lang="en-US" sz="720" dirty="0"/>
          </a:p>
        </p:txBody>
      </p:sp>
      <p:graphicFrame>
        <p:nvGraphicFramePr>
          <p:cNvPr id="48" name="Chart 1" descr=""/>
          <p:cNvGraphicFramePr/>
          <p:nvPr/>
        </p:nvGraphicFramePr>
        <p:xfrm>
          <a:off x="3474720" y="4261104"/>
          <a:ext cx="3118104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Shape 45"/>
          <p:cNvSpPr/>
          <p:nvPr/>
        </p:nvSpPr>
        <p:spPr>
          <a:xfrm>
            <a:off x="265176" y="6364224"/>
            <a:ext cx="6327648" cy="237744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50" name="Text 46"/>
          <p:cNvSpPr/>
          <p:nvPr/>
        </p:nvSpPr>
        <p:spPr>
          <a:xfrm>
            <a:off x="393192" y="6382512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MTD DIAGNOSTIC — WHAT IS AVAILABLE vs WHAT IS MISSING</a:t>
            </a:r>
            <a:endParaRPr lang="en-US" sz="720" dirty="0"/>
          </a:p>
        </p:txBody>
      </p:sp>
      <p:sp>
        <p:nvSpPr>
          <p:cNvPr id="51" name="Shape 47"/>
          <p:cNvSpPr/>
          <p:nvPr/>
        </p:nvSpPr>
        <p:spPr>
          <a:xfrm>
            <a:off x="265176" y="6675120"/>
            <a:ext cx="3099816" cy="256032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265176" y="6675120"/>
            <a:ext cx="3099816" cy="274320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53" name="Text 49"/>
          <p:cNvSpPr/>
          <p:nvPr/>
        </p:nvSpPr>
        <p:spPr>
          <a:xfrm>
            <a:off x="347472" y="669340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CONFIRM (EXACT)</a:t>
            </a:r>
            <a:endParaRPr lang="en-US" sz="700" dirty="0"/>
          </a:p>
        </p:txBody>
      </p:sp>
      <p:sp>
        <p:nvSpPr>
          <p:cNvPr id="54" name="Shape 50"/>
          <p:cNvSpPr/>
          <p:nvPr/>
        </p:nvSpPr>
        <p:spPr>
          <a:xfrm>
            <a:off x="356616" y="709117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55" name="Text 51"/>
          <p:cNvSpPr/>
          <p:nvPr/>
        </p:nvSpPr>
        <p:spPr>
          <a:xfrm>
            <a:off x="475488" y="70408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NSV ₹36.06 Cr — from Jul-26 CSV (220,522 rows, 0 bad rows, 8-gate PASS_WITH_FLAG).</a:t>
            </a:r>
            <a:endParaRPr lang="en-US" sz="740" dirty="0"/>
          </a:p>
        </p:txBody>
      </p:sp>
      <p:sp>
        <p:nvSpPr>
          <p:cNvPr id="56" name="Shape 52"/>
          <p:cNvSpPr/>
          <p:nvPr/>
        </p:nvSpPr>
        <p:spPr>
          <a:xfrm>
            <a:off x="356616" y="751179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57" name="Text 53"/>
          <p:cNvSpPr/>
          <p:nvPr/>
        </p:nvSpPr>
        <p:spPr>
          <a:xfrm>
            <a:off x="475488" y="7461504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units 2,051,674 · ASP ₹175.76 · Realisation 42.8% — all EXACT from source.</a:t>
            </a:r>
            <a:endParaRPr lang="en-US" sz="740" dirty="0"/>
          </a:p>
        </p:txBody>
      </p:sp>
      <p:sp>
        <p:nvSpPr>
          <p:cNvPr id="58" name="Shape 54"/>
          <p:cNvSpPr/>
          <p:nvPr/>
        </p:nvSpPr>
        <p:spPr>
          <a:xfrm>
            <a:off x="356616" y="79324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59" name="Text 55"/>
          <p:cNvSpPr/>
          <p:nvPr/>
        </p:nvSpPr>
        <p:spPr>
          <a:xfrm>
            <a:off x="475488" y="788212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Jul-25 NSV ₹24.73 Cr — from monthly_fy26[3] pre-aggregated workbook. This is the official LY baseline.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356616" y="83530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61" name="Text 57"/>
          <p:cNvSpPr/>
          <p:nvPr/>
        </p:nvSpPr>
        <p:spPr>
          <a:xfrm>
            <a:off x="475488" y="830275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NSV growth +45.8% (+₹11.33 Cr). July is growing faster than April (+13.0%).</a:t>
            </a:r>
            <a:endParaRPr lang="en-US" sz="740" dirty="0"/>
          </a:p>
        </p:txBody>
      </p:sp>
      <p:sp>
        <p:nvSpPr>
          <p:cNvPr id="62" name="Shape 58"/>
          <p:cNvSpPr/>
          <p:nvPr/>
        </p:nvSpPr>
        <p:spPr>
          <a:xfrm>
            <a:off x="356616" y="877366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63" name="Text 59"/>
          <p:cNvSpPr/>
          <p:nvPr/>
        </p:nvSpPr>
        <p:spPr>
          <a:xfrm>
            <a:off x="475488" y="8723376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zone breakdown available: West ₹8.27 Cr → Central ₹2.12 Cr (see adjacent chart).</a:t>
            </a:r>
            <a:endParaRPr lang="en-US" sz="740" dirty="0"/>
          </a:p>
        </p:txBody>
      </p:sp>
      <p:sp>
        <p:nvSpPr>
          <p:cNvPr id="64" name="Shape 60"/>
          <p:cNvSpPr/>
          <p:nvPr/>
        </p:nvSpPr>
        <p:spPr>
          <a:xfrm>
            <a:off x="3493008" y="6675120"/>
            <a:ext cx="3099816" cy="256032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3493008" y="6675120"/>
            <a:ext cx="3099816" cy="274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66" name="Text 62"/>
          <p:cNvSpPr/>
          <p:nvPr/>
        </p:nvSpPr>
        <p:spPr>
          <a:xfrm>
            <a:off x="3575304" y="669340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YET AVAILABLE (LY)</a:t>
            </a:r>
            <a:endParaRPr lang="en-US" sz="700" dirty="0"/>
          </a:p>
        </p:txBody>
      </p:sp>
      <p:sp>
        <p:nvSpPr>
          <p:cNvPr id="67" name="Shape 63"/>
          <p:cNvSpPr/>
          <p:nvPr/>
        </p:nvSpPr>
        <p:spPr>
          <a:xfrm>
            <a:off x="3584448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8" name="Text 64"/>
          <p:cNvSpPr/>
          <p:nvPr/>
        </p:nvSpPr>
        <p:spPr>
          <a:xfrm>
            <a:off x="3703320" y="70408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Jul-25 units and ASP — pre-aggregated monthly data holds only NSV, not units. Cannot compute LY ASP.</a:t>
            </a:r>
            <a:endParaRPr lang="en-US" sz="740" dirty="0"/>
          </a:p>
        </p:txBody>
      </p:sp>
      <p:sp>
        <p:nvSpPr>
          <p:cNvPr id="69" name="Shape 65"/>
          <p:cNvSpPr/>
          <p:nvPr/>
        </p:nvSpPr>
        <p:spPr>
          <a:xfrm>
            <a:off x="3584448" y="75117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0" name="Text 66"/>
          <p:cNvSpPr/>
          <p:nvPr/>
        </p:nvSpPr>
        <p:spPr>
          <a:xfrm>
            <a:off x="3703320" y="7461504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Jul-25 zone breakdown — pre-agg workbook stores FY26 zone total, not monthly zone detail. Zone LY comparison requires article-level Jul-25 CSV.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3584448" y="793242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2" name="Text 68"/>
          <p:cNvSpPr/>
          <p:nvPr/>
        </p:nvSpPr>
        <p:spPr>
          <a:xfrm>
            <a:off x="3703320" y="7882128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Jul-25 brand breakdown — same limitation. LY brand × month detail not in current data.js.</a:t>
            </a:r>
            <a:endParaRPr lang="en-US" sz="740" dirty="0"/>
          </a:p>
        </p:txBody>
      </p:sp>
      <p:sp>
        <p:nvSpPr>
          <p:cNvPr id="73" name="Shape 69"/>
          <p:cNvSpPr/>
          <p:nvPr/>
        </p:nvSpPr>
        <p:spPr>
          <a:xfrm>
            <a:off x="3584448" y="835304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4" name="Text 70"/>
          <p:cNvSpPr/>
          <p:nvPr/>
        </p:nvSpPr>
        <p:spPr>
          <a:xfrm>
            <a:off x="3703320" y="830275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Jul-25 realisation — requires LY MRP Sales Value, which is not in the monthly pre-agg data.</a:t>
            </a:r>
            <a:endParaRPr lang="en-US" sz="740" dirty="0"/>
          </a:p>
        </p:txBody>
      </p:sp>
      <p:sp>
        <p:nvSpPr>
          <p:cNvPr id="75" name="Shape 71"/>
          <p:cNvSpPr/>
          <p:nvPr/>
        </p:nvSpPr>
        <p:spPr>
          <a:xfrm>
            <a:off x="3584448" y="87736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76" name="Text 72"/>
          <p:cNvSpPr/>
          <p:nvPr/>
        </p:nvSpPr>
        <p:spPr>
          <a:xfrm>
            <a:off x="3703320" y="8723376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UNLOCK: Supply article-level Jul-25 offtake CSV to PowerBI/RawDataFolders/Offtake_Monthly/ and run --offtake-patch. All LY splits will appear automatically.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Offtake Performance — July 2026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MT only (excl. eB2B / SIS) · NSV, Units, ASP, Realisation by zone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4802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NSV by zone (₹ Cr)</a:t>
            </a:r>
            <a:endParaRPr lang="en-US" sz="72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65176" y="1463040"/>
          <a:ext cx="3480206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3871935" y="1261872"/>
            <a:ext cx="27208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zone (000s)</a:t>
            </a:r>
            <a:endParaRPr lang="en-US" sz="72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3871935" y="1463040"/>
          <a:ext cx="2720889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265176" y="3895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5" name="Text 21"/>
          <p:cNvSpPr/>
          <p:nvPr/>
        </p:nvSpPr>
        <p:spPr>
          <a:xfrm>
            <a:off x="320040" y="3913632"/>
            <a:ext cx="1342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6" name="Text 22"/>
          <p:cNvSpPr/>
          <p:nvPr/>
        </p:nvSpPr>
        <p:spPr>
          <a:xfrm>
            <a:off x="1772287" y="3913632"/>
            <a:ext cx="8238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(₹ Cr)</a:t>
            </a:r>
            <a:endParaRPr lang="en-US" sz="660" dirty="0"/>
          </a:p>
        </p:txBody>
      </p:sp>
      <p:sp>
        <p:nvSpPr>
          <p:cNvPr id="27" name="Text 23"/>
          <p:cNvSpPr/>
          <p:nvPr/>
        </p:nvSpPr>
        <p:spPr>
          <a:xfrm>
            <a:off x="2705874" y="3913632"/>
            <a:ext cx="9275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660" dirty="0"/>
          </a:p>
        </p:txBody>
      </p:sp>
      <p:sp>
        <p:nvSpPr>
          <p:cNvPr id="28" name="Text 24"/>
          <p:cNvSpPr/>
          <p:nvPr/>
        </p:nvSpPr>
        <p:spPr>
          <a:xfrm>
            <a:off x="3743194" y="3913632"/>
            <a:ext cx="8238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(₹)</a:t>
            </a:r>
            <a:endParaRPr lang="en-US" sz="660" dirty="0"/>
          </a:p>
        </p:txBody>
      </p:sp>
      <p:sp>
        <p:nvSpPr>
          <p:cNvPr id="29" name="Text 25"/>
          <p:cNvSpPr/>
          <p:nvPr/>
        </p:nvSpPr>
        <p:spPr>
          <a:xfrm>
            <a:off x="4676781" y="3913632"/>
            <a:ext cx="9275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660" dirty="0"/>
          </a:p>
        </p:txBody>
      </p:sp>
      <p:sp>
        <p:nvSpPr>
          <p:cNvPr id="30" name="Text 26"/>
          <p:cNvSpPr/>
          <p:nvPr/>
        </p:nvSpPr>
        <p:spPr>
          <a:xfrm>
            <a:off x="5714101" y="3913632"/>
            <a:ext cx="8238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</a:t>
            </a:r>
            <a:endParaRPr lang="en-US" sz="660" dirty="0"/>
          </a:p>
        </p:txBody>
      </p:sp>
      <p:sp>
        <p:nvSpPr>
          <p:cNvPr id="31" name="Shape 27"/>
          <p:cNvSpPr/>
          <p:nvPr/>
        </p:nvSpPr>
        <p:spPr>
          <a:xfrm>
            <a:off x="265176" y="4151376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2" name="Shape 28"/>
          <p:cNvSpPr/>
          <p:nvPr/>
        </p:nvSpPr>
        <p:spPr>
          <a:xfrm>
            <a:off x="265176" y="4443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0040" y="4151376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20" dirty="0"/>
          </a:p>
        </p:txBody>
      </p:sp>
      <p:sp>
        <p:nvSpPr>
          <p:cNvPr id="34" name="Text 30"/>
          <p:cNvSpPr/>
          <p:nvPr/>
        </p:nvSpPr>
        <p:spPr>
          <a:xfrm>
            <a:off x="1772287" y="415137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₹8.27</a:t>
            </a:r>
            <a:endParaRPr lang="en-US" sz="720" dirty="0"/>
          </a:p>
        </p:txBody>
      </p:sp>
      <p:sp>
        <p:nvSpPr>
          <p:cNvPr id="35" name="Text 31"/>
          <p:cNvSpPr/>
          <p:nvPr/>
        </p:nvSpPr>
        <p:spPr>
          <a:xfrm>
            <a:off x="2705874" y="4151376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498k</a:t>
            </a:r>
            <a:endParaRPr lang="en-US" sz="720" dirty="0"/>
          </a:p>
        </p:txBody>
      </p:sp>
      <p:sp>
        <p:nvSpPr>
          <p:cNvPr id="36" name="Text 32"/>
          <p:cNvSpPr/>
          <p:nvPr/>
        </p:nvSpPr>
        <p:spPr>
          <a:xfrm>
            <a:off x="3743194" y="415137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₹166</a:t>
            </a:r>
            <a:endParaRPr lang="en-US" sz="720" dirty="0"/>
          </a:p>
        </p:txBody>
      </p:sp>
      <p:sp>
        <p:nvSpPr>
          <p:cNvPr id="37" name="Text 33"/>
          <p:cNvSpPr/>
          <p:nvPr/>
        </p:nvSpPr>
        <p:spPr>
          <a:xfrm>
            <a:off x="4676781" y="4151376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5714101" y="415137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265176" y="47365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0040" y="4443984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1772287" y="4443984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₹8.18</a:t>
            </a:r>
            <a:endParaRPr lang="en-US" sz="720" dirty="0"/>
          </a:p>
        </p:txBody>
      </p:sp>
      <p:sp>
        <p:nvSpPr>
          <p:cNvPr id="42" name="Text 38"/>
          <p:cNvSpPr/>
          <p:nvPr/>
        </p:nvSpPr>
        <p:spPr>
          <a:xfrm>
            <a:off x="2705874" y="4443984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434k</a:t>
            </a:r>
            <a:endParaRPr lang="en-US" sz="720" dirty="0"/>
          </a:p>
        </p:txBody>
      </p:sp>
      <p:sp>
        <p:nvSpPr>
          <p:cNvPr id="43" name="Text 39"/>
          <p:cNvSpPr/>
          <p:nvPr/>
        </p:nvSpPr>
        <p:spPr>
          <a:xfrm>
            <a:off x="3743194" y="4443984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₹189</a:t>
            </a:r>
            <a:endParaRPr lang="en-US" sz="720" dirty="0"/>
          </a:p>
        </p:txBody>
      </p:sp>
      <p:sp>
        <p:nvSpPr>
          <p:cNvPr id="44" name="Text 40"/>
          <p:cNvSpPr/>
          <p:nvPr/>
        </p:nvSpPr>
        <p:spPr>
          <a:xfrm>
            <a:off x="4676781" y="4443984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720" dirty="0"/>
          </a:p>
        </p:txBody>
      </p:sp>
      <p:sp>
        <p:nvSpPr>
          <p:cNvPr id="45" name="Text 41"/>
          <p:cNvSpPr/>
          <p:nvPr/>
        </p:nvSpPr>
        <p:spPr>
          <a:xfrm>
            <a:off x="5714101" y="4443984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4736592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47" name="Shape 43"/>
          <p:cNvSpPr/>
          <p:nvPr/>
        </p:nvSpPr>
        <p:spPr>
          <a:xfrm>
            <a:off x="265176" y="5029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20040" y="4736592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20" dirty="0"/>
          </a:p>
        </p:txBody>
      </p:sp>
      <p:sp>
        <p:nvSpPr>
          <p:cNvPr id="49" name="Text 45"/>
          <p:cNvSpPr/>
          <p:nvPr/>
        </p:nvSpPr>
        <p:spPr>
          <a:xfrm>
            <a:off x="1772287" y="4736592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₹6.97</a:t>
            </a:r>
            <a:endParaRPr lang="en-US" sz="720" dirty="0"/>
          </a:p>
        </p:txBody>
      </p:sp>
      <p:sp>
        <p:nvSpPr>
          <p:cNvPr id="50" name="Text 46"/>
          <p:cNvSpPr/>
          <p:nvPr/>
        </p:nvSpPr>
        <p:spPr>
          <a:xfrm>
            <a:off x="2705874" y="4736592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377k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3743194" y="4736592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676781" y="4736592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714101" y="4736592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5321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20040" y="5029200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1772287" y="5029200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₹4.87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2705874" y="5029200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278k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3743194" y="5029200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</a:t>
            </a:r>
            <a:endParaRPr lang="en-US" sz="720" dirty="0"/>
          </a:p>
        </p:txBody>
      </p:sp>
      <p:sp>
        <p:nvSpPr>
          <p:cNvPr id="59" name="Text 55"/>
          <p:cNvSpPr/>
          <p:nvPr/>
        </p:nvSpPr>
        <p:spPr>
          <a:xfrm>
            <a:off x="4676781" y="5029200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720" dirty="0"/>
          </a:p>
        </p:txBody>
      </p:sp>
      <p:sp>
        <p:nvSpPr>
          <p:cNvPr id="60" name="Text 56"/>
          <p:cNvSpPr/>
          <p:nvPr/>
        </p:nvSpPr>
        <p:spPr>
          <a:xfrm>
            <a:off x="5714101" y="5029200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720" dirty="0"/>
          </a:p>
        </p:txBody>
      </p:sp>
      <p:sp>
        <p:nvSpPr>
          <p:cNvPr id="61" name="Shape 57"/>
          <p:cNvSpPr/>
          <p:nvPr/>
        </p:nvSpPr>
        <p:spPr>
          <a:xfrm>
            <a:off x="265176" y="53218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2" name="Shape 58"/>
          <p:cNvSpPr/>
          <p:nvPr/>
        </p:nvSpPr>
        <p:spPr>
          <a:xfrm>
            <a:off x="265176" y="56144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20040" y="5321808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1772287" y="5321808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₹3.54</a:t>
            </a:r>
            <a:endParaRPr lang="en-US" sz="720" dirty="0"/>
          </a:p>
        </p:txBody>
      </p:sp>
      <p:sp>
        <p:nvSpPr>
          <p:cNvPr id="65" name="Text 61"/>
          <p:cNvSpPr/>
          <p:nvPr/>
        </p:nvSpPr>
        <p:spPr>
          <a:xfrm>
            <a:off x="2705874" y="5321808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183k</a:t>
            </a:r>
            <a:endParaRPr lang="en-US" sz="720" dirty="0"/>
          </a:p>
        </p:txBody>
      </p:sp>
      <p:sp>
        <p:nvSpPr>
          <p:cNvPr id="66" name="Text 62"/>
          <p:cNvSpPr/>
          <p:nvPr/>
        </p:nvSpPr>
        <p:spPr>
          <a:xfrm>
            <a:off x="3743194" y="5321808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4676781" y="5321808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5714101" y="5321808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720" dirty="0"/>
          </a:p>
        </p:txBody>
      </p:sp>
      <p:sp>
        <p:nvSpPr>
          <p:cNvPr id="69" name="Shape 6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20040" y="5614416"/>
            <a:ext cx="13425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20" dirty="0"/>
          </a:p>
        </p:txBody>
      </p:sp>
      <p:sp>
        <p:nvSpPr>
          <p:cNvPr id="71" name="Text 67"/>
          <p:cNvSpPr/>
          <p:nvPr/>
        </p:nvSpPr>
        <p:spPr>
          <a:xfrm>
            <a:off x="1772287" y="561441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</a:t>
            </a:r>
            <a:endParaRPr lang="en-US" sz="720" dirty="0"/>
          </a:p>
        </p:txBody>
      </p:sp>
      <p:sp>
        <p:nvSpPr>
          <p:cNvPr id="72" name="Text 68"/>
          <p:cNvSpPr/>
          <p:nvPr/>
        </p:nvSpPr>
        <p:spPr>
          <a:xfrm>
            <a:off x="2705874" y="5614416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3743194" y="561441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676781" y="5614416"/>
            <a:ext cx="927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714101" y="5614416"/>
            <a:ext cx="82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720" dirty="0"/>
          </a:p>
        </p:txBody>
      </p:sp>
      <p:sp>
        <p:nvSpPr>
          <p:cNvPr id="76" name="Text 72"/>
          <p:cNvSpPr/>
          <p:nvPr/>
        </p:nvSpPr>
        <p:spPr>
          <a:xfrm>
            <a:off x="265176" y="601675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range: East ₹193 (highest, premium mix) → West ₹166 (volume leader, lower-ASP packs). The 16% spread across zones is mix-driven, not discount-driven — realisation is tight across all geo zones (41–43%).</a:t>
            </a:r>
            <a:endParaRPr lang="en-US" sz="720" dirty="0"/>
          </a:p>
        </p:txBody>
      </p:sp>
      <p:sp>
        <p:nvSpPr>
          <p:cNvPr id="77" name="Shape 73"/>
          <p:cNvSpPr/>
          <p:nvPr/>
        </p:nvSpPr>
        <p:spPr>
          <a:xfrm>
            <a:off x="265176" y="6400800"/>
            <a:ext cx="6327648" cy="237744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78" name="Text 74"/>
          <p:cNvSpPr/>
          <p:nvPr/>
        </p:nvSpPr>
        <p:spPr>
          <a:xfrm>
            <a:off x="393192" y="6419088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SHARE vs ASP — READING THE SCATTER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356616" y="6748272"/>
            <a:ext cx="614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the volume anchor (23% share, cheapest ASP). South-1 matches on NSV with fewer units at a premium ASP. East has the highest ASP but a small share — premium-heavy, scale-limited. Central is the growth watch: 5.9% share, ASP below national (₹170 vs ₹176), realisation lowest in geo-MT (41.1%).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ASP Analysis — Why Zones Differ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mix / realisation decomposition · Pattern-matcher-router: diagnostic question type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NSV share (%) vs ASP (₹/unit) — each dot is one geographic zone</a:t>
            </a:r>
            <a:endParaRPr lang="en-US" sz="72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65176" y="1463040"/>
          <a:ext cx="6327648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265176" y="3529584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Upper-right = high-share, high-ASP zone (ideal). Lower-left = smaller zone, lower ASP. West is high-share but low-ASP — volume drag. East is high-ASP but low-share — premium, not yet at scale.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65176" y="3895344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" y="3913632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ASSESSMENT — ZONE ASP GAP (Diagnostic, HIGH confidence)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265176" y="42062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4224528"/>
            <a:ext cx="10235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453350" y="4224528"/>
            <a:ext cx="551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2114448" y="4224528"/>
            <a:ext cx="7402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NAT (₹176)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2964430" y="4224528"/>
            <a:ext cx="551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660" dirty="0"/>
          </a:p>
        </p:txBody>
      </p:sp>
      <p:sp>
        <p:nvSpPr>
          <p:cNvPr id="30" name="Text 27"/>
          <p:cNvSpPr/>
          <p:nvPr/>
        </p:nvSpPr>
        <p:spPr>
          <a:xfrm>
            <a:off x="3625528" y="4224528"/>
            <a:ext cx="2912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60" dirty="0"/>
          </a:p>
        </p:txBody>
      </p:sp>
      <p:sp>
        <p:nvSpPr>
          <p:cNvPr id="31" name="Shape 28"/>
          <p:cNvSpPr/>
          <p:nvPr/>
        </p:nvSpPr>
        <p:spPr>
          <a:xfrm>
            <a:off x="265176" y="44622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65176" y="4773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462272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1453350" y="4462272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₹166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2114448" y="4462272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2964430" y="4462272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3625528" y="4462272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400ml Mamaearth share pulls ASP down; premium TDC underweight</a:t>
            </a:r>
            <a:endParaRPr lang="en-US" sz="720" dirty="0"/>
          </a:p>
        </p:txBody>
      </p:sp>
      <p:sp>
        <p:nvSpPr>
          <p:cNvPr id="38" name="Shape 35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773168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453350" y="4773168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₹189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2114448" y="4773168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2964430" y="4773168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3625528" y="4773168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TDC mix (33.7%); premium face-care skews ASP up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265176" y="5084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45" name="Shape 42"/>
          <p:cNvSpPr/>
          <p:nvPr/>
        </p:nvSpPr>
        <p:spPr>
          <a:xfrm>
            <a:off x="265176" y="5394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5084064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1453350" y="5084064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2114448" y="5084064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2964430" y="5084064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3625528" y="5084064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brand + pack mix; no single drag factor</a:t>
            </a:r>
            <a:endParaRPr lang="en-US" sz="720" dirty="0"/>
          </a:p>
        </p:txBody>
      </p:sp>
      <p:sp>
        <p:nvSpPr>
          <p:cNvPr id="51" name="Shape 48"/>
          <p:cNvSpPr/>
          <p:nvPr/>
        </p:nvSpPr>
        <p:spPr>
          <a:xfrm>
            <a:off x="265176" y="5705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0040" y="5394960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1453350" y="5394960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2114448" y="5394960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2964430" y="5394960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3625528" y="5394960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national average; best realisation in geo-MT</a:t>
            </a:r>
            <a:endParaRPr lang="en-US" sz="720" dirty="0"/>
          </a:p>
        </p:txBody>
      </p:sp>
      <p:sp>
        <p:nvSpPr>
          <p:cNvPr id="57" name="Shape 54"/>
          <p:cNvSpPr/>
          <p:nvPr/>
        </p:nvSpPr>
        <p:spPr>
          <a:xfrm>
            <a:off x="265176" y="5705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8" name="Shape 55"/>
          <p:cNvSpPr/>
          <p:nvPr/>
        </p:nvSpPr>
        <p:spPr>
          <a:xfrm>
            <a:off x="265176" y="6016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5705856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1453350" y="5705856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2114448" y="5705856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2964430" y="5705856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3625528" y="5705856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 concentration; fewer high-volume cheap SKUs</a:t>
            </a:r>
            <a:endParaRPr lang="en-US" sz="720" dirty="0"/>
          </a:p>
        </p:txBody>
      </p:sp>
      <p:sp>
        <p:nvSpPr>
          <p:cNvPr id="64" name="Shape 61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6016752"/>
            <a:ext cx="1023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1453350" y="6016752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2114448" y="6016752"/>
            <a:ext cx="740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2964430" y="6016752"/>
            <a:ext cx="5513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3625528" y="6016752"/>
            <a:ext cx="291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400ml Mamaearth mix + lowest realisation in geo-MT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265176" y="6437376"/>
            <a:ext cx="6327648" cy="237744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71" name="Text 68"/>
          <p:cNvSpPr/>
          <p:nvPr/>
        </p:nvSpPr>
        <p:spPr>
          <a:xfrm>
            <a:off x="393192" y="645566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PRICE-VOLUME DECOMPOSITION — May → July</a:t>
            </a:r>
            <a:endParaRPr lang="en-US" sz="720" dirty="0"/>
          </a:p>
        </p:txBody>
      </p:sp>
      <p:sp>
        <p:nvSpPr>
          <p:cNvPr id="72" name="Shape 69"/>
          <p:cNvSpPr/>
          <p:nvPr/>
        </p:nvSpPr>
        <p:spPr>
          <a:xfrm>
            <a:off x="265176" y="6748272"/>
            <a:ext cx="2036064" cy="14630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65176" y="674827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</p:sp>
      <p:sp>
        <p:nvSpPr>
          <p:cNvPr id="74" name="Text 71"/>
          <p:cNvSpPr/>
          <p:nvPr/>
        </p:nvSpPr>
        <p:spPr>
          <a:xfrm>
            <a:off x="347472" y="67665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EFFECT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56616" y="711403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−5.02 Cr</a:t>
            </a:r>
            <a:endParaRPr lang="en-US" sz="1800" dirty="0"/>
          </a:p>
        </p:txBody>
      </p:sp>
      <p:sp>
        <p:nvSpPr>
          <p:cNvPr id="76" name="Text 73"/>
          <p:cNvSpPr/>
          <p:nvPr/>
        </p:nvSpPr>
        <p:spPr>
          <a:xfrm>
            <a:off x="356616" y="7498080"/>
            <a:ext cx="1853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−292,724 units × ₹171.44 May ASP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356616" y="7772400"/>
            <a:ext cx="1853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contracted. July billed less than May by 12.5%. This is the entire NSV decline.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2410968" y="6748272"/>
            <a:ext cx="2036064" cy="14630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410968" y="67482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80" name="Text 77"/>
          <p:cNvSpPr/>
          <p:nvPr/>
        </p:nvSpPr>
        <p:spPr>
          <a:xfrm>
            <a:off x="2493264" y="67665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MIX EFFECT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2502408" y="711403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+0.89 Cr</a:t>
            </a:r>
            <a:endParaRPr lang="en-US" sz="1800" dirty="0"/>
          </a:p>
        </p:txBody>
      </p:sp>
      <p:sp>
        <p:nvSpPr>
          <p:cNvPr id="82" name="Text 79"/>
          <p:cNvSpPr/>
          <p:nvPr/>
        </p:nvSpPr>
        <p:spPr>
          <a:xfrm>
            <a:off x="2502408" y="7498080"/>
            <a:ext cx="1853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2,051,674 Jul units × +₹4.32 ASP gain</a:t>
            </a:r>
            <a:endParaRPr lang="en-US" sz="700" dirty="0"/>
          </a:p>
        </p:txBody>
      </p:sp>
      <p:sp>
        <p:nvSpPr>
          <p:cNvPr id="83" name="Text 80"/>
          <p:cNvSpPr/>
          <p:nvPr/>
        </p:nvSpPr>
        <p:spPr>
          <a:xfrm>
            <a:off x="2502408" y="7772400"/>
            <a:ext cx="1853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rose ₹4.32 vs May (+2.5%). Mix shifted toward TDC and premium packs offsetting volume loss.</a:t>
            </a:r>
            <a:endParaRPr lang="en-US" sz="700" dirty="0"/>
          </a:p>
        </p:txBody>
      </p:sp>
      <p:sp>
        <p:nvSpPr>
          <p:cNvPr id="84" name="Shape 81"/>
          <p:cNvSpPr/>
          <p:nvPr/>
        </p:nvSpPr>
        <p:spPr>
          <a:xfrm>
            <a:off x="4556760" y="6748272"/>
            <a:ext cx="2036064" cy="14630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556760" y="674827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86" name="Text 83"/>
          <p:cNvSpPr/>
          <p:nvPr/>
        </p:nvSpPr>
        <p:spPr>
          <a:xfrm>
            <a:off x="4639056" y="67665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NSV CHANGE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4648200" y="711403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−4.13 Cr</a:t>
            </a:r>
            <a:endParaRPr lang="en-US" sz="1800" dirty="0"/>
          </a:p>
        </p:txBody>
      </p:sp>
      <p:sp>
        <p:nvSpPr>
          <p:cNvPr id="88" name="Text 85"/>
          <p:cNvSpPr/>
          <p:nvPr/>
        </p:nvSpPr>
        <p:spPr>
          <a:xfrm>
            <a:off x="4648200" y="7498080"/>
            <a:ext cx="1853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₹40.19 Cr → Jul ₹36.06 Cr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648200" y="7772400"/>
            <a:ext cx="1853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is 100% volume-driven. Pricing is improving. Diagnose the unit shortfall, not the price.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Performance — Top 9 Accounts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MT · NSV, units, ASP ranking · Big 3 = Dmart + Reliance + Apollo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6700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NSV by chain (₹ Cr) — top 9</a:t>
            </a:r>
            <a:endParaRPr lang="en-US" sz="72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65176" y="1463040"/>
          <a:ext cx="3670036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061765" y="1261872"/>
            <a:ext cx="2531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by chain (₹/unit)</a:t>
            </a:r>
            <a:endParaRPr lang="en-US" sz="72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061765" y="1463040"/>
          <a:ext cx="2531059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265176" y="44256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5" name="Text 21"/>
          <p:cNvSpPr/>
          <p:nvPr/>
        </p:nvSpPr>
        <p:spPr>
          <a:xfrm>
            <a:off x="320040" y="4443984"/>
            <a:ext cx="13575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6" name="Text 22"/>
          <p:cNvSpPr/>
          <p:nvPr/>
        </p:nvSpPr>
        <p:spPr>
          <a:xfrm>
            <a:off x="1787321" y="444398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(₹ Cr)</a:t>
            </a:r>
            <a:endParaRPr lang="en-US" sz="660" dirty="0"/>
          </a:p>
        </p:txBody>
      </p:sp>
      <p:sp>
        <p:nvSpPr>
          <p:cNvPr id="27" name="Text 23"/>
          <p:cNvSpPr/>
          <p:nvPr/>
        </p:nvSpPr>
        <p:spPr>
          <a:xfrm>
            <a:off x="2704371" y="4443984"/>
            <a:ext cx="715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660" dirty="0"/>
          </a:p>
        </p:txBody>
      </p:sp>
      <p:sp>
        <p:nvSpPr>
          <p:cNvPr id="28" name="Text 24"/>
          <p:cNvSpPr/>
          <p:nvPr/>
        </p:nvSpPr>
        <p:spPr>
          <a:xfrm>
            <a:off x="3529717" y="4443984"/>
            <a:ext cx="715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(₹)</a:t>
            </a:r>
            <a:endParaRPr lang="en-US" sz="660" dirty="0"/>
          </a:p>
        </p:txBody>
      </p:sp>
      <p:sp>
        <p:nvSpPr>
          <p:cNvPr id="29" name="Text 25"/>
          <p:cNvSpPr/>
          <p:nvPr/>
        </p:nvSpPr>
        <p:spPr>
          <a:xfrm>
            <a:off x="4355062" y="4443984"/>
            <a:ext cx="623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30" name="Text 26"/>
          <p:cNvSpPr/>
          <p:nvPr/>
        </p:nvSpPr>
        <p:spPr>
          <a:xfrm>
            <a:off x="5088702" y="4443984"/>
            <a:ext cx="1449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60" dirty="0"/>
          </a:p>
        </p:txBody>
      </p:sp>
      <p:sp>
        <p:nvSpPr>
          <p:cNvPr id="31" name="Shape 27"/>
          <p:cNvSpPr/>
          <p:nvPr/>
        </p:nvSpPr>
        <p:spPr>
          <a:xfrm>
            <a:off x="265176" y="4681728"/>
            <a:ext cx="6327648" cy="2834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2" name="Shape 28"/>
          <p:cNvSpPr/>
          <p:nvPr/>
        </p:nvSpPr>
        <p:spPr>
          <a:xfrm>
            <a:off x="265176" y="49651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0040" y="4681728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34" name="Text 30"/>
          <p:cNvSpPr/>
          <p:nvPr/>
        </p:nvSpPr>
        <p:spPr>
          <a:xfrm>
            <a:off x="1787321" y="4681728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₹13.97</a:t>
            </a:r>
            <a:endParaRPr lang="en-US" sz="720" dirty="0"/>
          </a:p>
        </p:txBody>
      </p:sp>
      <p:sp>
        <p:nvSpPr>
          <p:cNvPr id="35" name="Text 31"/>
          <p:cNvSpPr/>
          <p:nvPr/>
        </p:nvSpPr>
        <p:spPr>
          <a:xfrm>
            <a:off x="2704371" y="4681728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883k</a:t>
            </a:r>
            <a:endParaRPr lang="en-US" sz="720" dirty="0"/>
          </a:p>
        </p:txBody>
      </p:sp>
      <p:sp>
        <p:nvSpPr>
          <p:cNvPr id="36" name="Text 32"/>
          <p:cNvSpPr/>
          <p:nvPr/>
        </p:nvSpPr>
        <p:spPr>
          <a:xfrm>
            <a:off x="3529717" y="4681728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₹158</a:t>
            </a:r>
            <a:endParaRPr lang="en-US" sz="720" dirty="0"/>
          </a:p>
        </p:txBody>
      </p:sp>
      <p:sp>
        <p:nvSpPr>
          <p:cNvPr id="37" name="Text 33"/>
          <p:cNvSpPr/>
          <p:nvPr/>
        </p:nvSpPr>
        <p:spPr>
          <a:xfrm>
            <a:off x="4355062" y="4681728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5088702" y="4681728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engine; low ASP — Mamaearth 400ml dominant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265176" y="5248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0040" y="4965192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1787321" y="4965192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</a:t>
            </a:r>
            <a:endParaRPr lang="en-US" sz="720" dirty="0"/>
          </a:p>
        </p:txBody>
      </p:sp>
      <p:sp>
        <p:nvSpPr>
          <p:cNvPr id="42" name="Text 38"/>
          <p:cNvSpPr/>
          <p:nvPr/>
        </p:nvSpPr>
        <p:spPr>
          <a:xfrm>
            <a:off x="2704371" y="4965192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399k</a:t>
            </a:r>
            <a:endParaRPr lang="en-US" sz="720" dirty="0"/>
          </a:p>
        </p:txBody>
      </p:sp>
      <p:sp>
        <p:nvSpPr>
          <p:cNvPr id="43" name="Text 39"/>
          <p:cNvSpPr/>
          <p:nvPr/>
        </p:nvSpPr>
        <p:spPr>
          <a:xfrm>
            <a:off x="3529717" y="4965192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₹202</a:t>
            </a:r>
            <a:endParaRPr lang="en-US" sz="720" dirty="0"/>
          </a:p>
        </p:txBody>
      </p:sp>
      <p:sp>
        <p:nvSpPr>
          <p:cNvPr id="44" name="Text 40"/>
          <p:cNvSpPr/>
          <p:nvPr/>
        </p:nvSpPr>
        <p:spPr>
          <a:xfrm>
            <a:off x="4355062" y="4965192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720" dirty="0"/>
          </a:p>
        </p:txBody>
      </p:sp>
      <p:sp>
        <p:nvSpPr>
          <p:cNvPr id="45" name="Text 41"/>
          <p:cNvSpPr/>
          <p:nvPr/>
        </p:nvSpPr>
        <p:spPr>
          <a:xfrm>
            <a:off x="5088702" y="4965192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skew; best geo-chain ASP after Lulu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248656"/>
            <a:ext cx="6327648" cy="2834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47" name="Shape 43"/>
          <p:cNvSpPr/>
          <p:nvPr/>
        </p:nvSpPr>
        <p:spPr>
          <a:xfrm>
            <a:off x="265176" y="55321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20040" y="5248656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49" name="Text 45"/>
          <p:cNvSpPr/>
          <p:nvPr/>
        </p:nvSpPr>
        <p:spPr>
          <a:xfrm>
            <a:off x="1787321" y="5248656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₹7.18</a:t>
            </a:r>
            <a:endParaRPr lang="en-US" sz="720" dirty="0"/>
          </a:p>
        </p:txBody>
      </p:sp>
      <p:sp>
        <p:nvSpPr>
          <p:cNvPr id="50" name="Text 46"/>
          <p:cNvSpPr/>
          <p:nvPr/>
        </p:nvSpPr>
        <p:spPr>
          <a:xfrm>
            <a:off x="2704371" y="5248656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412k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3529717" y="5248656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₹174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355062" y="5248656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088702" y="5248656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Pharma-MT; high units, mid ASP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58155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20040" y="5532120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1787321" y="5532120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2704371" y="5532120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56k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3529717" y="5532120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₹304</a:t>
            </a:r>
            <a:endParaRPr lang="en-US" sz="720" dirty="0"/>
          </a:p>
        </p:txBody>
      </p:sp>
      <p:sp>
        <p:nvSpPr>
          <p:cNvPr id="59" name="Text 55"/>
          <p:cNvSpPr/>
          <p:nvPr/>
        </p:nvSpPr>
        <p:spPr>
          <a:xfrm>
            <a:off x="4355062" y="5532120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720" dirty="0"/>
          </a:p>
        </p:txBody>
      </p:sp>
      <p:sp>
        <p:nvSpPr>
          <p:cNvPr id="60" name="Text 56"/>
          <p:cNvSpPr/>
          <p:nvPr/>
        </p:nvSpPr>
        <p:spPr>
          <a:xfrm>
            <a:off x="5088702" y="5532120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ASP — premium portfolio, low volume</a:t>
            </a:r>
            <a:endParaRPr lang="en-US" sz="720" dirty="0"/>
          </a:p>
        </p:txBody>
      </p:sp>
      <p:sp>
        <p:nvSpPr>
          <p:cNvPr id="61" name="Shape 57"/>
          <p:cNvSpPr/>
          <p:nvPr/>
        </p:nvSpPr>
        <p:spPr>
          <a:xfrm>
            <a:off x="265176" y="5815584"/>
            <a:ext cx="6327648" cy="2834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2" name="Shape 58"/>
          <p:cNvSpPr/>
          <p:nvPr/>
        </p:nvSpPr>
        <p:spPr>
          <a:xfrm>
            <a:off x="265176" y="6099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20040" y="5815584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1787321" y="5815584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₹0.72</a:t>
            </a:r>
            <a:endParaRPr lang="en-US" sz="720" dirty="0"/>
          </a:p>
        </p:txBody>
      </p:sp>
      <p:sp>
        <p:nvSpPr>
          <p:cNvPr id="65" name="Text 61"/>
          <p:cNvSpPr/>
          <p:nvPr/>
        </p:nvSpPr>
        <p:spPr>
          <a:xfrm>
            <a:off x="2704371" y="5815584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</a:t>
            </a:r>
            <a:endParaRPr lang="en-US" sz="720" dirty="0"/>
          </a:p>
        </p:txBody>
      </p:sp>
      <p:sp>
        <p:nvSpPr>
          <p:cNvPr id="66" name="Text 62"/>
          <p:cNvSpPr/>
          <p:nvPr/>
        </p:nvSpPr>
        <p:spPr>
          <a:xfrm>
            <a:off x="3529717" y="5815584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₹225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4355062" y="5815584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5088702" y="5815584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Health-pharma format; growing TDC share</a:t>
            </a:r>
            <a:endParaRPr lang="en-US" sz="720" dirty="0"/>
          </a:p>
        </p:txBody>
      </p:sp>
      <p:sp>
        <p:nvSpPr>
          <p:cNvPr id="69" name="Shape 65"/>
          <p:cNvSpPr/>
          <p:nvPr/>
        </p:nvSpPr>
        <p:spPr>
          <a:xfrm>
            <a:off x="265176" y="63825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20040" y="6099048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H&amp;G</a:t>
            </a:r>
            <a:endParaRPr lang="en-US" sz="720" dirty="0"/>
          </a:p>
        </p:txBody>
      </p:sp>
      <p:sp>
        <p:nvSpPr>
          <p:cNvPr id="71" name="Text 67"/>
          <p:cNvSpPr/>
          <p:nvPr/>
        </p:nvSpPr>
        <p:spPr>
          <a:xfrm>
            <a:off x="1787321" y="6099048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₹0.51</a:t>
            </a:r>
            <a:endParaRPr lang="en-US" sz="720" dirty="0"/>
          </a:p>
        </p:txBody>
      </p:sp>
      <p:sp>
        <p:nvSpPr>
          <p:cNvPr id="72" name="Text 68"/>
          <p:cNvSpPr/>
          <p:nvPr/>
        </p:nvSpPr>
        <p:spPr>
          <a:xfrm>
            <a:off x="2704371" y="6099048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3529717" y="6099048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₹281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355062" y="6099048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088702" y="6099048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general trade; niche but high-value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6382512"/>
            <a:ext cx="6327648" cy="2834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7" name="Shape 73"/>
          <p:cNvSpPr/>
          <p:nvPr/>
        </p:nvSpPr>
        <p:spPr>
          <a:xfrm>
            <a:off x="265176" y="666597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320040" y="6382512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Cnc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1787321" y="6382512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2704371" y="6382512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720" dirty="0"/>
          </a:p>
        </p:txBody>
      </p:sp>
      <p:sp>
        <p:nvSpPr>
          <p:cNvPr id="81" name="Text 77"/>
          <p:cNvSpPr/>
          <p:nvPr/>
        </p:nvSpPr>
        <p:spPr>
          <a:xfrm>
            <a:off x="3529717" y="6382512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₹212</a:t>
            </a:r>
            <a:endParaRPr lang="en-US" sz="720" dirty="0"/>
          </a:p>
        </p:txBody>
      </p:sp>
      <p:sp>
        <p:nvSpPr>
          <p:cNvPr id="82" name="Text 78"/>
          <p:cNvSpPr/>
          <p:nvPr/>
        </p:nvSpPr>
        <p:spPr>
          <a:xfrm>
            <a:off x="4355062" y="6382512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720" dirty="0"/>
          </a:p>
        </p:txBody>
      </p:sp>
      <p:sp>
        <p:nvSpPr>
          <p:cNvPr id="83" name="Text 79"/>
          <p:cNvSpPr/>
          <p:nvPr/>
        </p:nvSpPr>
        <p:spPr>
          <a:xfrm>
            <a:off x="5088702" y="6382512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Cash-n-carry; bulk purchases</a:t>
            </a:r>
            <a:endParaRPr lang="en-US" sz="720" dirty="0"/>
          </a:p>
        </p:txBody>
      </p:sp>
      <p:sp>
        <p:nvSpPr>
          <p:cNvPr id="84" name="Shape 80"/>
          <p:cNvSpPr/>
          <p:nvPr/>
        </p:nvSpPr>
        <p:spPr>
          <a:xfrm>
            <a:off x="265176" y="6949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20040" y="6665976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Retail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1787321" y="6665976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₹0.41</a:t>
            </a:r>
            <a:endParaRPr lang="en-US" sz="720" dirty="0"/>
          </a:p>
        </p:txBody>
      </p:sp>
      <p:sp>
        <p:nvSpPr>
          <p:cNvPr id="87" name="Text 83"/>
          <p:cNvSpPr/>
          <p:nvPr/>
        </p:nvSpPr>
        <p:spPr>
          <a:xfrm>
            <a:off x="2704371" y="6665976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21k</a:t>
            </a:r>
            <a:endParaRPr lang="en-US" sz="720" dirty="0"/>
          </a:p>
        </p:txBody>
      </p:sp>
      <p:sp>
        <p:nvSpPr>
          <p:cNvPr id="88" name="Text 84"/>
          <p:cNvSpPr/>
          <p:nvPr/>
        </p:nvSpPr>
        <p:spPr>
          <a:xfrm>
            <a:off x="3529717" y="6665976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4355062" y="6665976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5088702" y="6665976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Emerging; South-2 heavy</a:t>
            </a:r>
            <a:endParaRPr lang="en-US" sz="720" dirty="0"/>
          </a:p>
        </p:txBody>
      </p:sp>
      <p:sp>
        <p:nvSpPr>
          <p:cNvPr id="91" name="Shape 87"/>
          <p:cNvSpPr/>
          <p:nvPr/>
        </p:nvSpPr>
        <p:spPr>
          <a:xfrm>
            <a:off x="265176" y="6949440"/>
            <a:ext cx="6327648" cy="28346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92" name="Shape 88"/>
          <p:cNvSpPr/>
          <p:nvPr/>
        </p:nvSpPr>
        <p:spPr>
          <a:xfrm>
            <a:off x="265176" y="7232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320040" y="6949440"/>
            <a:ext cx="135755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</a:t>
            </a:r>
            <a:endParaRPr lang="en-US" sz="720" dirty="0"/>
          </a:p>
        </p:txBody>
      </p:sp>
      <p:sp>
        <p:nvSpPr>
          <p:cNvPr id="94" name="Text 90"/>
          <p:cNvSpPr/>
          <p:nvPr/>
        </p:nvSpPr>
        <p:spPr>
          <a:xfrm>
            <a:off x="1787321" y="6949440"/>
            <a:ext cx="8073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720" dirty="0"/>
          </a:p>
        </p:txBody>
      </p:sp>
      <p:sp>
        <p:nvSpPr>
          <p:cNvPr id="95" name="Text 91"/>
          <p:cNvSpPr/>
          <p:nvPr/>
        </p:nvSpPr>
        <p:spPr>
          <a:xfrm>
            <a:off x="2704371" y="6949440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720" dirty="0"/>
          </a:p>
        </p:txBody>
      </p:sp>
      <p:sp>
        <p:nvSpPr>
          <p:cNvPr id="96" name="Text 92"/>
          <p:cNvSpPr/>
          <p:nvPr/>
        </p:nvSpPr>
        <p:spPr>
          <a:xfrm>
            <a:off x="3529717" y="6949440"/>
            <a:ext cx="7156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₹178</a:t>
            </a:r>
            <a:endParaRPr lang="en-US" sz="720" dirty="0"/>
          </a:p>
        </p:txBody>
      </p:sp>
      <p:sp>
        <p:nvSpPr>
          <p:cNvPr id="97" name="Text 93"/>
          <p:cNvSpPr/>
          <p:nvPr/>
        </p:nvSpPr>
        <p:spPr>
          <a:xfrm>
            <a:off x="4355062" y="6949440"/>
            <a:ext cx="62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720" dirty="0"/>
          </a:p>
        </p:txBody>
      </p:sp>
      <p:sp>
        <p:nvSpPr>
          <p:cNvPr id="98" name="Text 94"/>
          <p:cNvSpPr/>
          <p:nvPr/>
        </p:nvSpPr>
        <p:spPr>
          <a:xfrm>
            <a:off x="5088702" y="6949440"/>
            <a:ext cx="144925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Modern Trade; mid-market</a:t>
            </a:r>
            <a:endParaRPr lang="en-US" sz="720" dirty="0"/>
          </a:p>
        </p:txBody>
      </p:sp>
      <p:sp>
        <p:nvSpPr>
          <p:cNvPr id="99" name="Text 95"/>
          <p:cNvSpPr/>
          <p:nvPr/>
        </p:nvSpPr>
        <p:spPr>
          <a:xfrm>
            <a:off x="265176" y="73426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3 concentration: Dmart + Reliance + Apollo = ₹29.21 Cr = 81.1% of geo-MT NSV. Dmart alone is 38.8% — a single-account risk and an opportunity to push premium mix harder inside Dmart.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Mix — Mamaearth · The Derma Co. · Aqualogica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MT · NSV, units, share, ASP by brand and zone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135331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₹24.45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67.9% share · 1.44M units · ASP ₹170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398776" y="1261872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8776" y="1261872"/>
            <a:ext cx="64008" cy="841248"/>
          </a:xfrm>
          <a:prstGeom prst="rect">
            <a:avLst/>
          </a:prstGeom>
          <a:solidFill>
            <a:srgbClr val="28A596"/>
          </a:solidFill>
          <a:ln/>
        </p:spPr>
      </p:sp>
      <p:sp>
        <p:nvSpPr>
          <p:cNvPr id="27" name="Text 25"/>
          <p:cNvSpPr/>
          <p:nvPr/>
        </p:nvSpPr>
        <p:spPr>
          <a:xfrm>
            <a:off x="2554224" y="135331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54224" y="1536192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₹11.01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54224" y="1865376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 share · 585k units · ASP ₹188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32376" y="1261872"/>
            <a:ext cx="206044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2376" y="1261872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2" name="Text 30"/>
          <p:cNvSpPr/>
          <p:nvPr/>
        </p:nvSpPr>
        <p:spPr>
          <a:xfrm>
            <a:off x="4687824" y="1353312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687824" y="1536192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₹0.48 Cr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687824" y="1865376"/>
            <a:ext cx="18227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 share · 20.6k units · ASP ₹235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12848"/>
            <a:ext cx="34802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split by brand (₹ Cr)</a:t>
            </a:r>
            <a:endParaRPr lang="en-US" sz="72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265176" y="2414016"/>
          <a:ext cx="3480206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3871935" y="2212848"/>
            <a:ext cx="27208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 vs Unit share (divergence = ASP gap)</a:t>
            </a:r>
            <a:endParaRPr lang="en-US" sz="720" dirty="0"/>
          </a:p>
        </p:txBody>
      </p:sp>
      <p:graphicFrame>
        <p:nvGraphicFramePr>
          <p:cNvPr id="38" name="Chart 1" descr=""/>
          <p:cNvGraphicFramePr/>
          <p:nvPr/>
        </p:nvGraphicFramePr>
        <p:xfrm>
          <a:off x="3871935" y="2414016"/>
          <a:ext cx="2720889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 35"/>
          <p:cNvSpPr/>
          <p:nvPr/>
        </p:nvSpPr>
        <p:spPr>
          <a:xfrm>
            <a:off x="265176" y="3931920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NSV share (30.6%) &gt; unit share (28.5%) → TDC is above-average ASP. Mamaearth NSV share (67.9%) &lt; unit share (70.2%) → Mamaearth is below-average ASP. Aqualogica ASP ₹235 is the highest — premium positioning confirmed.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265176" y="4279392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41" name="Text 37"/>
          <p:cNvSpPr/>
          <p:nvPr/>
        </p:nvSpPr>
        <p:spPr>
          <a:xfrm>
            <a:off x="393192" y="429768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ZONE OFFTAKE MATRIX (₹ Cr)</a:t>
            </a:r>
            <a:endParaRPr lang="en-US" sz="720" dirty="0"/>
          </a:p>
        </p:txBody>
      </p:sp>
      <p:sp>
        <p:nvSpPr>
          <p:cNvPr id="42" name="Shape 38"/>
          <p:cNvSpPr/>
          <p:nvPr/>
        </p:nvSpPr>
        <p:spPr>
          <a:xfrm>
            <a:off x="265176" y="45902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43" name="Text 39"/>
          <p:cNvSpPr/>
          <p:nvPr/>
        </p:nvSpPr>
        <p:spPr>
          <a:xfrm>
            <a:off x="320040" y="4608576"/>
            <a:ext cx="11261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4" name="Text 40"/>
          <p:cNvSpPr/>
          <p:nvPr/>
        </p:nvSpPr>
        <p:spPr>
          <a:xfrm>
            <a:off x="1555909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2280952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3005995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3731038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4456081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5181124" y="4608576"/>
            <a:ext cx="6153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5906167" y="4608576"/>
            <a:ext cx="6317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60" dirty="0"/>
          </a:p>
        </p:txBody>
      </p:sp>
      <p:sp>
        <p:nvSpPr>
          <p:cNvPr id="51" name="Shape 47"/>
          <p:cNvSpPr/>
          <p:nvPr/>
        </p:nvSpPr>
        <p:spPr>
          <a:xfrm>
            <a:off x="265176" y="48463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2" name="Shape 48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20040" y="4846320"/>
            <a:ext cx="11261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54" name="Text 50"/>
          <p:cNvSpPr/>
          <p:nvPr/>
        </p:nvSpPr>
        <p:spPr>
          <a:xfrm>
            <a:off x="1555909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₹4.96</a:t>
            </a:r>
            <a:endParaRPr lang="en-US" sz="720" dirty="0"/>
          </a:p>
        </p:txBody>
      </p:sp>
      <p:sp>
        <p:nvSpPr>
          <p:cNvPr id="55" name="Text 51"/>
          <p:cNvSpPr/>
          <p:nvPr/>
        </p:nvSpPr>
        <p:spPr>
          <a:xfrm>
            <a:off x="2280952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₹5.24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3005995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₹4.73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3731038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₹3.7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4456081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₹2.91</a:t>
            </a:r>
            <a:endParaRPr lang="en-US" sz="720" dirty="0"/>
          </a:p>
        </p:txBody>
      </p:sp>
      <p:sp>
        <p:nvSpPr>
          <p:cNvPr id="59" name="Text 55"/>
          <p:cNvSpPr/>
          <p:nvPr/>
        </p:nvSpPr>
        <p:spPr>
          <a:xfrm>
            <a:off x="5181124" y="4846320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₹1.25</a:t>
            </a:r>
            <a:endParaRPr lang="en-US" sz="720" dirty="0"/>
          </a:p>
        </p:txBody>
      </p:sp>
      <p:sp>
        <p:nvSpPr>
          <p:cNvPr id="60" name="Text 56"/>
          <p:cNvSpPr/>
          <p:nvPr/>
        </p:nvSpPr>
        <p:spPr>
          <a:xfrm>
            <a:off x="5906167" y="4846320"/>
            <a:ext cx="6317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₹24.45</a:t>
            </a:r>
            <a:endParaRPr lang="en-US" sz="720" dirty="0"/>
          </a:p>
        </p:txBody>
      </p:sp>
      <p:sp>
        <p:nvSpPr>
          <p:cNvPr id="61" name="Shape 57"/>
          <p:cNvSpPr/>
          <p:nvPr/>
        </p:nvSpPr>
        <p:spPr>
          <a:xfrm>
            <a:off x="265176" y="54681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320040" y="5157216"/>
            <a:ext cx="11261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1555909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₹3.23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2280952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₹2.76</a:t>
            </a:r>
            <a:endParaRPr lang="en-US" sz="720" dirty="0"/>
          </a:p>
        </p:txBody>
      </p:sp>
      <p:sp>
        <p:nvSpPr>
          <p:cNvPr id="65" name="Text 61"/>
          <p:cNvSpPr/>
          <p:nvPr/>
        </p:nvSpPr>
        <p:spPr>
          <a:xfrm>
            <a:off x="3005995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₹2.11</a:t>
            </a:r>
            <a:endParaRPr lang="en-US" sz="720" dirty="0"/>
          </a:p>
        </p:txBody>
      </p:sp>
      <p:sp>
        <p:nvSpPr>
          <p:cNvPr id="66" name="Text 62"/>
          <p:cNvSpPr/>
          <p:nvPr/>
        </p:nvSpPr>
        <p:spPr>
          <a:xfrm>
            <a:off x="3731038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₹1.11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4456081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5181124" y="5157216"/>
            <a:ext cx="6153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₹0.82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906167" y="5157216"/>
            <a:ext cx="6317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₹11.01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5577840"/>
            <a:ext cx="6327648" cy="237744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71" name="Text 67"/>
          <p:cNvSpPr/>
          <p:nvPr/>
        </p:nvSpPr>
        <p:spPr>
          <a:xfrm>
            <a:off x="393192" y="5596128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BRAND INSIGHTS</a:t>
            </a:r>
            <a:endParaRPr lang="en-US" sz="720" dirty="0"/>
          </a:p>
        </p:txBody>
      </p:sp>
      <p:sp>
        <p:nvSpPr>
          <p:cNvPr id="72" name="Shape 68"/>
          <p:cNvSpPr/>
          <p:nvPr/>
        </p:nvSpPr>
        <p:spPr>
          <a:xfrm>
            <a:off x="356616" y="599389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73" name="Text 69"/>
          <p:cNvSpPr/>
          <p:nvPr/>
        </p:nvSpPr>
        <p:spPr>
          <a:xfrm>
            <a:off x="475488" y="5943600"/>
            <a:ext cx="602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Mamaearth's strongest zone (₹4.96 Cr, 20.3% of MEA) but lowest ASP. Push premium pack mix in Dmart-West.</a:t>
            </a:r>
            <a:endParaRPr lang="en-US" sz="740" dirty="0"/>
          </a:p>
        </p:txBody>
      </p:sp>
      <p:sp>
        <p:nvSpPr>
          <p:cNvPr id="74" name="Shape 70"/>
          <p:cNvSpPr/>
          <p:nvPr/>
        </p:nvSpPr>
        <p:spPr>
          <a:xfrm>
            <a:off x="356616" y="63413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75" name="Text 71"/>
          <p:cNvSpPr/>
          <p:nvPr/>
        </p:nvSpPr>
        <p:spPr>
          <a:xfrm>
            <a:off x="475488" y="6291072"/>
            <a:ext cx="602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is TDC's best zone (₹2.76 Cr) — Apollo and Wellness Forever drive pharmacy-format premium pull.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356616" y="66888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77" name="Text 73"/>
          <p:cNvSpPr/>
          <p:nvPr/>
        </p:nvSpPr>
        <p:spPr>
          <a:xfrm>
            <a:off x="475488" y="6638544"/>
            <a:ext cx="602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— TDC underweight vs MEA in absolute terms (₹0.60 Cr vs ₹2.91 Cr). Brand share gap is the East story.</a:t>
            </a:r>
            <a:endParaRPr lang="en-US" sz="740" dirty="0"/>
          </a:p>
        </p:txBody>
      </p:sp>
      <p:sp>
        <p:nvSpPr>
          <p:cNvPr id="78" name="Shape 74"/>
          <p:cNvSpPr/>
          <p:nvPr/>
        </p:nvSpPr>
        <p:spPr>
          <a:xfrm>
            <a:off x="356616" y="703630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</p:sp>
      <p:sp>
        <p:nvSpPr>
          <p:cNvPr id="79" name="Text 75"/>
          <p:cNvSpPr/>
          <p:nvPr/>
        </p:nvSpPr>
        <p:spPr>
          <a:xfrm>
            <a:off x="475488" y="6986016"/>
            <a:ext cx="602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TDC ₹0.82 Cr is not small relative to zone scale — TDC share in Central is 38.7% vs 30.6% national (healthy premium tilt).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Category &amp; Sub-Category Performance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/ Hair / Body / Baby split · Geographic MT · Offtake data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₹24.07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 · 1.45M units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69948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9948" y="1261872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27" name="Text 25"/>
          <p:cNvSpPr/>
          <p:nvPr/>
        </p:nvSpPr>
        <p:spPr>
          <a:xfrm>
            <a:off x="2025396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5396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5396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 · 337k units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74720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1261872"/>
            <a:ext cx="64008" cy="841248"/>
          </a:xfrm>
          <a:prstGeom prst="rect">
            <a:avLst/>
          </a:prstGeom>
          <a:solidFill>
            <a:srgbClr val="28A596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0168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0168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· 125k units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79492" y="1261872"/>
            <a:ext cx="151333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9492" y="1261872"/>
            <a:ext cx="64008" cy="84124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37" name="Text 35"/>
          <p:cNvSpPr/>
          <p:nvPr/>
        </p:nvSpPr>
        <p:spPr>
          <a:xfrm>
            <a:off x="5234940" y="1353312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34940" y="1536192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₹1.91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34940" y="1865376"/>
            <a:ext cx="12755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 · 134k units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65176" y="221284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NSV (₹ Cr)</a:t>
            </a:r>
            <a:endParaRPr lang="en-US" sz="72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265176" y="2414016"/>
          <a:ext cx="3163824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Text 39"/>
          <p:cNvSpPr/>
          <p:nvPr/>
        </p:nvSpPr>
        <p:spPr>
          <a:xfrm>
            <a:off x="3555553" y="2212848"/>
            <a:ext cx="30372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unit share (%)</a:t>
            </a:r>
            <a:endParaRPr lang="en-US" sz="72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3555553" y="2414016"/>
          <a:ext cx="3037271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Shape 40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45" name="Text 41"/>
          <p:cNvSpPr/>
          <p:nvPr/>
        </p:nvSpPr>
        <p:spPr>
          <a:xfrm>
            <a:off x="320040" y="5010912"/>
            <a:ext cx="95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1388344" y="5010912"/>
            <a:ext cx="71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(₹ Cr)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2210117" y="5010912"/>
            <a:ext cx="7120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3031889" y="5010912"/>
            <a:ext cx="629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3771484" y="5010912"/>
            <a:ext cx="629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SHARE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4511080" y="5010912"/>
            <a:ext cx="20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60" dirty="0"/>
          </a:p>
        </p:txBody>
      </p:sp>
      <p:sp>
        <p:nvSpPr>
          <p:cNvPr id="51" name="Shape 47"/>
          <p:cNvSpPr/>
          <p:nvPr/>
        </p:nvSpPr>
        <p:spPr>
          <a:xfrm>
            <a:off x="265176" y="524865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2" name="Shape 48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20040" y="5248656"/>
            <a:ext cx="95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720" dirty="0"/>
          </a:p>
        </p:txBody>
      </p:sp>
      <p:sp>
        <p:nvSpPr>
          <p:cNvPr id="54" name="Text 50"/>
          <p:cNvSpPr/>
          <p:nvPr/>
        </p:nvSpPr>
        <p:spPr>
          <a:xfrm>
            <a:off x="1388344" y="5248656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₹24.07</a:t>
            </a:r>
            <a:endParaRPr lang="en-US" sz="720" dirty="0"/>
          </a:p>
        </p:txBody>
      </p:sp>
      <p:sp>
        <p:nvSpPr>
          <p:cNvPr id="55" name="Text 51"/>
          <p:cNvSpPr/>
          <p:nvPr/>
        </p:nvSpPr>
        <p:spPr>
          <a:xfrm>
            <a:off x="2210117" y="5248656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1,451k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3031889" y="5248656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3771484" y="5248656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4511080" y="5248656"/>
            <a:ext cx="20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 &lt; unit share → below-portfolio ASP. Mix opportunity: push premium face SKUs.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59436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320040" y="5596128"/>
            <a:ext cx="95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</a:t>
            </a:r>
            <a:endParaRPr lang="en-US" sz="720" dirty="0"/>
          </a:p>
        </p:txBody>
      </p:sp>
      <p:sp>
        <p:nvSpPr>
          <p:cNvPr id="61" name="Text 57"/>
          <p:cNvSpPr/>
          <p:nvPr/>
        </p:nvSpPr>
        <p:spPr>
          <a:xfrm>
            <a:off x="1388344" y="5596128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₹7.87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2210117" y="5596128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337k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3031889" y="5596128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3771484" y="5596128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720" dirty="0"/>
          </a:p>
        </p:txBody>
      </p:sp>
      <p:sp>
        <p:nvSpPr>
          <p:cNvPr id="65" name="Text 61"/>
          <p:cNvSpPr/>
          <p:nvPr/>
        </p:nvSpPr>
        <p:spPr>
          <a:xfrm>
            <a:off x="4511080" y="5596128"/>
            <a:ext cx="20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 &gt; unit share → Hair ASP is above portfolio average. Premium positioning holding.</a:t>
            </a:r>
            <a:endParaRPr lang="en-US" sz="720" dirty="0"/>
          </a:p>
        </p:txBody>
      </p:sp>
      <p:sp>
        <p:nvSpPr>
          <p:cNvPr id="66" name="Shape 62"/>
          <p:cNvSpPr/>
          <p:nvPr/>
        </p:nvSpPr>
        <p:spPr>
          <a:xfrm>
            <a:off x="265176" y="594360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7" name="Shape 63"/>
          <p:cNvSpPr/>
          <p:nvPr/>
        </p:nvSpPr>
        <p:spPr>
          <a:xfrm>
            <a:off x="265176" y="62910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20040" y="5943600"/>
            <a:ext cx="95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1388344" y="5943600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₹2.08</a:t>
            </a:r>
            <a:endParaRPr lang="en-US" sz="720" dirty="0"/>
          </a:p>
        </p:txBody>
      </p:sp>
      <p:sp>
        <p:nvSpPr>
          <p:cNvPr id="70" name="Text 66"/>
          <p:cNvSpPr/>
          <p:nvPr/>
        </p:nvSpPr>
        <p:spPr>
          <a:xfrm>
            <a:off x="2210117" y="5943600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</a:t>
            </a:r>
            <a:endParaRPr lang="en-US" sz="720" dirty="0"/>
          </a:p>
        </p:txBody>
      </p:sp>
      <p:sp>
        <p:nvSpPr>
          <p:cNvPr id="71" name="Text 67"/>
          <p:cNvSpPr/>
          <p:nvPr/>
        </p:nvSpPr>
        <p:spPr>
          <a:xfrm>
            <a:off x="3031889" y="5943600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720" dirty="0"/>
          </a:p>
        </p:txBody>
      </p:sp>
      <p:sp>
        <p:nvSpPr>
          <p:cNvPr id="72" name="Text 68"/>
          <p:cNvSpPr/>
          <p:nvPr/>
        </p:nvSpPr>
        <p:spPr>
          <a:xfrm>
            <a:off x="3771484" y="5943600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4511080" y="5943600"/>
            <a:ext cx="20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Broadly in line. Monitor Body Care growth in South-1 (Apollo / Wellness).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6638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320040" y="6291072"/>
            <a:ext cx="95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</a:t>
            </a:r>
            <a:endParaRPr lang="en-US" sz="720" dirty="0"/>
          </a:p>
        </p:txBody>
      </p:sp>
      <p:sp>
        <p:nvSpPr>
          <p:cNvPr id="76" name="Text 72"/>
          <p:cNvSpPr/>
          <p:nvPr/>
        </p:nvSpPr>
        <p:spPr>
          <a:xfrm>
            <a:off x="1388344" y="6291072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₹1.91</a:t>
            </a:r>
            <a:endParaRPr lang="en-US" sz="720" dirty="0"/>
          </a:p>
        </p:txBody>
      </p:sp>
      <p:sp>
        <p:nvSpPr>
          <p:cNvPr id="77" name="Text 73"/>
          <p:cNvSpPr/>
          <p:nvPr/>
        </p:nvSpPr>
        <p:spPr>
          <a:xfrm>
            <a:off x="2210117" y="6291072"/>
            <a:ext cx="7120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134k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3031889" y="6291072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3771484" y="6291072"/>
            <a:ext cx="629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4511080" y="6291072"/>
            <a:ext cx="20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share &lt; unit share → Baby packs are low-ASP. Category health, not a concern at 5.3%.</a:t>
            </a:r>
            <a:endParaRPr lang="en-US" sz="720" dirty="0"/>
          </a:p>
        </p:txBody>
      </p:sp>
      <p:sp>
        <p:nvSpPr>
          <p:cNvPr id="81" name="Text 77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dominates volume and NSV but trades below Hair on ASP — within-Face premium mix (serum, sunscreen, TDC face) is the lever. Hair is the ASP champion: 16% of units, 22% of NSV.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Sub-Channel View — eB2B (Nykaa/FSN) and SIS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accounts are in total MT NSV but excluded from geographic zone rollup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3090672" cy="5303520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3090672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12801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— NYKAA / FSN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6616" y="1627632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" y="1627632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171907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NSV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12064" y="19019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12064" y="2231136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155,142 units sold through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56616" y="2560320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" y="2560320"/>
            <a:ext cx="64008" cy="841248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2651760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512064" y="283464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₹133.19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512064" y="316382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 below geo-MT avg (₹175.76)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356616" y="3493008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" y="3493008"/>
            <a:ext cx="64008" cy="841248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3584448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512064" y="376732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57.4%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512064" y="409651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geo-MT — lower MRP base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411480" y="445770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40740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ASP is lower because Nykaa lists at competitive MRP; NSV after platform fees = ₹133 vs geo ₹176.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11480" y="486003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480974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realisation % is structural: MRP on platform is lower, so NSV/MRP ratio improves. Do not benchmark against geo-MT realisation.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411480" y="5262372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52120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5.7% of MT NSV. No primary data in offtake source — cannot compute eB2B conversion from offtake-only view.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502152" y="1261872"/>
            <a:ext cx="3090672" cy="5303520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02152" y="126187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46" name="Text 44"/>
          <p:cNvSpPr/>
          <p:nvPr/>
        </p:nvSpPr>
        <p:spPr>
          <a:xfrm>
            <a:off x="3584448" y="12801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— SHOP-IN-SHOP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93592" y="1627632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93592" y="1627632"/>
            <a:ext cx="64008" cy="84124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171907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NSV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3749040" y="19019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₹0.03 Cr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3749040" y="2231136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1,506 units · Azorte + SS + Lifestyle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3593592" y="2560320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93592" y="2560320"/>
            <a:ext cx="64008" cy="84124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54" name="Text 52"/>
          <p:cNvSpPr/>
          <p:nvPr/>
        </p:nvSpPr>
        <p:spPr>
          <a:xfrm>
            <a:off x="3749040" y="2651760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3749040" y="283464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₹225.85</a:t>
            </a:r>
            <a:endParaRPr lang="en-US" sz="1750" dirty="0"/>
          </a:p>
        </p:txBody>
      </p:sp>
      <p:sp>
        <p:nvSpPr>
          <p:cNvPr id="56" name="Text 54"/>
          <p:cNvSpPr/>
          <p:nvPr/>
        </p:nvSpPr>
        <p:spPr>
          <a:xfrm>
            <a:off x="3749040" y="3163824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ASP in MT (premium shop formats)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3593592" y="3493008"/>
            <a:ext cx="2907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93592" y="3493008"/>
            <a:ext cx="64008" cy="841248"/>
          </a:xfrm>
          <a:prstGeom prst="rect">
            <a:avLst/>
          </a:prstGeom>
          <a:solidFill>
            <a:srgbClr val="5F716E"/>
          </a:solidFill>
          <a:ln/>
        </p:spPr>
      </p:sp>
      <p:sp>
        <p:nvSpPr>
          <p:cNvPr id="59" name="Text 57"/>
          <p:cNvSpPr/>
          <p:nvPr/>
        </p:nvSpPr>
        <p:spPr>
          <a:xfrm>
            <a:off x="3749040" y="3584448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3749040" y="376732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Rounding</a:t>
            </a:r>
            <a:endParaRPr lang="en-US" sz="1550" dirty="0"/>
          </a:p>
        </p:txBody>
      </p:sp>
      <p:sp>
        <p:nvSpPr>
          <p:cNvPr id="61" name="Text 59"/>
          <p:cNvSpPr/>
          <p:nvPr/>
        </p:nvSpPr>
        <p:spPr>
          <a:xfrm>
            <a:off x="3749040" y="4096512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 = directional only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3648456" y="44577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3" name="Text 61"/>
          <p:cNvSpPr/>
          <p:nvPr/>
        </p:nvSpPr>
        <p:spPr>
          <a:xfrm>
            <a:off x="3767328" y="440740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formats (Azorte, Shoppers Stop, Broadway, Lifestyle, Today's Basket) sell premium — ASP ₹226 is the highest in MT.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3648456" y="48600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5" name="Text 63"/>
          <p:cNvSpPr/>
          <p:nvPr/>
        </p:nvSpPr>
        <p:spPr>
          <a:xfrm>
            <a:off x="3767328" y="480974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negligible in July (1,506 units). Treat as channel-presence data, not performance data, at this scale.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3648456" y="52623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7" name="Text 65"/>
          <p:cNvSpPr/>
          <p:nvPr/>
        </p:nvSpPr>
        <p:spPr>
          <a:xfrm>
            <a:off x="3767328" y="52120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measurement may differ from retailer POS — the ₹0.03 Cr likely under-reports actual throughput.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265176" y="6711696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69" name="Text 67"/>
          <p:cNvSpPr/>
          <p:nvPr/>
        </p:nvSpPr>
        <p:spPr>
          <a:xfrm>
            <a:off x="393192" y="672998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ARCHITECTURE — WHAT IS AND IS NOT IN WHICH NUMBER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702259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71" name="Text 69"/>
          <p:cNvSpPr/>
          <p:nvPr/>
        </p:nvSpPr>
        <p:spPr>
          <a:xfrm>
            <a:off x="320040" y="7040880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660" dirty="0"/>
          </a:p>
        </p:txBody>
      </p:sp>
      <p:sp>
        <p:nvSpPr>
          <p:cNvPr id="72" name="Text 70"/>
          <p:cNvSpPr/>
          <p:nvPr/>
        </p:nvSpPr>
        <p:spPr>
          <a:xfrm>
            <a:off x="2127939" y="7040880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GEO-MT ZONES</a:t>
            </a:r>
            <a:endParaRPr lang="en-US" sz="660" dirty="0"/>
          </a:p>
        </p:txBody>
      </p:sp>
      <p:sp>
        <p:nvSpPr>
          <p:cNvPr id="73" name="Text 71"/>
          <p:cNvSpPr/>
          <p:nvPr/>
        </p:nvSpPr>
        <p:spPr>
          <a:xfrm>
            <a:off x="3360598" y="704088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</a:t>
            </a:r>
            <a:endParaRPr lang="en-US" sz="660" dirty="0"/>
          </a:p>
        </p:txBody>
      </p:sp>
      <p:sp>
        <p:nvSpPr>
          <p:cNvPr id="74" name="Text 72"/>
          <p:cNvSpPr/>
          <p:nvPr/>
        </p:nvSpPr>
        <p:spPr>
          <a:xfrm>
            <a:off x="4346725" y="704088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660" dirty="0"/>
          </a:p>
        </p:txBody>
      </p:sp>
      <p:sp>
        <p:nvSpPr>
          <p:cNvPr id="75" name="Text 73"/>
          <p:cNvSpPr/>
          <p:nvPr/>
        </p:nvSpPr>
        <p:spPr>
          <a:xfrm>
            <a:off x="5332852" y="7040880"/>
            <a:ext cx="1205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265176" y="727862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7" name="Shape 75"/>
          <p:cNvSpPr/>
          <p:nvPr/>
        </p:nvSpPr>
        <p:spPr>
          <a:xfrm>
            <a:off x="265176" y="75895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7278624"/>
            <a:ext cx="1698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 NSV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2127939" y="72786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₹33.95 Cr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360598" y="72786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346725" y="72786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332852" y="7278624"/>
            <a:ext cx="1205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₹36.05 Cr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79004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7589520"/>
            <a:ext cx="1698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zone rollup?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2127939" y="75895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3360598" y="75895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4346725" y="75895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5332852" y="7589520"/>
            <a:ext cx="1205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265176" y="790041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90" name="Shape 88"/>
          <p:cNvSpPr/>
          <p:nvPr/>
        </p:nvSpPr>
        <p:spPr>
          <a:xfrm>
            <a:off x="265176" y="82113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7900416"/>
            <a:ext cx="1698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2127939" y="79004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₹175.72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3360598" y="79004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₹133.19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4346725" y="79004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₹225.85</a:t>
            </a:r>
            <a:endParaRPr lang="en-US" sz="720" dirty="0"/>
          </a:p>
        </p:txBody>
      </p:sp>
      <p:sp>
        <p:nvSpPr>
          <p:cNvPr id="95" name="Text 93"/>
          <p:cNvSpPr/>
          <p:nvPr/>
        </p:nvSpPr>
        <p:spPr>
          <a:xfrm>
            <a:off x="5332852" y="7900416"/>
            <a:ext cx="1205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₹175.76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265176" y="8522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0040" y="8211312"/>
            <a:ext cx="1698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720" dirty="0"/>
          </a:p>
        </p:txBody>
      </p:sp>
      <p:sp>
        <p:nvSpPr>
          <p:cNvPr id="98" name="Text 96"/>
          <p:cNvSpPr/>
          <p:nvPr/>
        </p:nvSpPr>
        <p:spPr>
          <a:xfrm>
            <a:off x="2127939" y="82113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41.1–43.0%</a:t>
            </a:r>
            <a:endParaRPr lang="en-US" sz="720" dirty="0"/>
          </a:p>
        </p:txBody>
      </p:sp>
      <p:sp>
        <p:nvSpPr>
          <p:cNvPr id="99" name="Text 97"/>
          <p:cNvSpPr/>
          <p:nvPr/>
        </p:nvSpPr>
        <p:spPr>
          <a:xfrm>
            <a:off x="3360598" y="82113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</a:t>
            </a:r>
            <a:endParaRPr lang="en-US" sz="720" dirty="0"/>
          </a:p>
        </p:txBody>
      </p:sp>
      <p:sp>
        <p:nvSpPr>
          <p:cNvPr id="100" name="Text 98"/>
          <p:cNvSpPr/>
          <p:nvPr/>
        </p:nvSpPr>
        <p:spPr>
          <a:xfrm>
            <a:off x="4346725" y="82113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720" dirty="0"/>
          </a:p>
        </p:txBody>
      </p:sp>
      <p:sp>
        <p:nvSpPr>
          <p:cNvPr id="101" name="Text 99"/>
          <p:cNvSpPr/>
          <p:nvPr/>
        </p:nvSpPr>
        <p:spPr>
          <a:xfrm>
            <a:off x="5332852" y="8211312"/>
            <a:ext cx="1205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Realisation Analysis — NSV ÷ MRP Value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shelf value reaches us as revenue · 42.8% national · zone spread 41–43%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3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% by zone (geographic MT)</a:t>
            </a:r>
            <a:endParaRPr lang="en-US" sz="72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65176" y="1463040"/>
          <a:ext cx="63276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328416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3" name="Text 20"/>
          <p:cNvSpPr/>
          <p:nvPr/>
        </p:nvSpPr>
        <p:spPr>
          <a:xfrm>
            <a:off x="393192" y="334670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REALISATION MEASURES AND HOW TO DIAGNOSE IT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265176" y="3639312"/>
            <a:ext cx="3090672" cy="3291840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5176" y="3639312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6" name="Text 23"/>
          <p:cNvSpPr/>
          <p:nvPr/>
        </p:nvSpPr>
        <p:spPr>
          <a:xfrm>
            <a:off x="347472" y="3657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56616" y="4055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" y="40050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= NSV ÷ (Units × MRP per unit)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356616" y="45125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4622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measures: how much of the sticker price we collect after all discounts, trade schemes, and deductions.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356616" y="49697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</p:sp>
      <p:sp>
        <p:nvSpPr>
          <p:cNvPr id="32" name="Text 29"/>
          <p:cNvSpPr/>
          <p:nvPr/>
        </p:nvSpPr>
        <p:spPr>
          <a:xfrm>
            <a:off x="475488" y="49194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National: ₹36.06 Cr NSV ÷ ₹84.16 Cr MRP sales = 42.8%.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356616" y="54269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4" name="Text 31"/>
          <p:cNvSpPr/>
          <p:nvPr/>
        </p:nvSpPr>
        <p:spPr>
          <a:xfrm>
            <a:off x="475488" y="5376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realisation drops 100 bps (0.84 Cr) with flat MRP, it means ₹0.84 Cr more in trade deductions — investigate scheme structure.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356616" y="58841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36" name="Text 33"/>
          <p:cNvSpPr/>
          <p:nvPr/>
        </p:nvSpPr>
        <p:spPr>
          <a:xfrm>
            <a:off x="475488" y="58338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has best geo-MT realisation (43.0%). Central is lowest (41.1%) — watch for markdown creep.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3502152" y="3639312"/>
            <a:ext cx="3090672" cy="3291840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02152" y="3639312"/>
            <a:ext cx="3090672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39" name="Text 36"/>
          <p:cNvSpPr/>
          <p:nvPr/>
        </p:nvSpPr>
        <p:spPr>
          <a:xfrm>
            <a:off x="3584448" y="3657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DIAGNOSE A DIP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3593592" y="405536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1" name="Text 38"/>
          <p:cNvSpPr/>
          <p:nvPr/>
        </p:nvSpPr>
        <p:spPr>
          <a:xfrm>
            <a:off x="3712464" y="40050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Is it one zone or all zones? If all zones dip together = national scheme change.</a:t>
            </a:r>
            <a:endParaRPr lang="en-US" sz="760" dirty="0"/>
          </a:p>
        </p:txBody>
      </p:sp>
      <p:sp>
        <p:nvSpPr>
          <p:cNvPr id="42" name="Shape 39"/>
          <p:cNvSpPr/>
          <p:nvPr/>
        </p:nvSpPr>
        <p:spPr>
          <a:xfrm>
            <a:off x="3593592" y="451256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3" name="Text 40"/>
          <p:cNvSpPr/>
          <p:nvPr/>
        </p:nvSpPr>
        <p:spPr>
          <a:xfrm>
            <a:off x="3712464" y="44622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Is it one chain? Dmart low-ASP packs drag geo-MT realisation; Apollo high-margin pulls it up.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3593592" y="496976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5" name="Text 42"/>
          <p:cNvSpPr/>
          <p:nvPr/>
        </p:nvSpPr>
        <p:spPr>
          <a:xfrm>
            <a:off x="3712464" y="49194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Is it one brand? TDC realisation &gt; Mamaearth realisation (higher ASP, fewer discount packs).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>
            <a:off x="3593592" y="542696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47" name="Text 44"/>
          <p:cNvSpPr/>
          <p:nvPr/>
        </p:nvSpPr>
        <p:spPr>
          <a:xfrm>
            <a:off x="3712464" y="5376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Did MRP stay flat or rise? Rising MRP without rising NSV = discount deepened.</a:t>
            </a:r>
            <a:endParaRPr lang="en-US" sz="760" dirty="0"/>
          </a:p>
        </p:txBody>
      </p:sp>
      <p:sp>
        <p:nvSpPr>
          <p:cNvPr id="48" name="Shape 45"/>
          <p:cNvSpPr/>
          <p:nvPr/>
        </p:nvSpPr>
        <p:spPr>
          <a:xfrm>
            <a:off x="3593592" y="58841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49" name="Text 46"/>
          <p:cNvSpPr/>
          <p:nvPr/>
        </p:nvSpPr>
        <p:spPr>
          <a:xfrm>
            <a:off x="3712464" y="58338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for action: if realisation drops &gt;50 bps month-on-month in any single zone — escalate for trade-scheme review.</a:t>
            </a:r>
            <a:endParaRPr lang="en-US" sz="760" dirty="0"/>
          </a:p>
        </p:txBody>
      </p:sp>
      <p:sp>
        <p:nvSpPr>
          <p:cNvPr id="50" name="Shape 47"/>
          <p:cNvSpPr/>
          <p:nvPr/>
        </p:nvSpPr>
        <p:spPr>
          <a:xfrm>
            <a:off x="265176" y="7077456"/>
            <a:ext cx="6327648" cy="237744"/>
          </a:xfrm>
          <a:prstGeom prst="rect">
            <a:avLst/>
          </a:prstGeom>
          <a:solidFill>
            <a:srgbClr val="28A596"/>
          </a:solidFill>
          <a:ln/>
        </p:spPr>
      </p:sp>
      <p:sp>
        <p:nvSpPr>
          <p:cNvPr id="51" name="Text 48"/>
          <p:cNvSpPr/>
          <p:nvPr/>
        </p:nvSpPr>
        <p:spPr>
          <a:xfrm>
            <a:off x="393192" y="709574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Apr → May → Jul REALISATION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265176" y="7388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53" name="Text 50"/>
          <p:cNvSpPr/>
          <p:nvPr/>
        </p:nvSpPr>
        <p:spPr>
          <a:xfrm>
            <a:off x="320040" y="740664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1306167" y="740664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(₹ Cr)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2292294" y="740664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(₹ Cr)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3278421" y="7406640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4264548" y="7406640"/>
            <a:ext cx="10407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PREV MONTH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5415029" y="7406640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660" dirty="0"/>
          </a:p>
        </p:txBody>
      </p:sp>
      <p:sp>
        <p:nvSpPr>
          <p:cNvPr id="59" name="Shape 56"/>
          <p:cNvSpPr/>
          <p:nvPr/>
        </p:nvSpPr>
        <p:spPr>
          <a:xfrm>
            <a:off x="265176" y="764438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0" name="Shape 57"/>
          <p:cNvSpPr/>
          <p:nvPr/>
        </p:nvSpPr>
        <p:spPr>
          <a:xfrm>
            <a:off x="265176" y="79369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20040" y="7644384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1306167" y="7644384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₹35.88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2292294" y="7644384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₹84.6 (est)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3278421" y="7644384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4264548" y="7644384"/>
            <a:ext cx="1040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5415029" y="7644384"/>
            <a:ext cx="1122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20" dirty="0"/>
          </a:p>
        </p:txBody>
      </p:sp>
      <p:sp>
        <p:nvSpPr>
          <p:cNvPr id="67" name="Shape 64"/>
          <p:cNvSpPr/>
          <p:nvPr/>
        </p:nvSpPr>
        <p:spPr>
          <a:xfrm>
            <a:off x="265176" y="82296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7936992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1306167" y="7936992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₹40.19</a:t>
            </a:r>
            <a:endParaRPr lang="en-US" sz="720" dirty="0"/>
          </a:p>
        </p:txBody>
      </p:sp>
      <p:sp>
        <p:nvSpPr>
          <p:cNvPr id="70" name="Text 67"/>
          <p:cNvSpPr/>
          <p:nvPr/>
        </p:nvSpPr>
        <p:spPr>
          <a:xfrm>
            <a:off x="2292294" y="7936992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₹95.1 (est)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3278421" y="7936992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42.3%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4264548" y="7936992"/>
            <a:ext cx="1040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 pp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5415029" y="7936992"/>
            <a:ext cx="1122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slip — within tolerance</a:t>
            </a:r>
            <a:endParaRPr lang="en-US" sz="720" dirty="0"/>
          </a:p>
        </p:txBody>
      </p:sp>
      <p:sp>
        <p:nvSpPr>
          <p:cNvPr id="74" name="Shape 71"/>
          <p:cNvSpPr/>
          <p:nvPr/>
        </p:nvSpPr>
        <p:spPr>
          <a:xfrm>
            <a:off x="265176" y="822960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5" name="Shape 72"/>
          <p:cNvSpPr/>
          <p:nvPr/>
        </p:nvSpPr>
        <p:spPr>
          <a:xfrm>
            <a:off x="265176" y="8522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20040" y="8229600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1306167" y="8229600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78" name="Text 75"/>
          <p:cNvSpPr/>
          <p:nvPr/>
        </p:nvSpPr>
        <p:spPr>
          <a:xfrm>
            <a:off x="2292294" y="8229600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3278421" y="8229600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4264548" y="8229600"/>
            <a:ext cx="1040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5415029" y="8229600"/>
            <a:ext cx="1122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data</a:t>
            </a:r>
            <a:endParaRPr lang="en-US" sz="720" dirty="0"/>
          </a:p>
        </p:txBody>
      </p:sp>
      <p:sp>
        <p:nvSpPr>
          <p:cNvPr id="82" name="Shape 79"/>
          <p:cNvSpPr/>
          <p:nvPr/>
        </p:nvSpPr>
        <p:spPr>
          <a:xfrm>
            <a:off x="265176" y="8814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20040" y="8522208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20" dirty="0"/>
          </a:p>
        </p:txBody>
      </p:sp>
      <p:sp>
        <p:nvSpPr>
          <p:cNvPr id="84" name="Text 81"/>
          <p:cNvSpPr/>
          <p:nvPr/>
        </p:nvSpPr>
        <p:spPr>
          <a:xfrm>
            <a:off x="1306167" y="8522208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₹36.06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2292294" y="8522208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₹84.16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3278421" y="8522208"/>
            <a:ext cx="8763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4264548" y="8522208"/>
            <a:ext cx="10407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 pp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5415029" y="8522208"/>
            <a:ext cx="1122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— realisation improving despite lower NSV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Productivity — WD, SPD and the ND Gap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distribution from Nielsen · Numeric distribution not yet fed · 8-gate flag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" y="1261872"/>
            <a:ext cx="64008" cy="841248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1353312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WD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89.0%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category share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04872" y="1261872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04872" y="1261872"/>
            <a:ext cx="64008" cy="841248"/>
          </a:xfrm>
          <a:prstGeom prst="rect">
            <a:avLst/>
          </a:prstGeom>
          <a:solidFill>
            <a:srgbClr val="D6544D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1353312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WD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032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81.5%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0320" y="1865376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44568" y="1261872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4568" y="1261872"/>
            <a:ext cx="64008" cy="84124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1353312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spc="5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STATUS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00016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FED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00016" y="1865376"/>
            <a:ext cx="1810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compute WD ÷ ND (store quality)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12848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223113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DISTRIBUTION POINT (SPD) — FACE WASH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265176" y="25237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2542032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1552699" y="2542032"/>
            <a:ext cx="547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2210117" y="2542032"/>
            <a:ext cx="547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2867535" y="2542032"/>
            <a:ext cx="547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3524953" y="2542032"/>
            <a:ext cx="547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4182371" y="2542032"/>
            <a:ext cx="23555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265176" y="2779776"/>
            <a:ext cx="6327648" cy="30175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45" name="Shape 43"/>
          <p:cNvSpPr/>
          <p:nvPr/>
        </p:nvSpPr>
        <p:spPr>
          <a:xfrm>
            <a:off x="265176" y="30815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779776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1552699" y="277977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2210117" y="277977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867535" y="277977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3524953" y="277977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182371" y="2779776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benchmark (highest SPD)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33832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081528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1552699" y="308152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210117" y="308152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867535" y="308152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3524953" y="308152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4182371" y="3081528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265176" y="3383280"/>
            <a:ext cx="6327648" cy="30175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0" name="Shape 58"/>
          <p:cNvSpPr/>
          <p:nvPr/>
        </p:nvSpPr>
        <p:spPr>
          <a:xfrm>
            <a:off x="265176" y="3685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383280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1552699" y="3383280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2210117" y="3383280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867535" y="3383280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3524953" y="3383280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4182371" y="3383280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3685032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1552699" y="3685032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2210117" y="3685032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2867535" y="3685032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3524953" y="3685032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4182371" y="3685032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265176" y="3986784"/>
            <a:ext cx="6327648" cy="30175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5" name="Shape 73"/>
          <p:cNvSpPr/>
          <p:nvPr/>
        </p:nvSpPr>
        <p:spPr>
          <a:xfrm>
            <a:off x="265176" y="42885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986784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</a:t>
            </a:r>
            <a:endParaRPr lang="en-US" sz="720" dirty="0"/>
          </a:p>
        </p:txBody>
      </p:sp>
      <p:sp>
        <p:nvSpPr>
          <p:cNvPr id="77" name="Text 75"/>
          <p:cNvSpPr/>
          <p:nvPr/>
        </p:nvSpPr>
        <p:spPr>
          <a:xfrm>
            <a:off x="1552699" y="3986784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2210117" y="3986784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2867535" y="3986784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524953" y="3986784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182371" y="3986784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265176" y="45902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288536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CeraVe</a:t>
            </a:r>
            <a:endParaRPr lang="en-US" sz="720" dirty="0"/>
          </a:p>
        </p:txBody>
      </p:sp>
      <p:sp>
        <p:nvSpPr>
          <p:cNvPr id="84" name="Text 82"/>
          <p:cNvSpPr/>
          <p:nvPr/>
        </p:nvSpPr>
        <p:spPr>
          <a:xfrm>
            <a:off x="1552699" y="428853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2210117" y="428853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fed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2867535" y="428853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524953" y="4288536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0.123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182371" y="4288536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WD — partial distribution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265176" y="4590288"/>
            <a:ext cx="6327648" cy="301752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90" name="Shape 88"/>
          <p:cNvSpPr/>
          <p:nvPr/>
        </p:nvSpPr>
        <p:spPr>
          <a:xfrm>
            <a:off x="265176" y="4892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590288"/>
            <a:ext cx="11229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— ALL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1552699" y="459028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2210117" y="459028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FED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2867535" y="459028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95" name="Text 93"/>
          <p:cNvSpPr/>
          <p:nvPr/>
        </p:nvSpPr>
        <p:spPr>
          <a:xfrm>
            <a:off x="3524953" y="4590288"/>
            <a:ext cx="547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20" dirty="0"/>
          </a:p>
        </p:txBody>
      </p:sp>
      <p:sp>
        <p:nvSpPr>
          <p:cNvPr id="96" name="Text 94"/>
          <p:cNvSpPr/>
          <p:nvPr/>
        </p:nvSpPr>
        <p:spPr>
          <a:xfrm>
            <a:off x="4182371" y="4590288"/>
            <a:ext cx="235558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PowerBI/RawDataFolders/TDP_Monthly/ is empty. ND cannot be computed until TDP feed is supplied.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265176" y="5001768"/>
            <a:ext cx="6327648" cy="237744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98" name="Text 96"/>
          <p:cNvSpPr/>
          <p:nvPr/>
        </p:nvSpPr>
        <p:spPr>
          <a:xfrm>
            <a:off x="393192" y="502005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DECOMPOSITION WE CANNOT YET COMPLETE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265176" y="5312664"/>
            <a:ext cx="6327648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8056" y="5440680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B3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  =  ND  ×  (WD ÷ ND)  ×  (share ÷ WD)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448056" y="5769864"/>
            <a:ext cx="5961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reach    store quality      velocity per shelf point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48056" y="6007608"/>
            <a:ext cx="5961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hold WD (89.0% Face Wash · 81.5% Shampoo). We do not hold ND. Without ND we cannot tell whether 89% WD means "in most stores" or "in a few very large stores". The store-quality term (WD ÷ ND) is the discriminator. SPD reported here is only the third term — the velocity — and is a hand-cut stand-in for the MS vs TDP Index already written in PowerBI/DAX/05_TDP_Measures.dax, which cannot run until the TDP feed is supplied.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265176" y="6885432"/>
            <a:ext cx="6327648" cy="237744"/>
          </a:xfrm>
          <a:prstGeom prst="rect">
            <a:avLst/>
          </a:prstGeom>
          <a:solidFill>
            <a:srgbClr val="D6544D"/>
          </a:solidFill>
          <a:ln/>
        </p:spPr>
      </p:sp>
      <p:sp>
        <p:nvSpPr>
          <p:cNvPr id="104" name="Text 102"/>
          <p:cNvSpPr/>
          <p:nvPr/>
        </p:nvSpPr>
        <p:spPr>
          <a:xfrm>
            <a:off x="393192" y="690372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COMPLETE THIS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356616" y="7301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106" name="Text 104"/>
          <p:cNvSpPr/>
          <p:nvPr/>
        </p:nvSpPr>
        <p:spPr>
          <a:xfrm>
            <a:off x="475488" y="72511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TDP_Monthly/ CSV with ND column → unlocks MS vs TDP Index in DAX (already written).</a:t>
            </a:r>
            <a:endParaRPr lang="en-US" sz="760" dirty="0"/>
          </a:p>
        </p:txBody>
      </p:sp>
      <p:sp>
        <p:nvSpPr>
          <p:cNvPr id="107" name="Shape 105"/>
          <p:cNvSpPr/>
          <p:nvPr/>
        </p:nvSpPr>
        <p:spPr>
          <a:xfrm>
            <a:off x="356616" y="76855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108" name="Text 106"/>
          <p:cNvSpPr/>
          <p:nvPr/>
        </p:nvSpPr>
        <p:spPr>
          <a:xfrm>
            <a:off x="475488" y="76352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Nielsen_Monthly/ CSV with Volume Market Share → unlocks value vs volume divergence check (already in DAX).</a:t>
            </a:r>
            <a:endParaRPr lang="en-US" sz="760" dirty="0"/>
          </a:p>
        </p:txBody>
      </p:sp>
      <p:sp>
        <p:nvSpPr>
          <p:cNvPr id="109" name="Shape 107"/>
          <p:cNvSpPr/>
          <p:nvPr/>
        </p:nvSpPr>
        <p:spPr>
          <a:xfrm>
            <a:off x="356616" y="8069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110" name="Text 108"/>
          <p:cNvSpPr/>
          <p:nvPr/>
        </p:nvSpPr>
        <p:spPr>
          <a:xfrm>
            <a:off x="475488" y="80192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docs/NIELSEN_DATA_REQUEST.md for column-for-column feed specification vs the two existing templates.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356616" y="84536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2" name="Text 110"/>
          <p:cNvSpPr/>
          <p:nvPr/>
        </p:nvSpPr>
        <p:spPr>
          <a:xfrm>
            <a:off x="475488" y="840333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ND is fed, report SPD only with this provenance note: "SPD is WD-only — store quality arm is missing."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 — 8-Gate Validation &amp; Pattern-Matcher-Router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this deck passed pre-flight quality gates before generation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37744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128016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VALIDATION SUMMARY — Jul-26 (python scripts/validation_gates.py --month Jul-26)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57276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1591056"/>
            <a:ext cx="1614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91225" y="1591056"/>
            <a:ext cx="1517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218334" y="1591056"/>
            <a:ext cx="7038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3031889" y="1591056"/>
            <a:ext cx="35060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265176" y="1828800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8" name="Shape 26"/>
          <p:cNvSpPr/>
          <p:nvPr/>
        </p:nvSpPr>
        <p:spPr>
          <a:xfrm>
            <a:off x="265176" y="2157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828800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591225" y="1828800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Verified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218334" y="1828800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031889" y="1828800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 73 MB · channel_master.json present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265176" y="2487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157984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91225" y="2157984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 Clear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2218334" y="2157984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3031889" y="2157984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→ FY27 (THE ONE FY RULE: month 7 ≥ 4 → FY year+1)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248716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176" y="28163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487168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591225" y="2487168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Bounded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218334" y="2487168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031889" y="2487168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Counter excluded · Discontinued brands excluded (Lumineve, Pure Origin, Staze)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1455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816352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91225" y="2816352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Tied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2218334" y="2816352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⚑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031889" y="2816352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WITH WARNINGS — zone×channel primary not derivable from data.js (Tier 2, carry-forward)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265176" y="314553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50" name="Shape 48"/>
          <p:cNvSpPr/>
          <p:nvPr/>
        </p:nvSpPr>
        <p:spPr>
          <a:xfrm>
            <a:off x="265176" y="34747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145536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91225" y="3145536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Rows Assessed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2218334" y="3145536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031889" y="3145536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bad NSV rows / 220,522 total (0.0000%)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474720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591225" y="3474720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Verified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2218334" y="3474720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3031889" y="3474720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Σzone.primary = mt.primary · offtake identity · benchmark 85.73% ✓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265176" y="380390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61" name="Shape 5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803904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91225" y="3803904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Assessment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218334" y="3803904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3031889" y="3803904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₹6.22 Cr recoverable above ₹0.25 Cr floor · 3 FY27 months · HIGH confidence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265176" y="44622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133088"/>
            <a:ext cx="1614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591225" y="4133088"/>
            <a:ext cx="1517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Cost Assessment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2218334" y="4133088"/>
            <a:ext cx="7038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3031889" y="4133088"/>
            <a:ext cx="35060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type: balanced precision/recall, HIGH confidence threshold met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265176" y="4572000"/>
            <a:ext cx="6327648" cy="237744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72" name="Text 70"/>
          <p:cNvSpPr/>
          <p:nvPr/>
        </p:nvSpPr>
        <p:spPr>
          <a:xfrm>
            <a:off x="393192" y="4590288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PATTERN-MATCHER-ROUTER — 5-PHASE INSIGHT CYCLE APPLIED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265176" y="4882896"/>
            <a:ext cx="3099816" cy="2926080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5176" y="4882896"/>
            <a:ext cx="3099816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75" name="Text 73"/>
          <p:cNvSpPr/>
          <p:nvPr/>
        </p:nvSpPr>
        <p:spPr>
          <a:xfrm>
            <a:off x="347472" y="490118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CYCLE (ASK→SHARE)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56616" y="52989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77" name="Text 75"/>
          <p:cNvSpPr/>
          <p:nvPr/>
        </p:nvSpPr>
        <p:spPr>
          <a:xfrm>
            <a:off x="475488" y="5248656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"Where is Jul offtake soft and why?" → Diagnostic type → balanced FP/FN.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356616" y="573786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79" name="Text 77"/>
          <p:cNvSpPr/>
          <p:nvPr/>
        </p:nvSpPr>
        <p:spPr>
          <a:xfrm>
            <a:off x="475488" y="568756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PREPARE: Offtake CSV gated (0 bad rows, Brand Counter excluded, ND absent flagged).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356616" y="6176772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12648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Univariate (national) → Bivariate (zone/brand) → Multivariate (zone×brand×chain).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356616" y="661568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83" name="Text 81"/>
          <p:cNvSpPr/>
          <p:nvPr/>
        </p:nvSpPr>
        <p:spPr>
          <a:xfrm>
            <a:off x="475488" y="6565392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ANALYZE: Root cause = volume contraction (−293k units) not pricing (ASP +₹4.32). HIGH confidence.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356616" y="705459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</p:sp>
      <p:sp>
        <p:nvSpPr>
          <p:cNvPr id="85" name="Text 83"/>
          <p:cNvSpPr/>
          <p:nvPr/>
        </p:nvSpPr>
        <p:spPr>
          <a:xfrm>
            <a:off x="475488" y="7004304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One headline per slide · one chart · one action.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3493008" y="4882896"/>
            <a:ext cx="3099816" cy="2926080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93008" y="4882896"/>
            <a:ext cx="3099816" cy="274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88" name="Text 86"/>
          <p:cNvSpPr/>
          <p:nvPr/>
        </p:nvSpPr>
        <p:spPr>
          <a:xfrm>
            <a:off x="3575304" y="490118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— 3-TIER CARRY-FORWARDS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584448" y="52989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</p:sp>
      <p:sp>
        <p:nvSpPr>
          <p:cNvPr id="90" name="Text 88"/>
          <p:cNvSpPr/>
          <p:nvPr/>
        </p:nvSpPr>
        <p:spPr>
          <a:xfrm>
            <a:off x="3703320" y="5248656"/>
            <a:ext cx="2798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(Fixed): benchConv corrected from 85.5% → 85.73%; zone contamination patch applied.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3584448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92" name="Text 90"/>
          <p:cNvSpPr/>
          <p:nvPr/>
        </p:nvSpPr>
        <p:spPr>
          <a:xfrm>
            <a:off x="3703320" y="5760720"/>
            <a:ext cx="2798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(Documented here): Zone×channel primary not exact from data.js — requires full source workbook. June 2026 absent.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84448" y="6323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</p:sp>
      <p:sp>
        <p:nvSpPr>
          <p:cNvPr id="94" name="Text 92"/>
          <p:cNvSpPr/>
          <p:nvPr/>
        </p:nvSpPr>
        <p:spPr>
          <a:xfrm>
            <a:off x="3703320" y="6272784"/>
            <a:ext cx="2798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(Placeholder): Nielsen_Monthly/ empty → ND, volume share, category MS not fed. TDP_Monthly/ empty → MS vs TDP Index cannot run.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Actions — July Offtake Findings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impact · Owner assigned · August review trigger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2392" y="47548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Offtake Only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60" kern="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Offtake Store×Article Jul-26 CSV (220,522 rows, 0 bad, excl. Brand Counter &amp; discontinued brands) · 8-Gate Validation: PASS_WITH_FLAG · FY27 · EXACT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37744"/>
          </a:xfrm>
          <a:prstGeom prst="rect">
            <a:avLst/>
          </a:prstGeom>
          <a:solidFill>
            <a:srgbClr val="2B9A6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128016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PATTERN-MATCHER-ROUTER VERDICT — JULY 2026 OFFTAKE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572768"/>
            <a:ext cx="632764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2B9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636776"/>
            <a:ext cx="607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HEADLINE: July NSV −4.1 Cr vs May is 100% volume-driven (−293k units). ASP rose ₹4.32. Pricing is healthy. Fix unit velocity, not price.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" y="2176272"/>
            <a:ext cx="6327648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" y="2176272"/>
            <a:ext cx="6327648" cy="274320"/>
          </a:xfrm>
          <a:prstGeom prst="rect">
            <a:avLst/>
          </a:prstGeom>
          <a:solidFill>
            <a:srgbClr val="D6544D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21945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DIAGNOSE WEST VOLUME DIP  [P1]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5420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56616" y="27249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23% of geo-MT NSV but holds lowest ASP (₹166). High unit volume is its contribution — any slip here outsizes all zones.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5352" y="25420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435352" y="27249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West chain-level units for Jul vs May. Quantify how many units are Dmart vs Reliance vs Apollo. Is it Dmart receiving less primary, or Reliance velocity slipping?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14088" y="25420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METRIC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14088" y="2724912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RSM · 25 Aug</a:t>
            </a:r>
            <a:endParaRPr lang="en-US" sz="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units Aug ≥ May (497k baseline)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65176" y="4005072"/>
            <a:ext cx="6327648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5176" y="4005072"/>
            <a:ext cx="6327648" cy="274320"/>
          </a:xfrm>
          <a:prstGeom prst="rect">
            <a:avLst/>
          </a:prstGeom>
          <a:solidFill>
            <a:srgbClr val="D6544D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4023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PUSH PREMIUM MIX INSIDE DMART  [P1]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6616" y="43708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56616" y="45537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= 38.8% of geo-MT (₹13.97 Cr) but lowest chain ASP (₹158). TDC and Aqualogica under-represented vs national.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435352" y="43708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435352" y="45537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TDC SKU listing in Dmart. Target TDC share of Dmart NSV from current level to ≥12% (vs 30.6% national TDC share). One new TDC face SKU in Dmart by Sept.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14088" y="43708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METRIC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514088" y="4553712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KAM Dmart · 31 Aug</a:t>
            </a:r>
            <a:endParaRPr lang="en-US" sz="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Dmart NSV share: current → target 12%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5833872"/>
            <a:ext cx="6327648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" y="5833872"/>
            <a:ext cx="6327648" cy="274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58521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CENTRAL ZONE — REALISATION WATCH  [P2]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6616" y="61996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56616" y="63825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realisation 41.1% = lowest geo-MT zone (national 42.8%, South-2 43.0%). Not yet at trigger threshold but trending.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435352" y="61996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435352" y="63825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Month-on-month realisation tracking for Central. If Aug realisation &lt; 40.5% — trigger trade-scheme audit for MP/CG. Otherwise monitor.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14088" y="61996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METRIC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514088" y="6382512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RSM + Trade Marketing · 15 Sep</a:t>
            </a:r>
            <a:endParaRPr lang="en-US" sz="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realisation Aug ≥ 40.5%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65176" y="7662672"/>
            <a:ext cx="6327648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5176" y="7662672"/>
            <a:ext cx="6327648" cy="274320"/>
          </a:xfrm>
          <a:prstGeom prst="rect">
            <a:avLst/>
          </a:prstGeom>
          <a:solidFill>
            <a:srgbClr val="2E7DA8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76809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AQUALOGICA — SCALE UP HIGH-ASP  [P2]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6616" y="80284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56616" y="82113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ASP ₹235 is the highest brand in portfolio (vs ₹170 MEA, ₹188 TDC). Share is 1.3% — early stage.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435352" y="80284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435352" y="82113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chains where Aqualogica can expand listing (Apollo, Wellness Forever are pharmacy-format and premium-receptive). Add 3 SKUs in these chains by Q2 end.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514088" y="80284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METRIC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514088" y="8211312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Analyst + KAM · 15 Sep</a:t>
            </a:r>
            <a:endParaRPr lang="en-US" sz="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MT NSV ≥ ₹0.60 Cr by Oct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65176" y="9491472"/>
            <a:ext cx="6327648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5176" y="9491472"/>
            <a:ext cx="6327648" cy="274320"/>
          </a:xfrm>
          <a:prstGeom prst="rect">
            <a:avLst/>
          </a:prstGeom>
          <a:solidFill>
            <a:srgbClr val="5F716E"/>
          </a:solidFill>
          <a:ln/>
        </p:spPr>
      </p:sp>
      <p:sp>
        <p:nvSpPr>
          <p:cNvPr id="62" name="Text 60"/>
          <p:cNvSpPr/>
          <p:nvPr/>
        </p:nvSpPr>
        <p:spPr>
          <a:xfrm>
            <a:off x="347472" y="95097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FEED THE NIELSEN &amp; TDP PIPES  [P3]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56616" y="98572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56616" y="100401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ND, volume share, MS vs TDP Index and the full decomposition (share = ND × store-quality × SPD) cannot run. Three DAX measures and two DAX tables are built and empty.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435352" y="98572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435352" y="10040112"/>
            <a:ext cx="1969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TDP_Monthly/ and Nielsen_Monthly/ CSVs per docs/NIELSEN_DATA_REQUEST.md. Drop in PowerBI/RawDataFolders/, refresh. No mapping work needed — templates are column-for-column.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14088" y="9857232"/>
            <a:ext cx="202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40" kern="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METRIC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514088" y="10040112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· 30 Sep</a:t>
            </a:r>
            <a:endParaRPr lang="en-US" sz="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validation_gates.py Gate 1: ND file present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MT Offtake Command Centre</dc:title>
  <dc:subject>PptxGenJS Presentation</dc:subject>
  <dc:creator>Modern Trade Analytics</dc:creator>
  <cp:lastModifiedBy>Modern Trade Analytics</cp:lastModifiedBy>
  <cp:revision>1</cp:revision>
  <dcterms:created xsi:type="dcterms:W3CDTF">2026-08-18T06:25:22Z</dcterms:created>
  <dcterms:modified xsi:type="dcterms:W3CDTF">2026-08-18T06:25:22Z</dcterms:modified>
</cp:coreProperties>
</file>