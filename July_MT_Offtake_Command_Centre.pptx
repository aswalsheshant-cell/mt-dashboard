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6858000" cy="12191695"/>
  <p:notesSz cx="12191695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8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8DCD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16F6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Apr</c:v>
                  </c:pt>
                  <c:pt idx="1">
                    <c:v>May</c:v>
                  </c:pt>
                  <c:pt idx="2">
                    <c:v>Jun
(absent)</c:v>
                  </c:pt>
                  <c:pt idx="3">
                    <c:v>Jul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35.88</c:v>
                </c:pt>
                <c:pt idx="1">
                  <c:v>40.19</c:v>
                </c:pt>
                <c:pt idx="2">
                  <c:v/>
                </c:pt>
                <c:pt idx="3">
                  <c:v>36.06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8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</c:scaling>
        <c:delete val="0"/>
        <c:axPos val="l"/>
        <c:majorGridlines>
          <c:spPr>
            <a:ln w="12700" cap="flat">
              <a:solidFill>
                <a:srgbClr val="C8DCD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ASP</c:v>
                </c:pt>
              </c:strCache>
            </c:strRef>
          </c:tx>
          <c:spPr>
            <a:solidFill>
              <a:srgbClr val="2E7DA8"/>
            </a:solidFill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Apr</c:v>
                  </c:pt>
                  <c:pt idx="1">
                    <c:v>May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169.94</c:v>
                </c:pt>
                <c:pt idx="1">
                  <c:v>171.44</c:v>
                </c:pt>
                <c:pt idx="2">
                  <c:v>175.76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165"/>
        </c:scaling>
        <c:delete val="0"/>
        <c:axPos val="l"/>
        <c:majorGridlines>
          <c:spPr>
            <a:ln w="12700" cap="flat">
              <a:solidFill>
                <a:srgbClr val="C8DCD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2B84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West</c:v>
                  </c:pt>
                  <c:pt idx="1">
                    <c:v>South-1</c:v>
                  </c:pt>
                  <c:pt idx="2">
                    <c:v>North</c:v>
                  </c:pt>
                  <c:pt idx="3">
                    <c:v>South-2</c:v>
                  </c:pt>
                  <c:pt idx="4">
                    <c:v>East</c:v>
                  </c:pt>
                  <c:pt idx="5">
                    <c:v>Central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8.27</c:v>
                </c:pt>
                <c:pt idx="1">
                  <c:v>8.18</c:v>
                </c:pt>
                <c:pt idx="2">
                  <c:v>6.97</c:v>
                </c:pt>
                <c:pt idx="3">
                  <c:v>4.87</c:v>
                </c:pt>
                <c:pt idx="4">
                  <c:v>3.54</c:v>
                </c:pt>
                <c:pt idx="5">
                  <c:v>2.12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C8DCD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West</c:v>
                  </c:pt>
                  <c:pt idx="1">
                    <c:v>South-1</c:v>
                  </c:pt>
                  <c:pt idx="2">
                    <c:v>North</c:v>
                  </c:pt>
                  <c:pt idx="3">
                    <c:v>South-2</c:v>
                  </c:pt>
                  <c:pt idx="4">
                    <c:v>East</c:v>
                  </c:pt>
                  <c:pt idx="5">
                    <c:v>Central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497.6</c:v>
                </c:pt>
                <c:pt idx="1">
                  <c:v>434</c:v>
                </c:pt>
                <c:pt idx="2">
                  <c:v>377.3</c:v>
                </c:pt>
                <c:pt idx="3">
                  <c:v>278</c:v>
                </c:pt>
                <c:pt idx="4">
                  <c:v>183.3</c:v>
                </c:pt>
                <c:pt idx="5">
                  <c:v>124.8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C8DCD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West</c:v>
                </c:pt>
              </c:strCache>
            </c:strRef>
          </c:tx>
          <c:spPr>
            <a:solidFill>
              <a:srgbClr val="2E7DA8"/>
            </a:solidFill>
            <a:ln>
              <a:noFill/>
            </a:ln>
            <a:effectLst/>
          </c:spPr>
          <c:marker>
            <c:symbol val="circle"/>
            <c:size val="10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xVal>
            <c:numRef>
              <c:f>Sheet1!$A$2:$A$7</c:f>
              <c:numCache>
                <c:formatCode>General</c:formatCode>
                <c:ptCount val="6"/>
                <c:pt idx="0">
                  <c:v>22.96</c:v>
                </c:pt>
                <c:pt idx="1">
                  <c:v>22.71</c:v>
                </c:pt>
                <c:pt idx="2">
                  <c:v>19.36</c:v>
                </c:pt>
                <c:pt idx="3">
                  <c:v>13.53</c:v>
                </c:pt>
                <c:pt idx="4">
                  <c:v>9.83</c:v>
                </c:pt>
                <c:pt idx="5">
                  <c:v>5.88</c:v>
                </c:pt>
              </c:numCache>
            </c:numRef>
          </c:xVal>
          <c:yVal>
            <c:numRef>
              <c:f>Sheet1!$B$2:$B$7</c:f>
              <c:numCache>
                <c:formatCode>General</c:formatCode>
                <c:ptCount val="6"/>
                <c:pt idx="0">
                  <c:v>166.22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South-1</c:v>
                </c:pt>
              </c:strCache>
            </c:strRef>
          </c:tx>
          <c:spPr>
            <a:solidFill>
              <a:srgbClr val="2B9A66"/>
            </a:solidFill>
            <a:ln>
              <a:noFill/>
            </a:ln>
            <a:effectLst/>
          </c:spPr>
          <c:marker>
            <c:symbol val="circle"/>
            <c:size val="10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Sheet1!$A$2:$A$7</c:f>
              <c:numCache>
                <c:formatCode>General</c:formatCode>
                <c:ptCount val="6"/>
                <c:pt idx="0">
                  <c:v>22.96</c:v>
                </c:pt>
                <c:pt idx="1">
                  <c:v>22.71</c:v>
                </c:pt>
                <c:pt idx="2">
                  <c:v>19.36</c:v>
                </c:pt>
                <c:pt idx="3">
                  <c:v>13.53</c:v>
                </c:pt>
                <c:pt idx="4">
                  <c:v>9.83</c:v>
                </c:pt>
                <c:pt idx="5">
                  <c:v>5.88</c:v>
                </c:pt>
              </c:numCache>
            </c:numRef>
          </c:xVal>
          <c:yVal>
            <c:numRef>
              <c:f>Sheet1!$C$2:$C$7</c:f>
              <c:numCache>
                <c:formatCode>General</c:formatCode>
                <c:ptCount val="6"/>
                <c:pt idx="0">
                  <c:v/>
                </c:pt>
                <c:pt idx="1">
                  <c:v>188.56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North</c:v>
                </c:pt>
              </c:strCache>
            </c:strRef>
          </c:tx>
          <c:spPr>
            <a:solidFill>
              <a:srgbClr val="28A596"/>
            </a:solidFill>
            <a:ln>
              <a:noFill/>
            </a:ln>
            <a:effectLst/>
          </c:spPr>
          <c:marker>
            <c:symbol val="circle"/>
            <c:size val="10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xVal>
            <c:numRef>
              <c:f>Sheet1!$A$2:$A$7</c:f>
              <c:numCache>
                <c:formatCode>General</c:formatCode>
                <c:ptCount val="6"/>
                <c:pt idx="0">
                  <c:v>22.96</c:v>
                </c:pt>
                <c:pt idx="1">
                  <c:v>22.71</c:v>
                </c:pt>
                <c:pt idx="2">
                  <c:v>19.36</c:v>
                </c:pt>
                <c:pt idx="3">
                  <c:v>13.53</c:v>
                </c:pt>
                <c:pt idx="4">
                  <c:v>9.83</c:v>
                </c:pt>
                <c:pt idx="5">
                  <c:v>5.88</c:v>
                </c:pt>
              </c:numCache>
            </c:numRef>
          </c:xVal>
          <c:yVal>
            <c:numRef>
              <c:f>Sheet1!$D$2:$D$7</c:f>
              <c:numCache>
                <c:formatCode>General</c:formatCode>
                <c:ptCount val="6"/>
                <c:pt idx="0">
                  <c:v/>
                </c:pt>
                <c:pt idx="1">
                  <c:v/>
                </c:pt>
                <c:pt idx="2">
                  <c:v>184.82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South-2</c:v>
                </c:pt>
              </c:strCache>
            </c:strRef>
          </c:tx>
          <c:spPr>
            <a:solidFill>
              <a:srgbClr val="2B9A66"/>
            </a:solidFill>
            <a:ln>
              <a:noFill/>
            </a:ln>
            <a:effectLst/>
          </c:spPr>
          <c:marker>
            <c:symbol val="circle"/>
            <c:size val="10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Sheet1!$A$2:$A$7</c:f>
              <c:numCache>
                <c:formatCode>General</c:formatCode>
                <c:ptCount val="6"/>
                <c:pt idx="0">
                  <c:v>22.96</c:v>
                </c:pt>
                <c:pt idx="1">
                  <c:v>22.71</c:v>
                </c:pt>
                <c:pt idx="2">
                  <c:v>19.36</c:v>
                </c:pt>
                <c:pt idx="3">
                  <c:v>13.53</c:v>
                </c:pt>
                <c:pt idx="4">
                  <c:v>9.83</c:v>
                </c:pt>
                <c:pt idx="5">
                  <c:v>5.88</c:v>
                </c:pt>
              </c:numCache>
            </c:numRef>
          </c:xVal>
          <c:yVal>
            <c:numRef>
              <c:f>Sheet1!$E$2:$E$7</c:f>
              <c:numCache>
                <c:formatCode>General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175.3</c:v>
                </c:pt>
                <c:pt idx="4">
                  <c:v/>
                </c:pt>
                <c:pt idx="5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East</c:v>
                </c:pt>
              </c:strCache>
            </c:strRef>
          </c:tx>
          <c:spPr>
            <a:solidFill>
              <a:srgbClr val="F2B84B"/>
            </a:solidFill>
            <a:ln>
              <a:noFill/>
            </a:ln>
            <a:effectLst/>
          </c:spPr>
          <c:marker>
            <c:symbol val="circle"/>
            <c:size val="10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xVal>
            <c:numRef>
              <c:f>Sheet1!$A$2:$A$7</c:f>
              <c:numCache>
                <c:formatCode>General</c:formatCode>
                <c:ptCount val="6"/>
                <c:pt idx="0">
                  <c:v>22.96</c:v>
                </c:pt>
                <c:pt idx="1">
                  <c:v>22.71</c:v>
                </c:pt>
                <c:pt idx="2">
                  <c:v>19.36</c:v>
                </c:pt>
                <c:pt idx="3">
                  <c:v>13.53</c:v>
                </c:pt>
                <c:pt idx="4">
                  <c:v>9.83</c:v>
                </c:pt>
                <c:pt idx="5">
                  <c:v>5.88</c:v>
                </c:pt>
              </c:numCache>
            </c:numRef>
          </c:xVal>
          <c:yVal>
            <c:numRef>
              <c:f>Sheet1!$F$2:$F$7</c:f>
              <c:numCache>
                <c:formatCode>General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193.17</c:v>
                </c:pt>
                <c:pt idx="5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Central</c:v>
                </c:pt>
              </c:strCache>
            </c:strRef>
          </c:tx>
          <c:spPr>
            <a:solidFill>
              <a:srgbClr val="D6544D"/>
            </a:solidFill>
            <a:ln>
              <a:noFill/>
            </a:ln>
            <a:effectLst/>
          </c:spPr>
          <c:marker>
            <c:symbol val="circle"/>
            <c:size val="10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xVal>
            <c:numRef>
              <c:f>Sheet1!$A$2:$A$7</c:f>
              <c:numCache>
                <c:formatCode>General</c:formatCode>
                <c:ptCount val="6"/>
                <c:pt idx="0">
                  <c:v>22.96</c:v>
                </c:pt>
                <c:pt idx="1">
                  <c:v>22.71</c:v>
                </c:pt>
                <c:pt idx="2">
                  <c:v>19.36</c:v>
                </c:pt>
                <c:pt idx="3">
                  <c:v>13.53</c:v>
                </c:pt>
                <c:pt idx="4">
                  <c:v>9.83</c:v>
                </c:pt>
                <c:pt idx="5">
                  <c:v>5.88</c:v>
                </c:pt>
              </c:numCache>
            </c:numRef>
          </c:xVal>
          <c:yVal>
            <c:numRef>
              <c:f>Sheet1!$G$2:$G$7</c:f>
              <c:numCache>
                <c:formatCode>General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169.69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6"/>
          <c:min val="0"/>
        </c:scaling>
        <c:delete val="0"/>
        <c:axPos val="b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65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650" b="0" i="0" u="none" strike="noStrike">
                    <a:solidFill>
                      <a:srgbClr val="000000"/>
                    </a:solidFill>
                    <a:latin typeface="Arial"/>
                  </a:rPr>
                  <a:t>NSV share (%)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205"/>
          <c:min val="155"/>
        </c:scaling>
        <c:delete val="0"/>
        <c:axPos val="l"/>
        <c:majorGridlines>
          <c:spPr>
            <a:ln w="12700" cap="flat">
              <a:solidFill>
                <a:srgbClr val="C8DCD7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65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650" b="0" i="0" u="none" strike="noStrike">
                    <a:solidFill>
                      <a:srgbClr val="000000"/>
                    </a:solidFill>
                    <a:latin typeface="Arial"/>
                  </a:rPr>
                  <a:t>ASP (₹/unit)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5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116F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16F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B84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B9A6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Dmart</c:v>
                  </c:pt>
                  <c:pt idx="1">
                    <c:v>Reliance</c:v>
                  </c:pt>
                  <c:pt idx="2">
                    <c:v>Apollo</c:v>
                  </c:pt>
                  <c:pt idx="3">
                    <c:v>Lulu</c:v>
                  </c:pt>
                  <c:pt idx="4">
                    <c:v>Wellness Forever</c:v>
                  </c:pt>
                  <c:pt idx="5">
                    <c:v>H&amp;G</c:v>
                  </c:pt>
                  <c:pt idx="6">
                    <c:v>Metro Cnc</c:v>
                  </c:pt>
                  <c:pt idx="7">
                    <c:v>More Retail</c:v>
                  </c:pt>
                  <c:pt idx="8">
                    <c:v>VMM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13.97</c:v>
                </c:pt>
                <c:pt idx="1">
                  <c:v>8.06</c:v>
                </c:pt>
                <c:pt idx="2">
                  <c:v>7.18</c:v>
                </c:pt>
                <c:pt idx="3">
                  <c:v>1.7</c:v>
                </c:pt>
                <c:pt idx="4">
                  <c:v>0.72</c:v>
                </c:pt>
                <c:pt idx="5">
                  <c:v>0.51</c:v>
                </c:pt>
                <c:pt idx="6">
                  <c:v>0.49</c:v>
                </c:pt>
                <c:pt idx="7">
                  <c:v>0.41</c:v>
                </c:pt>
                <c:pt idx="8">
                  <c:v>0.36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C8DCD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ASP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Dmart</c:v>
                  </c:pt>
                  <c:pt idx="1">
                    <c:v>Reliance</c:v>
                  </c:pt>
                  <c:pt idx="2">
                    <c:v>Apollo</c:v>
                  </c:pt>
                  <c:pt idx="3">
                    <c:v>Lulu</c:v>
                  </c:pt>
                  <c:pt idx="4">
                    <c:v>Wellness Forever</c:v>
                  </c:pt>
                  <c:pt idx="5">
                    <c:v>H&amp;G</c:v>
                  </c:pt>
                  <c:pt idx="6">
                    <c:v>Metro Cnc</c:v>
                  </c:pt>
                  <c:pt idx="7">
                    <c:v>More Retail</c:v>
                  </c:pt>
                  <c:pt idx="8">
                    <c:v>VMM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158.12</c:v>
                </c:pt>
                <c:pt idx="1">
                  <c:v>202.25</c:v>
                </c:pt>
                <c:pt idx="2">
                  <c:v>174.21</c:v>
                </c:pt>
                <c:pt idx="3">
                  <c:v>303.82</c:v>
                </c:pt>
                <c:pt idx="4">
                  <c:v>225.05</c:v>
                </c:pt>
                <c:pt idx="5">
                  <c:v>281.11</c:v>
                </c:pt>
                <c:pt idx="6">
                  <c:v>212.38</c:v>
                </c:pt>
                <c:pt idx="7">
                  <c:v>192.97</c:v>
                </c:pt>
                <c:pt idx="8">
                  <c:v>177.91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C8DCD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Mamaearth</c:v>
                </c:pt>
              </c:strCache>
            </c:strRef>
          </c:tx>
          <c:spPr>
            <a:solidFill>
              <a:srgbClr val="116F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Brand Split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24.45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The Derma Co.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Brand Split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11.01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Aqualogica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Brand Split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C8DCD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 share %</c:v>
                </c:pt>
              </c:strCache>
            </c:strRef>
          </c:tx>
          <c:spPr>
            <a:solidFill>
              <a:srgbClr val="116F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Mamaearth</c:v>
                  </c:pt>
                  <c:pt idx="1">
                    <c:v>The Derma Co.</c:v>
                  </c:pt>
                  <c:pt idx="2">
                    <c:v>Aqualogica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67.9</c:v>
                </c:pt>
                <c:pt idx="1">
                  <c:v>30.6</c:v>
                </c:pt>
                <c:pt idx="2">
                  <c:v>1.3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Unit share %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Mamaearth</c:v>
                  </c:pt>
                  <c:pt idx="1">
                    <c:v>The Derma Co.</c:v>
                  </c:pt>
                  <c:pt idx="2">
                    <c:v>Aqualogica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70.2</c:v>
                </c:pt>
                <c:pt idx="1">
                  <c:v>28.5</c:v>
                </c:pt>
                <c:pt idx="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C8DCD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NSV</c:v>
                </c:pt>
              </c:strCache>
            </c:strRef>
          </c:tx>
          <c:spPr>
            <a:solidFill>
              <a:srgbClr val="116F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16F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A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B8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Face</c:v>
                  </c:pt>
                  <c:pt idx="1">
                    <c:v>Hair</c:v>
                  </c:pt>
                  <c:pt idx="2">
                    <c:v>Body</c:v>
                  </c:pt>
                  <c:pt idx="3">
                    <c:v>Baby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24.07</c:v>
                </c:pt>
                <c:pt idx="1">
                  <c:v>7.87</c:v>
                </c:pt>
                <c:pt idx="2">
                  <c:v>2.08</c:v>
                </c:pt>
                <c:pt idx="3">
                  <c:v>1.91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8DCD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Units %</c:v>
                </c:pt>
              </c:strCache>
            </c:strRef>
          </c:tx>
          <c:spPr>
            <a:solidFill>
              <a:srgbClr val="116F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16F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A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B8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Face</c:v>
                  </c:pt>
                  <c:pt idx="1">
                    <c:v>Hair</c:v>
                  </c:pt>
                  <c:pt idx="2">
                    <c:v>Body</c:v>
                  </c:pt>
                  <c:pt idx="3">
                    <c:v>Baby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70.9</c:v>
                </c:pt>
                <c:pt idx="1">
                  <c:v>16.5</c:v>
                </c:pt>
                <c:pt idx="2">
                  <c:v>6.1</c:v>
                </c:pt>
                <c:pt idx="3">
                  <c:v>6.5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8DCD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Realisation %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6544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West</c:v>
                  </c:pt>
                  <c:pt idx="1">
                    <c:v>South-1</c:v>
                  </c:pt>
                  <c:pt idx="2">
                    <c:v>North</c:v>
                  </c:pt>
                  <c:pt idx="3">
                    <c:v>South-2</c:v>
                  </c:pt>
                  <c:pt idx="4">
                    <c:v>East</c:v>
                  </c:pt>
                  <c:pt idx="5">
                    <c:v>Central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41.9</c:v>
                </c:pt>
                <c:pt idx="1">
                  <c:v>42.7</c:v>
                </c:pt>
                <c:pt idx="2">
                  <c:v>41.8</c:v>
                </c:pt>
                <c:pt idx="3">
                  <c:v>43</c:v>
                </c:pt>
                <c:pt idx="4">
                  <c:v>42.1</c:v>
                </c:pt>
                <c:pt idx="5">
                  <c:v>41.1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4.5"/>
          <c:min val="40"/>
        </c:scaling>
        <c:delete val="0"/>
        <c:axPos val="b"/>
        <c:majorGridlines>
          <c:spPr>
            <a:ln w="12700" cap="flat">
              <a:solidFill>
                <a:srgbClr val="C8DCD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6F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54864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303520"/>
            <a:ext cx="6858000" cy="2926080"/>
          </a:xfrm>
          <a:prstGeom prst="rect">
            <a:avLst/>
          </a:prstGeom>
          <a:solidFill>
            <a:srgbClr val="0E5952"/>
          </a:solidFill>
          <a:ln/>
        </p:spPr>
      </p:sp>
      <p:sp>
        <p:nvSpPr>
          <p:cNvPr id="4" name="Text 2"/>
          <p:cNvSpPr/>
          <p:nvPr/>
        </p:nvSpPr>
        <p:spPr>
          <a:xfrm>
            <a:off x="265176" y="1645920"/>
            <a:ext cx="632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50" kern="0" dirty="0">
                <a:solidFill>
                  <a:srgbClr val="BFDCD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MODERN TRADE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65176" y="2157984"/>
            <a:ext cx="63276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Offtake Command Centre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65176" y="3401568"/>
            <a:ext cx="6327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DCD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2026  ·  FY27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48056" y="5559552"/>
            <a:ext cx="5961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₹36.06 Cr  ·  2.05 M units  ·  ASP ₹175.76  ·  Realisation 42.8%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48056" y="5907024"/>
            <a:ext cx="5961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ABF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Offtake-data view · No primary / gap / conversion · 8-gate PASS_WITH_FLAG · Pattern-Matcher-Router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320040" y="6492240"/>
            <a:ext cx="1472184" cy="713232"/>
          </a:xfrm>
          <a:prstGeom prst="roundRect">
            <a:avLst>
              <a:gd name="adj" fmla="val 3846"/>
            </a:avLst>
          </a:prstGeom>
          <a:solidFill>
            <a:srgbClr val="0E5952"/>
          </a:solidFill>
          <a:ln w="9525">
            <a:solidFill>
              <a:srgbClr val="28A5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" y="6547104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 Brands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74904" y="6876288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8ABF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Honasa portfolio</a:t>
            </a:r>
            <a:endParaRPr lang="en-US" sz="660" dirty="0"/>
          </a:p>
        </p:txBody>
      </p:sp>
      <p:sp>
        <p:nvSpPr>
          <p:cNvPr id="12" name="Shape 10"/>
          <p:cNvSpPr/>
          <p:nvPr/>
        </p:nvSpPr>
        <p:spPr>
          <a:xfrm>
            <a:off x="1901952" y="6492240"/>
            <a:ext cx="1472184" cy="713232"/>
          </a:xfrm>
          <a:prstGeom prst="roundRect">
            <a:avLst>
              <a:gd name="adj" fmla="val 3846"/>
            </a:avLst>
          </a:prstGeom>
          <a:solidFill>
            <a:srgbClr val="0E5952"/>
          </a:solidFill>
          <a:ln w="9525">
            <a:solidFill>
              <a:srgbClr val="28A59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56816" y="6547104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 Zones + eB2B + SIS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956816" y="6876288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8ABF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view</a:t>
            </a:r>
            <a:endParaRPr lang="en-US" sz="660" dirty="0"/>
          </a:p>
        </p:txBody>
      </p:sp>
      <p:sp>
        <p:nvSpPr>
          <p:cNvPr id="15" name="Shape 13"/>
          <p:cNvSpPr/>
          <p:nvPr/>
        </p:nvSpPr>
        <p:spPr>
          <a:xfrm>
            <a:off x="3483864" y="6492240"/>
            <a:ext cx="1472184" cy="713232"/>
          </a:xfrm>
          <a:prstGeom prst="roundRect">
            <a:avLst>
              <a:gd name="adj" fmla="val 3846"/>
            </a:avLst>
          </a:prstGeom>
          <a:solidFill>
            <a:srgbClr val="0E5952"/>
          </a:solidFill>
          <a:ln w="9525">
            <a:solidFill>
              <a:srgbClr val="28A59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38728" y="6547104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 Chains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538728" y="6876288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8ABF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offtake</a:t>
            </a:r>
            <a:endParaRPr lang="en-US" sz="660" dirty="0"/>
          </a:p>
        </p:txBody>
      </p:sp>
      <p:sp>
        <p:nvSpPr>
          <p:cNvPr id="18" name="Shape 16"/>
          <p:cNvSpPr/>
          <p:nvPr/>
        </p:nvSpPr>
        <p:spPr>
          <a:xfrm>
            <a:off x="5065776" y="6492240"/>
            <a:ext cx="1472184" cy="713232"/>
          </a:xfrm>
          <a:prstGeom prst="roundRect">
            <a:avLst>
              <a:gd name="adj" fmla="val 3846"/>
            </a:avLst>
          </a:prstGeom>
          <a:solidFill>
            <a:srgbClr val="0E5952"/>
          </a:solidFill>
          <a:ln w="9525">
            <a:solidFill>
              <a:srgbClr val="28A59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0" y="6547104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Categories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120640" y="6876288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8ABF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/ Hair / Body / Baby</a:t>
            </a:r>
            <a:endParaRPr lang="en-US" sz="660" dirty="0"/>
          </a:p>
        </p:txBody>
      </p:sp>
      <p:sp>
        <p:nvSpPr>
          <p:cNvPr id="21" name="Text 19"/>
          <p:cNvSpPr/>
          <p:nvPr/>
        </p:nvSpPr>
        <p:spPr>
          <a:xfrm>
            <a:off x="265176" y="11100816"/>
            <a:ext cx="6327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96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Honasa Consumer Limited — Internal. Not for distribution.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National Offtake Snapshot — July 2026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MT (geo zones + eB2B + SIS) · Offtake data only · 8-gate PASS_WITH_FLAG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22392" y="475488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Offtake Only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Offtake Store×Article Jul-26 CSV (220,522 rows, 0 bad, excl. Brand Counter &amp; discontinued brands) · 8-Gate Validation: PASS_WITH_FLAG · FY27 · EXACT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513332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412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755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MT NSV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₹36.06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755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July offtake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69948" y="1261872"/>
            <a:ext cx="1513332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69948" y="1261872"/>
            <a:ext cx="64008" cy="841248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5396" y="1353312"/>
            <a:ext cx="12755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SOLD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5396" y="1536192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20.5 L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025396" y="1865376"/>
            <a:ext cx="12755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2,051,674 packs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74720" y="1261872"/>
            <a:ext cx="1513332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74720" y="1261872"/>
            <a:ext cx="64008" cy="841248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32" name="Text 30"/>
          <p:cNvSpPr/>
          <p:nvPr/>
        </p:nvSpPr>
        <p:spPr>
          <a:xfrm>
            <a:off x="3630168" y="1353312"/>
            <a:ext cx="12755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SELL PRICE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0168" y="1536192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₹175.76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0168" y="1865376"/>
            <a:ext cx="12755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NSV ÷ units (EXACT)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79492" y="1261872"/>
            <a:ext cx="1513332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79492" y="1261872"/>
            <a:ext cx="64008" cy="8412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7" name="Text 35"/>
          <p:cNvSpPr/>
          <p:nvPr/>
        </p:nvSpPr>
        <p:spPr>
          <a:xfrm>
            <a:off x="5234940" y="1353312"/>
            <a:ext cx="12755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REALISATION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34940" y="1536192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42.8%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5234940" y="1865376"/>
            <a:ext cx="12755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NSV ÷ MRP value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12848"/>
            <a:ext cx="206044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65176" y="2212848"/>
            <a:ext cx="64008" cy="8412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2" name="Text 40"/>
          <p:cNvSpPr/>
          <p:nvPr/>
        </p:nvSpPr>
        <p:spPr>
          <a:xfrm>
            <a:off x="420624" y="2304288"/>
            <a:ext cx="18227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MT (6 zones)</a:t>
            </a:r>
            <a:endParaRPr lang="en-US" sz="680" dirty="0"/>
          </a:p>
        </p:txBody>
      </p:sp>
      <p:sp>
        <p:nvSpPr>
          <p:cNvPr id="43" name="Text 41"/>
          <p:cNvSpPr/>
          <p:nvPr/>
        </p:nvSpPr>
        <p:spPr>
          <a:xfrm>
            <a:off x="420624" y="2487168"/>
            <a:ext cx="1822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₹33.95 Cr</a:t>
            </a:r>
            <a:endParaRPr lang="en-US" sz="1550" dirty="0"/>
          </a:p>
        </p:txBody>
      </p:sp>
      <p:sp>
        <p:nvSpPr>
          <p:cNvPr id="44" name="Text 42"/>
          <p:cNvSpPr/>
          <p:nvPr/>
        </p:nvSpPr>
        <p:spPr>
          <a:xfrm>
            <a:off x="420624" y="2816352"/>
            <a:ext cx="18227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1,894,026 units · 94.1% of total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2398776" y="2212848"/>
            <a:ext cx="206044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398776" y="2212848"/>
            <a:ext cx="64008" cy="841248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47" name="Text 45"/>
          <p:cNvSpPr/>
          <p:nvPr/>
        </p:nvSpPr>
        <p:spPr>
          <a:xfrm>
            <a:off x="2554224" y="2304288"/>
            <a:ext cx="18227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(Nykaa / FSN)</a:t>
            </a:r>
            <a:endParaRPr lang="en-US" sz="680" dirty="0"/>
          </a:p>
        </p:txBody>
      </p:sp>
      <p:sp>
        <p:nvSpPr>
          <p:cNvPr id="48" name="Text 46"/>
          <p:cNvSpPr/>
          <p:nvPr/>
        </p:nvSpPr>
        <p:spPr>
          <a:xfrm>
            <a:off x="2554224" y="2487168"/>
            <a:ext cx="1822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49" name="Text 47"/>
          <p:cNvSpPr/>
          <p:nvPr/>
        </p:nvSpPr>
        <p:spPr>
          <a:xfrm>
            <a:off x="2554224" y="2816352"/>
            <a:ext cx="18227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155,142 units · ASP ₹133.19</a:t>
            </a:r>
            <a:endParaRPr lang="en-US" sz="680" dirty="0"/>
          </a:p>
        </p:txBody>
      </p:sp>
      <p:sp>
        <p:nvSpPr>
          <p:cNvPr id="50" name="Shape 48"/>
          <p:cNvSpPr/>
          <p:nvPr/>
        </p:nvSpPr>
        <p:spPr>
          <a:xfrm>
            <a:off x="4532376" y="2212848"/>
            <a:ext cx="206044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32376" y="2212848"/>
            <a:ext cx="64008" cy="8412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52" name="Text 50"/>
          <p:cNvSpPr/>
          <p:nvPr/>
        </p:nvSpPr>
        <p:spPr>
          <a:xfrm>
            <a:off x="4687824" y="2304288"/>
            <a:ext cx="18227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(Azorte / SS etc)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4687824" y="2487168"/>
            <a:ext cx="1822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₹0.03 Cr</a:t>
            </a:r>
            <a:endParaRPr lang="en-US" sz="1550" dirty="0"/>
          </a:p>
        </p:txBody>
      </p:sp>
      <p:sp>
        <p:nvSpPr>
          <p:cNvPr id="54" name="Text 52"/>
          <p:cNvSpPr/>
          <p:nvPr/>
        </p:nvSpPr>
        <p:spPr>
          <a:xfrm>
            <a:off x="4687824" y="2816352"/>
            <a:ext cx="18227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1,506 units · ASP ₹225.85</a:t>
            </a:r>
            <a:endParaRPr lang="en-US" sz="680" dirty="0"/>
          </a:p>
        </p:txBody>
      </p:sp>
      <p:sp>
        <p:nvSpPr>
          <p:cNvPr id="55" name="Shape 53"/>
          <p:cNvSpPr/>
          <p:nvPr/>
        </p:nvSpPr>
        <p:spPr>
          <a:xfrm>
            <a:off x="265176" y="3163824"/>
            <a:ext cx="6327648" cy="237744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56" name="Text 54"/>
          <p:cNvSpPr/>
          <p:nvPr/>
        </p:nvSpPr>
        <p:spPr>
          <a:xfrm>
            <a:off x="393192" y="3182112"/>
            <a:ext cx="6071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NATIONAL NUMBER TELLS YOU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65176" y="3474720"/>
            <a:ext cx="6327648" cy="2633472"/>
          </a:xfrm>
          <a:prstGeom prst="roundRect">
            <a:avLst>
              <a:gd name="adj" fmla="val 69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65176" y="3474720"/>
            <a:ext cx="6327648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59" name="Text 57"/>
          <p:cNvSpPr/>
          <p:nvPr/>
        </p:nvSpPr>
        <p:spPr>
          <a:xfrm>
            <a:off x="347472" y="3493008"/>
            <a:ext cx="6163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DIAGNOSTIC — JULY 2026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393192" y="38907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61" name="Text 59"/>
          <p:cNvSpPr/>
          <p:nvPr/>
        </p:nvSpPr>
        <p:spPr>
          <a:xfrm>
            <a:off x="512064" y="3840480"/>
            <a:ext cx="5952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₹36.06 Cr offtake on ₹84.16 Cr MRP value = 42.8% realisation. Every ₹100 of shelf value returns ₹42.80 of NSV.</a:t>
            </a:r>
            <a:endParaRPr lang="en-US" sz="820" dirty="0"/>
          </a:p>
        </p:txBody>
      </p:sp>
      <p:sp>
        <p:nvSpPr>
          <p:cNvPr id="62" name="Shape 60"/>
          <p:cNvSpPr/>
          <p:nvPr/>
        </p:nvSpPr>
        <p:spPr>
          <a:xfrm>
            <a:off x="393192" y="429310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63" name="Text 61"/>
          <p:cNvSpPr/>
          <p:nvPr/>
        </p:nvSpPr>
        <p:spPr>
          <a:xfrm>
            <a:off x="512064" y="4242816"/>
            <a:ext cx="5952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 ₹175.76 per unit — split: Mamaearth ₹169.60, The Derma Co. ₹188.30, Aqualogica ₹234.50. Portfolio ASP is a weighted blend of brand mix.</a:t>
            </a:r>
            <a:endParaRPr lang="en-US" sz="820" dirty="0"/>
          </a:p>
        </p:txBody>
      </p:sp>
      <p:sp>
        <p:nvSpPr>
          <p:cNvPr id="64" name="Shape 62"/>
          <p:cNvSpPr/>
          <p:nvPr/>
        </p:nvSpPr>
        <p:spPr>
          <a:xfrm>
            <a:off x="393192" y="469544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65" name="Text 63"/>
          <p:cNvSpPr/>
          <p:nvPr/>
        </p:nvSpPr>
        <p:spPr>
          <a:xfrm>
            <a:off x="512064" y="4645152"/>
            <a:ext cx="5952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(Nykaa) realisation 57.4% — structurally higher because MRP is lower (discounts already netted by FSN). Do not benchmark eB2B against geo-MT realisation.</a:t>
            </a:r>
            <a:endParaRPr lang="en-US" sz="820" dirty="0"/>
          </a:p>
        </p:txBody>
      </p:sp>
      <p:sp>
        <p:nvSpPr>
          <p:cNvPr id="66" name="Shape 64"/>
          <p:cNvSpPr/>
          <p:nvPr/>
        </p:nvSpPr>
        <p:spPr>
          <a:xfrm>
            <a:off x="393192" y="509778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67" name="Text 65"/>
          <p:cNvSpPr/>
          <p:nvPr/>
        </p:nvSpPr>
        <p:spPr>
          <a:xfrm>
            <a:off x="512064" y="5047488"/>
            <a:ext cx="5952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(Azorte / Shoppers Stop etc.) is ₹0.03 Cr — rounding territory. Offtake data for SIS is measured differently; treat as directional only.</a:t>
            </a:r>
            <a:endParaRPr lang="en-US" sz="820" dirty="0"/>
          </a:p>
        </p:txBody>
      </p:sp>
      <p:sp>
        <p:nvSpPr>
          <p:cNvPr id="68" name="Shape 66"/>
          <p:cNvSpPr/>
          <p:nvPr/>
        </p:nvSpPr>
        <p:spPr>
          <a:xfrm>
            <a:off x="393192" y="55001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69" name="Text 67"/>
          <p:cNvSpPr/>
          <p:nvPr/>
        </p:nvSpPr>
        <p:spPr>
          <a:xfrm>
            <a:off x="512064" y="5449824"/>
            <a:ext cx="5952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is absent from the offtake source — Q1 FY27 series = Apr + May + Jul only. Do not impute June.</a:t>
            </a:r>
            <a:endParaRPr lang="en-US" sz="820" dirty="0"/>
          </a:p>
        </p:txBody>
      </p:sp>
      <p:sp>
        <p:nvSpPr>
          <p:cNvPr id="70" name="Text 68"/>
          <p:cNvSpPr/>
          <p:nvPr/>
        </p:nvSpPr>
        <p:spPr>
          <a:xfrm>
            <a:off x="265176" y="6254496"/>
            <a:ext cx="6327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spc="3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NSV trend Q1 FY27 — Apr / May / Jul (₹ Cr, June absent)</a:t>
            </a:r>
            <a:endParaRPr lang="en-US" sz="720" dirty="0"/>
          </a:p>
        </p:txBody>
      </p:sp>
      <p:graphicFrame>
        <p:nvGraphicFramePr>
          <p:cNvPr id="71" name="Chart 0" descr=""/>
          <p:cNvGraphicFramePr/>
          <p:nvPr/>
        </p:nvGraphicFramePr>
        <p:xfrm>
          <a:off x="265176" y="6455664"/>
          <a:ext cx="3543483" cy="1463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2" name="Text 69"/>
          <p:cNvSpPr/>
          <p:nvPr/>
        </p:nvSpPr>
        <p:spPr>
          <a:xfrm>
            <a:off x="3935212" y="6254496"/>
            <a:ext cx="2657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spc="3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 trend (₹/unit)</a:t>
            </a:r>
            <a:endParaRPr lang="en-US" sz="720" dirty="0"/>
          </a:p>
        </p:txBody>
      </p:sp>
      <p:graphicFrame>
        <p:nvGraphicFramePr>
          <p:cNvPr id="73" name="Chart 1" descr=""/>
          <p:cNvGraphicFramePr/>
          <p:nvPr/>
        </p:nvGraphicFramePr>
        <p:xfrm>
          <a:off x="3935212" y="6455664"/>
          <a:ext cx="2657612" cy="1463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4" name="Text 70"/>
          <p:cNvSpPr/>
          <p:nvPr/>
        </p:nvSpPr>
        <p:spPr>
          <a:xfrm>
            <a:off x="265176" y="7973568"/>
            <a:ext cx="6327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↓5.0 Cr volume effect + ↑0.9 Cr price/mix = −4.1 Cr vs May. Jul dip is volume (−293k units), not pricing. ASP is rising (+₹4.32 vs May) — mix is healthy.</a:t>
            </a:r>
            <a:endParaRPr lang="en-US" sz="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Zone Offtake Performance — July 2026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MT only (excl. eB2B / SIS) · NSV, Units, ASP, Realisation by zone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22392" y="475488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Offtake Only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Offtake Store×Article Jul-26 CSV (220,522 rows, 0 bad, excl. Brand Counter &amp; discontinued brands) · 8-Gate Validation: PASS_WITH_FLAG · FY27 · EXACT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34802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spc="3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NSV by zone (₹ Cr)</a:t>
            </a:r>
            <a:endParaRPr lang="en-US" sz="72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265176" y="1463040"/>
          <a:ext cx="3480206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3871935" y="1261872"/>
            <a:ext cx="272088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spc="3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sold by zone (000s)</a:t>
            </a:r>
            <a:endParaRPr lang="en-US" sz="72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3871935" y="1463040"/>
          <a:ext cx="2720889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Shape 20"/>
          <p:cNvSpPr/>
          <p:nvPr/>
        </p:nvSpPr>
        <p:spPr>
          <a:xfrm>
            <a:off x="265176" y="38953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5" name="Text 21"/>
          <p:cNvSpPr/>
          <p:nvPr/>
        </p:nvSpPr>
        <p:spPr>
          <a:xfrm>
            <a:off x="320040" y="3913632"/>
            <a:ext cx="13425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26" name="Text 22"/>
          <p:cNvSpPr/>
          <p:nvPr/>
        </p:nvSpPr>
        <p:spPr>
          <a:xfrm>
            <a:off x="1772287" y="3913632"/>
            <a:ext cx="8238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NSV (₹ Cr)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2705874" y="3913632"/>
            <a:ext cx="92759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660" dirty="0"/>
          </a:p>
        </p:txBody>
      </p:sp>
      <p:sp>
        <p:nvSpPr>
          <p:cNvPr id="28" name="Text 24"/>
          <p:cNvSpPr/>
          <p:nvPr/>
        </p:nvSpPr>
        <p:spPr>
          <a:xfrm>
            <a:off x="3743194" y="3913632"/>
            <a:ext cx="8238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 (₹)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4676781" y="3913632"/>
            <a:ext cx="92759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REALISATION</a:t>
            </a:r>
            <a:endParaRPr lang="en-US" sz="660" dirty="0"/>
          </a:p>
        </p:txBody>
      </p:sp>
      <p:sp>
        <p:nvSpPr>
          <p:cNvPr id="30" name="Text 26"/>
          <p:cNvSpPr/>
          <p:nvPr/>
        </p:nvSpPr>
        <p:spPr>
          <a:xfrm>
            <a:off x="5714101" y="3913632"/>
            <a:ext cx="8238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NSV SHARE</a:t>
            </a:r>
            <a:endParaRPr lang="en-US" sz="660" dirty="0"/>
          </a:p>
        </p:txBody>
      </p:sp>
      <p:sp>
        <p:nvSpPr>
          <p:cNvPr id="31" name="Shape 27"/>
          <p:cNvSpPr/>
          <p:nvPr/>
        </p:nvSpPr>
        <p:spPr>
          <a:xfrm>
            <a:off x="265176" y="4151376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32" name="Shape 28"/>
          <p:cNvSpPr/>
          <p:nvPr/>
        </p:nvSpPr>
        <p:spPr>
          <a:xfrm>
            <a:off x="265176" y="44439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320040" y="4151376"/>
            <a:ext cx="13425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20" dirty="0"/>
          </a:p>
        </p:txBody>
      </p:sp>
      <p:sp>
        <p:nvSpPr>
          <p:cNvPr id="34" name="Text 30"/>
          <p:cNvSpPr/>
          <p:nvPr/>
        </p:nvSpPr>
        <p:spPr>
          <a:xfrm>
            <a:off x="1772287" y="4151376"/>
            <a:ext cx="8238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₹8.27</a:t>
            </a:r>
            <a:endParaRPr lang="en-US" sz="720" dirty="0"/>
          </a:p>
        </p:txBody>
      </p:sp>
      <p:sp>
        <p:nvSpPr>
          <p:cNvPr id="35" name="Text 31"/>
          <p:cNvSpPr/>
          <p:nvPr/>
        </p:nvSpPr>
        <p:spPr>
          <a:xfrm>
            <a:off x="2705874" y="4151376"/>
            <a:ext cx="9275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498k</a:t>
            </a:r>
            <a:endParaRPr lang="en-US" sz="720" dirty="0"/>
          </a:p>
        </p:txBody>
      </p:sp>
      <p:sp>
        <p:nvSpPr>
          <p:cNvPr id="36" name="Text 32"/>
          <p:cNvSpPr/>
          <p:nvPr/>
        </p:nvSpPr>
        <p:spPr>
          <a:xfrm>
            <a:off x="3743194" y="4151376"/>
            <a:ext cx="8238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₹166</a:t>
            </a:r>
            <a:endParaRPr lang="en-US" sz="720" dirty="0"/>
          </a:p>
        </p:txBody>
      </p:sp>
      <p:sp>
        <p:nvSpPr>
          <p:cNvPr id="37" name="Text 33"/>
          <p:cNvSpPr/>
          <p:nvPr/>
        </p:nvSpPr>
        <p:spPr>
          <a:xfrm>
            <a:off x="4676781" y="4151376"/>
            <a:ext cx="9275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41.9%</a:t>
            </a:r>
            <a:endParaRPr lang="en-US" sz="720" dirty="0"/>
          </a:p>
        </p:txBody>
      </p:sp>
      <p:sp>
        <p:nvSpPr>
          <p:cNvPr id="38" name="Text 34"/>
          <p:cNvSpPr/>
          <p:nvPr/>
        </p:nvSpPr>
        <p:spPr>
          <a:xfrm>
            <a:off x="5714101" y="4151376"/>
            <a:ext cx="8238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23.0%</a:t>
            </a:r>
            <a:endParaRPr lang="en-US" sz="720" dirty="0"/>
          </a:p>
        </p:txBody>
      </p:sp>
      <p:sp>
        <p:nvSpPr>
          <p:cNvPr id="39" name="Shape 35"/>
          <p:cNvSpPr/>
          <p:nvPr/>
        </p:nvSpPr>
        <p:spPr>
          <a:xfrm>
            <a:off x="265176" y="47365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320040" y="4443984"/>
            <a:ext cx="13425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20" dirty="0"/>
          </a:p>
        </p:txBody>
      </p:sp>
      <p:sp>
        <p:nvSpPr>
          <p:cNvPr id="41" name="Text 37"/>
          <p:cNvSpPr/>
          <p:nvPr/>
        </p:nvSpPr>
        <p:spPr>
          <a:xfrm>
            <a:off x="1772287" y="4443984"/>
            <a:ext cx="8238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₹8.18</a:t>
            </a:r>
            <a:endParaRPr lang="en-US" sz="720" dirty="0"/>
          </a:p>
        </p:txBody>
      </p:sp>
      <p:sp>
        <p:nvSpPr>
          <p:cNvPr id="42" name="Text 38"/>
          <p:cNvSpPr/>
          <p:nvPr/>
        </p:nvSpPr>
        <p:spPr>
          <a:xfrm>
            <a:off x="2705874" y="4443984"/>
            <a:ext cx="9275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434k</a:t>
            </a:r>
            <a:endParaRPr lang="en-US" sz="720" dirty="0"/>
          </a:p>
        </p:txBody>
      </p:sp>
      <p:sp>
        <p:nvSpPr>
          <p:cNvPr id="43" name="Text 39"/>
          <p:cNvSpPr/>
          <p:nvPr/>
        </p:nvSpPr>
        <p:spPr>
          <a:xfrm>
            <a:off x="3743194" y="4443984"/>
            <a:ext cx="8238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₹189</a:t>
            </a:r>
            <a:endParaRPr lang="en-US" sz="720" dirty="0"/>
          </a:p>
        </p:txBody>
      </p:sp>
      <p:sp>
        <p:nvSpPr>
          <p:cNvPr id="44" name="Text 40"/>
          <p:cNvSpPr/>
          <p:nvPr/>
        </p:nvSpPr>
        <p:spPr>
          <a:xfrm>
            <a:off x="4676781" y="4443984"/>
            <a:ext cx="9275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42.7%</a:t>
            </a:r>
            <a:endParaRPr lang="en-US" sz="720" dirty="0"/>
          </a:p>
        </p:txBody>
      </p:sp>
      <p:sp>
        <p:nvSpPr>
          <p:cNvPr id="45" name="Text 41"/>
          <p:cNvSpPr/>
          <p:nvPr/>
        </p:nvSpPr>
        <p:spPr>
          <a:xfrm>
            <a:off x="5714101" y="4443984"/>
            <a:ext cx="8238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22.7%</a:t>
            </a:r>
            <a:endParaRPr lang="en-US" sz="720" dirty="0"/>
          </a:p>
        </p:txBody>
      </p:sp>
      <p:sp>
        <p:nvSpPr>
          <p:cNvPr id="46" name="Shape 42"/>
          <p:cNvSpPr/>
          <p:nvPr/>
        </p:nvSpPr>
        <p:spPr>
          <a:xfrm>
            <a:off x="265176" y="4736592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7" name="Shape 43"/>
          <p:cNvSpPr/>
          <p:nvPr/>
        </p:nvSpPr>
        <p:spPr>
          <a:xfrm>
            <a:off x="265176" y="50292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320040" y="4736592"/>
            <a:ext cx="13425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20" dirty="0"/>
          </a:p>
        </p:txBody>
      </p:sp>
      <p:sp>
        <p:nvSpPr>
          <p:cNvPr id="49" name="Text 45"/>
          <p:cNvSpPr/>
          <p:nvPr/>
        </p:nvSpPr>
        <p:spPr>
          <a:xfrm>
            <a:off x="1772287" y="4736592"/>
            <a:ext cx="8238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₹6.97</a:t>
            </a:r>
            <a:endParaRPr lang="en-US" sz="720" dirty="0"/>
          </a:p>
        </p:txBody>
      </p:sp>
      <p:sp>
        <p:nvSpPr>
          <p:cNvPr id="50" name="Text 46"/>
          <p:cNvSpPr/>
          <p:nvPr/>
        </p:nvSpPr>
        <p:spPr>
          <a:xfrm>
            <a:off x="2705874" y="4736592"/>
            <a:ext cx="9275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377k</a:t>
            </a:r>
            <a:endParaRPr lang="en-US" sz="720" dirty="0"/>
          </a:p>
        </p:txBody>
      </p:sp>
      <p:sp>
        <p:nvSpPr>
          <p:cNvPr id="51" name="Text 47"/>
          <p:cNvSpPr/>
          <p:nvPr/>
        </p:nvSpPr>
        <p:spPr>
          <a:xfrm>
            <a:off x="3743194" y="4736592"/>
            <a:ext cx="8238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₹185</a:t>
            </a:r>
            <a:endParaRPr lang="en-US" sz="720" dirty="0"/>
          </a:p>
        </p:txBody>
      </p:sp>
      <p:sp>
        <p:nvSpPr>
          <p:cNvPr id="52" name="Text 48"/>
          <p:cNvSpPr/>
          <p:nvPr/>
        </p:nvSpPr>
        <p:spPr>
          <a:xfrm>
            <a:off x="4676781" y="4736592"/>
            <a:ext cx="9275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41.8%</a:t>
            </a:r>
            <a:endParaRPr lang="en-US" sz="720" dirty="0"/>
          </a:p>
        </p:txBody>
      </p:sp>
      <p:sp>
        <p:nvSpPr>
          <p:cNvPr id="53" name="Text 49"/>
          <p:cNvSpPr/>
          <p:nvPr/>
        </p:nvSpPr>
        <p:spPr>
          <a:xfrm>
            <a:off x="5714101" y="4736592"/>
            <a:ext cx="8238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19.4%</a:t>
            </a:r>
            <a:endParaRPr lang="en-US" sz="720" dirty="0"/>
          </a:p>
        </p:txBody>
      </p:sp>
      <p:sp>
        <p:nvSpPr>
          <p:cNvPr id="54" name="Shape 50"/>
          <p:cNvSpPr/>
          <p:nvPr/>
        </p:nvSpPr>
        <p:spPr>
          <a:xfrm>
            <a:off x="265176" y="53218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320040" y="5029200"/>
            <a:ext cx="13425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20" dirty="0"/>
          </a:p>
        </p:txBody>
      </p:sp>
      <p:sp>
        <p:nvSpPr>
          <p:cNvPr id="56" name="Text 52"/>
          <p:cNvSpPr/>
          <p:nvPr/>
        </p:nvSpPr>
        <p:spPr>
          <a:xfrm>
            <a:off x="1772287" y="5029200"/>
            <a:ext cx="8238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₹4.87</a:t>
            </a:r>
            <a:endParaRPr lang="en-US" sz="720" dirty="0"/>
          </a:p>
        </p:txBody>
      </p:sp>
      <p:sp>
        <p:nvSpPr>
          <p:cNvPr id="57" name="Text 53"/>
          <p:cNvSpPr/>
          <p:nvPr/>
        </p:nvSpPr>
        <p:spPr>
          <a:xfrm>
            <a:off x="2705874" y="5029200"/>
            <a:ext cx="9275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278k</a:t>
            </a:r>
            <a:endParaRPr lang="en-US" sz="720" dirty="0"/>
          </a:p>
        </p:txBody>
      </p:sp>
      <p:sp>
        <p:nvSpPr>
          <p:cNvPr id="58" name="Text 54"/>
          <p:cNvSpPr/>
          <p:nvPr/>
        </p:nvSpPr>
        <p:spPr>
          <a:xfrm>
            <a:off x="3743194" y="5029200"/>
            <a:ext cx="8238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₹175</a:t>
            </a:r>
            <a:endParaRPr lang="en-US" sz="720" dirty="0"/>
          </a:p>
        </p:txBody>
      </p:sp>
      <p:sp>
        <p:nvSpPr>
          <p:cNvPr id="59" name="Text 55"/>
          <p:cNvSpPr/>
          <p:nvPr/>
        </p:nvSpPr>
        <p:spPr>
          <a:xfrm>
            <a:off x="4676781" y="5029200"/>
            <a:ext cx="9275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43.0%</a:t>
            </a:r>
            <a:endParaRPr lang="en-US" sz="720" dirty="0"/>
          </a:p>
        </p:txBody>
      </p:sp>
      <p:sp>
        <p:nvSpPr>
          <p:cNvPr id="60" name="Text 56"/>
          <p:cNvSpPr/>
          <p:nvPr/>
        </p:nvSpPr>
        <p:spPr>
          <a:xfrm>
            <a:off x="5714101" y="5029200"/>
            <a:ext cx="8238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13.5%</a:t>
            </a:r>
            <a:endParaRPr lang="en-US" sz="720" dirty="0"/>
          </a:p>
        </p:txBody>
      </p:sp>
      <p:sp>
        <p:nvSpPr>
          <p:cNvPr id="61" name="Shape 57"/>
          <p:cNvSpPr/>
          <p:nvPr/>
        </p:nvSpPr>
        <p:spPr>
          <a:xfrm>
            <a:off x="265176" y="5321808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2" name="Shape 58"/>
          <p:cNvSpPr/>
          <p:nvPr/>
        </p:nvSpPr>
        <p:spPr>
          <a:xfrm>
            <a:off x="265176" y="56144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3" name="Text 59"/>
          <p:cNvSpPr/>
          <p:nvPr/>
        </p:nvSpPr>
        <p:spPr>
          <a:xfrm>
            <a:off x="320040" y="5321808"/>
            <a:ext cx="13425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20" dirty="0"/>
          </a:p>
        </p:txBody>
      </p:sp>
      <p:sp>
        <p:nvSpPr>
          <p:cNvPr id="64" name="Text 60"/>
          <p:cNvSpPr/>
          <p:nvPr/>
        </p:nvSpPr>
        <p:spPr>
          <a:xfrm>
            <a:off x="1772287" y="5321808"/>
            <a:ext cx="8238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₹3.54</a:t>
            </a:r>
            <a:endParaRPr lang="en-US" sz="720" dirty="0"/>
          </a:p>
        </p:txBody>
      </p:sp>
      <p:sp>
        <p:nvSpPr>
          <p:cNvPr id="65" name="Text 61"/>
          <p:cNvSpPr/>
          <p:nvPr/>
        </p:nvSpPr>
        <p:spPr>
          <a:xfrm>
            <a:off x="2705874" y="5321808"/>
            <a:ext cx="9275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183k</a:t>
            </a:r>
            <a:endParaRPr lang="en-US" sz="720" dirty="0"/>
          </a:p>
        </p:txBody>
      </p:sp>
      <p:sp>
        <p:nvSpPr>
          <p:cNvPr id="66" name="Text 62"/>
          <p:cNvSpPr/>
          <p:nvPr/>
        </p:nvSpPr>
        <p:spPr>
          <a:xfrm>
            <a:off x="3743194" y="5321808"/>
            <a:ext cx="8238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₹193</a:t>
            </a:r>
            <a:endParaRPr lang="en-US" sz="720" dirty="0"/>
          </a:p>
        </p:txBody>
      </p:sp>
      <p:sp>
        <p:nvSpPr>
          <p:cNvPr id="67" name="Text 63"/>
          <p:cNvSpPr/>
          <p:nvPr/>
        </p:nvSpPr>
        <p:spPr>
          <a:xfrm>
            <a:off x="4676781" y="5321808"/>
            <a:ext cx="9275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42.1%</a:t>
            </a:r>
            <a:endParaRPr lang="en-US" sz="720" dirty="0"/>
          </a:p>
        </p:txBody>
      </p:sp>
      <p:sp>
        <p:nvSpPr>
          <p:cNvPr id="68" name="Text 64"/>
          <p:cNvSpPr/>
          <p:nvPr/>
        </p:nvSpPr>
        <p:spPr>
          <a:xfrm>
            <a:off x="5714101" y="5321808"/>
            <a:ext cx="8238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9.8%</a:t>
            </a:r>
            <a:endParaRPr lang="en-US" sz="720" dirty="0"/>
          </a:p>
        </p:txBody>
      </p:sp>
      <p:sp>
        <p:nvSpPr>
          <p:cNvPr id="69" name="Shape 65"/>
          <p:cNvSpPr/>
          <p:nvPr/>
        </p:nvSpPr>
        <p:spPr>
          <a:xfrm>
            <a:off x="265176" y="5907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0" name="Text 66"/>
          <p:cNvSpPr/>
          <p:nvPr/>
        </p:nvSpPr>
        <p:spPr>
          <a:xfrm>
            <a:off x="320040" y="5614416"/>
            <a:ext cx="13425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</a:t>
            </a:r>
            <a:endParaRPr lang="en-US" sz="720" dirty="0"/>
          </a:p>
        </p:txBody>
      </p:sp>
      <p:sp>
        <p:nvSpPr>
          <p:cNvPr id="71" name="Text 67"/>
          <p:cNvSpPr/>
          <p:nvPr/>
        </p:nvSpPr>
        <p:spPr>
          <a:xfrm>
            <a:off x="1772287" y="5614416"/>
            <a:ext cx="8238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₹2.12</a:t>
            </a:r>
            <a:endParaRPr lang="en-US" sz="720" dirty="0"/>
          </a:p>
        </p:txBody>
      </p:sp>
      <p:sp>
        <p:nvSpPr>
          <p:cNvPr id="72" name="Text 68"/>
          <p:cNvSpPr/>
          <p:nvPr/>
        </p:nvSpPr>
        <p:spPr>
          <a:xfrm>
            <a:off x="2705874" y="5614416"/>
            <a:ext cx="9275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125k</a:t>
            </a:r>
            <a:endParaRPr lang="en-US" sz="720" dirty="0"/>
          </a:p>
        </p:txBody>
      </p:sp>
      <p:sp>
        <p:nvSpPr>
          <p:cNvPr id="73" name="Text 69"/>
          <p:cNvSpPr/>
          <p:nvPr/>
        </p:nvSpPr>
        <p:spPr>
          <a:xfrm>
            <a:off x="3743194" y="5614416"/>
            <a:ext cx="8238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₹170</a:t>
            </a:r>
            <a:endParaRPr lang="en-US" sz="720" dirty="0"/>
          </a:p>
        </p:txBody>
      </p:sp>
      <p:sp>
        <p:nvSpPr>
          <p:cNvPr id="74" name="Text 70"/>
          <p:cNvSpPr/>
          <p:nvPr/>
        </p:nvSpPr>
        <p:spPr>
          <a:xfrm>
            <a:off x="4676781" y="5614416"/>
            <a:ext cx="9275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41.1%</a:t>
            </a:r>
            <a:endParaRPr lang="en-US" sz="720" dirty="0"/>
          </a:p>
        </p:txBody>
      </p:sp>
      <p:sp>
        <p:nvSpPr>
          <p:cNvPr id="75" name="Text 71"/>
          <p:cNvSpPr/>
          <p:nvPr/>
        </p:nvSpPr>
        <p:spPr>
          <a:xfrm>
            <a:off x="5714101" y="5614416"/>
            <a:ext cx="8238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5.9%</a:t>
            </a:r>
            <a:endParaRPr lang="en-US" sz="720" dirty="0"/>
          </a:p>
        </p:txBody>
      </p:sp>
      <p:sp>
        <p:nvSpPr>
          <p:cNvPr id="76" name="Text 72"/>
          <p:cNvSpPr/>
          <p:nvPr/>
        </p:nvSpPr>
        <p:spPr>
          <a:xfrm>
            <a:off x="265176" y="6016752"/>
            <a:ext cx="6327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 range: East ₹193 (highest, premium mix) → West ₹166 (volume leader, lower-ASP packs). The 16% spread across zones is mix-driven, not discount-driven — realisation is tight across all geo zones (41–43%).</a:t>
            </a:r>
            <a:endParaRPr lang="en-US" sz="720" dirty="0"/>
          </a:p>
        </p:txBody>
      </p:sp>
      <p:sp>
        <p:nvSpPr>
          <p:cNvPr id="77" name="Shape 73"/>
          <p:cNvSpPr/>
          <p:nvPr/>
        </p:nvSpPr>
        <p:spPr>
          <a:xfrm>
            <a:off x="265176" y="6400800"/>
            <a:ext cx="6327648" cy="237744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78" name="Text 74"/>
          <p:cNvSpPr/>
          <p:nvPr/>
        </p:nvSpPr>
        <p:spPr>
          <a:xfrm>
            <a:off x="393192" y="6419088"/>
            <a:ext cx="6071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SHARE vs ASP — READING THE SCATTER</a:t>
            </a:r>
            <a:endParaRPr lang="en-US" sz="720" dirty="0"/>
          </a:p>
        </p:txBody>
      </p:sp>
      <p:sp>
        <p:nvSpPr>
          <p:cNvPr id="79" name="Text 75"/>
          <p:cNvSpPr/>
          <p:nvPr/>
        </p:nvSpPr>
        <p:spPr>
          <a:xfrm>
            <a:off x="356616" y="6748272"/>
            <a:ext cx="6144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is the volume anchor (23% share, cheapest ASP). South-1 matches on NSV with fewer units at a premium ASP. East has the highest ASP but a small share — premium-heavy, scale-limited. Central is the growth watch: 5.9% share, ASP below national (₹170 vs ₹176), realisation lowest in geo-MT (41.1%).</a:t>
            </a:r>
            <a:endParaRPr lang="en-US" sz="7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Zone ASP Analysis — Why Zones Differ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/ mix / realisation decomposition · Pattern-matcher-router: diagnostic question type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22392" y="475488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Offtake Only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Offtake Store×Article Jul-26 CSV (220,522 rows, 0 bad, excl. Brand Counter &amp; discontinued brands) · 8-Gate Validation: PASS_WITH_FLAG · FY27 · EXACT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6327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spc="3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NSV share (%) vs ASP (₹/unit) — each dot is one geographic zone</a:t>
            </a:r>
            <a:endParaRPr lang="en-US" sz="72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265176" y="1463040"/>
          <a:ext cx="6327648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265176" y="3529584"/>
            <a:ext cx="6327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Upper-right = high-share, high-ASP zone (ideal). Lower-left = smaller zone, lower ASP. West is high-share but low-ASP — volume drag. East is high-ASP but low-share — premium, not yet at scale.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265176" y="3895344"/>
            <a:ext cx="6327648" cy="237744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4" name="Text 21"/>
          <p:cNvSpPr/>
          <p:nvPr/>
        </p:nvSpPr>
        <p:spPr>
          <a:xfrm>
            <a:off x="393192" y="3913632"/>
            <a:ext cx="6071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ASSESSMENT — ZONE ASP GAP (Diagnostic, HIGH confidence)</a:t>
            </a:r>
            <a:endParaRPr lang="en-US" sz="720" dirty="0"/>
          </a:p>
        </p:txBody>
      </p:sp>
      <p:sp>
        <p:nvSpPr>
          <p:cNvPr id="25" name="Shape 22"/>
          <p:cNvSpPr/>
          <p:nvPr/>
        </p:nvSpPr>
        <p:spPr>
          <a:xfrm>
            <a:off x="265176" y="420624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6" name="Text 23"/>
          <p:cNvSpPr/>
          <p:nvPr/>
        </p:nvSpPr>
        <p:spPr>
          <a:xfrm>
            <a:off x="320040" y="4224528"/>
            <a:ext cx="10235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27" name="Text 24"/>
          <p:cNvSpPr/>
          <p:nvPr/>
        </p:nvSpPr>
        <p:spPr>
          <a:xfrm>
            <a:off x="1453350" y="4224528"/>
            <a:ext cx="5513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</a:t>
            </a:r>
            <a:endParaRPr lang="en-US" sz="660" dirty="0"/>
          </a:p>
        </p:txBody>
      </p:sp>
      <p:sp>
        <p:nvSpPr>
          <p:cNvPr id="28" name="Text 25"/>
          <p:cNvSpPr/>
          <p:nvPr/>
        </p:nvSpPr>
        <p:spPr>
          <a:xfrm>
            <a:off x="2114448" y="4224528"/>
            <a:ext cx="740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NAT (₹176)</a:t>
            </a:r>
            <a:endParaRPr lang="en-US" sz="660" dirty="0"/>
          </a:p>
        </p:txBody>
      </p:sp>
      <p:sp>
        <p:nvSpPr>
          <p:cNvPr id="29" name="Text 26"/>
          <p:cNvSpPr/>
          <p:nvPr/>
        </p:nvSpPr>
        <p:spPr>
          <a:xfrm>
            <a:off x="2964430" y="4224528"/>
            <a:ext cx="5513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660" dirty="0"/>
          </a:p>
        </p:txBody>
      </p:sp>
      <p:sp>
        <p:nvSpPr>
          <p:cNvPr id="30" name="Text 27"/>
          <p:cNvSpPr/>
          <p:nvPr/>
        </p:nvSpPr>
        <p:spPr>
          <a:xfrm>
            <a:off x="3625528" y="4224528"/>
            <a:ext cx="2912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60" dirty="0"/>
          </a:p>
        </p:txBody>
      </p:sp>
      <p:sp>
        <p:nvSpPr>
          <p:cNvPr id="31" name="Shape 28"/>
          <p:cNvSpPr/>
          <p:nvPr/>
        </p:nvSpPr>
        <p:spPr>
          <a:xfrm>
            <a:off x="265176" y="446227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32" name="Shape 29"/>
          <p:cNvSpPr/>
          <p:nvPr/>
        </p:nvSpPr>
        <p:spPr>
          <a:xfrm>
            <a:off x="265176" y="47731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20040" y="4462272"/>
            <a:ext cx="10235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20" dirty="0"/>
          </a:p>
        </p:txBody>
      </p:sp>
      <p:sp>
        <p:nvSpPr>
          <p:cNvPr id="34" name="Text 31"/>
          <p:cNvSpPr/>
          <p:nvPr/>
        </p:nvSpPr>
        <p:spPr>
          <a:xfrm>
            <a:off x="1453350" y="4462272"/>
            <a:ext cx="5513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₹166</a:t>
            </a:r>
            <a:endParaRPr lang="en-US" sz="720" dirty="0"/>
          </a:p>
        </p:txBody>
      </p:sp>
      <p:sp>
        <p:nvSpPr>
          <p:cNvPr id="35" name="Text 32"/>
          <p:cNvSpPr/>
          <p:nvPr/>
        </p:nvSpPr>
        <p:spPr>
          <a:xfrm>
            <a:off x="2114448" y="4462272"/>
            <a:ext cx="740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</a:t>
            </a:r>
            <a:endParaRPr lang="en-US" sz="720" dirty="0"/>
          </a:p>
        </p:txBody>
      </p:sp>
      <p:sp>
        <p:nvSpPr>
          <p:cNvPr id="36" name="Text 33"/>
          <p:cNvSpPr/>
          <p:nvPr/>
        </p:nvSpPr>
        <p:spPr>
          <a:xfrm>
            <a:off x="2964430" y="4462272"/>
            <a:ext cx="5513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41.9%</a:t>
            </a:r>
            <a:endParaRPr lang="en-US" sz="720" dirty="0"/>
          </a:p>
        </p:txBody>
      </p:sp>
      <p:sp>
        <p:nvSpPr>
          <p:cNvPr id="37" name="Text 34"/>
          <p:cNvSpPr/>
          <p:nvPr/>
        </p:nvSpPr>
        <p:spPr>
          <a:xfrm>
            <a:off x="3625528" y="4462272"/>
            <a:ext cx="2912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400ml Mamaearth share pulls ASP down; premium TDC underweight</a:t>
            </a:r>
            <a:endParaRPr lang="en-US" sz="720" dirty="0"/>
          </a:p>
        </p:txBody>
      </p:sp>
      <p:sp>
        <p:nvSpPr>
          <p:cNvPr id="38" name="Shape 35"/>
          <p:cNvSpPr/>
          <p:nvPr/>
        </p:nvSpPr>
        <p:spPr>
          <a:xfrm>
            <a:off x="265176" y="50840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20040" y="4773168"/>
            <a:ext cx="10235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20" dirty="0"/>
          </a:p>
        </p:txBody>
      </p:sp>
      <p:sp>
        <p:nvSpPr>
          <p:cNvPr id="40" name="Text 37"/>
          <p:cNvSpPr/>
          <p:nvPr/>
        </p:nvSpPr>
        <p:spPr>
          <a:xfrm>
            <a:off x="1453350" y="4773168"/>
            <a:ext cx="5513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₹189</a:t>
            </a:r>
            <a:endParaRPr lang="en-US" sz="720" dirty="0"/>
          </a:p>
        </p:txBody>
      </p:sp>
      <p:sp>
        <p:nvSpPr>
          <p:cNvPr id="41" name="Text 38"/>
          <p:cNvSpPr/>
          <p:nvPr/>
        </p:nvSpPr>
        <p:spPr>
          <a:xfrm>
            <a:off x="2114448" y="4773168"/>
            <a:ext cx="740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</a:t>
            </a:r>
            <a:endParaRPr lang="en-US" sz="720" dirty="0"/>
          </a:p>
        </p:txBody>
      </p:sp>
      <p:sp>
        <p:nvSpPr>
          <p:cNvPr id="42" name="Text 39"/>
          <p:cNvSpPr/>
          <p:nvPr/>
        </p:nvSpPr>
        <p:spPr>
          <a:xfrm>
            <a:off x="2964430" y="4773168"/>
            <a:ext cx="5513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42.7%</a:t>
            </a:r>
            <a:endParaRPr lang="en-US" sz="720" dirty="0"/>
          </a:p>
        </p:txBody>
      </p:sp>
      <p:sp>
        <p:nvSpPr>
          <p:cNvPr id="43" name="Text 40"/>
          <p:cNvSpPr/>
          <p:nvPr/>
        </p:nvSpPr>
        <p:spPr>
          <a:xfrm>
            <a:off x="3625528" y="4773168"/>
            <a:ext cx="2912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TDC mix (33.7%); premium face-care skews ASP up</a:t>
            </a:r>
            <a:endParaRPr lang="en-US" sz="720" dirty="0"/>
          </a:p>
        </p:txBody>
      </p:sp>
      <p:sp>
        <p:nvSpPr>
          <p:cNvPr id="44" name="Shape 41"/>
          <p:cNvSpPr/>
          <p:nvPr/>
        </p:nvSpPr>
        <p:spPr>
          <a:xfrm>
            <a:off x="265176" y="50840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5" name="Shape 42"/>
          <p:cNvSpPr/>
          <p:nvPr/>
        </p:nvSpPr>
        <p:spPr>
          <a:xfrm>
            <a:off x="265176" y="53949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320040" y="5084064"/>
            <a:ext cx="10235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20" dirty="0"/>
          </a:p>
        </p:txBody>
      </p:sp>
      <p:sp>
        <p:nvSpPr>
          <p:cNvPr id="47" name="Text 44"/>
          <p:cNvSpPr/>
          <p:nvPr/>
        </p:nvSpPr>
        <p:spPr>
          <a:xfrm>
            <a:off x="1453350" y="5084064"/>
            <a:ext cx="5513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₹185</a:t>
            </a:r>
            <a:endParaRPr lang="en-US" sz="720" dirty="0"/>
          </a:p>
        </p:txBody>
      </p:sp>
      <p:sp>
        <p:nvSpPr>
          <p:cNvPr id="48" name="Text 45"/>
          <p:cNvSpPr/>
          <p:nvPr/>
        </p:nvSpPr>
        <p:spPr>
          <a:xfrm>
            <a:off x="2114448" y="5084064"/>
            <a:ext cx="740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2964430" y="5084064"/>
            <a:ext cx="5513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41.8%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3625528" y="5084064"/>
            <a:ext cx="2912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brand + pack mix; no single drag factor</a:t>
            </a:r>
            <a:endParaRPr lang="en-US" sz="720" dirty="0"/>
          </a:p>
        </p:txBody>
      </p:sp>
      <p:sp>
        <p:nvSpPr>
          <p:cNvPr id="51" name="Shape 48"/>
          <p:cNvSpPr/>
          <p:nvPr/>
        </p:nvSpPr>
        <p:spPr>
          <a:xfrm>
            <a:off x="265176" y="57058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320040" y="5394960"/>
            <a:ext cx="10235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1453350" y="5394960"/>
            <a:ext cx="5513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₹175</a:t>
            </a:r>
            <a:endParaRPr lang="en-US" sz="720" dirty="0"/>
          </a:p>
        </p:txBody>
      </p:sp>
      <p:sp>
        <p:nvSpPr>
          <p:cNvPr id="54" name="Text 51"/>
          <p:cNvSpPr/>
          <p:nvPr/>
        </p:nvSpPr>
        <p:spPr>
          <a:xfrm>
            <a:off x="2114448" y="5394960"/>
            <a:ext cx="740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</a:t>
            </a:r>
            <a:endParaRPr lang="en-US" sz="720" dirty="0"/>
          </a:p>
        </p:txBody>
      </p:sp>
      <p:sp>
        <p:nvSpPr>
          <p:cNvPr id="55" name="Text 52"/>
          <p:cNvSpPr/>
          <p:nvPr/>
        </p:nvSpPr>
        <p:spPr>
          <a:xfrm>
            <a:off x="2964430" y="5394960"/>
            <a:ext cx="5513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43.0%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3625528" y="5394960"/>
            <a:ext cx="2912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to national average; best realisation in geo-MT</a:t>
            </a:r>
            <a:endParaRPr lang="en-US" sz="720" dirty="0"/>
          </a:p>
        </p:txBody>
      </p:sp>
      <p:sp>
        <p:nvSpPr>
          <p:cNvPr id="57" name="Shape 54"/>
          <p:cNvSpPr/>
          <p:nvPr/>
        </p:nvSpPr>
        <p:spPr>
          <a:xfrm>
            <a:off x="265176" y="57058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8" name="Shape 55"/>
          <p:cNvSpPr/>
          <p:nvPr/>
        </p:nvSpPr>
        <p:spPr>
          <a:xfrm>
            <a:off x="265176" y="60167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320040" y="5705856"/>
            <a:ext cx="10235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20" dirty="0"/>
          </a:p>
        </p:txBody>
      </p:sp>
      <p:sp>
        <p:nvSpPr>
          <p:cNvPr id="60" name="Text 57"/>
          <p:cNvSpPr/>
          <p:nvPr/>
        </p:nvSpPr>
        <p:spPr>
          <a:xfrm>
            <a:off x="1453350" y="5705856"/>
            <a:ext cx="5513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₹193</a:t>
            </a:r>
            <a:endParaRPr lang="en-US" sz="720" dirty="0"/>
          </a:p>
        </p:txBody>
      </p:sp>
      <p:sp>
        <p:nvSpPr>
          <p:cNvPr id="61" name="Text 58"/>
          <p:cNvSpPr/>
          <p:nvPr/>
        </p:nvSpPr>
        <p:spPr>
          <a:xfrm>
            <a:off x="2114448" y="5705856"/>
            <a:ext cx="740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</a:t>
            </a:r>
            <a:endParaRPr lang="en-US" sz="720" dirty="0"/>
          </a:p>
        </p:txBody>
      </p:sp>
      <p:sp>
        <p:nvSpPr>
          <p:cNvPr id="62" name="Text 59"/>
          <p:cNvSpPr/>
          <p:nvPr/>
        </p:nvSpPr>
        <p:spPr>
          <a:xfrm>
            <a:off x="2964430" y="5705856"/>
            <a:ext cx="5513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42.1%</a:t>
            </a:r>
            <a:endParaRPr lang="en-US" sz="720" dirty="0"/>
          </a:p>
        </p:txBody>
      </p:sp>
      <p:sp>
        <p:nvSpPr>
          <p:cNvPr id="63" name="Text 60"/>
          <p:cNvSpPr/>
          <p:nvPr/>
        </p:nvSpPr>
        <p:spPr>
          <a:xfrm>
            <a:off x="3625528" y="5705856"/>
            <a:ext cx="2912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pack concentration; fewer high-volume cheap SKUs</a:t>
            </a:r>
            <a:endParaRPr lang="en-US" sz="720" dirty="0"/>
          </a:p>
        </p:txBody>
      </p:sp>
      <p:sp>
        <p:nvSpPr>
          <p:cNvPr id="64" name="Shape 61"/>
          <p:cNvSpPr/>
          <p:nvPr/>
        </p:nvSpPr>
        <p:spPr>
          <a:xfrm>
            <a:off x="265176" y="6327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320040" y="6016752"/>
            <a:ext cx="10235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1453350" y="6016752"/>
            <a:ext cx="5513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₹170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2114448" y="6016752"/>
            <a:ext cx="740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2964430" y="6016752"/>
            <a:ext cx="5513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41.1%</a:t>
            </a:r>
            <a:endParaRPr lang="en-US" sz="720" dirty="0"/>
          </a:p>
        </p:txBody>
      </p:sp>
      <p:sp>
        <p:nvSpPr>
          <p:cNvPr id="69" name="Text 66"/>
          <p:cNvSpPr/>
          <p:nvPr/>
        </p:nvSpPr>
        <p:spPr>
          <a:xfrm>
            <a:off x="3625528" y="6016752"/>
            <a:ext cx="2912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400ml Mamaearth mix + lowest realisation in geo-MT</a:t>
            </a:r>
            <a:endParaRPr lang="en-US" sz="720" dirty="0"/>
          </a:p>
        </p:txBody>
      </p:sp>
      <p:sp>
        <p:nvSpPr>
          <p:cNvPr id="70" name="Shape 67"/>
          <p:cNvSpPr/>
          <p:nvPr/>
        </p:nvSpPr>
        <p:spPr>
          <a:xfrm>
            <a:off x="265176" y="6437376"/>
            <a:ext cx="6327648" cy="237744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71" name="Text 68"/>
          <p:cNvSpPr/>
          <p:nvPr/>
        </p:nvSpPr>
        <p:spPr>
          <a:xfrm>
            <a:off x="393192" y="6455664"/>
            <a:ext cx="6071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PRICE-VOLUME DECOMPOSITION — May → July</a:t>
            </a:r>
            <a:endParaRPr lang="en-US" sz="720" dirty="0"/>
          </a:p>
        </p:txBody>
      </p:sp>
      <p:sp>
        <p:nvSpPr>
          <p:cNvPr id="72" name="Shape 69"/>
          <p:cNvSpPr/>
          <p:nvPr/>
        </p:nvSpPr>
        <p:spPr>
          <a:xfrm>
            <a:off x="265176" y="6748272"/>
            <a:ext cx="2036064" cy="146304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265176" y="6748272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74" name="Text 71"/>
          <p:cNvSpPr/>
          <p:nvPr/>
        </p:nvSpPr>
        <p:spPr>
          <a:xfrm>
            <a:off x="347472" y="67665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EFFECT</a:t>
            </a:r>
            <a:endParaRPr lang="en-US" sz="700" dirty="0"/>
          </a:p>
        </p:txBody>
      </p:sp>
      <p:sp>
        <p:nvSpPr>
          <p:cNvPr id="75" name="Text 72"/>
          <p:cNvSpPr/>
          <p:nvPr/>
        </p:nvSpPr>
        <p:spPr>
          <a:xfrm>
            <a:off x="356616" y="7114032"/>
            <a:ext cx="1853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−5.02 Cr</a:t>
            </a:r>
            <a:endParaRPr lang="en-US" sz="1800" dirty="0"/>
          </a:p>
        </p:txBody>
      </p:sp>
      <p:sp>
        <p:nvSpPr>
          <p:cNvPr id="76" name="Text 73"/>
          <p:cNvSpPr/>
          <p:nvPr/>
        </p:nvSpPr>
        <p:spPr>
          <a:xfrm>
            <a:off x="356616" y="7498080"/>
            <a:ext cx="1853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−292,724 units × ₹171.44 May ASP</a:t>
            </a:r>
            <a:endParaRPr lang="en-US" sz="700" dirty="0"/>
          </a:p>
        </p:txBody>
      </p:sp>
      <p:sp>
        <p:nvSpPr>
          <p:cNvPr id="77" name="Text 74"/>
          <p:cNvSpPr/>
          <p:nvPr/>
        </p:nvSpPr>
        <p:spPr>
          <a:xfrm>
            <a:off x="356616" y="7772400"/>
            <a:ext cx="1853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contracted. July billed less than May by 12.5%. This is the entire NSV decline.</a:t>
            </a:r>
            <a:endParaRPr lang="en-US" sz="700" dirty="0"/>
          </a:p>
        </p:txBody>
      </p:sp>
      <p:sp>
        <p:nvSpPr>
          <p:cNvPr id="78" name="Shape 75"/>
          <p:cNvSpPr/>
          <p:nvPr/>
        </p:nvSpPr>
        <p:spPr>
          <a:xfrm>
            <a:off x="2410968" y="6748272"/>
            <a:ext cx="2036064" cy="146304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2410968" y="6748272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80" name="Text 77"/>
          <p:cNvSpPr/>
          <p:nvPr/>
        </p:nvSpPr>
        <p:spPr>
          <a:xfrm>
            <a:off x="2493264" y="67665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/ MIX EFFECT</a:t>
            </a:r>
            <a:endParaRPr lang="en-US" sz="700" dirty="0"/>
          </a:p>
        </p:txBody>
      </p:sp>
      <p:sp>
        <p:nvSpPr>
          <p:cNvPr id="81" name="Text 78"/>
          <p:cNvSpPr/>
          <p:nvPr/>
        </p:nvSpPr>
        <p:spPr>
          <a:xfrm>
            <a:off x="2502408" y="7114032"/>
            <a:ext cx="1853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+0.89 Cr</a:t>
            </a:r>
            <a:endParaRPr lang="en-US" sz="1800" dirty="0"/>
          </a:p>
        </p:txBody>
      </p:sp>
      <p:sp>
        <p:nvSpPr>
          <p:cNvPr id="82" name="Text 79"/>
          <p:cNvSpPr/>
          <p:nvPr/>
        </p:nvSpPr>
        <p:spPr>
          <a:xfrm>
            <a:off x="2502408" y="7498080"/>
            <a:ext cx="1853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2,051,674 Jul units × +₹4.32 ASP gain</a:t>
            </a:r>
            <a:endParaRPr lang="en-US" sz="700" dirty="0"/>
          </a:p>
        </p:txBody>
      </p:sp>
      <p:sp>
        <p:nvSpPr>
          <p:cNvPr id="83" name="Text 80"/>
          <p:cNvSpPr/>
          <p:nvPr/>
        </p:nvSpPr>
        <p:spPr>
          <a:xfrm>
            <a:off x="2502408" y="7772400"/>
            <a:ext cx="1853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 rose ₹4.32 vs May (+2.5%). Mix shifted toward TDC and premium packs offsetting volume loss.</a:t>
            </a:r>
            <a:endParaRPr lang="en-US" sz="700" dirty="0"/>
          </a:p>
        </p:txBody>
      </p:sp>
      <p:sp>
        <p:nvSpPr>
          <p:cNvPr id="84" name="Shape 81"/>
          <p:cNvSpPr/>
          <p:nvPr/>
        </p:nvSpPr>
        <p:spPr>
          <a:xfrm>
            <a:off x="4556760" y="6748272"/>
            <a:ext cx="2036064" cy="146304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4556760" y="674827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86" name="Text 83"/>
          <p:cNvSpPr/>
          <p:nvPr/>
        </p:nvSpPr>
        <p:spPr>
          <a:xfrm>
            <a:off x="4639056" y="67665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NSV CHANGE</a:t>
            </a:r>
            <a:endParaRPr lang="en-US" sz="700" dirty="0"/>
          </a:p>
        </p:txBody>
      </p:sp>
      <p:sp>
        <p:nvSpPr>
          <p:cNvPr id="87" name="Text 84"/>
          <p:cNvSpPr/>
          <p:nvPr/>
        </p:nvSpPr>
        <p:spPr>
          <a:xfrm>
            <a:off x="4648200" y="7114032"/>
            <a:ext cx="1853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−4.13 Cr</a:t>
            </a:r>
            <a:endParaRPr lang="en-US" sz="1800" dirty="0"/>
          </a:p>
        </p:txBody>
      </p:sp>
      <p:sp>
        <p:nvSpPr>
          <p:cNvPr id="88" name="Text 85"/>
          <p:cNvSpPr/>
          <p:nvPr/>
        </p:nvSpPr>
        <p:spPr>
          <a:xfrm>
            <a:off x="4648200" y="7498080"/>
            <a:ext cx="1853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₹40.19 Cr → Jul ₹36.06 Cr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648200" y="7772400"/>
            <a:ext cx="1853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 is 100% volume-driven. Pricing is improving. Diagnose the unit shortfall, not the price.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Chain Performance — Top 9 Accounts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MT · NSV, units, ASP ranking · Big 3 = Dmart + Reliance + Apollo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22392" y="475488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Offtake Only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Offtake Store×Article Jul-26 CSV (220,522 rows, 0 bad, excl. Brand Counter &amp; discontinued brands) · 8-Gate Validation: PASS_WITH_FLAG · FY27 · EXACT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36700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spc="3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NSV by chain (₹ Cr) — top 9</a:t>
            </a:r>
            <a:endParaRPr lang="en-US" sz="72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265176" y="1463040"/>
          <a:ext cx="3670036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4061765" y="1261872"/>
            <a:ext cx="25310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spc="3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 by chain (₹/unit)</a:t>
            </a:r>
            <a:endParaRPr lang="en-US" sz="72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4061765" y="1463040"/>
          <a:ext cx="2531059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Shape 20"/>
          <p:cNvSpPr/>
          <p:nvPr/>
        </p:nvSpPr>
        <p:spPr>
          <a:xfrm>
            <a:off x="265176" y="442569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5" name="Text 21"/>
          <p:cNvSpPr/>
          <p:nvPr/>
        </p:nvSpPr>
        <p:spPr>
          <a:xfrm>
            <a:off x="320040" y="4443984"/>
            <a:ext cx="13575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26" name="Text 22"/>
          <p:cNvSpPr/>
          <p:nvPr/>
        </p:nvSpPr>
        <p:spPr>
          <a:xfrm>
            <a:off x="1787321" y="4443984"/>
            <a:ext cx="807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NSV (₹ Cr)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2704371" y="4443984"/>
            <a:ext cx="71561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660" dirty="0"/>
          </a:p>
        </p:txBody>
      </p:sp>
      <p:sp>
        <p:nvSpPr>
          <p:cNvPr id="28" name="Text 24"/>
          <p:cNvSpPr/>
          <p:nvPr/>
        </p:nvSpPr>
        <p:spPr>
          <a:xfrm>
            <a:off x="3529717" y="4443984"/>
            <a:ext cx="71561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 (₹)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4355062" y="4443984"/>
            <a:ext cx="623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30" name="Text 26"/>
          <p:cNvSpPr/>
          <p:nvPr/>
        </p:nvSpPr>
        <p:spPr>
          <a:xfrm>
            <a:off x="5088702" y="4443984"/>
            <a:ext cx="14492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660" dirty="0"/>
          </a:p>
        </p:txBody>
      </p:sp>
      <p:sp>
        <p:nvSpPr>
          <p:cNvPr id="31" name="Shape 27"/>
          <p:cNvSpPr/>
          <p:nvPr/>
        </p:nvSpPr>
        <p:spPr>
          <a:xfrm>
            <a:off x="265176" y="4681728"/>
            <a:ext cx="6327648" cy="28346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32" name="Shape 28"/>
          <p:cNvSpPr/>
          <p:nvPr/>
        </p:nvSpPr>
        <p:spPr>
          <a:xfrm>
            <a:off x="265176" y="49651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320040" y="4681728"/>
            <a:ext cx="135755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20" dirty="0"/>
          </a:p>
        </p:txBody>
      </p:sp>
      <p:sp>
        <p:nvSpPr>
          <p:cNvPr id="34" name="Text 30"/>
          <p:cNvSpPr/>
          <p:nvPr/>
        </p:nvSpPr>
        <p:spPr>
          <a:xfrm>
            <a:off x="1787321" y="4681728"/>
            <a:ext cx="80732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₹13.97</a:t>
            </a:r>
            <a:endParaRPr lang="en-US" sz="720" dirty="0"/>
          </a:p>
        </p:txBody>
      </p:sp>
      <p:sp>
        <p:nvSpPr>
          <p:cNvPr id="35" name="Text 31"/>
          <p:cNvSpPr/>
          <p:nvPr/>
        </p:nvSpPr>
        <p:spPr>
          <a:xfrm>
            <a:off x="2704371" y="4681728"/>
            <a:ext cx="7156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883k</a:t>
            </a:r>
            <a:endParaRPr lang="en-US" sz="720" dirty="0"/>
          </a:p>
        </p:txBody>
      </p:sp>
      <p:sp>
        <p:nvSpPr>
          <p:cNvPr id="36" name="Text 32"/>
          <p:cNvSpPr/>
          <p:nvPr/>
        </p:nvSpPr>
        <p:spPr>
          <a:xfrm>
            <a:off x="3529717" y="4681728"/>
            <a:ext cx="7156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₹158</a:t>
            </a:r>
            <a:endParaRPr lang="en-US" sz="720" dirty="0"/>
          </a:p>
        </p:txBody>
      </p:sp>
      <p:sp>
        <p:nvSpPr>
          <p:cNvPr id="37" name="Text 33"/>
          <p:cNvSpPr/>
          <p:nvPr/>
        </p:nvSpPr>
        <p:spPr>
          <a:xfrm>
            <a:off x="4355062" y="4681728"/>
            <a:ext cx="6239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38.8%</a:t>
            </a:r>
            <a:endParaRPr lang="en-US" sz="720" dirty="0"/>
          </a:p>
        </p:txBody>
      </p:sp>
      <p:sp>
        <p:nvSpPr>
          <p:cNvPr id="38" name="Text 34"/>
          <p:cNvSpPr/>
          <p:nvPr/>
        </p:nvSpPr>
        <p:spPr>
          <a:xfrm>
            <a:off x="5088702" y="4681728"/>
            <a:ext cx="144925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engine; low ASP — Mamaearth 400ml dominant</a:t>
            </a:r>
            <a:endParaRPr lang="en-US" sz="720" dirty="0"/>
          </a:p>
        </p:txBody>
      </p:sp>
      <p:sp>
        <p:nvSpPr>
          <p:cNvPr id="39" name="Shape 35"/>
          <p:cNvSpPr/>
          <p:nvPr/>
        </p:nvSpPr>
        <p:spPr>
          <a:xfrm>
            <a:off x="265176" y="52486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320040" y="4965192"/>
            <a:ext cx="135755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41" name="Text 37"/>
          <p:cNvSpPr/>
          <p:nvPr/>
        </p:nvSpPr>
        <p:spPr>
          <a:xfrm>
            <a:off x="1787321" y="4965192"/>
            <a:ext cx="80732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₹8.06</a:t>
            </a:r>
            <a:endParaRPr lang="en-US" sz="720" dirty="0"/>
          </a:p>
        </p:txBody>
      </p:sp>
      <p:sp>
        <p:nvSpPr>
          <p:cNvPr id="42" name="Text 38"/>
          <p:cNvSpPr/>
          <p:nvPr/>
        </p:nvSpPr>
        <p:spPr>
          <a:xfrm>
            <a:off x="2704371" y="4965192"/>
            <a:ext cx="7156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399k</a:t>
            </a:r>
            <a:endParaRPr lang="en-US" sz="720" dirty="0"/>
          </a:p>
        </p:txBody>
      </p:sp>
      <p:sp>
        <p:nvSpPr>
          <p:cNvPr id="43" name="Text 39"/>
          <p:cNvSpPr/>
          <p:nvPr/>
        </p:nvSpPr>
        <p:spPr>
          <a:xfrm>
            <a:off x="3529717" y="4965192"/>
            <a:ext cx="7156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₹202</a:t>
            </a:r>
            <a:endParaRPr lang="en-US" sz="720" dirty="0"/>
          </a:p>
        </p:txBody>
      </p:sp>
      <p:sp>
        <p:nvSpPr>
          <p:cNvPr id="44" name="Text 40"/>
          <p:cNvSpPr/>
          <p:nvPr/>
        </p:nvSpPr>
        <p:spPr>
          <a:xfrm>
            <a:off x="4355062" y="4965192"/>
            <a:ext cx="6239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22.4%</a:t>
            </a:r>
            <a:endParaRPr lang="en-US" sz="720" dirty="0"/>
          </a:p>
        </p:txBody>
      </p:sp>
      <p:sp>
        <p:nvSpPr>
          <p:cNvPr id="45" name="Text 41"/>
          <p:cNvSpPr/>
          <p:nvPr/>
        </p:nvSpPr>
        <p:spPr>
          <a:xfrm>
            <a:off x="5088702" y="4965192"/>
            <a:ext cx="144925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skew; best geo-chain ASP after Lulu</a:t>
            </a:r>
            <a:endParaRPr lang="en-US" sz="720" dirty="0"/>
          </a:p>
        </p:txBody>
      </p:sp>
      <p:sp>
        <p:nvSpPr>
          <p:cNvPr id="46" name="Shape 42"/>
          <p:cNvSpPr/>
          <p:nvPr/>
        </p:nvSpPr>
        <p:spPr>
          <a:xfrm>
            <a:off x="265176" y="5248656"/>
            <a:ext cx="6327648" cy="28346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7" name="Shape 43"/>
          <p:cNvSpPr/>
          <p:nvPr/>
        </p:nvSpPr>
        <p:spPr>
          <a:xfrm>
            <a:off x="265176" y="55321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320040" y="5248656"/>
            <a:ext cx="135755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20" dirty="0"/>
          </a:p>
        </p:txBody>
      </p:sp>
      <p:sp>
        <p:nvSpPr>
          <p:cNvPr id="49" name="Text 45"/>
          <p:cNvSpPr/>
          <p:nvPr/>
        </p:nvSpPr>
        <p:spPr>
          <a:xfrm>
            <a:off x="1787321" y="5248656"/>
            <a:ext cx="80732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₹7.18</a:t>
            </a:r>
            <a:endParaRPr lang="en-US" sz="720" dirty="0"/>
          </a:p>
        </p:txBody>
      </p:sp>
      <p:sp>
        <p:nvSpPr>
          <p:cNvPr id="50" name="Text 46"/>
          <p:cNvSpPr/>
          <p:nvPr/>
        </p:nvSpPr>
        <p:spPr>
          <a:xfrm>
            <a:off x="2704371" y="5248656"/>
            <a:ext cx="7156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412k</a:t>
            </a:r>
            <a:endParaRPr lang="en-US" sz="720" dirty="0"/>
          </a:p>
        </p:txBody>
      </p:sp>
      <p:sp>
        <p:nvSpPr>
          <p:cNvPr id="51" name="Text 47"/>
          <p:cNvSpPr/>
          <p:nvPr/>
        </p:nvSpPr>
        <p:spPr>
          <a:xfrm>
            <a:off x="3529717" y="5248656"/>
            <a:ext cx="7156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₹174</a:t>
            </a:r>
            <a:endParaRPr lang="en-US" sz="720" dirty="0"/>
          </a:p>
        </p:txBody>
      </p:sp>
      <p:sp>
        <p:nvSpPr>
          <p:cNvPr id="52" name="Text 48"/>
          <p:cNvSpPr/>
          <p:nvPr/>
        </p:nvSpPr>
        <p:spPr>
          <a:xfrm>
            <a:off x="4355062" y="5248656"/>
            <a:ext cx="6239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19.9%</a:t>
            </a:r>
            <a:endParaRPr lang="en-US" sz="720" dirty="0"/>
          </a:p>
        </p:txBody>
      </p:sp>
      <p:sp>
        <p:nvSpPr>
          <p:cNvPr id="53" name="Text 49"/>
          <p:cNvSpPr/>
          <p:nvPr/>
        </p:nvSpPr>
        <p:spPr>
          <a:xfrm>
            <a:off x="5088702" y="5248656"/>
            <a:ext cx="144925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Pharma-MT; high units, mid ASP</a:t>
            </a:r>
            <a:endParaRPr lang="en-US" sz="720" dirty="0"/>
          </a:p>
        </p:txBody>
      </p:sp>
      <p:sp>
        <p:nvSpPr>
          <p:cNvPr id="54" name="Shape 50"/>
          <p:cNvSpPr/>
          <p:nvPr/>
        </p:nvSpPr>
        <p:spPr>
          <a:xfrm>
            <a:off x="265176" y="58155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320040" y="5532120"/>
            <a:ext cx="135755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56" name="Text 52"/>
          <p:cNvSpPr/>
          <p:nvPr/>
        </p:nvSpPr>
        <p:spPr>
          <a:xfrm>
            <a:off x="1787321" y="5532120"/>
            <a:ext cx="80732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₹1.70</a:t>
            </a:r>
            <a:endParaRPr lang="en-US" sz="720" dirty="0"/>
          </a:p>
        </p:txBody>
      </p:sp>
      <p:sp>
        <p:nvSpPr>
          <p:cNvPr id="57" name="Text 53"/>
          <p:cNvSpPr/>
          <p:nvPr/>
        </p:nvSpPr>
        <p:spPr>
          <a:xfrm>
            <a:off x="2704371" y="5532120"/>
            <a:ext cx="7156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56k</a:t>
            </a:r>
            <a:endParaRPr lang="en-US" sz="720" dirty="0"/>
          </a:p>
        </p:txBody>
      </p:sp>
      <p:sp>
        <p:nvSpPr>
          <p:cNvPr id="58" name="Text 54"/>
          <p:cNvSpPr/>
          <p:nvPr/>
        </p:nvSpPr>
        <p:spPr>
          <a:xfrm>
            <a:off x="3529717" y="5532120"/>
            <a:ext cx="7156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₹304</a:t>
            </a:r>
            <a:endParaRPr lang="en-US" sz="720" dirty="0"/>
          </a:p>
        </p:txBody>
      </p:sp>
      <p:sp>
        <p:nvSpPr>
          <p:cNvPr id="59" name="Text 55"/>
          <p:cNvSpPr/>
          <p:nvPr/>
        </p:nvSpPr>
        <p:spPr>
          <a:xfrm>
            <a:off x="4355062" y="5532120"/>
            <a:ext cx="6239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4.7%</a:t>
            </a:r>
            <a:endParaRPr lang="en-US" sz="720" dirty="0"/>
          </a:p>
        </p:txBody>
      </p:sp>
      <p:sp>
        <p:nvSpPr>
          <p:cNvPr id="60" name="Text 56"/>
          <p:cNvSpPr/>
          <p:nvPr/>
        </p:nvSpPr>
        <p:spPr>
          <a:xfrm>
            <a:off x="5088702" y="5532120"/>
            <a:ext cx="144925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ASP — premium portfolio, low volume</a:t>
            </a:r>
            <a:endParaRPr lang="en-US" sz="720" dirty="0"/>
          </a:p>
        </p:txBody>
      </p:sp>
      <p:sp>
        <p:nvSpPr>
          <p:cNvPr id="61" name="Shape 57"/>
          <p:cNvSpPr/>
          <p:nvPr/>
        </p:nvSpPr>
        <p:spPr>
          <a:xfrm>
            <a:off x="265176" y="5815584"/>
            <a:ext cx="6327648" cy="28346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2" name="Shape 58"/>
          <p:cNvSpPr/>
          <p:nvPr/>
        </p:nvSpPr>
        <p:spPr>
          <a:xfrm>
            <a:off x="265176" y="60990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3" name="Text 59"/>
          <p:cNvSpPr/>
          <p:nvPr/>
        </p:nvSpPr>
        <p:spPr>
          <a:xfrm>
            <a:off x="320040" y="5815584"/>
            <a:ext cx="135755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64" name="Text 60"/>
          <p:cNvSpPr/>
          <p:nvPr/>
        </p:nvSpPr>
        <p:spPr>
          <a:xfrm>
            <a:off x="1787321" y="5815584"/>
            <a:ext cx="80732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₹0.72</a:t>
            </a:r>
            <a:endParaRPr lang="en-US" sz="720" dirty="0"/>
          </a:p>
        </p:txBody>
      </p:sp>
      <p:sp>
        <p:nvSpPr>
          <p:cNvPr id="65" name="Text 61"/>
          <p:cNvSpPr/>
          <p:nvPr/>
        </p:nvSpPr>
        <p:spPr>
          <a:xfrm>
            <a:off x="2704371" y="5815584"/>
            <a:ext cx="7156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32k</a:t>
            </a:r>
            <a:endParaRPr lang="en-US" sz="720" dirty="0"/>
          </a:p>
        </p:txBody>
      </p:sp>
      <p:sp>
        <p:nvSpPr>
          <p:cNvPr id="66" name="Text 62"/>
          <p:cNvSpPr/>
          <p:nvPr/>
        </p:nvSpPr>
        <p:spPr>
          <a:xfrm>
            <a:off x="3529717" y="5815584"/>
            <a:ext cx="7156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₹225</a:t>
            </a:r>
            <a:endParaRPr lang="en-US" sz="720" dirty="0"/>
          </a:p>
        </p:txBody>
      </p:sp>
      <p:sp>
        <p:nvSpPr>
          <p:cNvPr id="67" name="Text 63"/>
          <p:cNvSpPr/>
          <p:nvPr/>
        </p:nvSpPr>
        <p:spPr>
          <a:xfrm>
            <a:off x="4355062" y="5815584"/>
            <a:ext cx="6239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2.0%</a:t>
            </a:r>
            <a:endParaRPr lang="en-US" sz="720" dirty="0"/>
          </a:p>
        </p:txBody>
      </p:sp>
      <p:sp>
        <p:nvSpPr>
          <p:cNvPr id="68" name="Text 64"/>
          <p:cNvSpPr/>
          <p:nvPr/>
        </p:nvSpPr>
        <p:spPr>
          <a:xfrm>
            <a:off x="5088702" y="5815584"/>
            <a:ext cx="144925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Health-pharma format; growing TDC share</a:t>
            </a:r>
            <a:endParaRPr lang="en-US" sz="720" dirty="0"/>
          </a:p>
        </p:txBody>
      </p:sp>
      <p:sp>
        <p:nvSpPr>
          <p:cNvPr id="69" name="Shape 65"/>
          <p:cNvSpPr/>
          <p:nvPr/>
        </p:nvSpPr>
        <p:spPr>
          <a:xfrm>
            <a:off x="265176" y="638251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0" name="Text 66"/>
          <p:cNvSpPr/>
          <p:nvPr/>
        </p:nvSpPr>
        <p:spPr>
          <a:xfrm>
            <a:off x="320040" y="6099048"/>
            <a:ext cx="135755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H&amp;G</a:t>
            </a:r>
            <a:endParaRPr lang="en-US" sz="720" dirty="0"/>
          </a:p>
        </p:txBody>
      </p:sp>
      <p:sp>
        <p:nvSpPr>
          <p:cNvPr id="71" name="Text 67"/>
          <p:cNvSpPr/>
          <p:nvPr/>
        </p:nvSpPr>
        <p:spPr>
          <a:xfrm>
            <a:off x="1787321" y="6099048"/>
            <a:ext cx="80732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₹0.51</a:t>
            </a:r>
            <a:endParaRPr lang="en-US" sz="720" dirty="0"/>
          </a:p>
        </p:txBody>
      </p:sp>
      <p:sp>
        <p:nvSpPr>
          <p:cNvPr id="72" name="Text 68"/>
          <p:cNvSpPr/>
          <p:nvPr/>
        </p:nvSpPr>
        <p:spPr>
          <a:xfrm>
            <a:off x="2704371" y="6099048"/>
            <a:ext cx="7156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18k</a:t>
            </a:r>
            <a:endParaRPr lang="en-US" sz="720" dirty="0"/>
          </a:p>
        </p:txBody>
      </p:sp>
      <p:sp>
        <p:nvSpPr>
          <p:cNvPr id="73" name="Text 69"/>
          <p:cNvSpPr/>
          <p:nvPr/>
        </p:nvSpPr>
        <p:spPr>
          <a:xfrm>
            <a:off x="3529717" y="6099048"/>
            <a:ext cx="7156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₹281</a:t>
            </a:r>
            <a:endParaRPr lang="en-US" sz="720" dirty="0"/>
          </a:p>
        </p:txBody>
      </p:sp>
      <p:sp>
        <p:nvSpPr>
          <p:cNvPr id="74" name="Text 70"/>
          <p:cNvSpPr/>
          <p:nvPr/>
        </p:nvSpPr>
        <p:spPr>
          <a:xfrm>
            <a:off x="4355062" y="6099048"/>
            <a:ext cx="6239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1.4%</a:t>
            </a:r>
            <a:endParaRPr lang="en-US" sz="720" dirty="0"/>
          </a:p>
        </p:txBody>
      </p:sp>
      <p:sp>
        <p:nvSpPr>
          <p:cNvPr id="75" name="Text 71"/>
          <p:cNvSpPr/>
          <p:nvPr/>
        </p:nvSpPr>
        <p:spPr>
          <a:xfrm>
            <a:off x="5088702" y="6099048"/>
            <a:ext cx="144925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general trade; niche but high-value</a:t>
            </a:r>
            <a:endParaRPr lang="en-US" sz="720" dirty="0"/>
          </a:p>
        </p:txBody>
      </p:sp>
      <p:sp>
        <p:nvSpPr>
          <p:cNvPr id="76" name="Shape 72"/>
          <p:cNvSpPr/>
          <p:nvPr/>
        </p:nvSpPr>
        <p:spPr>
          <a:xfrm>
            <a:off x="265176" y="6382512"/>
            <a:ext cx="6327648" cy="28346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7" name="Shape 73"/>
          <p:cNvSpPr/>
          <p:nvPr/>
        </p:nvSpPr>
        <p:spPr>
          <a:xfrm>
            <a:off x="265176" y="666597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8" name="Text 74"/>
          <p:cNvSpPr/>
          <p:nvPr/>
        </p:nvSpPr>
        <p:spPr>
          <a:xfrm>
            <a:off x="320040" y="6382512"/>
            <a:ext cx="135755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 Cnc</a:t>
            </a:r>
            <a:endParaRPr lang="en-US" sz="720" dirty="0"/>
          </a:p>
        </p:txBody>
      </p:sp>
      <p:sp>
        <p:nvSpPr>
          <p:cNvPr id="79" name="Text 75"/>
          <p:cNvSpPr/>
          <p:nvPr/>
        </p:nvSpPr>
        <p:spPr>
          <a:xfrm>
            <a:off x="1787321" y="6382512"/>
            <a:ext cx="80732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₹0.49</a:t>
            </a:r>
            <a:endParaRPr lang="en-US" sz="720" dirty="0"/>
          </a:p>
        </p:txBody>
      </p:sp>
      <p:sp>
        <p:nvSpPr>
          <p:cNvPr id="80" name="Text 76"/>
          <p:cNvSpPr/>
          <p:nvPr/>
        </p:nvSpPr>
        <p:spPr>
          <a:xfrm>
            <a:off x="2704371" y="6382512"/>
            <a:ext cx="7156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23k</a:t>
            </a:r>
            <a:endParaRPr lang="en-US" sz="720" dirty="0"/>
          </a:p>
        </p:txBody>
      </p:sp>
      <p:sp>
        <p:nvSpPr>
          <p:cNvPr id="81" name="Text 77"/>
          <p:cNvSpPr/>
          <p:nvPr/>
        </p:nvSpPr>
        <p:spPr>
          <a:xfrm>
            <a:off x="3529717" y="6382512"/>
            <a:ext cx="7156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₹212</a:t>
            </a:r>
            <a:endParaRPr lang="en-US" sz="720" dirty="0"/>
          </a:p>
        </p:txBody>
      </p:sp>
      <p:sp>
        <p:nvSpPr>
          <p:cNvPr id="82" name="Text 78"/>
          <p:cNvSpPr/>
          <p:nvPr/>
        </p:nvSpPr>
        <p:spPr>
          <a:xfrm>
            <a:off x="4355062" y="6382512"/>
            <a:ext cx="6239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1.4%</a:t>
            </a:r>
            <a:endParaRPr lang="en-US" sz="720" dirty="0"/>
          </a:p>
        </p:txBody>
      </p:sp>
      <p:sp>
        <p:nvSpPr>
          <p:cNvPr id="83" name="Text 79"/>
          <p:cNvSpPr/>
          <p:nvPr/>
        </p:nvSpPr>
        <p:spPr>
          <a:xfrm>
            <a:off x="5088702" y="6382512"/>
            <a:ext cx="144925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Cash-n-carry; bulk purchases</a:t>
            </a:r>
            <a:endParaRPr lang="en-US" sz="720" dirty="0"/>
          </a:p>
        </p:txBody>
      </p:sp>
      <p:sp>
        <p:nvSpPr>
          <p:cNvPr id="84" name="Shape 80"/>
          <p:cNvSpPr/>
          <p:nvPr/>
        </p:nvSpPr>
        <p:spPr>
          <a:xfrm>
            <a:off x="265176" y="69494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5" name="Text 81"/>
          <p:cNvSpPr/>
          <p:nvPr/>
        </p:nvSpPr>
        <p:spPr>
          <a:xfrm>
            <a:off x="320040" y="6665976"/>
            <a:ext cx="135755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Retail</a:t>
            </a:r>
            <a:endParaRPr lang="en-US" sz="720" dirty="0"/>
          </a:p>
        </p:txBody>
      </p:sp>
      <p:sp>
        <p:nvSpPr>
          <p:cNvPr id="86" name="Text 82"/>
          <p:cNvSpPr/>
          <p:nvPr/>
        </p:nvSpPr>
        <p:spPr>
          <a:xfrm>
            <a:off x="1787321" y="6665976"/>
            <a:ext cx="80732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₹0.41</a:t>
            </a:r>
            <a:endParaRPr lang="en-US" sz="720" dirty="0"/>
          </a:p>
        </p:txBody>
      </p:sp>
      <p:sp>
        <p:nvSpPr>
          <p:cNvPr id="87" name="Text 83"/>
          <p:cNvSpPr/>
          <p:nvPr/>
        </p:nvSpPr>
        <p:spPr>
          <a:xfrm>
            <a:off x="2704371" y="6665976"/>
            <a:ext cx="7156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21k</a:t>
            </a:r>
            <a:endParaRPr lang="en-US" sz="720" dirty="0"/>
          </a:p>
        </p:txBody>
      </p:sp>
      <p:sp>
        <p:nvSpPr>
          <p:cNvPr id="88" name="Text 84"/>
          <p:cNvSpPr/>
          <p:nvPr/>
        </p:nvSpPr>
        <p:spPr>
          <a:xfrm>
            <a:off x="3529717" y="6665976"/>
            <a:ext cx="7156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₹193</a:t>
            </a:r>
            <a:endParaRPr lang="en-US" sz="720" dirty="0"/>
          </a:p>
        </p:txBody>
      </p:sp>
      <p:sp>
        <p:nvSpPr>
          <p:cNvPr id="89" name="Text 85"/>
          <p:cNvSpPr/>
          <p:nvPr/>
        </p:nvSpPr>
        <p:spPr>
          <a:xfrm>
            <a:off x="4355062" y="6665976"/>
            <a:ext cx="6239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1.1%</a:t>
            </a:r>
            <a:endParaRPr lang="en-US" sz="720" dirty="0"/>
          </a:p>
        </p:txBody>
      </p:sp>
      <p:sp>
        <p:nvSpPr>
          <p:cNvPr id="90" name="Text 86"/>
          <p:cNvSpPr/>
          <p:nvPr/>
        </p:nvSpPr>
        <p:spPr>
          <a:xfrm>
            <a:off x="5088702" y="6665976"/>
            <a:ext cx="144925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Emerging; South-2 heavy</a:t>
            </a:r>
            <a:endParaRPr lang="en-US" sz="720" dirty="0"/>
          </a:p>
        </p:txBody>
      </p:sp>
      <p:sp>
        <p:nvSpPr>
          <p:cNvPr id="91" name="Shape 87"/>
          <p:cNvSpPr/>
          <p:nvPr/>
        </p:nvSpPr>
        <p:spPr>
          <a:xfrm>
            <a:off x="265176" y="6949440"/>
            <a:ext cx="6327648" cy="28346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92" name="Shape 88"/>
          <p:cNvSpPr/>
          <p:nvPr/>
        </p:nvSpPr>
        <p:spPr>
          <a:xfrm>
            <a:off x="265176" y="72329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3" name="Text 89"/>
          <p:cNvSpPr/>
          <p:nvPr/>
        </p:nvSpPr>
        <p:spPr>
          <a:xfrm>
            <a:off x="320040" y="6949440"/>
            <a:ext cx="135755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VMM</a:t>
            </a:r>
            <a:endParaRPr lang="en-US" sz="720" dirty="0"/>
          </a:p>
        </p:txBody>
      </p:sp>
      <p:sp>
        <p:nvSpPr>
          <p:cNvPr id="94" name="Text 90"/>
          <p:cNvSpPr/>
          <p:nvPr/>
        </p:nvSpPr>
        <p:spPr>
          <a:xfrm>
            <a:off x="1787321" y="6949440"/>
            <a:ext cx="80732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</a:t>
            </a:r>
            <a:endParaRPr lang="en-US" sz="720" dirty="0"/>
          </a:p>
        </p:txBody>
      </p:sp>
      <p:sp>
        <p:nvSpPr>
          <p:cNvPr id="95" name="Text 91"/>
          <p:cNvSpPr/>
          <p:nvPr/>
        </p:nvSpPr>
        <p:spPr>
          <a:xfrm>
            <a:off x="2704371" y="6949440"/>
            <a:ext cx="7156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20k</a:t>
            </a:r>
            <a:endParaRPr lang="en-US" sz="720" dirty="0"/>
          </a:p>
        </p:txBody>
      </p:sp>
      <p:sp>
        <p:nvSpPr>
          <p:cNvPr id="96" name="Text 92"/>
          <p:cNvSpPr/>
          <p:nvPr/>
        </p:nvSpPr>
        <p:spPr>
          <a:xfrm>
            <a:off x="3529717" y="6949440"/>
            <a:ext cx="7156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₹178</a:t>
            </a:r>
            <a:endParaRPr lang="en-US" sz="720" dirty="0"/>
          </a:p>
        </p:txBody>
      </p:sp>
      <p:sp>
        <p:nvSpPr>
          <p:cNvPr id="97" name="Text 93"/>
          <p:cNvSpPr/>
          <p:nvPr/>
        </p:nvSpPr>
        <p:spPr>
          <a:xfrm>
            <a:off x="4355062" y="6949440"/>
            <a:ext cx="6239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1.0%</a:t>
            </a:r>
            <a:endParaRPr lang="en-US" sz="720" dirty="0"/>
          </a:p>
        </p:txBody>
      </p:sp>
      <p:sp>
        <p:nvSpPr>
          <p:cNvPr id="98" name="Text 94"/>
          <p:cNvSpPr/>
          <p:nvPr/>
        </p:nvSpPr>
        <p:spPr>
          <a:xfrm>
            <a:off x="5088702" y="6949440"/>
            <a:ext cx="144925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Modern Trade; mid-market</a:t>
            </a:r>
            <a:endParaRPr lang="en-US" sz="720" dirty="0"/>
          </a:p>
        </p:txBody>
      </p:sp>
      <p:sp>
        <p:nvSpPr>
          <p:cNvPr id="99" name="Text 95"/>
          <p:cNvSpPr/>
          <p:nvPr/>
        </p:nvSpPr>
        <p:spPr>
          <a:xfrm>
            <a:off x="265176" y="7342632"/>
            <a:ext cx="6327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3 concentration: Dmart + Reliance + Apollo = ₹29.21 Cr = 81.1% of geo-MT NSV. Dmart alone is 38.8% — a single-account risk and an opportunity to push premium mix harder inside Dmart.</a:t>
            </a:r>
            <a:endParaRPr lang="en-US" sz="7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Brand Mix — Mamaearth · The Derma Co. · Aqualogica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MT · NSV, units, share, ASP by brand and zone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22392" y="475488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Offtake Only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Offtake Store×Article Jul-26 CSV (220,522 rows, 0 bad, excl. Brand Counter &amp; discontinued brands) · 8-Gate Validation: PASS_WITH_FLAG · FY27 · EXACT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6044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412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8227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822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₹24.45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8227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67.9% share · 1.44M units · ASP ₹170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398776" y="1261872"/>
            <a:ext cx="206044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98776" y="1261872"/>
            <a:ext cx="64008" cy="841248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554224" y="1353312"/>
            <a:ext cx="18227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54224" y="1536192"/>
            <a:ext cx="1822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₹11.01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554224" y="1865376"/>
            <a:ext cx="18227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30.6% share · 585k units · ASP ₹188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32376" y="1261872"/>
            <a:ext cx="206044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32376" y="1261872"/>
            <a:ext cx="64008" cy="841248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32" name="Text 30"/>
          <p:cNvSpPr/>
          <p:nvPr/>
        </p:nvSpPr>
        <p:spPr>
          <a:xfrm>
            <a:off x="4687824" y="1353312"/>
            <a:ext cx="18227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687824" y="1536192"/>
            <a:ext cx="1822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₹0.48 Cr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4687824" y="1865376"/>
            <a:ext cx="18227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1.3% share · 20.6k units · ASP ₹235</a:t>
            </a:r>
            <a:endParaRPr lang="en-US" sz="680" dirty="0"/>
          </a:p>
        </p:txBody>
      </p:sp>
      <p:sp>
        <p:nvSpPr>
          <p:cNvPr id="35" name="Text 33"/>
          <p:cNvSpPr/>
          <p:nvPr/>
        </p:nvSpPr>
        <p:spPr>
          <a:xfrm>
            <a:off x="265176" y="2212848"/>
            <a:ext cx="34802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spc="3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NSV split by brand (₹ Cr)</a:t>
            </a:r>
            <a:endParaRPr lang="en-US" sz="720" dirty="0"/>
          </a:p>
        </p:txBody>
      </p:sp>
      <p:graphicFrame>
        <p:nvGraphicFramePr>
          <p:cNvPr id="36" name="Chart 0" descr=""/>
          <p:cNvGraphicFramePr/>
          <p:nvPr/>
        </p:nvGraphicFramePr>
        <p:xfrm>
          <a:off x="265176" y="2414016"/>
          <a:ext cx="3480206" cy="1463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7" name="Text 34"/>
          <p:cNvSpPr/>
          <p:nvPr/>
        </p:nvSpPr>
        <p:spPr>
          <a:xfrm>
            <a:off x="3871935" y="2212848"/>
            <a:ext cx="272088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spc="3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NSV share vs Unit share (divergence = ASP gap)</a:t>
            </a:r>
            <a:endParaRPr lang="en-US" sz="720" dirty="0"/>
          </a:p>
        </p:txBody>
      </p:sp>
      <p:graphicFrame>
        <p:nvGraphicFramePr>
          <p:cNvPr id="38" name="Chart 1" descr=""/>
          <p:cNvGraphicFramePr/>
          <p:nvPr/>
        </p:nvGraphicFramePr>
        <p:xfrm>
          <a:off x="3871935" y="2414016"/>
          <a:ext cx="2720889" cy="1463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9" name="Text 35"/>
          <p:cNvSpPr/>
          <p:nvPr/>
        </p:nvSpPr>
        <p:spPr>
          <a:xfrm>
            <a:off x="265176" y="3931920"/>
            <a:ext cx="6327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NSV share (30.6%) &gt; unit share (28.5%) → TDC is above-average ASP. Mamaearth NSV share (67.9%) &lt; unit share (70.2%) → Mamaearth is below-average ASP. Aqualogica ASP ₹235 is the highest — premium positioning confirmed.</a:t>
            </a:r>
            <a:endParaRPr lang="en-US" sz="700" dirty="0"/>
          </a:p>
        </p:txBody>
      </p:sp>
      <p:sp>
        <p:nvSpPr>
          <p:cNvPr id="40" name="Shape 36"/>
          <p:cNvSpPr/>
          <p:nvPr/>
        </p:nvSpPr>
        <p:spPr>
          <a:xfrm>
            <a:off x="265176" y="4279392"/>
            <a:ext cx="6327648" cy="237744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1" name="Text 37"/>
          <p:cNvSpPr/>
          <p:nvPr/>
        </p:nvSpPr>
        <p:spPr>
          <a:xfrm>
            <a:off x="393192" y="4297680"/>
            <a:ext cx="6071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ZONE OFFTAKE MATRIX (₹ Cr)</a:t>
            </a:r>
            <a:endParaRPr lang="en-US" sz="720" dirty="0"/>
          </a:p>
        </p:txBody>
      </p:sp>
      <p:sp>
        <p:nvSpPr>
          <p:cNvPr id="42" name="Shape 38"/>
          <p:cNvSpPr/>
          <p:nvPr/>
        </p:nvSpPr>
        <p:spPr>
          <a:xfrm>
            <a:off x="265176" y="45902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3" name="Text 39"/>
          <p:cNvSpPr/>
          <p:nvPr/>
        </p:nvSpPr>
        <p:spPr>
          <a:xfrm>
            <a:off x="320040" y="4608576"/>
            <a:ext cx="11261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44" name="Text 40"/>
          <p:cNvSpPr/>
          <p:nvPr/>
        </p:nvSpPr>
        <p:spPr>
          <a:xfrm>
            <a:off x="1555909" y="4608576"/>
            <a:ext cx="6153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660" dirty="0"/>
          </a:p>
        </p:txBody>
      </p:sp>
      <p:sp>
        <p:nvSpPr>
          <p:cNvPr id="45" name="Text 41"/>
          <p:cNvSpPr/>
          <p:nvPr/>
        </p:nvSpPr>
        <p:spPr>
          <a:xfrm>
            <a:off x="2280952" y="4608576"/>
            <a:ext cx="6153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</a:t>
            </a:r>
            <a:endParaRPr lang="en-US" sz="660" dirty="0"/>
          </a:p>
        </p:txBody>
      </p:sp>
      <p:sp>
        <p:nvSpPr>
          <p:cNvPr id="46" name="Text 42"/>
          <p:cNvSpPr/>
          <p:nvPr/>
        </p:nvSpPr>
        <p:spPr>
          <a:xfrm>
            <a:off x="3005995" y="4608576"/>
            <a:ext cx="6153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660" dirty="0"/>
          </a:p>
        </p:txBody>
      </p:sp>
      <p:sp>
        <p:nvSpPr>
          <p:cNvPr id="47" name="Text 43"/>
          <p:cNvSpPr/>
          <p:nvPr/>
        </p:nvSpPr>
        <p:spPr>
          <a:xfrm>
            <a:off x="3731038" y="4608576"/>
            <a:ext cx="6153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S-2</a:t>
            </a:r>
            <a:endParaRPr lang="en-US" sz="660" dirty="0"/>
          </a:p>
        </p:txBody>
      </p:sp>
      <p:sp>
        <p:nvSpPr>
          <p:cNvPr id="48" name="Text 44"/>
          <p:cNvSpPr/>
          <p:nvPr/>
        </p:nvSpPr>
        <p:spPr>
          <a:xfrm>
            <a:off x="4456081" y="4608576"/>
            <a:ext cx="6153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660" dirty="0"/>
          </a:p>
        </p:txBody>
      </p:sp>
      <p:sp>
        <p:nvSpPr>
          <p:cNvPr id="49" name="Text 45"/>
          <p:cNvSpPr/>
          <p:nvPr/>
        </p:nvSpPr>
        <p:spPr>
          <a:xfrm>
            <a:off x="5181124" y="4608576"/>
            <a:ext cx="6153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</a:t>
            </a:r>
            <a:endParaRPr lang="en-US" sz="660" dirty="0"/>
          </a:p>
        </p:txBody>
      </p:sp>
      <p:sp>
        <p:nvSpPr>
          <p:cNvPr id="50" name="Text 46"/>
          <p:cNvSpPr/>
          <p:nvPr/>
        </p:nvSpPr>
        <p:spPr>
          <a:xfrm>
            <a:off x="5906167" y="4608576"/>
            <a:ext cx="63179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660" dirty="0"/>
          </a:p>
        </p:txBody>
      </p:sp>
      <p:sp>
        <p:nvSpPr>
          <p:cNvPr id="51" name="Shape 47"/>
          <p:cNvSpPr/>
          <p:nvPr/>
        </p:nvSpPr>
        <p:spPr>
          <a:xfrm>
            <a:off x="265176" y="484632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2" name="Shape 48"/>
          <p:cNvSpPr/>
          <p:nvPr/>
        </p:nvSpPr>
        <p:spPr>
          <a:xfrm>
            <a:off x="265176" y="51572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320040" y="4846320"/>
            <a:ext cx="112614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20" dirty="0"/>
          </a:p>
        </p:txBody>
      </p:sp>
      <p:sp>
        <p:nvSpPr>
          <p:cNvPr id="54" name="Text 50"/>
          <p:cNvSpPr/>
          <p:nvPr/>
        </p:nvSpPr>
        <p:spPr>
          <a:xfrm>
            <a:off x="1555909" y="4846320"/>
            <a:ext cx="6153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₹4.96</a:t>
            </a:r>
            <a:endParaRPr lang="en-US" sz="720" dirty="0"/>
          </a:p>
        </p:txBody>
      </p:sp>
      <p:sp>
        <p:nvSpPr>
          <p:cNvPr id="55" name="Text 51"/>
          <p:cNvSpPr/>
          <p:nvPr/>
        </p:nvSpPr>
        <p:spPr>
          <a:xfrm>
            <a:off x="2280952" y="4846320"/>
            <a:ext cx="6153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₹5.24</a:t>
            </a:r>
            <a:endParaRPr lang="en-US" sz="720" dirty="0"/>
          </a:p>
        </p:txBody>
      </p:sp>
      <p:sp>
        <p:nvSpPr>
          <p:cNvPr id="56" name="Text 52"/>
          <p:cNvSpPr/>
          <p:nvPr/>
        </p:nvSpPr>
        <p:spPr>
          <a:xfrm>
            <a:off x="3005995" y="4846320"/>
            <a:ext cx="6153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₹4.73</a:t>
            </a:r>
            <a:endParaRPr lang="en-US" sz="720" dirty="0"/>
          </a:p>
        </p:txBody>
      </p:sp>
      <p:sp>
        <p:nvSpPr>
          <p:cNvPr id="57" name="Text 53"/>
          <p:cNvSpPr/>
          <p:nvPr/>
        </p:nvSpPr>
        <p:spPr>
          <a:xfrm>
            <a:off x="3731038" y="4846320"/>
            <a:ext cx="6153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₹3.7</a:t>
            </a:r>
            <a:endParaRPr lang="en-US" sz="720" dirty="0"/>
          </a:p>
        </p:txBody>
      </p:sp>
      <p:sp>
        <p:nvSpPr>
          <p:cNvPr id="58" name="Text 54"/>
          <p:cNvSpPr/>
          <p:nvPr/>
        </p:nvSpPr>
        <p:spPr>
          <a:xfrm>
            <a:off x="4456081" y="4846320"/>
            <a:ext cx="6153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₹2.91</a:t>
            </a:r>
            <a:endParaRPr lang="en-US" sz="720" dirty="0"/>
          </a:p>
        </p:txBody>
      </p:sp>
      <p:sp>
        <p:nvSpPr>
          <p:cNvPr id="59" name="Text 55"/>
          <p:cNvSpPr/>
          <p:nvPr/>
        </p:nvSpPr>
        <p:spPr>
          <a:xfrm>
            <a:off x="5181124" y="4846320"/>
            <a:ext cx="6153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₹1.25</a:t>
            </a:r>
            <a:endParaRPr lang="en-US" sz="720" dirty="0"/>
          </a:p>
        </p:txBody>
      </p:sp>
      <p:sp>
        <p:nvSpPr>
          <p:cNvPr id="60" name="Text 56"/>
          <p:cNvSpPr/>
          <p:nvPr/>
        </p:nvSpPr>
        <p:spPr>
          <a:xfrm>
            <a:off x="5906167" y="4846320"/>
            <a:ext cx="63179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₹24.45</a:t>
            </a:r>
            <a:endParaRPr lang="en-US" sz="720" dirty="0"/>
          </a:p>
        </p:txBody>
      </p:sp>
      <p:sp>
        <p:nvSpPr>
          <p:cNvPr id="61" name="Shape 57"/>
          <p:cNvSpPr/>
          <p:nvPr/>
        </p:nvSpPr>
        <p:spPr>
          <a:xfrm>
            <a:off x="265176" y="546811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320040" y="5157216"/>
            <a:ext cx="112614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20" dirty="0"/>
          </a:p>
        </p:txBody>
      </p:sp>
      <p:sp>
        <p:nvSpPr>
          <p:cNvPr id="63" name="Text 59"/>
          <p:cNvSpPr/>
          <p:nvPr/>
        </p:nvSpPr>
        <p:spPr>
          <a:xfrm>
            <a:off x="1555909" y="5157216"/>
            <a:ext cx="6153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₹3.23</a:t>
            </a:r>
            <a:endParaRPr lang="en-US" sz="720" dirty="0"/>
          </a:p>
        </p:txBody>
      </p:sp>
      <p:sp>
        <p:nvSpPr>
          <p:cNvPr id="64" name="Text 60"/>
          <p:cNvSpPr/>
          <p:nvPr/>
        </p:nvSpPr>
        <p:spPr>
          <a:xfrm>
            <a:off x="2280952" y="5157216"/>
            <a:ext cx="6153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₹2.76</a:t>
            </a:r>
            <a:endParaRPr lang="en-US" sz="720" dirty="0"/>
          </a:p>
        </p:txBody>
      </p:sp>
      <p:sp>
        <p:nvSpPr>
          <p:cNvPr id="65" name="Text 61"/>
          <p:cNvSpPr/>
          <p:nvPr/>
        </p:nvSpPr>
        <p:spPr>
          <a:xfrm>
            <a:off x="3005995" y="5157216"/>
            <a:ext cx="6153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₹2.11</a:t>
            </a:r>
            <a:endParaRPr lang="en-US" sz="720" dirty="0"/>
          </a:p>
        </p:txBody>
      </p:sp>
      <p:sp>
        <p:nvSpPr>
          <p:cNvPr id="66" name="Text 62"/>
          <p:cNvSpPr/>
          <p:nvPr/>
        </p:nvSpPr>
        <p:spPr>
          <a:xfrm>
            <a:off x="3731038" y="5157216"/>
            <a:ext cx="6153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₹1.11</a:t>
            </a:r>
            <a:endParaRPr lang="en-US" sz="720" dirty="0"/>
          </a:p>
        </p:txBody>
      </p:sp>
      <p:sp>
        <p:nvSpPr>
          <p:cNvPr id="67" name="Text 63"/>
          <p:cNvSpPr/>
          <p:nvPr/>
        </p:nvSpPr>
        <p:spPr>
          <a:xfrm>
            <a:off x="4456081" y="5157216"/>
            <a:ext cx="6153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</a:t>
            </a:r>
            <a:endParaRPr lang="en-US" sz="720" dirty="0"/>
          </a:p>
        </p:txBody>
      </p:sp>
      <p:sp>
        <p:nvSpPr>
          <p:cNvPr id="68" name="Text 64"/>
          <p:cNvSpPr/>
          <p:nvPr/>
        </p:nvSpPr>
        <p:spPr>
          <a:xfrm>
            <a:off x="5181124" y="5157216"/>
            <a:ext cx="6153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₹0.82</a:t>
            </a:r>
            <a:endParaRPr lang="en-US" sz="720" dirty="0"/>
          </a:p>
        </p:txBody>
      </p:sp>
      <p:sp>
        <p:nvSpPr>
          <p:cNvPr id="69" name="Text 65"/>
          <p:cNvSpPr/>
          <p:nvPr/>
        </p:nvSpPr>
        <p:spPr>
          <a:xfrm>
            <a:off x="5906167" y="5157216"/>
            <a:ext cx="63179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₹11.01</a:t>
            </a:r>
            <a:endParaRPr lang="en-US" sz="720" dirty="0"/>
          </a:p>
        </p:txBody>
      </p:sp>
      <p:sp>
        <p:nvSpPr>
          <p:cNvPr id="70" name="Shape 66"/>
          <p:cNvSpPr/>
          <p:nvPr/>
        </p:nvSpPr>
        <p:spPr>
          <a:xfrm>
            <a:off x="265176" y="5577840"/>
            <a:ext cx="6327648" cy="237744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71" name="Text 67"/>
          <p:cNvSpPr/>
          <p:nvPr/>
        </p:nvSpPr>
        <p:spPr>
          <a:xfrm>
            <a:off x="393192" y="5596128"/>
            <a:ext cx="6071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BRAND INSIGHTS</a:t>
            </a:r>
            <a:endParaRPr lang="en-US" sz="720" dirty="0"/>
          </a:p>
        </p:txBody>
      </p:sp>
      <p:sp>
        <p:nvSpPr>
          <p:cNvPr id="72" name="Shape 68"/>
          <p:cNvSpPr/>
          <p:nvPr/>
        </p:nvSpPr>
        <p:spPr>
          <a:xfrm>
            <a:off x="356616" y="599389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73" name="Text 69"/>
          <p:cNvSpPr/>
          <p:nvPr/>
        </p:nvSpPr>
        <p:spPr>
          <a:xfrm>
            <a:off x="475488" y="5943600"/>
            <a:ext cx="6025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is Mamaearth's strongest zone (₹4.96 Cr, 20.3% of MEA) but lowest ASP. Push premium pack mix in Dmart-West.</a:t>
            </a:r>
            <a:endParaRPr lang="en-US" sz="740" dirty="0"/>
          </a:p>
        </p:txBody>
      </p:sp>
      <p:sp>
        <p:nvSpPr>
          <p:cNvPr id="74" name="Shape 70"/>
          <p:cNvSpPr/>
          <p:nvPr/>
        </p:nvSpPr>
        <p:spPr>
          <a:xfrm>
            <a:off x="356616" y="63413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75" name="Text 71"/>
          <p:cNvSpPr/>
          <p:nvPr/>
        </p:nvSpPr>
        <p:spPr>
          <a:xfrm>
            <a:off x="475488" y="6291072"/>
            <a:ext cx="6025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is TDC's best zone (₹2.76 Cr) — Apollo and Wellness Forever drive pharmacy-format premium pull.</a:t>
            </a:r>
            <a:endParaRPr lang="en-US" sz="740" dirty="0"/>
          </a:p>
        </p:txBody>
      </p:sp>
      <p:sp>
        <p:nvSpPr>
          <p:cNvPr id="76" name="Shape 72"/>
          <p:cNvSpPr/>
          <p:nvPr/>
        </p:nvSpPr>
        <p:spPr>
          <a:xfrm>
            <a:off x="356616" y="66888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77" name="Text 73"/>
          <p:cNvSpPr/>
          <p:nvPr/>
        </p:nvSpPr>
        <p:spPr>
          <a:xfrm>
            <a:off x="475488" y="6638544"/>
            <a:ext cx="6025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— TDC underweight vs MEA in absolute terms (₹0.60 Cr vs ₹2.91 Cr). Brand share gap is the East story.</a:t>
            </a:r>
            <a:endParaRPr lang="en-US" sz="740" dirty="0"/>
          </a:p>
        </p:txBody>
      </p:sp>
      <p:sp>
        <p:nvSpPr>
          <p:cNvPr id="78" name="Shape 74"/>
          <p:cNvSpPr/>
          <p:nvPr/>
        </p:nvSpPr>
        <p:spPr>
          <a:xfrm>
            <a:off x="356616" y="703630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79" name="Text 75"/>
          <p:cNvSpPr/>
          <p:nvPr/>
        </p:nvSpPr>
        <p:spPr>
          <a:xfrm>
            <a:off x="475488" y="6986016"/>
            <a:ext cx="6025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TDC ₹0.82 Cr is not small relative to zone scale — TDC share in Central is 38.7% vs 30.6% national (healthy premium tilt).</a:t>
            </a:r>
            <a:endParaRPr lang="en-US" sz="7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Category &amp; Sub-Category Performance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/ Hair / Body / Baby split · Geographic MT · Offtake data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22392" y="475488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Offtake Only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Offtake Store×Article Jul-26 CSV (220,522 rows, 0 bad, excl. Brand Counter &amp; discontinued brands) · 8-Gate Validation: PASS_WITH_FLAG · FY27 · EXACT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513332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412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755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₹24.07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755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66.8% · 1.45M units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69948" y="1261872"/>
            <a:ext cx="1513332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69948" y="1261872"/>
            <a:ext cx="64008" cy="841248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7" name="Text 25"/>
          <p:cNvSpPr/>
          <p:nvPr/>
        </p:nvSpPr>
        <p:spPr>
          <a:xfrm>
            <a:off x="2025396" y="1353312"/>
            <a:ext cx="12755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HAIR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5396" y="1536192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₹7.87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5396" y="1865376"/>
            <a:ext cx="12755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21.8% · 337k units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74720" y="1261872"/>
            <a:ext cx="1513332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74720" y="1261872"/>
            <a:ext cx="64008" cy="841248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32" name="Text 30"/>
          <p:cNvSpPr/>
          <p:nvPr/>
        </p:nvSpPr>
        <p:spPr>
          <a:xfrm>
            <a:off x="3630168" y="1353312"/>
            <a:ext cx="12755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0168" y="1536192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₹2.08 Cr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3630168" y="1865376"/>
            <a:ext cx="12755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5.8% · 125k units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79492" y="1261872"/>
            <a:ext cx="1513332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79492" y="1261872"/>
            <a:ext cx="64008" cy="8412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37" name="Text 35"/>
          <p:cNvSpPr/>
          <p:nvPr/>
        </p:nvSpPr>
        <p:spPr>
          <a:xfrm>
            <a:off x="5234940" y="1353312"/>
            <a:ext cx="12755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BABY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34940" y="1536192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₹1.91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34940" y="1865376"/>
            <a:ext cx="12755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5.3% · 134k units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265176" y="2212848"/>
            <a:ext cx="3163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spc="3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NSV (₹ Cr)</a:t>
            </a:r>
            <a:endParaRPr lang="en-US" sz="72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265176" y="2414016"/>
          <a:ext cx="3163824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Text 39"/>
          <p:cNvSpPr/>
          <p:nvPr/>
        </p:nvSpPr>
        <p:spPr>
          <a:xfrm>
            <a:off x="3555553" y="2212848"/>
            <a:ext cx="30372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spc="3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unit share (%)</a:t>
            </a:r>
            <a:endParaRPr lang="en-US" sz="720" dirty="0"/>
          </a:p>
        </p:txBody>
      </p:sp>
      <p:graphicFrame>
        <p:nvGraphicFramePr>
          <p:cNvPr id="43" name="Chart 1" descr=""/>
          <p:cNvGraphicFramePr/>
          <p:nvPr/>
        </p:nvGraphicFramePr>
        <p:xfrm>
          <a:off x="3555553" y="2414016"/>
          <a:ext cx="3037271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4" name="Shape 40"/>
          <p:cNvSpPr/>
          <p:nvPr/>
        </p:nvSpPr>
        <p:spPr>
          <a:xfrm>
            <a:off x="265176" y="499262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5" name="Text 41"/>
          <p:cNvSpPr/>
          <p:nvPr/>
        </p:nvSpPr>
        <p:spPr>
          <a:xfrm>
            <a:off x="320040" y="5010912"/>
            <a:ext cx="958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660" dirty="0"/>
          </a:p>
        </p:txBody>
      </p:sp>
      <p:sp>
        <p:nvSpPr>
          <p:cNvPr id="46" name="Text 42"/>
          <p:cNvSpPr/>
          <p:nvPr/>
        </p:nvSpPr>
        <p:spPr>
          <a:xfrm>
            <a:off x="1388344" y="5010912"/>
            <a:ext cx="7120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NSV (₹ Cr)</a:t>
            </a:r>
            <a:endParaRPr lang="en-US" sz="660" dirty="0"/>
          </a:p>
        </p:txBody>
      </p:sp>
      <p:sp>
        <p:nvSpPr>
          <p:cNvPr id="47" name="Text 43"/>
          <p:cNvSpPr/>
          <p:nvPr/>
        </p:nvSpPr>
        <p:spPr>
          <a:xfrm>
            <a:off x="2210117" y="5010912"/>
            <a:ext cx="7120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660" dirty="0"/>
          </a:p>
        </p:txBody>
      </p:sp>
      <p:sp>
        <p:nvSpPr>
          <p:cNvPr id="48" name="Text 44"/>
          <p:cNvSpPr/>
          <p:nvPr/>
        </p:nvSpPr>
        <p:spPr>
          <a:xfrm>
            <a:off x="3031889" y="5010912"/>
            <a:ext cx="6298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NSV SHARE</a:t>
            </a:r>
            <a:endParaRPr lang="en-US" sz="660" dirty="0"/>
          </a:p>
        </p:txBody>
      </p:sp>
      <p:sp>
        <p:nvSpPr>
          <p:cNvPr id="49" name="Text 45"/>
          <p:cNvSpPr/>
          <p:nvPr/>
        </p:nvSpPr>
        <p:spPr>
          <a:xfrm>
            <a:off x="3771484" y="5010912"/>
            <a:ext cx="6298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SHARE</a:t>
            </a:r>
            <a:endParaRPr lang="en-US" sz="660" dirty="0"/>
          </a:p>
        </p:txBody>
      </p:sp>
      <p:sp>
        <p:nvSpPr>
          <p:cNvPr id="50" name="Text 46"/>
          <p:cNvSpPr/>
          <p:nvPr/>
        </p:nvSpPr>
        <p:spPr>
          <a:xfrm>
            <a:off x="4511080" y="5010912"/>
            <a:ext cx="2026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660" dirty="0"/>
          </a:p>
        </p:txBody>
      </p:sp>
      <p:sp>
        <p:nvSpPr>
          <p:cNvPr id="51" name="Shape 47"/>
          <p:cNvSpPr/>
          <p:nvPr/>
        </p:nvSpPr>
        <p:spPr>
          <a:xfrm>
            <a:off x="265176" y="5248656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2" name="Shape 48"/>
          <p:cNvSpPr/>
          <p:nvPr/>
        </p:nvSpPr>
        <p:spPr>
          <a:xfrm>
            <a:off x="265176" y="55961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320040" y="5248656"/>
            <a:ext cx="95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</a:t>
            </a:r>
            <a:endParaRPr lang="en-US" sz="720" dirty="0"/>
          </a:p>
        </p:txBody>
      </p:sp>
      <p:sp>
        <p:nvSpPr>
          <p:cNvPr id="54" name="Text 50"/>
          <p:cNvSpPr/>
          <p:nvPr/>
        </p:nvSpPr>
        <p:spPr>
          <a:xfrm>
            <a:off x="1388344" y="5248656"/>
            <a:ext cx="712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₹24.07</a:t>
            </a:r>
            <a:endParaRPr lang="en-US" sz="720" dirty="0"/>
          </a:p>
        </p:txBody>
      </p:sp>
      <p:sp>
        <p:nvSpPr>
          <p:cNvPr id="55" name="Text 51"/>
          <p:cNvSpPr/>
          <p:nvPr/>
        </p:nvSpPr>
        <p:spPr>
          <a:xfrm>
            <a:off x="2210117" y="5248656"/>
            <a:ext cx="712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1,451k</a:t>
            </a:r>
            <a:endParaRPr lang="en-US" sz="720" dirty="0"/>
          </a:p>
        </p:txBody>
      </p:sp>
      <p:sp>
        <p:nvSpPr>
          <p:cNvPr id="56" name="Text 52"/>
          <p:cNvSpPr/>
          <p:nvPr/>
        </p:nvSpPr>
        <p:spPr>
          <a:xfrm>
            <a:off x="3031889" y="5248656"/>
            <a:ext cx="6298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66.8%</a:t>
            </a:r>
            <a:endParaRPr lang="en-US" sz="720" dirty="0"/>
          </a:p>
        </p:txBody>
      </p:sp>
      <p:sp>
        <p:nvSpPr>
          <p:cNvPr id="57" name="Text 53"/>
          <p:cNvSpPr/>
          <p:nvPr/>
        </p:nvSpPr>
        <p:spPr>
          <a:xfrm>
            <a:off x="3771484" y="5248656"/>
            <a:ext cx="6298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70.7%</a:t>
            </a:r>
            <a:endParaRPr lang="en-US" sz="720" dirty="0"/>
          </a:p>
        </p:txBody>
      </p:sp>
      <p:sp>
        <p:nvSpPr>
          <p:cNvPr id="58" name="Text 54"/>
          <p:cNvSpPr/>
          <p:nvPr/>
        </p:nvSpPr>
        <p:spPr>
          <a:xfrm>
            <a:off x="4511080" y="5248656"/>
            <a:ext cx="2026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NSV share &lt; unit share → below-portfolio ASP. Mix opportunity: push premium face SKUs.</a:t>
            </a:r>
            <a:endParaRPr lang="en-US" sz="720" dirty="0"/>
          </a:p>
        </p:txBody>
      </p:sp>
      <p:sp>
        <p:nvSpPr>
          <p:cNvPr id="59" name="Shape 55"/>
          <p:cNvSpPr/>
          <p:nvPr/>
        </p:nvSpPr>
        <p:spPr>
          <a:xfrm>
            <a:off x="265176" y="59436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0" name="Text 56"/>
          <p:cNvSpPr/>
          <p:nvPr/>
        </p:nvSpPr>
        <p:spPr>
          <a:xfrm>
            <a:off x="320040" y="5596128"/>
            <a:ext cx="95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Hair</a:t>
            </a:r>
            <a:endParaRPr lang="en-US" sz="720" dirty="0"/>
          </a:p>
        </p:txBody>
      </p:sp>
      <p:sp>
        <p:nvSpPr>
          <p:cNvPr id="61" name="Text 57"/>
          <p:cNvSpPr/>
          <p:nvPr/>
        </p:nvSpPr>
        <p:spPr>
          <a:xfrm>
            <a:off x="1388344" y="5596128"/>
            <a:ext cx="712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₹7.87</a:t>
            </a:r>
            <a:endParaRPr lang="en-US" sz="720" dirty="0"/>
          </a:p>
        </p:txBody>
      </p:sp>
      <p:sp>
        <p:nvSpPr>
          <p:cNvPr id="62" name="Text 58"/>
          <p:cNvSpPr/>
          <p:nvPr/>
        </p:nvSpPr>
        <p:spPr>
          <a:xfrm>
            <a:off x="2210117" y="5596128"/>
            <a:ext cx="712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337k</a:t>
            </a:r>
            <a:endParaRPr lang="en-US" sz="720" dirty="0"/>
          </a:p>
        </p:txBody>
      </p:sp>
      <p:sp>
        <p:nvSpPr>
          <p:cNvPr id="63" name="Text 59"/>
          <p:cNvSpPr/>
          <p:nvPr/>
        </p:nvSpPr>
        <p:spPr>
          <a:xfrm>
            <a:off x="3031889" y="5596128"/>
            <a:ext cx="6298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21.8%</a:t>
            </a:r>
            <a:endParaRPr lang="en-US" sz="720" dirty="0"/>
          </a:p>
        </p:txBody>
      </p:sp>
      <p:sp>
        <p:nvSpPr>
          <p:cNvPr id="64" name="Text 60"/>
          <p:cNvSpPr/>
          <p:nvPr/>
        </p:nvSpPr>
        <p:spPr>
          <a:xfrm>
            <a:off x="3771484" y="5596128"/>
            <a:ext cx="6298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16.4%</a:t>
            </a:r>
            <a:endParaRPr lang="en-US" sz="720" dirty="0"/>
          </a:p>
        </p:txBody>
      </p:sp>
      <p:sp>
        <p:nvSpPr>
          <p:cNvPr id="65" name="Text 61"/>
          <p:cNvSpPr/>
          <p:nvPr/>
        </p:nvSpPr>
        <p:spPr>
          <a:xfrm>
            <a:off x="4511080" y="5596128"/>
            <a:ext cx="2026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NSV share &gt; unit share → Hair ASP is above portfolio average. Premium positioning holding.</a:t>
            </a:r>
            <a:endParaRPr lang="en-US" sz="720" dirty="0"/>
          </a:p>
        </p:txBody>
      </p:sp>
      <p:sp>
        <p:nvSpPr>
          <p:cNvPr id="66" name="Shape 62"/>
          <p:cNvSpPr/>
          <p:nvPr/>
        </p:nvSpPr>
        <p:spPr>
          <a:xfrm>
            <a:off x="265176" y="5943600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7" name="Shape 63"/>
          <p:cNvSpPr/>
          <p:nvPr/>
        </p:nvSpPr>
        <p:spPr>
          <a:xfrm>
            <a:off x="265176" y="629107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8" name="Text 64"/>
          <p:cNvSpPr/>
          <p:nvPr/>
        </p:nvSpPr>
        <p:spPr>
          <a:xfrm>
            <a:off x="320040" y="5943600"/>
            <a:ext cx="95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720" dirty="0"/>
          </a:p>
        </p:txBody>
      </p:sp>
      <p:sp>
        <p:nvSpPr>
          <p:cNvPr id="69" name="Text 65"/>
          <p:cNvSpPr/>
          <p:nvPr/>
        </p:nvSpPr>
        <p:spPr>
          <a:xfrm>
            <a:off x="1388344" y="5943600"/>
            <a:ext cx="712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₹2.08</a:t>
            </a:r>
            <a:endParaRPr lang="en-US" sz="720" dirty="0"/>
          </a:p>
        </p:txBody>
      </p:sp>
      <p:sp>
        <p:nvSpPr>
          <p:cNvPr id="70" name="Text 66"/>
          <p:cNvSpPr/>
          <p:nvPr/>
        </p:nvSpPr>
        <p:spPr>
          <a:xfrm>
            <a:off x="2210117" y="5943600"/>
            <a:ext cx="712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125k</a:t>
            </a:r>
            <a:endParaRPr lang="en-US" sz="720" dirty="0"/>
          </a:p>
        </p:txBody>
      </p:sp>
      <p:sp>
        <p:nvSpPr>
          <p:cNvPr id="71" name="Text 67"/>
          <p:cNvSpPr/>
          <p:nvPr/>
        </p:nvSpPr>
        <p:spPr>
          <a:xfrm>
            <a:off x="3031889" y="5943600"/>
            <a:ext cx="6298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5.8%</a:t>
            </a:r>
            <a:endParaRPr lang="en-US" sz="720" dirty="0"/>
          </a:p>
        </p:txBody>
      </p:sp>
      <p:sp>
        <p:nvSpPr>
          <p:cNvPr id="72" name="Text 68"/>
          <p:cNvSpPr/>
          <p:nvPr/>
        </p:nvSpPr>
        <p:spPr>
          <a:xfrm>
            <a:off x="3771484" y="5943600"/>
            <a:ext cx="6298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6.1%</a:t>
            </a:r>
            <a:endParaRPr lang="en-US" sz="720" dirty="0"/>
          </a:p>
        </p:txBody>
      </p:sp>
      <p:sp>
        <p:nvSpPr>
          <p:cNvPr id="73" name="Text 69"/>
          <p:cNvSpPr/>
          <p:nvPr/>
        </p:nvSpPr>
        <p:spPr>
          <a:xfrm>
            <a:off x="4511080" y="5943600"/>
            <a:ext cx="2026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Broadly in line. Monitor Body Care growth in South-1 (Apollo / Wellness).</a:t>
            </a:r>
            <a:endParaRPr lang="en-US" sz="720" dirty="0"/>
          </a:p>
        </p:txBody>
      </p:sp>
      <p:sp>
        <p:nvSpPr>
          <p:cNvPr id="74" name="Shape 70"/>
          <p:cNvSpPr/>
          <p:nvPr/>
        </p:nvSpPr>
        <p:spPr>
          <a:xfrm>
            <a:off x="265176" y="66385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5" name="Text 71"/>
          <p:cNvSpPr/>
          <p:nvPr/>
        </p:nvSpPr>
        <p:spPr>
          <a:xfrm>
            <a:off x="320040" y="6291072"/>
            <a:ext cx="95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Baby</a:t>
            </a:r>
            <a:endParaRPr lang="en-US" sz="720" dirty="0"/>
          </a:p>
        </p:txBody>
      </p:sp>
      <p:sp>
        <p:nvSpPr>
          <p:cNvPr id="76" name="Text 72"/>
          <p:cNvSpPr/>
          <p:nvPr/>
        </p:nvSpPr>
        <p:spPr>
          <a:xfrm>
            <a:off x="1388344" y="6291072"/>
            <a:ext cx="712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₹1.91</a:t>
            </a:r>
            <a:endParaRPr lang="en-US" sz="720" dirty="0"/>
          </a:p>
        </p:txBody>
      </p:sp>
      <p:sp>
        <p:nvSpPr>
          <p:cNvPr id="77" name="Text 73"/>
          <p:cNvSpPr/>
          <p:nvPr/>
        </p:nvSpPr>
        <p:spPr>
          <a:xfrm>
            <a:off x="2210117" y="6291072"/>
            <a:ext cx="712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134k</a:t>
            </a:r>
            <a:endParaRPr lang="en-US" sz="720" dirty="0"/>
          </a:p>
        </p:txBody>
      </p:sp>
      <p:sp>
        <p:nvSpPr>
          <p:cNvPr id="78" name="Text 74"/>
          <p:cNvSpPr/>
          <p:nvPr/>
        </p:nvSpPr>
        <p:spPr>
          <a:xfrm>
            <a:off x="3031889" y="6291072"/>
            <a:ext cx="6298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5.3%</a:t>
            </a:r>
            <a:endParaRPr lang="en-US" sz="720" dirty="0"/>
          </a:p>
        </p:txBody>
      </p:sp>
      <p:sp>
        <p:nvSpPr>
          <p:cNvPr id="79" name="Text 75"/>
          <p:cNvSpPr/>
          <p:nvPr/>
        </p:nvSpPr>
        <p:spPr>
          <a:xfrm>
            <a:off x="3771484" y="6291072"/>
            <a:ext cx="6298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6.5%</a:t>
            </a:r>
            <a:endParaRPr lang="en-US" sz="720" dirty="0"/>
          </a:p>
        </p:txBody>
      </p:sp>
      <p:sp>
        <p:nvSpPr>
          <p:cNvPr id="80" name="Text 76"/>
          <p:cNvSpPr/>
          <p:nvPr/>
        </p:nvSpPr>
        <p:spPr>
          <a:xfrm>
            <a:off x="4511080" y="6291072"/>
            <a:ext cx="2026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NSV share &lt; unit share → Baby packs are low-ASP. Category health, not a concern at 5.3%.</a:t>
            </a:r>
            <a:endParaRPr lang="en-US" sz="720" dirty="0"/>
          </a:p>
        </p:txBody>
      </p:sp>
      <p:sp>
        <p:nvSpPr>
          <p:cNvPr id="81" name="Text 77"/>
          <p:cNvSpPr/>
          <p:nvPr/>
        </p:nvSpPr>
        <p:spPr>
          <a:xfrm>
            <a:off x="265176" y="6766560"/>
            <a:ext cx="6327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dominates volume and NSV but trades below Hair on ASP — within-Face premium mix (serum, sunscreen, TDC face) is the lever. Hair is the ASP champion: 16% of units, 22% of NSV.</a:t>
            </a:r>
            <a:endParaRPr lang="en-US" sz="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Sub-Channel View — eB2B (Nykaa/FSN) and SIS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accounts are in total MT NSV but excluded from geographic zone rollup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22392" y="475488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Offtake Only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Offtake Store×Article Jul-26 CSV (220,522 rows, 0 bad, excl. Brand Counter &amp; discontinued brands) · 8-Gate Validation: PASS_WITH_FLAG · FY27 · EXACT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3090672" cy="5303520"/>
          </a:xfrm>
          <a:prstGeom prst="roundRect">
            <a:avLst>
              <a:gd name="adj" fmla="val 59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3090672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" y="128016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— NYKAA / FSN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56616" y="1627632"/>
            <a:ext cx="2907792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616" y="1627632"/>
            <a:ext cx="64008" cy="841248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5" name="Text 23"/>
          <p:cNvSpPr/>
          <p:nvPr/>
        </p:nvSpPr>
        <p:spPr>
          <a:xfrm>
            <a:off x="512064" y="1719072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NSV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512064" y="1901952"/>
            <a:ext cx="2670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512064" y="2231136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155,142 units sold through</a:t>
            </a:r>
            <a:endParaRPr lang="en-US" sz="680" dirty="0"/>
          </a:p>
        </p:txBody>
      </p:sp>
      <p:sp>
        <p:nvSpPr>
          <p:cNvPr id="28" name="Shape 26"/>
          <p:cNvSpPr/>
          <p:nvPr/>
        </p:nvSpPr>
        <p:spPr>
          <a:xfrm>
            <a:off x="356616" y="2560320"/>
            <a:ext cx="2907792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6616" y="2560320"/>
            <a:ext cx="64008" cy="841248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30" name="Text 28"/>
          <p:cNvSpPr/>
          <p:nvPr/>
        </p:nvSpPr>
        <p:spPr>
          <a:xfrm>
            <a:off x="512064" y="2651760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512064" y="2834640"/>
            <a:ext cx="2670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₹133.19</a:t>
            </a:r>
            <a:endParaRPr lang="en-US" sz="1750" dirty="0"/>
          </a:p>
        </p:txBody>
      </p:sp>
      <p:sp>
        <p:nvSpPr>
          <p:cNvPr id="32" name="Text 30"/>
          <p:cNvSpPr/>
          <p:nvPr/>
        </p:nvSpPr>
        <p:spPr>
          <a:xfrm>
            <a:off x="512064" y="3163824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₹42 below geo-MT avg (₹175.76)</a:t>
            </a:r>
            <a:endParaRPr lang="en-US" sz="680" dirty="0"/>
          </a:p>
        </p:txBody>
      </p:sp>
      <p:sp>
        <p:nvSpPr>
          <p:cNvPr id="33" name="Shape 31"/>
          <p:cNvSpPr/>
          <p:nvPr/>
        </p:nvSpPr>
        <p:spPr>
          <a:xfrm>
            <a:off x="356616" y="3493008"/>
            <a:ext cx="2907792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6616" y="3493008"/>
            <a:ext cx="64008" cy="8412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5" name="Text 33"/>
          <p:cNvSpPr/>
          <p:nvPr/>
        </p:nvSpPr>
        <p:spPr>
          <a:xfrm>
            <a:off x="512064" y="3584448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REALISATION</a:t>
            </a:r>
            <a:endParaRPr lang="en-US" sz="680" dirty="0"/>
          </a:p>
        </p:txBody>
      </p:sp>
      <p:sp>
        <p:nvSpPr>
          <p:cNvPr id="36" name="Text 34"/>
          <p:cNvSpPr/>
          <p:nvPr/>
        </p:nvSpPr>
        <p:spPr>
          <a:xfrm>
            <a:off x="512064" y="3767328"/>
            <a:ext cx="2670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57.4%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512064" y="4096512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than geo-MT — lower MRP base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411480" y="4457700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39" name="Text 37"/>
          <p:cNvSpPr/>
          <p:nvPr/>
        </p:nvSpPr>
        <p:spPr>
          <a:xfrm>
            <a:off x="530352" y="4407408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ASP is lower because Nykaa lists at competitive MRP; NSV after platform fees = ₹133 vs geo ₹176.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411480" y="4860036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41" name="Text 39"/>
          <p:cNvSpPr/>
          <p:nvPr/>
        </p:nvSpPr>
        <p:spPr>
          <a:xfrm>
            <a:off x="530352" y="4809744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realisation % is structural: MRP on platform is lower, so NSV/MRP ratio improves. Do not benchmark against geo-MT realisation.</a:t>
            </a:r>
            <a:endParaRPr lang="en-US" sz="720" dirty="0"/>
          </a:p>
        </p:txBody>
      </p:sp>
      <p:sp>
        <p:nvSpPr>
          <p:cNvPr id="42" name="Shape 40"/>
          <p:cNvSpPr/>
          <p:nvPr/>
        </p:nvSpPr>
        <p:spPr>
          <a:xfrm>
            <a:off x="411480" y="5262372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43" name="Text 41"/>
          <p:cNvSpPr/>
          <p:nvPr/>
        </p:nvSpPr>
        <p:spPr>
          <a:xfrm>
            <a:off x="530352" y="5212080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is 5.7% of MT NSV. No primary data in offtake source — cannot compute eB2B conversion from offtake-only view.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3502152" y="1261872"/>
            <a:ext cx="3090672" cy="5303520"/>
          </a:xfrm>
          <a:prstGeom prst="roundRect">
            <a:avLst>
              <a:gd name="adj" fmla="val 59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02152" y="1261872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46" name="Text 44"/>
          <p:cNvSpPr/>
          <p:nvPr/>
        </p:nvSpPr>
        <p:spPr>
          <a:xfrm>
            <a:off x="3584448" y="128016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— SHOP-IN-SHOP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3593592" y="1627632"/>
            <a:ext cx="2907792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93592" y="1627632"/>
            <a:ext cx="64008" cy="8412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49" name="Text 47"/>
          <p:cNvSpPr/>
          <p:nvPr/>
        </p:nvSpPr>
        <p:spPr>
          <a:xfrm>
            <a:off x="3749040" y="1719072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NSV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3749040" y="1901952"/>
            <a:ext cx="2670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₹0.03 Cr</a:t>
            </a:r>
            <a:endParaRPr lang="en-US" sz="1550" dirty="0"/>
          </a:p>
        </p:txBody>
      </p:sp>
      <p:sp>
        <p:nvSpPr>
          <p:cNvPr id="51" name="Text 49"/>
          <p:cNvSpPr/>
          <p:nvPr/>
        </p:nvSpPr>
        <p:spPr>
          <a:xfrm>
            <a:off x="3749040" y="2231136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1,506 units · Azorte + SS + Lifestyle</a:t>
            </a:r>
            <a:endParaRPr lang="en-US" sz="680" dirty="0"/>
          </a:p>
        </p:txBody>
      </p:sp>
      <p:sp>
        <p:nvSpPr>
          <p:cNvPr id="52" name="Shape 50"/>
          <p:cNvSpPr/>
          <p:nvPr/>
        </p:nvSpPr>
        <p:spPr>
          <a:xfrm>
            <a:off x="3593592" y="2560320"/>
            <a:ext cx="2907792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593592" y="2560320"/>
            <a:ext cx="64008" cy="8412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54" name="Text 52"/>
          <p:cNvSpPr/>
          <p:nvPr/>
        </p:nvSpPr>
        <p:spPr>
          <a:xfrm>
            <a:off x="3749040" y="2651760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</a:t>
            </a:r>
            <a:endParaRPr lang="en-US" sz="680" dirty="0"/>
          </a:p>
        </p:txBody>
      </p:sp>
      <p:sp>
        <p:nvSpPr>
          <p:cNvPr id="55" name="Text 53"/>
          <p:cNvSpPr/>
          <p:nvPr/>
        </p:nvSpPr>
        <p:spPr>
          <a:xfrm>
            <a:off x="3749040" y="2834640"/>
            <a:ext cx="2670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₹225.85</a:t>
            </a:r>
            <a:endParaRPr lang="en-US" sz="1750" dirty="0"/>
          </a:p>
        </p:txBody>
      </p:sp>
      <p:sp>
        <p:nvSpPr>
          <p:cNvPr id="56" name="Text 54"/>
          <p:cNvSpPr/>
          <p:nvPr/>
        </p:nvSpPr>
        <p:spPr>
          <a:xfrm>
            <a:off x="3749040" y="3163824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ASP in MT (premium shop formats)</a:t>
            </a:r>
            <a:endParaRPr lang="en-US" sz="680" dirty="0"/>
          </a:p>
        </p:txBody>
      </p:sp>
      <p:sp>
        <p:nvSpPr>
          <p:cNvPr id="57" name="Shape 55"/>
          <p:cNvSpPr/>
          <p:nvPr/>
        </p:nvSpPr>
        <p:spPr>
          <a:xfrm>
            <a:off x="3593592" y="3493008"/>
            <a:ext cx="2907792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593592" y="3493008"/>
            <a:ext cx="64008" cy="841248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59" name="Text 57"/>
          <p:cNvSpPr/>
          <p:nvPr/>
        </p:nvSpPr>
        <p:spPr>
          <a:xfrm>
            <a:off x="3749040" y="3584448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680" dirty="0"/>
          </a:p>
        </p:txBody>
      </p:sp>
      <p:sp>
        <p:nvSpPr>
          <p:cNvPr id="60" name="Text 58"/>
          <p:cNvSpPr/>
          <p:nvPr/>
        </p:nvSpPr>
        <p:spPr>
          <a:xfrm>
            <a:off x="3749040" y="3767328"/>
            <a:ext cx="2670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Rounding</a:t>
            </a:r>
            <a:endParaRPr lang="en-US" sz="1550" dirty="0"/>
          </a:p>
        </p:txBody>
      </p:sp>
      <p:sp>
        <p:nvSpPr>
          <p:cNvPr id="61" name="Text 59"/>
          <p:cNvSpPr/>
          <p:nvPr/>
        </p:nvSpPr>
        <p:spPr>
          <a:xfrm>
            <a:off x="3749040" y="4096512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₹0.03 Cr = directional only</a:t>
            </a:r>
            <a:endParaRPr lang="en-US" sz="680" dirty="0"/>
          </a:p>
        </p:txBody>
      </p:sp>
      <p:sp>
        <p:nvSpPr>
          <p:cNvPr id="62" name="Shape 60"/>
          <p:cNvSpPr/>
          <p:nvPr/>
        </p:nvSpPr>
        <p:spPr>
          <a:xfrm>
            <a:off x="3648456" y="445770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63" name="Text 61"/>
          <p:cNvSpPr/>
          <p:nvPr/>
        </p:nvSpPr>
        <p:spPr>
          <a:xfrm>
            <a:off x="3767328" y="4407408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formats (Azorte, Shoppers Stop, Broadway, Lifestyle, Today's Basket) sell premium — ASP ₹226 is the highest in MT.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3648456" y="48600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65" name="Text 63"/>
          <p:cNvSpPr/>
          <p:nvPr/>
        </p:nvSpPr>
        <p:spPr>
          <a:xfrm>
            <a:off x="3767328" y="4809744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is negligible in July (1,506 units). Treat as channel-presence data, not performance data, at this scale.</a:t>
            </a:r>
            <a:endParaRPr lang="en-US" sz="720" dirty="0"/>
          </a:p>
        </p:txBody>
      </p:sp>
      <p:sp>
        <p:nvSpPr>
          <p:cNvPr id="66" name="Shape 64"/>
          <p:cNvSpPr/>
          <p:nvPr/>
        </p:nvSpPr>
        <p:spPr>
          <a:xfrm>
            <a:off x="3648456" y="52623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67" name="Text 65"/>
          <p:cNvSpPr/>
          <p:nvPr/>
        </p:nvSpPr>
        <p:spPr>
          <a:xfrm>
            <a:off x="3767328" y="5212080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offtake measurement may differ from retailer POS — the ₹0.03 Cr likely under-reports actual throughput.</a:t>
            </a:r>
            <a:endParaRPr lang="en-US" sz="720" dirty="0"/>
          </a:p>
        </p:txBody>
      </p:sp>
      <p:sp>
        <p:nvSpPr>
          <p:cNvPr id="68" name="Shape 66"/>
          <p:cNvSpPr/>
          <p:nvPr/>
        </p:nvSpPr>
        <p:spPr>
          <a:xfrm>
            <a:off x="265176" y="6711696"/>
            <a:ext cx="6327648" cy="237744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69" name="Text 67"/>
          <p:cNvSpPr/>
          <p:nvPr/>
        </p:nvSpPr>
        <p:spPr>
          <a:xfrm>
            <a:off x="393192" y="6729984"/>
            <a:ext cx="6071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ARCHITECTURE — WHAT IS AND IS NOT IN WHICH NUMBER</a:t>
            </a:r>
            <a:endParaRPr lang="en-US" sz="720" dirty="0"/>
          </a:p>
        </p:txBody>
      </p:sp>
      <p:sp>
        <p:nvSpPr>
          <p:cNvPr id="70" name="Shape 68"/>
          <p:cNvSpPr/>
          <p:nvPr/>
        </p:nvSpPr>
        <p:spPr>
          <a:xfrm>
            <a:off x="265176" y="702259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71" name="Text 69"/>
          <p:cNvSpPr/>
          <p:nvPr/>
        </p:nvSpPr>
        <p:spPr>
          <a:xfrm>
            <a:off x="320040" y="7040880"/>
            <a:ext cx="16981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660" dirty="0"/>
          </a:p>
        </p:txBody>
      </p:sp>
      <p:sp>
        <p:nvSpPr>
          <p:cNvPr id="72" name="Text 70"/>
          <p:cNvSpPr/>
          <p:nvPr/>
        </p:nvSpPr>
        <p:spPr>
          <a:xfrm>
            <a:off x="2127939" y="7040880"/>
            <a:ext cx="11229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GEO-MT ZONES</a:t>
            </a:r>
            <a:endParaRPr lang="en-US" sz="660" dirty="0"/>
          </a:p>
        </p:txBody>
      </p:sp>
      <p:sp>
        <p:nvSpPr>
          <p:cNvPr id="73" name="Text 71"/>
          <p:cNvSpPr/>
          <p:nvPr/>
        </p:nvSpPr>
        <p:spPr>
          <a:xfrm>
            <a:off x="3360598" y="7040880"/>
            <a:ext cx="876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</a:t>
            </a:r>
            <a:endParaRPr lang="en-US" sz="660" dirty="0"/>
          </a:p>
        </p:txBody>
      </p:sp>
      <p:sp>
        <p:nvSpPr>
          <p:cNvPr id="74" name="Text 72"/>
          <p:cNvSpPr/>
          <p:nvPr/>
        </p:nvSpPr>
        <p:spPr>
          <a:xfrm>
            <a:off x="4346725" y="7040880"/>
            <a:ext cx="876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</a:t>
            </a:r>
            <a:endParaRPr lang="en-US" sz="660" dirty="0"/>
          </a:p>
        </p:txBody>
      </p:sp>
      <p:sp>
        <p:nvSpPr>
          <p:cNvPr id="75" name="Text 73"/>
          <p:cNvSpPr/>
          <p:nvPr/>
        </p:nvSpPr>
        <p:spPr>
          <a:xfrm>
            <a:off x="5332852" y="7040880"/>
            <a:ext cx="12051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MT</a:t>
            </a:r>
            <a:endParaRPr lang="en-US" sz="660" dirty="0"/>
          </a:p>
        </p:txBody>
      </p:sp>
      <p:sp>
        <p:nvSpPr>
          <p:cNvPr id="76" name="Shape 74"/>
          <p:cNvSpPr/>
          <p:nvPr/>
        </p:nvSpPr>
        <p:spPr>
          <a:xfrm>
            <a:off x="265176" y="727862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7" name="Shape 75"/>
          <p:cNvSpPr/>
          <p:nvPr/>
        </p:nvSpPr>
        <p:spPr>
          <a:xfrm>
            <a:off x="265176" y="75895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20040" y="7278624"/>
            <a:ext cx="16981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MT NSV</a:t>
            </a:r>
            <a:endParaRPr lang="en-US" sz="720" dirty="0"/>
          </a:p>
        </p:txBody>
      </p:sp>
      <p:sp>
        <p:nvSpPr>
          <p:cNvPr id="79" name="Text 77"/>
          <p:cNvSpPr/>
          <p:nvPr/>
        </p:nvSpPr>
        <p:spPr>
          <a:xfrm>
            <a:off x="2127939" y="727862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₹33.95 Cr</a:t>
            </a:r>
            <a:endParaRPr lang="en-US" sz="720" dirty="0"/>
          </a:p>
        </p:txBody>
      </p:sp>
      <p:sp>
        <p:nvSpPr>
          <p:cNvPr id="80" name="Text 78"/>
          <p:cNvSpPr/>
          <p:nvPr/>
        </p:nvSpPr>
        <p:spPr>
          <a:xfrm>
            <a:off x="3360598" y="727862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20" dirty="0"/>
          </a:p>
        </p:txBody>
      </p:sp>
      <p:sp>
        <p:nvSpPr>
          <p:cNvPr id="81" name="Text 79"/>
          <p:cNvSpPr/>
          <p:nvPr/>
        </p:nvSpPr>
        <p:spPr>
          <a:xfrm>
            <a:off x="4346725" y="727862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₹0.03 Cr</a:t>
            </a:r>
            <a:endParaRPr lang="en-US" sz="720" dirty="0"/>
          </a:p>
        </p:txBody>
      </p:sp>
      <p:sp>
        <p:nvSpPr>
          <p:cNvPr id="82" name="Text 80"/>
          <p:cNvSpPr/>
          <p:nvPr/>
        </p:nvSpPr>
        <p:spPr>
          <a:xfrm>
            <a:off x="5332852" y="7278624"/>
            <a:ext cx="12051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₹36.05 Cr</a:t>
            </a:r>
            <a:endParaRPr lang="en-US" sz="720" dirty="0"/>
          </a:p>
        </p:txBody>
      </p:sp>
      <p:sp>
        <p:nvSpPr>
          <p:cNvPr id="83" name="Shape 81"/>
          <p:cNvSpPr/>
          <p:nvPr/>
        </p:nvSpPr>
        <p:spPr>
          <a:xfrm>
            <a:off x="265176" y="79004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20040" y="7589520"/>
            <a:ext cx="16981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zone rollup?</a:t>
            </a:r>
            <a:endParaRPr lang="en-US" sz="720" dirty="0"/>
          </a:p>
        </p:txBody>
      </p:sp>
      <p:sp>
        <p:nvSpPr>
          <p:cNvPr id="85" name="Text 83"/>
          <p:cNvSpPr/>
          <p:nvPr/>
        </p:nvSpPr>
        <p:spPr>
          <a:xfrm>
            <a:off x="2127939" y="758952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720" dirty="0"/>
          </a:p>
        </p:txBody>
      </p:sp>
      <p:sp>
        <p:nvSpPr>
          <p:cNvPr id="86" name="Text 84"/>
          <p:cNvSpPr/>
          <p:nvPr/>
        </p:nvSpPr>
        <p:spPr>
          <a:xfrm>
            <a:off x="3360598" y="758952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720" dirty="0"/>
          </a:p>
        </p:txBody>
      </p:sp>
      <p:sp>
        <p:nvSpPr>
          <p:cNvPr id="87" name="Text 85"/>
          <p:cNvSpPr/>
          <p:nvPr/>
        </p:nvSpPr>
        <p:spPr>
          <a:xfrm>
            <a:off x="4346725" y="758952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5332852" y="7589520"/>
            <a:ext cx="12051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20" dirty="0"/>
          </a:p>
        </p:txBody>
      </p:sp>
      <p:sp>
        <p:nvSpPr>
          <p:cNvPr id="89" name="Shape 87"/>
          <p:cNvSpPr/>
          <p:nvPr/>
        </p:nvSpPr>
        <p:spPr>
          <a:xfrm>
            <a:off x="265176" y="790041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90" name="Shape 88"/>
          <p:cNvSpPr/>
          <p:nvPr/>
        </p:nvSpPr>
        <p:spPr>
          <a:xfrm>
            <a:off x="265176" y="821131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20040" y="7900416"/>
            <a:ext cx="16981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</a:t>
            </a:r>
            <a:endParaRPr lang="en-US" sz="720" dirty="0"/>
          </a:p>
        </p:txBody>
      </p:sp>
      <p:sp>
        <p:nvSpPr>
          <p:cNvPr id="92" name="Text 90"/>
          <p:cNvSpPr/>
          <p:nvPr/>
        </p:nvSpPr>
        <p:spPr>
          <a:xfrm>
            <a:off x="2127939" y="7900416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₹175.72</a:t>
            </a:r>
            <a:endParaRPr lang="en-US" sz="720" dirty="0"/>
          </a:p>
        </p:txBody>
      </p:sp>
      <p:sp>
        <p:nvSpPr>
          <p:cNvPr id="93" name="Text 91"/>
          <p:cNvSpPr/>
          <p:nvPr/>
        </p:nvSpPr>
        <p:spPr>
          <a:xfrm>
            <a:off x="3360598" y="7900416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₹133.19</a:t>
            </a:r>
            <a:endParaRPr lang="en-US" sz="720" dirty="0"/>
          </a:p>
        </p:txBody>
      </p:sp>
      <p:sp>
        <p:nvSpPr>
          <p:cNvPr id="94" name="Text 92"/>
          <p:cNvSpPr/>
          <p:nvPr/>
        </p:nvSpPr>
        <p:spPr>
          <a:xfrm>
            <a:off x="4346725" y="7900416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₹225.85</a:t>
            </a:r>
            <a:endParaRPr lang="en-US" sz="720" dirty="0"/>
          </a:p>
        </p:txBody>
      </p:sp>
      <p:sp>
        <p:nvSpPr>
          <p:cNvPr id="95" name="Text 93"/>
          <p:cNvSpPr/>
          <p:nvPr/>
        </p:nvSpPr>
        <p:spPr>
          <a:xfrm>
            <a:off x="5332852" y="7900416"/>
            <a:ext cx="12051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₹175.76</a:t>
            </a:r>
            <a:endParaRPr lang="en-US" sz="720" dirty="0"/>
          </a:p>
        </p:txBody>
      </p:sp>
      <p:sp>
        <p:nvSpPr>
          <p:cNvPr id="96" name="Shape 94"/>
          <p:cNvSpPr/>
          <p:nvPr/>
        </p:nvSpPr>
        <p:spPr>
          <a:xfrm>
            <a:off x="265176" y="8522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0040" y="8211312"/>
            <a:ext cx="16981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Realisation</a:t>
            </a:r>
            <a:endParaRPr lang="en-US" sz="720" dirty="0"/>
          </a:p>
        </p:txBody>
      </p:sp>
      <p:sp>
        <p:nvSpPr>
          <p:cNvPr id="98" name="Text 96"/>
          <p:cNvSpPr/>
          <p:nvPr/>
        </p:nvSpPr>
        <p:spPr>
          <a:xfrm>
            <a:off x="2127939" y="8211312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41.1–43.0%</a:t>
            </a:r>
            <a:endParaRPr lang="en-US" sz="720" dirty="0"/>
          </a:p>
        </p:txBody>
      </p:sp>
      <p:sp>
        <p:nvSpPr>
          <p:cNvPr id="99" name="Text 97"/>
          <p:cNvSpPr/>
          <p:nvPr/>
        </p:nvSpPr>
        <p:spPr>
          <a:xfrm>
            <a:off x="3360598" y="8211312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57.4%</a:t>
            </a:r>
            <a:endParaRPr lang="en-US" sz="720" dirty="0"/>
          </a:p>
        </p:txBody>
      </p:sp>
      <p:sp>
        <p:nvSpPr>
          <p:cNvPr id="100" name="Text 98"/>
          <p:cNvSpPr/>
          <p:nvPr/>
        </p:nvSpPr>
        <p:spPr>
          <a:xfrm>
            <a:off x="4346725" y="8211312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49.5%</a:t>
            </a:r>
            <a:endParaRPr lang="en-US" sz="720" dirty="0"/>
          </a:p>
        </p:txBody>
      </p:sp>
      <p:sp>
        <p:nvSpPr>
          <p:cNvPr id="101" name="Text 99"/>
          <p:cNvSpPr/>
          <p:nvPr/>
        </p:nvSpPr>
        <p:spPr>
          <a:xfrm>
            <a:off x="5332852" y="8211312"/>
            <a:ext cx="12051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42.8%</a:t>
            </a:r>
            <a:endParaRPr lang="en-US" sz="7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Realisation Analysis — NSV ÷ MRP Value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shelf value reaches us as revenue · 42.8% national · zone spread 41–43%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22392" y="475488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Offtake Only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Offtake Store×Article Jul-26 CSV (220,522 rows, 0 bad, excl. Brand Counter &amp; discontinued brands) · 8-Gate Validation: PASS_WITH_FLAG · FY27 · EXACT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6327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spc="3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Realisation % by zone (geographic MT)</a:t>
            </a:r>
            <a:endParaRPr lang="en-US" sz="72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265176" y="1463040"/>
          <a:ext cx="632764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hape 19"/>
          <p:cNvSpPr/>
          <p:nvPr/>
        </p:nvSpPr>
        <p:spPr>
          <a:xfrm>
            <a:off x="265176" y="3328416"/>
            <a:ext cx="6327648" cy="237744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3" name="Text 20"/>
          <p:cNvSpPr/>
          <p:nvPr/>
        </p:nvSpPr>
        <p:spPr>
          <a:xfrm>
            <a:off x="393192" y="3346704"/>
            <a:ext cx="6071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REALISATION MEASURES AND HOW TO DIAGNOSE IT</a:t>
            </a:r>
            <a:endParaRPr lang="en-US" sz="720" dirty="0"/>
          </a:p>
        </p:txBody>
      </p:sp>
      <p:sp>
        <p:nvSpPr>
          <p:cNvPr id="24" name="Shape 21"/>
          <p:cNvSpPr/>
          <p:nvPr/>
        </p:nvSpPr>
        <p:spPr>
          <a:xfrm>
            <a:off x="265176" y="3639312"/>
            <a:ext cx="3090672" cy="3291840"/>
          </a:xfrm>
          <a:prstGeom prst="roundRect">
            <a:avLst>
              <a:gd name="adj" fmla="val 59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65176" y="3639312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6" name="Text 23"/>
          <p:cNvSpPr/>
          <p:nvPr/>
        </p:nvSpPr>
        <p:spPr>
          <a:xfrm>
            <a:off x="347472" y="36576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FORMULA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356616" y="405536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28" name="Text 25"/>
          <p:cNvSpPr/>
          <p:nvPr/>
        </p:nvSpPr>
        <p:spPr>
          <a:xfrm>
            <a:off x="475488" y="400507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Realisation = NSV ÷ (Units × MRP per unit)</a:t>
            </a:r>
            <a:endParaRPr lang="en-US" sz="760" dirty="0"/>
          </a:p>
        </p:txBody>
      </p:sp>
      <p:sp>
        <p:nvSpPr>
          <p:cNvPr id="29" name="Shape 26"/>
          <p:cNvSpPr/>
          <p:nvPr/>
        </p:nvSpPr>
        <p:spPr>
          <a:xfrm>
            <a:off x="356616" y="451256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30" name="Text 27"/>
          <p:cNvSpPr/>
          <p:nvPr/>
        </p:nvSpPr>
        <p:spPr>
          <a:xfrm>
            <a:off x="475488" y="446227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measures: how much of the sticker price we collect after all discounts, trade schemes, and deductions.</a:t>
            </a:r>
            <a:endParaRPr lang="en-US" sz="760" dirty="0"/>
          </a:p>
        </p:txBody>
      </p:sp>
      <p:sp>
        <p:nvSpPr>
          <p:cNvPr id="31" name="Shape 28"/>
          <p:cNvSpPr/>
          <p:nvPr/>
        </p:nvSpPr>
        <p:spPr>
          <a:xfrm>
            <a:off x="356616" y="496976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32" name="Text 29"/>
          <p:cNvSpPr/>
          <p:nvPr/>
        </p:nvSpPr>
        <p:spPr>
          <a:xfrm>
            <a:off x="475488" y="491947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National: ₹36.06 Cr NSV ÷ ₹84.16 Cr MRP sales = 42.8%.</a:t>
            </a:r>
            <a:endParaRPr lang="en-US" sz="760" dirty="0"/>
          </a:p>
        </p:txBody>
      </p:sp>
      <p:sp>
        <p:nvSpPr>
          <p:cNvPr id="33" name="Shape 30"/>
          <p:cNvSpPr/>
          <p:nvPr/>
        </p:nvSpPr>
        <p:spPr>
          <a:xfrm>
            <a:off x="356616" y="542696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34" name="Text 31"/>
          <p:cNvSpPr/>
          <p:nvPr/>
        </p:nvSpPr>
        <p:spPr>
          <a:xfrm>
            <a:off x="475488" y="537667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realisation drops 100 bps (0.84 Cr) with flat MRP, it means ₹0.84 Cr more in trade deductions — investigate scheme structure.</a:t>
            </a:r>
            <a:endParaRPr lang="en-US" sz="760" dirty="0"/>
          </a:p>
        </p:txBody>
      </p:sp>
      <p:sp>
        <p:nvSpPr>
          <p:cNvPr id="35" name="Shape 32"/>
          <p:cNvSpPr/>
          <p:nvPr/>
        </p:nvSpPr>
        <p:spPr>
          <a:xfrm>
            <a:off x="356616" y="58841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36" name="Text 33"/>
          <p:cNvSpPr/>
          <p:nvPr/>
        </p:nvSpPr>
        <p:spPr>
          <a:xfrm>
            <a:off x="475488" y="583387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has best geo-MT realisation (43.0%). Central is lowest (41.1%) — watch for markdown creep.</a:t>
            </a:r>
            <a:endParaRPr lang="en-US" sz="760" dirty="0"/>
          </a:p>
        </p:txBody>
      </p:sp>
      <p:sp>
        <p:nvSpPr>
          <p:cNvPr id="37" name="Shape 34"/>
          <p:cNvSpPr/>
          <p:nvPr/>
        </p:nvSpPr>
        <p:spPr>
          <a:xfrm>
            <a:off x="3502152" y="3639312"/>
            <a:ext cx="3090672" cy="3291840"/>
          </a:xfrm>
          <a:prstGeom prst="roundRect">
            <a:avLst>
              <a:gd name="adj" fmla="val 59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502152" y="3639312"/>
            <a:ext cx="3090672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39" name="Text 36"/>
          <p:cNvSpPr/>
          <p:nvPr/>
        </p:nvSpPr>
        <p:spPr>
          <a:xfrm>
            <a:off x="3584448" y="36576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DIAGNOSE A DIP</a:t>
            </a:r>
            <a:endParaRPr lang="en-US" sz="700" dirty="0"/>
          </a:p>
        </p:txBody>
      </p:sp>
      <p:sp>
        <p:nvSpPr>
          <p:cNvPr id="40" name="Shape 37"/>
          <p:cNvSpPr/>
          <p:nvPr/>
        </p:nvSpPr>
        <p:spPr>
          <a:xfrm>
            <a:off x="3593592" y="4055364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41" name="Text 38"/>
          <p:cNvSpPr/>
          <p:nvPr/>
        </p:nvSpPr>
        <p:spPr>
          <a:xfrm>
            <a:off x="3712464" y="400507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Is it one zone or all zones? If all zones dip together = national scheme change.</a:t>
            </a:r>
            <a:endParaRPr lang="en-US" sz="760" dirty="0"/>
          </a:p>
        </p:txBody>
      </p:sp>
      <p:sp>
        <p:nvSpPr>
          <p:cNvPr id="42" name="Shape 39"/>
          <p:cNvSpPr/>
          <p:nvPr/>
        </p:nvSpPr>
        <p:spPr>
          <a:xfrm>
            <a:off x="3593592" y="4512564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43" name="Text 40"/>
          <p:cNvSpPr/>
          <p:nvPr/>
        </p:nvSpPr>
        <p:spPr>
          <a:xfrm>
            <a:off x="3712464" y="446227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Is it one chain? Dmart low-ASP packs drag geo-MT realisation; Apollo high-margin pulls it up.</a:t>
            </a:r>
            <a:endParaRPr lang="en-US" sz="760" dirty="0"/>
          </a:p>
        </p:txBody>
      </p:sp>
      <p:sp>
        <p:nvSpPr>
          <p:cNvPr id="44" name="Shape 41"/>
          <p:cNvSpPr/>
          <p:nvPr/>
        </p:nvSpPr>
        <p:spPr>
          <a:xfrm>
            <a:off x="3593592" y="4969764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45" name="Text 42"/>
          <p:cNvSpPr/>
          <p:nvPr/>
        </p:nvSpPr>
        <p:spPr>
          <a:xfrm>
            <a:off x="3712464" y="491947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Is it one brand? TDC realisation &gt; Mamaearth realisation (higher ASP, fewer discount packs).</a:t>
            </a:r>
            <a:endParaRPr lang="en-US" sz="760" dirty="0"/>
          </a:p>
        </p:txBody>
      </p:sp>
      <p:sp>
        <p:nvSpPr>
          <p:cNvPr id="46" name="Shape 43"/>
          <p:cNvSpPr/>
          <p:nvPr/>
        </p:nvSpPr>
        <p:spPr>
          <a:xfrm>
            <a:off x="3593592" y="5426964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47" name="Text 44"/>
          <p:cNvSpPr/>
          <p:nvPr/>
        </p:nvSpPr>
        <p:spPr>
          <a:xfrm>
            <a:off x="3712464" y="537667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Did MRP stay flat or rise? Rising MRP without rising NSV = discount deepened.</a:t>
            </a:r>
            <a:endParaRPr lang="en-US" sz="760" dirty="0"/>
          </a:p>
        </p:txBody>
      </p:sp>
      <p:sp>
        <p:nvSpPr>
          <p:cNvPr id="48" name="Shape 45"/>
          <p:cNvSpPr/>
          <p:nvPr/>
        </p:nvSpPr>
        <p:spPr>
          <a:xfrm>
            <a:off x="3593592" y="58841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49" name="Text 46"/>
          <p:cNvSpPr/>
          <p:nvPr/>
        </p:nvSpPr>
        <p:spPr>
          <a:xfrm>
            <a:off x="3712464" y="583387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for action: if realisation drops &gt;50 bps month-on-month in any single zone — escalate for trade-scheme review.</a:t>
            </a:r>
            <a:endParaRPr lang="en-US" sz="760" dirty="0"/>
          </a:p>
        </p:txBody>
      </p:sp>
      <p:sp>
        <p:nvSpPr>
          <p:cNvPr id="50" name="Shape 47"/>
          <p:cNvSpPr/>
          <p:nvPr/>
        </p:nvSpPr>
        <p:spPr>
          <a:xfrm>
            <a:off x="265176" y="7077456"/>
            <a:ext cx="6327648" cy="237744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51" name="Text 48"/>
          <p:cNvSpPr/>
          <p:nvPr/>
        </p:nvSpPr>
        <p:spPr>
          <a:xfrm>
            <a:off x="393192" y="7095744"/>
            <a:ext cx="6071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— Apr → May → Jul REALISATION</a:t>
            </a:r>
            <a:endParaRPr lang="en-US" sz="720" dirty="0"/>
          </a:p>
        </p:txBody>
      </p:sp>
      <p:sp>
        <p:nvSpPr>
          <p:cNvPr id="52" name="Shape 49"/>
          <p:cNvSpPr/>
          <p:nvPr/>
        </p:nvSpPr>
        <p:spPr>
          <a:xfrm>
            <a:off x="265176" y="738835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53" name="Text 50"/>
          <p:cNvSpPr/>
          <p:nvPr/>
        </p:nvSpPr>
        <p:spPr>
          <a:xfrm>
            <a:off x="320040" y="7406640"/>
            <a:ext cx="876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</a:t>
            </a:r>
            <a:endParaRPr lang="en-US" sz="660" dirty="0"/>
          </a:p>
        </p:txBody>
      </p:sp>
      <p:sp>
        <p:nvSpPr>
          <p:cNvPr id="54" name="Text 51"/>
          <p:cNvSpPr/>
          <p:nvPr/>
        </p:nvSpPr>
        <p:spPr>
          <a:xfrm>
            <a:off x="1306167" y="7406640"/>
            <a:ext cx="876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NSV (₹ Cr)</a:t>
            </a:r>
            <a:endParaRPr lang="en-US" sz="660" dirty="0"/>
          </a:p>
        </p:txBody>
      </p:sp>
      <p:sp>
        <p:nvSpPr>
          <p:cNvPr id="55" name="Text 52"/>
          <p:cNvSpPr/>
          <p:nvPr/>
        </p:nvSpPr>
        <p:spPr>
          <a:xfrm>
            <a:off x="2292294" y="7406640"/>
            <a:ext cx="876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MRP (₹ Cr)</a:t>
            </a:r>
            <a:endParaRPr lang="en-US" sz="660" dirty="0"/>
          </a:p>
        </p:txBody>
      </p:sp>
      <p:sp>
        <p:nvSpPr>
          <p:cNvPr id="56" name="Text 53"/>
          <p:cNvSpPr/>
          <p:nvPr/>
        </p:nvSpPr>
        <p:spPr>
          <a:xfrm>
            <a:off x="3278421" y="7406640"/>
            <a:ext cx="876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REALISATION</a:t>
            </a:r>
            <a:endParaRPr lang="en-US" sz="660" dirty="0"/>
          </a:p>
        </p:txBody>
      </p:sp>
      <p:sp>
        <p:nvSpPr>
          <p:cNvPr id="57" name="Text 54"/>
          <p:cNvSpPr/>
          <p:nvPr/>
        </p:nvSpPr>
        <p:spPr>
          <a:xfrm>
            <a:off x="4264548" y="7406640"/>
            <a:ext cx="10407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PREV MONTH</a:t>
            </a:r>
            <a:endParaRPr lang="en-US" sz="660" dirty="0"/>
          </a:p>
        </p:txBody>
      </p:sp>
      <p:sp>
        <p:nvSpPr>
          <p:cNvPr id="58" name="Text 55"/>
          <p:cNvSpPr/>
          <p:nvPr/>
        </p:nvSpPr>
        <p:spPr>
          <a:xfrm>
            <a:off x="5415029" y="7406640"/>
            <a:ext cx="11229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660" dirty="0"/>
          </a:p>
        </p:txBody>
      </p:sp>
      <p:sp>
        <p:nvSpPr>
          <p:cNvPr id="59" name="Shape 56"/>
          <p:cNvSpPr/>
          <p:nvPr/>
        </p:nvSpPr>
        <p:spPr>
          <a:xfrm>
            <a:off x="265176" y="7644384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0" name="Shape 57"/>
          <p:cNvSpPr/>
          <p:nvPr/>
        </p:nvSpPr>
        <p:spPr>
          <a:xfrm>
            <a:off x="265176" y="79369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320040" y="7644384"/>
            <a:ext cx="8763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720" dirty="0"/>
          </a:p>
        </p:txBody>
      </p:sp>
      <p:sp>
        <p:nvSpPr>
          <p:cNvPr id="62" name="Text 59"/>
          <p:cNvSpPr/>
          <p:nvPr/>
        </p:nvSpPr>
        <p:spPr>
          <a:xfrm>
            <a:off x="1306167" y="7644384"/>
            <a:ext cx="8763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₹35.88</a:t>
            </a:r>
            <a:endParaRPr lang="en-US" sz="720" dirty="0"/>
          </a:p>
        </p:txBody>
      </p:sp>
      <p:sp>
        <p:nvSpPr>
          <p:cNvPr id="63" name="Text 60"/>
          <p:cNvSpPr/>
          <p:nvPr/>
        </p:nvSpPr>
        <p:spPr>
          <a:xfrm>
            <a:off x="2292294" y="7644384"/>
            <a:ext cx="8763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₹84.6 (est)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3278421" y="7644384"/>
            <a:ext cx="8763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42.4%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4264548" y="7644384"/>
            <a:ext cx="104075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5415029" y="7644384"/>
            <a:ext cx="11229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720" dirty="0"/>
          </a:p>
        </p:txBody>
      </p:sp>
      <p:sp>
        <p:nvSpPr>
          <p:cNvPr id="67" name="Shape 64"/>
          <p:cNvSpPr/>
          <p:nvPr/>
        </p:nvSpPr>
        <p:spPr>
          <a:xfrm>
            <a:off x="265176" y="82296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320040" y="7936992"/>
            <a:ext cx="8763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720" dirty="0"/>
          </a:p>
        </p:txBody>
      </p:sp>
      <p:sp>
        <p:nvSpPr>
          <p:cNvPr id="69" name="Text 66"/>
          <p:cNvSpPr/>
          <p:nvPr/>
        </p:nvSpPr>
        <p:spPr>
          <a:xfrm>
            <a:off x="1306167" y="7936992"/>
            <a:ext cx="8763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₹40.19</a:t>
            </a:r>
            <a:endParaRPr lang="en-US" sz="720" dirty="0"/>
          </a:p>
        </p:txBody>
      </p:sp>
      <p:sp>
        <p:nvSpPr>
          <p:cNvPr id="70" name="Text 67"/>
          <p:cNvSpPr/>
          <p:nvPr/>
        </p:nvSpPr>
        <p:spPr>
          <a:xfrm>
            <a:off x="2292294" y="7936992"/>
            <a:ext cx="8763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₹95.1 (est)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3278421" y="7936992"/>
            <a:ext cx="8763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42.3%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4264548" y="7936992"/>
            <a:ext cx="104075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 pp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5415029" y="7936992"/>
            <a:ext cx="11229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slip — within tolerance</a:t>
            </a:r>
            <a:endParaRPr lang="en-US" sz="720" dirty="0"/>
          </a:p>
        </p:txBody>
      </p:sp>
      <p:sp>
        <p:nvSpPr>
          <p:cNvPr id="74" name="Shape 71"/>
          <p:cNvSpPr/>
          <p:nvPr/>
        </p:nvSpPr>
        <p:spPr>
          <a:xfrm>
            <a:off x="265176" y="8229600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5" name="Shape 72"/>
          <p:cNvSpPr/>
          <p:nvPr/>
        </p:nvSpPr>
        <p:spPr>
          <a:xfrm>
            <a:off x="265176" y="8522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320040" y="8229600"/>
            <a:ext cx="8763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720" dirty="0"/>
          </a:p>
        </p:txBody>
      </p:sp>
      <p:sp>
        <p:nvSpPr>
          <p:cNvPr id="77" name="Text 74"/>
          <p:cNvSpPr/>
          <p:nvPr/>
        </p:nvSpPr>
        <p:spPr>
          <a:xfrm>
            <a:off x="1306167" y="8229600"/>
            <a:ext cx="8763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20" dirty="0"/>
          </a:p>
        </p:txBody>
      </p:sp>
      <p:sp>
        <p:nvSpPr>
          <p:cNvPr id="78" name="Text 75"/>
          <p:cNvSpPr/>
          <p:nvPr/>
        </p:nvSpPr>
        <p:spPr>
          <a:xfrm>
            <a:off x="2292294" y="8229600"/>
            <a:ext cx="8763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3278421" y="8229600"/>
            <a:ext cx="8763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4264548" y="8229600"/>
            <a:ext cx="104075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5415029" y="8229600"/>
            <a:ext cx="11229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source data</a:t>
            </a:r>
            <a:endParaRPr lang="en-US" sz="720" dirty="0"/>
          </a:p>
        </p:txBody>
      </p:sp>
      <p:sp>
        <p:nvSpPr>
          <p:cNvPr id="82" name="Shape 79"/>
          <p:cNvSpPr/>
          <p:nvPr/>
        </p:nvSpPr>
        <p:spPr>
          <a:xfrm>
            <a:off x="265176" y="88148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320040" y="8522208"/>
            <a:ext cx="8763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720" dirty="0"/>
          </a:p>
        </p:txBody>
      </p:sp>
      <p:sp>
        <p:nvSpPr>
          <p:cNvPr id="84" name="Text 81"/>
          <p:cNvSpPr/>
          <p:nvPr/>
        </p:nvSpPr>
        <p:spPr>
          <a:xfrm>
            <a:off x="1306167" y="8522208"/>
            <a:ext cx="8763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₹36.06</a:t>
            </a:r>
            <a:endParaRPr lang="en-US" sz="720" dirty="0"/>
          </a:p>
        </p:txBody>
      </p:sp>
      <p:sp>
        <p:nvSpPr>
          <p:cNvPr id="85" name="Text 82"/>
          <p:cNvSpPr/>
          <p:nvPr/>
        </p:nvSpPr>
        <p:spPr>
          <a:xfrm>
            <a:off x="2292294" y="8522208"/>
            <a:ext cx="8763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₹84.16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3278421" y="8522208"/>
            <a:ext cx="8763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42.8%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4264548" y="8522208"/>
            <a:ext cx="104075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 pp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5415029" y="8522208"/>
            <a:ext cx="11229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— realisation improving despite lower NSV</a:t>
            </a:r>
            <a:endParaRPr lang="en-US" sz="7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Distribution Productivity — WD, SPD and the ND Gap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distribution from Nielsen · Numeric distribution not yet fed · 8-gate flag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22392" y="475488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Offtake Only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Offtake Store×Article Jul-26 CSV (220,522 rows, 0 bad, excl. Brand Counter &amp; discontinued brands) · 8-Gate Validation: PASS_WITH_FLAG · FY27 · EXACT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48256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412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810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WD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89.0%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810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category share · SPD #4 of 6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404872" y="1261872"/>
            <a:ext cx="2048256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04872" y="1261872"/>
            <a:ext cx="64008" cy="8412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7" name="Text 25"/>
          <p:cNvSpPr/>
          <p:nvPr/>
        </p:nvSpPr>
        <p:spPr>
          <a:xfrm>
            <a:off x="2560320" y="1353312"/>
            <a:ext cx="1810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WD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60320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81.5%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560320" y="1865376"/>
            <a:ext cx="1810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 share · SPD #6 of 6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44568" y="1261872"/>
            <a:ext cx="2048256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44568" y="1261872"/>
            <a:ext cx="64008" cy="8412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32" name="Text 30"/>
          <p:cNvSpPr/>
          <p:nvPr/>
        </p:nvSpPr>
        <p:spPr>
          <a:xfrm>
            <a:off x="4700016" y="1353312"/>
            <a:ext cx="1810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 STATUS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700016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NOT FED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4700016" y="1865376"/>
            <a:ext cx="1810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compute WD ÷ ND (store quality)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265176" y="2212848"/>
            <a:ext cx="6327648" cy="237744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6" name="Text 34"/>
          <p:cNvSpPr/>
          <p:nvPr/>
        </p:nvSpPr>
        <p:spPr>
          <a:xfrm>
            <a:off x="393192" y="2231136"/>
            <a:ext cx="6071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DISTRIBUTION POINT (SPD) — FACE WASH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265176" y="25237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" y="2542032"/>
            <a:ext cx="11229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39" name="Text 37"/>
          <p:cNvSpPr/>
          <p:nvPr/>
        </p:nvSpPr>
        <p:spPr>
          <a:xfrm>
            <a:off x="1552699" y="2542032"/>
            <a:ext cx="54769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40" name="Text 38"/>
          <p:cNvSpPr/>
          <p:nvPr/>
        </p:nvSpPr>
        <p:spPr>
          <a:xfrm>
            <a:off x="2210117" y="2542032"/>
            <a:ext cx="54769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endParaRPr lang="en-US" sz="660" dirty="0"/>
          </a:p>
        </p:txBody>
      </p:sp>
      <p:sp>
        <p:nvSpPr>
          <p:cNvPr id="41" name="Text 39"/>
          <p:cNvSpPr/>
          <p:nvPr/>
        </p:nvSpPr>
        <p:spPr>
          <a:xfrm>
            <a:off x="2867535" y="2542032"/>
            <a:ext cx="54769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3524953" y="2542032"/>
            <a:ext cx="54769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</a:t>
            </a:r>
            <a:endParaRPr lang="en-US" sz="660" dirty="0"/>
          </a:p>
        </p:txBody>
      </p:sp>
      <p:sp>
        <p:nvSpPr>
          <p:cNvPr id="43" name="Text 41"/>
          <p:cNvSpPr/>
          <p:nvPr/>
        </p:nvSpPr>
        <p:spPr>
          <a:xfrm>
            <a:off x="4182371" y="2542032"/>
            <a:ext cx="235558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660" dirty="0"/>
          </a:p>
        </p:txBody>
      </p:sp>
      <p:sp>
        <p:nvSpPr>
          <p:cNvPr id="44" name="Shape 42"/>
          <p:cNvSpPr/>
          <p:nvPr/>
        </p:nvSpPr>
        <p:spPr>
          <a:xfrm>
            <a:off x="265176" y="2779776"/>
            <a:ext cx="6327648" cy="301752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5" name="Shape 43"/>
          <p:cNvSpPr/>
          <p:nvPr/>
        </p:nvSpPr>
        <p:spPr>
          <a:xfrm>
            <a:off x="265176" y="30815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2779776"/>
            <a:ext cx="1122931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1552699" y="2779776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14.2%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2210117" y="2779776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fed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2867535" y="2779776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90.3%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3524953" y="2779776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0.157</a:t>
            </a:r>
            <a:endParaRPr lang="en-US" sz="720" dirty="0"/>
          </a:p>
        </p:txBody>
      </p:sp>
      <p:sp>
        <p:nvSpPr>
          <p:cNvPr id="51" name="Text 49"/>
          <p:cNvSpPr/>
          <p:nvPr/>
        </p:nvSpPr>
        <p:spPr>
          <a:xfrm>
            <a:off x="4182371" y="2779776"/>
            <a:ext cx="2355589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benchmark (highest SPD)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265176" y="338328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0040" y="3081528"/>
            <a:ext cx="1122931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L'Oréal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1552699" y="3081528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13.6%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2210117" y="3081528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fed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2867535" y="3081528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88.4%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3524953" y="3081528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0.154</a:t>
            </a:r>
            <a:endParaRPr lang="en-US" sz="720" dirty="0"/>
          </a:p>
        </p:txBody>
      </p:sp>
      <p:sp>
        <p:nvSpPr>
          <p:cNvPr id="58" name="Text 56"/>
          <p:cNvSpPr/>
          <p:nvPr/>
        </p:nvSpPr>
        <p:spPr>
          <a:xfrm>
            <a:off x="4182371" y="3081528"/>
            <a:ext cx="2355589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20" dirty="0"/>
          </a:p>
        </p:txBody>
      </p:sp>
      <p:sp>
        <p:nvSpPr>
          <p:cNvPr id="59" name="Shape 57"/>
          <p:cNvSpPr/>
          <p:nvPr/>
        </p:nvSpPr>
        <p:spPr>
          <a:xfrm>
            <a:off x="265176" y="3383280"/>
            <a:ext cx="6327648" cy="301752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0" name="Shape 58"/>
          <p:cNvSpPr/>
          <p:nvPr/>
        </p:nvSpPr>
        <p:spPr>
          <a:xfrm>
            <a:off x="265176" y="36850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0040" y="3383280"/>
            <a:ext cx="1122931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Pond's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1552699" y="3383280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12.4%</a:t>
            </a:r>
            <a:endParaRPr lang="en-US" sz="720" dirty="0"/>
          </a:p>
        </p:txBody>
      </p:sp>
      <p:sp>
        <p:nvSpPr>
          <p:cNvPr id="63" name="Text 61"/>
          <p:cNvSpPr/>
          <p:nvPr/>
        </p:nvSpPr>
        <p:spPr>
          <a:xfrm>
            <a:off x="2210117" y="3383280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fed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2867535" y="3383280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88.1%</a:t>
            </a:r>
            <a:endParaRPr lang="en-US" sz="720" dirty="0"/>
          </a:p>
        </p:txBody>
      </p:sp>
      <p:sp>
        <p:nvSpPr>
          <p:cNvPr id="65" name="Text 63"/>
          <p:cNvSpPr/>
          <p:nvPr/>
        </p:nvSpPr>
        <p:spPr>
          <a:xfrm>
            <a:off x="3524953" y="3383280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0.141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4182371" y="3383280"/>
            <a:ext cx="2355589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20" dirty="0"/>
          </a:p>
        </p:txBody>
      </p:sp>
      <p:sp>
        <p:nvSpPr>
          <p:cNvPr id="67" name="Shape 65"/>
          <p:cNvSpPr/>
          <p:nvPr/>
        </p:nvSpPr>
        <p:spPr>
          <a:xfrm>
            <a:off x="265176" y="39867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20040" y="3685032"/>
            <a:ext cx="1122931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1552699" y="3685032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10.5%</a:t>
            </a:r>
            <a:endParaRPr lang="en-US" sz="720" dirty="0"/>
          </a:p>
        </p:txBody>
      </p:sp>
      <p:sp>
        <p:nvSpPr>
          <p:cNvPr id="70" name="Text 68"/>
          <p:cNvSpPr/>
          <p:nvPr/>
        </p:nvSpPr>
        <p:spPr>
          <a:xfrm>
            <a:off x="2210117" y="3685032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fed</a:t>
            </a:r>
            <a:endParaRPr lang="en-US" sz="720" dirty="0"/>
          </a:p>
        </p:txBody>
      </p:sp>
      <p:sp>
        <p:nvSpPr>
          <p:cNvPr id="71" name="Text 69"/>
          <p:cNvSpPr/>
          <p:nvPr/>
        </p:nvSpPr>
        <p:spPr>
          <a:xfrm>
            <a:off x="2867535" y="3685032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89.0%</a:t>
            </a:r>
            <a:endParaRPr lang="en-US" sz="720" dirty="0"/>
          </a:p>
        </p:txBody>
      </p:sp>
      <p:sp>
        <p:nvSpPr>
          <p:cNvPr id="72" name="Text 70"/>
          <p:cNvSpPr/>
          <p:nvPr/>
        </p:nvSpPr>
        <p:spPr>
          <a:xfrm>
            <a:off x="3524953" y="3685032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0.118</a:t>
            </a:r>
            <a:endParaRPr lang="en-US" sz="720" dirty="0"/>
          </a:p>
        </p:txBody>
      </p:sp>
      <p:sp>
        <p:nvSpPr>
          <p:cNvPr id="73" name="Text 71"/>
          <p:cNvSpPr/>
          <p:nvPr/>
        </p:nvSpPr>
        <p:spPr>
          <a:xfrm>
            <a:off x="4182371" y="3685032"/>
            <a:ext cx="2355589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shelf, 26% less share per point</a:t>
            </a:r>
            <a:endParaRPr lang="en-US" sz="720" dirty="0"/>
          </a:p>
        </p:txBody>
      </p:sp>
      <p:sp>
        <p:nvSpPr>
          <p:cNvPr id="74" name="Shape 72"/>
          <p:cNvSpPr/>
          <p:nvPr/>
        </p:nvSpPr>
        <p:spPr>
          <a:xfrm>
            <a:off x="265176" y="3986784"/>
            <a:ext cx="6327648" cy="301752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5" name="Shape 73"/>
          <p:cNvSpPr/>
          <p:nvPr/>
        </p:nvSpPr>
        <p:spPr>
          <a:xfrm>
            <a:off x="265176" y="42885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20040" y="3986784"/>
            <a:ext cx="1122931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</a:t>
            </a:r>
            <a:endParaRPr lang="en-US" sz="720" dirty="0"/>
          </a:p>
        </p:txBody>
      </p:sp>
      <p:sp>
        <p:nvSpPr>
          <p:cNvPr id="77" name="Text 75"/>
          <p:cNvSpPr/>
          <p:nvPr/>
        </p:nvSpPr>
        <p:spPr>
          <a:xfrm>
            <a:off x="1552699" y="3986784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10.2%</a:t>
            </a:r>
            <a:endParaRPr lang="en-US" sz="720" dirty="0"/>
          </a:p>
        </p:txBody>
      </p:sp>
      <p:sp>
        <p:nvSpPr>
          <p:cNvPr id="78" name="Text 76"/>
          <p:cNvSpPr/>
          <p:nvPr/>
        </p:nvSpPr>
        <p:spPr>
          <a:xfrm>
            <a:off x="2210117" y="3986784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fed</a:t>
            </a:r>
            <a:endParaRPr lang="en-US" sz="720" dirty="0"/>
          </a:p>
        </p:txBody>
      </p:sp>
      <p:sp>
        <p:nvSpPr>
          <p:cNvPr id="79" name="Text 77"/>
          <p:cNvSpPr/>
          <p:nvPr/>
        </p:nvSpPr>
        <p:spPr>
          <a:xfrm>
            <a:off x="2867535" y="3986784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20" dirty="0"/>
          </a:p>
        </p:txBody>
      </p:sp>
      <p:sp>
        <p:nvSpPr>
          <p:cNvPr id="80" name="Text 78"/>
          <p:cNvSpPr/>
          <p:nvPr/>
        </p:nvSpPr>
        <p:spPr>
          <a:xfrm>
            <a:off x="3524953" y="3986784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0.120</a:t>
            </a:r>
            <a:endParaRPr lang="en-US" sz="720" dirty="0"/>
          </a:p>
        </p:txBody>
      </p:sp>
      <p:sp>
        <p:nvSpPr>
          <p:cNvPr id="81" name="Text 79"/>
          <p:cNvSpPr/>
          <p:nvPr/>
        </p:nvSpPr>
        <p:spPr>
          <a:xfrm>
            <a:off x="4182371" y="3986784"/>
            <a:ext cx="2355589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20" dirty="0"/>
          </a:p>
        </p:txBody>
      </p:sp>
      <p:sp>
        <p:nvSpPr>
          <p:cNvPr id="82" name="Shape 80"/>
          <p:cNvSpPr/>
          <p:nvPr/>
        </p:nvSpPr>
        <p:spPr>
          <a:xfrm>
            <a:off x="265176" y="45902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20040" y="4288536"/>
            <a:ext cx="1122931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CeraVe</a:t>
            </a:r>
            <a:endParaRPr lang="en-US" sz="720" dirty="0"/>
          </a:p>
        </p:txBody>
      </p:sp>
      <p:sp>
        <p:nvSpPr>
          <p:cNvPr id="84" name="Text 82"/>
          <p:cNvSpPr/>
          <p:nvPr/>
        </p:nvSpPr>
        <p:spPr>
          <a:xfrm>
            <a:off x="1552699" y="4288536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8.9%</a:t>
            </a:r>
            <a:endParaRPr lang="en-US" sz="720" dirty="0"/>
          </a:p>
        </p:txBody>
      </p:sp>
      <p:sp>
        <p:nvSpPr>
          <p:cNvPr id="85" name="Text 83"/>
          <p:cNvSpPr/>
          <p:nvPr/>
        </p:nvSpPr>
        <p:spPr>
          <a:xfrm>
            <a:off x="2210117" y="4288536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fed</a:t>
            </a:r>
            <a:endParaRPr lang="en-US" sz="720" dirty="0"/>
          </a:p>
        </p:txBody>
      </p:sp>
      <p:sp>
        <p:nvSpPr>
          <p:cNvPr id="86" name="Text 84"/>
          <p:cNvSpPr/>
          <p:nvPr/>
        </p:nvSpPr>
        <p:spPr>
          <a:xfrm>
            <a:off x="2867535" y="4288536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72.3%</a:t>
            </a:r>
            <a:endParaRPr lang="en-US" sz="720" dirty="0"/>
          </a:p>
        </p:txBody>
      </p:sp>
      <p:sp>
        <p:nvSpPr>
          <p:cNvPr id="87" name="Text 85"/>
          <p:cNvSpPr/>
          <p:nvPr/>
        </p:nvSpPr>
        <p:spPr>
          <a:xfrm>
            <a:off x="3524953" y="4288536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0.123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4182371" y="4288536"/>
            <a:ext cx="2355589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WD — partial distribution</a:t>
            </a:r>
            <a:endParaRPr lang="en-US" sz="720" dirty="0"/>
          </a:p>
        </p:txBody>
      </p:sp>
      <p:sp>
        <p:nvSpPr>
          <p:cNvPr id="89" name="Shape 87"/>
          <p:cNvSpPr/>
          <p:nvPr/>
        </p:nvSpPr>
        <p:spPr>
          <a:xfrm>
            <a:off x="265176" y="4590288"/>
            <a:ext cx="6327648" cy="301752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90" name="Shape 88"/>
          <p:cNvSpPr/>
          <p:nvPr/>
        </p:nvSpPr>
        <p:spPr>
          <a:xfrm>
            <a:off x="265176" y="48920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20040" y="4590288"/>
            <a:ext cx="1122931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 — ALL</a:t>
            </a:r>
            <a:endParaRPr lang="en-US" sz="720" dirty="0"/>
          </a:p>
        </p:txBody>
      </p:sp>
      <p:sp>
        <p:nvSpPr>
          <p:cNvPr id="92" name="Text 90"/>
          <p:cNvSpPr/>
          <p:nvPr/>
        </p:nvSpPr>
        <p:spPr>
          <a:xfrm>
            <a:off x="1552699" y="4590288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20" dirty="0"/>
          </a:p>
        </p:txBody>
      </p:sp>
      <p:sp>
        <p:nvSpPr>
          <p:cNvPr id="93" name="Text 91"/>
          <p:cNvSpPr/>
          <p:nvPr/>
        </p:nvSpPr>
        <p:spPr>
          <a:xfrm>
            <a:off x="2210117" y="4590288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FED</a:t>
            </a:r>
            <a:endParaRPr lang="en-US" sz="720" dirty="0"/>
          </a:p>
        </p:txBody>
      </p:sp>
      <p:sp>
        <p:nvSpPr>
          <p:cNvPr id="94" name="Text 92"/>
          <p:cNvSpPr/>
          <p:nvPr/>
        </p:nvSpPr>
        <p:spPr>
          <a:xfrm>
            <a:off x="2867535" y="4590288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20" dirty="0"/>
          </a:p>
        </p:txBody>
      </p:sp>
      <p:sp>
        <p:nvSpPr>
          <p:cNvPr id="95" name="Text 93"/>
          <p:cNvSpPr/>
          <p:nvPr/>
        </p:nvSpPr>
        <p:spPr>
          <a:xfrm>
            <a:off x="3524953" y="4590288"/>
            <a:ext cx="54769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20" dirty="0"/>
          </a:p>
        </p:txBody>
      </p:sp>
      <p:sp>
        <p:nvSpPr>
          <p:cNvPr id="96" name="Text 94"/>
          <p:cNvSpPr/>
          <p:nvPr/>
        </p:nvSpPr>
        <p:spPr>
          <a:xfrm>
            <a:off x="4182371" y="4590288"/>
            <a:ext cx="2355589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PowerBI/RawDataFolders/TDP_Monthly/ is empty. ND cannot be computed until TDP feed is supplied.</a:t>
            </a:r>
            <a:endParaRPr lang="en-US" sz="720" dirty="0"/>
          </a:p>
        </p:txBody>
      </p:sp>
      <p:sp>
        <p:nvSpPr>
          <p:cNvPr id="97" name="Shape 95"/>
          <p:cNvSpPr/>
          <p:nvPr/>
        </p:nvSpPr>
        <p:spPr>
          <a:xfrm>
            <a:off x="265176" y="5001768"/>
            <a:ext cx="6327648" cy="237744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8" name="Text 96"/>
          <p:cNvSpPr/>
          <p:nvPr/>
        </p:nvSpPr>
        <p:spPr>
          <a:xfrm>
            <a:off x="393192" y="5020056"/>
            <a:ext cx="6071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DECOMPOSITION WE CANNOT YET COMPLETE</a:t>
            </a:r>
            <a:endParaRPr lang="en-US" sz="720" dirty="0"/>
          </a:p>
        </p:txBody>
      </p:sp>
      <p:sp>
        <p:nvSpPr>
          <p:cNvPr id="99" name="Shape 97"/>
          <p:cNvSpPr/>
          <p:nvPr/>
        </p:nvSpPr>
        <p:spPr>
          <a:xfrm>
            <a:off x="265176" y="5312664"/>
            <a:ext cx="6327648" cy="146304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9050">
            <a:solidFill>
              <a:srgbClr val="F2B84B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8056" y="5440680"/>
            <a:ext cx="5961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3B3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share  =  ND  ×  (WD ÷ ND)  ×  (share ÷ WD)</a:t>
            </a:r>
            <a:endParaRPr lang="en-US" sz="1400" dirty="0"/>
          </a:p>
        </p:txBody>
      </p:sp>
      <p:sp>
        <p:nvSpPr>
          <p:cNvPr id="101" name="Text 99"/>
          <p:cNvSpPr/>
          <p:nvPr/>
        </p:nvSpPr>
        <p:spPr>
          <a:xfrm>
            <a:off x="448056" y="5769864"/>
            <a:ext cx="5961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reach    store quality      velocity per shelf point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448056" y="6007608"/>
            <a:ext cx="59618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hold WD (89.0% Face Wash · 81.5% Shampoo). We do not hold ND. Without ND we cannot tell whether 89% WD means "in most stores" or "in a few very large stores". The store-quality term (WD ÷ ND) is the discriminator. SPD reported here is only the third term — the velocity — and is a hand-cut stand-in for the MS vs TDP Index already written in PowerBI/DAX/05_TDP_Measures.dax, which cannot run until the TDP feed is supplied.</a:t>
            </a:r>
            <a:endParaRPr lang="en-US" sz="720" dirty="0"/>
          </a:p>
        </p:txBody>
      </p:sp>
      <p:sp>
        <p:nvSpPr>
          <p:cNvPr id="103" name="Shape 101"/>
          <p:cNvSpPr/>
          <p:nvPr/>
        </p:nvSpPr>
        <p:spPr>
          <a:xfrm>
            <a:off x="265176" y="6885432"/>
            <a:ext cx="6327648" cy="237744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04" name="Text 102"/>
          <p:cNvSpPr/>
          <p:nvPr/>
        </p:nvSpPr>
        <p:spPr>
          <a:xfrm>
            <a:off x="393192" y="6903720"/>
            <a:ext cx="6071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NEEDED TO COMPLETE THIS</a:t>
            </a:r>
            <a:endParaRPr lang="en-US" sz="720" dirty="0"/>
          </a:p>
        </p:txBody>
      </p:sp>
      <p:sp>
        <p:nvSpPr>
          <p:cNvPr id="105" name="Shape 103"/>
          <p:cNvSpPr/>
          <p:nvPr/>
        </p:nvSpPr>
        <p:spPr>
          <a:xfrm>
            <a:off x="356616" y="730148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06" name="Text 104"/>
          <p:cNvSpPr/>
          <p:nvPr/>
        </p:nvSpPr>
        <p:spPr>
          <a:xfrm>
            <a:off x="475488" y="725119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TDP_Monthly/ CSV with ND column → unlocks MS vs TDP Index in DAX (already written).</a:t>
            </a:r>
            <a:endParaRPr lang="en-US" sz="760" dirty="0"/>
          </a:p>
        </p:txBody>
      </p:sp>
      <p:sp>
        <p:nvSpPr>
          <p:cNvPr id="107" name="Shape 105"/>
          <p:cNvSpPr/>
          <p:nvPr/>
        </p:nvSpPr>
        <p:spPr>
          <a:xfrm>
            <a:off x="356616" y="76855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08" name="Text 106"/>
          <p:cNvSpPr/>
          <p:nvPr/>
        </p:nvSpPr>
        <p:spPr>
          <a:xfrm>
            <a:off x="475488" y="763524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Nielsen_Monthly/ CSV with Volume Market Share → unlocks value vs volume divergence check (already in DAX).</a:t>
            </a:r>
            <a:endParaRPr lang="en-US" sz="760" dirty="0"/>
          </a:p>
        </p:txBody>
      </p:sp>
      <p:sp>
        <p:nvSpPr>
          <p:cNvPr id="109" name="Shape 107"/>
          <p:cNvSpPr/>
          <p:nvPr/>
        </p:nvSpPr>
        <p:spPr>
          <a:xfrm>
            <a:off x="356616" y="80695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10" name="Text 108"/>
          <p:cNvSpPr/>
          <p:nvPr/>
        </p:nvSpPr>
        <p:spPr>
          <a:xfrm>
            <a:off x="475488" y="80192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docs/NIELSEN_DATA_REQUEST.md for column-for-column feed specification vs the two existing templates.</a:t>
            </a:r>
            <a:endParaRPr lang="en-US" sz="760" dirty="0"/>
          </a:p>
        </p:txBody>
      </p:sp>
      <p:sp>
        <p:nvSpPr>
          <p:cNvPr id="111" name="Shape 109"/>
          <p:cNvSpPr/>
          <p:nvPr/>
        </p:nvSpPr>
        <p:spPr>
          <a:xfrm>
            <a:off x="356616" y="845362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12" name="Text 110"/>
          <p:cNvSpPr/>
          <p:nvPr/>
        </p:nvSpPr>
        <p:spPr>
          <a:xfrm>
            <a:off x="475488" y="8403336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ND is fed, report SPD only with this provenance note: "SPD is WD-only — store quality arm is missing."</a:t>
            </a:r>
            <a:endParaRPr lang="en-US" sz="7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Methodology — 8-Gate Validation &amp; Pattern-Matcher-Router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in this deck passed pre-flight quality gates before generation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22392" y="475488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Offtake Only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Offtake Store×Article Jul-26 CSV (220,522 rows, 0 bad, excl. Brand Counter &amp; discontinued brands) · 8-Gate Validation: PASS_WITH_FLAG · FY27 · EXACT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37744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1" name="Text 19"/>
          <p:cNvSpPr/>
          <p:nvPr/>
        </p:nvSpPr>
        <p:spPr>
          <a:xfrm>
            <a:off x="393192" y="1280160"/>
            <a:ext cx="6071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PRE-FLIGHT VALIDATION SUMMARY — Jul-26 (python scripts/validation_gates.py --month Jul-26)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57276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1591056"/>
            <a:ext cx="16145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591225" y="1591056"/>
            <a:ext cx="15173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660" dirty="0"/>
          </a:p>
        </p:txBody>
      </p:sp>
      <p:sp>
        <p:nvSpPr>
          <p:cNvPr id="25" name="Text 23"/>
          <p:cNvSpPr/>
          <p:nvPr/>
        </p:nvSpPr>
        <p:spPr>
          <a:xfrm>
            <a:off x="2218334" y="1591056"/>
            <a:ext cx="7038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3031889" y="1591056"/>
            <a:ext cx="35060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660" dirty="0"/>
          </a:p>
        </p:txBody>
      </p:sp>
      <p:sp>
        <p:nvSpPr>
          <p:cNvPr id="27" name="Shape 25"/>
          <p:cNvSpPr/>
          <p:nvPr/>
        </p:nvSpPr>
        <p:spPr>
          <a:xfrm>
            <a:off x="265176" y="1828800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28" name="Shape 26"/>
          <p:cNvSpPr/>
          <p:nvPr/>
        </p:nvSpPr>
        <p:spPr>
          <a:xfrm>
            <a:off x="265176" y="21579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1828800"/>
            <a:ext cx="1614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30" name="Text 28"/>
          <p:cNvSpPr/>
          <p:nvPr/>
        </p:nvSpPr>
        <p:spPr>
          <a:xfrm>
            <a:off x="591225" y="1828800"/>
            <a:ext cx="151738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Verified</a:t>
            </a:r>
            <a:endParaRPr lang="en-US" sz="720" dirty="0"/>
          </a:p>
        </p:txBody>
      </p:sp>
      <p:sp>
        <p:nvSpPr>
          <p:cNvPr id="31" name="Text 29"/>
          <p:cNvSpPr/>
          <p:nvPr/>
        </p:nvSpPr>
        <p:spPr>
          <a:xfrm>
            <a:off x="2218334" y="1828800"/>
            <a:ext cx="70382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✓</a:t>
            </a:r>
            <a:endParaRPr lang="en-US" sz="720" dirty="0"/>
          </a:p>
        </p:txBody>
      </p:sp>
      <p:sp>
        <p:nvSpPr>
          <p:cNvPr id="32" name="Text 30"/>
          <p:cNvSpPr/>
          <p:nvPr/>
        </p:nvSpPr>
        <p:spPr>
          <a:xfrm>
            <a:off x="3031889" y="1828800"/>
            <a:ext cx="35060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CSV 73 MB · channel_master.json present</a:t>
            </a:r>
            <a:endParaRPr lang="en-US" sz="720" dirty="0"/>
          </a:p>
        </p:txBody>
      </p:sp>
      <p:sp>
        <p:nvSpPr>
          <p:cNvPr id="33" name="Shape 31"/>
          <p:cNvSpPr/>
          <p:nvPr/>
        </p:nvSpPr>
        <p:spPr>
          <a:xfrm>
            <a:off x="265176" y="24871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2157984"/>
            <a:ext cx="1614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591225" y="2157984"/>
            <a:ext cx="151738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Period Clear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2218334" y="2157984"/>
            <a:ext cx="70382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✓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3031889" y="2157984"/>
            <a:ext cx="35060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Jul-26 → FY27 (THE ONE FY RULE: month 7 ≥ 4 → FY year+1)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265176" y="248716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39" name="Shape 37"/>
          <p:cNvSpPr/>
          <p:nvPr/>
        </p:nvSpPr>
        <p:spPr>
          <a:xfrm>
            <a:off x="265176" y="28163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487168"/>
            <a:ext cx="1614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591225" y="2487168"/>
            <a:ext cx="151738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Bounded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2218334" y="2487168"/>
            <a:ext cx="70382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✓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3031889" y="2487168"/>
            <a:ext cx="35060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Counter excluded · Discontinued brands excluded (Lumineve, Pure Origin, Staze)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1455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0040" y="2816352"/>
            <a:ext cx="1614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46" name="Text 44"/>
          <p:cNvSpPr/>
          <p:nvPr/>
        </p:nvSpPr>
        <p:spPr>
          <a:xfrm>
            <a:off x="591225" y="2816352"/>
            <a:ext cx="151738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Tied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2218334" y="2816352"/>
            <a:ext cx="70382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⚑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3031889" y="2816352"/>
            <a:ext cx="35060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WITH WARNINGS — zone×channel primary not derivable from data.js (Tier 2, carry-forward)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265176" y="314553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0" name="Shape 48"/>
          <p:cNvSpPr/>
          <p:nvPr/>
        </p:nvSpPr>
        <p:spPr>
          <a:xfrm>
            <a:off x="265176" y="34747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0040" y="3145536"/>
            <a:ext cx="1614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591225" y="3145536"/>
            <a:ext cx="151738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Rows Assessed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2218334" y="3145536"/>
            <a:ext cx="70382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✓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3031889" y="3145536"/>
            <a:ext cx="35060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bad NSV rows / 220,522 total (0.0000%)</a:t>
            </a:r>
            <a:endParaRPr lang="en-US" sz="720" dirty="0"/>
          </a:p>
        </p:txBody>
      </p:sp>
      <p:sp>
        <p:nvSpPr>
          <p:cNvPr id="55" name="Shape 53"/>
          <p:cNvSpPr/>
          <p:nvPr/>
        </p:nvSpPr>
        <p:spPr>
          <a:xfrm>
            <a:off x="265176" y="38039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20040" y="3474720"/>
            <a:ext cx="1614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591225" y="3474720"/>
            <a:ext cx="151738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Verified</a:t>
            </a:r>
            <a:endParaRPr lang="en-US" sz="720" dirty="0"/>
          </a:p>
        </p:txBody>
      </p:sp>
      <p:sp>
        <p:nvSpPr>
          <p:cNvPr id="58" name="Text 56"/>
          <p:cNvSpPr/>
          <p:nvPr/>
        </p:nvSpPr>
        <p:spPr>
          <a:xfrm>
            <a:off x="2218334" y="3474720"/>
            <a:ext cx="70382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✓</a:t>
            </a:r>
            <a:endParaRPr lang="en-US" sz="720" dirty="0"/>
          </a:p>
        </p:txBody>
      </p:sp>
      <p:sp>
        <p:nvSpPr>
          <p:cNvPr id="59" name="Text 57"/>
          <p:cNvSpPr/>
          <p:nvPr/>
        </p:nvSpPr>
        <p:spPr>
          <a:xfrm>
            <a:off x="3031889" y="3474720"/>
            <a:ext cx="35060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Σzone.primary = mt.primary · offtake identity · benchmark 85.73% ✓</a:t>
            </a:r>
            <a:endParaRPr lang="en-US" sz="720" dirty="0"/>
          </a:p>
        </p:txBody>
      </p:sp>
      <p:sp>
        <p:nvSpPr>
          <p:cNvPr id="60" name="Shape 58"/>
          <p:cNvSpPr/>
          <p:nvPr/>
        </p:nvSpPr>
        <p:spPr>
          <a:xfrm>
            <a:off x="265176" y="380390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1" name="Shape 59"/>
          <p:cNvSpPr/>
          <p:nvPr/>
        </p:nvSpPr>
        <p:spPr>
          <a:xfrm>
            <a:off x="265176" y="41330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20040" y="3803904"/>
            <a:ext cx="1614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63" name="Text 61"/>
          <p:cNvSpPr/>
          <p:nvPr/>
        </p:nvSpPr>
        <p:spPr>
          <a:xfrm>
            <a:off x="591225" y="3803904"/>
            <a:ext cx="151738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Assessment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2218334" y="3803904"/>
            <a:ext cx="70382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✓</a:t>
            </a:r>
            <a:endParaRPr lang="en-US" sz="720" dirty="0"/>
          </a:p>
        </p:txBody>
      </p:sp>
      <p:sp>
        <p:nvSpPr>
          <p:cNvPr id="65" name="Text 63"/>
          <p:cNvSpPr/>
          <p:nvPr/>
        </p:nvSpPr>
        <p:spPr>
          <a:xfrm>
            <a:off x="3031889" y="3803904"/>
            <a:ext cx="35060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₹6.22 Cr recoverable above ₹0.25 Cr floor · 3 FY27 months · HIGH confidence</a:t>
            </a:r>
            <a:endParaRPr lang="en-US" sz="720" dirty="0"/>
          </a:p>
        </p:txBody>
      </p:sp>
      <p:sp>
        <p:nvSpPr>
          <p:cNvPr id="66" name="Shape 64"/>
          <p:cNvSpPr/>
          <p:nvPr/>
        </p:nvSpPr>
        <p:spPr>
          <a:xfrm>
            <a:off x="265176" y="446227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0040" y="4133088"/>
            <a:ext cx="1614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591225" y="4133088"/>
            <a:ext cx="151738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Cost Assessment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2218334" y="4133088"/>
            <a:ext cx="70382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✓</a:t>
            </a:r>
            <a:endParaRPr lang="en-US" sz="720" dirty="0"/>
          </a:p>
        </p:txBody>
      </p:sp>
      <p:sp>
        <p:nvSpPr>
          <p:cNvPr id="70" name="Text 68"/>
          <p:cNvSpPr/>
          <p:nvPr/>
        </p:nvSpPr>
        <p:spPr>
          <a:xfrm>
            <a:off x="3031889" y="4133088"/>
            <a:ext cx="35060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type: balanced precision/recall, HIGH confidence threshold met</a:t>
            </a:r>
            <a:endParaRPr lang="en-US" sz="720" dirty="0"/>
          </a:p>
        </p:txBody>
      </p:sp>
      <p:sp>
        <p:nvSpPr>
          <p:cNvPr id="71" name="Shape 69"/>
          <p:cNvSpPr/>
          <p:nvPr/>
        </p:nvSpPr>
        <p:spPr>
          <a:xfrm>
            <a:off x="265176" y="4572000"/>
            <a:ext cx="6327648" cy="237744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72" name="Text 70"/>
          <p:cNvSpPr/>
          <p:nvPr/>
        </p:nvSpPr>
        <p:spPr>
          <a:xfrm>
            <a:off x="393192" y="4590288"/>
            <a:ext cx="6071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PATTERN-MATCHER-ROUTER — 5-PHASE INSIGHT CYCLE APPLIED</a:t>
            </a:r>
            <a:endParaRPr lang="en-US" sz="720" dirty="0"/>
          </a:p>
        </p:txBody>
      </p:sp>
      <p:sp>
        <p:nvSpPr>
          <p:cNvPr id="73" name="Shape 71"/>
          <p:cNvSpPr/>
          <p:nvPr/>
        </p:nvSpPr>
        <p:spPr>
          <a:xfrm>
            <a:off x="265176" y="4882896"/>
            <a:ext cx="3099816" cy="2926080"/>
          </a:xfrm>
          <a:prstGeom prst="roundRect">
            <a:avLst>
              <a:gd name="adj" fmla="val 62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65176" y="4882896"/>
            <a:ext cx="3099816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75" name="Text 73"/>
          <p:cNvSpPr/>
          <p:nvPr/>
        </p:nvSpPr>
        <p:spPr>
          <a:xfrm>
            <a:off x="347472" y="490118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5-PHASE CYCLE (ASK→SHARE)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356616" y="52989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77" name="Text 75"/>
          <p:cNvSpPr/>
          <p:nvPr/>
        </p:nvSpPr>
        <p:spPr>
          <a:xfrm>
            <a:off x="475488" y="5248656"/>
            <a:ext cx="2798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"Where is Jul offtake soft and why?" → Diagnostic type → balanced FP/FN.</a:t>
            </a:r>
            <a:endParaRPr lang="en-US" sz="720" dirty="0"/>
          </a:p>
        </p:txBody>
      </p:sp>
      <p:sp>
        <p:nvSpPr>
          <p:cNvPr id="78" name="Shape 76"/>
          <p:cNvSpPr/>
          <p:nvPr/>
        </p:nvSpPr>
        <p:spPr>
          <a:xfrm>
            <a:off x="356616" y="5737860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79" name="Text 77"/>
          <p:cNvSpPr/>
          <p:nvPr/>
        </p:nvSpPr>
        <p:spPr>
          <a:xfrm>
            <a:off x="475488" y="5687568"/>
            <a:ext cx="2798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PREPARE: Offtake CSV gated (0 bad rows, Brand Counter excluded, ND absent flagged).</a:t>
            </a:r>
            <a:endParaRPr lang="en-US" sz="720" dirty="0"/>
          </a:p>
        </p:txBody>
      </p:sp>
      <p:sp>
        <p:nvSpPr>
          <p:cNvPr id="80" name="Shape 78"/>
          <p:cNvSpPr/>
          <p:nvPr/>
        </p:nvSpPr>
        <p:spPr>
          <a:xfrm>
            <a:off x="356616" y="6176772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126480"/>
            <a:ext cx="2798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EXPLORE: Univariate (national) → Bivariate (zone/brand) → Multivariate (zone×brand×chain).</a:t>
            </a:r>
            <a:endParaRPr lang="en-US" sz="720" dirty="0"/>
          </a:p>
        </p:txBody>
      </p:sp>
      <p:sp>
        <p:nvSpPr>
          <p:cNvPr id="82" name="Shape 80"/>
          <p:cNvSpPr/>
          <p:nvPr/>
        </p:nvSpPr>
        <p:spPr>
          <a:xfrm>
            <a:off x="356616" y="6615684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83" name="Text 81"/>
          <p:cNvSpPr/>
          <p:nvPr/>
        </p:nvSpPr>
        <p:spPr>
          <a:xfrm>
            <a:off x="475488" y="6565392"/>
            <a:ext cx="2798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ANALYZE: Root cause = volume contraction (−293k units) not pricing (ASP +₹4.32). HIGH confidence.</a:t>
            </a:r>
            <a:endParaRPr lang="en-US" sz="720" dirty="0"/>
          </a:p>
        </p:txBody>
      </p:sp>
      <p:sp>
        <p:nvSpPr>
          <p:cNvPr id="84" name="Shape 82"/>
          <p:cNvSpPr/>
          <p:nvPr/>
        </p:nvSpPr>
        <p:spPr>
          <a:xfrm>
            <a:off x="356616" y="7054596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85" name="Text 83"/>
          <p:cNvSpPr/>
          <p:nvPr/>
        </p:nvSpPr>
        <p:spPr>
          <a:xfrm>
            <a:off x="475488" y="7004304"/>
            <a:ext cx="2798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SHARE: One headline per slide · one chart · one action.</a:t>
            </a:r>
            <a:endParaRPr lang="en-US" sz="720" dirty="0"/>
          </a:p>
        </p:txBody>
      </p:sp>
      <p:sp>
        <p:nvSpPr>
          <p:cNvPr id="86" name="Shape 84"/>
          <p:cNvSpPr/>
          <p:nvPr/>
        </p:nvSpPr>
        <p:spPr>
          <a:xfrm>
            <a:off x="3493008" y="4882896"/>
            <a:ext cx="3099816" cy="2926080"/>
          </a:xfrm>
          <a:prstGeom prst="roundRect">
            <a:avLst>
              <a:gd name="adj" fmla="val 62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493008" y="4882896"/>
            <a:ext cx="3099816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88" name="Text 86"/>
          <p:cNvSpPr/>
          <p:nvPr/>
        </p:nvSpPr>
        <p:spPr>
          <a:xfrm>
            <a:off x="3575304" y="490118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— 3-TIER CARRY-FORWARDS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3584448" y="529894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0" name="Text 88"/>
          <p:cNvSpPr/>
          <p:nvPr/>
        </p:nvSpPr>
        <p:spPr>
          <a:xfrm>
            <a:off x="3703320" y="5248656"/>
            <a:ext cx="27980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(Fixed): benchConv corrected from 85.5% → 85.73%; zone contamination patch applied.</a:t>
            </a:r>
            <a:endParaRPr lang="en-US" sz="720" dirty="0"/>
          </a:p>
        </p:txBody>
      </p:sp>
      <p:sp>
        <p:nvSpPr>
          <p:cNvPr id="91" name="Shape 89"/>
          <p:cNvSpPr/>
          <p:nvPr/>
        </p:nvSpPr>
        <p:spPr>
          <a:xfrm>
            <a:off x="3584448" y="5811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92" name="Text 90"/>
          <p:cNvSpPr/>
          <p:nvPr/>
        </p:nvSpPr>
        <p:spPr>
          <a:xfrm>
            <a:off x="3703320" y="5760720"/>
            <a:ext cx="27980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(Documented here): Zone×channel primary not exact from data.js — requires full source workbook. June 2026 absent.</a:t>
            </a:r>
            <a:endParaRPr lang="en-US" sz="720" dirty="0"/>
          </a:p>
        </p:txBody>
      </p:sp>
      <p:sp>
        <p:nvSpPr>
          <p:cNvPr id="93" name="Shape 91"/>
          <p:cNvSpPr/>
          <p:nvPr/>
        </p:nvSpPr>
        <p:spPr>
          <a:xfrm>
            <a:off x="3584448" y="63230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4" name="Text 92"/>
          <p:cNvSpPr/>
          <p:nvPr/>
        </p:nvSpPr>
        <p:spPr>
          <a:xfrm>
            <a:off x="3703320" y="6272784"/>
            <a:ext cx="27980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(Placeholder): Nielsen_Monthly/ empty → ND, volume share, category MS not fed. TDP_Monthly/ empty → MS vs TDP Index cannot run.</a:t>
            </a:r>
            <a:endParaRPr lang="en-US" sz="7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Key Actions — July Offtake Findings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Prioritised by impact · Owner assigned · August review trigger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22392" y="475488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Offtake Only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Offtake Store×Article Jul-26 CSV (220,522 rows, 0 bad, excl. Brand Counter &amp; discontinued brands) · 8-Gate Validation: PASS_WITH_FLAG · FY27 · EXACT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37744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21" name="Text 19"/>
          <p:cNvSpPr/>
          <p:nvPr/>
        </p:nvSpPr>
        <p:spPr>
          <a:xfrm>
            <a:off x="393192" y="1280160"/>
            <a:ext cx="6071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PATTERN-MATCHER-ROUTER VERDICT — JULY 2026 OFFTAKE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572768"/>
            <a:ext cx="6327648" cy="49377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240">
            <a:solidFill>
              <a:srgbClr val="2B9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1636776"/>
            <a:ext cx="6071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8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HEADLINE: July NSV −4.1 Cr vs May is 100% volume-driven (−293k units). ASP rose ₹4.32. Pricing is healthy. Fix unit velocity, not price.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65176" y="2176272"/>
            <a:ext cx="6327648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5176" y="2176272"/>
            <a:ext cx="6327648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6" name="Text 24"/>
          <p:cNvSpPr/>
          <p:nvPr/>
        </p:nvSpPr>
        <p:spPr>
          <a:xfrm>
            <a:off x="347472" y="2194560"/>
            <a:ext cx="6163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DIAGNOSE WEST VOLUME DIP  [P1]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56616" y="2542032"/>
            <a:ext cx="2023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4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356616" y="2724912"/>
            <a:ext cx="1969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is 23% of geo-MT NSV but holds lowest ASP (₹166). High unit volume is its contribution — any slip here outsizes all zones.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435352" y="2542032"/>
            <a:ext cx="2023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4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435352" y="2724912"/>
            <a:ext cx="1969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West chain-level units for Jul vs May. Quantify how many units are Dmart vs Reliance vs Apollo. Is it Dmart receiving less primary, or Reliance velocity slipping?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514088" y="2542032"/>
            <a:ext cx="2023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4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· METRIC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4514088" y="2724912"/>
            <a:ext cx="19324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RSM · 25 Aug</a:t>
            </a:r>
            <a:endParaRPr lang="en-US" sz="7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units Aug ≥ May (497k baseline)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265176" y="4005072"/>
            <a:ext cx="6327648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5176" y="4005072"/>
            <a:ext cx="6327648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5" name="Text 33"/>
          <p:cNvSpPr/>
          <p:nvPr/>
        </p:nvSpPr>
        <p:spPr>
          <a:xfrm>
            <a:off x="347472" y="4023360"/>
            <a:ext cx="6163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PUSH PREMIUM MIX INSIDE DMART  [P1]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56616" y="4370832"/>
            <a:ext cx="2023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4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356616" y="4553712"/>
            <a:ext cx="1969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= 38.8% of geo-MT (₹13.97 Cr) but lowest chain ASP (₹158). TDC and Aqualogica under-represented vs national.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435352" y="4370832"/>
            <a:ext cx="2023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4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2435352" y="4553712"/>
            <a:ext cx="1969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TDC SKU listing in Dmart. Target TDC share of Dmart NSV from current level to ≥12% (vs 30.6% national TDC share). One new TDC face SKU in Dmart by Sept.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514088" y="4370832"/>
            <a:ext cx="2023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4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· METRIC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4514088" y="4553712"/>
            <a:ext cx="19324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KAM Dmart · 31 Aug</a:t>
            </a:r>
            <a:endParaRPr lang="en-US" sz="7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Dmart NSV share: current → target 12%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5176" y="5833872"/>
            <a:ext cx="6327648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65176" y="5833872"/>
            <a:ext cx="6327648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44" name="Text 42"/>
          <p:cNvSpPr/>
          <p:nvPr/>
        </p:nvSpPr>
        <p:spPr>
          <a:xfrm>
            <a:off x="347472" y="5852160"/>
            <a:ext cx="6163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CENTRAL ZONE — REALISATION WATCH  [P2]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356616" y="6199632"/>
            <a:ext cx="2023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4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356616" y="6382512"/>
            <a:ext cx="1969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realisation 41.1% = lowest geo-MT zone (national 42.8%, South-2 43.0%). Not yet at trigger threshold but trending.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2435352" y="6199632"/>
            <a:ext cx="2023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4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2435352" y="6382512"/>
            <a:ext cx="1969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Month-on-month realisation tracking for Central. If Aug realisation &lt; 40.5% — trigger trade-scheme audit for MP/CG. Otherwise monitor.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514088" y="6199632"/>
            <a:ext cx="2023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4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· METRIC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4514088" y="6382512"/>
            <a:ext cx="19324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RSM + Trade Marketing · 15 Sep</a:t>
            </a:r>
            <a:endParaRPr lang="en-US" sz="7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realisation Aug ≥ 40.5%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265176" y="7662672"/>
            <a:ext cx="6327648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5176" y="7662672"/>
            <a:ext cx="6327648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53" name="Text 51"/>
          <p:cNvSpPr/>
          <p:nvPr/>
        </p:nvSpPr>
        <p:spPr>
          <a:xfrm>
            <a:off x="347472" y="7680960"/>
            <a:ext cx="6163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AQUALOGICA — SCALE UP HIGH-ASP  [P2]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356616" y="8028432"/>
            <a:ext cx="2023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4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356616" y="8211312"/>
            <a:ext cx="1969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 ASP ₹235 is the highest brand in portfolio (vs ₹170 MEA, ₹188 TDC). Share is 1.3% — early stage.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2435352" y="8028432"/>
            <a:ext cx="2023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4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2435352" y="8211312"/>
            <a:ext cx="1969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2 chains where Aqualogica can expand listing (Apollo, Wellness Forever are pharmacy-format and premium-receptive). Add 3 SKUs in these chains by Q2 end.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4514088" y="8028432"/>
            <a:ext cx="2023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4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· METRIC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4514088" y="8211312"/>
            <a:ext cx="19324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Analyst + KAM · 15 Sep</a:t>
            </a:r>
            <a:endParaRPr lang="en-US" sz="7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 MT NSV ≥ ₹0.60 Cr by Oct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265176" y="9491472"/>
            <a:ext cx="6327648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65176" y="9491472"/>
            <a:ext cx="6327648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62" name="Text 60"/>
          <p:cNvSpPr/>
          <p:nvPr/>
        </p:nvSpPr>
        <p:spPr>
          <a:xfrm>
            <a:off x="347472" y="9509760"/>
            <a:ext cx="6163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FEED THE NIELSEN &amp; TDP PIPES  [P3]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356616" y="9857232"/>
            <a:ext cx="2023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4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356616" y="10040112"/>
            <a:ext cx="1969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ND, volume share, MS vs TDP Index and the full decomposition (share = ND × store-quality × SPD) cannot run. Three DAX measures and two DAX tables are built and empty.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2435352" y="9857232"/>
            <a:ext cx="2023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4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2435352" y="10040112"/>
            <a:ext cx="1969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TDP_Monthly/ and Nielsen_Monthly/ CSVs per docs/NIELSEN_DATA_REQUEST.md. Drop in PowerBI/RawDataFolders/, refresh. No mapping work needed — templates are column-for-column.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4514088" y="9857232"/>
            <a:ext cx="2023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4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· METRIC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4514088" y="10040112"/>
            <a:ext cx="19324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· 30 Sep</a:t>
            </a:r>
            <a:endParaRPr lang="en-US" sz="7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validation_gates.py Gate 1: ND file present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July 2026 MT Offtake Command Centre</dc:title>
  <dc:subject>PptxGenJS Presentation</dc:subject>
  <dc:creator>Modern Trade Analytics</dc:creator>
  <cp:lastModifiedBy>Modern Trade Analytics</cp:lastModifiedBy>
  <cp:revision>1</cp:revision>
  <dcterms:created xsi:type="dcterms:W3CDTF">2026-08-18T06:06:43Z</dcterms:created>
  <dcterms:modified xsi:type="dcterms:W3CDTF">2026-08-18T06:06:43Z</dcterms:modified>
</cp:coreProperties>
</file>