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5" d="100"/>
          <a:sy n="35" d="100"/>
        </p:scale>
        <p:origin x="242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0888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10888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0" y="413420"/>
            <a:ext cx="1609344" cy="384048"/>
          </a:xfrm>
          <a:prstGeom prst="roundRect">
            <a:avLst>
              <a:gd name="adj" fmla="val 2142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BEST EVER Q1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100584"/>
            <a:ext cx="45811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HONASA MODERN TRADE | Q1 FY27 | LEADERSHIP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292608"/>
            <a:ext cx="4581144" cy="4662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114 CR OFFTAKES: 27% SEQUENTIAL &amp; 64% YoY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777123"/>
            <a:ext cx="4581144" cy="3423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114.39 CR OFFTAKES: 27% SEQUENTIAL &amp; 64% YOY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" y="1343476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416628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2336" y="1398340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 OFFTAKE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572076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₹114.39 Cr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864684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64%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1343476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83863" y="1416628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744" y="1398340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SEQUENTIAL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572076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+27%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1864684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vs Q4 FY26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" y="2184724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9456" y="2257876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36" y="223958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 PRIMARY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413324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₹136.53 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2705932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77% YoY, ▲ 45% seq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3863" y="2184724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83863" y="2257876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66744" y="2239588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JUN'26 OFFTAKE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413324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₹38.24 Cr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66744" y="2705932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68% YoY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" y="3025972"/>
            <a:ext cx="6419088" cy="2531588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9456" y="3025972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9456" y="3199708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0896" y="3025972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ZONE VIEW — NSV ₹ LACS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" y="3346012"/>
            <a:ext cx="6236207" cy="269585"/>
          </a:xfrm>
          <a:prstGeom prst="roundRect">
            <a:avLst>
              <a:gd name="adj" fmla="val 1356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5" y="3346012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ZONE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399" y="3346012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04641" y="3346012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1883" y="3346012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GROWTH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85739" y="3346012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5" y="3615597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West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399" y="3615597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1,877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4641" y="3615597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2,905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1883" y="3615597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55%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85739" y="3615597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" y="3885183"/>
            <a:ext cx="6236207" cy="26958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6615" y="3885183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North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399" y="3885183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1,583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04641" y="3885183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2,641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51883" y="3885183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85739" y="3885183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5" y="4154768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South-1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399" y="4154768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1,356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04641" y="4154768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2,489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51883" y="4154768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85739" y="4154768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4424354"/>
            <a:ext cx="6236207" cy="26958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56615" y="4424354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South-2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399" y="4424354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952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04641" y="4424354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1,576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51883" y="4424354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66%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85739" y="4424354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5" y="4693940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East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399" y="4693940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04641" y="4693940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1,173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51883" y="4693940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85739" y="4693940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" y="4963525"/>
            <a:ext cx="6236207" cy="26958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56615" y="4963525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Pan India (FSN)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399" y="4963525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04641" y="4963525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653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51883" y="4963525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85739" y="4963525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5" y="5233111"/>
            <a:ext cx="1609343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57399" y="5233111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6,992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04641" y="5233111"/>
            <a:ext cx="1155801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11,439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51883" y="5233111"/>
            <a:ext cx="1042415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64%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85739" y="5233111"/>
            <a:ext cx="815644" cy="2695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100%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9456" y="5667288"/>
            <a:ext cx="6419088" cy="2324928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19456" y="5667288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9456" y="5841024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10896" y="5667288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TOP CHAINS — NSV ₹ LACS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10896" y="5987328"/>
            <a:ext cx="6236207" cy="278574"/>
          </a:xfrm>
          <a:prstGeom prst="roundRect">
            <a:avLst>
              <a:gd name="adj" fmla="val 13129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56615" y="598732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CHAIN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57399" y="59873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04641" y="59873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51883" y="598732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GROWTH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85739" y="598732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MIX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6615" y="6265903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D-Mart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57399" y="62659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2,600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04641" y="62659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4,232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51883" y="6265903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85739" y="6265903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37%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0896" y="6544478"/>
            <a:ext cx="6236207" cy="27857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56615" y="654447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Reliance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399" y="65444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1,908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304641" y="65444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2,806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51883" y="654447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47%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85739" y="654447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25%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56615" y="6823053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Apollo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57399" y="682305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793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04641" y="682305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2,173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51883" y="6823053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174%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85739" y="6823053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19%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" y="7101628"/>
            <a:ext cx="6236207" cy="27857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56615" y="710162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FSN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57399" y="71016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523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04641" y="710162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653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51883" y="710162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25%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85739" y="710162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6615" y="7380203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Lulu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057399" y="73802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04641" y="7380203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333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51883" y="7380203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169%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85739" y="7380203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10896" y="7658778"/>
            <a:ext cx="6236207" cy="27857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56615" y="7658778"/>
            <a:ext cx="1609343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Wellness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057399" y="76587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249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04641" y="7658778"/>
            <a:ext cx="1155801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291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51883" y="7658778"/>
            <a:ext cx="1042415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17%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685739" y="7658778"/>
            <a:ext cx="815644" cy="2785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3%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19456" y="8101945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BRAND VIEW — Q1 FY27 OFFTAKE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19456" y="8376265"/>
            <a:ext cx="6419088" cy="1327297"/>
          </a:xfrm>
          <a:prstGeom prst="roundRect">
            <a:avLst>
              <a:gd name="adj" fmla="val 551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310896" y="8458561"/>
            <a:ext cx="2005583" cy="1171849"/>
          </a:xfrm>
          <a:prstGeom prst="roundRect">
            <a:avLst>
              <a:gd name="adj" fmla="val 468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10896" y="8458561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65759" y="8742733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MAMAEARTH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59" y="8898181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₹82.5 Cr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59" y="9172501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33%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426207" y="8458561"/>
            <a:ext cx="2005583" cy="1171849"/>
          </a:xfrm>
          <a:prstGeom prst="roundRect">
            <a:avLst>
              <a:gd name="adj" fmla="val 468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2426207" y="8458561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2481071" y="8742733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HONASA MODERN TRADE | Q1 FY27 | LEADERSHIP REVIEW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81071" y="8898181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₹29.5 Cr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481071" y="9172501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365%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541519" y="8458561"/>
            <a:ext cx="2005583" cy="1171849"/>
          </a:xfrm>
          <a:prstGeom prst="roundRect">
            <a:avLst>
              <a:gd name="adj" fmla="val 468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541519" y="8458561"/>
            <a:ext cx="2005583" cy="4114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596383" y="8742733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AQUALOGICA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96383" y="8898181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₹1.96 Cr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96383" y="9172501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16%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19456" y="9813290"/>
            <a:ext cx="6419088" cy="1756612"/>
          </a:xfrm>
          <a:prstGeom prst="roundRect">
            <a:avLst>
              <a:gd name="adj" fmla="val 416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219456" y="9813290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219456" y="9987026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10896" y="9813290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t>Zone conversion spread (45%–84%) drives phased recovery. D-Mart + Reliance concentration = execution risk. Nielsen +56% MAT validates demand pull.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0040" y="10331611"/>
            <a:ext cx="64008" cy="6400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457200" y="10133330"/>
            <a:ext cx="6089903" cy="460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77D17"/>
                </a:solidFill>
                <a:latin typeface="Aptos"/>
              </a:rPr>
              <a:t>Concentration  </a:t>
            </a:r>
            <a:r>
              <a:rPr sz="1000" b="0">
                <a:solidFill>
                  <a:srgbClr val="1F2933"/>
                </a:solidFill>
                <a:latin typeface="Aptos"/>
              </a:rPr>
              <a:t>D-Mart, Reliance and Apollo delivered </a:t>
            </a:r>
            <a:r>
              <a:rPr sz="1000" b="1">
                <a:solidFill>
                  <a:srgbClr val="1F2933"/>
                </a:solidFill>
                <a:latin typeface="Aptos"/>
              </a:rPr>
              <a:t>81.8%</a:t>
            </a:r>
            <a:r>
              <a:rPr sz="1000" b="0">
                <a:solidFill>
                  <a:srgbClr val="1F2933"/>
                </a:solidFill>
                <a:latin typeface="Aptos"/>
              </a:rPr>
              <a:t> of June offtake.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20040" y="10792180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57200" y="10593900"/>
            <a:ext cx="6089903" cy="460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t>114.39 CR OFFTAKES: 27% SEQUENTIAL &amp; 64% YOY GROWTH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20040" y="11194345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457200" y="11054469"/>
            <a:ext cx="6089903" cy="4605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Momentum  </a:t>
            </a:r>
            <a:r>
              <a:rPr sz="1000" b="0">
                <a:solidFill>
                  <a:srgbClr val="1F2933"/>
                </a:solidFill>
                <a:latin typeface="Aptos"/>
              </a:rPr>
              <a:t>Jun'26 was the best-ever June, ▲68% YoY, despite a seasonal ▼5% MoM off the May record.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t>PHASE 0-30d: Validate Reliance Paisa Vasool (Aug 5) before North/East spend. PHASE 31-60d: Run pack pilots (650/1000ml Shampoo, File 1 data). PHASE 61-90d: Scale proven cells only.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HOLD  </a:t>
            </a:r>
            <a:r>
              <a:rPr sz="950" b="0">
                <a:solidFill>
                  <a:srgbClr val="EDEFF1"/>
                </a:solidFill>
                <a:latin typeface="Aptos"/>
              </a:rPr>
              <a:t>Growth is broad-based across every zone and both lead brands.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WATCH  </a:t>
            </a:r>
            <a:r>
              <a:rPr sz="950" b="0">
                <a:solidFill>
                  <a:srgbClr val="EDEFF1"/>
                </a:solidFill>
                <a:latin typeface="Aptos"/>
              </a:rPr>
              <a:t>Three chains now carry four-fifths of the channel.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076301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6301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66944" y="346126"/>
            <a:ext cx="1371600" cy="384048"/>
          </a:xfrm>
          <a:prstGeom prst="roundRect">
            <a:avLst>
              <a:gd name="adj" fmla="val 2142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365% YoY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100584"/>
            <a:ext cx="48188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THE DERMA CO. | Q1 FY27 | BRAND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292608"/>
            <a:ext cx="4818888" cy="4662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TDC @ 30 CR, DOUBLING SEQUENTIALLY IN D-MART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777123"/>
            <a:ext cx="48188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Major scale-up across acne, with supply constraint emerging. TDC ₹4.16 Cr flow gap @ 72.6% conversion signals capacity ceiling. Nielsen Face Wash premium tier +15% market trend supports continued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" y="12088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2820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2336" y="12637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Q1 OFFTAKE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437489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₹29.5 Cr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73009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365%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12088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83863" y="12820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744" y="12637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IN D-MART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437489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₹13.66 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173009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98% sequential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" y="20501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9456" y="2123289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36" y="21050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FACEWASH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27873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₹15.45 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257134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1,091%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3863" y="20501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83863" y="2123289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66744" y="21050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TDC SUN CARE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27873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₹10.59 Cr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66744" y="257134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290% YoY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" y="2891385"/>
            <a:ext cx="6419088" cy="2630611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9456" y="2891385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9456" y="3065121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0896" y="2891385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TDC ACCOUNT-WISE OFFTAKE — ₹ LACS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" y="3211425"/>
            <a:ext cx="6236207" cy="281963"/>
          </a:xfrm>
          <a:prstGeom prst="roundRect">
            <a:avLst>
              <a:gd name="adj" fmla="val 12971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5" y="3211425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CHAIN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73410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8263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3117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 QOQ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37970" y="3211425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YOY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5" y="3493389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D-Mart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73410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28263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1,366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3117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98%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37970" y="349338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2,296%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" y="3775352"/>
            <a:ext cx="6236207" cy="281963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6615" y="3775352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Apollo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73410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28263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677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83117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37970" y="3775352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880%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5" y="4057316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Reliance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73410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28263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83117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37970" y="405731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141%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4339279"/>
            <a:ext cx="6236207" cy="281963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56615" y="4339279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Wellness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73410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28263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83117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7970" y="4339279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5" y="4621243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H&amp;G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73410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133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28263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83117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37970" y="4621243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" y="4903206"/>
            <a:ext cx="6236207" cy="281963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56615" y="4903206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Lulu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73410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28263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83117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49%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37970" y="4903206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510%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5" y="5185170"/>
            <a:ext cx="1525354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73410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635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28263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2,951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83117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37970" y="5185170"/>
            <a:ext cx="1063413" cy="281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365%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9456" y="5631725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ACNE PARTITION — TDC FACEWASH BY RANGE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9456" y="5906045"/>
            <a:ext cx="6419088" cy="1727232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310896" y="6006137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56615" y="6006137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RANGE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35351" y="600613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21175" y="600613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 QOQ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06999" y="600613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YOY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5" y="6317033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Salicylic Acid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35351" y="631703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774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21175" y="631703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32%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06999" y="631703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1,234%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0896" y="6627929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56615" y="6627929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Sali-Cinamide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435351" y="662792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438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21175" y="662792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137%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06999" y="662792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2,217%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5" y="6938825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Kojic Acid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35351" y="693882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306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21175" y="693882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121%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06999" y="693882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737%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10896" y="7249721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56615" y="7249721"/>
            <a:ext cx="19872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35351" y="724972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1,545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21175" y="724972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67%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206999" y="724972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1,091%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9456" y="7743006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DISTRIBUTION SCALE-UP, MARCH → JUNE'26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19456" y="8017326"/>
            <a:ext cx="6419088" cy="1441296"/>
          </a:xfrm>
          <a:prstGeom prst="roundRect">
            <a:avLst>
              <a:gd name="adj" fmla="val 5075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310896" y="8099622"/>
            <a:ext cx="3063239" cy="1285848"/>
          </a:xfrm>
          <a:prstGeom prst="roundRect">
            <a:avLst>
              <a:gd name="adj" fmla="val 4266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10896" y="8099622"/>
            <a:ext cx="3063239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65759" y="8440794"/>
            <a:ext cx="2953511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2% SALI-CINAMIDE FW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59" y="8596242"/>
            <a:ext cx="29535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74 → 412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5759" y="8870562"/>
            <a:ext cx="2953511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D-Mart doors · throughput 81 → 135 units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483863" y="8099622"/>
            <a:ext cx="3063239" cy="1285848"/>
          </a:xfrm>
          <a:prstGeom prst="roundRect">
            <a:avLst>
              <a:gd name="adj" fmla="val 4266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483863" y="8099622"/>
            <a:ext cx="3063239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538727" y="8440794"/>
            <a:ext cx="2953511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1% KOJIC ACID FW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538727" y="8596242"/>
            <a:ext cx="29535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80 → 364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538727" y="8870562"/>
            <a:ext cx="2953511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D-Mart doors · throughput 57 → 130 units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19456" y="9568350"/>
            <a:ext cx="6419088" cy="2001552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219456" y="9568350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19456" y="9742086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10896" y="9568350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WHAT IS DRIVING IT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10069089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457200" y="9888390"/>
            <a:ext cx="6089903" cy="542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Share source  </a:t>
            </a:r>
            <a:r>
              <a:rPr sz="1000" b="0">
                <a:solidFill>
                  <a:srgbClr val="1F2933"/>
                </a:solidFill>
                <a:latin typeface="Aptos"/>
              </a:rPr>
              <a:t>Gain in acne partition not just from Himalaya and Clean &amp; Clear, but also Men's facewash.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" y="10669710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457200" y="10430606"/>
            <a:ext cx="6089903" cy="542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Distribution  </a:t>
            </a:r>
            <a:r>
              <a:rPr sz="1000" b="0">
                <a:solidFill>
                  <a:srgbClr val="1F2933"/>
                </a:solidFill>
                <a:latin typeface="Aptos"/>
              </a:rPr>
              <a:t>National focus helped to rapidly scale distribution.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" y="11153521"/>
            <a:ext cx="64008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457200" y="10972823"/>
            <a:ext cx="6089903" cy="5422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2B6CB0"/>
                </a:solidFill>
                <a:latin typeface="Aptos"/>
              </a:rPr>
              <a:t>Next chain  </a:t>
            </a:r>
            <a:r>
              <a:rPr sz="1000" b="0">
                <a:solidFill>
                  <a:srgbClr val="1F2933"/>
                </a:solidFill>
                <a:latin typeface="Aptos"/>
              </a:rPr>
              <a:t>2% Sali-Cinamide showing green shoots in Reliance @ </a:t>
            </a:r>
            <a:r>
              <a:rPr sz="1000" b="1">
                <a:solidFill>
                  <a:srgbClr val="1F2933"/>
                </a:solidFill>
                <a:latin typeface="Aptos"/>
              </a:rPr>
              <a:t>35 units</a:t>
            </a:r>
            <a:r>
              <a:rPr sz="1000" b="0">
                <a:solidFill>
                  <a:srgbClr val="1F2933"/>
                </a:solidFill>
                <a:latin typeface="Aptos"/>
              </a:rPr>
              <a:t> throughput in manned counters.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t>VALIDATE TDC supply capacity by 15-Aug before aggressive primary billing. PRIORITISE Face Cleanser + Acne range (highest velocity). HOLD Reliance aggressive loading until conversion ≥ 75%.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SCALE  </a:t>
            </a:r>
            <a:r>
              <a:rPr sz="950" b="0">
                <a:solidFill>
                  <a:srgbClr val="EDEFF1"/>
                </a:solidFill>
                <a:latin typeface="Aptos"/>
              </a:rPr>
              <a:t>D-Mart proves the model; Reliance and Apollo are the next doors to open.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GUARD  </a:t>
            </a:r>
            <a:r>
              <a:rPr sz="950" b="0">
                <a:solidFill>
                  <a:srgbClr val="EDEFF1"/>
                </a:solidFill>
                <a:latin typeface="Aptos"/>
              </a:rPr>
              <a:t>Fill rate on Kojic is the constraint, not demand.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09415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09415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FACE WASH | Q1 FY27 | CATEGORY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6993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MAMAEARTH FW ₹32.59 CR (+33% YOY), NIELSEN MAT +56%—PACK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1010237"/>
            <a:ext cx="64190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FE3DB"/>
                </a:solidFill>
                <a:latin typeface="Aptos"/>
              </a:rPr>
              <a:t>D-Mart facewash category growing @ 20% YoY; Honasa grew ahead of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ME FACEWASH 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67060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₹32.59 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96321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33% YoY, ▲ 25% seq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3863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66744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D-MART HONASA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66744" y="167060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27%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96321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from 17% 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9456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2336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RICE RANGE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251185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₹15.81 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804459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82% YoY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3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83863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66744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LARGE PACKS (200+150)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251185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804459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from 54% of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" y="3124499"/>
            <a:ext cx="6419088" cy="2287793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456" y="3124499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9456" y="3298235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0896" y="3124499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ME FACEWASH BY RANGE — Q1 FY27 (₹ LACS)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3632888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Rice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3738044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72768" y="3738044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283095" y="3632888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1,581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0023" y="3632888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82%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" y="4016936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Ubtan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72768" y="4122092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572768" y="4122092"/>
            <a:ext cx="2203680" cy="173736"/>
          </a:xfrm>
          <a:prstGeom prst="roundRect">
            <a:avLst>
              <a:gd name="adj" fmla="val 21052"/>
            </a:avLst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83095" y="4016936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946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0023" y="4016936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13%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" y="4400984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Vitamin 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4506140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572768" y="4506140"/>
            <a:ext cx="1101840" cy="173736"/>
          </a:xfrm>
          <a:prstGeom prst="roundRect">
            <a:avLst>
              <a:gd name="adj" fmla="val 21052"/>
            </a:avLst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283095" y="4400984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473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0023" y="4400984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4785032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Tea Tree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72768" y="4890188"/>
            <a:ext cx="3682895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572768" y="4890188"/>
            <a:ext cx="160733" cy="173736"/>
          </a:xfrm>
          <a:prstGeom prst="roundRect">
            <a:avLst>
              <a:gd name="adj" fmla="val 22755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283095" y="4785032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69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0023" y="4785032"/>
            <a:ext cx="7062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52% seq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" y="5522020"/>
            <a:ext cx="6419088" cy="2396736"/>
          </a:xfrm>
          <a:prstGeom prst="roundRect">
            <a:avLst>
              <a:gd name="adj" fmla="val 3052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19456" y="5522020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19456" y="5695756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10896" y="5522020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PACK SIZE MIX — ₹ LACS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0896" y="5920288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56615" y="5920288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PACK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38389" y="592028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FY27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3201" y="592028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SEQ QOQ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08012" y="592028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YOY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5" y="6231184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150 ml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38389" y="6231184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1,878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23201" y="6231184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08012" y="6231184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43%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0896" y="6542080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56615" y="6542080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100 ml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38389" y="6542080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917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23201" y="6542080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19%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08012" y="6542080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5" y="6852976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50 ml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38389" y="6852976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205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23201" y="6852976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21%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8012" y="6852976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0896" y="7163872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56615" y="7163872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200 ml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38389" y="7163872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204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23201" y="7163872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83%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08012" y="7163872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new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615" y="7474768"/>
            <a:ext cx="169033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250 ml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38389" y="747476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23201" y="747476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C0392B"/>
                </a:solidFill>
                <a:latin typeface="Aptos"/>
              </a:rPr>
              <a:t>▼ 15%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08012" y="7474768"/>
            <a:ext cx="139337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C0392B"/>
                </a:solidFill>
                <a:latin typeface="Aptos"/>
              </a:rPr>
              <a:t>▼ 51%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19456" y="8028484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t>FACE WASH | Q1 FY27 | CATEGORY DEEP DIVE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19456" y="8302804"/>
            <a:ext cx="6419088" cy="1414289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10896" y="8385100"/>
            <a:ext cx="2005583" cy="1258841"/>
          </a:xfrm>
          <a:prstGeom prst="roundRect">
            <a:avLst>
              <a:gd name="adj" fmla="val 435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10896" y="8385100"/>
            <a:ext cx="2005583" cy="4114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5759" y="8712769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MAMAEARTH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59" y="8868217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15%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59" y="9142537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17% in Q1 FY26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426207" y="8385100"/>
            <a:ext cx="2005583" cy="1258841"/>
          </a:xfrm>
          <a:prstGeom prst="roundRect">
            <a:avLst>
              <a:gd name="adj" fmla="val 435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426207" y="8385100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481071" y="8712769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FACE WASH | Q1 FY27 | CATEGORY DEEP DIVE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81071" y="8868217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12%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81071" y="9142537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Aptos"/>
              </a:rPr>
              <a:t>from ~0% in Q1 FY26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41519" y="8385100"/>
            <a:ext cx="2005583" cy="1258841"/>
          </a:xfrm>
          <a:prstGeom prst="roundRect">
            <a:avLst>
              <a:gd name="adj" fmla="val 4358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541519" y="8385100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596383" y="8712769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TOTAL HONASA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96383" y="8868217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27%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96383" y="9142537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87% growth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19456" y="9826822"/>
            <a:ext cx="6419088" cy="17430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219456" y="9826822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19456" y="10000558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10896" y="9826822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THE READ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10342887"/>
            <a:ext cx="64008" cy="6400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57200" y="10146862"/>
            <a:ext cx="6089903" cy="4560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77D17"/>
                </a:solidFill>
                <a:latin typeface="Aptos"/>
              </a:rPr>
              <a:t>Range  </a:t>
            </a:r>
            <a:r>
              <a:rPr sz="1000" b="0">
                <a:solidFill>
                  <a:srgbClr val="1F2933"/>
                </a:solidFill>
                <a:latin typeface="Aptos"/>
              </a:rPr>
              <a:t>Best ever quarter on Rice range, however Ubtan &amp; Vitamin C are flat.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" y="10798946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57200" y="10602921"/>
            <a:ext cx="6089903" cy="4560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Reversal  </a:t>
            </a:r>
            <a:r>
              <a:rPr sz="1000" b="0">
                <a:solidFill>
                  <a:srgbClr val="1F2933"/>
                </a:solidFill>
                <a:latin typeface="Aptos"/>
              </a:rPr>
              <a:t>Tea Tree offtake decline reversed — ▲52% sequentially.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11255005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57200" y="11058980"/>
            <a:ext cx="6089903" cy="4560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Packs  </a:t>
            </a:r>
            <a:r>
              <a:rPr sz="1000" b="0">
                <a:solidFill>
                  <a:srgbClr val="1F2933"/>
                </a:solidFill>
                <a:latin typeface="Aptos"/>
              </a:rPr>
              <a:t>Doubling the business on </a:t>
            </a:r>
            <a:r>
              <a:rPr sz="1000" b="1">
                <a:solidFill>
                  <a:srgbClr val="1F2933"/>
                </a:solidFill>
                <a:latin typeface="Aptos"/>
              </a:rPr>
              <a:t>200 g</a:t>
            </a:r>
            <a:r>
              <a:rPr sz="1000" b="0">
                <a:solidFill>
                  <a:srgbClr val="1F2933"/>
                </a:solidFill>
                <a:latin typeface="Aptos"/>
              </a:rPr>
              <a:t> packs; sequential growth on 100 g.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t>FIELD RECONCILE WD/PDO/OOS by 31-Aug. EXPAND 150ml trial in Rice/Ubtan by 30%. INCREASE FSDU placements in D-Mart/Reliance by mid-Sep.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PROTECT  </a:t>
            </a:r>
            <a:r>
              <a:rPr sz="950" b="0">
                <a:solidFill>
                  <a:srgbClr val="EDEFF1"/>
                </a:solidFill>
                <a:latin typeface="Aptos"/>
              </a:rPr>
              <a:t>Rice is carrying the quarter — availability on 150 ml is the priority.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FIX  </a:t>
            </a:r>
            <a:r>
              <a:rPr sz="950" b="0">
                <a:solidFill>
                  <a:srgbClr val="EDEFF1"/>
                </a:solidFill>
                <a:latin typeface="Aptos"/>
              </a:rPr>
              <a:t>Ubtan and Vitamin C are flat and need a separate plan.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309415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09415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SHAMPOO &amp; SUN CARE | Q1 FY27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6993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BEST EVER OFFTAKE ON SHAMPOO LED BY RELIANCE, AND A BEST EVER 20 CR+ SUN CARE QUARTER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1010237"/>
            <a:ext cx="64190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Shampoo: Reliance ₹8.98 Cr (41% of category); Nielsen 650ml = 72% of category value, +58% YoY (gap: ME only 3/16 formats). Sun Care: All-brand best-ever due to TDC + Aqualogica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SHAMPOO &amp; SUN CARE | Q1 FY27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67060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₹22.02 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96321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65% YoY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1442003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3863" y="1515155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66744" y="149686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SHAMPOO &amp; SUN CARE | Q1 FY27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66744" y="1670603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₹8.98 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96321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80% YoY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9456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2336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SUN CARE Q1 (ALL BRANDS)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251185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₹21.75 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804459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best ever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3" y="2283251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83863" y="2356403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66744" y="233811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SHAMPOO &amp; SUN CARE | Q1 FY27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2511851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₹100 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804459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annualised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" y="3124499"/>
            <a:ext cx="6419088" cy="2343415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456" y="3124499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9456" y="3298235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0896" y="3124499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t>SHAMPOO &amp; SUN CARE | Q1 FY27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3660699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Onion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2768" y="3765855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72768" y="3765855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30952" y="3660699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1,339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3660699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46%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" y="4044747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Rosemary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72768" y="4149903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572768" y="4149903"/>
            <a:ext cx="1930852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30952" y="4044747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693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4044747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146%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" y="4428795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Rice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4533951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572768" y="4533951"/>
            <a:ext cx="245187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30952" y="4428795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4428795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1E8E3E"/>
                </a:solidFill>
                <a:latin typeface="Aptos"/>
              </a:rPr>
              <a:t>▲ 750%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4812843"/>
            <a:ext cx="11887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Lemon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72768" y="4917999"/>
            <a:ext cx="3730752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572768" y="4917999"/>
            <a:ext cx="195035" cy="173736"/>
          </a:xfrm>
          <a:prstGeom prst="roundRect">
            <a:avLst>
              <a:gd name="adj" fmla="val 21052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330952" y="4812843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4812843"/>
            <a:ext cx="65836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C0392B"/>
                </a:solidFill>
                <a:latin typeface="Aptos"/>
              </a:rPr>
              <a:t>▼ 15%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" y="5577643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SUN CARE — BEST EVER QUARTER, ALL THREE BRANDS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9456" y="5851963"/>
            <a:ext cx="6419088" cy="1497530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10896" y="5934259"/>
            <a:ext cx="2005583" cy="1342082"/>
          </a:xfrm>
          <a:prstGeom prst="roundRect">
            <a:avLst>
              <a:gd name="adj" fmla="val 408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10896" y="5934259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65759" y="6303548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SHAMPOO &amp; SUN CARE | Q1 FY27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59" y="6458996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₹10.59 Cr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59" y="6733316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290%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26207" y="5934259"/>
            <a:ext cx="2005583" cy="1342082"/>
          </a:xfrm>
          <a:prstGeom prst="roundRect">
            <a:avLst>
              <a:gd name="adj" fmla="val 408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426207" y="5934259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81071" y="6303548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MAMAEARTH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81071" y="6458996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₹9.42 Cr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81071" y="6733316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61%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41519" y="5934259"/>
            <a:ext cx="2005583" cy="1342082"/>
          </a:xfrm>
          <a:prstGeom prst="roundRect">
            <a:avLst>
              <a:gd name="adj" fmla="val 4087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41519" y="5934259"/>
            <a:ext cx="2005583" cy="411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96383" y="6303548"/>
            <a:ext cx="1895855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AQUALOGICA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96383" y="6458996"/>
            <a:ext cx="189585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1F2933"/>
                </a:solidFill>
                <a:latin typeface="Aptos"/>
              </a:rPr>
              <a:t>₹1.74 Cr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96383" y="6733316"/>
            <a:ext cx="1895855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26%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19456" y="7459221"/>
            <a:ext cx="6419088" cy="2343415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19456" y="7459221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19456" y="7632957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10896" y="7459221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t>SHAMPOO &amp; SUN CARE | Q1 FY27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7993321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57200" y="7779261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Revival  </a:t>
            </a:r>
            <a:r>
              <a:rPr sz="1000" b="0">
                <a:solidFill>
                  <a:srgbClr val="1F2933"/>
                </a:solidFill>
                <a:latin typeface="Aptos"/>
              </a:rPr>
              <a:t>6 continuous quarters of revival of Onion; Rosemary now at </a:t>
            </a:r>
            <a:r>
              <a:rPr sz="1000" b="1">
                <a:solidFill>
                  <a:srgbClr val="1F2933"/>
                </a:solidFill>
                <a:latin typeface="Aptos"/>
              </a:rPr>
              <a:t>50%+ of Onion</a:t>
            </a:r>
            <a:r>
              <a:rPr sz="1000" b="0">
                <a:solidFill>
                  <a:srgbClr val="1F2933"/>
                </a:solidFill>
                <a:latin typeface="Aptos"/>
              </a:rPr>
              <a:t>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8485449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7200" y="8271389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Upsizing  </a:t>
            </a:r>
            <a:r>
              <a:rPr sz="1000" b="0">
                <a:solidFill>
                  <a:srgbClr val="1F2933"/>
                </a:solidFill>
                <a:latin typeface="Aptos"/>
              </a:rPr>
              <a:t>600+ ml upsizing in both Reliance &amp; Apollo, not at the expense of 400 ml.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8977577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57200" y="8763517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Reliance  </a:t>
            </a:r>
            <a:r>
              <a:rPr sz="1000" b="0">
                <a:solidFill>
                  <a:srgbClr val="1F2933"/>
                </a:solidFill>
                <a:latin typeface="Aptos"/>
              </a:rPr>
              <a:t>650 ml contribution increased from 5% in Q2 LY to </a:t>
            </a:r>
            <a:r>
              <a:rPr sz="1000" b="1">
                <a:solidFill>
                  <a:srgbClr val="1F2933"/>
                </a:solidFill>
                <a:latin typeface="Aptos"/>
              </a:rPr>
              <a:t>19%</a:t>
            </a:r>
            <a:r>
              <a:rPr sz="1000" b="0">
                <a:solidFill>
                  <a:srgbClr val="1F2933"/>
                </a:solidFill>
                <a:latin typeface="Aptos"/>
              </a:rPr>
              <a:t> in Q1 FY27.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9411300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57200" y="9255645"/>
            <a:ext cx="6089903" cy="492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Combo  </a:t>
            </a:r>
            <a:r>
              <a:rPr sz="1000" b="0">
                <a:solidFill>
                  <a:srgbClr val="1F2933"/>
                </a:solidFill>
                <a:latin typeface="Aptos"/>
              </a:rPr>
              <a:t>Mera Wala Combo baseline moves to </a:t>
            </a:r>
            <a:r>
              <a:rPr sz="1000" b="1">
                <a:solidFill>
                  <a:srgbClr val="1F2933"/>
                </a:solidFill>
                <a:latin typeface="Aptos"/>
              </a:rPr>
              <a:t>1 lakh units</a:t>
            </a:r>
            <a:r>
              <a:rPr sz="1000" b="0">
                <a:solidFill>
                  <a:srgbClr val="1F2933"/>
                </a:solidFill>
                <a:latin typeface="Aptos"/>
              </a:rPr>
              <a:t> monthly; +25K users/month on 400 ml.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9456" y="9912365"/>
            <a:ext cx="6419088" cy="1657537"/>
          </a:xfrm>
          <a:prstGeom prst="roundRect">
            <a:avLst>
              <a:gd name="adj" fmla="val 4413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19456" y="9912365"/>
            <a:ext cx="68580" cy="1657537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02336" y="10003805"/>
            <a:ext cx="6126479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C0392B"/>
                </a:solidFill>
                <a:latin typeface="Aptos"/>
              </a:rPr>
              <a:t>WATCH-OUT — RELIANCE SUNSCREEN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2336" y="10195829"/>
            <a:ext cx="6108192" cy="8807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>
                <a:solidFill>
                  <a:srgbClr val="1F2933"/>
                </a:solidFill>
                <a:latin typeface="Aptos"/>
              </a:rPr>
              <a:t>MS down to 18%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336" y="11094892"/>
            <a:ext cx="6108192" cy="4110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Lakme, the biggest sunscreen player in RRL, ran a Golden Event promotion at 50% off in May versus its BAU 33%, moving users to that SKU. Plan: lock summer stock sufficiency by Nov, drive TDC &amp; Aqua trials to scale 80 g next year.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t>PILOT 3-format test (650/1000/180ml) in D-Mart + Apollo by 15-Sep. VALIDATE Reliance Paisa Vasool conversion by 5-Aug before phasing. PROTECT Onion/Rosemary momentum (highest growth).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SCALE  </a:t>
            </a:r>
            <a:r>
              <a:rPr sz="950" b="0">
                <a:solidFill>
                  <a:srgbClr val="EDEFF1"/>
                </a:solidFill>
                <a:latin typeface="Aptos"/>
              </a:rPr>
              <a:t>Rosemary is the shampoo growth lever; protect Onion while it scales.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DEFEND  </a:t>
            </a:r>
            <a:r>
              <a:rPr sz="950" b="0">
                <a:solidFill>
                  <a:srgbClr val="EDEFF1"/>
                </a:solidFill>
                <a:latin typeface="Aptos"/>
              </a:rPr>
              <a:t>Sunscreen share in Reliance is a promo fight, not a demand problem.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444001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44001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MARKET SHARE, DISTRIBUTION &amp; SELL-OUT | MAT JUN-26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6993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MAMAEARTH SHARE GAINS (FW +3.1pp, SHAMPOO +1.2pp); ₹21.9 CR BILLED-NOT-SOLD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1010237"/>
            <a:ext cx="6419088" cy="3423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CFE3DB"/>
                </a:solidFill>
                <a:latin typeface="Aptos"/>
              </a:rPr>
              <a:t>External share from MS insights (MAT Jun-26); sell-out on the 26-chain matched universe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5765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6497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6314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FACEWASH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805189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10.5%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09779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+3.1 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1576589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3863" y="1649741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66744" y="1631453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MARKET SHARE, DISTRIBUTION &amp; SELL-OUT | MAT JUN-26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66744" y="1805189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3.7%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097797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+1.2 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24178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9456" y="2490989"/>
            <a:ext cx="50292" cy="5852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2336" y="24727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Q1 SELL-OUT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264643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83.9%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93904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C0392B"/>
                </a:solidFill>
                <a:latin typeface="Aptos"/>
              </a:rPr>
              <a:t>▼ ₹21.9 Cr billed-not-sold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3863" y="2417837"/>
            <a:ext cx="3154679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83863" y="2490989"/>
            <a:ext cx="50292" cy="5852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66744" y="2472701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JUN'26 SELL-OUT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2646437"/>
            <a:ext cx="2880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1F2933"/>
                </a:solidFill>
                <a:latin typeface="Aptos"/>
              </a:rPr>
              <a:t>92%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6744" y="2939045"/>
            <a:ext cx="28803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1E8E3E"/>
                </a:solidFill>
                <a:latin typeface="Aptos"/>
              </a:rPr>
              <a:t>▲ improving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" y="3259085"/>
            <a:ext cx="6419088" cy="1761463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456" y="3259085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9456" y="3432821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0896" y="3259085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CATEGORY SCORECARD — MAT JUN-26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3806061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6615" y="3806061"/>
            <a:ext cx="152535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CATEGORY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73410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SHARE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28263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GAIN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3117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L3M YOY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37970" y="3806061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WD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5" y="4116957"/>
            <a:ext cx="152535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Facewash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73410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10.5%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8263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+3.1 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3117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58%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37970" y="4116957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89.0%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" y="4427853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56615" y="4427853"/>
            <a:ext cx="152535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Shampoo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3410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3.7%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28263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+1.2 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3117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E8E3E"/>
                </a:solidFill>
                <a:latin typeface="Aptos"/>
              </a:rPr>
              <a:t>▲ 80%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7970" y="4427853"/>
            <a:ext cx="106341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81.5%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" y="5130277"/>
            <a:ext cx="6419088" cy="2146784"/>
          </a:xfrm>
          <a:prstGeom prst="roundRect">
            <a:avLst>
              <a:gd name="adj" fmla="val 3407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19456" y="5130277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19456" y="5304013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0896" y="5130277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SELL-OUT BY CHAIN — Q1 FY27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0896" y="5559017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56615" y="5559017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CHAIN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58187" y="5559017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PRIMARY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82593" y="5559017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OFFTAKE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06999" y="5559017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SELL-OUT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5" y="5869913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D-Mart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58187" y="5869913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5,527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82593" y="5869913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4,232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06999" y="5869913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77%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0896" y="6180809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56615" y="6180809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Reliance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58187" y="6180809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3,047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82593" y="6180809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2,806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06999" y="6180809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92%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5" y="6491705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Metro CNC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58187" y="6491705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82593" y="6491705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06999" y="6491705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152%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" y="6802601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56615" y="6802601"/>
            <a:ext cx="171013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TOTAL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58187" y="6802601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13,625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82593" y="6802601"/>
            <a:ext cx="143296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11,436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06999" y="6802601"/>
            <a:ext cx="129438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83.9%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9456" y="7386789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SHARE OF SHELF — Q1 ACTUAL VS TARGET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9456" y="7661109"/>
            <a:ext cx="6419088" cy="1542189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29184" y="7869848"/>
            <a:ext cx="1371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Sunscreen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755648" y="7975004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755648" y="7975004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150540" y="7869848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33%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17468" y="7869848"/>
            <a:ext cx="83877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6B7682"/>
                </a:solidFill>
                <a:latin typeface="Aptos"/>
              </a:rPr>
              <a:t>no target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9184" y="8253896"/>
            <a:ext cx="1371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Facewash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755648" y="8359052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755648" y="8359052"/>
            <a:ext cx="2347017" cy="173736"/>
          </a:xfrm>
          <a:prstGeom prst="roundRect">
            <a:avLst>
              <a:gd name="adj" fmla="val 21052"/>
            </a:avLst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150540" y="8253896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23%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17468" y="8253896"/>
            <a:ext cx="83877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6B7682"/>
                </a:solidFill>
                <a:latin typeface="Aptos"/>
              </a:rPr>
              <a:t>target 30%+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9184" y="8637944"/>
            <a:ext cx="1371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Shampoo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755648" y="8743100"/>
            <a:ext cx="3367460" cy="173736"/>
          </a:xfrm>
          <a:prstGeom prst="roundRect">
            <a:avLst>
              <a:gd name="adj" fmla="val 21052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755648" y="8743100"/>
            <a:ext cx="816354" cy="173736"/>
          </a:xfrm>
          <a:prstGeom prst="roundRect">
            <a:avLst>
              <a:gd name="adj" fmla="val 21052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50540" y="8637944"/>
            <a:ext cx="56692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1F2933"/>
                </a:solidFill>
                <a:latin typeface="Aptos"/>
              </a:rPr>
              <a:t>8%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17468" y="8637944"/>
            <a:ext cx="83877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6B7682"/>
                </a:solidFill>
                <a:latin typeface="Aptos"/>
              </a:rPr>
              <a:t>target 10%+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19456" y="9313027"/>
            <a:ext cx="6419088" cy="2256875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219456" y="9313027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19456" y="9486763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10896" y="9313027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WHAT THE MARKET IS SAYING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9777904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57200" y="9633067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Facewash  </a:t>
            </a:r>
            <a:r>
              <a:rPr sz="1000" b="0">
                <a:solidFill>
                  <a:srgbClr val="1F2933"/>
                </a:solidFill>
                <a:latin typeface="Aptos"/>
              </a:rPr>
              <a:t>Mamaearth is the fastest-growing large brand: +55% MAT versus category +10% MAT.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0040" y="10306802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57200" y="10103560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Shampoo  </a:t>
            </a:r>
            <a:r>
              <a:rPr sz="1000" b="0">
                <a:solidFill>
                  <a:srgbClr val="1F2933"/>
                </a:solidFill>
                <a:latin typeface="Aptos"/>
              </a:rPr>
              <a:t>Mamaearth is scaling faster than every major brand: +48% MAT and +80% L3M.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10718890"/>
            <a:ext cx="64008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57200" y="10574053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2B6CB0"/>
                </a:solidFill>
                <a:latin typeface="Aptos"/>
              </a:rPr>
              <a:t>Velocity  </a:t>
            </a:r>
            <a:r>
              <a:rPr sz="1000" b="0">
                <a:solidFill>
                  <a:srgbClr val="1F2933"/>
                </a:solidFill>
                <a:latin typeface="Aptos"/>
              </a:rPr>
              <a:t>The next leg must come from PDO and shelf productivity, not distribution alone.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0040" y="11189383"/>
            <a:ext cx="64008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57200" y="11044546"/>
            <a:ext cx="6089903" cy="470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0392B"/>
                </a:solidFill>
                <a:latin typeface="Aptos"/>
              </a:rPr>
              <a:t>Inventory  </a:t>
            </a:r>
            <a:r>
              <a:rPr sz="1000" b="0">
                <a:solidFill>
                  <a:srgbClr val="1F2933"/>
                </a:solidFill>
                <a:latin typeface="Aptos"/>
              </a:rPr>
              <a:t>Trade inventory is building faster than consumer offtake — D-Mart sell-out is the weakest at 77%.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219456" y="11771071"/>
            <a:ext cx="854964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r>
              <a:t>RECONCILE internal SAH vs Nielsen WD by 31-Aug (different bases). HOLD Metro aggressive loading until sell-out ≥ 75%. FIELD-VALIDATE Nielsen assumptions by 30-Sep.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39012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CORRECT  </a:t>
            </a:r>
            <a:r>
              <a:rPr sz="950" b="0">
                <a:solidFill>
                  <a:srgbClr val="EDEFF1"/>
                </a:solidFill>
                <a:latin typeface="Aptos"/>
              </a:rPr>
              <a:t>Slow Q2 primary billing pace vs Q1 to let consumer offtake catch up.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87318" y="11734495"/>
            <a:ext cx="18288" cy="347471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3742181" y="11697919"/>
            <a:ext cx="2393441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CLOSE  </a:t>
            </a:r>
            <a:r>
              <a:rPr sz="950" b="0">
                <a:solidFill>
                  <a:srgbClr val="EDEFF1"/>
                </a:solidFill>
                <a:latin typeface="Aptos"/>
              </a:rPr>
              <a:t>Shampoo SOS at 8% against a 10%+ target is the clearest shelf gap.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076301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6301"/>
            <a:ext cx="6858000" cy="4114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100584"/>
            <a:ext cx="6419088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Q2 FY27 | DECISIONS AND OWNERS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292608"/>
            <a:ext cx="6419088" cy="4662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TURN SHARE GAINS INTO REPEATABLE GROWTH — FOUR MOVES FOR Q2 FY27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777123"/>
            <a:ext cx="6419088" cy="20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The opportunity is clear (Nielsen +56% MAT, internal +64% YoY, File 2 shows zone/chain recovery path). Execution now decides. Phase 0-30d: validate data. Phase 31-60d: run pilots. Phase 61-90d: scale proven.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1208889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208889"/>
            <a:ext cx="68580" cy="167165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629064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E8E3E"/>
                </a:solidFill>
                <a:latin typeface="Aptos"/>
              </a:rPr>
              <a:t>01 · PROTECT FACEWASH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821088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Hold availability in 150 ml and 100 ml heroes; prioritise South accounts where category growth and Mamaearth momentum are strongest.  KPI: WD ≥90% | Fill rate ≥95%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3" y="1208889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83863" y="1208889"/>
            <a:ext cx="68580" cy="167165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66744" y="1629064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r>
              <a:t>Q2 FY27 | DECISIONS AND OWNERS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6744" y="1821088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Expand Rosemary as the scale lever while protecting Onion. Review pack mix to prevent volume growth from over-diluting realised price/ml.  KPI: Share &gt;4% | PDO growth &gt;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" y="2990276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" y="2990276"/>
            <a:ext cx="68580" cy="1671658"/>
          </a:xfrm>
          <a:prstGeom prst="rect">
            <a:avLst/>
          </a:prstGeom>
          <a:solidFill>
            <a:srgbClr val="C77D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" y="3410450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C77D17"/>
                </a:solidFill>
                <a:latin typeface="Aptos"/>
              </a:rPr>
              <a:t>03 · WIN THE VELOCITY BATTLE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" y="3602474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Rank chains by share opportunity using WD × PDO. Fix the largest high-distribution, low-velocity gaps before adding broad new listings.  KPI: Top-10 gap closure weekly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3" y="2990276"/>
            <a:ext cx="3154679" cy="1671658"/>
          </a:xfrm>
          <a:prstGeom prst="roundRect">
            <a:avLst>
              <a:gd name="adj" fmla="val 4376"/>
            </a:avLst>
          </a:prstGeom>
          <a:solidFill>
            <a:srgbClr val="F4F1E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83863" y="2990276"/>
            <a:ext cx="68580" cy="167165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66744" y="3410450"/>
            <a:ext cx="286207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2B6CB0"/>
                </a:solidFill>
                <a:latin typeface="Aptos"/>
              </a:rPr>
              <a:t>04 · SEPARATE THE MEASUREMENT BASES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66744" y="3602474"/>
            <a:ext cx="2843784" cy="9954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F2933"/>
                </a:solidFill>
                <a:latin typeface="Aptos"/>
              </a:rPr>
              <a:t>Use external market share for competitive health and internal NSV for business delivery. Do not compare them as the same sales base.  KPI: One source label on every chart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" y="4771662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JTBD Q1 — DELTA EXPECTED VS DELIVERED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" y="5045982"/>
            <a:ext cx="6419088" cy="2206205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5230113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6615" y="5230113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DRIVER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51099" y="523011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DELTA EXPECTED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1961" y="523011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5" y="5541009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Face wash 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1099" y="5541009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₹1.25–1.50 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21961" y="5541009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₹1.75 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5851905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5" y="5851905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Sunscreen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51099" y="5851905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₹1.00–1.25 Cr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21961" y="5851905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₹1.10 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5" y="6162801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Shampoo distribution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1099" y="6162801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₹0.50–0.75 Cr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1961" y="6162801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₹0.75 Cr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" y="6473697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56615" y="6473697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Proposed Beetroot FW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51099" y="6473697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₹0.35–0.40 Cr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21961" y="6473697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₹0.60 Cr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5" y="6784593"/>
            <a:ext cx="240304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Baby range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51099" y="678459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₹0.50–0.60 Cr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1961" y="6784593"/>
            <a:ext cx="177942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₹0.16 Cr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" y="7361915"/>
            <a:ext cx="6419088" cy="237744"/>
          </a:xfrm>
          <a:prstGeom prst="roundRect">
            <a:avLst>
              <a:gd name="adj" fmla="val 19230"/>
            </a:avLst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IMMEDIATE PRIORITIES — OWNER AND TIMING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" y="7636235"/>
            <a:ext cx="6419088" cy="2475827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10896" y="7799729"/>
            <a:ext cx="6236207" cy="310896"/>
          </a:xfrm>
          <a:prstGeom prst="roundRect">
            <a:avLst>
              <a:gd name="adj" fmla="val 11764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56615" y="7799729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PRIORITY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56909" y="7799729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KPI / TARGET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04209" y="7799729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3845" y="7799729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6B7682"/>
                </a:solidFill>
                <a:latin typeface="Aptos"/>
              </a:rPr>
              <a:t>TIMING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5" y="8110625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Close shampoo WD gaps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56909" y="8110625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WD toward 90%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04209" y="8110625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NKAM / Sales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33845" y="8110625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Sep'26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" y="8421521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56615" y="8421521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Align shampoo pack range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6909" y="8421521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650/180/340/1000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04209" y="8421521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RKAM / Category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3845" y="8421521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Sep'26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615" y="8732417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Protect MT availability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56909" y="8732417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Fill-rate ≥95%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04209" y="8732417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NKAM / Supply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33845" y="8732417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Ongoing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" y="9043313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56615" y="9043313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Sustain FW productivity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56909" y="9043313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PDO above category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04209" y="9043313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Trade Marketing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33845" y="9043313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Ongoing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5" y="9354209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Resolve TDC softness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56909" y="9354209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Validate stock/phasing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04209" y="9354209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Sales Analytics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3845" y="9354209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Aug'26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0896" y="9665105"/>
            <a:ext cx="6236207" cy="310896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56615" y="9665105"/>
            <a:ext cx="190885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Aptos"/>
              </a:rPr>
              <a:t>Scale winning listings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56909" y="9665105"/>
            <a:ext cx="15558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Incremental ROS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04209" y="9665105"/>
            <a:ext cx="1438195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Aptos"/>
              </a:rPr>
              <a:t>Brand / Sales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33845" y="9665105"/>
            <a:ext cx="96753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r>
              <a:t>Q2 FY27 | DECISIONS AND OWNERS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9456" y="10221791"/>
            <a:ext cx="6419088" cy="1348111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219456" y="10221791"/>
            <a:ext cx="6419088" cy="256032"/>
          </a:xfrm>
          <a:prstGeom prst="roundRect">
            <a:avLst>
              <a:gd name="adj" fmla="val 28571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19456" y="10395527"/>
            <a:ext cx="6419088" cy="8229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0896" y="10221791"/>
            <a:ext cx="623620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NON-NEGOTIABLES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10694724"/>
            <a:ext cx="64008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457200" y="10541831"/>
            <a:ext cx="6089903" cy="4866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C0392B"/>
                </a:solidFill>
                <a:latin typeface="Aptos"/>
              </a:rPr>
              <a:t>Availability  </a:t>
            </a:r>
            <a:r>
              <a:rPr sz="1000" b="0">
                <a:solidFill>
                  <a:srgbClr val="1F2933"/>
                </a:solidFill>
                <a:latin typeface="Aptos"/>
              </a:rPr>
              <a:t>Maintain fill-rate ≥95% and close chain-level listing gaps before increasing visibility investment.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11181327"/>
            <a:ext cx="64008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57200" y="11028435"/>
            <a:ext cx="6089903" cy="4866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92000"/>
              </a:lnSpc>
            </a:pPr>
            <a:r>
              <a:rPr sz="1000" b="1">
                <a:solidFill>
                  <a:srgbClr val="1E8E3E"/>
                </a:solidFill>
                <a:latin typeface="Aptos"/>
              </a:rPr>
              <a:t>Decision  </a:t>
            </a:r>
            <a:r>
              <a:rPr sz="1000" b="0">
                <a:solidFill>
                  <a:srgbClr val="1F2933"/>
                </a:solidFill>
                <a:latin typeface="Aptos"/>
              </a:rPr>
              <a:t>Protect the facewash flywheel; expand shampoo only where distribution, fill-rate and pack demand are proven.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11661343"/>
            <a:ext cx="6858000" cy="530352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19456" y="11771071"/>
            <a:ext cx="1399032" cy="310896"/>
          </a:xfrm>
          <a:prstGeom prst="roundRect">
            <a:avLst>
              <a:gd name="adj" fmla="val 20588"/>
            </a:avLst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LEADERSHIP ASK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83080" y="11697919"/>
            <a:ext cx="4352544" cy="4571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92000"/>
              </a:lnSpc>
            </a:pPr>
            <a:r>
              <a:rPr sz="900" b="1">
                <a:solidFill>
                  <a:srgbClr val="2D9B7F"/>
                </a:solidFill>
                <a:latin typeface="Aptos"/>
              </a:rPr>
              <a:t>APPROVE  </a:t>
            </a:r>
            <a:r>
              <a:rPr sz="950" b="0">
                <a:solidFill>
                  <a:srgbClr val="EDEFF1"/>
                </a:solidFill>
                <a:latin typeface="Aptos"/>
              </a:rPr>
              <a:t>Chain-level WD × PDO review and monthly pack-mix governance for facewash and shampoo.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35624" y="11679631"/>
            <a:ext cx="502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t"/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8A939C"/>
                </a:solidFill>
                <a:latin typeface="Aptos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1898</Words>
  <Application>Microsoft Office PowerPoint</Application>
  <PresentationFormat>Widescreen</PresentationFormat>
  <Paragraphs>461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Sheshant  Singh Aswal</cp:lastModifiedBy>
  <cp:revision>1</cp:revision>
  <dcterms:created xsi:type="dcterms:W3CDTF">2013-01-27T09:14:16Z</dcterms:created>
  <dcterms:modified xsi:type="dcterms:W3CDTF">2026-09-05T04:43:47Z</dcterms:modified>
  <cp:category/>
</cp:coreProperties>
</file>