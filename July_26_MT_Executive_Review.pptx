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July 2026 Modern Trade Monthly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A9D8F"/>
                </a:solidFill>
              </a:defRPr>
            </a:pPr>
            <a:r>
              <a:t>Honasa / Mamaearth — Face Wash Leadership &amp; Market Share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59595"/>
                </a:solidFill>
              </a:defRPr>
            </a:pPr>
            <a:r>
              <a:t>Data: Dashboard Analytics | Period: July 2026 | 8-Metro Coverage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Summary: 3 Key Headlines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737360" cy="1005840"/>
          </a:xfrm>
          <a:prstGeom prst="rect">
            <a:avLst/>
          </a:prstGeom>
          <a:solidFill>
            <a:srgbClr val="F5F5F5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A9D8F"/>
                </a:solidFill>
              </a:defRPr>
            </a:pPr>
            <a:r>
              <a:t>₹241.4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59595"/>
                </a:solidFill>
              </a:defRPr>
            </a:pPr>
            <a:r>
              <a:t>Face Wash NSV</a:t>
            </a:r>
            <a:br/>
            <a:r>
              <a:t>+14.1% MoM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0" y="1188720"/>
            <a:ext cx="1737360" cy="1005840"/>
          </a:xfrm>
          <a:prstGeom prst="rect">
            <a:avLst/>
          </a:prstGeom>
          <a:solidFill>
            <a:srgbClr val="F5F5F5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123444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A9D8F"/>
                </a:solidFill>
              </a:defRPr>
            </a:pPr>
            <a:r>
              <a:t>₹50.9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6916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59595"/>
                </a:solidFill>
              </a:defRPr>
            </a:pPr>
            <a:r>
              <a:t>Himalaya NSV</a:t>
            </a:r>
            <a:br/>
            <a:r>
              <a:t>+7.2% MoM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1737360" cy="1005840"/>
          </a:xfrm>
          <a:prstGeom prst="rect">
            <a:avLst/>
          </a:prstGeom>
          <a:solidFill>
            <a:srgbClr val="F5F5F5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23444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A9D8F"/>
                </a:solidFill>
              </a:defRPr>
            </a:pPr>
            <a:r>
              <a:t>₹33.0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916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59595"/>
                </a:solidFill>
              </a:defRPr>
            </a:pPr>
            <a:r>
              <a:t>Garnier NSV</a:t>
            </a:r>
            <a:br/>
            <a:r>
              <a:t>+11.5%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1737360" cy="1005840"/>
          </a:xfrm>
          <a:prstGeom prst="rect">
            <a:avLst/>
          </a:prstGeom>
          <a:solidFill>
            <a:srgbClr val="F5F5F5"/>
          </a:solidFill>
          <a:ln w="317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234440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4A261"/>
                </a:solidFill>
              </a:defRPr>
            </a:pPr>
            <a: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169164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59595"/>
                </a:solidFill>
              </a:defRPr>
            </a:pPr>
            <a:r>
              <a:t>North + South-1</a:t>
            </a:r>
            <a:br/>
            <a:r>
              <a:t>8-Metro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200"/>
            </a:pPr>
            <a:r>
              <a:t>✓ GROWTH CATALYST: Face Wash recovered +14.1% MoM (₹241.4 Cr) — steepest gain since Apr'26, driven by premium tier (Himalaya, Garnier, Clean &amp; Clear)</a:t>
            </a:r>
          </a:p>
          <a:p>
            <a:pPr>
              <a:spcBef>
                <a:spcPts val="800"/>
              </a:spcBef>
              <a:defRPr sz="1200"/>
            </a:pPr>
            <a:r>
              <a:t>✓ MARKET MOMENTUM: July validates June's inventory correction was temporary; underlying demand for high-efficacy formulations strengthening across urban MT</a:t>
            </a:r>
          </a:p>
          <a:p>
            <a:pPr>
              <a:spcBef>
                <a:spcPts val="800"/>
              </a:spcBef>
              <a:defRPr sz="1200"/>
            </a:pPr>
            <a:r>
              <a:t>✓ REGIONAL CONCENTRATION: North (₹68.2 Cr) and South-1 (₹71.3 Cr) account for 58% of Face Wash NSV; Bangalore + Chennai showed +16.2% MoM growth</a:t>
            </a:r>
          </a:p>
          <a:p>
            <a:pPr>
              <a:spcBef>
                <a:spcPts val="800"/>
              </a:spcBef>
              <a:defRPr sz="1200"/>
            </a:pPr>
            <a:r>
              <a:t>✓ PORTFOLIO DYNAMICS: Premium brands gaining; BioTique plateau at ₹2.7 Cr (+0.9%) signals entry-segment saturation; Clean &amp; Clear (+17.2%) capturing 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July's Turnaround: Inside the Face Wash Recovery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371600" cy="22860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920240" y="1005840"/>
            <a:ext cx="6766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D1B2A"/>
                </a:solidFill>
              </a:defRPr>
            </a:pPr>
            <a:r>
              <a:t>Face Wash NSV +₹33.2 Cr MoM to ₹241.4 Cr (14.1% growth). Premium brands led: Himalaya +7.2%, Garnier +11.5%, Clean &amp; Clear +17.2%. Entry-tier softness (BioTique +0.9%, Emami -7.7%) shows market bifurcation.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371600" cy="228600"/>
          </a:xfrm>
          <a:prstGeom prst="rect">
            <a:avLst/>
          </a:prstGeom>
          <a:solidFill>
            <a:srgbClr val="2A9D8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IMPLICATION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920240"/>
            <a:ext cx="6766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D1B2A"/>
                </a:solidFill>
              </a:defRPr>
            </a:pPr>
            <a:r>
              <a:t>June decline (₹207.4→₹207.4) was inventory normalization, NOT demand destruction. July rebound confirms: (1) Underlying category strength intact; (2) Consumer preference shifts toward premium efficacy; (3) Urban MT health-beauty secular tailwind sustained.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371600" cy="22860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MARKET INSIGHT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834640"/>
            <a:ext cx="6766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D1B2A"/>
                </a:solidFill>
              </a:defRPr>
            </a:pPr>
            <a:r>
              <a:t>8-metro penetration: ₹30K+ MRP facewash products (Himalaya Day/Night Cream line) achieved 15%+ YoY growth. Budget facewash (₹200-400) losing relevance to premium-mid (₹500-1200) — 3-5 year margin expansion opportunity. Regional spread: Bangalore, Pune, Delhi NCR driving 68% of July growth.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49039"/>
            <a:ext cx="1371600" cy="228600"/>
          </a:xfrm>
          <a:prstGeom prst="rect">
            <a:avLst/>
          </a:prstGeom>
          <a:solidFill>
            <a:srgbClr val="E6394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ACTION PLAN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3749039"/>
            <a:ext cx="6766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D1B2A"/>
                </a:solidFill>
              </a:defRPr>
            </a:pPr>
            <a:r>
              <a:t>By 10-Aug: (1) Scale hero-SKUs (Himalaya Facewash, Garnier Powder) 20% across 8-metro chains; (2) Redirect slow-turn stock (Clean &amp; Clear mature portfolio) to growth zones; (3) Run EOL clearance on entry-tier (Emami, Everyuth discounting risk). Target: +8% Aug NSV vs Jul baseline.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663440"/>
            <a:ext cx="1371600" cy="22860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OWNER &amp; SLA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4663440"/>
            <a:ext cx="6766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D1B2A"/>
                </a:solidFill>
              </a:defRPr>
            </a:pPr>
            <a:r>
              <a:t>NKAM (Modern Trade) + Category Manager Face Care | Deadline: 10-Aug | Review: Aug 22 Ops Call | Success: Aug NSV ≥241×1.08 = ₹260 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Top 20 Brands: July vs. Jun — Performance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HIMALAYA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0972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₹50.9Cr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972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₹47.5Cr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0972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+7.2%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097280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Premium 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GARNIER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7373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₹33.0Cr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7373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₹29.6Cr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73736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+11.5%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1737360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Mass 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31719"/>
            <a:ext cx="8229600" cy="5486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377439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CLEAN &amp; CLEAR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237743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₹18.4Cr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237743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₹15.7Cr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237743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+17.2%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377439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Mass-Premium 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1752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EVERYUTH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301752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₹2.8Cr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01752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₹2.3Cr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01752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+21.7%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3017520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Mass-Low 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11880"/>
            <a:ext cx="8229600" cy="5486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5760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BIOTIQUE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36576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₹2.7Cr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36576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₹2.7Cr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36576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4A261"/>
                </a:solidFill>
              </a:defRPr>
            </a:pPr>
            <a:r>
              <a:t>+0.9%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77840" y="3657600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Premium-Niche 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9768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EMAMI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0" y="42976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₹2.4Cr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66160" y="42976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₹2.6Cr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0" y="429768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3946"/>
                </a:solidFill>
              </a:defRPr>
            </a:pPr>
            <a:r>
              <a:t>-7.7%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Niche 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892039"/>
            <a:ext cx="8229600" cy="54864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937759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D1B2A"/>
                </a:solidFill>
              </a:defRPr>
            </a:pPr>
            <a:r>
              <a:t>GLOW &amp; LOVELY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0" y="493775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A9D8F"/>
                </a:solidFill>
              </a:defRPr>
            </a:pPr>
            <a:r>
              <a:t>₹1.9Cr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66160" y="493775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959595"/>
                </a:solidFill>
              </a:defRPr>
            </a:pPr>
            <a:r>
              <a:t>₹2.2Cr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937759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63946"/>
                </a:solidFill>
              </a:defRPr>
            </a:pPr>
            <a:r>
              <a:t>-13.6%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0" y="4937759"/>
            <a:ext cx="3108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0D1B2A"/>
                </a:solidFill>
              </a:defRPr>
            </a:pPr>
            <a:r>
              <a:t>Niche 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959595"/>
                </a:solidFill>
              </a:defRPr>
            </a:pPr>
            <a:r>
              <a:t>Insight: Premium tier gaining share from budget; entry-price saturation visible (BioTique flat). Opportunity: Scale Himalaya + Garnier 18-22% by Q3-end.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8-Metro Regional Analysis: Growth Drivers &amp; Whitespace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solidFill>
            <a:srgbClr val="2A9D8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NORTH | ₹68.2 Cr | +12.4%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083939672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D1B2A"/>
                </a:solidFill>
              </a:defRPr>
            </a:pPr>
            <a:r>
              <a:t>Pune (₹24.1Cr +14.2%) | Delhi NCR (₹18.7Cr +9.8%) | Leadership tier. Action: Scale Himalaya 5-store network +15%.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8229600" cy="228600"/>
          </a:xfrm>
          <a:prstGeom prst="rect">
            <a:avLst/>
          </a:prstGeom>
          <a:solidFill>
            <a:srgbClr val="2A9D8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SOUTH-1 | ₹71.3 Cr | +16.2%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084008252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D1B2A"/>
                </a:solidFill>
              </a:defRPr>
            </a:pPr>
            <a:r>
              <a:t>Bangalore (₹31.5Cr +19.1%) | Chennai (₹18.2Cr +12.3%) | Fastest growing zone. Action: Launch Himalaya 3-SKU combo in 12 Apollo locations.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60320"/>
            <a:ext cx="8229600" cy="228600"/>
          </a:xfrm>
          <a:prstGeom prst="rect">
            <a:avLst/>
          </a:prstGeom>
          <a:solidFill>
            <a:srgbClr val="F4A2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SOUTH-2 | ₹42.1 Cr | +8.3%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084076832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D1B2A"/>
                </a:solidFill>
              </a:defRPr>
            </a:pPr>
            <a:r>
              <a:t>Hyderabad stabilizing. Andhra Pradesh growth slowing. Action: Run Reliance-exclusive promo Q3 (Hero-EAN push on 5-chain bundle).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8229600" cy="228600"/>
          </a:xfrm>
          <a:prstGeom prst="rect">
            <a:avLst/>
          </a:prstGeom>
          <a:solidFill>
            <a:srgbClr val="2A9D8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WEST | ₹48.7 Cr | +10.1%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084145412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D1B2A"/>
                </a:solidFill>
              </a:defRPr>
            </a:pPr>
            <a:r>
              <a:t>Mumbai recovery (+9.2%) + Gujarat strength (+11.8%) offsetting Goa softness (-2.1%). Action: Mumbai chain consolidation; drive Garnier 40-store add.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8229600" cy="228600"/>
          </a:xfrm>
          <a:prstGeom prst="rect">
            <a:avLst/>
          </a:prstGeom>
          <a:solidFill>
            <a:srgbClr val="F4A261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CENTRAL | ₹6.1 Cr | +5.7%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084213992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D1B2A"/>
                </a:solidFill>
              </a:defRPr>
            </a:pPr>
            <a:r>
              <a:t>MP + CG slowest tier. Opportunity gap: only 1.2% of 8-metro Face Wash NSV. Action: Q4 pilot—2 Indore chains, hero-SKU bundling to build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Execution Roadmap: RKAM (Zone) vs NKAM (Chain) Accountability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3931920" cy="320040"/>
          </a:xfrm>
          <a:prstGeom prst="rect">
            <a:avLst/>
          </a:prstGeom>
          <a:solidFill>
            <a:srgbClr val="7B2CB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RKAM — Regional Key Account Manager (Zone-wise)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0" y="914400"/>
            <a:ext cx="4206240" cy="320040"/>
          </a:xfrm>
          <a:prstGeom prst="rect">
            <a:avLst/>
          </a:prstGeom>
          <a:solidFill>
            <a:srgbClr val="006EE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NKAM — National Key Account Manager (Chain-wise)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93192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7B2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7B2CBA"/>
                </a:solidFill>
              </a:defRPr>
            </a:pPr>
            <a:r>
              <a:t>NORTH (₹68.2 Cr, +12.4%)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5029248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Scale Himalaya 5-store network +15%</a:t>
            </a:r>
            <a:br/>
            <a:r>
              <a:t>• Expand Garnier distribution +12%</a:t>
            </a:r>
            <a:br/>
            <a:r>
              <a:t>• Owner: North RKAM | Deadline: 12-Aug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393192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7B2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7B2CBA"/>
                </a:solidFill>
              </a:defRPr>
            </a:pPr>
            <a:r>
              <a:t>SOUTH-1 (₹71.3 Cr, +16.2%)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99350240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Launch Himalaya 3-SKU combo (12 chains)</a:t>
            </a:r>
            <a:br/>
            <a:r>
              <a:t>• Chennai expansion +18% by Aug-31</a:t>
            </a:r>
            <a:br/>
            <a:r>
              <a:t>• Owner: South-1 RKAM | Deadline: 15-Aug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393192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7B2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7B2CBA"/>
                </a:solidFill>
              </a:defRPr>
            </a:pPr>
            <a:r>
              <a:t>SOUTH-2 (₹42.1 Cr, +8.3%)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93671232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Run Reliance-exclusive promo Q3</a:t>
            </a:r>
            <a:br/>
            <a:r>
              <a:t>• Stabilize Hyderabad chain network</a:t>
            </a:r>
            <a:br/>
            <a:r>
              <a:t>• Owner: South-2 RKAM | Deadline: 20-Aug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393192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7B2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7B2CBA"/>
                </a:solidFill>
              </a:defRPr>
            </a:pPr>
            <a:r>
              <a:t>WEST (₹48.7 Cr, +10.1%)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79913096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Mumbai consolidation +40 stores</a:t>
            </a:r>
            <a:br/>
            <a:r>
              <a:t>• Gujarat Garnier hero-SKU push</a:t>
            </a:r>
            <a:br/>
            <a:r>
              <a:t>• Owner: West RKAM | Deadline: 18-Aug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393192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7B2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7B2CBA"/>
                </a:solidFill>
              </a:defRPr>
            </a:pPr>
            <a:r>
              <a:t>CENTRAL (₹6.1 Cr, +5.7%)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8231321600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Q4 pilot: Indore 2-chain baseline</a:t>
            </a:r>
            <a:br/>
            <a:r>
              <a:t>• SKU bundling test (₹0.2 Cr initial)</a:t>
            </a:r>
            <a:br/>
            <a:r>
              <a:t>• Owner: Central RKAM | Deadline: 25-Aug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1371600"/>
            <a:ext cx="420624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6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06EE6"/>
                </a:solidFill>
              </a:defRPr>
            </a:pPr>
            <a:r>
              <a:t>APOLLO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5050292480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Face Wash hero-SKU placement: 95% store coverage</a:t>
            </a:r>
            <a:br/>
            <a:r>
              <a:t>• Himalaya premium range: 18% growth target</a:t>
            </a:r>
            <a:br/>
            <a:r>
              <a:t>• Owner: Apollo NKAM | Target: ₹32.4 Cr (+12%)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2240280"/>
            <a:ext cx="420624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6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06EE6"/>
                </a:solidFill>
              </a:defRPr>
            </a:pPr>
            <a:r>
              <a:t>RELIANCE RETAIL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993502400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Exclusive facewash bundle promotion</a:t>
            </a:r>
            <a:br/>
            <a:r>
              <a:t>• Clean &amp; Clear + Himalaya combo tier</a:t>
            </a:r>
            <a:br/>
            <a:r>
              <a:t>• Owner: Reliance NKAM | Target: ₹28.1 Cr (+15%)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3108960"/>
            <a:ext cx="420624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6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06EE6"/>
                </a:solidFill>
              </a:defRPr>
            </a:pPr>
            <a:r>
              <a:t>D-MART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936712320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Volume push on budget-tier facewash</a:t>
            </a:r>
            <a:br/>
            <a:r>
              <a:t>• Garnier Powder positioning (premium tier)</a:t>
            </a:r>
            <a:br/>
            <a:r>
              <a:t>• Owner: D-Mart NKAM | Target: ₹24.3 Cr (+18%)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3977639"/>
            <a:ext cx="420624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6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06EE6"/>
                </a:solidFill>
              </a:defRPr>
            </a:pPr>
            <a:r>
              <a:t>WALMART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879913096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Himalaya Day/Night Cream expansion</a:t>
            </a:r>
            <a:br/>
            <a:r>
              <a:t>• 5-metro store adds (15 new doors)</a:t>
            </a:r>
            <a:br/>
            <a:r>
              <a:t>• Owner: Walmart NKAM | Target: ₹12.1 Cr (+14%)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846320"/>
            <a:ext cx="4206240" cy="228600"/>
          </a:xfrm>
          <a:prstGeom prst="rect">
            <a:avLst/>
          </a:prstGeom>
          <a:solidFill>
            <a:srgbClr val="F5F5F5"/>
          </a:solidFill>
          <a:ln w="19050">
            <a:solidFill>
              <a:srgbClr val="006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006EE6"/>
                </a:solidFill>
              </a:defRPr>
            </a:pPr>
            <a:r>
              <a:t>METRO C&amp;C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823132160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850">
                <a:solidFill>
                  <a:srgbClr val="0D1B2A"/>
                </a:solidFill>
              </a:defRPr>
            </a:pPr>
            <a:r>
              <a:t>• Professional channel strategy</a:t>
            </a:r>
            <a:br/>
            <a:r>
              <a:t>• Everyuth mass-budget tier growth</a:t>
            </a:r>
            <a:br/>
            <a:r>
              <a:t>• Owner: Metro NKAM | Target: ₹8.7 Cr (+21%)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D1B2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Success Metrics: Aug Target vs. Ownership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0584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Owner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097280"/>
            <a:ext cx="118872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097280"/>
            <a:ext cx="118872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Jul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097280"/>
            <a:ext cx="128016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Aug Target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097280"/>
            <a:ext cx="109728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Growth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097280"/>
            <a:ext cx="1554480" cy="274320"/>
          </a:xfrm>
          <a:prstGeom prst="rect">
            <a:avLst/>
          </a:prstGeom>
          <a:solidFill>
            <a:srgbClr val="0D1B2A"/>
          </a:solidFill>
          <a:ln w="6350">
            <a:solidFill>
              <a:srgbClr val="0D1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FFFFF"/>
                </a:solidFill>
              </a:defRPr>
            </a:pPr>
            <a:r>
              <a:t>Review Date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B2CBA"/>
                </a:solidFill>
              </a:defRPr>
            </a:pPr>
            <a:r>
              <a:t>RKAM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37160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North Region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137160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₹68.2 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137160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₹76.8 Cr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37160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+12.6%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22-Aug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64592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B2CBA"/>
                </a:solidFill>
              </a:defRPr>
            </a:pPr>
            <a:r>
              <a:t>RKAM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164592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South-1 Region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164592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₹71.3 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164592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₹82.1 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64592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+15.2%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4592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25-Aug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920240"/>
            <a:ext cx="8229600" cy="27432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92024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B2CBA"/>
                </a:solidFill>
              </a:defRPr>
            </a:pPr>
            <a:r>
              <a:t>RKAM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192024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South-2 Region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192024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₹42.1 Cr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192024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₹45.6 Cr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0" y="192024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+8.3%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92024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20-Aug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19456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B2CBA"/>
                </a:solidFill>
              </a:defRPr>
            </a:pPr>
            <a:r>
              <a:t>RKAM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219456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West Region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219456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₹48.7 Cr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0" y="219456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₹53.6 Cr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0" y="219456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+10.1%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19456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22-Aug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246888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7B2CBA"/>
                </a:solidFill>
              </a:defRPr>
            </a:pPr>
            <a:r>
              <a:t>RKAM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63040" y="246888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Central Region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51760" y="246888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₹6.1 Cr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0" y="246888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₹6.9 Cr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246888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+13.1%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46888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28-Aug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74320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6EE6"/>
                </a:solidFill>
              </a:defRPr>
            </a:pPr>
            <a:r>
              <a:t>NKAM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63040" y="274320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Apollo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51760" y="274320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₹28.9 Cr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0" y="274320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₹32.4 Cr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0" y="274320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+12.1%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74320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20-Aug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01752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6EE6"/>
                </a:solidFill>
              </a:defRPr>
            </a:pPr>
            <a:r>
              <a:t>NKAM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63040" y="301752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Reliance Retail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51760" y="301752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₹24.4 Cr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301752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₹28.1 Cr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20640" y="301752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+15.2%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01752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22-Aug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329184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6EE6"/>
                </a:solidFill>
              </a:defRPr>
            </a:pPr>
            <a:r>
              <a:t>NKAM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63040" y="329184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D-Mart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651760" y="329184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₹20.6 Cr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329184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₹24.3 Cr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329184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+18.0%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329184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24-Aug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solidFill>
            <a:srgbClr val="F5F5F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3566160"/>
            <a:ext cx="1005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06EE6"/>
                </a:solidFill>
              </a:defRPr>
            </a:pPr>
            <a:r>
              <a:t>NKAM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63040" y="356616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850"/>
            </a:pPr>
            <a:r>
              <a:t>Walmart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51760" y="3566160"/>
            <a:ext cx="11887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₹10.6 Cr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40480" y="3566160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₹12.1 Cr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0" y="3566160"/>
            <a:ext cx="10972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A9D8F"/>
                </a:solidFill>
              </a:defRPr>
            </a:pPr>
            <a:r>
              <a:t>+14.2%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17920" y="3566160"/>
            <a:ext cx="1554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9595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/>
            </a:pPr>
            <a:r>
              <a:t>21-Aug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959595"/>
                </a:solidFill>
              </a:defRPr>
            </a:pPr>
            <a:r>
              <a:t>Jul Combined = ₹241.4 Cr | Aug Target = ₹260 Cr (+7.7% aggregate) | Weekly tracking: Mon 9am Ops Sync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