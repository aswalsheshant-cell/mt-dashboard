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July 2026 Modern Trade Monthly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A9D8F"/>
                </a:solidFill>
              </a:defRPr>
            </a:pPr>
            <a:r>
              <a:t>Honasa / Mamaearth — Face Wash Leadership &amp; Market Share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9595"/>
                </a:solidFill>
              </a:defRPr>
            </a:pPr>
            <a:r>
              <a:t>Data: Dashboard Analytics | Period: July 2026 | 8-Metro 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Summary: 3 Key Headlines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737360" cy="1005840"/>
          </a:xfrm>
          <a:prstGeom prst="rect">
            <a:avLst/>
          </a:prstGeom>
          <a:solidFill>
            <a:srgbClr val="F5F5F5"/>
          </a:solidFill>
          <a:ln w="317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9D8F"/>
                </a:solidFill>
              </a:defRPr>
            </a:pPr>
            <a:r>
              <a:t>₹241.4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9595"/>
                </a:solidFill>
              </a:defRPr>
            </a:pPr>
            <a:r>
              <a:t>Face Wash NSV</a:t>
            </a:r>
            <a:br/>
            <a:r>
              <a:t>+14.1% MoM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188720"/>
            <a:ext cx="1737360" cy="1005840"/>
          </a:xfrm>
          <a:prstGeom prst="rect">
            <a:avLst/>
          </a:prstGeom>
          <a:solidFill>
            <a:srgbClr val="F5F5F5"/>
          </a:solidFill>
          <a:ln w="317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2344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9D8F"/>
                </a:solidFill>
              </a:defRPr>
            </a:pPr>
            <a:r>
              <a:t>₹50.9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91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9595"/>
                </a:solidFill>
              </a:defRPr>
            </a:pPr>
            <a:r>
              <a:t>Himalaya NSV</a:t>
            </a:r>
            <a:br/>
            <a:r>
              <a:t>+7.2% MoM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1737360" cy="1005840"/>
          </a:xfrm>
          <a:prstGeom prst="rect">
            <a:avLst/>
          </a:prstGeom>
          <a:solidFill>
            <a:srgbClr val="F5F5F5"/>
          </a:solidFill>
          <a:ln w="317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344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A9D8F"/>
                </a:solidFill>
              </a:defRPr>
            </a:pPr>
            <a:r>
              <a:t>₹33.0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9595"/>
                </a:solidFill>
              </a:defRPr>
            </a:pPr>
            <a:r>
              <a:t>Garnier NSV</a:t>
            </a:r>
            <a:br/>
            <a:r>
              <a:t>+11.5% MoM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1737360" cy="1005840"/>
          </a:xfrm>
          <a:prstGeom prst="rect">
            <a:avLst/>
          </a:prstGeom>
          <a:solidFill>
            <a:srgbClr val="F5F5F5"/>
          </a:solidFill>
          <a:ln w="317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2344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4A261"/>
                </a:solidFill>
              </a:defRPr>
            </a:pPr>
            <a:r>
              <a:t>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691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59595"/>
                </a:solidFill>
              </a:defRPr>
            </a:pPr>
            <a:r>
              <a:t>North + South-1</a:t>
            </a:r>
            <a:br/>
            <a:r>
              <a:t>8-Metro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/>
            </a:pPr>
            <a:r>
              <a:t>✓ GROWTH CATALYST: Face Wash recovered +14.1% MoM (₹241.4 Cr) — steepest gain since Apr'26, driven by premium tier (Himalaya, Garnier, Clean &amp; Clear)</a:t>
            </a:r>
          </a:p>
          <a:p>
            <a:pPr>
              <a:spcBef>
                <a:spcPts val="800"/>
              </a:spcBef>
              <a:defRPr sz="1200"/>
            </a:pPr>
            <a:r>
              <a:t>✓ MARKET MOMENTUM: July validates June's inventory correction was temporary; underlying demand for high-efficacy formulations strengthening across urban MT</a:t>
            </a:r>
          </a:p>
          <a:p>
            <a:pPr>
              <a:spcBef>
                <a:spcPts val="800"/>
              </a:spcBef>
              <a:defRPr sz="1200"/>
            </a:pPr>
            <a:r>
              <a:t>✓ REGIONAL CONCENTRATION: North (₹68.2 Cr) and South-1 (₹71.3 Cr) account for 58% of Face Wash NSV; Bangalore + Chennai showed +16.2% MoM growth</a:t>
            </a:r>
          </a:p>
          <a:p>
            <a:pPr>
              <a:spcBef>
                <a:spcPts val="800"/>
              </a:spcBef>
              <a:defRPr sz="1200"/>
            </a:pPr>
            <a:r>
              <a:t>✓ PORTFOLIO DYNAMICS: Premium brands gaining; BioTique plateau at ₹2.7 Cr (+0.9%) signals entry-segment saturation; Clean &amp; Clear (+17.2%) capturing share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July's Turnaround: Inside the Face Wash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22860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005840"/>
            <a:ext cx="6766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D1B2A"/>
                </a:solidFill>
              </a:defRPr>
            </a:pPr>
            <a:r>
              <a:t>Face Wash NSV +₹33.2 Cr MoM to ₹241.4 Cr (14.1% growth). Premium brands led: Himalaya +7.2%, Garnier +11.5%, Clean &amp; Clear +17.2%. Entry-tier softness (BioTique +0.9%, Emami -7.7%) shows market bifurcation.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371600" cy="228600"/>
          </a:xfrm>
          <a:prstGeom prst="rect">
            <a:avLst/>
          </a:prstGeom>
          <a:solidFill>
            <a:srgbClr val="2A9D8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IMPLICATION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920240"/>
            <a:ext cx="6766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D1B2A"/>
                </a:solidFill>
              </a:defRPr>
            </a:pPr>
            <a:r>
              <a:t>June decline (₹207.4→₹207.4) was inventory normalization, NOT demand destruction. July rebound confirms: (1) Underlying category strength intact; (2) Consumer preference shifts toward premium efficacy; (3) Urban MT health-beauty secular tailwind sustained.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371600" cy="22860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MARKET INSIGHT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2834640"/>
            <a:ext cx="6766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D1B2A"/>
                </a:solidFill>
              </a:defRPr>
            </a:pPr>
            <a:r>
              <a:t>8-metro penetration: ₹30K+ MRP facewash products (Himalaya Day/Night Cream line) achieved 15%+ YoY growth. Budget facewash (₹200-400) losing relevance to premium-mid (₹500-1200) — 3-5 year margin expansion opportunity. Regional spread: Bangalore, Pune, Delhi NCR driving 68% of July growth.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1371600" cy="228600"/>
          </a:xfrm>
          <a:prstGeom prst="rect">
            <a:avLst/>
          </a:prstGeom>
          <a:solidFill>
            <a:srgbClr val="E6394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ACTION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3749039"/>
            <a:ext cx="6766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D1B2A"/>
                </a:solidFill>
              </a:defRPr>
            </a:pPr>
            <a:r>
              <a:t>By 10-Aug: (1) Scale hero-SKUs (Himalaya Facewash, Garnier Powder) 20% across 8-metro chains; (2) Redirect slow-turn stock (Clean &amp; Clear mature portfolio) to growth zones; (3) Run EOL clearance on entry-tier (Emami, Everyuth discounting risk). Target: +8% Aug NSV vs Jul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1371600" cy="22860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OWNER &amp; 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4663440"/>
            <a:ext cx="67665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D1B2A"/>
                </a:solidFill>
              </a:defRPr>
            </a:pPr>
            <a:r>
              <a:t>NKAM (Modern Trade) + Category Manager Face Care | Deadline: 10-Aug | Review: Aug 22 Ops Call | Success: Aug NSV ≥241×1.08 = ₹260 Cr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Top 20 Brands: July vs. Jun — Performance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HIMALAYA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09728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₹50.9Cr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09728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59595"/>
                </a:solidFill>
              </a:defRPr>
            </a:pPr>
            <a:r>
              <a:t>₹47.5Cr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09728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+7.2%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097280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D1B2A"/>
                </a:solidFill>
              </a:defRPr>
            </a:pPr>
            <a:r>
              <a:t>Premium 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GARNIER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73736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₹33.0Cr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73736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59595"/>
                </a:solidFill>
              </a:defRPr>
            </a:pPr>
            <a:r>
              <a:t>₹29.6Cr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3736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+11.5%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737360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D1B2A"/>
                </a:solidFill>
              </a:defRPr>
            </a:pPr>
            <a:r>
              <a:t>Mass 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19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77439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CLEAN &amp; CLEAR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377439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₹18.4Cr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377439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59595"/>
                </a:solidFill>
              </a:defRPr>
            </a:pPr>
            <a:r>
              <a:t>₹15.7Cr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2377439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+17.2%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2377439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D1B2A"/>
                </a:solidFill>
              </a:defRPr>
            </a:pPr>
            <a:r>
              <a:t>Mass-Premium 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1752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EVERYUTH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301752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₹2.8Cr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01752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59595"/>
                </a:solidFill>
              </a:defRPr>
            </a:pPr>
            <a:r>
              <a:t>₹2.3Cr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301752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+21.7%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3017520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D1B2A"/>
                </a:solidFill>
              </a:defRPr>
            </a:pPr>
            <a:r>
              <a:t>Mass-Low 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65760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BIOTIQUE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365760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₹2.7Cr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65760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59595"/>
                </a:solidFill>
              </a:defRPr>
            </a:pPr>
            <a:r>
              <a:t>₹2.7Cr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65760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A261"/>
                </a:solidFill>
              </a:defRPr>
            </a:pPr>
            <a:r>
              <a:t>+0.9%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3657600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D1B2A"/>
                </a:solidFill>
              </a:defRPr>
            </a:pPr>
            <a:r>
              <a:t>Premium-Niche 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97680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EMAMI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429768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₹2.4Cr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29768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59595"/>
                </a:solidFill>
              </a:defRPr>
            </a:pPr>
            <a:r>
              <a:t>₹2.6Cr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429768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3946"/>
                </a:solidFill>
              </a:defRPr>
            </a:pPr>
            <a:r>
              <a:t>-7.7%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4297680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D1B2A"/>
                </a:solidFill>
              </a:defRPr>
            </a:pPr>
            <a:r>
              <a:t>Niche 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92039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937759"/>
            <a:ext cx="20116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1B2A"/>
                </a:solidFill>
              </a:defRPr>
            </a:pPr>
            <a:r>
              <a:t>GLOW &amp; LOVELY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4937759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A9D8F"/>
                </a:solidFill>
              </a:defRPr>
            </a:pPr>
            <a:r>
              <a:t>₹1.9Cr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4937759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59595"/>
                </a:solidFill>
              </a:defRPr>
            </a:pPr>
            <a:r>
              <a:t>₹2.2Cr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4937759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63946"/>
                </a:solidFill>
              </a:defRPr>
            </a:pPr>
            <a:r>
              <a:t>-13.6%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4937759"/>
            <a:ext cx="3108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5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D1B2A"/>
                </a:solidFill>
              </a:defRPr>
            </a:pPr>
            <a:r>
              <a:t>Niche 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217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59595"/>
                </a:solidFill>
              </a:defRPr>
            </a:pPr>
            <a:r>
              <a:t>Insight: Premium tier gaining share from budget; entry-price saturation visible (BioTique flat). Opportunity: Scale Himalaya + Garnier 18-22% by Q3-end.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8-Metro Regional Analysis: Growth Drivers &amp; Whitespace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solidFill>
            <a:srgbClr val="2A9D8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NORTH | ₹68.2 Cr | +12.4%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08393967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D1B2A"/>
                </a:solidFill>
              </a:defRPr>
            </a:pPr>
            <a:r>
              <a:t>Pune (₹24.1Cr +14.2%) | Delhi NCR (₹18.7Cr +9.8%) | Leadership tier. Action: Scale Himalaya 5-store network +15%.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8229600" cy="228600"/>
          </a:xfrm>
          <a:prstGeom prst="rect">
            <a:avLst/>
          </a:prstGeom>
          <a:solidFill>
            <a:srgbClr val="2A9D8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SOUTH-1 | ₹71.3 Cr | +16.2%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08400825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D1B2A"/>
                </a:solidFill>
              </a:defRPr>
            </a:pPr>
            <a:r>
              <a:t>Bangalore (₹31.5Cr +19.1%) | Chennai (₹18.2Cr +12.3%) | Fastest growing zone. Action: Launch Himalaya 3-SKU combo in 12 Apollo locations.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solidFill>
            <a:srgbClr val="F4A26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SOUTH-2 | ₹42.1 Cr | +8.3%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08407683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D1B2A"/>
                </a:solidFill>
              </a:defRPr>
            </a:pPr>
            <a:r>
              <a:t>Hyderabad stabilizing. Andhra Pradesh growth slowing. Action: Run Reliance-exclusive promo Q3 (Hero-EAN push on 5-chain bundle).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solidFill>
            <a:srgbClr val="2A9D8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WEST | ₹48.7 Cr | +10.1%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08414541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D1B2A"/>
                </a:solidFill>
              </a:defRPr>
            </a:pPr>
            <a:r>
              <a:t>Mumbai recovery (+9.2%) + Gujarat strength (+11.8%) offsetting Goa softness (-2.1%). Action: Mumbai chain consolidation; drive Garnier 40-store add.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solidFill>
            <a:srgbClr val="F4A26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CENTRAL | ₹6.1 Cr | +5.7%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084213992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D1B2A"/>
                </a:solidFill>
              </a:defRPr>
            </a:pPr>
            <a:r>
              <a:t>MP + CG slowest tier. Opportunity gap: only 1.2% of 8-metro Face Wash NSV. Action: Q4 pilot—2 Indore chains, hero-SKU bundling to build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