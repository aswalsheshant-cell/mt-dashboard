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July 2026 Modern Trade Monthly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A9D8F"/>
                </a:solidFill>
              </a:defRPr>
            </a:pPr>
            <a:r>
              <a:t>Honasa / Mamaearth — RKAM (Zone) &amp; NKAM (Chain) Accountability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1B2A"/>
                </a:solidFill>
              </a:defRPr>
            </a:pPr>
            <a:r>
              <a:t>Executive Summary: July Performance &amp; Aug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200" b="1">
                <a:solidFill>
                  <a:srgbClr val="2A9D8F"/>
                </a:solidFill>
              </a:defRPr>
            </a:pPr>
            <a:r>
              <a:t>Jul BASELINE: ₹241.4 Cr Face Wash NSV (+14.1% MoM)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 b="0">
                <a:solidFill>
                  <a:srgbClr val="0D1B2A"/>
                </a:solidFill>
              </a:defRPr>
            </a:pPr>
            <a:r>
              <a:t>KEY METRICS: Himalaya ₹50.9 Cr (+7.2%) | Garnier ₹33.0 Cr (+11.5%) | Clean &amp; Clear ₹18.4 Cr (+17.2%)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 b="0">
                <a:solidFill>
                  <a:srgbClr val="0D1B2A"/>
                </a:solidFill>
              </a:defRPr>
            </a:pPr>
            <a:r>
              <a:t>8-METRO SPLIT: North ₹68.2 Cr (28%) | South-1 ₹71.3 Cr (30%) | South-2 ₹42.1 Cr (17%) | West ₹48.7 Cr (20%) | Central ₹6.1 Cr (2%)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 b="1">
                <a:solidFill>
                  <a:srgbClr val="E63946"/>
                </a:solidFill>
              </a:defRPr>
            </a:pPr>
            <a:r>
              <a:t>AUG TARGET: ₹260 Cr (+7.7%) across both RKAM &amp; NKAM channels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200" b="0">
                <a:solidFill>
                  <a:srgbClr val="2A9D8F"/>
                </a:solidFill>
              </a:defRPr>
            </a:pPr>
            <a:r>
              <a:t>MARKET INSIGHT: Premium tier (₹500-1200 MRP) gaining +15% YoY; budget tier declining -7% YoY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1B2A"/>
                </a:solidFill>
              </a:defRPr>
            </a:pPr>
            <a:r>
              <a:t>RKAM (Zone) vs NKAM (Chain) Accountability &amp;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7B2CBA"/>
                </a:solidFill>
              </a:defRPr>
            </a:pPr>
            <a:r>
              <a:t>RKAM — Regional Key Account Managers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North: ₹68.2→₹76.8 Cr (+12.6%) — Scale Himalaya +15% | Deadline: 12-Aug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South-1: ₹71.3→₹82.1 Cr (+15.2%) — Launch 3-SKU combo | Deadline: 15-Aug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South-2: ₹42.1→₹45.6 Cr (+8.3%) — Reliance exclusive promo | Deadline: 20-Aug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West: ₹48.7→₹53.6 Cr (+10.1%) — Mumbai +40 doors | Deadline: 18-Aug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Central: ₹6.1→₹6.9 Cr (+13.1%) — Indore 2-chain Q4 pilot | Deadline: 25-Aug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91440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06EE6"/>
                </a:solidFill>
              </a:defRPr>
            </a:pPr>
            <a:r>
              <a:t>NKAM — National Account Managers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Apollo: ₹28.9→₹32.4 Cr (+12.1%) — 95% visibility | 20-Aug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Reliance: ₹24.4→₹28.1 Cr (+15.2%) — Bundle promo | 22-Aug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D-Mart: ₹20.6→₹24.3 Cr (+18%) — Volume push | 24-Aug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Walmart: ₹10.6→₹12.1 Cr (+14.2%) — Premium expansion | 21-Aug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0D1B2A"/>
                </a:solidFill>
              </a:rPr>
              <a:t>Metro C&amp;C: ₹8.7→₹10.5 Cr (+21%) — Professional channel | 26-Aug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1B2A"/>
                </a:solidFill>
              </a:defRPr>
            </a:pPr>
            <a:r>
              <a:t>Aug Success Metrics &amp; Weekly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2A9D8F"/>
                </a:solidFill>
              </a:rPr>
              <a:t>AGGREGATE TARGET: </a:t>
            </a:r>
            <a:r>
              <a:rPr sz="1100" b="1">
                <a:solidFill>
                  <a:srgbClr val="0D1B2A"/>
                </a:solidFill>
              </a:rPr>
              <a:t>July ₹241.4 Cr → Aug ₹260 Cr (+7.7%)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0D1B2A"/>
                </a:solidFill>
              </a:rPr>
              <a:t>WEEKLY SYNC: </a:t>
            </a:r>
            <a:r>
              <a:rPr sz="1100" b="0">
                <a:solidFill>
                  <a:srgbClr val="0D1B2A"/>
                </a:solidFill>
              </a:rPr>
              <a:t>Monday 9am Ops Call — track actuals vs. target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7B2CBA"/>
                </a:solidFill>
              </a:rPr>
              <a:t>RKAM REVIEW DATES: </a:t>
            </a:r>
            <a:r>
              <a:rPr sz="1100" b="0">
                <a:solidFill>
                  <a:srgbClr val="0D1B2A"/>
                </a:solidFill>
              </a:rPr>
              <a:t>North (22-Aug) | South-1 (25-Aug) | South-2 (20-Aug) | West (22-Aug) | Central (28-Aug)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006EE6"/>
                </a:solidFill>
              </a:rPr>
              <a:t>NKAM REVIEW DATES: </a:t>
            </a:r>
            <a:r>
              <a:rPr sz="1100" b="0">
                <a:solidFill>
                  <a:srgbClr val="0D1B2A"/>
                </a:solidFill>
              </a:rPr>
              <a:t>Apollo (20-Aug) | Reliance (22-Aug) | D-Mart (24-Aug) | Walmart (21-Aug) | Metro (26-Aug)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E63946"/>
                </a:solidFill>
              </a:rPr>
              <a:t>SUCCESS GATES: </a:t>
            </a:r>
            <a:r>
              <a:rPr sz="1100" b="0">
                <a:solidFill>
                  <a:srgbClr val="0D1B2A"/>
                </a:solidFill>
              </a:rPr>
              <a:t>✓ ₹260 Cr NSV by 31-Aug | ✓ Zero inventory bloat (EOL clearance) | ✓ Chain penetration +15% min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b="1" sz="1100">
                <a:solidFill>
                  <a:srgbClr val="0D1B2A"/>
                </a:solidFill>
              </a:rPr>
              <a:t>OWNER: </a:t>
            </a:r>
            <a:r>
              <a:rPr sz="1100" b="0">
                <a:solidFill>
                  <a:srgbClr val="0D1B2A"/>
                </a:solidFill>
              </a:rPr>
              <a:t>Category Manager (Face Care) + NKAM + RKAM Joint Steering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