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AUGUST 2026</a:t>
            </a:r>
            <a:br/>
            <a:r>
              <a:t>MODERN TRADE</a:t>
            </a:r>
            <a:br/>
            <a:r>
              <a:t>PRIMARY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846320"/>
            <a:ext cx="6309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₹3,872 Cr NSV | Growth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0"/>
            <a:ext cx="6309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FY27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Total Revenue: ₹3,872 Cr NSV — 16,488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NSV (Lakh)  |  ₹3,872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5943600" cy="822960"/>
          </a:xfrm>
          <a:prstGeom prst="rect">
            <a:avLst/>
          </a:prstGeom>
          <a:solidFill>
            <a:srgbClr val="E639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MRP Value  |  ₹9,075L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943600" cy="822960"/>
          </a:xfrm>
          <a:prstGeom prst="rect">
            <a:avLst/>
          </a:prstGeom>
          <a:solidFill>
            <a:srgbClr val="F4A2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Conversion %  |  42.7%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Revenue by Channel — Dominance of Modern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100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MT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₹3,596L  (92.9%)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EB2B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₹203L  (5.2%)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SIS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₹73L  (1.9%)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Zone Performance — All Regions Performing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100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West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₹1,125L  (29.1%)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South-1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₹915L  (23.6%)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North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₹654L  (16.9%)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South-2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₹505L  (13.0%)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East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₹421L  (10.9%)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Central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₹251L  (6.5%)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Brand Performance — Mamaearth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100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Mamaearth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₹2,473L  (63.9%)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The Derma Co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₹1,353L  (34.9%)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Aqualogica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₹31L  (0.8%)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BBlunt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₹10L  (0.3%)</a:t>
            </a:r>
          </a:p>
          <a:p>
            <a:pPr>
              <a:spcBef>
                <a:spcPts val="800"/>
              </a:spcBef>
              <a:defRPr sz="1400" b="1">
                <a:solidFill>
                  <a:srgbClr val="0D1B2A"/>
                </a:solidFill>
              </a:defRPr>
            </a:pPr>
            <a:r>
              <a:t>Dr. Sheth</a:t>
            </a:r>
          </a:p>
          <a:p>
            <a:pPr>
              <a:spcAft>
                <a:spcPts val="400"/>
              </a:spcAft>
              <a:defRPr sz="1300">
                <a:solidFill>
                  <a:srgbClr val="E63946"/>
                </a:solidFill>
              </a:defRPr>
            </a:pPr>
            <a:r>
              <a:t>₹4L  (0.1%)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Zone × Channel Matrix — Multi-Dimensional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6217920" cy="1051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ourier New"/>
              </a:defRPr>
            </a:pPr>
            <a:r>
              <a:t>Zone        MT          EB2B        SIS         Total       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Central      ₹   244L    ₹     7L    ₹     0L    ₹   251L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East         ₹   354L    ₹    67L    ₹     0L    ₹   421L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North        ₹   602L    ₹    52L    ₹     0L    ₹   654L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South-1      ₹   882L    ₹    33L    ₹     0L    ₹   915L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South-2      ₹   492L    ₹    13L    ₹     0L    ₹   505L</a:t>
            </a:r>
          </a:p>
          <a:p>
            <a:pPr>
              <a:spcAft>
                <a:spcPts val="200"/>
              </a:spcAft>
              <a:defRPr sz="900">
                <a:solidFill>
                  <a:srgbClr val="0D1B2A"/>
                </a:solidFill>
                <a:latin typeface="Courier New"/>
              </a:defRPr>
            </a:pPr>
            <a:r>
              <a:t>West         ₹  1021L    ₹    31L    ₹    73L    ₹  1125L</a:t>
            </a:r>
          </a:p>
          <a:p>
            <a:pPr>
              <a:spcBef>
                <a:spcPts val="600"/>
              </a:spcBef>
              <a:defRPr sz="1000" b="1">
                <a:solidFill>
                  <a:srgbClr val="E63946"/>
                </a:solidFill>
                <a:latin typeface="Courier New"/>
              </a:defRPr>
            </a:pPr>
            <a:r>
              <a:t>TOTAL        ₹  3596L    ₹   203L    ₹    73L    ₹  3872L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630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Quality &amp; Integration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943600" cy="987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Format Transformation: EB2B → Standard CSV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Column Structure: Matching FY25/FY26 Primary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Data Cleanup: Removed redundant MRP Corrected Rate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Base MRP: Col 15 confirmed as authoritative source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Transactions: 16,488 records, 100% complete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Dashboard Integration: All 12 tabs updated with FY27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Validation: Release gates 10/10 PASSED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>
                <a:solidFill>
                  <a:srgbClr val="FFFFFF"/>
                </a:solidFill>
              </a:defRPr>
            </a:pPr>
            <a:r>
              <a:t>✓ Ready: Power BI Desktop refresh + historical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