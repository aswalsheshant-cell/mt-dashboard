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5072.4</c:v>
                </c:pt>
                <c:pt idx="1">
                  <c:v>3800.52</c:v>
                </c:pt>
                <c:pt idx="2">
                  <c:v>3627.85</c:v>
                </c:pt>
                <c:pt idx="3">
                  <c:v>4427.4</c:v>
                </c:pt>
                <c:pt idx="4">
                  <c:v>3560.4</c:v>
                </c:pt>
                <c:pt idx="5">
                  <c:v>4008.0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Offtake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3588.51</c:v>
                </c:pt>
                <c:pt idx="1">
                  <c:v>4019.42</c:v>
                </c:pt>
                <c:pt idx="2">
                  <c:v>3840.46</c:v>
                </c:pt>
                <c:pt idx="3">
                  <c:v>3621.47</c:v>
                </c:pt>
                <c:pt idx="4">
                  <c:v>3975.13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(article level)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5076.86</c:v>
                </c:pt>
                <c:pt idx="1">
                  <c:v>4415.74</c:v>
                </c:pt>
                <c:pt idx="2">
                  <c:v>4167.38</c:v>
                </c:pt>
                <c:pt idx="3">
                  <c:v>4921.31</c:v>
                </c:pt>
                <c:pt idx="4">
                  <c:v>3658.3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3588.51</c:v>
                </c:pt>
                <c:pt idx="1">
                  <c:v>4019.42</c:v>
                </c:pt>
                <c:pt idx="2">
                  <c:v>3840.46</c:v>
                </c:pt>
                <c:pt idx="3">
                  <c:v>3621.47</c:v>
                </c:pt>
                <c:pt idx="4">
                  <c:v>3975.13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Primary NSV Apr-Aug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 Retail</c:v>
                </c:pt>
                <c:pt idx="2">
                  <c:v>Apollo</c:v>
                </c:pt>
                <c:pt idx="3">
                  <c:v>Nykaa (FSN)</c:v>
                </c:pt>
                <c:pt idx="4">
                  <c:v>Lulu</c:v>
                </c:pt>
                <c:pt idx="5">
                  <c:v>Wellness Forever</c:v>
                </c:pt>
                <c:pt idx="6">
                  <c:v>Metro C&amp;C</c:v>
                </c:pt>
                <c:pt idx="7">
                  <c:v>Health &amp; Glow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8605.95</c:v>
                </c:pt>
                <c:pt idx="1">
                  <c:v>5353.41</c:v>
                </c:pt>
                <c:pt idx="2">
                  <c:v>4168.43</c:v>
                </c:pt>
                <c:pt idx="3">
                  <c:v>1041.59</c:v>
                </c:pt>
                <c:pt idx="4">
                  <c:v>609.9</c:v>
                </c:pt>
                <c:pt idx="5">
                  <c:v>398.72</c:v>
                </c:pt>
                <c:pt idx="6">
                  <c:v>370.87</c:v>
                </c:pt>
                <c:pt idx="7">
                  <c:v>351.9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Primary NSV Apr-Aug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Mamaearth</c:v>
                </c:pt>
                <c:pt idx="1">
                  <c:v>The Derma Co</c:v>
                </c:pt>
                <c:pt idx="2">
                  <c:v>Aqualogica</c:v>
                </c:pt>
                <c:pt idx="3">
                  <c:v>BBlunt</c:v>
                </c:pt>
                <c:pt idx="4">
                  <c:v>Dr. Sheth's</c:v>
                </c:pt>
                <c:pt idx="5">
                  <c:v>Lumineve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14928.15</c:v>
                </c:pt>
                <c:pt idx="1">
                  <c:v>6883.65</c:v>
                </c:pt>
                <c:pt idx="2">
                  <c:v>362.94</c:v>
                </c:pt>
                <c:pt idx="3">
                  <c:v>37.99</c:v>
                </c:pt>
                <c:pt idx="4">
                  <c:v>21.42</c:v>
                </c:pt>
                <c:pt idx="5">
                  <c:v>5.98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Primary NSV Apr-Aug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South 1</c:v>
                </c:pt>
                <c:pt idx="2">
                  <c:v>North</c:v>
                </c:pt>
                <c:pt idx="3">
                  <c:v>South 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5503.83</c:v>
                </c:pt>
                <c:pt idx="1">
                  <c:v>4965.33</c:v>
                </c:pt>
                <c:pt idx="2">
                  <c:v>4095.3</c:v>
                </c:pt>
                <c:pt idx="3">
                  <c:v>3092.63</c:v>
                </c:pt>
                <c:pt idx="4">
                  <c:v>2365.37</c:v>
                </c:pt>
                <c:pt idx="5">
                  <c:v>1053.18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1F2A44"/>
                </a:solidFill>
              </a:rPr>
              <a:t>Modern Trade QBR 2 - FY27 Q2 (Jul to Sep'26)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Review window 21-25 Oct'26 | DRAFT v0.1 - Jul and Aug loaded, Sep and Oct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Prepared by: MT Channel Analyst Lead | Slides marked PENDING get filled as the Sep and Oct files 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Data readiness: what is in, what is still to 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Update this slide first every time a file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37360"/>
                <a:gridCol w="2651760"/>
                <a:gridCol w="2377440"/>
                <a:gridCol w="17373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Jul'26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Aug'26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Sep'26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Oct'26 (MTD)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Primary (article level)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 (chain split 81.4% matched)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 - file not in repo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Offtake (store x article)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 - file not in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Distributor secondary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Available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Available (North missing)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Target (FY27)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Visibility / POSM / planogram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NOT IN REPO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NOT IN REPO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NOT IN REPO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NOT IN REPO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P&amp;L expense (CM2)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 costs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Loaded costs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Suggested cut-off: Sep files by 8 Oct, Oct MTD by 18 Oct, deck lock 19 Oct (2 working days before the review).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Missing source (named, not estimated): Sep'26 Primary and Offtake monthly files; visibility/POSM tracker extract.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Executive summary - to be finalised after Sep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Write order: what happened, why, impact,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PENDING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1. Offtake Jul+Aug'26 = Rs 7,597 L vs target Rs 7,988 L (95.1% achieved). Sep result decides the Q2 close (Q2 target Rs 11,996 L).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2. Primary (article level) Jul+Aug'26 = Rs 8,580 L. Primary vs Offtake gap to be explained once Sep is in.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3. Chain mix: DMart, Reliance Retail and Apollo carry most of FY27 Primary so far (see slide 6).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4. [PENDING] Biggest miss chain / brand / zone for Q2 and why.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5. [PENDING] Biggest win to scale.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6. [PENDING] Three actions with owner and date for Q3 (Oct-Dec'26).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Note: Primary and Offtake are different measures. Do not read the gap between them as growth or decline.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Q2 scorecard: Offtake vs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Offtake, Rs Lakh. Sep bar stays empty until the file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PARTIAL: Sep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55448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100584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Ach %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Jul-26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4,427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3,621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Aug-26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111.6%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Sep-26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4,008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Q2 so far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7,988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7,597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95.1%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4114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Target basis: Offtake (FY27 target file).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FY27 YTD Apr-Aug: Rs 19,045 L vs Rs 20,489 L = 92.95%.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Primary vs Offtake: is stock moving through?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Both in Rs Lakh. Different measures - compare side by side, do not net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PARTIAL: Sep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5544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Primary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Offtake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Primary - Offtake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Jul-26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4,921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3,621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1,300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Aug-26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-317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Sep-26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36576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Read: Primary above Offtake means chains are building stock; below means they are selling down.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[PENDING] Add DOI by chain once Sep stock data is in.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Check before the review: Aug'26 Primary chain split is 81.4% matched; Lulu, Spencer, Ratnadeep, National Mart, Frankross, Sumo Save, B&amp;N have no Primary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Chain performance: where the Primary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FY27 Primary Apr-Aug'26 by chain (Rs Lakh). Q2-only chain split after 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PARTIAL: YTD, not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For each chain add (one line each):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- Q2 Primary and Offtake vs target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- vs Q1 (QoQ) and vs Q2 last year (YoY, only if basis is comparable)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- Contribution 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- Reason and action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[PENDING] Top 3 gainers and top 3 decliners after Sep.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Brand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FY27 Primary Apr-Aug'26 by brand (Rs Lakh)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PARTIAL: YTD, not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Add after Sep: Q2 brand and category growth, pack-size mix, NPD contribution.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Note: Jul'26 Primary sub-category is blank in the file; take it from the Offtake file by 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Zone and state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FY27 Primary Apr-Aug'26 by zone (Rs Lakh)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PARTIAL: YTD, not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Zones are MT-only. Non-MT accounts are shown separately and are not in this chart.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[PENDING] Zone vs target for Q2, top and bottom states, and the 3 states needing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Reliance Brand Counter (Offtake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Counter data is for audit. It is never taken out of 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PENDING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Source block: reliance_brand_counters / reliance_bc. Data complete through: Aug-26.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Apr-Jun'26 counter value shows Rs 0: either no activity or not reported separately - still open.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From Jul'26 the source splits 'Reliance' and 'Reliance Brand Counter'. For Apr-Jun use Store Type, not Chain Name.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[PENDING] Q2 counter offtake, doors active, ROS per door.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Visibility, POSM and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Needs the execution tracker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DATA NOT IN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Source file needed: visibility / POSM / planogram compliance extract by chain and store (monthly).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Planned slide: compliance % by chain, top gaps, link to Offtake lift on compliant stores, action list.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</a:rPr>
              <a:t>Until the file arrives this slide stays blank. No estimates will be used.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Q2 exceptions and actions (template)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One row per exception. Owner and date are 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PENDING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1828800"/>
                <a:gridCol w="1188720"/>
                <a:gridCol w="2286000"/>
                <a:gridCol w="1097280"/>
                <a:gridCol w="91440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Exception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happened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Impact (Rs L)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[PENDING]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Oct'26 outlook and Q3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Oct is month 1 of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PENDING 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Oct'26 Offtake target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3,004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Q3 target (Oct-Dec'26)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9,795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Oct'26 MTD Offtake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Oct'26 MTD 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77A00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</a:rPr>
                        <a:t>Required run rate to hit FY27 target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77A00"/>
                          </a:solidFill>
                        </a:rPr>
                        <a:t>PENDING after Sep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[PENDING] Festive (Diwali) plan, chain-wise loading, visibility plan.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Check stock cover before pushing Primary.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Decisions and support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</a:rPr>
              <a:t>Fill after Sep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1. [PENDING] Decision needed from leadership, with the Rs impact.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2. [PENDING] Support needed from Sales / Supply / Finance, with date.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</a:rPr>
              <a:t>3. Data fixes: Sep files, visibility tracker, Aug chain-split gaps.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1F2A44"/>
                </a:solidFill>
              </a:rPr>
              <a:t>Appendix: sources, definitions and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20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C77A00"/>
                </a:solidFill>
              </a:rPr>
              <a:t>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QBR 2 FY27 (Jul-Sep'26) | DRAFT v0.1 | numbers from dashboard/data.js | Rs Lakh unless stated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FY27 = Apr'26-Mar'27. Q2 = Jul, Aug, Sep'26.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Primary: SAP billing, article level (dashboard/data.js detail_meta.fyx_primary.FY27). Offtake: chain POS (offtake.monthly_fy27). Target: PowerBI/SeedData/Targets/FY2627_Targets.csv (Offtake basis).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YoY check needed: FY26 Offtake and Primary come from the earlier pre-aggregated files. Confirm the store / scope basis matches FY27 before showing YoY.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CM2 is loaded costs only (no COGS, logistics, claims, field force). Do not present CM2 % as profitability.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</a:rPr>
              <a:t>QC: every number above read from dashboard/data.js in this build. Status: QC VERIFIED for Jul/Aug; Sep/Oct NOT IN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