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2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4" r:id="rId35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9"/>
    <p:sldId id="279" r:id="rId30"/>
    <p:sldId id="280" r:id="rId31"/>
    <p:sldId id="281" r:id="rId32"/>
    <p:sldId id="282" r:id="rId33"/>
    <p:sldId id="283" r:id="rId34"/>
  </p:sldIdLst>
  <p:sldSz cx="6858000" cy="12192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752" y="-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  <Relationship Id="rId35" Type="http://schemas.openxmlformats.org/officeDocument/2006/relationships/slide" Target="slides/slide29.xml"/>
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9.7986000000000004</c:v>
                </c:pt>
                <c:pt idx="2">
                  <c:v>11.9527</c:v>
                </c:pt>
                <c:pt idx="3">
                  <c:v>6.8914</c:v>
                </c:pt>
                <c:pt idx="4">
                  <c:v>7.8305999999999996</c:v>
                </c:pt>
                <c:pt idx="5">
                  <c:v>2.6873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24-425F-A239-11A4EE23EF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8.2768999999999995</c:v>
                </c:pt>
                <c:pt idx="1">
                  <c:v>8.1885999999999992</c:v>
                </c:pt>
                <c:pt idx="2">
                  <c:v>6.9873000000000003</c:v>
                </c:pt>
                <c:pt idx="3">
                  <c:v>4.9101999999999997</c:v>
                </c:pt>
                <c:pt idx="4">
                  <c:v>3.5510999999999999</c:v>
                </c:pt>
                <c:pt idx="5">
                  <c:v>2.1177000000000001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24-425F-A239-11A4EE23EF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5F-41BA-9F74-F10A07991B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5F-41BA-9F74-F10A07991B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1">
                  <c:v>13.06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5F-41BA-9F74-F10A07991B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2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E5F-41BA-9F74-F10A07991B5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South-2</c:v>
                </c:pt>
                <c:pt idx="1">
                  <c:v>East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2.5499999999999998</c:v>
                </c:pt>
                <c:pt idx="2">
                  <c:v>2.79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27-4D01-BC60-646769FA59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39.409999999999997</c:v>
                </c:pt>
                <c:pt idx="3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22-425A-8DBD-B0548E7371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022-425A-8DBD-B0548E7371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4-4A5B-BE1F-36FC569204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A8-4512-8A97-8E01BC2C56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1">
                  <c:v>86.3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A8-4512-8A97-8E01BC2C56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2">
                  <c:v>72.400000000000006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A8-4512-8A97-8E01BC2C563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3">
                  <c:v>61.2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5A8-4512-8A97-8E01BC2C563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4">
                  <c:v>49.9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5A8-4512-8A97-8E01BC2C56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2.0929000000000002</c:v>
                </c:pt>
                <c:pt idx="1">
                  <c:v>2.4540000000000002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20-43D6-A1C4-29A793905B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1.3294999999999999</c:v>
                </c:pt>
                <c:pt idx="1">
                  <c:v>1.5492999999999999</c:v>
                </c:pt>
                <c:pt idx="2">
                  <c:v>1.5924</c:v>
                </c:pt>
                <c:pt idx="3">
                  <c:v>1.6361000000000001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20-43D6-A1C4-29A793905B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0.43780000000000002</c:v>
                </c:pt>
                <c:pt idx="1">
                  <c:v>1.0265</c:v>
                </c:pt>
                <c:pt idx="2">
                  <c:v>0.96630000000000005</c:v>
                </c:pt>
                <c:pt idx="3">
                  <c:v>0.81499999999999995</c:v>
                </c:pt>
                <c:pt idx="4">
                  <c:v>0.45989999999999998</c:v>
                </c:pt>
                <c:pt idx="5">
                  <c:v>0.219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320-43D6-A1C4-29A793905B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1.1236999999999999</c:v>
                </c:pt>
                <c:pt idx="1">
                  <c:v>1.3265</c:v>
                </c:pt>
                <c:pt idx="2">
                  <c:v>1.4202999999999999</c:v>
                </c:pt>
                <c:pt idx="3">
                  <c:v>2.0396000000000001</c:v>
                </c:pt>
                <c:pt idx="4">
                  <c:v>2.1850999999999998</c:v>
                </c:pt>
                <c:pt idx="5">
                  <c:v>2.8435999999999999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79-4A42-93FB-85E95D63FF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0.34839999999999999</c:v>
                </c:pt>
                <c:pt idx="1">
                  <c:v>0.66469999999999996</c:v>
                </c:pt>
                <c:pt idx="2">
                  <c:v>0.72799999999999998</c:v>
                </c:pt>
                <c:pt idx="3">
                  <c:v>1.0665</c:v>
                </c:pt>
                <c:pt idx="4">
                  <c:v>0.67220000000000002</c:v>
                </c:pt>
                <c:pt idx="5">
                  <c:v>0.55030000000000001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79-4A42-93FB-85E95D63FF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0.17150000000000001</c:v>
                </c:pt>
                <c:pt idx="2">
                  <c:v>0.19769999999999999</c:v>
                </c:pt>
                <c:pt idx="3">
                  <c:v>0.16719999999999999</c:v>
                </c:pt>
                <c:pt idx="4">
                  <c:v>0.16289999999999999</c:v>
                </c:pt>
                <c:pt idx="5">
                  <c:v>0.21809999999999999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79-4A42-93FB-85E95D63F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0.93620000000000003</c:v>
                </c:pt>
                <c:pt idx="1">
                  <c:v>1.0264</c:v>
                </c:pt>
                <c:pt idx="2">
                  <c:v>1.0769</c:v>
                </c:pt>
                <c:pt idx="3">
                  <c:v>1.2856000000000001</c:v>
                </c:pt>
                <c:pt idx="4">
                  <c:v>1.1223000000000001</c:v>
                </c:pt>
                <c:pt idx="5">
                  <c:v>1.1188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CC-4D01-B3DB-C89081673C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0.86029999999999995</c:v>
                </c:pt>
                <c:pt idx="1">
                  <c:v>0.95230000000000004</c:v>
                </c:pt>
                <c:pt idx="2">
                  <c:v>0.96319999999999995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CC-4D01-B3DB-C89081673C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0.37880000000000003</c:v>
                </c:pt>
                <c:pt idx="2">
                  <c:v>0.45669999999999999</c:v>
                </c:pt>
                <c:pt idx="3">
                  <c:v>0.47549999999999998</c:v>
                </c:pt>
                <c:pt idx="4">
                  <c:v>0.33460000000000001</c:v>
                </c:pt>
                <c:pt idx="5">
                  <c:v>0.32190000000000002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CC-4D01-B3DB-C89081673C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0.51939999999999997</c:v>
                </c:pt>
                <c:pt idx="3">
                  <c:v>0.77159999999999995</c:v>
                </c:pt>
                <c:pt idx="4">
                  <c:v>0.7147</c:v>
                </c:pt>
                <c:pt idx="5">
                  <c:v>1.1801999999999999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134-4232-8562-06BE020CE1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0.25290000000000001</c:v>
                </c:pt>
                <c:pt idx="1">
                  <c:v>0.43330000000000002</c:v>
                </c:pt>
                <c:pt idx="2">
                  <c:v>0.64580000000000004</c:v>
                </c:pt>
                <c:pt idx="3">
                  <c:v>0.81379999999999997</c:v>
                </c:pt>
                <c:pt idx="4">
                  <c:v>0.50660000000000005</c:v>
                </c:pt>
                <c:pt idx="5">
                  <c:v>0.60699999999999998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34-4232-8562-06BE020CE1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0.14560000000000001</c:v>
                </c:pt>
                <c:pt idx="2">
                  <c:v>0.16650000000000001</c:v>
                </c:pt>
                <c:pt idx="3">
                  <c:v>0.19170000000000001</c:v>
                </c:pt>
                <c:pt idx="4">
                  <c:v>0.19370000000000001</c:v>
                </c:pt>
                <c:pt idx="5">
                  <c:v>0.18659999999999999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134-4232-8562-06BE020CE1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1.7192000000000001</c:v>
                </c:pt>
                <c:pt idx="1">
                  <c:v>2.0834999999999999</c:v>
                </c:pt>
                <c:pt idx="2">
                  <c:v>2.2320000000000002</c:v>
                </c:pt>
                <c:pt idx="3">
                  <c:v>2.4319000000000002</c:v>
                </c:pt>
                <c:pt idx="4">
                  <c:v>2.2778</c:v>
                </c:pt>
                <c:pt idx="5">
                  <c:v>2.0918999999999999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52-4FA4-8926-86A77B0F37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1.2172000000000001</c:v>
                </c:pt>
                <c:pt idx="1">
                  <c:v>1.3299000000000001</c:v>
                </c:pt>
                <c:pt idx="2">
                  <c:v>1.6309</c:v>
                </c:pt>
                <c:pt idx="3">
                  <c:v>1.7503</c:v>
                </c:pt>
                <c:pt idx="4">
                  <c:v>1.6847000000000001</c:v>
                </c:pt>
                <c:pt idx="5">
                  <c:v>1.6785000000000001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B52-4FA4-8926-86A77B0F37B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0.38600000000000001</c:v>
                </c:pt>
                <c:pt idx="1">
                  <c:v>0.65549999999999997</c:v>
                </c:pt>
                <c:pt idx="2">
                  <c:v>0.76939999999999997</c:v>
                </c:pt>
                <c:pt idx="3">
                  <c:v>0.79</c:v>
                </c:pt>
                <c:pt idx="4">
                  <c:v>0.56469999999999998</c:v>
                </c:pt>
                <c:pt idx="5">
                  <c:v>0.34589999999999999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B52-4FA4-8926-86A77B0F3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0.48770000000000002</c:v>
                </c:pt>
                <c:pt idx="1">
                  <c:v>0.66400000000000003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A5-4D9A-A10F-39D191CFA8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0.21360000000000001</c:v>
                </c:pt>
                <c:pt idx="1">
                  <c:v>0.42380000000000001</c:v>
                </c:pt>
                <c:pt idx="2">
                  <c:v>0.47799999999999998</c:v>
                </c:pt>
                <c:pt idx="3">
                  <c:v>0.7077</c:v>
                </c:pt>
                <c:pt idx="4">
                  <c:v>0.51100000000000001</c:v>
                </c:pt>
                <c:pt idx="5">
                  <c:v>0.36380000000000001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A5-4D9A-A10F-39D191CFA8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7.3300000000000004E-2</c:v>
                </c:pt>
                <c:pt idx="1">
                  <c:v>0.10009999999999999</c:v>
                </c:pt>
                <c:pt idx="2">
                  <c:v>0.1125</c:v>
                </c:pt>
                <c:pt idx="3">
                  <c:v>0.10970000000000001</c:v>
                </c:pt>
                <c:pt idx="4">
                  <c:v>9.9599999999999994E-2</c:v>
                </c:pt>
                <c:pt idx="5">
                  <c:v>0.1021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A5-4D9A-A10F-39D191CFA8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0.72889999999999999</c:v>
                </c:pt>
                <c:pt idx="1">
                  <c:v>0.88519999999999999</c:v>
                </c:pt>
                <c:pt idx="2">
                  <c:v>0.88719999999999999</c:v>
                </c:pt>
                <c:pt idx="3">
                  <c:v>1.0779000000000001</c:v>
                </c:pt>
                <c:pt idx="4">
                  <c:v>1.2270000000000001</c:v>
                </c:pt>
                <c:pt idx="5">
                  <c:v>1.0426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81-4BDA-84B7-A0E6DBDF1A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0.66139999999999999</c:v>
                </c:pt>
                <c:pt idx="1">
                  <c:v>0.78239999999999998</c:v>
                </c:pt>
                <c:pt idx="2">
                  <c:v>0.84009999999999996</c:v>
                </c:pt>
                <c:pt idx="3">
                  <c:v>0.87409999999999999</c:v>
                </c:pt>
                <c:pt idx="4">
                  <c:v>0.99519999999999997</c:v>
                </c:pt>
                <c:pt idx="5">
                  <c:v>0.94230000000000003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81-4BDA-84B7-A0E6DBDF1A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0.28129999999999999</c:v>
                </c:pt>
                <c:pt idx="3">
                  <c:v>0.28570000000000001</c:v>
                </c:pt>
                <c:pt idx="4">
                  <c:v>0.20019999999999999</c:v>
                </c:pt>
                <c:pt idx="5">
                  <c:v>0.1361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81-4BDA-84B7-A0E6DBDF1A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0.18770000000000001</c:v>
                </c:pt>
                <c:pt idx="2">
                  <c:v>0.29349999999999998</c:v>
                </c:pt>
                <c:pt idx="3">
                  <c:v>0.4778</c:v>
                </c:pt>
                <c:pt idx="4">
                  <c:v>0.503</c:v>
                </c:pt>
                <c:pt idx="5">
                  <c:v>0.55940000000000001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49-49CE-8D13-2C551CA463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8.6099999999999996E-2</c:v>
                </c:pt>
                <c:pt idx="1">
                  <c:v>0.12609999999999999</c:v>
                </c:pt>
                <c:pt idx="2">
                  <c:v>0.1731</c:v>
                </c:pt>
                <c:pt idx="3">
                  <c:v>0.36299999999999999</c:v>
                </c:pt>
                <c:pt idx="4">
                  <c:v>0.20449999999999999</c:v>
                </c:pt>
                <c:pt idx="5">
                  <c:v>0.1963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49-49CE-8D13-2C551CA463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3.85E-2</c:v>
                </c:pt>
                <c:pt idx="2">
                  <c:v>4.5400000000000003E-2</c:v>
                </c:pt>
                <c:pt idx="3">
                  <c:v>4.8599999999999997E-2</c:v>
                </c:pt>
                <c:pt idx="4">
                  <c:v>4.3299999999999998E-2</c:v>
                </c:pt>
                <c:pt idx="5">
                  <c:v>5.16E-2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49-49CE-8D13-2C551CA463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0.99319999999999997</c:v>
                </c:pt>
                <c:pt idx="2">
                  <c:v>1.0006999999999999</c:v>
                </c:pt>
                <c:pt idx="3">
                  <c:v>1.1479999999999999</c:v>
                </c:pt>
                <c:pt idx="4">
                  <c:v>1.0489999999999999</c:v>
                </c:pt>
                <c:pt idx="5">
                  <c:v>1.3383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41F-439A-B6AE-FAFBB1095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6.0600000000000001E-2</c:v>
                </c:pt>
                <c:pt idx="1">
                  <c:v>7.9500000000000001E-2</c:v>
                </c:pt>
                <c:pt idx="2">
                  <c:v>0.1159</c:v>
                </c:pt>
                <c:pt idx="3">
                  <c:v>0.11310000000000001</c:v>
                </c:pt>
                <c:pt idx="4">
                  <c:v>0.15429999999999999</c:v>
                </c:pt>
                <c:pt idx="5">
                  <c:v>0.47299999999999998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62-4977-B05D-CB42C9DEF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0.54459999999999997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2B-4596-B890-EDE62F7393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2B-4596-B890-EDE62F7393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9.1800000000000007E-2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02B-4596-B890-EDE62F7393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DD-4621-BF3E-FE75443B17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ADD-4621-BF3E-FE75443B17B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1.84E-2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ADD-4621-BF3E-FE75443B1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AA-4574-95CF-22ECFD1A45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C1-4846-9524-E7ED09583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CC8-47E6-A804-4A6027A7CEB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CC8-47E6-A804-4A6027A7CEB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CC8-47E6-A804-4A6027A7CEBD}"/>
              </c:ext>
            </c:extLst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CC8-47E6-A804-4A6027A7CEB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CC8-47E6-A804-4A6027A7CEB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986-4852-8AC4-6D9705EE32ED}"/>
              </c:ext>
            </c:extLst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986-4852-8AC4-6D9705EE32ED}"/>
              </c:ext>
            </c:extLst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986-4852-8AC4-6D9705EE32ED}"/>
              </c:ext>
            </c:extLst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986-4852-8AC4-6D9705EE32ED}"/>
              </c:ext>
            </c:extLst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986-4852-8AC4-6D9705EE32E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BBlunt</c:v>
                </c:pt>
                <c:pt idx="1">
                  <c:v>Aqualogica</c:v>
                </c:pt>
                <c:pt idx="2">
                  <c:v>Mamaearth</c:v>
                </c:pt>
                <c:pt idx="3">
                  <c:v>Lumineve</c:v>
                </c:pt>
                <c:pt idx="4">
                  <c:v>The Derma Co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986-4852-8AC4-6D9705EE32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1D-4F4C-A0C6-C9E86989306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B3-4322-B250-4C8291CAE52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B3-468B-9B1C-3A6195113713}"/>
              </c:ext>
            </c:extLst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B3-468B-9B1C-3A6195113713}"/>
              </c:ext>
            </c:extLst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B3-468B-9B1C-3A6195113713}"/>
              </c:ext>
            </c:extLst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B3-468B-9B1C-3A6195113713}"/>
              </c:ext>
            </c:extLst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EB3-468B-9B1C-3A6195113713}"/>
              </c:ext>
            </c:extLst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EB3-468B-9B1C-3A619511371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South-2</c:v>
                </c:pt>
                <c:pt idx="1">
                  <c:v>West</c:v>
                </c:pt>
                <c:pt idx="2">
                  <c:v>South-1</c:v>
                </c:pt>
                <c:pt idx="3">
                  <c:v>Central</c:v>
                </c:pt>
                <c:pt idx="4">
                  <c:v>North</c:v>
                </c:pt>
                <c:pt idx="5">
                  <c:v>East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8.5399999999999991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EB3-468B-9B1C-3A61951137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078-4453-A693-2D6136F49F1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078-4453-A693-2D6136F49F1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078-4453-A693-2D6136F49F1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078-4453-A693-2D6136F49F19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078-4453-A693-2D6136F49F19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078-4453-A693-2D6136F49F19}"/>
              </c:ext>
            </c:extLst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078-4453-A693-2D6136F49F19}"/>
              </c:ext>
            </c:extLst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078-4453-A693-2D6136F49F19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Sancus</c:v>
                </c:pt>
                <c:pt idx="1">
                  <c:v>Wellness</c:v>
                </c:pt>
                <c:pt idx="2">
                  <c:v>Metro</c:v>
                </c:pt>
                <c:pt idx="3">
                  <c:v>Health &amp; Glow</c:v>
                </c:pt>
                <c:pt idx="4">
                  <c:v>FSN / Nykaa</c:v>
                </c:pt>
                <c:pt idx="5">
                  <c:v>Lulu</c:v>
                </c:pt>
                <c:pt idx="6">
                  <c:v>DMart</c:v>
                </c:pt>
                <c:pt idx="7">
                  <c:v>Reliance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078-4453-A693-2D6136F49F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18.253599999999999</c:v>
                </c:pt>
                <c:pt idx="1">
                  <c:v>15.6615</c:v>
                </c:pt>
                <c:pt idx="2">
                  <c:v>7.2003000000000004</c:v>
                </c:pt>
                <c:pt idx="3">
                  <c:v>2.0790000000000002</c:v>
                </c:pt>
                <c:pt idx="4">
                  <c:v>0</c:v>
                </c:pt>
                <c:pt idx="5">
                  <c:v>0.48549999999999999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75-4787-9B66-A0FA7F7AF2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7.1816000000000004</c:v>
                </c:pt>
                <c:pt idx="3">
                  <c:v>2.0663999999999998</c:v>
                </c:pt>
                <c:pt idx="4">
                  <c:v>1.6977</c:v>
                </c:pt>
                <c:pt idx="5">
                  <c:v>0.72089999999999999</c:v>
                </c:pt>
                <c:pt idx="6">
                  <c:v>0.5081</c:v>
                </c:pt>
                <c:pt idx="7">
                  <c:v>0.48580000000000001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75-4787-9B66-A0FA7F7AF2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33.380000000000003</c:v>
                </c:pt>
                <c:pt idx="1">
                  <c:v>15.19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2-4165-813A-B550A36DC9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2-4165-813A-B550A36DC9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7.0274000000000001</c:v>
                </c:pt>
                <c:pt idx="1">
                  <c:v>8.1684999999999999</c:v>
                </c:pt>
                <c:pt idx="2">
                  <c:v>8.5474999999999994</c:v>
                </c:pt>
                <c:pt idx="3">
                  <c:v>9.6257000000000001</c:v>
                </c:pt>
                <c:pt idx="4">
                  <c:v>9.6513000000000009</c:v>
                </c:pt>
                <c:pt idx="5">
                  <c:v>8.5257000000000005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C5-40BA-AD3E-4189D14A0F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4.8066000000000004</c:v>
                </c:pt>
                <c:pt idx="1">
                  <c:v>5.3825000000000003</c:v>
                </c:pt>
                <c:pt idx="2">
                  <c:v>6.1124999999999998</c:v>
                </c:pt>
                <c:pt idx="3">
                  <c:v>6.6802999999999999</c:v>
                </c:pt>
                <c:pt idx="4">
                  <c:v>6.8695000000000004</c:v>
                </c:pt>
                <c:pt idx="5">
                  <c:v>6.9504000000000001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C5-40BA-AD3E-4189D14A0F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1.5518000000000001</c:v>
                </c:pt>
                <c:pt idx="1">
                  <c:v>2.7323</c:v>
                </c:pt>
                <c:pt idx="2">
                  <c:v>3.0950000000000002</c:v>
                </c:pt>
                <c:pt idx="3">
                  <c:v>2.9542999999999999</c:v>
                </c:pt>
                <c:pt idx="4">
                  <c:v>1.9910000000000001</c:v>
                </c:pt>
                <c:pt idx="5">
                  <c:v>1.304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C5-40BA-AD3E-4189D14A0F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2.2515000000000001</c:v>
                </c:pt>
                <c:pt idx="1">
                  <c:v>2.7532000000000001</c:v>
                </c:pt>
                <c:pt idx="2">
                  <c:v>3.2366999999999999</c:v>
                </c:pt>
                <c:pt idx="3">
                  <c:v>4.6281999999999996</c:v>
                </c:pt>
                <c:pt idx="4">
                  <c:v>4.8318000000000003</c:v>
                </c:pt>
                <c:pt idx="5">
                  <c:v>7.1311999999999998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A9-43F6-B26A-A9D14D6D0C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1.8093999999999999</c:v>
                </c:pt>
                <c:pt idx="2">
                  <c:v>2.274</c:v>
                </c:pt>
                <c:pt idx="3">
                  <c:v>3.1776</c:v>
                </c:pt>
                <c:pt idx="4">
                  <c:v>2.0478999999999998</c:v>
                </c:pt>
                <c:pt idx="5">
                  <c:v>1.9915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A9-43F6-B26A-A9D14D6D0CA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0.57479999999999998</c:v>
                </c:pt>
                <c:pt idx="2">
                  <c:v>0.69379999999999997</c:v>
                </c:pt>
                <c:pt idx="3">
                  <c:v>0.66069999999999995</c:v>
                </c:pt>
                <c:pt idx="4">
                  <c:v>0.66349999999999998</c:v>
                </c:pt>
                <c:pt idx="5">
                  <c:v>0.62849999999999995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A9-43F6-B26A-A9D14D6D0C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1ED8C7-3132-4FB6-8450-13F504C9AD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CDB34D3E-D190-4FF3-A4B9-CDDFF65337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CD28AA4-2138-4D60-B182-04D0B34399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542B95-F80D-4B42-9398-FC0A8FF09EB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298605-46DC-4B2D-9433-726791A6CCA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4F0B3E-458B-4530-AC26-2E01346C4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 (TDC)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1FA88FC1-A494-4354-884B-E481A60BED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 Face Cleanser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8C4DA805-D11C-4020-8C12-0D9136EE6D2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Shampoo (ME)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CE1025E-A46A-4C4F-BFFF-07DBC1B38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TDC Sun Care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DE776A80-C46F-4B45-A899-4003A8C066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TDC Face Serum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81E92CC-BEEE-4C6D-8428-42D1E50E98B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 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4EA3F1D7-9170-4D87-B55B-A32017B226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15.16</c:v>
                </c:pt>
                <c:pt idx="1">
                  <c:v>17.23</c:v>
                </c:pt>
                <c:pt idx="2">
                  <c:v>9.65</c:v>
                </c:pt>
                <c:pt idx="3">
                  <c:v>0.21</c:v>
                </c:pt>
                <c:pt idx="4">
                  <c:v>0.75</c:v>
                </c:pt>
                <c:pt idx="5">
                  <c:v>0.48</c:v>
                </c:pt>
                <c:pt idx="6">
                  <c:v>0.43</c:v>
                </c:pt>
                <c:pt idx="7">
                  <c:v>1.84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C9694A98-F30F-4F2C-869A-E5D3EFDDF4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</c:v>
                </c:pt>
                <c:pt idx="3">
                  <c:v>2.0664</c:v>
                </c:pt>
                <c:pt idx="4">
                  <c:v>1.6977</c:v>
                </c:pt>
                <c:pt idx="5">
                  <c:v>0.7209</c:v>
                </c:pt>
                <c:pt idx="6">
                  <c:v>0.5081</c:v>
                </c:pt>
                <c:pt idx="7">
                  <c:v>0.4858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21571B24-BC26-4D8B-A2A5-D351837E41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Jul'25 (LY)</c:v>
                </c:pt>
              </c:strCache>
            </c:strRef>
          </c:tx>
          <c:spPr>
            <a:solidFill>
              <a:srgbClr val="9FBCD0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Reliance</c:v>
                </c:pt>
                <c:pt idx="1">
                  <c:v>DMart</c:v>
                </c:pt>
                <c:pt idx="2">
                  <c:v>Apollo</c:v>
                </c:pt>
                <c:pt idx="3">
                  <c:v>Metro</c:v>
                </c:pt>
                <c:pt idx="4">
                  <c:v>Lulu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6.1</c:v>
                </c:pt>
                <c:pt idx="1">
                  <c:v>8.0</c:v>
                </c:pt>
                <c:pt idx="2">
                  <c:v>4.77</c:v>
                </c:pt>
                <c:pt idx="3">
                  <c:v>0.88</c:v>
                </c:pt>
                <c:pt idx="4">
                  <c:v>0.88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Jul'26 (TY)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Reliance</c:v>
                </c:pt>
                <c:pt idx="1">
                  <c:v>DMart</c:v>
                </c:pt>
                <c:pt idx="2">
                  <c:v>Apollo</c:v>
                </c:pt>
                <c:pt idx="3">
                  <c:v>Metro</c:v>
                </c:pt>
                <c:pt idx="4">
                  <c:v>Lulu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17.23</c:v>
                </c:pt>
                <c:pt idx="1">
                  <c:v>15.16</c:v>
                </c:pt>
                <c:pt idx="2">
                  <c:v>9.65</c:v>
                </c:pt>
                <c:pt idx="3">
                  <c:v>1.84</c:v>
                </c:pt>
                <c:pt idx="4">
                  <c:v>0.75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93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3.xml"/><Relationship Id="rId4" Type="http://schemas.openxmlformats.org/officeDocument/2006/relationships/chart" Target="../charts/char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9.xml"/><Relationship Id="rId4" Type="http://schemas.openxmlformats.org/officeDocument/2006/relationships/chart" Target="../charts/chart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21.xml"/><Relationship Id="rId4" Type="http://schemas.openxmlformats.org/officeDocument/2006/relationships/chart" Target="../charts/chart2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5.xml"/><Relationship Id="rId4" Type="http://schemas.openxmlformats.org/officeDocument/2006/relationships/chart" Target="../charts/chart2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1.xml"/><Relationship Id="rId4" Type="http://schemas.openxmlformats.org/officeDocument/2006/relationships/chart" Target="../charts/chart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338328" y="2980944"/>
          <a:ext cx="18714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/>
          <p:cNvGraphicFramePr/>
          <p:nvPr/>
        </p:nvGraphicFramePr>
        <p:xfrm>
          <a:off x="2456688" y="3017520"/>
          <a:ext cx="1944624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/>
          <p:cNvGraphicFramePr/>
          <p:nvPr/>
        </p:nvGraphicFramePr>
        <p:xfrm>
          <a:off x="4593336" y="3584448"/>
          <a:ext cx="1944624" cy="1005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246888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3483864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/>
          <p:cNvGraphicFramePr/>
          <p:nvPr/>
        </p:nvGraphicFramePr>
        <p:xfrm>
          <a:off x="246888" y="6912864"/>
          <a:ext cx="6327648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validated growth levers are live; SAH / WD / PDO / OOS fields not yet field-reconciled for July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without field reconciliation treat stock-timing noise as demand signal and risk driving wrong actions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SAH, WD and OOS for August cycle; add PDO by state-chain; publish validated diagnostic by 31-Aug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| 31-Aug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MT share rose to 3.7%; Nielsen RMS MAT Jun-26 confirms demand pull — weighted distribution running ahead of value share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is the fastest-growing segment in MT — delay in expanding controlled pack pilots codes early-mover advantage to competitors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controlled pack pilots (top 3 formats) in DMart and Apollo; protect Face Wash hero EAN availability above 95% in top-100 stores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/ Apollo | Pilots by 15-Sep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offtake Jul-26: ₹36.06 Cr (+64.2% YoY vs Jul-25 ₹21.96 Cr); L3M May–Jul ₹114.86 Cr (+65.8% YoY); Reliance Paisa Vasool event drove pipeline draw-forward — same event expected mid-Aug; North + East hold 70.5% of recoverable gap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 sustaining at 82–84% conversion; concentrating intervention on North and East yields the highest recovery per rupee of commercial effort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Reliance Aug-26 offtake in first week (Paisa Vasool effect expected ~40% MoM vs Jul; per LY pattern); run weekly ZSM gap closure on DMart and non-Reliance exceptions from 22-Aug; Reliance EAN-store review after Aug read is confirmed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+ East ZSM | Weekly from 22-Aug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 NOTE: Central zone now includes MP (reclassified from North), CG (reclassified from West), and Vidarbha MH (reclassified from West) effective Aug-21 2026. Jul-26 compiled figures above reflect pre-correction data; refreshed numbers pending next compiled offtake sheet export.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₹8.28 Cr conversion; DMart West 94.2% is the best DMart rate nationally; Reliance West 54.5% is the only exception; Wellness Forever 134.8% is a timing signal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West’s 94.2% conversion proves EAN availability discipline works; Reliance West has 45% of billed inventory not selling through — recoverable with store-level action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to map Reliance West EAN-store failures; restore top-10 declining articles by 30-Aug; hold Wellness Forever loading until timing discrepancy is explained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West + NKAM Wellness | 30-Aug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MP + CG + Vidarbha — zone now fully mapped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re-mapped. MP (North→Central), CG (West→Central), Vidarbha MH (West→Central). Jul-26: Primary ₹2.62 Cr, Offtake ₹2.12 Cr (MP+CG; Vidarbha adds ~₹0.50 Cr from corrected raw source — compiled offtake sheet refresh pending).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was invisible in all leadership dashboards — MP reported under North, CG and Vidarbha under West. FY26 true Central offtake = ₹17.0 Cr (+68.9% YoY), fastest-growing zone in MT.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Central to set standalone FY27 zone targets (MP+CG+Vidarbha). NKAM to unlock 1,168 NPI EPD SKUs across Wellness, Apollo, Reliance and DMart in Vidarbha stores.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Central + NKAM (Wellness, Apollo, Reliance, DMart) · 5 Sep 2026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(compiled Jul-26) — Vidarbha correction adds ~₹0.50 Cr primary and offtake once compiled sheet refreshed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re-mapped (MP+CG+Vidarbha). Jul-26 figures above reflect pre-correction compiled source. FY26 true Central = ₹17.0 Cr (+68.9% YoY). FY27 4M true Central = ₹10.2 Cr. Once compiled offtake refreshed, Central will rank above East in zone size.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+ CG + Vidarbha MH now form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₹1.68 Cr (Jul-26) | CG ₹0.44 Cr | Vidarbha MH ~₹0.50 Cr (FY27 4M: ₹1.65 Cr). Zone now spans three geographic clusters — MP heartland, CG border towns, Vidarbha district stores.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Central as three clusters: MP (Bhopal+Indore), CG (Raipur), Vidarbha (Nagpur+Amravati). Assign sub-RKAM or area manager per cluster.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(Jul-26 compiled) | 1,168 Vidarbha NPI SKUs now attributed to Central (Wellness 501, Reliance 346, Apollo 240, DMart 81)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/>
          <p:cNvGraphicFramePr/>
          <p:nvPr/>
        </p:nvGraphicFramePr>
        <p:xfrm>
          <a:off x="246888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/>
          <p:cNvGraphicFramePr/>
          <p:nvPr/>
        </p:nvGraphicFramePr>
        <p:xfrm>
          <a:off x="3483864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/>
          <p:cNvGraphicFramePr/>
          <p:nvPr/>
        </p:nvGraphicFramePr>
        <p:xfrm>
          <a:off x="246888" y="3291840"/>
          <a:ext cx="3090672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/>
          <p:cNvGraphicFramePr/>
          <p:nvPr/>
        </p:nvGraphicFramePr>
        <p:xfrm>
          <a:off x="3447288" y="3291840"/>
          <a:ext cx="3127248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3840480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/>
          <p:cNvGraphicFramePr/>
          <p:nvPr/>
        </p:nvGraphicFramePr>
        <p:xfrm>
          <a:off x="246888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/>
          <p:cNvGraphicFramePr/>
          <p:nvPr/>
        </p:nvGraphicFramePr>
        <p:xfrm>
          <a:off x="3483864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National category trends: six months of offtake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MT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PICTURE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leads ME; TDC Face Wash is the breakout — +47.6% MoM, new record ₹7.13 Cr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MT National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MT National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MT National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MT National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MT National-specific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MT National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MT National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TDC Face Wash breakthrough — ₹7.13 Cr, +47.6% MoM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₹15.19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primary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₹11.03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brand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72.6%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₹4.16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Wash ₹7.13 Cr is the fastest-growing MT category — +217% since Feb. Ensure ≥21-day DOI before Aug-10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The Derma Co.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The Derma Co.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The Derma Co.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The Derma Co.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The Derma Co.-specific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The Derma Co.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The Derma Co.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August action register — seven commitments, Aug-31 deadline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61-90d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Chain conversion: Reliance at 47% drives ₹9.2 Cr pipeline risk — DMart improved to 92%, Apollo 74%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P&amp;O conversion | July 2026 | ₹ Cr | conversion % = offtake ÷ primary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primary ₹17.23 Cr — 46.8% converted; ₹9.17 Cr unsold. DMart improved to 92.2%; South-2 residual ₹1.19 Cr. Apollo 74.4%; ₹2.47 Cr gap. Lulu, H&amp;G, Wellness: offtake exceeds primary supply.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₹14.18 Cr billed-but-unsold pipeline risk (Reliance ₹9.17, Apollo ₹2.47, DMart ₹1.19, Metro ₹1.35). ₹1.27 Cr supply-constrained upside at Lulu, H&amp;G, and Wellness — demand established, primary not keeping pace.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no new loading; NKAM drives secondary sell-through in North &amp; East. Apollo: NKAM to push SKU-level sell-through; reconcile zone stock. Lulu/H&amp;G/Wellness: scale primary to match pull-through; avoid OOS. DMart: monitor South-2 DC fill.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NKAM (Reliance team). Apollo: NKAM (Apollo team). Lulu / H&amp;G / Wellness: NKAM + Supply Planning. DMart: NKAM. Review at next weekly MT call.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July 2026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₹9.17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46.8% — 53.2% unsold; ₹9.17 Cr pipeline risk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₹1.19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92.2% — improved; South-2 residual ₹1.19 Cr remains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74.4%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₹2.47 Cr pipeline gap; recover zone-level secondary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17.23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+9.17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46.8%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15.16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parity; South-2 residual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+1.35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−0.95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226%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supply; scale primary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−0.08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118%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150%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₹14.18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across four chains. Recoverable pool — 64.7% in Reliance, 17.4% in Apollo, 8.4% in DMart, 9.5% in Metro.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₹1.27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exceeds primary in Lulu, H&amp;G, and Wellness — demand established; primary supply needs scaling, not a mapping defect.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₹9.17 Cr pipeline at risk — attack North and East; convert billed inventory through hero-SKU visibility and replenishment. No new loading until secondary improves.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improved to 92.2%; residual ₹1.19 Cr concentrated in South-2. Review DC-to-store fill and top-SKU store availability in that region.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74.4% conversion with ₹2.47 Cr gap — push NKAM to drive secondary sell-through. Reconcile zone-level stock; national primary is healthy.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H&amp;G, Wellness: demand exceeds primary supply — offtake running ahead. Scale primary to match pull-through and avoid OOS. ₹1.27 Cr upside if supply keeps pace.</a:t>
            </a:r>
            <a:endParaRPr lang="en-US" sz="74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Reliance primary +183% YoY to ₹17.2 Cr — total MT primary doubled to ₹47.0 Cr; Lulu flat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primary: Jul'25 vs Jul'26 | ₹ Cr | allocated via distributor secondary weights | Jul'26 total ₹47.0 Cr vs Jul'25 ₹22.4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July 2026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+183%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₹6.10 Cr → ₹17.23 Cr; largest absolute increase in MT primary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+90%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₹8.00 Cr → ₹15.16 Cr; consistent growth across zones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+102%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₹4.77 Cr → ₹9.65 Cr; strong YoY on direct billing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PRIMARY — JUL'25 vs JUL'26 (₹ Cr)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₹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%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6.10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17.23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+11.13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YoY absolute gain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8.00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15.16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+7.16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across all zones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+109%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C&amp;C format;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−0.13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−15%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Dist. allocation shift; territory mix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4.77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9.65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+4.88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+102%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direct billing growth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TOTAL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22.43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47.02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+24.59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+110%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doubled YoY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SPLIT — JUL'26 PRIMARY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 ₹41.6 Cr | TDC ₹3.7 Cr | Others ₹1.7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leads at ₹41.6 Cr (+117% YoY); The Derma Co. ₹3.7 Cr (+83%); Jul'25 brand: ME ₹19.9 Cr, TDC ₹2.0 Cr, AQ ₹0.33 Cr, BBlunt ₹0.14 Cr.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YoY CALLOUTS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+183% Reliance | +102% Apollo | −15% Lulu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flat YoY (dist. territory allocation shift — demand strong at ₹1.70 Cr offtake). Wellness and H&amp;G primary minimal in Jul'25 — growth from near-zero base.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NOTE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primary_article_Jul_25.csv (MT channel only) + primary_article_Jul_26.csv. Distributor primary allocated to chains using Jul'26 offtake territory weights (aggregate across brands).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 direct primary: Reliance ₹5.86 Cr, DMart ₹3.73 Cr, Apollo ₹1.97 Cr, Metro ₹0.88 Cr. Distributor secondary (₹9.87 Cr) allocated via KOTTARAM/GV/Vanaja/Az weights.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 ₹22.43 Cr vs Jul'26 ₹47.02 Cr — +109.6% YoY. Key driver: Reliance direct POs more than doubled; Apollo Dist. allocation now fully mapped for the first time.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YoY decline is a territory-weight artifact — Jul'25 KOTTARAM/GV allocated more to Lulu (KER 76.8%/TN 8.6%) vs Jul'26 total. Offtake up ₹1.70 Cr confirms demand is real.</a:t>
            </a:r>
            <a:endParaRPr lang="en-US" sz="74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PI Chain-Wise Vidarbha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6858000" cy="104040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3"/>
          <p:cNvSpPr/>
          <p:nvPr/>
        </p:nvSpPr>
        <p:spPr>
          <a:xfrm>
            <a:off x="265176" y="182880"/>
            <a:ext cx="6327648" cy="54864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NPI Chain-Wise Analysis — Maharashtra Vidarbha → Central Zone</a:t>
            </a:r>
          </a:p>
        </p:txBody>
      </p:sp>
      <p:sp>
        <p:nvSpPr>
          <p:cNvPr id="4" name="Text 4"/>
          <p:cNvSpPr/>
          <p:nvPr/>
        </p:nvSpPr>
        <p:spPr>
          <a:xfrm>
            <a:off x="265176" y="750000"/>
            <a:ext cx="6062472" cy="237744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800" dirty="0">
                <a:solidFill>
                  <a:srgbClr val="B8D4CD"/>
                </a:solidFill>
              </a:rPr>
              <a:t>NPI Status by Chain | Vidarbha remapping applied | Source: MT_Chain_Wise_Article_Wise_NPI_for_TY</a:t>
            </a:r>
          </a:p>
        </p:txBody>
      </p:sp>
      <p:sp>
        <p:nvSpPr>
          <p:cNvPr id="5" name="Text 5"/>
          <p:cNvSpPr/>
          <p:nvPr/>
        </p:nvSpPr>
        <p:spPr>
          <a:xfrm>
            <a:off x="6378000" y="182880"/>
            <a:ext cx="365760" cy="219456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r"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28</a:t>
            </a:r>
          </a:p>
        </p:txBody>
      </p:sp>
      <p:sp>
        <p:nvSpPr>
          <p:cNvPr id="6" name="Text 6"/>
          <p:cNvSpPr/>
          <p:nvPr/>
        </p:nvSpPr>
        <p:spPr>
          <a:xfrm>
            <a:off x="5858000" y="840400"/>
            <a:ext cx="950976" cy="155448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r" marL="0" indent="0">
              <a:buNone/>
            </a:pPr>
            <a:r>
              <a:rPr lang="en-US" sz="800" dirty="0">
                <a:solidFill>
                  <a:srgbClr val="B8D4CD"/>
                </a:solidFill>
              </a:rPr>
              <a:t>Jul'26  ·  FY27  ·  MT</a:t>
            </a:r>
          </a:p>
        </p:txBody>
      </p:sp>
      <p:sp>
        <p:nvSpPr>
          <p:cNvPr id="7" name="Text 7"/>
          <p:cNvSpPr/>
          <p:nvPr/>
        </p:nvSpPr>
        <p:spPr>
          <a:xfrm>
            <a:off x="265176" y="1100400"/>
            <a:ext cx="6327648" cy="20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1000" b="1" dirty="0">
                <a:solidFill>
                  <a:srgbClr val="1F3B34"/>
                </a:solidFill>
              </a:rPr>
              <a:t>TOP CHAINS — NPI ARTICLE COUNT (ALL ZONES)</a:t>
            </a:r>
          </a:p>
        </p:txBody>
      </p:sp>
      <p:sp>
        <p:nvSpPr>
          <p:cNvPr id="8" name="Shape 8"/>
          <p:cNvSpPr/>
          <p:nvPr/>
        </p:nvSpPr>
        <p:spPr>
          <a:xfrm>
            <a:off x="265176" y="1310400"/>
            <a:ext cx="5100000" cy="256032"/>
          </a:xfrm>
          <a:prstGeom prst="rect">
            <a:avLst/>
          </a:prstGeom>
          <a:solidFill>
            <a:srgbClr val="1F3B3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9"/>
          <p:cNvSpPr/>
          <p:nvPr/>
        </p:nvSpPr>
        <p:spPr>
          <a:xfrm>
            <a:off x="265176" y="1310400"/>
            <a:ext cx="1800000" cy="256032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Chain</a:t>
            </a:r>
          </a:p>
        </p:txBody>
      </p:sp>
      <p:sp>
        <p:nvSpPr>
          <p:cNvPr id="10" name="Text 10"/>
          <p:cNvSpPr/>
          <p:nvPr/>
        </p:nvSpPr>
        <p:spPr>
          <a:xfrm>
            <a:off x="2065176" y="1310400"/>
            <a:ext cx="500000" cy="256032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Disc</a:t>
            </a:r>
          </a:p>
        </p:txBody>
      </p:sp>
      <p:sp>
        <p:nvSpPr>
          <p:cNvPr id="11" name="Text 11"/>
          <p:cNvSpPr/>
          <p:nvPr/>
        </p:nvSpPr>
        <p:spPr>
          <a:xfrm>
            <a:off x="2565176" y="1310400"/>
            <a:ext cx="600000" cy="256032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EPD</a:t>
            </a:r>
          </a:p>
        </p:txBody>
      </p:sp>
      <p:sp>
        <p:nvSpPr>
          <p:cNvPr id="12" name="Text 12"/>
          <p:cNvSpPr/>
          <p:nvPr/>
        </p:nvSpPr>
        <p:spPr>
          <a:xfrm>
            <a:off x="3165176" y="1310400"/>
            <a:ext cx="500000" cy="256032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NPD</a:t>
            </a:r>
          </a:p>
        </p:txBody>
      </p:sp>
      <p:sp>
        <p:nvSpPr>
          <p:cNvPr id="13" name="Text 13"/>
          <p:cNvSpPr/>
          <p:nvPr/>
        </p:nvSpPr>
        <p:spPr>
          <a:xfrm>
            <a:off x="3665176" y="1310400"/>
            <a:ext cx="500000" cy="256032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epd</a:t>
            </a:r>
          </a:p>
        </p:txBody>
      </p:sp>
      <p:sp>
        <p:nvSpPr>
          <p:cNvPr id="14" name="Text 14"/>
          <p:cNvSpPr/>
          <p:nvPr/>
        </p:nvSpPr>
        <p:spPr>
          <a:xfrm>
            <a:off x="4165176" y="1310400"/>
            <a:ext cx="500000" cy="256032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Freebie</a:t>
            </a:r>
          </a:p>
        </p:txBody>
      </p:sp>
      <p:sp>
        <p:nvSpPr>
          <p:cNvPr id="15" name="Text 15"/>
          <p:cNvSpPr/>
          <p:nvPr/>
        </p:nvSpPr>
        <p:spPr>
          <a:xfrm>
            <a:off x="4665176" y="1310400"/>
            <a:ext cx="700000" cy="256032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6" name="Shape 16"/>
          <p:cNvSpPr/>
          <p:nvPr/>
        </p:nvSpPr>
        <p:spPr>
          <a:xfrm>
            <a:off x="265176" y="1566432"/>
            <a:ext cx="5100000" cy="219456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7"/>
          <p:cNvSpPr/>
          <p:nvPr/>
        </p:nvSpPr>
        <p:spPr>
          <a:xfrm>
            <a:off x="265176" y="1566432"/>
            <a:ext cx="18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1A1A1A"/>
                </a:solidFill>
              </a:rPr>
              <a:t>Reliance</a:t>
            </a:r>
          </a:p>
        </p:txBody>
      </p:sp>
      <p:sp>
        <p:nvSpPr>
          <p:cNvPr id="18" name="Text 18"/>
          <p:cNvSpPr/>
          <p:nvPr/>
        </p:nvSpPr>
        <p:spPr>
          <a:xfrm>
            <a:off x="2065176" y="1566432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1,047</a:t>
            </a:r>
          </a:p>
        </p:txBody>
      </p:sp>
      <p:sp>
        <p:nvSpPr>
          <p:cNvPr id="19" name="Text 19"/>
          <p:cNvSpPr/>
          <p:nvPr/>
        </p:nvSpPr>
        <p:spPr>
          <a:xfrm>
            <a:off x="2565176" y="1566432"/>
            <a:ext cx="6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3,958</a:t>
            </a:r>
          </a:p>
        </p:txBody>
      </p:sp>
      <p:sp>
        <p:nvSpPr>
          <p:cNvPr id="20" name="Text 20"/>
          <p:cNvSpPr/>
          <p:nvPr/>
        </p:nvSpPr>
        <p:spPr>
          <a:xfrm>
            <a:off x="3165176" y="1566432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75</a:t>
            </a:r>
          </a:p>
        </p:txBody>
      </p:sp>
      <p:sp>
        <p:nvSpPr>
          <p:cNvPr id="21" name="Text 21"/>
          <p:cNvSpPr/>
          <p:nvPr/>
        </p:nvSpPr>
        <p:spPr>
          <a:xfrm>
            <a:off x="3665176" y="1566432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462</a:t>
            </a:r>
          </a:p>
        </p:txBody>
      </p:sp>
      <p:sp>
        <p:nvSpPr>
          <p:cNvPr id="22" name="Text 22"/>
          <p:cNvSpPr/>
          <p:nvPr/>
        </p:nvSpPr>
        <p:spPr>
          <a:xfrm>
            <a:off x="4165176" y="1566432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40</a:t>
            </a:r>
          </a:p>
        </p:txBody>
      </p:sp>
      <p:sp>
        <p:nvSpPr>
          <p:cNvPr id="23" name="Text 23"/>
          <p:cNvSpPr/>
          <p:nvPr/>
        </p:nvSpPr>
        <p:spPr>
          <a:xfrm>
            <a:off x="4665176" y="1566432"/>
            <a:ext cx="7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E96014"/>
                </a:solidFill>
              </a:rPr>
              <a:t>5,582</a:t>
            </a:r>
          </a:p>
        </p:txBody>
      </p:sp>
      <p:sp>
        <p:nvSpPr>
          <p:cNvPr id="24" name="Shape 24"/>
          <p:cNvSpPr/>
          <p:nvPr/>
        </p:nvSpPr>
        <p:spPr>
          <a:xfrm>
            <a:off x="265176" y="1785888"/>
            <a:ext cx="510000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5"/>
          <p:cNvSpPr/>
          <p:nvPr/>
        </p:nvSpPr>
        <p:spPr>
          <a:xfrm>
            <a:off x="265176" y="1785888"/>
            <a:ext cx="18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1A1A1A"/>
                </a:solidFill>
              </a:rPr>
              <a:t>Apollo</a:t>
            </a:r>
          </a:p>
        </p:txBody>
      </p:sp>
      <p:sp>
        <p:nvSpPr>
          <p:cNvPr id="26" name="Text 26"/>
          <p:cNvSpPr/>
          <p:nvPr/>
        </p:nvSpPr>
        <p:spPr>
          <a:xfrm>
            <a:off x="2065176" y="1785888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234</a:t>
            </a:r>
          </a:p>
        </p:txBody>
      </p:sp>
      <p:sp>
        <p:nvSpPr>
          <p:cNvPr id="27" name="Text 27"/>
          <p:cNvSpPr/>
          <p:nvPr/>
        </p:nvSpPr>
        <p:spPr>
          <a:xfrm>
            <a:off x="2565176" y="1785888"/>
            <a:ext cx="6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3,442</a:t>
            </a:r>
          </a:p>
        </p:txBody>
      </p:sp>
      <p:sp>
        <p:nvSpPr>
          <p:cNvPr id="28" name="Text 28"/>
          <p:cNvSpPr/>
          <p:nvPr/>
        </p:nvSpPr>
        <p:spPr>
          <a:xfrm>
            <a:off x="3165176" y="1785888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185</a:t>
            </a:r>
          </a:p>
        </p:txBody>
      </p:sp>
      <p:sp>
        <p:nvSpPr>
          <p:cNvPr id="29" name="Text 29"/>
          <p:cNvSpPr/>
          <p:nvPr/>
        </p:nvSpPr>
        <p:spPr>
          <a:xfrm>
            <a:off x="3665176" y="1785888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369</a:t>
            </a:r>
          </a:p>
        </p:txBody>
      </p:sp>
      <p:sp>
        <p:nvSpPr>
          <p:cNvPr id="30" name="Text 30"/>
          <p:cNvSpPr/>
          <p:nvPr/>
        </p:nvSpPr>
        <p:spPr>
          <a:xfrm>
            <a:off x="4165176" y="1785888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13</a:t>
            </a:r>
          </a:p>
        </p:txBody>
      </p:sp>
      <p:sp>
        <p:nvSpPr>
          <p:cNvPr id="31" name="Text 31"/>
          <p:cNvSpPr/>
          <p:nvPr/>
        </p:nvSpPr>
        <p:spPr>
          <a:xfrm>
            <a:off x="4665176" y="1785888"/>
            <a:ext cx="7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E96014"/>
                </a:solidFill>
              </a:rPr>
              <a:t>4,243</a:t>
            </a:r>
          </a:p>
        </p:txBody>
      </p:sp>
      <p:sp>
        <p:nvSpPr>
          <p:cNvPr id="32" name="Shape 32"/>
          <p:cNvSpPr/>
          <p:nvPr/>
        </p:nvSpPr>
        <p:spPr>
          <a:xfrm>
            <a:off x="265176" y="2005344"/>
            <a:ext cx="5100000" cy="219456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3"/>
          <p:cNvSpPr/>
          <p:nvPr/>
        </p:nvSpPr>
        <p:spPr>
          <a:xfrm>
            <a:off x="265176" y="2005344"/>
            <a:ext cx="18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1A1A1A"/>
                </a:solidFill>
              </a:rPr>
              <a:t>H&amp;G</a:t>
            </a:r>
          </a:p>
        </p:txBody>
      </p:sp>
      <p:sp>
        <p:nvSpPr>
          <p:cNvPr id="34" name="Text 34"/>
          <p:cNvSpPr/>
          <p:nvPr/>
        </p:nvSpPr>
        <p:spPr>
          <a:xfrm>
            <a:off x="2065176" y="2005344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689</a:t>
            </a:r>
          </a:p>
        </p:txBody>
      </p:sp>
      <p:sp>
        <p:nvSpPr>
          <p:cNvPr id="35" name="Text 35"/>
          <p:cNvSpPr/>
          <p:nvPr/>
        </p:nvSpPr>
        <p:spPr>
          <a:xfrm>
            <a:off x="2565176" y="2005344"/>
            <a:ext cx="6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1,913</a:t>
            </a:r>
          </a:p>
        </p:txBody>
      </p:sp>
      <p:sp>
        <p:nvSpPr>
          <p:cNvPr id="36" name="Text 36"/>
          <p:cNvSpPr/>
          <p:nvPr/>
        </p:nvSpPr>
        <p:spPr>
          <a:xfrm>
            <a:off x="3165176" y="2005344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37" name="Text 37"/>
          <p:cNvSpPr/>
          <p:nvPr/>
        </p:nvSpPr>
        <p:spPr>
          <a:xfrm>
            <a:off x="3665176" y="2005344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197</a:t>
            </a:r>
          </a:p>
        </p:txBody>
      </p:sp>
      <p:sp>
        <p:nvSpPr>
          <p:cNvPr id="38" name="Text 38"/>
          <p:cNvSpPr/>
          <p:nvPr/>
        </p:nvSpPr>
        <p:spPr>
          <a:xfrm>
            <a:off x="4165176" y="2005344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39" name="Text 39"/>
          <p:cNvSpPr/>
          <p:nvPr/>
        </p:nvSpPr>
        <p:spPr>
          <a:xfrm>
            <a:off x="4665176" y="2005344"/>
            <a:ext cx="7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E96014"/>
                </a:solidFill>
              </a:rPr>
              <a:t>2,801</a:t>
            </a:r>
          </a:p>
        </p:txBody>
      </p:sp>
      <p:sp>
        <p:nvSpPr>
          <p:cNvPr id="40" name="Shape 40"/>
          <p:cNvSpPr/>
          <p:nvPr/>
        </p:nvSpPr>
        <p:spPr>
          <a:xfrm>
            <a:off x="265176" y="2224800"/>
            <a:ext cx="510000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41"/>
          <p:cNvSpPr/>
          <p:nvPr/>
        </p:nvSpPr>
        <p:spPr>
          <a:xfrm>
            <a:off x="265176" y="2224800"/>
            <a:ext cx="18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1A1A1A"/>
                </a:solidFill>
              </a:rPr>
              <a:t>H&amp;B</a:t>
            </a:r>
          </a:p>
        </p:txBody>
      </p:sp>
      <p:sp>
        <p:nvSpPr>
          <p:cNvPr id="42" name="Text 42"/>
          <p:cNvSpPr/>
          <p:nvPr/>
        </p:nvSpPr>
        <p:spPr>
          <a:xfrm>
            <a:off x="2065176" y="2224800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544</a:t>
            </a:r>
          </a:p>
        </p:txBody>
      </p:sp>
      <p:sp>
        <p:nvSpPr>
          <p:cNvPr id="43" name="Text 43"/>
          <p:cNvSpPr/>
          <p:nvPr/>
        </p:nvSpPr>
        <p:spPr>
          <a:xfrm>
            <a:off x="2565176" y="2224800"/>
            <a:ext cx="6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1,104</a:t>
            </a:r>
          </a:p>
        </p:txBody>
      </p:sp>
      <p:sp>
        <p:nvSpPr>
          <p:cNvPr id="44" name="Text 44"/>
          <p:cNvSpPr/>
          <p:nvPr/>
        </p:nvSpPr>
        <p:spPr>
          <a:xfrm>
            <a:off x="3165176" y="2224800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0</a:t>
            </a:r>
          </a:p>
        </p:txBody>
      </p:sp>
      <p:sp>
        <p:nvSpPr>
          <p:cNvPr id="45" name="Text 45"/>
          <p:cNvSpPr/>
          <p:nvPr/>
        </p:nvSpPr>
        <p:spPr>
          <a:xfrm>
            <a:off x="3665176" y="2224800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62</a:t>
            </a:r>
          </a:p>
        </p:txBody>
      </p:sp>
      <p:sp>
        <p:nvSpPr>
          <p:cNvPr id="46" name="Text 46"/>
          <p:cNvSpPr/>
          <p:nvPr/>
        </p:nvSpPr>
        <p:spPr>
          <a:xfrm>
            <a:off x="4165176" y="2224800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0</a:t>
            </a:r>
          </a:p>
        </p:txBody>
      </p:sp>
      <p:sp>
        <p:nvSpPr>
          <p:cNvPr id="47" name="Text 47"/>
          <p:cNvSpPr/>
          <p:nvPr/>
        </p:nvSpPr>
        <p:spPr>
          <a:xfrm>
            <a:off x="4665176" y="2224800"/>
            <a:ext cx="7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E96014"/>
                </a:solidFill>
              </a:rPr>
              <a:t>1,710</a:t>
            </a:r>
          </a:p>
        </p:txBody>
      </p:sp>
      <p:sp>
        <p:nvSpPr>
          <p:cNvPr id="48" name="Shape 48"/>
          <p:cNvSpPr/>
          <p:nvPr/>
        </p:nvSpPr>
        <p:spPr>
          <a:xfrm>
            <a:off x="265176" y="2444256"/>
            <a:ext cx="5100000" cy="219456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9"/>
          <p:cNvSpPr/>
          <p:nvPr/>
        </p:nvSpPr>
        <p:spPr>
          <a:xfrm>
            <a:off x="265176" y="2444256"/>
            <a:ext cx="18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1A1A1A"/>
                </a:solidFill>
              </a:rPr>
              <a:t>Wellness Forever</a:t>
            </a:r>
          </a:p>
        </p:txBody>
      </p:sp>
      <p:sp>
        <p:nvSpPr>
          <p:cNvPr id="50" name="Text 50"/>
          <p:cNvSpPr/>
          <p:nvPr/>
        </p:nvSpPr>
        <p:spPr>
          <a:xfrm>
            <a:off x="2065176" y="2444256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481</a:t>
            </a:r>
          </a:p>
        </p:txBody>
      </p:sp>
      <p:sp>
        <p:nvSpPr>
          <p:cNvPr id="51" name="Text 51"/>
          <p:cNvSpPr/>
          <p:nvPr/>
        </p:nvSpPr>
        <p:spPr>
          <a:xfrm>
            <a:off x="2565176" y="2444256"/>
            <a:ext cx="6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884</a:t>
            </a:r>
          </a:p>
        </p:txBody>
      </p:sp>
      <p:sp>
        <p:nvSpPr>
          <p:cNvPr id="52" name="Text 52"/>
          <p:cNvSpPr/>
          <p:nvPr/>
        </p:nvSpPr>
        <p:spPr>
          <a:xfrm>
            <a:off x="3165176" y="2444256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21</a:t>
            </a:r>
          </a:p>
        </p:txBody>
      </p:sp>
      <p:sp>
        <p:nvSpPr>
          <p:cNvPr id="53" name="Text 53"/>
          <p:cNvSpPr/>
          <p:nvPr/>
        </p:nvSpPr>
        <p:spPr>
          <a:xfrm>
            <a:off x="3665176" y="2444256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98</a:t>
            </a:r>
          </a:p>
        </p:txBody>
      </p:sp>
      <p:sp>
        <p:nvSpPr>
          <p:cNvPr id="54" name="Text 54"/>
          <p:cNvSpPr/>
          <p:nvPr/>
        </p:nvSpPr>
        <p:spPr>
          <a:xfrm>
            <a:off x="4165176" y="2444256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55" name="Text 55"/>
          <p:cNvSpPr/>
          <p:nvPr/>
        </p:nvSpPr>
        <p:spPr>
          <a:xfrm>
            <a:off x="4665176" y="2444256"/>
            <a:ext cx="7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E96014"/>
                </a:solidFill>
              </a:rPr>
              <a:t>1,487</a:t>
            </a:r>
          </a:p>
        </p:txBody>
      </p:sp>
      <p:sp>
        <p:nvSpPr>
          <p:cNvPr id="56" name="Shape 56"/>
          <p:cNvSpPr/>
          <p:nvPr/>
        </p:nvSpPr>
        <p:spPr>
          <a:xfrm>
            <a:off x="265176" y="2663712"/>
            <a:ext cx="510000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7"/>
          <p:cNvSpPr/>
          <p:nvPr/>
        </p:nvSpPr>
        <p:spPr>
          <a:xfrm>
            <a:off x="265176" y="2663712"/>
            <a:ext cx="18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1A1A1A"/>
                </a:solidFill>
              </a:rPr>
              <a:t>Metro Cnc</a:t>
            </a:r>
          </a:p>
        </p:txBody>
      </p:sp>
      <p:sp>
        <p:nvSpPr>
          <p:cNvPr id="58" name="Text 58"/>
          <p:cNvSpPr/>
          <p:nvPr/>
        </p:nvSpPr>
        <p:spPr>
          <a:xfrm>
            <a:off x="2065176" y="2663712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182</a:t>
            </a:r>
          </a:p>
        </p:txBody>
      </p:sp>
      <p:sp>
        <p:nvSpPr>
          <p:cNvPr id="59" name="Text 59"/>
          <p:cNvSpPr/>
          <p:nvPr/>
        </p:nvSpPr>
        <p:spPr>
          <a:xfrm>
            <a:off x="2565176" y="2663712"/>
            <a:ext cx="6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860</a:t>
            </a:r>
          </a:p>
        </p:txBody>
      </p:sp>
      <p:sp>
        <p:nvSpPr>
          <p:cNvPr id="60" name="Text 60"/>
          <p:cNvSpPr/>
          <p:nvPr/>
        </p:nvSpPr>
        <p:spPr>
          <a:xfrm>
            <a:off x="3165176" y="2663712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251</a:t>
            </a:r>
          </a:p>
        </p:txBody>
      </p:sp>
      <p:sp>
        <p:nvSpPr>
          <p:cNvPr id="61" name="Text 61"/>
          <p:cNvSpPr/>
          <p:nvPr/>
        </p:nvSpPr>
        <p:spPr>
          <a:xfrm>
            <a:off x="3665176" y="2663712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55</a:t>
            </a:r>
          </a:p>
        </p:txBody>
      </p:sp>
      <p:sp>
        <p:nvSpPr>
          <p:cNvPr id="62" name="Text 62"/>
          <p:cNvSpPr/>
          <p:nvPr/>
        </p:nvSpPr>
        <p:spPr>
          <a:xfrm>
            <a:off x="4165176" y="2663712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0</a:t>
            </a:r>
          </a:p>
        </p:txBody>
      </p:sp>
      <p:sp>
        <p:nvSpPr>
          <p:cNvPr id="63" name="Text 63"/>
          <p:cNvSpPr/>
          <p:nvPr/>
        </p:nvSpPr>
        <p:spPr>
          <a:xfrm>
            <a:off x="4665176" y="2663712"/>
            <a:ext cx="7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E96014"/>
                </a:solidFill>
              </a:rPr>
              <a:t>1,348</a:t>
            </a:r>
          </a:p>
        </p:txBody>
      </p:sp>
      <p:sp>
        <p:nvSpPr>
          <p:cNvPr id="64" name="Shape 64"/>
          <p:cNvSpPr/>
          <p:nvPr/>
        </p:nvSpPr>
        <p:spPr>
          <a:xfrm>
            <a:off x="265176" y="2883168"/>
            <a:ext cx="5100000" cy="219456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5"/>
          <p:cNvSpPr/>
          <p:nvPr/>
        </p:nvSpPr>
        <p:spPr>
          <a:xfrm>
            <a:off x="265176" y="2883168"/>
            <a:ext cx="18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1A1A1A"/>
                </a:solidFill>
              </a:rPr>
              <a:t>Lulu</a:t>
            </a:r>
          </a:p>
        </p:txBody>
      </p:sp>
      <p:sp>
        <p:nvSpPr>
          <p:cNvPr id="66" name="Text 66"/>
          <p:cNvSpPr/>
          <p:nvPr/>
        </p:nvSpPr>
        <p:spPr>
          <a:xfrm>
            <a:off x="2065176" y="2883168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117</a:t>
            </a:r>
          </a:p>
        </p:txBody>
      </p:sp>
      <p:sp>
        <p:nvSpPr>
          <p:cNvPr id="67" name="Text 67"/>
          <p:cNvSpPr/>
          <p:nvPr/>
        </p:nvSpPr>
        <p:spPr>
          <a:xfrm>
            <a:off x="2565176" y="2883168"/>
            <a:ext cx="6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640</a:t>
            </a:r>
          </a:p>
        </p:txBody>
      </p:sp>
      <p:sp>
        <p:nvSpPr>
          <p:cNvPr id="68" name="Text 68"/>
          <p:cNvSpPr/>
          <p:nvPr/>
        </p:nvSpPr>
        <p:spPr>
          <a:xfrm>
            <a:off x="3165176" y="2883168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137</a:t>
            </a:r>
          </a:p>
        </p:txBody>
      </p:sp>
      <p:sp>
        <p:nvSpPr>
          <p:cNvPr id="69" name="Text 69"/>
          <p:cNvSpPr/>
          <p:nvPr/>
        </p:nvSpPr>
        <p:spPr>
          <a:xfrm>
            <a:off x="3665176" y="2883168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147</a:t>
            </a:r>
          </a:p>
        </p:txBody>
      </p:sp>
      <p:sp>
        <p:nvSpPr>
          <p:cNvPr id="70" name="Text 70"/>
          <p:cNvSpPr/>
          <p:nvPr/>
        </p:nvSpPr>
        <p:spPr>
          <a:xfrm>
            <a:off x="4165176" y="2883168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0</a:t>
            </a:r>
          </a:p>
        </p:txBody>
      </p:sp>
      <p:sp>
        <p:nvSpPr>
          <p:cNvPr id="71" name="Text 71"/>
          <p:cNvSpPr/>
          <p:nvPr/>
        </p:nvSpPr>
        <p:spPr>
          <a:xfrm>
            <a:off x="4665176" y="2883168"/>
            <a:ext cx="7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E96014"/>
                </a:solidFill>
              </a:rPr>
              <a:t>1,041</a:t>
            </a:r>
          </a:p>
        </p:txBody>
      </p:sp>
      <p:sp>
        <p:nvSpPr>
          <p:cNvPr id="72" name="Shape 72"/>
          <p:cNvSpPr/>
          <p:nvPr/>
        </p:nvSpPr>
        <p:spPr>
          <a:xfrm>
            <a:off x="265176" y="3102624"/>
            <a:ext cx="510000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3"/>
          <p:cNvSpPr/>
          <p:nvPr/>
        </p:nvSpPr>
        <p:spPr>
          <a:xfrm>
            <a:off x="265176" y="3102624"/>
            <a:ext cx="18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1A1A1A"/>
                </a:solidFill>
              </a:rPr>
              <a:t>Dmart</a:t>
            </a:r>
          </a:p>
        </p:txBody>
      </p:sp>
      <p:sp>
        <p:nvSpPr>
          <p:cNvPr id="74" name="Text 74"/>
          <p:cNvSpPr/>
          <p:nvPr/>
        </p:nvSpPr>
        <p:spPr>
          <a:xfrm>
            <a:off x="2065176" y="3102624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111</a:t>
            </a:r>
          </a:p>
        </p:txBody>
      </p:sp>
      <p:sp>
        <p:nvSpPr>
          <p:cNvPr id="75" name="Text 75"/>
          <p:cNvSpPr/>
          <p:nvPr/>
        </p:nvSpPr>
        <p:spPr>
          <a:xfrm>
            <a:off x="2565176" y="3102624"/>
            <a:ext cx="6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643</a:t>
            </a:r>
          </a:p>
        </p:txBody>
      </p:sp>
      <p:sp>
        <p:nvSpPr>
          <p:cNvPr id="76" name="Text 76"/>
          <p:cNvSpPr/>
          <p:nvPr/>
        </p:nvSpPr>
        <p:spPr>
          <a:xfrm>
            <a:off x="3165176" y="3102624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93</a:t>
            </a:r>
          </a:p>
        </p:txBody>
      </p:sp>
      <p:sp>
        <p:nvSpPr>
          <p:cNvPr id="77" name="Text 77"/>
          <p:cNvSpPr/>
          <p:nvPr/>
        </p:nvSpPr>
        <p:spPr>
          <a:xfrm>
            <a:off x="3665176" y="3102624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78" name="Text 78"/>
          <p:cNvSpPr/>
          <p:nvPr/>
        </p:nvSpPr>
        <p:spPr>
          <a:xfrm>
            <a:off x="4165176" y="3102624"/>
            <a:ext cx="5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dirty="0">
                <a:solidFill>
                  <a:srgbClr val="555555"/>
                </a:solidFill>
              </a:rPr>
              <a:t>0</a:t>
            </a:r>
          </a:p>
        </p:txBody>
      </p:sp>
      <p:sp>
        <p:nvSpPr>
          <p:cNvPr id="79" name="Text 79"/>
          <p:cNvSpPr/>
          <p:nvPr/>
        </p:nvSpPr>
        <p:spPr>
          <a:xfrm>
            <a:off x="4665176" y="3102624"/>
            <a:ext cx="700000" cy="219456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r" marL="0" indent="0">
              <a:buNone/>
            </a:pPr>
            <a:r>
              <a:rPr lang="en-US" sz="850" b="1" dirty="0">
                <a:solidFill>
                  <a:srgbClr val="E96014"/>
                </a:solidFill>
              </a:rPr>
              <a:t>848</a:t>
            </a:r>
          </a:p>
        </p:txBody>
      </p:sp>
      <p:sp>
        <p:nvSpPr>
          <p:cNvPr id="80" name="Text 80"/>
          <p:cNvSpPr/>
          <p:nvPr/>
        </p:nvSpPr>
        <p:spPr>
          <a:xfrm>
            <a:off x="265176" y="3362080"/>
            <a:ext cx="6327648" cy="175000"/>
          </a:xfrm>
          <a:prstGeom prst="rect">
            <a:avLst/>
          </a:prstGeom>
          <a:noFill/>
          <a:ln/>
        </p:spPr>
        <p:txBody>
          <a:bodyPr wrap="False" lIns="91440" tIns="45720" rIns="91440" bIns="45720" rtlCol="0" anchor="ctr"/>
          <a:lstStyle/>
          <a:p>
            <a:pPr algn="l" marL="0" indent="0">
              <a:buNone/>
            </a:pPr>
            <a:r>
              <a:rPr lang="en-US" sz="700" dirty="0">
                <a:solidFill>
                  <a:srgbClr val="888888"/>
                </a:solidFill>
              </a:rPr>
              <a:t>Disc = Discontinued · EPD/epd = Extended Phase Discontinued · NPD = New Product · Freebie = Promotional</a:t>
            </a:r>
          </a:p>
        </p:txBody>
      </p:sp>
      <p:sp>
        <p:nvSpPr>
          <p:cNvPr id="81" name="Shape 81"/>
          <p:cNvSpPr/>
          <p:nvPr/>
        </p:nvSpPr>
        <p:spPr>
          <a:xfrm>
            <a:off x="265176" y="3592080"/>
            <a:ext cx="6327648" cy="200000"/>
          </a:xfrm>
          <a:prstGeom prst="rect">
            <a:avLst/>
          </a:prstGeom>
          <a:solidFill>
            <a:srgbClr val="1F3B3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2"/>
          <p:cNvSpPr/>
          <p:nvPr/>
        </p:nvSpPr>
        <p:spPr>
          <a:xfrm>
            <a:off x="265176" y="3592080"/>
            <a:ext cx="6327648" cy="200000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MAHARASHTRA → CENTRAL ZONE (VIDARBHA) REMAPPING  |  1,168 Articles Reclassified from WEST</a:t>
            </a:r>
          </a:p>
        </p:txBody>
      </p:sp>
      <p:sp>
        <p:nvSpPr>
          <p:cNvPr id="83" name="Shape 83"/>
          <p:cNvSpPr/>
          <p:nvPr/>
        </p:nvSpPr>
        <p:spPr>
          <a:xfrm>
            <a:off x="265176" y="3792080"/>
            <a:ext cx="1561912" cy="6000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4"/>
          <p:cNvSpPr/>
          <p:nvPr/>
        </p:nvSpPr>
        <p:spPr>
          <a:xfrm>
            <a:off x="265176" y="3832080"/>
            <a:ext cx="1561912" cy="16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Wellness Forever</a:t>
            </a:r>
          </a:p>
        </p:txBody>
      </p:sp>
      <p:sp>
        <p:nvSpPr>
          <p:cNvPr id="85" name="Text 85"/>
          <p:cNvSpPr/>
          <p:nvPr/>
        </p:nvSpPr>
        <p:spPr>
          <a:xfrm>
            <a:off x="265176" y="4002080"/>
            <a:ext cx="1561912" cy="25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501</a:t>
            </a:r>
          </a:p>
        </p:txBody>
      </p:sp>
      <p:sp>
        <p:nvSpPr>
          <p:cNvPr id="86" name="Text 86"/>
          <p:cNvSpPr/>
          <p:nvPr/>
        </p:nvSpPr>
        <p:spPr>
          <a:xfrm>
            <a:off x="265176" y="4252080"/>
            <a:ext cx="1561912" cy="12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650" dirty="0">
                <a:solidFill>
                  <a:srgbClr val="CCDDDD"/>
                </a:solidFill>
              </a:rPr>
              <a:t>EPD 260 · Disc 205 · NPD 7</a:t>
            </a:r>
          </a:p>
        </p:txBody>
      </p:sp>
      <p:sp>
        <p:nvSpPr>
          <p:cNvPr id="87" name="Shape 87"/>
          <p:cNvSpPr/>
          <p:nvPr/>
        </p:nvSpPr>
        <p:spPr>
          <a:xfrm>
            <a:off x="1847088" y="3792080"/>
            <a:ext cx="1561912" cy="60000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8"/>
          <p:cNvSpPr/>
          <p:nvPr/>
        </p:nvSpPr>
        <p:spPr>
          <a:xfrm>
            <a:off x="1847088" y="3832080"/>
            <a:ext cx="1561912" cy="16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Reliance</a:t>
            </a:r>
          </a:p>
        </p:txBody>
      </p:sp>
      <p:sp>
        <p:nvSpPr>
          <p:cNvPr id="89" name="Text 89"/>
          <p:cNvSpPr/>
          <p:nvPr/>
        </p:nvSpPr>
        <p:spPr>
          <a:xfrm>
            <a:off x="1847088" y="4002080"/>
            <a:ext cx="1561912" cy="25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346</a:t>
            </a:r>
          </a:p>
        </p:txBody>
      </p:sp>
      <p:sp>
        <p:nvSpPr>
          <p:cNvPr id="90" name="Text 90"/>
          <p:cNvSpPr/>
          <p:nvPr/>
        </p:nvSpPr>
        <p:spPr>
          <a:xfrm>
            <a:off x="1847088" y="4252080"/>
            <a:ext cx="1561912" cy="12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650" dirty="0">
                <a:solidFill>
                  <a:srgbClr val="CCDDDD"/>
                </a:solidFill>
              </a:rPr>
              <a:t>EPD 238 · Disc 80 · NPD 3</a:t>
            </a:r>
          </a:p>
        </p:txBody>
      </p:sp>
      <p:sp>
        <p:nvSpPr>
          <p:cNvPr id="91" name="Shape 91"/>
          <p:cNvSpPr/>
          <p:nvPr/>
        </p:nvSpPr>
        <p:spPr>
          <a:xfrm>
            <a:off x="3429000" y="3792080"/>
            <a:ext cx="1561912" cy="6000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2"/>
          <p:cNvSpPr/>
          <p:nvPr/>
        </p:nvSpPr>
        <p:spPr>
          <a:xfrm>
            <a:off x="3429000" y="3832080"/>
            <a:ext cx="1561912" cy="16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Apollo</a:t>
            </a:r>
          </a:p>
        </p:txBody>
      </p:sp>
      <p:sp>
        <p:nvSpPr>
          <p:cNvPr id="93" name="Text 93"/>
          <p:cNvSpPr/>
          <p:nvPr/>
        </p:nvSpPr>
        <p:spPr>
          <a:xfrm>
            <a:off x="3429000" y="4002080"/>
            <a:ext cx="1561912" cy="25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240</a:t>
            </a:r>
          </a:p>
        </p:txBody>
      </p:sp>
      <p:sp>
        <p:nvSpPr>
          <p:cNvPr id="94" name="Text 94"/>
          <p:cNvSpPr/>
          <p:nvPr/>
        </p:nvSpPr>
        <p:spPr>
          <a:xfrm>
            <a:off x="3429000" y="4252080"/>
            <a:ext cx="1561912" cy="12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650" dirty="0">
                <a:solidFill>
                  <a:srgbClr val="CCDDDD"/>
                </a:solidFill>
              </a:rPr>
              <a:t>EPD 192 · Disc 14 · NPD 10</a:t>
            </a:r>
          </a:p>
        </p:txBody>
      </p:sp>
      <p:sp>
        <p:nvSpPr>
          <p:cNvPr id="95" name="Shape 95"/>
          <p:cNvSpPr/>
          <p:nvPr/>
        </p:nvSpPr>
        <p:spPr>
          <a:xfrm>
            <a:off x="5010912" y="3792080"/>
            <a:ext cx="1561912" cy="600000"/>
          </a:xfrm>
          <a:prstGeom prst="rect">
            <a:avLst/>
          </a:prstGeom>
          <a:solidFill>
            <a:srgbClr val="E9601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6"/>
          <p:cNvSpPr/>
          <p:nvPr/>
        </p:nvSpPr>
        <p:spPr>
          <a:xfrm>
            <a:off x="5010912" y="3832080"/>
            <a:ext cx="1561912" cy="16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Dmart</a:t>
            </a:r>
          </a:p>
        </p:txBody>
      </p:sp>
      <p:sp>
        <p:nvSpPr>
          <p:cNvPr id="97" name="Text 97"/>
          <p:cNvSpPr/>
          <p:nvPr/>
        </p:nvSpPr>
        <p:spPr>
          <a:xfrm>
            <a:off x="5010912" y="4002080"/>
            <a:ext cx="1561912" cy="25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81</a:t>
            </a:r>
          </a:p>
        </p:txBody>
      </p:sp>
      <p:sp>
        <p:nvSpPr>
          <p:cNvPr id="98" name="Text 98"/>
          <p:cNvSpPr/>
          <p:nvPr/>
        </p:nvSpPr>
        <p:spPr>
          <a:xfrm>
            <a:off x="5010912" y="4252080"/>
            <a:ext cx="1561912" cy="12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c" marL="0" indent="0">
              <a:buNone/>
            </a:pPr>
            <a:r>
              <a:rPr lang="en-US" sz="650" dirty="0">
                <a:solidFill>
                  <a:srgbClr val="CCDDDD"/>
                </a:solidFill>
              </a:rPr>
              <a:t>EPD 56 · Disc 17 · NPD 7</a:t>
            </a:r>
          </a:p>
        </p:txBody>
      </p:sp>
      <p:sp>
        <p:nvSpPr>
          <p:cNvPr id="99" name="Shape 99"/>
          <p:cNvSpPr/>
          <p:nvPr/>
        </p:nvSpPr>
        <p:spPr>
          <a:xfrm>
            <a:off x="265176" y="4432080"/>
            <a:ext cx="6327648" cy="220000"/>
          </a:xfrm>
          <a:prstGeom prst="rect">
            <a:avLst/>
          </a:prstGeom>
          <a:solidFill>
            <a:srgbClr val="E9601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100"/>
          <p:cNvSpPr/>
          <p:nvPr/>
        </p:nvSpPr>
        <p:spPr>
          <a:xfrm>
            <a:off x="265176" y="4432080"/>
            <a:ext cx="6327648" cy="220000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c"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TOTAL VIDARBHA RECLASSIFIED: 1,168 articles across 4 chains (Wellness Forever + Reliance + Apollo + DMart)</a:t>
            </a:r>
          </a:p>
        </p:txBody>
      </p:sp>
      <p:sp>
        <p:nvSpPr>
          <p:cNvPr id="101" name="Text 101"/>
          <p:cNvSpPr/>
          <p:nvPr/>
        </p:nvSpPr>
        <p:spPr>
          <a:xfrm>
            <a:off x="265176" y="4702080"/>
            <a:ext cx="6327648" cy="20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1000" b="1" dirty="0">
                <a:solidFill>
                  <a:srgbClr val="1F3B34"/>
                </a:solidFill>
              </a:rPr>
              <a:t>ZONE-WISE NPI ARTICLE TOTALS (REVISED — POST VIDARBHA REMAPPING)</a:t>
            </a:r>
          </a:p>
        </p:txBody>
      </p:sp>
      <p:sp>
        <p:nvSpPr>
          <p:cNvPr id="102" name="Text 102"/>
          <p:cNvSpPr/>
          <p:nvPr/>
        </p:nvSpPr>
        <p:spPr>
          <a:xfrm>
            <a:off x="265176" y="492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SOUTH-1</a:t>
            </a:r>
          </a:p>
        </p:txBody>
      </p:sp>
      <p:sp>
        <p:nvSpPr>
          <p:cNvPr id="103" name="Shape 103"/>
          <p:cNvSpPr/>
          <p:nvPr/>
        </p:nvSpPr>
        <p:spPr>
          <a:xfrm>
            <a:off x="785176" y="4962080"/>
            <a:ext cx="2700000" cy="1600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4"/>
          <p:cNvSpPr/>
          <p:nvPr/>
        </p:nvSpPr>
        <p:spPr>
          <a:xfrm>
            <a:off x="3515176" y="492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3,934</a:t>
            </a:r>
          </a:p>
        </p:txBody>
      </p:sp>
      <p:sp>
        <p:nvSpPr>
          <p:cNvPr id="105" name="Text 105"/>
          <p:cNvSpPr/>
          <p:nvPr/>
        </p:nvSpPr>
        <p:spPr>
          <a:xfrm>
            <a:off x="265176" y="520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NORTH</a:t>
            </a:r>
          </a:p>
        </p:txBody>
      </p:sp>
      <p:sp>
        <p:nvSpPr>
          <p:cNvPr id="106" name="Shape 106"/>
          <p:cNvSpPr/>
          <p:nvPr/>
        </p:nvSpPr>
        <p:spPr>
          <a:xfrm>
            <a:off x="785176" y="5242080"/>
            <a:ext cx="2271047" cy="1600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7"/>
          <p:cNvSpPr/>
          <p:nvPr/>
        </p:nvSpPr>
        <p:spPr>
          <a:xfrm>
            <a:off x="3086223" y="520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3,309</a:t>
            </a:r>
          </a:p>
        </p:txBody>
      </p:sp>
      <p:sp>
        <p:nvSpPr>
          <p:cNvPr id="108" name="Text 108"/>
          <p:cNvSpPr/>
          <p:nvPr/>
        </p:nvSpPr>
        <p:spPr>
          <a:xfrm>
            <a:off x="265176" y="548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EAST</a:t>
            </a:r>
          </a:p>
        </p:txBody>
      </p:sp>
      <p:sp>
        <p:nvSpPr>
          <p:cNvPr id="109" name="Shape 109"/>
          <p:cNvSpPr/>
          <p:nvPr/>
        </p:nvSpPr>
        <p:spPr>
          <a:xfrm>
            <a:off x="785176" y="5522080"/>
            <a:ext cx="2023970" cy="1600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10"/>
          <p:cNvSpPr/>
          <p:nvPr/>
        </p:nvSpPr>
        <p:spPr>
          <a:xfrm>
            <a:off x="2839146" y="548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2,949</a:t>
            </a:r>
          </a:p>
        </p:txBody>
      </p:sp>
      <p:sp>
        <p:nvSpPr>
          <p:cNvPr id="111" name="Text 111"/>
          <p:cNvSpPr/>
          <p:nvPr/>
        </p:nvSpPr>
        <p:spPr>
          <a:xfrm>
            <a:off x="265176" y="576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Central</a:t>
            </a:r>
          </a:p>
        </p:txBody>
      </p:sp>
      <p:sp>
        <p:nvSpPr>
          <p:cNvPr id="112" name="Shape 112"/>
          <p:cNvSpPr/>
          <p:nvPr/>
        </p:nvSpPr>
        <p:spPr>
          <a:xfrm>
            <a:off x="785176" y="5802080"/>
            <a:ext cx="1812582" cy="160000"/>
          </a:xfrm>
          <a:prstGeom prst="rect">
            <a:avLst/>
          </a:prstGeom>
          <a:solidFill>
            <a:srgbClr val="E9601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3"/>
          <p:cNvSpPr/>
          <p:nvPr/>
        </p:nvSpPr>
        <p:spPr>
          <a:xfrm>
            <a:off x="2627758" y="576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2,641</a:t>
            </a:r>
          </a:p>
        </p:txBody>
      </p:sp>
      <p:sp>
        <p:nvSpPr>
          <p:cNvPr id="114" name="Text 114"/>
          <p:cNvSpPr/>
          <p:nvPr/>
        </p:nvSpPr>
        <p:spPr>
          <a:xfrm>
            <a:off x="265176" y="604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North</a:t>
            </a:r>
          </a:p>
        </p:txBody>
      </p:sp>
      <p:sp>
        <p:nvSpPr>
          <p:cNvPr id="115" name="Shape 115"/>
          <p:cNvSpPr/>
          <p:nvPr/>
        </p:nvSpPr>
        <p:spPr>
          <a:xfrm>
            <a:off x="785176" y="6082080"/>
            <a:ext cx="1758362" cy="1600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6"/>
          <p:cNvSpPr/>
          <p:nvPr/>
        </p:nvSpPr>
        <p:spPr>
          <a:xfrm>
            <a:off x="2573538" y="604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2,562</a:t>
            </a:r>
          </a:p>
        </p:txBody>
      </p:sp>
      <p:sp>
        <p:nvSpPr>
          <p:cNvPr id="117" name="Text 117"/>
          <p:cNvSpPr/>
          <p:nvPr/>
        </p:nvSpPr>
        <p:spPr>
          <a:xfrm>
            <a:off x="265176" y="632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SOUTH-2</a:t>
            </a:r>
          </a:p>
        </p:txBody>
      </p:sp>
      <p:sp>
        <p:nvSpPr>
          <p:cNvPr id="118" name="Shape 118"/>
          <p:cNvSpPr/>
          <p:nvPr/>
        </p:nvSpPr>
        <p:spPr>
          <a:xfrm>
            <a:off x="785176" y="6362080"/>
            <a:ext cx="1660218" cy="16000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9"/>
          <p:cNvSpPr/>
          <p:nvPr/>
        </p:nvSpPr>
        <p:spPr>
          <a:xfrm>
            <a:off x="2475394" y="632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2,419</a:t>
            </a:r>
          </a:p>
        </p:txBody>
      </p:sp>
      <p:sp>
        <p:nvSpPr>
          <p:cNvPr id="120" name="Text 120"/>
          <p:cNvSpPr/>
          <p:nvPr/>
        </p:nvSpPr>
        <p:spPr>
          <a:xfrm>
            <a:off x="3310352" y="492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East</a:t>
            </a:r>
          </a:p>
        </p:txBody>
      </p:sp>
      <p:sp>
        <p:nvSpPr>
          <p:cNvPr id="121" name="Shape 121"/>
          <p:cNvSpPr/>
          <p:nvPr/>
        </p:nvSpPr>
        <p:spPr>
          <a:xfrm>
            <a:off x="3830352" y="4962080"/>
            <a:ext cx="1563446" cy="1600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2"/>
          <p:cNvSpPr/>
          <p:nvPr/>
        </p:nvSpPr>
        <p:spPr>
          <a:xfrm>
            <a:off x="5423798" y="492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2,278</a:t>
            </a:r>
          </a:p>
        </p:txBody>
      </p:sp>
      <p:sp>
        <p:nvSpPr>
          <p:cNvPr id="123" name="Text 123"/>
          <p:cNvSpPr/>
          <p:nvPr/>
        </p:nvSpPr>
        <p:spPr>
          <a:xfrm>
            <a:off x="3310352" y="520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WEST</a:t>
            </a:r>
          </a:p>
        </p:txBody>
      </p:sp>
      <p:sp>
        <p:nvSpPr>
          <p:cNvPr id="124" name="Shape 124"/>
          <p:cNvSpPr/>
          <p:nvPr/>
        </p:nvSpPr>
        <p:spPr>
          <a:xfrm>
            <a:off x="3830352" y="5242080"/>
            <a:ext cx="1135180" cy="16000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5"/>
          <p:cNvSpPr/>
          <p:nvPr/>
        </p:nvSpPr>
        <p:spPr>
          <a:xfrm>
            <a:off x="4995532" y="520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1,654</a:t>
            </a:r>
          </a:p>
        </p:txBody>
      </p:sp>
      <p:sp>
        <p:nvSpPr>
          <p:cNvPr id="126" name="Text 126"/>
          <p:cNvSpPr/>
          <p:nvPr/>
        </p:nvSpPr>
        <p:spPr>
          <a:xfrm>
            <a:off x="3310352" y="548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South-1</a:t>
            </a:r>
          </a:p>
        </p:txBody>
      </p:sp>
      <p:sp>
        <p:nvSpPr>
          <p:cNvPr id="127" name="Shape 127"/>
          <p:cNvSpPr/>
          <p:nvPr/>
        </p:nvSpPr>
        <p:spPr>
          <a:xfrm>
            <a:off x="3830352" y="5522080"/>
            <a:ext cx="1025368" cy="16000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8"/>
          <p:cNvSpPr/>
          <p:nvPr/>
        </p:nvSpPr>
        <p:spPr>
          <a:xfrm>
            <a:off x="4885720" y="548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1,494</a:t>
            </a:r>
          </a:p>
        </p:txBody>
      </p:sp>
      <p:sp>
        <p:nvSpPr>
          <p:cNvPr id="129" name="Text 129"/>
          <p:cNvSpPr/>
          <p:nvPr/>
        </p:nvSpPr>
        <p:spPr>
          <a:xfrm>
            <a:off x="3310352" y="576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West</a:t>
            </a:r>
          </a:p>
        </p:txBody>
      </p:sp>
      <p:sp>
        <p:nvSpPr>
          <p:cNvPr id="130" name="Shape 130"/>
          <p:cNvSpPr/>
          <p:nvPr/>
        </p:nvSpPr>
        <p:spPr>
          <a:xfrm>
            <a:off x="3830352" y="5802080"/>
            <a:ext cx="733680" cy="16000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31"/>
          <p:cNvSpPr/>
          <p:nvPr/>
        </p:nvSpPr>
        <p:spPr>
          <a:xfrm>
            <a:off x="4594032" y="576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1,069</a:t>
            </a:r>
          </a:p>
        </p:txBody>
      </p:sp>
      <p:sp>
        <p:nvSpPr>
          <p:cNvPr id="132" name="Text 132"/>
          <p:cNvSpPr/>
          <p:nvPr/>
        </p:nvSpPr>
        <p:spPr>
          <a:xfrm>
            <a:off x="3310352" y="6042080"/>
            <a:ext cx="50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Pan India</a:t>
            </a:r>
          </a:p>
        </p:txBody>
      </p:sp>
      <p:sp>
        <p:nvSpPr>
          <p:cNvPr id="133" name="Shape 133"/>
          <p:cNvSpPr/>
          <p:nvPr/>
        </p:nvSpPr>
        <p:spPr>
          <a:xfrm>
            <a:off x="3830352" y="6082080"/>
            <a:ext cx="381596" cy="16000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Text 134"/>
          <p:cNvSpPr/>
          <p:nvPr/>
        </p:nvSpPr>
        <p:spPr>
          <a:xfrm>
            <a:off x="4241948" y="6042080"/>
            <a:ext cx="380000" cy="24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1A1A1A"/>
                </a:solidFill>
              </a:rPr>
              <a:t>556</a:t>
            </a:r>
          </a:p>
        </p:txBody>
      </p:sp>
      <p:sp>
        <p:nvSpPr>
          <p:cNvPr id="135" name="Shape 135"/>
          <p:cNvSpPr/>
          <p:nvPr/>
        </p:nvSpPr>
        <p:spPr>
          <a:xfrm>
            <a:off x="265176" y="6902080"/>
            <a:ext cx="6327648" cy="2000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6" name="Text 136"/>
          <p:cNvSpPr/>
          <p:nvPr/>
        </p:nvSpPr>
        <p:spPr>
          <a:xfrm>
            <a:off x="265176" y="6902080"/>
            <a:ext cx="6327648" cy="200000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KEY INSIGHTS — WHAT THIS MEANS FOR MT ASSORTMENT PLANNING</a:t>
            </a:r>
          </a:p>
        </p:txBody>
      </p:sp>
      <p:sp>
        <p:nvSpPr>
          <p:cNvPr id="137" name="Shape 137"/>
          <p:cNvSpPr/>
          <p:nvPr/>
        </p:nvSpPr>
        <p:spPr>
          <a:xfrm>
            <a:off x="265176" y="7122080"/>
            <a:ext cx="3133824" cy="11000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Shape 138"/>
          <p:cNvSpPr/>
          <p:nvPr/>
        </p:nvSpPr>
        <p:spPr>
          <a:xfrm>
            <a:off x="265176" y="7122080"/>
            <a:ext cx="50000" cy="110000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9" name="Text 139"/>
          <p:cNvSpPr/>
          <p:nvPr/>
        </p:nvSpPr>
        <p:spPr>
          <a:xfrm>
            <a:off x="345176" y="7182080"/>
            <a:ext cx="3033824" cy="18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2E75B6"/>
                </a:solidFill>
              </a:rPr>
              <a:t>EPD Dominant</a:t>
            </a:r>
          </a:p>
        </p:txBody>
      </p:sp>
      <p:sp>
        <p:nvSpPr>
          <p:cNvPr id="140" name="Text 140"/>
          <p:cNvSpPr/>
          <p:nvPr/>
        </p:nvSpPr>
        <p:spPr>
          <a:xfrm>
            <a:off x="345176" y="7382080"/>
            <a:ext cx="3033824" cy="800000"/>
          </a:xfrm>
          <a:prstGeom prst="rect">
            <a:avLst/>
          </a:prstGeom>
          <a:noFill/>
          <a:ln/>
        </p:spPr>
        <p:txBody>
          <a:bodyPr wrap="False" lIns="0" tIns="0" rIns="0" bIns="0" rtlCol="0" anchor="t"/>
          <a:lstStyle/>
          <a:p>
            <a:pPr algn="l" marL="0" indent="0">
              <a:buNone/>
            </a:pPr>
            <a:r>
              <a:rPr lang="en-US" sz="780" i="1" dirty="0">
                <a:solidFill>
                  <a:srgbClr val="1A1A1A"/>
                </a:solidFill>
              </a:rPr>
              <a:t>EPD articles represent the majority of NPI count in every major chain (Reliance 71%, Apollo 81%, H&amp;G 68%). These need active DOI and availability tracking to prevent early OOS before formal discontinuation.</a:t>
            </a:r>
          </a:p>
        </p:txBody>
      </p:sp>
      <p:sp>
        <p:nvSpPr>
          <p:cNvPr id="141" name="Shape 141"/>
          <p:cNvSpPr/>
          <p:nvPr/>
        </p:nvSpPr>
        <p:spPr>
          <a:xfrm>
            <a:off x="3459000" y="7122080"/>
            <a:ext cx="3133824" cy="11000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2" name="Shape 142"/>
          <p:cNvSpPr/>
          <p:nvPr/>
        </p:nvSpPr>
        <p:spPr>
          <a:xfrm>
            <a:off x="3459000" y="7122080"/>
            <a:ext cx="50000" cy="1100000"/>
          </a:xfrm>
          <a:prstGeom prst="rect">
            <a:avLst/>
          </a:prstGeom>
          <a:solidFill>
            <a:srgbClr val="E9601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3" name="Text 143"/>
          <p:cNvSpPr/>
          <p:nvPr/>
        </p:nvSpPr>
        <p:spPr>
          <a:xfrm>
            <a:off x="3539000" y="7182080"/>
            <a:ext cx="3033824" cy="18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E96014"/>
                </a:solidFill>
              </a:rPr>
              <a:t>Disc Risk</a:t>
            </a:r>
          </a:p>
        </p:txBody>
      </p:sp>
      <p:sp>
        <p:nvSpPr>
          <p:cNvPr id="144" name="Text 144"/>
          <p:cNvSpPr/>
          <p:nvPr/>
        </p:nvSpPr>
        <p:spPr>
          <a:xfrm>
            <a:off x="3539000" y="7382080"/>
            <a:ext cx="3033824" cy="800000"/>
          </a:xfrm>
          <a:prstGeom prst="rect">
            <a:avLst/>
          </a:prstGeom>
          <a:noFill/>
          <a:ln/>
        </p:spPr>
        <p:txBody>
          <a:bodyPr wrap="False" lIns="0" tIns="0" rIns="0" bIns="0" rtlCol="0" anchor="t"/>
          <a:lstStyle/>
          <a:p>
            <a:pPr algn="l" marL="0" indent="0">
              <a:buNone/>
            </a:pPr>
            <a:r>
              <a:rPr lang="en-US" sz="780" i="1" dirty="0">
                <a:solidFill>
                  <a:srgbClr val="1A1A1A"/>
                </a:solidFill>
              </a:rPr>
              <a:t>Reliance carries 1,047 Disc articles — highest absolute count. Immediate action: NKAM to confirm no fresh ordering and de-list from planogram to free shelf space for NPD.</a:t>
            </a:r>
          </a:p>
        </p:txBody>
      </p:sp>
      <p:sp>
        <p:nvSpPr>
          <p:cNvPr id="145" name="Shape 145"/>
          <p:cNvSpPr/>
          <p:nvPr/>
        </p:nvSpPr>
        <p:spPr>
          <a:xfrm>
            <a:off x="265176" y="8282080"/>
            <a:ext cx="3133824" cy="11000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6" name="Shape 146"/>
          <p:cNvSpPr/>
          <p:nvPr/>
        </p:nvSpPr>
        <p:spPr>
          <a:xfrm>
            <a:off x="265176" y="8282080"/>
            <a:ext cx="50000" cy="110000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7" name="Text 147"/>
          <p:cNvSpPr/>
          <p:nvPr/>
        </p:nvSpPr>
        <p:spPr>
          <a:xfrm>
            <a:off x="345176" y="8342080"/>
            <a:ext cx="3033824" cy="18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116F68"/>
                </a:solidFill>
              </a:rPr>
              <a:t>Vidarbha Unlocked</a:t>
            </a:r>
          </a:p>
        </p:txBody>
      </p:sp>
      <p:sp>
        <p:nvSpPr>
          <p:cNvPr id="148" name="Text 148"/>
          <p:cNvSpPr/>
          <p:nvPr/>
        </p:nvSpPr>
        <p:spPr>
          <a:xfrm>
            <a:off x="345176" y="8542080"/>
            <a:ext cx="3033824" cy="800000"/>
          </a:xfrm>
          <a:prstGeom prst="rect">
            <a:avLst/>
          </a:prstGeom>
          <a:noFill/>
          <a:ln/>
        </p:spPr>
        <p:txBody>
          <a:bodyPr wrap="False" lIns="0" tIns="0" rIns="0" bIns="0" rtlCol="0" anchor="t"/>
          <a:lstStyle/>
          <a:p>
            <a:pPr algn="l" marL="0" indent="0">
              <a:buNone/>
            </a:pPr>
            <a:r>
              <a:rPr lang="en-US" sz="780" i="1" dirty="0">
                <a:solidFill>
                  <a:srgbClr val="1A1A1A"/>
                </a:solidFill>
              </a:rPr>
              <a:t>101 Vidarbha stores (Nagpur, Akola, Wardha, Yavatmal, Chandrapur) were previously bucketed under West Zone — misaligning Central assortment benchmarks. Remapping corrects zone-level fill-rate and distribution calculations.</a:t>
            </a:r>
          </a:p>
        </p:txBody>
      </p:sp>
      <p:sp>
        <p:nvSpPr>
          <p:cNvPr id="149" name="Shape 149"/>
          <p:cNvSpPr/>
          <p:nvPr/>
        </p:nvSpPr>
        <p:spPr>
          <a:xfrm>
            <a:off x="3459000" y="8282080"/>
            <a:ext cx="3133824" cy="110000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0" name="Shape 150"/>
          <p:cNvSpPr/>
          <p:nvPr/>
        </p:nvSpPr>
        <p:spPr>
          <a:xfrm>
            <a:off x="3459000" y="8282080"/>
            <a:ext cx="50000" cy="1100000"/>
          </a:xfrm>
          <a:prstGeom prst="rect">
            <a:avLst/>
          </a:prstGeom>
          <a:solidFill>
            <a:srgbClr val="7030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51"/>
          <p:cNvSpPr/>
          <p:nvPr/>
        </p:nvSpPr>
        <p:spPr>
          <a:xfrm>
            <a:off x="3539000" y="8342080"/>
            <a:ext cx="3033824" cy="180000"/>
          </a:xfrm>
          <a:prstGeom prst="rect">
            <a:avLst/>
          </a:prstGeom>
          <a:noFill/>
          <a:ln/>
        </p:spPr>
        <p:txBody>
          <a:bodyPr wrap="False" lIns="0" tIns="0" rIns="0" bIns="0" rtlCol="0" anchor="ctr"/>
          <a:lstStyle/>
          <a:p>
            <a:pPr algn="l" marL="0" indent="0">
              <a:buNone/>
            </a:pPr>
            <a:r>
              <a:rPr lang="en-US" sz="850" b="1" dirty="0">
                <a:solidFill>
                  <a:srgbClr val="7030A0"/>
                </a:solidFill>
              </a:rPr>
              <a:t>NPD Pipeline</a:t>
            </a:r>
          </a:p>
        </p:txBody>
      </p:sp>
      <p:sp>
        <p:nvSpPr>
          <p:cNvPr id="152" name="Text 152"/>
          <p:cNvSpPr/>
          <p:nvPr/>
        </p:nvSpPr>
        <p:spPr>
          <a:xfrm>
            <a:off x="3539000" y="8542080"/>
            <a:ext cx="3033824" cy="800000"/>
          </a:xfrm>
          <a:prstGeom prst="rect">
            <a:avLst/>
          </a:prstGeom>
          <a:noFill/>
          <a:ln/>
        </p:spPr>
        <p:txBody>
          <a:bodyPr wrap="False" lIns="0" tIns="0" rIns="0" bIns="0" rtlCol="0" anchor="t"/>
          <a:lstStyle/>
          <a:p>
            <a:pPr algn="l" marL="0" indent="0">
              <a:buNone/>
            </a:pPr>
            <a:r>
              <a:rPr lang="en-US" sz="780" i="1" dirty="0">
                <a:solidFill>
                  <a:srgbClr val="1A1A1A"/>
                </a:solidFill>
              </a:rPr>
              <a:t>Metro CNC and Lulu show elevated NPD counts (251 and 137) vs their scale — confirming active NPD push in these chains. Category team to track NPD sell-through velocity monthly.</a:t>
            </a:r>
          </a:p>
        </p:txBody>
      </p:sp>
      <p:sp>
        <p:nvSpPr>
          <p:cNvPr id="153" name="Shape 153"/>
          <p:cNvSpPr/>
          <p:nvPr/>
        </p:nvSpPr>
        <p:spPr>
          <a:xfrm>
            <a:off x="265176" y="11252000"/>
            <a:ext cx="6327648" cy="780000"/>
          </a:xfrm>
          <a:prstGeom prst="rect">
            <a:avLst/>
          </a:prstGeom>
          <a:solidFill>
            <a:srgbClr val="1F3B3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4" name="Shape 154"/>
          <p:cNvSpPr/>
          <p:nvPr/>
        </p:nvSpPr>
        <p:spPr>
          <a:xfrm>
            <a:off x="1847088" y="11302000"/>
            <a:ext cx="0" cy="6800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IN"/>
          </a:p>
        </p:txBody>
      </p:sp>
      <p:sp>
        <p:nvSpPr>
          <p:cNvPr id="155" name="Shape 155"/>
          <p:cNvSpPr/>
          <p:nvPr/>
        </p:nvSpPr>
        <p:spPr>
          <a:xfrm>
            <a:off x="3429000" y="11302000"/>
            <a:ext cx="0" cy="6800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6"/>
          <p:cNvSpPr/>
          <p:nvPr/>
        </p:nvSpPr>
        <p:spPr>
          <a:xfrm>
            <a:off x="5010912" y="11302000"/>
            <a:ext cx="0" cy="6800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7"/>
          <p:cNvSpPr/>
          <p:nvPr/>
        </p:nvSpPr>
        <p:spPr>
          <a:xfrm>
            <a:off x="265176" y="11292000"/>
            <a:ext cx="1581912" cy="140000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E96014"/>
                </a:solidFill>
              </a:rPr>
              <a:t>EVIDENCE</a:t>
            </a:r>
          </a:p>
        </p:txBody>
      </p:sp>
      <p:sp>
        <p:nvSpPr>
          <p:cNvPr id="158" name="Text 158"/>
          <p:cNvSpPr/>
          <p:nvPr/>
        </p:nvSpPr>
        <p:spPr>
          <a:xfrm>
            <a:off x="265176" y="11432000"/>
            <a:ext cx="1561912" cy="560000"/>
          </a:xfrm>
          <a:prstGeom prst="rect">
            <a:avLst/>
          </a:prstGeom>
          <a:noFill/>
          <a:ln/>
        </p:spPr>
        <p:txBody>
          <a:bodyPr wrap="True" lIns="0" tIns="0" rIns="0" bIns="0" rtlCol="0" anchor="t"/>
          <a:lstStyle/>
          <a:p>
            <a:pPr algn="l" marL="0" indent="0">
              <a:buNone/>
            </a:pPr>
            <a:r>
              <a:rPr lang="en-US" sz="700" dirty="0">
                <a:solidFill>
                  <a:srgbClr val="CCDDDD"/>
                </a:solidFill>
              </a:rPr>
              <a:t>1,168 Maharashtra Vidarbha articles reclassified WEST → Central zone across 4 chains (Wellness 501, Reliance 346, Apollo 240, DMart 81)</a:t>
            </a:r>
          </a:p>
        </p:txBody>
      </p:sp>
      <p:sp>
        <p:nvSpPr>
          <p:cNvPr id="159" name="Text 159"/>
          <p:cNvSpPr/>
          <p:nvPr/>
        </p:nvSpPr>
        <p:spPr>
          <a:xfrm>
            <a:off x="1847088" y="11292000"/>
            <a:ext cx="1581912" cy="140000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E96014"/>
                </a:solidFill>
              </a:rPr>
              <a:t>IMPLICATION</a:t>
            </a:r>
          </a:p>
        </p:txBody>
      </p:sp>
      <p:sp>
        <p:nvSpPr>
          <p:cNvPr id="160" name="Text 160"/>
          <p:cNvSpPr/>
          <p:nvPr/>
        </p:nvSpPr>
        <p:spPr>
          <a:xfrm>
            <a:off x="1847088" y="11432000"/>
            <a:ext cx="1561912" cy="560000"/>
          </a:xfrm>
          <a:prstGeom prst="rect">
            <a:avLst/>
          </a:prstGeom>
          <a:noFill/>
          <a:ln/>
        </p:spPr>
        <p:txBody>
          <a:bodyPr wrap="True" lIns="0" tIns="0" rIns="0" bIns="0" rtlCol="0" anchor="t"/>
          <a:lstStyle/>
          <a:p>
            <a:pPr algn="l" marL="0" indent="0">
              <a:buNone/>
            </a:pPr>
            <a:r>
              <a:rPr lang="en-US" sz="700" dirty="0">
                <a:solidFill>
                  <a:srgbClr val="CCDDDD"/>
                </a:solidFill>
              </a:rPr>
              <a:t>Central zone NPI count rises to 2,641 total — accurate zone-level assortment planning now enabled for Vidarbha region</a:t>
            </a:r>
          </a:p>
        </p:txBody>
      </p:sp>
      <p:sp>
        <p:nvSpPr>
          <p:cNvPr id="161" name="Text 161"/>
          <p:cNvSpPr/>
          <p:nvPr/>
        </p:nvSpPr>
        <p:spPr>
          <a:xfrm>
            <a:off x="3429000" y="11292000"/>
            <a:ext cx="1581912" cy="140000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E96014"/>
                </a:solidFill>
              </a:rPr>
              <a:t>ACTION</a:t>
            </a:r>
          </a:p>
        </p:txBody>
      </p:sp>
      <p:sp>
        <p:nvSpPr>
          <p:cNvPr id="162" name="Text 162"/>
          <p:cNvSpPr/>
          <p:nvPr/>
        </p:nvSpPr>
        <p:spPr>
          <a:xfrm>
            <a:off x="3429000" y="11432000"/>
            <a:ext cx="1561912" cy="560000"/>
          </a:xfrm>
          <a:prstGeom prst="rect">
            <a:avLst/>
          </a:prstGeom>
          <a:noFill/>
          <a:ln/>
        </p:spPr>
        <p:txBody>
          <a:bodyPr wrap="True" lIns="0" tIns="0" rIns="0" bIns="0" rtlCol="0" anchor="t"/>
          <a:lstStyle/>
          <a:p>
            <a:pPr algn="l" marL="0" indent="0">
              <a:buNone/>
            </a:pPr>
            <a:r>
              <a:rPr lang="en-US" sz="700" dirty="0">
                <a:solidFill>
                  <a:srgbClr val="CCDDDD"/>
                </a:solidFill>
              </a:rPr>
              <a:t>Apply Vidarbha mapping to all future NPI uploads; NKAM to use Central zone data for store-level assortment compliance tracking</a:t>
            </a:r>
          </a:p>
        </p:txBody>
      </p:sp>
      <p:sp>
        <p:nvSpPr>
          <p:cNvPr id="163" name="Text 163"/>
          <p:cNvSpPr/>
          <p:nvPr/>
        </p:nvSpPr>
        <p:spPr>
          <a:xfrm>
            <a:off x="5010912" y="11292000"/>
            <a:ext cx="1581912" cy="140000"/>
          </a:xfrm>
          <a:prstGeom prst="rect">
            <a:avLst/>
          </a:prstGeom>
          <a:noFill/>
          <a:ln/>
        </p:spPr>
        <p:txBody>
          <a:bodyPr wrap="True" lIns="0" tIns="0" rIns="0" bIns="0" rtlCol="0" anchor="ctr"/>
          <a:lstStyle/>
          <a:p>
            <a:pPr algn="l" marL="0" indent="0">
              <a:buNone/>
            </a:pPr>
            <a:r>
              <a:rPr lang="en-US" sz="750" b="1" dirty="0">
                <a:solidFill>
                  <a:srgbClr val="E96014"/>
                </a:solidFill>
              </a:rPr>
              <a:t>OWNER</a:t>
            </a:r>
          </a:p>
        </p:txBody>
      </p:sp>
      <p:sp>
        <p:nvSpPr>
          <p:cNvPr id="164" name="Text 164"/>
          <p:cNvSpPr/>
          <p:nvPr/>
        </p:nvSpPr>
        <p:spPr>
          <a:xfrm>
            <a:off x="5010912" y="11432000"/>
            <a:ext cx="1561912" cy="560000"/>
          </a:xfrm>
          <a:prstGeom prst="rect">
            <a:avLst/>
          </a:prstGeom>
          <a:noFill/>
          <a:ln/>
        </p:spPr>
        <p:txBody>
          <a:bodyPr wrap="True" lIns="0" tIns="0" rIns="0" bIns="0" rtlCol="0" anchor="t"/>
          <a:lstStyle/>
          <a:p>
            <a:pPr algn="l" marL="0" indent="0">
              <a:buNone/>
            </a:pPr>
            <a:r>
              <a:rPr lang="en-US" sz="700" dirty="0">
                <a:solidFill>
                  <a:srgbClr val="CCDDDD"/>
                </a:solidFill>
              </a:rPr>
              <a:t>Analytics + NKAM Central | Effective from Aug-26 planning cycle</a:t>
            </a:r>
          </a:p>
        </p:txBody>
      </p:sp>
      <p:sp>
        <p:nvSpPr>
          <p:cNvPr id="165" name="Text 165"/>
          <p:cNvSpPr/>
          <p:nvPr/>
        </p:nvSpPr>
        <p:spPr>
          <a:xfrm>
            <a:off x="265176" y="12042000"/>
            <a:ext cx="6327648" cy="130000"/>
          </a:xfrm>
          <a:prstGeom prst="rect">
            <a:avLst/>
          </a:prstGeom>
          <a:noFill/>
          <a:ln/>
        </p:spPr>
        <p:txBody>
          <a:bodyPr wrap="False" lIns="91440" tIns="45720" rIns="91440" bIns="45720" rtlCol="0" anchor="ctr"/>
          <a:lstStyle/>
          <a:p>
            <a:pPr algn="l" marL="0" indent="0">
              <a:buNone/>
            </a:pPr>
            <a:r>
              <a:rPr lang="en-US" sz="600" dirty="0">
                <a:solidFill>
                  <a:srgbClr val="888888"/>
                </a:solidFill>
              </a:rPr>
              <a:t>Source: MT_Chain_Wise__Article_Wise_NPI_for_TY__Central_mapping_for_maharastra.xlsx · Central mapping: 101 Vidarbha stores (Sheet 2) · Chains matched: Wellness Forever, Reliance, Apollo, DMart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BEFORE vs. AFTER — CENTRAL ZONE ACTIVATED IN ALL DASHBOARDS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audit result | MP + CG + Vidarbha reclassification | FY25–FY27 | Source: 21 pipeline files corrected, Aug-21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(Incorrect): MP reported under NORTH zone | CG reported under WEST zone | Vidarbha MH reported under WEST zone | Central zone = ₹0 in every leadership dashboard since FY25. North FY26 inflated +₹12.3 Cr (MP). West FY26 inflated +₹4.7 Cr (CG) +₹1.65 Cr (Vidarbha).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(Corrected): Central FY25 = ₹10.1 Cr | Central FY26 = ₹17.0 Cr (+68.9% YoY) — fastest-growing zone in MT | FY27 4M (Apr–Jul) = ₹10.2 Cr | 22,265 rows reclassified across 21 files (3 offtake CSVs + 15 primary CSVs + 3 master files).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IMMEDIATE: RKAM Central to set standalone FY27 NSV targets by 5-Sep. NKAM to run EPD billing unlock across 1,168 Vidarbha SKUs by 31-Aug. MT Analyst to refresh compiled offtake sheet post Power BI re-export.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Central + NKAM + MT Analyst · Deadlines: 31-Aug, 5-Sep, 5-Sep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CustomerCode_Zone_State_Mapping.csv, ZoneStateMaster.csv, 3 offtake CSVs, 15 primary monthly CSVs, ShipToMaster.csv, Primary_ShipTo_FY25-26_to_May26.csv, dashboard/data.js | All corrections committed to git | Aug-21 2026;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FIXED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22,265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21 files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CENTRAL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₹17.0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(was ₹0)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GROWTH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+68.9%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FY25→FY26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4M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₹10.2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Apr–Jul 2026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STATE BREAKDOWN (FY26 CORRECTED)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MP: ₹12.3 Cr FY26 (+64.8% YoY) | CG: ₹4.7 Cr FY26 (+80.5% YoY) | Vidarbha MH: ₹1.65 Cr FY27 4M (no FY25/FY26 history)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What dashboards showed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What the data now shows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GOVERNANCE RULE LAYERS CORRECTED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CSVs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files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6,179 + 6,217 rows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CSVs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files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9,406 + 352 rows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&amp; Mapping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files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+ 23 + 1 row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IMPACT SUMMARY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FY26 restated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₹58.3 Cr (was ₹70.6 Cr)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FY26 restated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₹76.9 Cr (was ₹81.6 Cr)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vs. AFTER — ZONE TABLE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(Before)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(After)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₹70.6 Cr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₹58.3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(Before)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−₹12.3 Cr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₹76.9 Cr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₹81.6 Cr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SCORECARD — ALL VALIDATIONS PASS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(compiled Jul-26) — Vidarbha correction adds ~₹10.2 Cr primary and offtake once compiled sheet refreshed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post-remap validation script on every corrected file. Result: PASS. Zero residual mismatch. All changes committed to version control (reversible with one git revert).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all zone scorecards from Sep-26 review cycle.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Sep-26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UNLOCKED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6,179 + 6,217 rows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₹3–5 L/month from range extension at DMart Central (81 → 150 SKUs). ₹5–7 L/month from 10 new Wellness stores in Nagpur. Total annualised opportunity: ₹19–26 Cr.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to run EPD billing unlock across all 4 chains by 31-Aug. BD to onboard 10 new Wellness stores by 31-Oct.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BD · 31-Aug / 31-Oct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9,406 + 352 rows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pre-aggregated compiled workbook (Primary_FY202426_10.xlsx) is gitignored and has not been re-exported from Power BI Desktop yet. Until then, Power BI dashboards still show Central FY25/FY26 = ₹0.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Analyst to re-export Primary_FY202426_10.xlsx from Power BI Desktop after refreshing with updated mapping CSVs. One-day task.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Analyst · 5 Sep 2026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— PIPELINE LAYERS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22,265 rows reclassified across 6 data layers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₹58.3 Cr (was ₹70.6 Cr) (Jul-26) | CG ₹76.9 Cr (was ₹81.6 Cr) | Vidarbha MH ~₹10.2 Cr (FY27 4M: ₹1.65 Cr). Zone now spans three geographic clusters — MP heartland, CG border towns, Vidarbha district stores.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changes in version control. Revert: git revert HEAD~5. QA: all 19 data files PASS (zero MP-North, zero CG-West remaining).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Branch: claude/offtake-pipeline-blocks-diagnosis-24403o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PIPELINE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1,168 SKUs now attributed to Central (Vidarbha remap)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Zone. Central over-indexes on TDC FY26 (Before)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to pull store-level billing report for EPD SKUs and flag zero-billing by 31-Aug.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All Chains · 31-Aug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GOVERNANCE RULE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= MP + CG + Vidarbha. No other state.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 (₹5.24L FY27), Mumbai (₹2.42L FY27) and Gujarat (₹2.15L FY27) rows appear in Central in raw CSVs — these are data anomalies from city mis-coding. Analyst to investigate and reclassify before next compiled sheet export.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ZoneStateMaster validation before each monthly compiled sheet to ensure no state leaks into wrong zone.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Analyst · monthly cadence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remediate_mp_cg_central_zone.py + remediate_vidarbha_central_zone.py + patch_data_js_central_fy2526.py | All scripts committed | Aug-21 2026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13415</Words>
  <Application>Microsoft Office PowerPoint</Application>
  <PresentationFormat>Widescreen</PresentationFormat>
  <Paragraphs>1982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Sheshant  Singh Aswal</cp:lastModifiedBy>
  <cp:revision>1</cp:revision>
  <dcterms:created xsi:type="dcterms:W3CDTF">2026-08-18T05:36:31Z</dcterms:created>
  <dcterms:modified xsi:type="dcterms:W3CDTF">2026-08-20T09:37:30Z</dcterms:modified>
</cp:coreProperties>
</file>