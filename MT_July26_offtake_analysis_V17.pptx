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0.54459999999999997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0.39810000000000001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9.1800000000000007E-2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0.66110000000000002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8.5500000000000007</c:v>
                </c:pt>
                <c:pt idx="3">
                  <c:v>9.6300000000000008</c:v>
                </c:pt>
                <c:pt idx="4">
                  <c:v>9.65</c:v>
                </c:pt>
                <c:pt idx="5">
                  <c:v>8.5299999999999994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4.8099999999999996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2.0499999999999998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0.56000000000000005</c:v>
                </c:pt>
                <c:pt idx="1">
                  <c:v>0.56999999999999995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8.5500000000000007</c:v>
                </c:pt>
                <c:pt idx="3">
                  <c:v>9.6300000000000008</c:v>
                </c:pt>
                <c:pt idx="4">
                  <c:v>9.65</c:v>
                </c:pt>
                <c:pt idx="5">
                  <c:v>8.5299999999999994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4.8099999999999996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2.0499999999999998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0.56000000000000005</c:v>
                </c:pt>
                <c:pt idx="1">
                  <c:v>0.56999999999999995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15.16</c:v>
                </c:pt>
                <c:pt idx="1">
                  <c:v>17.23</c:v>
                </c:pt>
                <c:pt idx="2">
                  <c:v>9.65</c:v>
                </c:pt>
                <c:pt idx="3">
                  <c:v>0.21</c:v>
                </c:pt>
                <c:pt idx="4">
                  <c:v>0.75</c:v>
                </c:pt>
                <c:pt idx="5">
                  <c:v>0.48</c:v>
                </c:pt>
                <c:pt idx="6">
                  <c:v>0.43</c:v>
                </c:pt>
                <c:pt idx="7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C9694A98-F30F-4F2C-869A-E5D3EFDDF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21571B24-BC26-4D8B-A2A5-D351837E4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Jul'25 (LY)</c:v>
                </c:pt>
              </c:strCache>
            </c:strRef>
          </c:tx>
          <c:spPr>
            <a:solidFill>
              <a:srgbClr val="9FBCD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8</c:v>
                </c:pt>
                <c:pt idx="2">
                  <c:v>4.7699999999999996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65-4762-9C66-CD563D559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Jul'26 (TY)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17.23</c:v>
                </c:pt>
                <c:pt idx="1">
                  <c:v>15.16</c:v>
                </c:pt>
                <c:pt idx="2">
                  <c:v>9.65</c:v>
                </c:pt>
                <c:pt idx="3">
                  <c:v>1.84</c:v>
                </c:pt>
                <c:pt idx="4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65-4762-9C66-CD563D559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1.xml"/><Relationship Id="rId3" Type="http://schemas.openxmlformats.org/officeDocument/2006/relationships/chart" Target="../charts/chart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growth levers are live; SAH / WD / PDO / OOS fields not yet field-reconciled for July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without field reconciliation treat stock-timing noise as demand signal and risk driving wrong actions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SAH, WD and OOS for August cycle; add PDO by state-chain; publish validated diagnostic by 31-Aug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| 31-Aug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MT share rose to 3.7%; Nielsen RMS MAT Jun-26 confirms demand pull — weighted distribution running ahead of value share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is the fastest-growing segment in MT — delay in expanding controlled pack pilots codes early-mover advantage to competitors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pack pilots (top 3 formats) in DMart and Apollo; protect Face Wash hero EAN availability above 95% in top-100 stores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/ Apollo | Pilots by 15-Sep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Jul-26: ₹36.06 Cr (+64.2% YoY vs Jul-25 ₹21.96 Cr); L3M May–Jul ₹114.86 Cr (+65.8% YoY); Reliance Paisa Vasool event drove pipeline draw-forward — same event expected mid-Aug; North + East hold 70.5% of recoverable gap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 sustaining at 82–84% conversion; concentrating intervention on North and East yields the highest recovery per rupee of commercial effort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Reliance Aug-26 offtake in first week (Paisa Vasool effect expected ~40% MoM vs Jul; per LY pattern); run weekly ZSM gap closure on DMart and non-Reliance exceptions from 22-Aug; Reliance EAN-store review after Aug read is confirmed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+ East ZSM | Weekly from 22-Aug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₹8.28 Cr conversion; DMart West 94.2% is the best DMart rate nationally; Reliance West 54.5% is the only exception; Wellness Forever 134.8% is a timing signal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West’s 94.2% conversion proves EAN availability discipline works; Reliance West has 45% of billed inventory not selling through — recoverable with store-level action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map Reliance West EAN-store failures; restore top-10 declining articles by 30-Aug; hold Wellness Forever loading until timing discrepancy is explained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West + NKAM Wellness | 30-Aug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(₹11.95 Cr) and converts it worst but one. At the West / South-1 rate of 82.95% the zone would deliver ₹9.91 Cr instead of ₹6.99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₹7.83 Cr and sells ₹3.55 Cr. At the West / South-1 benchmark the same billing delivers ₹6.50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MP + CG + Vidarbha — fastest-growing zone in MT, now fully mapped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Zone reclassification applied Aug 2026: MP moved North→Central, CG+Vidarbha moved West→Central · 22,265 rows corrected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4M NSV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₹10.2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 cumulative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zone after correction: FY26 ₹17.0 Cr (+68.9% YoY), FY27 4M ₹10.2 Cr. MP 79.3% of zone — manage for coverage expansion, not exception.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₹0.18 Cr · 8.5% of zone (zone corrected — includes 1,168 Vidarbha NPI SKUs)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 rows corrected — MP reclassified North→Central; CG+Vidarbha reclassified West→Central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reclassification, Central FY26 NSV = ₹17.0 Cr (+68.9% YoY vs FY25 ₹10.1 Cr). 1,168 Vidarbha NPI SKUs now correctly attributed to Central. FY27 4M trajectory: Apr ₹2.0 Cr | May ₹2.5 Cr | Jun ₹2.7 Cr | Jul ₹3.0 Cr.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Retire the 'small zone' framing. Rebase Central targets to ₹2.5–3.0 Cr/month trajectory.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is 79.3% of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single-state-dependent zone in the pack. Chhattisgarh at ₹0.44 Cr is the only other material market.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Central as a single-state operation for planning and route design.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| ₹0.11 Cr recoverable — below the materiality floor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Ten chains moved less than ₹0.25 Cr and are excluded from ranking: Wellness Forever −0.08, Metro −0.12, Vishal Mega Mart +0.05, More Retail −0.03, Health &amp; Glow −0.01, V-Mart −0.01, Spencer +0.01, Arambagh −0.01, Ratandeep 0.00, Sasta Sundar +0.01, Sumo Save +0.01. Combined they moved −₹0.19 Cr.  |  NEW CHAINS (Aug 2026): Guardian ₹0.011 Cr | National Mart ₹0.035 Cr | Trent ₹0.101 Cr | Wh-Smith ₹0.005 Cr → +₹0.15 Cr incremental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₹26.90 Cr of ₹34.11 Cr national MT offtake — 79.2%. Chains with missing July feeds are data gaps, not de-growth, and stay outside the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| New chains (Aug 2026): Guardian 215 SKUs (198 EPD, 12 Disc, 5 NPD); Wh-Smith 311 (262 EPD, 44 Disc, 5 NPD); Trent 35 (26 EPD, 9 NPD); National Mart 14 (14 NPD)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CHAINS ADDED (Aug 2026): Guardian 215 NPI SKUs | Wh-Smith 311 NPI SKUs | Trent 35 NPI SKUs | National Mart 14 NPI SKUs. These chains are now tracked in the offtake feed; establish baseline before applying flow threshold rules. THE TEST THAT IS MISSING   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conversion: Reliance at 47% drives ₹9.2 Cr pipeline risk — DMart improved to 92%, Apollo 74%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P&amp;O conversion | July 2026 | ₹ Cr | conversion % = offtake ÷ primary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primary ₹17.23 Cr — 46.8% converted; ₹9.17 Cr unsold. DMart improved to 92.2%; South-2 residual ₹1.19 Cr. Apollo 74.4%; ₹2.47 Cr gap. Lulu, H&amp;G, Wellness: offtake exceeds primary supply.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₹14.18 Cr billed-but-unsold pipeline risk (Reliance ₹9.17, Apollo ₹2.47, DMart ₹1.19, Metro ₹1.35). ₹1.27 Cr supply-constrained upside at Lulu, H&amp;G, and Wellness — demand established, primary not keeping pace.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 new loading; NKAM drives secondary sell-through in North &amp; East. Apollo: NKAM to push SKU-level sell-through; reconcile zone stock. Lulu/H&amp;G/Wellness: scale primary to match pull-through; avoid OOS. DMart: monitor South-2 DC fill.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NKAM (Reliance team). Apollo: NKAM (Apollo team). Lulu / H&amp;G / Wellness: NKAM + Supply Planning. DMart: NKAM. Review at next weekly MT call.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₹9.17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— 53.2% unsold; ₹9.17 Cr pipeline risk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— improved; South-2 residual ₹1.19 Cr remains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74.4%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₹2.47 Cr pipeline gap; recover zone-level secondary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+9.17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parity; South-2 residual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+1.35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−0.95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supply; scale primary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₹14.18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across four chains. Recoverable pool — 64.7% in Reliance, 17.4% in Apollo, 8.4% in DMart, 9.5% in Metro.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₹1.27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exceeds primary in Lulu, H&amp;G, and Wellness — demand established; primary supply needs scaling, not a mapping defect.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₹9.17 Cr pipeline at risk — attack North and East; convert billed inventory through hero-SKU visibility and replenishment. No new loading until secondary improves.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improved to 92.2%; residual ₹1.19 Cr concentrated in South-2. Review DC-to-store fill and top-SKU store availability in that region.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74.4% conversion with ₹2.47 Cr gap — push NKAM to drive secondary sell-through. Reconcile zone-level stock; national primary is healthy.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H&amp;G, Wellness: demand exceeds primary supply — offtake running ahead. Scale primary to match pull-through and avoid OOS. ₹1.27 Cr upside if supply keeps pace.</a:t>
            </a:r>
            <a:endParaRPr lang="en-US" sz="7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Reliance primary +183% YoY to ₹17.2 Cr — total MT primary doubled to ₹47.0 Cr; Lulu flat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primary: Jul'25 vs Jul'26 | ₹ Cr | allocated via distributor secondary weights | Jul'26 total ₹47.0 Cr vs Jul'25 ₹22.4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₹6.10 Cr → ₹17.23 Cr; largest absolute increase in MT primary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₹8.00 Cr → ₹15.16 Cr; consistent growth across zones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+102%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₹4.77 Cr → ₹9.65 Cr; strong YoY on direct billing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 — JUL'25 vs JUL'26 (₹ Cr)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₹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+11.13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YoY absolute gain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+7.16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across all zones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format;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allocation shift; territory mix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billing growth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+24.59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doubled YoY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— JUL'26 PRIMARY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₹41.6 Cr | TDC ₹3.7 Cr | Others ₹1.7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₹41.6 Cr (+117% YoY); The Derma Co. ₹3.7 Cr (+83%); Jul'25 brand: ME ₹19.9 Cr, TDC ₹2.0 Cr, AQ ₹0.33 Cr, BBlunt ₹0.14 Cr.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YoY CALLOUTS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 Reliance | +102% Apollo | −15% Lulu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flat YoY (dist. territory allocation shift — demand strong at ₹1.70 Cr offtake). Wellness and H&amp;G primary minimal in Jul'25 — growth from near-zero base.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primary_article_Jul_25.csv (MT channel only) + primary_article_Jul_26.csv. Distributor primary allocated to chains using Jul'26 offtake territory weights (aggregate across brands).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direct primary: Reliance ₹5.86 Cr, DMart ₹3.73 Cr, Apollo ₹1.97 Cr, Metro ₹0.88 Cr. Distributor secondary (₹9.87 Cr) allocated via KOTTARAM/GV/Vanaja/Az weights.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₹22.43 Cr vs Jul'26 ₹47.02 Cr — +109.6% YoY. Key driver: Reliance direct POs more than doubled; Apollo Dist. allocation now fully mapped for the first time.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YoY decline is a territory-weight artifact — Jul'25 KOTTARAM/GV allocated more to Lulu (KER 76.8%/TN 8.6%) vs Jul'26 total. Offtake up ₹1.70 Cr confirms demand is real.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16725</Words>
  <Application>Microsoft Office PowerPoint</Application>
  <PresentationFormat>Widescreen</PresentationFormat>
  <Paragraphs>2437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2026-08-21T11:27:58Z</dcterms:modified>
</cp:coreProperties>
</file>