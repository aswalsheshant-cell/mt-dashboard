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drawings/drawing2.xml" ContentType="application/vnd.openxmlformats-officedocument.drawingml.chartshap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charts/chart13.xml" ContentType="application/vnd.openxmlformats-officedocument.drawingml.chart+xml"/>
  <Override PartName="/ppt/theme/themeOverride2.xml" ContentType="application/vnd.openxmlformats-officedocument.themeOverride+xml"/>
  <Override PartName="/ppt/drawings/drawing3.xml" ContentType="application/vnd.openxmlformats-officedocument.drawingml.chartshapes+xml"/>
  <Override PartName="/ppt/charts/chart14.xml" ContentType="application/vnd.openxmlformats-officedocument.drawingml.chart+xml"/>
  <Override PartName="/ppt/theme/themeOverride3.xml" ContentType="application/vnd.openxmlformats-officedocument.themeOverride+xml"/>
  <Override PartName="/ppt/drawings/drawing4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5.xml" ContentType="application/vnd.openxmlformats-officedocument.drawingml.chart+xml"/>
  <Override PartName="/ppt/theme/themeOverride4.xml" ContentType="application/vnd.openxmlformats-officedocument.themeOverride+xml"/>
  <Override PartName="/ppt/charts/chart16.xml" ContentType="application/vnd.openxmlformats-officedocument.drawingml.chart+xml"/>
  <Override PartName="/ppt/theme/themeOverride5.xml" ContentType="application/vnd.openxmlformats-officedocument.themeOverride+xml"/>
  <Override PartName="/ppt/charts/chart17.xml" ContentType="application/vnd.openxmlformats-officedocument.drawingml.chart+xml"/>
  <Override PartName="/ppt/theme/themeOverride6.xml" ContentType="application/vnd.openxmlformats-officedocument.themeOverride+xml"/>
  <Override PartName="/ppt/drawings/drawing5.xml" ContentType="application/vnd.openxmlformats-officedocument.drawingml.chartshap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3" r:id="rId3"/>
    <p:sldId id="258" r:id="rId4"/>
    <p:sldId id="269" r:id="rId5"/>
    <p:sldId id="276" r:id="rId6"/>
    <p:sldId id="290" r:id="rId7"/>
    <p:sldId id="291" r:id="rId8"/>
    <p:sldId id="292" r:id="rId9"/>
    <p:sldId id="277" r:id="rId10"/>
    <p:sldId id="278" r:id="rId11"/>
    <p:sldId id="270" r:id="rId12"/>
    <p:sldId id="271" r:id="rId13"/>
    <p:sldId id="272" r:id="rId14"/>
    <p:sldId id="273" r:id="rId15"/>
    <p:sldId id="274" r:id="rId16"/>
    <p:sldId id="275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94" r:id="rId31"/>
    <p:sldId id="295" r:id="rId32"/>
    <p:sldId id="296" r:id="rId33"/>
    <p:sldId id="297" r:id="rId3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9C83"/>
    <a:srgbClr val="F6FBF8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60" d="100"/>
          <a:sy n="60" d="100"/>
        </p:scale>
        <p:origin x="1836" y="20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3.xml"/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3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4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themeOverride" Target="../theme/themeOverride6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3039</c:v>
                </c:pt>
                <c:pt idx="1">
                  <c:v>2761</c:v>
                </c:pt>
                <c:pt idx="2">
                  <c:v>3234</c:v>
                </c:pt>
                <c:pt idx="3">
                  <c:v>3589</c:v>
                </c:pt>
                <c:pt idx="4">
                  <c:v>4026</c:v>
                </c:pt>
                <c:pt idx="5">
                  <c:v>3824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967</c:v>
                </c:pt>
                <c:pt idx="1">
                  <c:v>928</c:v>
                </c:pt>
                <c:pt idx="2">
                  <c:v>1225</c:v>
                </c:pt>
                <c:pt idx="3">
                  <c:v>1258</c:v>
                </c:pt>
                <c:pt idx="4">
                  <c:v>1518</c:v>
                </c:pt>
                <c:pt idx="5">
                  <c:v>1456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899</c:v>
                </c:pt>
                <c:pt idx="1">
                  <c:v>756</c:v>
                </c:pt>
                <c:pt idx="2">
                  <c:v>804</c:v>
                </c:pt>
                <c:pt idx="3">
                  <c:v>868</c:v>
                </c:pt>
                <c:pt idx="4">
                  <c:v>990</c:v>
                </c:pt>
                <c:pt idx="5">
                  <c:v>948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534</c:v>
                </c:pt>
                <c:pt idx="1">
                  <c:v>512</c:v>
                </c:pt>
                <c:pt idx="2">
                  <c:v>570</c:v>
                </c:pt>
                <c:pt idx="3">
                  <c:v>699</c:v>
                </c:pt>
                <c:pt idx="4">
                  <c:v>751</c:v>
                </c:pt>
                <c:pt idx="5">
                  <c:v>723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1456</c:v>
                </c:pt>
                <c:pt idx="1">
                  <c:v>948</c:v>
                </c:pt>
                <c:pt idx="2">
                  <c:v>723</c:v>
                </c:pt>
                <c:pt idx="3">
                  <c:v>217</c:v>
                </c:pt>
                <c:pt idx="4">
                  <c:v>80</c:v>
                </c:pt>
                <c:pt idx="5">
                  <c:v>52</c:v>
                </c:pt>
                <c:pt idx="6">
                  <c:v>116</c:v>
                </c:pt>
                <c:pt idx="7">
                  <c:v>61</c:v>
                </c:pt>
                <c:pt idx="8">
                  <c:v>40</c:v>
                </c:pt>
                <c:pt idx="9">
                  <c:v>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38.1</c:v>
                </c:pt>
                <c:pt idx="1">
                  <c:v>24.8</c:v>
                </c:pt>
                <c:pt idx="2">
                  <c:v>18.9</c:v>
                </c:pt>
                <c:pt idx="3">
                  <c:v>5.7</c:v>
                </c:pt>
                <c:pt idx="4">
                  <c:v>3.0</c:v>
                </c:pt>
                <c:pt idx="5">
                  <c:v>2.1</c:v>
                </c:pt>
                <c:pt idx="6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835</c:v>
                </c:pt>
                <c:pt idx="1">
                  <c:v>810</c:v>
                </c:pt>
                <c:pt idx="2">
                  <c:v>903</c:v>
                </c:pt>
                <c:pt idx="3">
                  <c:v>757</c:v>
                </c:pt>
                <c:pt idx="4">
                  <c:v>866</c:v>
                </c:pt>
                <c:pt idx="5">
                  <c:v>803</c:v>
                </c:pt>
                <c:pt idx="6">
                  <c:v>768</c:v>
                </c:pt>
                <c:pt idx="7">
                  <c:v>844</c:v>
                </c:pt>
                <c:pt idx="8">
                  <c:v>829</c:v>
                </c:pt>
                <c:pt idx="9">
                  <c:v>940</c:v>
                </c:pt>
                <c:pt idx="10">
                  <c:v>1005</c:v>
                </c:pt>
                <c:pt idx="11">
                  <c:v>1127</c:v>
                </c:pt>
                <c:pt idx="12">
                  <c:v>1128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491</c:v>
                </c:pt>
                <c:pt idx="1">
                  <c:v>510</c:v>
                </c:pt>
                <c:pt idx="2">
                  <c:v>634</c:v>
                </c:pt>
                <c:pt idx="3">
                  <c:v>489</c:v>
                </c:pt>
                <c:pt idx="4">
                  <c:v>602</c:v>
                </c:pt>
                <c:pt idx="5">
                  <c:v>534</c:v>
                </c:pt>
                <c:pt idx="6">
                  <c:v>631</c:v>
                </c:pt>
                <c:pt idx="7">
                  <c:v>700</c:v>
                </c:pt>
                <c:pt idx="8">
                  <c:v>569</c:v>
                </c:pt>
                <c:pt idx="9">
                  <c:v>631</c:v>
                </c:pt>
                <c:pt idx="10">
                  <c:v>716</c:v>
                </c:pt>
                <c:pt idx="11">
                  <c:v>788</c:v>
                </c:pt>
                <c:pt idx="12">
                  <c:v>808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145</c:v>
                </c:pt>
                <c:pt idx="1">
                  <c:v>100</c:v>
                </c:pt>
                <c:pt idx="2">
                  <c:v>94</c:v>
                </c:pt>
                <c:pt idx="3">
                  <c:v>87</c:v>
                </c:pt>
                <c:pt idx="4">
                  <c:v>103</c:v>
                </c:pt>
                <c:pt idx="5">
                  <c:v>89</c:v>
                </c:pt>
                <c:pt idx="6">
                  <c:v>92</c:v>
                </c:pt>
                <c:pt idx="7">
                  <c:v>109</c:v>
                </c:pt>
                <c:pt idx="8">
                  <c:v>166</c:v>
                </c:pt>
                <c:pt idx="9">
                  <c:v>306</c:v>
                </c:pt>
                <c:pt idx="10">
                  <c:v>364</c:v>
                </c:pt>
                <c:pt idx="11">
                  <c:v>352</c:v>
                </c:pt>
                <c:pt idx="12">
                  <c:v>248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47</c:v>
                </c:pt>
                <c:pt idx="1">
                  <c:v>57</c:v>
                </c:pt>
                <c:pt idx="2">
                  <c:v>71</c:v>
                </c:pt>
                <c:pt idx="3">
                  <c:v>74</c:v>
                </c:pt>
                <c:pt idx="4">
                  <c:v>90</c:v>
                </c:pt>
                <c:pt idx="5">
                  <c:v>105</c:v>
                </c:pt>
                <c:pt idx="6">
                  <c:v>170</c:v>
                </c:pt>
                <c:pt idx="7">
                  <c:v>307</c:v>
                </c:pt>
                <c:pt idx="8">
                  <c:v>281</c:v>
                </c:pt>
                <c:pt idx="9">
                  <c:v>340</c:v>
                </c:pt>
                <c:pt idx="10">
                  <c:v>405</c:v>
                </c:pt>
                <c:pt idx="11">
                  <c:v>557</c:v>
                </c:pt>
                <c:pt idx="12">
                  <c:v>584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85</c:v>
                </c:pt>
                <c:pt idx="1">
                  <c:v>72</c:v>
                </c:pt>
                <c:pt idx="2">
                  <c:v>77</c:v>
                </c:pt>
                <c:pt idx="3">
                  <c:v>75</c:v>
                </c:pt>
                <c:pt idx="4">
                  <c:v>84</c:v>
                </c:pt>
                <c:pt idx="5">
                  <c:v>89</c:v>
                </c:pt>
                <c:pt idx="6">
                  <c:v>104</c:v>
                </c:pt>
                <c:pt idx="7">
                  <c:v>124</c:v>
                </c:pt>
                <c:pt idx="8">
                  <c:v>135</c:v>
                </c:pt>
                <c:pt idx="9">
                  <c:v>245</c:v>
                </c:pt>
                <c:pt idx="10">
                  <c:v>334</c:v>
                </c:pt>
                <c:pt idx="11">
                  <c:v>429</c:v>
                </c:pt>
                <c:pt idx="12">
                  <c:v>296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61</c:v>
                </c:pt>
                <c:pt idx="1">
                  <c:v>64</c:v>
                </c:pt>
                <c:pt idx="2">
                  <c:v>71</c:v>
                </c:pt>
                <c:pt idx="3">
                  <c:v>57</c:v>
                </c:pt>
                <c:pt idx="4">
                  <c:v>70</c:v>
                </c:pt>
                <c:pt idx="5">
                  <c:v>76</c:v>
                </c:pt>
                <c:pt idx="6">
                  <c:v>92</c:v>
                </c:pt>
                <c:pt idx="7">
                  <c:v>93</c:v>
                </c:pt>
                <c:pt idx="8">
                  <c:v>79</c:v>
                </c:pt>
                <c:pt idx="9">
                  <c:v>81</c:v>
                </c:pt>
                <c:pt idx="10">
                  <c:v>96</c:v>
                </c:pt>
                <c:pt idx="11">
                  <c:v>92</c:v>
                </c:pt>
                <c:pt idx="12">
                  <c:v>90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387</c:v>
                </c:pt>
                <c:pt idx="1">
                  <c:v>860</c:v>
                </c:pt>
                <c:pt idx="2">
                  <c:v>827</c:v>
                </c:pt>
                <c:pt idx="3">
                  <c:v>548</c:v>
                </c:pt>
                <c:pt idx="4">
                  <c:v>985</c:v>
                </c:pt>
                <c:pt idx="5">
                  <c:v>217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</c:v>
                </c:pt>
                <c:pt idx="1">
                  <c:v>22.5</c:v>
                </c:pt>
                <c:pt idx="2">
                  <c:v>21.6</c:v>
                </c:pt>
                <c:pt idx="3">
                  <c:v>14.3</c:v>
                </c:pt>
                <c:pt idx="4">
                  <c:v>25.8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marker>
            <c:spPr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4472C4">
                      <a:lumMod val="45000"/>
                      <a:lumOff val="55000"/>
                    </a:srgbClr>
                  </a:gs>
                  <a:gs pos="83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tr"/>
      <c:layout>
        <c:manualLayout>
          <c:xMode val="edge"/>
          <c:yMode val="edge"/>
          <c:x val="0.74452294917720518"/>
          <c:y val="7.1534417959081747E-2"/>
          <c:w val="0.23342472603893366"/>
          <c:h val="0.85442886761110248"/>
        </c:manualLayout>
      </c:layout>
      <c:overlay val="1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1.53</c:v>
                </c:pt>
                <c:pt idx="2">
                  <c:v>0.45</c:v>
                </c:pt>
                <c:pt idx="4">
                  <c:v>45.86</c:v>
                </c:pt>
                <c:pt idx="6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B-488A-8575-5BF1DC4FA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Leader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103.48</c:v>
                </c:pt>
                <c:pt idx="1">
                  <c:v>59.59</c:v>
                </c:pt>
                <c:pt idx="2">
                  <c:v>59.4</c:v>
                </c:pt>
                <c:pt idx="3">
                  <c:v>55</c:v>
                </c:pt>
                <c:pt idx="4">
                  <c:v>45.86</c:v>
                </c:pt>
                <c:pt idx="5">
                  <c:v>51.61</c:v>
                </c:pt>
                <c:pt idx="6">
                  <c:v>12.76</c:v>
                </c:pt>
                <c:pt idx="7">
                  <c:v>31.18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B-488A-8575-5BF1DC4FA4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solidFill>
        <a:sysClr val="windowText" lastClr="000000"/>
      </a:solidFill>
    </a:ln>
    <a:effectLst/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103</c:v>
                </c:pt>
                <c:pt idx="3">
                  <c:v>81</c:v>
                </c:pt>
                <c:pt idx="4">
                  <c:v>80</c:v>
                </c:pt>
                <c:pt idx="5">
                  <c:v>80</c:v>
                </c:pt>
                <c:pt idx="6">
                  <c:v>82</c:v>
                </c:pt>
                <c:pt idx="7">
                  <c:v>108</c:v>
                </c:pt>
                <c:pt idx="8">
                  <c:v>98</c:v>
                </c:pt>
                <c:pt idx="9">
                  <c:v>118</c:v>
                </c:pt>
                <c:pt idx="10">
                  <c:v>122</c:v>
                </c:pt>
                <c:pt idx="11">
                  <c:v>138</c:v>
                </c:pt>
                <c:pt idx="12">
                  <c:v>128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</c:v>
                </c:pt>
                <c:pt idx="1">
                  <c:v>61</c:v>
                </c:pt>
                <c:pt idx="2">
                  <c:v>99</c:v>
                </c:pt>
                <c:pt idx="3">
                  <c:v>63</c:v>
                </c:pt>
                <c:pt idx="4">
                  <c:v>66</c:v>
                </c:pt>
                <c:pt idx="5">
                  <c:v>67</c:v>
                </c:pt>
                <c:pt idx="6">
                  <c:v>88</c:v>
                </c:pt>
                <c:pt idx="7">
                  <c:v>104</c:v>
                </c:pt>
                <c:pt idx="8">
                  <c:v>71</c:v>
                </c:pt>
                <c:pt idx="9">
                  <c:v>77</c:v>
                </c:pt>
                <c:pt idx="10">
                  <c:v>107</c:v>
                </c:pt>
                <c:pt idx="11">
                  <c:v>122</c:v>
                </c:pt>
                <c:pt idx="12">
                  <c:v>110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16</c:v>
                </c:pt>
                <c:pt idx="9">
                  <c:v>19</c:v>
                </c:pt>
                <c:pt idx="10">
                  <c:v>30</c:v>
                </c:pt>
                <c:pt idx="11">
                  <c:v>36</c:v>
                </c:pt>
                <c:pt idx="12">
                  <c:v>25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12</c:v>
                </c:pt>
                <c:pt idx="10">
                  <c:v>17</c:v>
                </c:pt>
                <c:pt idx="11">
                  <c:v>18</c:v>
                </c:pt>
                <c:pt idx="12">
                  <c:v>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10</c:v>
                </c:pt>
                <c:pt idx="10">
                  <c:v>15</c:v>
                </c:pt>
                <c:pt idx="11">
                  <c:v>18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11</c:v>
                </c:pt>
                <c:pt idx="8">
                  <c:v>6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191</c:v>
                </c:pt>
                <c:pt idx="1">
                  <c:v>187</c:v>
                </c:pt>
                <c:pt idx="2">
                  <c:v>227</c:v>
                </c:pt>
                <c:pt idx="3">
                  <c:v>177</c:v>
                </c:pt>
                <c:pt idx="4">
                  <c:v>199</c:v>
                </c:pt>
                <c:pt idx="5">
                  <c:v>182</c:v>
                </c:pt>
                <c:pt idx="6">
                  <c:v>181</c:v>
                </c:pt>
                <c:pt idx="7">
                  <c:v>198</c:v>
                </c:pt>
                <c:pt idx="8">
                  <c:v>195</c:v>
                </c:pt>
                <c:pt idx="9">
                  <c:v>230</c:v>
                </c:pt>
                <c:pt idx="10">
                  <c:v>247</c:v>
                </c:pt>
                <c:pt idx="11">
                  <c:v>268</c:v>
                </c:pt>
                <c:pt idx="12">
                  <c:v>252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102</c:v>
                </c:pt>
                <c:pt idx="1">
                  <c:v>115</c:v>
                </c:pt>
                <c:pt idx="2">
                  <c:v>159</c:v>
                </c:pt>
                <c:pt idx="3">
                  <c:v>109</c:v>
                </c:pt>
                <c:pt idx="4">
                  <c:v>136</c:v>
                </c:pt>
                <c:pt idx="5">
                  <c:v>119</c:v>
                </c:pt>
                <c:pt idx="6">
                  <c:v>146</c:v>
                </c:pt>
                <c:pt idx="7">
                  <c:v>171</c:v>
                </c:pt>
                <c:pt idx="8">
                  <c:v>134</c:v>
                </c:pt>
                <c:pt idx="9">
                  <c:v>146</c:v>
                </c:pt>
                <c:pt idx="10">
                  <c:v>176</c:v>
                </c:pt>
                <c:pt idx="11">
                  <c:v>189</c:v>
                </c:pt>
                <c:pt idx="12">
                  <c:v>182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45</c:v>
                </c:pt>
                <c:pt idx="1">
                  <c:v>26</c:v>
                </c:pt>
                <c:pt idx="2">
                  <c:v>23</c:v>
                </c:pt>
                <c:pt idx="3">
                  <c:v>21</c:v>
                </c:pt>
                <c:pt idx="4">
                  <c:v>23</c:v>
                </c:pt>
                <c:pt idx="5">
                  <c:v>20</c:v>
                </c:pt>
                <c:pt idx="6">
                  <c:v>22</c:v>
                </c:pt>
                <c:pt idx="7">
                  <c:v>22</c:v>
                </c:pt>
                <c:pt idx="8">
                  <c:v>40</c:v>
                </c:pt>
                <c:pt idx="9">
                  <c:v>72</c:v>
                </c:pt>
                <c:pt idx="10">
                  <c:v>86</c:v>
                </c:pt>
                <c:pt idx="11">
                  <c:v>89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12</c:v>
                </c:pt>
                <c:pt idx="2">
                  <c:v>18</c:v>
                </c:pt>
                <c:pt idx="3">
                  <c:v>21</c:v>
                </c:pt>
                <c:pt idx="4">
                  <c:v>27</c:v>
                </c:pt>
                <c:pt idx="5">
                  <c:v>29</c:v>
                </c:pt>
                <c:pt idx="6">
                  <c:v>43</c:v>
                </c:pt>
                <c:pt idx="7">
                  <c:v>67</c:v>
                </c:pt>
                <c:pt idx="8">
                  <c:v>63</c:v>
                </c:pt>
                <c:pt idx="9">
                  <c:v>84</c:v>
                </c:pt>
                <c:pt idx="10">
                  <c:v>94</c:v>
                </c:pt>
                <c:pt idx="11">
                  <c:v>132</c:v>
                </c:pt>
                <c:pt idx="12">
                  <c:v>135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15</c:v>
                </c:pt>
                <c:pt idx="5">
                  <c:v>14</c:v>
                </c:pt>
                <c:pt idx="6">
                  <c:v>17</c:v>
                </c:pt>
                <c:pt idx="7">
                  <c:v>18</c:v>
                </c:pt>
                <c:pt idx="8">
                  <c:v>26</c:v>
                </c:pt>
                <c:pt idx="9">
                  <c:v>54</c:v>
                </c:pt>
                <c:pt idx="10">
                  <c:v>68</c:v>
                </c:pt>
                <c:pt idx="11">
                  <c:v>92</c:v>
                </c:pt>
                <c:pt idx="12">
                  <c:v>69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13</c:v>
                </c:pt>
                <c:pt idx="7">
                  <c:v>14</c:v>
                </c:pt>
                <c:pt idx="8">
                  <c:v>12</c:v>
                </c:pt>
                <c:pt idx="9">
                  <c:v>15</c:v>
                </c:pt>
                <c:pt idx="10">
                  <c:v>17</c:v>
                </c:pt>
                <c:pt idx="11">
                  <c:v>16</c:v>
                </c:pt>
                <c:pt idx="12">
                  <c:v>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123</c:v>
                </c:pt>
                <c:pt idx="1">
                  <c:v>119</c:v>
                </c:pt>
                <c:pt idx="2">
                  <c:v>145</c:v>
                </c:pt>
                <c:pt idx="3">
                  <c:v>128</c:v>
                </c:pt>
                <c:pt idx="4">
                  <c:v>137</c:v>
                </c:pt>
                <c:pt idx="5">
                  <c:v>126</c:v>
                </c:pt>
                <c:pt idx="6">
                  <c:v>129</c:v>
                </c:pt>
                <c:pt idx="7">
                  <c:v>138</c:v>
                </c:pt>
                <c:pt idx="8">
                  <c:v>137</c:v>
                </c:pt>
                <c:pt idx="9">
                  <c:v>144</c:v>
                </c:pt>
                <c:pt idx="10">
                  <c:v>161</c:v>
                </c:pt>
                <c:pt idx="11">
                  <c:v>190</c:v>
                </c:pt>
                <c:pt idx="12">
                  <c:v>173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104</c:v>
                </c:pt>
                <c:pt idx="1">
                  <c:v>108</c:v>
                </c:pt>
                <c:pt idx="2">
                  <c:v>128</c:v>
                </c:pt>
                <c:pt idx="3">
                  <c:v>109</c:v>
                </c:pt>
                <c:pt idx="4">
                  <c:v>124</c:v>
                </c:pt>
                <c:pt idx="5">
                  <c:v>107</c:v>
                </c:pt>
                <c:pt idx="6">
                  <c:v>125</c:v>
                </c:pt>
                <c:pt idx="7">
                  <c:v>143</c:v>
                </c:pt>
                <c:pt idx="8">
                  <c:v>119</c:v>
                </c:pt>
                <c:pt idx="9">
                  <c:v>130</c:v>
                </c:pt>
                <c:pt idx="10">
                  <c:v>138</c:v>
                </c:pt>
                <c:pt idx="11">
                  <c:v>170</c:v>
                </c:pt>
                <c:pt idx="12">
                  <c:v>179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</c:v>
                </c:pt>
                <c:pt idx="1">
                  <c:v>20</c:v>
                </c:pt>
                <c:pt idx="2">
                  <c:v>21</c:v>
                </c:pt>
                <c:pt idx="3">
                  <c:v>21</c:v>
                </c:pt>
                <c:pt idx="4">
                  <c:v>22</c:v>
                </c:pt>
                <c:pt idx="5">
                  <c:v>20</c:v>
                </c:pt>
                <c:pt idx="6">
                  <c:v>22</c:v>
                </c:pt>
                <c:pt idx="7">
                  <c:v>28</c:v>
                </c:pt>
                <c:pt idx="8">
                  <c:v>32</c:v>
                </c:pt>
                <c:pt idx="9">
                  <c:v>51</c:v>
                </c:pt>
                <c:pt idx="10">
                  <c:v>70</c:v>
                </c:pt>
                <c:pt idx="11">
                  <c:v>70</c:v>
                </c:pt>
                <c:pt idx="12">
                  <c:v>53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17</c:v>
                </c:pt>
                <c:pt idx="2">
                  <c:v>20</c:v>
                </c:pt>
                <c:pt idx="3">
                  <c:v>20</c:v>
                </c:pt>
                <c:pt idx="4">
                  <c:v>23</c:v>
                </c:pt>
                <c:pt idx="5">
                  <c:v>30</c:v>
                </c:pt>
                <c:pt idx="6">
                  <c:v>45</c:v>
                </c:pt>
                <c:pt idx="7">
                  <c:v>68</c:v>
                </c:pt>
                <c:pt idx="8">
                  <c:v>58</c:v>
                </c:pt>
                <c:pt idx="9">
                  <c:v>65</c:v>
                </c:pt>
                <c:pt idx="10">
                  <c:v>85</c:v>
                </c:pt>
                <c:pt idx="11">
                  <c:v>116</c:v>
                </c:pt>
                <c:pt idx="12">
                  <c:v>115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30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28</c:v>
                </c:pt>
                <c:pt idx="5">
                  <c:v>31</c:v>
                </c:pt>
                <c:pt idx="6">
                  <c:v>40</c:v>
                </c:pt>
                <c:pt idx="7">
                  <c:v>48</c:v>
                </c:pt>
                <c:pt idx="8">
                  <c:v>40</c:v>
                </c:pt>
                <c:pt idx="9">
                  <c:v>72</c:v>
                </c:pt>
                <c:pt idx="10">
                  <c:v>115</c:v>
                </c:pt>
                <c:pt idx="11">
                  <c:v>131</c:v>
                </c:pt>
                <c:pt idx="12">
                  <c:v>93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20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27</c:v>
                </c:pt>
                <c:pt idx="7">
                  <c:v>28</c:v>
                </c:pt>
                <c:pt idx="8">
                  <c:v>24</c:v>
                </c:pt>
                <c:pt idx="9">
                  <c:v>25</c:v>
                </c:pt>
                <c:pt idx="10">
                  <c:v>28</c:v>
                </c:pt>
                <c:pt idx="11">
                  <c:v>30</c:v>
                </c:pt>
                <c:pt idx="12">
                  <c:v>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108</c:v>
                </c:pt>
                <c:pt idx="1">
                  <c:v>102</c:v>
                </c:pt>
                <c:pt idx="2">
                  <c:v>98</c:v>
                </c:pt>
                <c:pt idx="3">
                  <c:v>87</c:v>
                </c:pt>
                <c:pt idx="4">
                  <c:v>100</c:v>
                </c:pt>
                <c:pt idx="5">
                  <c:v>93</c:v>
                </c:pt>
                <c:pt idx="6">
                  <c:v>91</c:v>
                </c:pt>
                <c:pt idx="7">
                  <c:v>104</c:v>
                </c:pt>
                <c:pt idx="8">
                  <c:v>101</c:v>
                </c:pt>
                <c:pt idx="9">
                  <c:v>115</c:v>
                </c:pt>
                <c:pt idx="10">
                  <c:v>123</c:v>
                </c:pt>
                <c:pt idx="11">
                  <c:v>145</c:v>
                </c:pt>
                <c:pt idx="12">
                  <c:v>159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84</c:v>
                </c:pt>
                <c:pt idx="3">
                  <c:v>74</c:v>
                </c:pt>
                <c:pt idx="4">
                  <c:v>95</c:v>
                </c:pt>
                <c:pt idx="5">
                  <c:v>87</c:v>
                </c:pt>
                <c:pt idx="6">
                  <c:v>104</c:v>
                </c:pt>
                <c:pt idx="7">
                  <c:v>108</c:v>
                </c:pt>
                <c:pt idx="8">
                  <c:v>92</c:v>
                </c:pt>
                <c:pt idx="9">
                  <c:v>103</c:v>
                </c:pt>
                <c:pt idx="10">
                  <c:v>112</c:v>
                </c:pt>
                <c:pt idx="11">
                  <c:v>119</c:v>
                </c:pt>
                <c:pt idx="12">
                  <c:v>130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11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14</c:v>
                </c:pt>
                <c:pt idx="9">
                  <c:v>31</c:v>
                </c:pt>
                <c:pt idx="10">
                  <c:v>38</c:v>
                </c:pt>
                <c:pt idx="11">
                  <c:v>40</c:v>
                </c:pt>
                <c:pt idx="12">
                  <c:v>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14</c:v>
                </c:pt>
                <c:pt idx="7">
                  <c:v>28</c:v>
                </c:pt>
                <c:pt idx="8">
                  <c:v>21</c:v>
                </c:pt>
                <c:pt idx="9">
                  <c:v>29</c:v>
                </c:pt>
                <c:pt idx="10">
                  <c:v>42</c:v>
                </c:pt>
                <c:pt idx="11">
                  <c:v>62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8</c:v>
                </c:pt>
                <c:pt idx="5">
                  <c:v>9</c:v>
                </c:pt>
                <c:pt idx="6">
                  <c:v>13</c:v>
                </c:pt>
                <c:pt idx="7">
                  <c:v>17</c:v>
                </c:pt>
                <c:pt idx="8">
                  <c:v>15</c:v>
                </c:pt>
                <c:pt idx="9">
                  <c:v>25</c:v>
                </c:pt>
                <c:pt idx="10">
                  <c:v>35</c:v>
                </c:pt>
                <c:pt idx="11">
                  <c:v>57</c:v>
                </c:pt>
                <c:pt idx="12">
                  <c:v>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8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258</c:v>
                </c:pt>
                <c:pt idx="1">
                  <c:v>229</c:v>
                </c:pt>
                <c:pt idx="2">
                  <c:v>257</c:v>
                </c:pt>
                <c:pt idx="3">
                  <c:v>216</c:v>
                </c:pt>
                <c:pt idx="4">
                  <c:v>287</c:v>
                </c:pt>
                <c:pt idx="5">
                  <c:v>248</c:v>
                </c:pt>
                <c:pt idx="6">
                  <c:v>217</c:v>
                </c:pt>
                <c:pt idx="7">
                  <c:v>225</c:v>
                </c:pt>
                <c:pt idx="8">
                  <c:v>224</c:v>
                </c:pt>
                <c:pt idx="9">
                  <c:v>260</c:v>
                </c:pt>
                <c:pt idx="10">
                  <c:v>259</c:v>
                </c:pt>
                <c:pt idx="11">
                  <c:v>290</c:v>
                </c:pt>
                <c:pt idx="12">
                  <c:v>308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</c:v>
                </c:pt>
                <c:pt idx="1">
                  <c:v>128</c:v>
                </c:pt>
                <c:pt idx="2">
                  <c:v>149</c:v>
                </c:pt>
                <c:pt idx="3">
                  <c:v>120</c:v>
                </c:pt>
                <c:pt idx="4">
                  <c:v>168</c:v>
                </c:pt>
                <c:pt idx="5">
                  <c:v>140</c:v>
                </c:pt>
                <c:pt idx="6">
                  <c:v>155</c:v>
                </c:pt>
                <c:pt idx="7">
                  <c:v>162</c:v>
                </c:pt>
                <c:pt idx="8">
                  <c:v>142</c:v>
                </c:pt>
                <c:pt idx="9">
                  <c:v>164</c:v>
                </c:pt>
                <c:pt idx="10">
                  <c:v>169</c:v>
                </c:pt>
                <c:pt idx="11">
                  <c:v>175</c:v>
                </c:pt>
                <c:pt idx="12">
                  <c:v>191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</c:v>
                </c:pt>
                <c:pt idx="1">
                  <c:v>19</c:v>
                </c:pt>
                <c:pt idx="2">
                  <c:v>20</c:v>
                </c:pt>
                <c:pt idx="3">
                  <c:v>18</c:v>
                </c:pt>
                <c:pt idx="4">
                  <c:v>30</c:v>
                </c:pt>
                <c:pt idx="5">
                  <c:v>21</c:v>
                </c:pt>
                <c:pt idx="6">
                  <c:v>20</c:v>
                </c:pt>
                <c:pt idx="7">
                  <c:v>23</c:v>
                </c:pt>
                <c:pt idx="8">
                  <c:v>45</c:v>
                </c:pt>
                <c:pt idx="9">
                  <c:v>107</c:v>
                </c:pt>
                <c:pt idx="10">
                  <c:v>103</c:v>
                </c:pt>
                <c:pt idx="11">
                  <c:v>88</c:v>
                </c:pt>
                <c:pt idx="12">
                  <c:v>51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18</c:v>
                </c:pt>
                <c:pt idx="3">
                  <c:v>18</c:v>
                </c:pt>
                <c:pt idx="4">
                  <c:v>24</c:v>
                </c:pt>
                <c:pt idx="5">
                  <c:v>25</c:v>
                </c:pt>
                <c:pt idx="6">
                  <c:v>52</c:v>
                </c:pt>
                <c:pt idx="7">
                  <c:v>124</c:v>
                </c:pt>
                <c:pt idx="8">
                  <c:v>119</c:v>
                </c:pt>
                <c:pt idx="9">
                  <c:v>140</c:v>
                </c:pt>
                <c:pt idx="10">
                  <c:v>152</c:v>
                </c:pt>
                <c:pt idx="11">
                  <c:v>215</c:v>
                </c:pt>
                <c:pt idx="12">
                  <c:v>230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13</c:v>
                </c:pt>
                <c:pt idx="2">
                  <c:v>14</c:v>
                </c:pt>
                <c:pt idx="3">
                  <c:v>13</c:v>
                </c:pt>
                <c:pt idx="4">
                  <c:v>23</c:v>
                </c:pt>
                <c:pt idx="5">
                  <c:v>23</c:v>
                </c:pt>
                <c:pt idx="6">
                  <c:v>24</c:v>
                </c:pt>
                <c:pt idx="7">
                  <c:v>26</c:v>
                </c:pt>
                <c:pt idx="8">
                  <c:v>38</c:v>
                </c:pt>
                <c:pt idx="9">
                  <c:v>74</c:v>
                </c:pt>
                <c:pt idx="10">
                  <c:v>85</c:v>
                </c:pt>
                <c:pt idx="11">
                  <c:v>119</c:v>
                </c:pt>
                <c:pt idx="12">
                  <c:v>76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17</c:v>
                </c:pt>
                <c:pt idx="2">
                  <c:v>18</c:v>
                </c:pt>
                <c:pt idx="3">
                  <c:v>15</c:v>
                </c:pt>
                <c:pt idx="4">
                  <c:v>19</c:v>
                </c:pt>
                <c:pt idx="5">
                  <c:v>21</c:v>
                </c:pt>
                <c:pt idx="6">
                  <c:v>20</c:v>
                </c:pt>
                <c:pt idx="7">
                  <c:v>20</c:v>
                </c:pt>
                <c:pt idx="8">
                  <c:v>19</c:v>
                </c:pt>
                <c:pt idx="9">
                  <c:v>19</c:v>
                </c:pt>
                <c:pt idx="10">
                  <c:v>22</c:v>
                </c:pt>
                <c:pt idx="11">
                  <c:v>19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</c:v>
                </c:pt>
                <c:pt idx="1">
                  <c:v>93</c:v>
                </c:pt>
                <c:pt idx="2">
                  <c:v>73</c:v>
                </c:pt>
                <c:pt idx="3">
                  <c:v>68</c:v>
                </c:pt>
                <c:pt idx="4">
                  <c:v>63</c:v>
                </c:pt>
                <c:pt idx="5">
                  <c:v>74</c:v>
                </c:pt>
                <c:pt idx="6">
                  <c:v>68</c:v>
                </c:pt>
                <c:pt idx="7">
                  <c:v>71</c:v>
                </c:pt>
                <c:pt idx="8">
                  <c:v>74</c:v>
                </c:pt>
                <c:pt idx="9">
                  <c:v>73</c:v>
                </c:pt>
                <c:pt idx="10">
                  <c:v>93</c:v>
                </c:pt>
                <c:pt idx="11">
                  <c:v>96</c:v>
                </c:pt>
                <c:pt idx="12">
                  <c:v>108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14</c:v>
                </c:pt>
                <c:pt idx="11">
                  <c:v>13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14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12</c:v>
                </c:pt>
                <c:pt idx="8">
                  <c:v>19</c:v>
                </c:pt>
                <c:pt idx="9">
                  <c:v>26</c:v>
                </c:pt>
                <c:pt idx="10">
                  <c:v>37</c:v>
                </c:pt>
                <c:pt idx="11">
                  <c:v>29</c:v>
                </c:pt>
                <c:pt idx="12">
                  <c:v>24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15</c:v>
                </c:pt>
                <c:pt idx="11">
                  <c:v>14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4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16</c:v>
                </c:pt>
                <c:pt idx="11">
                  <c:v>12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17</c:v>
                </c:pt>
                <c:pt idx="7">
                  <c:v>11</c:v>
                </c:pt>
                <c:pt idx="8">
                  <c:v>10</c:v>
                </c:pt>
                <c:pt idx="9">
                  <c:v>9</c:v>
                </c:pt>
                <c:pt idx="10">
                  <c:v>13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3459C-1D66-4710-89D5-D5F5E14A937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D4F16-44A7-42A3-A434-61A9821A57FD}">
      <dgm:prSet custT="1"/>
      <dgm:spPr/>
      <dgm:t>
        <a:bodyPr/>
        <a:lstStyle/>
        <a:p>
          <a:pPr algn="ctr"/>
          <a:r>
            <a:rPr lang="en-US" sz="1400" b="1" dirty="0"/>
            <a:t>Key Insights:</a:t>
          </a:r>
          <a:endParaRPr lang="en-IN" sz="1400" dirty="0"/>
        </a:p>
      </dgm:t>
    </dgm:pt>
    <dgm:pt modelId="{3D3F4EF9-76F6-4B1F-97CA-6F48CF3FFB05}" type="parTrans" cxnId="{572A3D41-00D1-4A3C-B823-6ADD7A809769}">
      <dgm:prSet/>
      <dgm:spPr/>
      <dgm:t>
        <a:bodyPr/>
        <a:lstStyle/>
        <a:p>
          <a:endParaRPr lang="en-IN"/>
        </a:p>
      </dgm:t>
    </dgm:pt>
    <dgm:pt modelId="{C2DECF14-2383-4C37-863A-EC0093DB8623}" type="sibTrans" cxnId="{572A3D41-00D1-4A3C-B823-6ADD7A809769}">
      <dgm:prSet/>
      <dgm:spPr/>
      <dgm:t>
        <a:bodyPr/>
        <a:lstStyle/>
        <a:p>
          <a:endParaRPr lang="en-IN"/>
        </a:p>
      </dgm:t>
    </dgm:pt>
    <dgm:pt modelId="{87E49969-AFF0-4C2D-9F91-2EC054FCCAAC}">
      <dgm:prSet custT="1"/>
      <dgm:spPr/>
      <dgm:t>
        <a:bodyPr/>
        <a:lstStyle/>
        <a:p>
          <a:r>
            <a:rPr lang="en-US" sz="900" dirty="0"/>
            <a:t>Category ₹83 Cr (+13% YoY). Himalaya leads (21.6%) but down 3.3 pt. </a:t>
          </a:r>
          <a:r>
            <a:rPr lang="en-US" sz="900" dirty="0" err="1"/>
            <a:t>Mamaearth</a:t>
          </a:r>
          <a:r>
            <a:rPr lang="en-US" sz="900" dirty="0"/>
            <a:t> (#4, +3.1 pt) is the biggest gainer. ★ = </a:t>
          </a:r>
          <a:r>
            <a:rPr lang="en-US" sz="900" dirty="0" err="1"/>
            <a:t>Honasa</a:t>
          </a:r>
          <a:r>
            <a:rPr lang="en-US" sz="900" dirty="0"/>
            <a:t>.</a:t>
          </a:r>
          <a:endParaRPr lang="en-IN" sz="900" dirty="0"/>
        </a:p>
      </dgm:t>
    </dgm:pt>
    <dgm:pt modelId="{23B6B4E8-52F4-41E9-8194-EE8E10CCC699}" type="parTrans" cxnId="{23D46F68-A7F7-4404-A94E-F38E272054DC}">
      <dgm:prSet/>
      <dgm:spPr/>
      <dgm:t>
        <a:bodyPr/>
        <a:lstStyle/>
        <a:p>
          <a:endParaRPr lang="en-IN"/>
        </a:p>
      </dgm:t>
    </dgm:pt>
    <dgm:pt modelId="{7C6C15CF-A8AA-4F3A-A95E-741E99069EA8}" type="sibTrans" cxnId="{23D46F68-A7F7-4404-A94E-F38E272054DC}">
      <dgm:prSet/>
      <dgm:spPr/>
      <dgm:t>
        <a:bodyPr/>
        <a:lstStyle/>
        <a:p>
          <a:endParaRPr lang="en-IN"/>
        </a:p>
      </dgm:t>
    </dgm:pt>
    <dgm:pt modelId="{52572700-72E5-413D-8805-1A6E3F05A616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is the #4 Face Wash brand in MT at 11.6% (+3.1 pt YoY). The legacy leader Himalaya is down 3.3 pt. </a:t>
          </a:r>
          <a:endParaRPr lang="en-IN" sz="900" dirty="0"/>
        </a:p>
      </dgm:t>
    </dgm:pt>
    <dgm:pt modelId="{F3131F66-5DCF-4146-B5F6-E087F2CC272C}" type="parTrans" cxnId="{CA3757B4-7A7C-4D89-A07E-66695AE9B75F}">
      <dgm:prSet/>
      <dgm:spPr/>
      <dgm:t>
        <a:bodyPr/>
        <a:lstStyle/>
        <a:p>
          <a:endParaRPr lang="en-IN"/>
        </a:p>
      </dgm:t>
    </dgm:pt>
    <dgm:pt modelId="{F9B6203A-2301-47AF-BC08-ACA759654F02}" type="sibTrans" cxnId="{CA3757B4-7A7C-4D89-A07E-66695AE9B75F}">
      <dgm:prSet/>
      <dgm:spPr/>
      <dgm:t>
        <a:bodyPr/>
        <a:lstStyle/>
        <a:p>
          <a:endParaRPr lang="en-IN"/>
        </a:p>
      </dgm:t>
    </dgm:pt>
    <dgm:pt modelId="{9DCCF6CA-4A10-4ADA-A146-221BE34A7A05}">
      <dgm:prSet custT="1"/>
      <dgm:spPr/>
      <dgm:t>
        <a:bodyPr/>
        <a:lstStyle/>
        <a:p>
          <a:r>
            <a:rPr lang="en-US" sz="900" dirty="0"/>
            <a:t>The gains are distribution-led: ME weighted handling moved 81→87% &amp; The Derma Co weighted handling moved .6 →14.2%. </a:t>
          </a:r>
          <a:endParaRPr lang="en-IN" sz="900" dirty="0"/>
        </a:p>
      </dgm:t>
    </dgm:pt>
    <dgm:pt modelId="{B809DD88-988F-4B43-BDBB-86BD549B2261}" type="parTrans" cxnId="{AE91A830-5A56-4E87-AEBA-165B309E8088}">
      <dgm:prSet/>
      <dgm:spPr/>
      <dgm:t>
        <a:bodyPr/>
        <a:lstStyle/>
        <a:p>
          <a:endParaRPr lang="en-IN"/>
        </a:p>
      </dgm:t>
    </dgm:pt>
    <dgm:pt modelId="{CF485B60-5D6C-40EC-9C6F-20E352480155}" type="sibTrans" cxnId="{AE91A830-5A56-4E87-AEBA-165B309E8088}">
      <dgm:prSet/>
      <dgm:spPr/>
      <dgm:t>
        <a:bodyPr/>
        <a:lstStyle/>
        <a:p>
          <a:endParaRPr lang="en-IN"/>
        </a:p>
      </dgm:t>
    </dgm:pt>
    <dgm:pt modelId="{AD6E3193-4514-4A2B-BE9C-39882F9A2686}" type="pres">
      <dgm:prSet presAssocID="{B003459C-1D66-4710-89D5-D5F5E14A937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8A5A1A7-49EE-4743-A08D-67E6CADAFD57}" type="pres">
      <dgm:prSet presAssocID="{A88D4F16-44A7-42A3-A434-61A9821A57FD}" presName="horFlow" presStyleCnt="0"/>
      <dgm:spPr/>
    </dgm:pt>
    <dgm:pt modelId="{AC9DFAA5-85F2-4063-83FE-0003ECDF3129}" type="pres">
      <dgm:prSet presAssocID="{A88D4F16-44A7-42A3-A434-61A9821A57FD}" presName="bigChev" presStyleLbl="node1" presStyleIdx="0" presStyleCnt="1" custScaleX="73148" custScaleY="104764"/>
      <dgm:spPr/>
    </dgm:pt>
    <dgm:pt modelId="{6359CE99-CB1F-4F08-8C17-30AFE0A4C310}" type="pres">
      <dgm:prSet presAssocID="{23B6B4E8-52F4-41E9-8194-EE8E10CCC699}" presName="parTrans" presStyleCnt="0"/>
      <dgm:spPr/>
    </dgm:pt>
    <dgm:pt modelId="{B45F4E3A-F28A-4933-AFD2-26B673249C7F}" type="pres">
      <dgm:prSet presAssocID="{87E49969-AFF0-4C2D-9F91-2EC054FCCAAC}" presName="node" presStyleLbl="alignAccFollowNode1" presStyleIdx="0" presStyleCnt="3" custScaleX="97781" custScaleY="114375">
        <dgm:presLayoutVars>
          <dgm:bulletEnabled val="1"/>
        </dgm:presLayoutVars>
      </dgm:prSet>
      <dgm:spPr/>
    </dgm:pt>
    <dgm:pt modelId="{58DA012F-2DF5-4CF8-A157-C603A031B9A5}" type="pres">
      <dgm:prSet presAssocID="{7C6C15CF-A8AA-4F3A-A95E-741E99069EA8}" presName="sibTrans" presStyleCnt="0"/>
      <dgm:spPr/>
    </dgm:pt>
    <dgm:pt modelId="{EABA3E1B-A6F8-4933-8515-1587A22C6B11}" type="pres">
      <dgm:prSet presAssocID="{52572700-72E5-413D-8805-1A6E3F05A616}" presName="node" presStyleLbl="alignAccFollowNode1" presStyleIdx="1" presStyleCnt="3" custScaleX="100512" custScaleY="114215">
        <dgm:presLayoutVars>
          <dgm:bulletEnabled val="1"/>
        </dgm:presLayoutVars>
      </dgm:prSet>
      <dgm:spPr/>
    </dgm:pt>
    <dgm:pt modelId="{C1047C29-2B73-45AA-8FF9-A3C9ACEA117E}" type="pres">
      <dgm:prSet presAssocID="{F9B6203A-2301-47AF-BC08-ACA759654F02}" presName="sibTrans" presStyleCnt="0"/>
      <dgm:spPr/>
    </dgm:pt>
    <dgm:pt modelId="{F4933751-6B04-458B-9157-85E9F085117B}" type="pres">
      <dgm:prSet presAssocID="{9DCCF6CA-4A10-4ADA-A146-221BE34A7A05}" presName="node" presStyleLbl="alignAccFollowNode1" presStyleIdx="2" presStyleCnt="3" custScaleX="99566" custScaleY="114375">
        <dgm:presLayoutVars>
          <dgm:bulletEnabled val="1"/>
        </dgm:presLayoutVars>
      </dgm:prSet>
      <dgm:spPr/>
    </dgm:pt>
  </dgm:ptLst>
  <dgm:cxnLst>
    <dgm:cxn modelId="{AE91A830-5A56-4E87-AEBA-165B309E8088}" srcId="{A88D4F16-44A7-42A3-A434-61A9821A57FD}" destId="{9DCCF6CA-4A10-4ADA-A146-221BE34A7A05}" srcOrd="2" destOrd="0" parTransId="{B809DD88-988F-4B43-BDBB-86BD549B2261}" sibTransId="{CF485B60-5D6C-40EC-9C6F-20E352480155}"/>
    <dgm:cxn modelId="{D9783132-0E6A-4D76-B3F2-376F77AA9E0A}" type="presOf" srcId="{A88D4F16-44A7-42A3-A434-61A9821A57FD}" destId="{AC9DFAA5-85F2-4063-83FE-0003ECDF3129}" srcOrd="0" destOrd="0" presId="urn:microsoft.com/office/officeart/2005/8/layout/lProcess3"/>
    <dgm:cxn modelId="{C1E7D736-BF55-4E3B-B76E-1D22C51B6BC9}" type="presOf" srcId="{9DCCF6CA-4A10-4ADA-A146-221BE34A7A05}" destId="{F4933751-6B04-458B-9157-85E9F085117B}" srcOrd="0" destOrd="0" presId="urn:microsoft.com/office/officeart/2005/8/layout/lProcess3"/>
    <dgm:cxn modelId="{04F9853A-B687-4C18-A36A-471DE764BB4A}" type="presOf" srcId="{52572700-72E5-413D-8805-1A6E3F05A616}" destId="{EABA3E1B-A6F8-4933-8515-1587A22C6B11}" srcOrd="0" destOrd="0" presId="urn:microsoft.com/office/officeart/2005/8/layout/lProcess3"/>
    <dgm:cxn modelId="{572A3D41-00D1-4A3C-B823-6ADD7A809769}" srcId="{B003459C-1D66-4710-89D5-D5F5E14A9374}" destId="{A88D4F16-44A7-42A3-A434-61A9821A57FD}" srcOrd="0" destOrd="0" parTransId="{3D3F4EF9-76F6-4B1F-97CA-6F48CF3FFB05}" sibTransId="{C2DECF14-2383-4C37-863A-EC0093DB8623}"/>
    <dgm:cxn modelId="{23D46F68-A7F7-4404-A94E-F38E272054DC}" srcId="{A88D4F16-44A7-42A3-A434-61A9821A57FD}" destId="{87E49969-AFF0-4C2D-9F91-2EC054FCCAAC}" srcOrd="0" destOrd="0" parTransId="{23B6B4E8-52F4-41E9-8194-EE8E10CCC699}" sibTransId="{7C6C15CF-A8AA-4F3A-A95E-741E99069EA8}"/>
    <dgm:cxn modelId="{29DDA381-7530-48E7-AEE3-7253EEA10B96}" type="presOf" srcId="{87E49969-AFF0-4C2D-9F91-2EC054FCCAAC}" destId="{B45F4E3A-F28A-4933-AFD2-26B673249C7F}" srcOrd="0" destOrd="0" presId="urn:microsoft.com/office/officeart/2005/8/layout/lProcess3"/>
    <dgm:cxn modelId="{CA3757B4-7A7C-4D89-A07E-66695AE9B75F}" srcId="{A88D4F16-44A7-42A3-A434-61A9821A57FD}" destId="{52572700-72E5-413D-8805-1A6E3F05A616}" srcOrd="1" destOrd="0" parTransId="{F3131F66-5DCF-4146-B5F6-E087F2CC272C}" sibTransId="{F9B6203A-2301-47AF-BC08-ACA759654F02}"/>
    <dgm:cxn modelId="{76732CF6-396B-4DFA-AB5C-36D67923B029}" type="presOf" srcId="{B003459C-1D66-4710-89D5-D5F5E14A9374}" destId="{AD6E3193-4514-4A2B-BE9C-39882F9A2686}" srcOrd="0" destOrd="0" presId="urn:microsoft.com/office/officeart/2005/8/layout/lProcess3"/>
    <dgm:cxn modelId="{533D6C61-C347-4617-B058-A19377F9F06F}" type="presParOf" srcId="{AD6E3193-4514-4A2B-BE9C-39882F9A2686}" destId="{D8A5A1A7-49EE-4743-A08D-67E6CADAFD57}" srcOrd="0" destOrd="0" presId="urn:microsoft.com/office/officeart/2005/8/layout/lProcess3"/>
    <dgm:cxn modelId="{1F7715B7-ABED-4585-AA96-F284C1795814}" type="presParOf" srcId="{D8A5A1A7-49EE-4743-A08D-67E6CADAFD57}" destId="{AC9DFAA5-85F2-4063-83FE-0003ECDF3129}" srcOrd="0" destOrd="0" presId="urn:microsoft.com/office/officeart/2005/8/layout/lProcess3"/>
    <dgm:cxn modelId="{79F7A6DD-D3BD-4B48-ADA3-F83C536E8D56}" type="presParOf" srcId="{D8A5A1A7-49EE-4743-A08D-67E6CADAFD57}" destId="{6359CE99-CB1F-4F08-8C17-30AFE0A4C310}" srcOrd="1" destOrd="0" presId="urn:microsoft.com/office/officeart/2005/8/layout/lProcess3"/>
    <dgm:cxn modelId="{EF8CED7C-93EC-4ED1-BD7F-2D6CD748B053}" type="presParOf" srcId="{D8A5A1A7-49EE-4743-A08D-67E6CADAFD57}" destId="{B45F4E3A-F28A-4933-AFD2-26B673249C7F}" srcOrd="2" destOrd="0" presId="urn:microsoft.com/office/officeart/2005/8/layout/lProcess3"/>
    <dgm:cxn modelId="{ADEA485C-7B33-4A45-93DF-637749C51B67}" type="presParOf" srcId="{D8A5A1A7-49EE-4743-A08D-67E6CADAFD57}" destId="{58DA012F-2DF5-4CF8-A157-C603A031B9A5}" srcOrd="3" destOrd="0" presId="urn:microsoft.com/office/officeart/2005/8/layout/lProcess3"/>
    <dgm:cxn modelId="{33165E48-9C02-4A3A-8A09-02E1CF59F59D}" type="presParOf" srcId="{D8A5A1A7-49EE-4743-A08D-67E6CADAFD57}" destId="{EABA3E1B-A6F8-4933-8515-1587A22C6B11}" srcOrd="4" destOrd="0" presId="urn:microsoft.com/office/officeart/2005/8/layout/lProcess3"/>
    <dgm:cxn modelId="{9D273AF1-8D07-4980-8BB4-4CB3131BA62A}" type="presParOf" srcId="{D8A5A1A7-49EE-4743-A08D-67E6CADAFD57}" destId="{C1047C29-2B73-45AA-8FF9-A3C9ACEA117E}" srcOrd="5" destOrd="0" presId="urn:microsoft.com/office/officeart/2005/8/layout/lProcess3"/>
    <dgm:cxn modelId="{76D999B4-34D5-496D-885D-186AADEC1AAA}" type="presParOf" srcId="{D8A5A1A7-49EE-4743-A08D-67E6CADAFD57}" destId="{F4933751-6B04-458B-9157-85E9F085117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B36DA-30FD-429E-B9A4-51B560F482B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2710A2-009A-4113-971E-D380B36D09E6}">
      <dgm:prSet/>
      <dgm:spPr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b="1" dirty="0"/>
            <a:t>HONASA IS GAINING MODERN TRADE SHARE, LED BY STRONGER DISTRIBUTION</a:t>
          </a:r>
          <a:endParaRPr lang="en-IN" b="1" dirty="0"/>
        </a:p>
      </dgm:t>
    </dgm:pt>
    <dgm:pt modelId="{77A8BBB5-2042-49F7-863A-76353FCFE8F7}" type="parTrans" cxnId="{BC8A70D3-BF2B-4A5F-8773-9FC967FF8CC9}">
      <dgm:prSet/>
      <dgm:spPr/>
      <dgm:t>
        <a:bodyPr/>
        <a:lstStyle/>
        <a:p>
          <a:endParaRPr lang="en-IN"/>
        </a:p>
      </dgm:t>
    </dgm:pt>
    <dgm:pt modelId="{7143A624-5FB9-45AF-BF01-CF0F3C8992E9}" type="sibTrans" cxnId="{BC8A70D3-BF2B-4A5F-8773-9FC967FF8CC9}">
      <dgm:prSet/>
      <dgm:spPr/>
      <dgm:t>
        <a:bodyPr/>
        <a:lstStyle/>
        <a:p>
          <a:endParaRPr lang="en-IN"/>
        </a:p>
      </dgm:t>
    </dgm:pt>
    <dgm:pt modelId="{65062155-B76B-4E17-B234-C42AA233000B}">
      <dgm:prSet/>
      <dgm:spPr/>
      <dgm:t>
        <a:bodyPr anchor="ctr"/>
        <a:lstStyle/>
        <a:p>
          <a:r>
            <a:rPr lang="en-US" b="1" dirty="0"/>
            <a:t>What happened —</a:t>
          </a:r>
          <a:r>
            <a:rPr lang="en-US" dirty="0"/>
            <a:t> </a:t>
          </a:r>
          <a:r>
            <a:rPr lang="en-US" dirty="0" err="1"/>
            <a:t>Mamaearth</a:t>
          </a:r>
          <a:r>
            <a:rPr lang="en-US" dirty="0"/>
            <a:t> is the </a:t>
          </a:r>
          <a:r>
            <a:rPr lang="en-IN" dirty="0"/>
            <a:t>★</a:t>
          </a:r>
          <a:r>
            <a:rPr lang="en-US" dirty="0"/>
            <a:t>#4 Face Wash brand in MT at 11.6% (+3.1 pt YoY) and is gaining in Shampoo at 3.9% (+1.3 pt). The legacy leader Himalaya is down 3.3 pt.</a:t>
          </a:r>
          <a:endParaRPr lang="en-IN" dirty="0"/>
        </a:p>
      </dgm:t>
    </dgm:pt>
    <dgm:pt modelId="{8EBADEEC-D99C-40E2-9C3E-97ED7271DAF0}" type="parTrans" cxnId="{557630BE-3F3C-4E2C-9CF4-4F2EA7032795}">
      <dgm:prSet/>
      <dgm:spPr/>
      <dgm:t>
        <a:bodyPr/>
        <a:lstStyle/>
        <a:p>
          <a:endParaRPr lang="en-IN"/>
        </a:p>
      </dgm:t>
    </dgm:pt>
    <dgm:pt modelId="{CAE335FC-6799-4C68-A04B-8F4C99A3522A}" type="sibTrans" cxnId="{557630BE-3F3C-4E2C-9CF4-4F2EA7032795}">
      <dgm:prSet/>
      <dgm:spPr/>
      <dgm:t>
        <a:bodyPr/>
        <a:lstStyle/>
        <a:p>
          <a:endParaRPr lang="en-IN"/>
        </a:p>
      </dgm:t>
    </dgm:pt>
    <dgm:pt modelId="{AD2F7022-A92B-4326-809D-8C15496F8AF5}">
      <dgm:prSet/>
      <dgm:spPr/>
      <dgm:t>
        <a:bodyPr anchor="ctr"/>
        <a:lstStyle/>
        <a:p>
          <a:r>
            <a:rPr lang="en-US" b="1" dirty="0"/>
            <a:t>Why — </a:t>
          </a:r>
          <a:r>
            <a:rPr lang="en-US" dirty="0"/>
            <a:t>The gains are distribution-led: </a:t>
          </a:r>
          <a:r>
            <a:rPr lang="en-US" dirty="0" err="1"/>
            <a:t>Mamaearth</a:t>
          </a:r>
          <a:r>
            <a:rPr lang="en-US" dirty="0"/>
            <a:t> weighted handling moved 81→87% (FW) and 76→81% (Shampoo). The Derma Co is building MT from near-zero (0.6→14.2% handling).</a:t>
          </a:r>
          <a:endParaRPr lang="en-IN" dirty="0"/>
        </a:p>
      </dgm:t>
    </dgm:pt>
    <dgm:pt modelId="{ECE58BA4-3994-49E3-92E3-13878623A988}" type="parTrans" cxnId="{0DBC56BB-FABC-40C2-A142-B5B12F9F6A28}">
      <dgm:prSet/>
      <dgm:spPr/>
      <dgm:t>
        <a:bodyPr/>
        <a:lstStyle/>
        <a:p>
          <a:endParaRPr lang="en-IN"/>
        </a:p>
      </dgm:t>
    </dgm:pt>
    <dgm:pt modelId="{20D77FC4-020E-4F7C-894A-6AADA65B8F59}" type="sibTrans" cxnId="{0DBC56BB-FABC-40C2-A142-B5B12F9F6A28}">
      <dgm:prSet/>
      <dgm:spPr/>
      <dgm:t>
        <a:bodyPr/>
        <a:lstStyle/>
        <a:p>
          <a:endParaRPr lang="en-IN"/>
        </a:p>
      </dgm:t>
    </dgm:pt>
    <dgm:pt modelId="{C95A7DCC-3215-4427-A522-A9DB460B3818}">
      <dgm:prSet/>
      <dgm:spPr/>
      <dgm:t>
        <a:bodyPr anchor="ctr"/>
        <a:lstStyle/>
        <a:p>
          <a:r>
            <a:rPr lang="en-US" b="1" dirty="0"/>
            <a:t>Impact — </a:t>
          </a:r>
          <a:r>
            <a:rPr lang="en-US" dirty="0" err="1"/>
            <a:t>Honasa</a:t>
          </a:r>
          <a:r>
            <a:rPr lang="en-US" dirty="0"/>
            <a:t> is converting MT shelf into share in the two largest cleansing categories, worth ₹9.6 Cr + ₹6.5 Cr monthly RR and rising.</a:t>
          </a:r>
          <a:endParaRPr lang="en-IN" dirty="0"/>
        </a:p>
      </dgm:t>
    </dgm:pt>
    <dgm:pt modelId="{EA264769-8ED4-4932-98D6-FD482E0D63DB}" type="parTrans" cxnId="{4144644D-09D3-40B0-BF02-B5C18B638B52}">
      <dgm:prSet/>
      <dgm:spPr/>
      <dgm:t>
        <a:bodyPr/>
        <a:lstStyle/>
        <a:p>
          <a:endParaRPr lang="en-IN"/>
        </a:p>
      </dgm:t>
    </dgm:pt>
    <dgm:pt modelId="{23ACEAC4-F078-47AD-9EC3-923BAD8E42AE}" type="sibTrans" cxnId="{4144644D-09D3-40B0-BF02-B5C18B638B52}">
      <dgm:prSet/>
      <dgm:spPr/>
      <dgm:t>
        <a:bodyPr/>
        <a:lstStyle/>
        <a:p>
          <a:endParaRPr lang="en-IN"/>
        </a:p>
      </dgm:t>
    </dgm:pt>
    <dgm:pt modelId="{0231D5BF-FF2C-47A3-9220-CA1B4AB7CB93}">
      <dgm:prSet/>
      <dgm:spPr/>
      <dgm:t>
        <a:bodyPr anchor="ctr"/>
        <a:lstStyle/>
        <a:p>
          <a:r>
            <a:rPr lang="en-US" b="1" dirty="0"/>
            <a:t>Action — </a:t>
          </a:r>
          <a:r>
            <a:rPr lang="en-US" dirty="0"/>
            <a:t>Need to protect the FW Distribution gain and checked for Shampoo assortment gaps in chains to identify further growth opportunities.</a:t>
          </a:r>
          <a:endParaRPr lang="en-IN" dirty="0"/>
        </a:p>
      </dgm:t>
    </dgm:pt>
    <dgm:pt modelId="{79B768AB-A91E-4780-81A9-835F5D174731}" type="parTrans" cxnId="{F2A07B7C-864A-40D5-B4C3-1F4858D9A574}">
      <dgm:prSet/>
      <dgm:spPr/>
      <dgm:t>
        <a:bodyPr/>
        <a:lstStyle/>
        <a:p>
          <a:endParaRPr lang="en-IN"/>
        </a:p>
      </dgm:t>
    </dgm:pt>
    <dgm:pt modelId="{E361D35A-9D18-4D8D-BF61-FDC36DD7A871}" type="sibTrans" cxnId="{F2A07B7C-864A-40D5-B4C3-1F4858D9A574}">
      <dgm:prSet/>
      <dgm:spPr/>
      <dgm:t>
        <a:bodyPr/>
        <a:lstStyle/>
        <a:p>
          <a:endParaRPr lang="en-IN"/>
        </a:p>
      </dgm:t>
    </dgm:pt>
    <dgm:pt modelId="{4458F8B2-7309-4B79-B1ED-66772D733DE5}" type="pres">
      <dgm:prSet presAssocID="{75EB36DA-30FD-429E-B9A4-51B560F482B3}" presName="vert0" presStyleCnt="0">
        <dgm:presLayoutVars>
          <dgm:dir/>
          <dgm:animOne val="branch"/>
          <dgm:animLvl val="lvl"/>
        </dgm:presLayoutVars>
      </dgm:prSet>
      <dgm:spPr/>
    </dgm:pt>
    <dgm:pt modelId="{E1A54491-AF60-4F4A-8502-1EC3307DAD88}" type="pres">
      <dgm:prSet presAssocID="{C32710A2-009A-4113-971E-D380B36D09E6}" presName="thickLine" presStyleLbl="alignNode1" presStyleIdx="0" presStyleCnt="1"/>
      <dgm:spPr/>
    </dgm:pt>
    <dgm:pt modelId="{CB6BA72A-8EE0-4FC8-8FA4-54E4E6C5ED45}" type="pres">
      <dgm:prSet presAssocID="{C32710A2-009A-4113-971E-D380B36D09E6}" presName="horz1" presStyleCnt="0"/>
      <dgm:spPr/>
    </dgm:pt>
    <dgm:pt modelId="{3B507AF8-74BE-4443-B823-02C4F7422963}" type="pres">
      <dgm:prSet presAssocID="{C32710A2-009A-4113-971E-D380B36D09E6}" presName="tx1" presStyleLbl="revTx" presStyleIdx="0" presStyleCnt="5"/>
      <dgm:spPr/>
    </dgm:pt>
    <dgm:pt modelId="{1C525586-FFAD-4571-8EBA-CC0DC154B7EA}" type="pres">
      <dgm:prSet presAssocID="{C32710A2-009A-4113-971E-D380B36D09E6}" presName="vert1" presStyleCnt="0"/>
      <dgm:spPr/>
    </dgm:pt>
    <dgm:pt modelId="{63B59168-D6A9-41C1-B52C-0CD7F2EDF0B0}" type="pres">
      <dgm:prSet presAssocID="{65062155-B76B-4E17-B234-C42AA233000B}" presName="vertSpace2a" presStyleCnt="0"/>
      <dgm:spPr/>
    </dgm:pt>
    <dgm:pt modelId="{C8B4FAEE-E7A3-4EBE-88EB-8866AB80EE67}" type="pres">
      <dgm:prSet presAssocID="{65062155-B76B-4E17-B234-C42AA233000B}" presName="horz2" presStyleCnt="0"/>
      <dgm:spPr/>
    </dgm:pt>
    <dgm:pt modelId="{84322DDF-A8D5-49B8-B460-A4052A9E28E1}" type="pres">
      <dgm:prSet presAssocID="{65062155-B76B-4E17-B234-C42AA233000B}" presName="horzSpace2" presStyleCnt="0"/>
      <dgm:spPr/>
    </dgm:pt>
    <dgm:pt modelId="{5E9C23F4-222C-484A-A108-B17963B330E8}" type="pres">
      <dgm:prSet presAssocID="{65062155-B76B-4E17-B234-C42AA233000B}" presName="tx2" presStyleLbl="revTx" presStyleIdx="1" presStyleCnt="5"/>
      <dgm:spPr/>
    </dgm:pt>
    <dgm:pt modelId="{FAF4E696-6F7F-475B-93ED-5E188493B912}" type="pres">
      <dgm:prSet presAssocID="{65062155-B76B-4E17-B234-C42AA233000B}" presName="vert2" presStyleCnt="0"/>
      <dgm:spPr/>
    </dgm:pt>
    <dgm:pt modelId="{3014EFA0-5169-4D60-A5D7-934DE2186031}" type="pres">
      <dgm:prSet presAssocID="{65062155-B76B-4E17-B234-C42AA233000B}" presName="thinLine2b" presStyleLbl="callout" presStyleIdx="0" presStyleCnt="4"/>
      <dgm:spPr/>
    </dgm:pt>
    <dgm:pt modelId="{39C494F3-19B0-4FB7-90E5-F670D3B4B257}" type="pres">
      <dgm:prSet presAssocID="{65062155-B76B-4E17-B234-C42AA233000B}" presName="vertSpace2b" presStyleCnt="0"/>
      <dgm:spPr/>
    </dgm:pt>
    <dgm:pt modelId="{5498A288-DDD5-4853-9327-3F6A151FAE97}" type="pres">
      <dgm:prSet presAssocID="{AD2F7022-A92B-4326-809D-8C15496F8AF5}" presName="horz2" presStyleCnt="0"/>
      <dgm:spPr/>
    </dgm:pt>
    <dgm:pt modelId="{3F6E9E9D-FE16-4198-9FB1-0AF8A68AB476}" type="pres">
      <dgm:prSet presAssocID="{AD2F7022-A92B-4326-809D-8C15496F8AF5}" presName="horzSpace2" presStyleCnt="0"/>
      <dgm:spPr/>
    </dgm:pt>
    <dgm:pt modelId="{E45FC06D-6131-4C7B-A993-903F08057C44}" type="pres">
      <dgm:prSet presAssocID="{AD2F7022-A92B-4326-809D-8C15496F8AF5}" presName="tx2" presStyleLbl="revTx" presStyleIdx="2" presStyleCnt="5"/>
      <dgm:spPr/>
    </dgm:pt>
    <dgm:pt modelId="{5956D816-3A2A-4FF7-8EA9-1EDAAF1FB6FE}" type="pres">
      <dgm:prSet presAssocID="{AD2F7022-A92B-4326-809D-8C15496F8AF5}" presName="vert2" presStyleCnt="0"/>
      <dgm:spPr/>
    </dgm:pt>
    <dgm:pt modelId="{F922B264-6F20-4425-AC71-9BADBD8A3A38}" type="pres">
      <dgm:prSet presAssocID="{AD2F7022-A92B-4326-809D-8C15496F8AF5}" presName="thinLine2b" presStyleLbl="callout" presStyleIdx="1" presStyleCnt="4"/>
      <dgm:spPr/>
    </dgm:pt>
    <dgm:pt modelId="{5DA1D6C3-C866-47C8-B04A-EA15568887FE}" type="pres">
      <dgm:prSet presAssocID="{AD2F7022-A92B-4326-809D-8C15496F8AF5}" presName="vertSpace2b" presStyleCnt="0"/>
      <dgm:spPr/>
    </dgm:pt>
    <dgm:pt modelId="{2E8A8921-BE3D-4F50-AC22-6C0B922A5820}" type="pres">
      <dgm:prSet presAssocID="{C95A7DCC-3215-4427-A522-A9DB460B3818}" presName="horz2" presStyleCnt="0"/>
      <dgm:spPr/>
    </dgm:pt>
    <dgm:pt modelId="{747D342F-7564-44FB-A10F-D2A845DCB75E}" type="pres">
      <dgm:prSet presAssocID="{C95A7DCC-3215-4427-A522-A9DB460B3818}" presName="horzSpace2" presStyleCnt="0"/>
      <dgm:spPr/>
    </dgm:pt>
    <dgm:pt modelId="{62D7282F-3AA8-4F87-A566-78073F7C75EA}" type="pres">
      <dgm:prSet presAssocID="{C95A7DCC-3215-4427-A522-A9DB460B3818}" presName="tx2" presStyleLbl="revTx" presStyleIdx="3" presStyleCnt="5"/>
      <dgm:spPr/>
    </dgm:pt>
    <dgm:pt modelId="{1DBCDDB6-6592-4860-9B19-39ADE4DB973A}" type="pres">
      <dgm:prSet presAssocID="{C95A7DCC-3215-4427-A522-A9DB460B3818}" presName="vert2" presStyleCnt="0"/>
      <dgm:spPr/>
    </dgm:pt>
    <dgm:pt modelId="{8DC5D532-BBE1-460A-89C0-ACB6DAE14AE6}" type="pres">
      <dgm:prSet presAssocID="{C95A7DCC-3215-4427-A522-A9DB460B3818}" presName="thinLine2b" presStyleLbl="callout" presStyleIdx="2" presStyleCnt="4"/>
      <dgm:spPr/>
    </dgm:pt>
    <dgm:pt modelId="{22A50117-8D7B-4228-A30A-E75B7155CE8F}" type="pres">
      <dgm:prSet presAssocID="{C95A7DCC-3215-4427-A522-A9DB460B3818}" presName="vertSpace2b" presStyleCnt="0"/>
      <dgm:spPr/>
    </dgm:pt>
    <dgm:pt modelId="{64471B8F-F3FB-4176-B9E4-FEFEA83F20F6}" type="pres">
      <dgm:prSet presAssocID="{0231D5BF-FF2C-47A3-9220-CA1B4AB7CB93}" presName="horz2" presStyleCnt="0"/>
      <dgm:spPr/>
    </dgm:pt>
    <dgm:pt modelId="{579E74B1-70B1-4C7D-8FE6-1489450309D8}" type="pres">
      <dgm:prSet presAssocID="{0231D5BF-FF2C-47A3-9220-CA1B4AB7CB93}" presName="horzSpace2" presStyleCnt="0"/>
      <dgm:spPr/>
    </dgm:pt>
    <dgm:pt modelId="{E42BC4FB-B2B9-457A-B6B4-FE95B4CFE12C}" type="pres">
      <dgm:prSet presAssocID="{0231D5BF-FF2C-47A3-9220-CA1B4AB7CB93}" presName="tx2" presStyleLbl="revTx" presStyleIdx="4" presStyleCnt="5"/>
      <dgm:spPr/>
    </dgm:pt>
    <dgm:pt modelId="{842F7F69-C9FB-4612-A5F7-A25F5B9258C3}" type="pres">
      <dgm:prSet presAssocID="{0231D5BF-FF2C-47A3-9220-CA1B4AB7CB93}" presName="vert2" presStyleCnt="0"/>
      <dgm:spPr/>
    </dgm:pt>
    <dgm:pt modelId="{092B1DD1-FC62-4791-879B-64E5524300D7}" type="pres">
      <dgm:prSet presAssocID="{0231D5BF-FF2C-47A3-9220-CA1B4AB7CB93}" presName="thinLine2b" presStyleLbl="callout" presStyleIdx="3" presStyleCnt="4"/>
      <dgm:spPr/>
    </dgm:pt>
    <dgm:pt modelId="{20B40DFB-F8CA-4BAF-AFF6-27C7BB5E08E9}" type="pres">
      <dgm:prSet presAssocID="{0231D5BF-FF2C-47A3-9220-CA1B4AB7CB93}" presName="vertSpace2b" presStyleCnt="0"/>
      <dgm:spPr/>
    </dgm:pt>
  </dgm:ptLst>
  <dgm:cxnLst>
    <dgm:cxn modelId="{C2FCC767-0288-47FD-9624-EF8ADA1B5CDD}" type="presOf" srcId="{75EB36DA-30FD-429E-B9A4-51B560F482B3}" destId="{4458F8B2-7309-4B79-B1ED-66772D733DE5}" srcOrd="0" destOrd="0" presId="urn:microsoft.com/office/officeart/2008/layout/LinedList"/>
    <dgm:cxn modelId="{4144644D-09D3-40B0-BF02-B5C18B638B52}" srcId="{C32710A2-009A-4113-971E-D380B36D09E6}" destId="{C95A7DCC-3215-4427-A522-A9DB460B3818}" srcOrd="2" destOrd="0" parTransId="{EA264769-8ED4-4932-98D6-FD482E0D63DB}" sibTransId="{23ACEAC4-F078-47AD-9EC3-923BAD8E42AE}"/>
    <dgm:cxn modelId="{F2A07B7C-864A-40D5-B4C3-1F4858D9A574}" srcId="{C32710A2-009A-4113-971E-D380B36D09E6}" destId="{0231D5BF-FF2C-47A3-9220-CA1B4AB7CB93}" srcOrd="3" destOrd="0" parTransId="{79B768AB-A91E-4780-81A9-835F5D174731}" sibTransId="{E361D35A-9D18-4D8D-BF61-FDC36DD7A871}"/>
    <dgm:cxn modelId="{9F224C98-A5BF-46A2-A540-055DABFFA67A}" type="presOf" srcId="{65062155-B76B-4E17-B234-C42AA233000B}" destId="{5E9C23F4-222C-484A-A108-B17963B330E8}" srcOrd="0" destOrd="0" presId="urn:microsoft.com/office/officeart/2008/layout/LinedList"/>
    <dgm:cxn modelId="{DDCE4F99-D085-46B9-BA80-CD977D309E88}" type="presOf" srcId="{C95A7DCC-3215-4427-A522-A9DB460B3818}" destId="{62D7282F-3AA8-4F87-A566-78073F7C75EA}" srcOrd="0" destOrd="0" presId="urn:microsoft.com/office/officeart/2008/layout/LinedList"/>
    <dgm:cxn modelId="{0DC6DB9F-D289-45DC-A118-BC7240D24651}" type="presOf" srcId="{AD2F7022-A92B-4326-809D-8C15496F8AF5}" destId="{E45FC06D-6131-4C7B-A993-903F08057C44}" srcOrd="0" destOrd="0" presId="urn:microsoft.com/office/officeart/2008/layout/LinedList"/>
    <dgm:cxn modelId="{C6138AA3-EE38-485D-897E-8B85585F309B}" type="presOf" srcId="{C32710A2-009A-4113-971E-D380B36D09E6}" destId="{3B507AF8-74BE-4443-B823-02C4F7422963}" srcOrd="0" destOrd="0" presId="urn:microsoft.com/office/officeart/2008/layout/LinedList"/>
    <dgm:cxn modelId="{0DBC56BB-FABC-40C2-A142-B5B12F9F6A28}" srcId="{C32710A2-009A-4113-971E-D380B36D09E6}" destId="{AD2F7022-A92B-4326-809D-8C15496F8AF5}" srcOrd="1" destOrd="0" parTransId="{ECE58BA4-3994-49E3-92E3-13878623A988}" sibTransId="{20D77FC4-020E-4F7C-894A-6AADA65B8F59}"/>
    <dgm:cxn modelId="{557630BE-3F3C-4E2C-9CF4-4F2EA7032795}" srcId="{C32710A2-009A-4113-971E-D380B36D09E6}" destId="{65062155-B76B-4E17-B234-C42AA233000B}" srcOrd="0" destOrd="0" parTransId="{8EBADEEC-D99C-40E2-9C3E-97ED7271DAF0}" sibTransId="{CAE335FC-6799-4C68-A04B-8F4C99A3522A}"/>
    <dgm:cxn modelId="{BC8A70D3-BF2B-4A5F-8773-9FC967FF8CC9}" srcId="{75EB36DA-30FD-429E-B9A4-51B560F482B3}" destId="{C32710A2-009A-4113-971E-D380B36D09E6}" srcOrd="0" destOrd="0" parTransId="{77A8BBB5-2042-49F7-863A-76353FCFE8F7}" sibTransId="{7143A624-5FB9-45AF-BF01-CF0F3C8992E9}"/>
    <dgm:cxn modelId="{A31D49D4-1DB4-4CA5-8DFE-26D02212E6E6}" type="presOf" srcId="{0231D5BF-FF2C-47A3-9220-CA1B4AB7CB93}" destId="{E42BC4FB-B2B9-457A-B6B4-FE95B4CFE12C}" srcOrd="0" destOrd="0" presId="urn:microsoft.com/office/officeart/2008/layout/LinedList"/>
    <dgm:cxn modelId="{3AB21902-67C7-401B-B15F-A1DA86DBEC47}" type="presParOf" srcId="{4458F8B2-7309-4B79-B1ED-66772D733DE5}" destId="{E1A54491-AF60-4F4A-8502-1EC3307DAD88}" srcOrd="0" destOrd="0" presId="urn:microsoft.com/office/officeart/2008/layout/LinedList"/>
    <dgm:cxn modelId="{D78A1E92-3096-4E60-98BB-084C2B005E02}" type="presParOf" srcId="{4458F8B2-7309-4B79-B1ED-66772D733DE5}" destId="{CB6BA72A-8EE0-4FC8-8FA4-54E4E6C5ED45}" srcOrd="1" destOrd="0" presId="urn:microsoft.com/office/officeart/2008/layout/LinedList"/>
    <dgm:cxn modelId="{8955D87E-5A4D-40F9-A7C5-6B3958627CE0}" type="presParOf" srcId="{CB6BA72A-8EE0-4FC8-8FA4-54E4E6C5ED45}" destId="{3B507AF8-74BE-4443-B823-02C4F7422963}" srcOrd="0" destOrd="0" presId="urn:microsoft.com/office/officeart/2008/layout/LinedList"/>
    <dgm:cxn modelId="{BCBB8ECB-22B9-4212-BE7F-E07239677EB0}" type="presParOf" srcId="{CB6BA72A-8EE0-4FC8-8FA4-54E4E6C5ED45}" destId="{1C525586-FFAD-4571-8EBA-CC0DC154B7EA}" srcOrd="1" destOrd="0" presId="urn:microsoft.com/office/officeart/2008/layout/LinedList"/>
    <dgm:cxn modelId="{23E79147-D1FB-4BAF-A3ED-52286EEA67A5}" type="presParOf" srcId="{1C525586-FFAD-4571-8EBA-CC0DC154B7EA}" destId="{63B59168-D6A9-41C1-B52C-0CD7F2EDF0B0}" srcOrd="0" destOrd="0" presId="urn:microsoft.com/office/officeart/2008/layout/LinedList"/>
    <dgm:cxn modelId="{5F1CAAAC-7956-4F5E-9C90-EDE723CA080A}" type="presParOf" srcId="{1C525586-FFAD-4571-8EBA-CC0DC154B7EA}" destId="{C8B4FAEE-E7A3-4EBE-88EB-8866AB80EE67}" srcOrd="1" destOrd="0" presId="urn:microsoft.com/office/officeart/2008/layout/LinedList"/>
    <dgm:cxn modelId="{31834F5C-EDA1-4F2A-9F99-DFA5FAE96C2A}" type="presParOf" srcId="{C8B4FAEE-E7A3-4EBE-88EB-8866AB80EE67}" destId="{84322DDF-A8D5-49B8-B460-A4052A9E28E1}" srcOrd="0" destOrd="0" presId="urn:microsoft.com/office/officeart/2008/layout/LinedList"/>
    <dgm:cxn modelId="{D9A26043-D95D-4D28-B75A-EEB4D4C18696}" type="presParOf" srcId="{C8B4FAEE-E7A3-4EBE-88EB-8866AB80EE67}" destId="{5E9C23F4-222C-484A-A108-B17963B330E8}" srcOrd="1" destOrd="0" presId="urn:microsoft.com/office/officeart/2008/layout/LinedList"/>
    <dgm:cxn modelId="{D396140F-C327-4B9E-81B9-519219CEF1C4}" type="presParOf" srcId="{C8B4FAEE-E7A3-4EBE-88EB-8866AB80EE67}" destId="{FAF4E696-6F7F-475B-93ED-5E188493B912}" srcOrd="2" destOrd="0" presId="urn:microsoft.com/office/officeart/2008/layout/LinedList"/>
    <dgm:cxn modelId="{EE8B8F39-E981-420C-BBC8-1F4254DF65A8}" type="presParOf" srcId="{1C525586-FFAD-4571-8EBA-CC0DC154B7EA}" destId="{3014EFA0-5169-4D60-A5D7-934DE2186031}" srcOrd="2" destOrd="0" presId="urn:microsoft.com/office/officeart/2008/layout/LinedList"/>
    <dgm:cxn modelId="{D6D54DA1-B28F-46CB-9325-5A88D8948B17}" type="presParOf" srcId="{1C525586-FFAD-4571-8EBA-CC0DC154B7EA}" destId="{39C494F3-19B0-4FB7-90E5-F670D3B4B257}" srcOrd="3" destOrd="0" presId="urn:microsoft.com/office/officeart/2008/layout/LinedList"/>
    <dgm:cxn modelId="{572D55D7-6C07-474F-BD58-2F4E7BAA3808}" type="presParOf" srcId="{1C525586-FFAD-4571-8EBA-CC0DC154B7EA}" destId="{5498A288-DDD5-4853-9327-3F6A151FAE97}" srcOrd="4" destOrd="0" presId="urn:microsoft.com/office/officeart/2008/layout/LinedList"/>
    <dgm:cxn modelId="{F218E96C-3CF3-4DFB-960C-0883FD9E7B41}" type="presParOf" srcId="{5498A288-DDD5-4853-9327-3F6A151FAE97}" destId="{3F6E9E9D-FE16-4198-9FB1-0AF8A68AB476}" srcOrd="0" destOrd="0" presId="urn:microsoft.com/office/officeart/2008/layout/LinedList"/>
    <dgm:cxn modelId="{3251F834-C988-4C95-92D0-7D59F0478919}" type="presParOf" srcId="{5498A288-DDD5-4853-9327-3F6A151FAE97}" destId="{E45FC06D-6131-4C7B-A993-903F08057C44}" srcOrd="1" destOrd="0" presId="urn:microsoft.com/office/officeart/2008/layout/LinedList"/>
    <dgm:cxn modelId="{B470ECA7-A5F3-4861-8E18-2677E2F4A467}" type="presParOf" srcId="{5498A288-DDD5-4853-9327-3F6A151FAE97}" destId="{5956D816-3A2A-4FF7-8EA9-1EDAAF1FB6FE}" srcOrd="2" destOrd="0" presId="urn:microsoft.com/office/officeart/2008/layout/LinedList"/>
    <dgm:cxn modelId="{CD33BF6E-A8C8-4F27-96EB-156C27371EEB}" type="presParOf" srcId="{1C525586-FFAD-4571-8EBA-CC0DC154B7EA}" destId="{F922B264-6F20-4425-AC71-9BADBD8A3A38}" srcOrd="5" destOrd="0" presId="urn:microsoft.com/office/officeart/2008/layout/LinedList"/>
    <dgm:cxn modelId="{C8E64ABA-F452-40A6-A4AC-F5E23E681436}" type="presParOf" srcId="{1C525586-FFAD-4571-8EBA-CC0DC154B7EA}" destId="{5DA1D6C3-C866-47C8-B04A-EA15568887FE}" srcOrd="6" destOrd="0" presId="urn:microsoft.com/office/officeart/2008/layout/LinedList"/>
    <dgm:cxn modelId="{BADDD9CB-1AA6-4F73-A1E3-FE1680BA1A68}" type="presParOf" srcId="{1C525586-FFAD-4571-8EBA-CC0DC154B7EA}" destId="{2E8A8921-BE3D-4F50-AC22-6C0B922A5820}" srcOrd="7" destOrd="0" presId="urn:microsoft.com/office/officeart/2008/layout/LinedList"/>
    <dgm:cxn modelId="{EABD49A0-DAA5-43A7-8FA3-E786316B34C7}" type="presParOf" srcId="{2E8A8921-BE3D-4F50-AC22-6C0B922A5820}" destId="{747D342F-7564-44FB-A10F-D2A845DCB75E}" srcOrd="0" destOrd="0" presId="urn:microsoft.com/office/officeart/2008/layout/LinedList"/>
    <dgm:cxn modelId="{0EECFB8E-F6E1-4D23-B648-D80BFD7B8F9B}" type="presParOf" srcId="{2E8A8921-BE3D-4F50-AC22-6C0B922A5820}" destId="{62D7282F-3AA8-4F87-A566-78073F7C75EA}" srcOrd="1" destOrd="0" presId="urn:microsoft.com/office/officeart/2008/layout/LinedList"/>
    <dgm:cxn modelId="{B2046D31-882E-4168-9B6F-7D43FD1F5666}" type="presParOf" srcId="{2E8A8921-BE3D-4F50-AC22-6C0B922A5820}" destId="{1DBCDDB6-6592-4860-9B19-39ADE4DB973A}" srcOrd="2" destOrd="0" presId="urn:microsoft.com/office/officeart/2008/layout/LinedList"/>
    <dgm:cxn modelId="{C0F349F0-D130-40B3-856F-3BA37EE65F0F}" type="presParOf" srcId="{1C525586-FFAD-4571-8EBA-CC0DC154B7EA}" destId="{8DC5D532-BBE1-460A-89C0-ACB6DAE14AE6}" srcOrd="8" destOrd="0" presId="urn:microsoft.com/office/officeart/2008/layout/LinedList"/>
    <dgm:cxn modelId="{B56FC561-24A3-480C-AB59-125A4F481241}" type="presParOf" srcId="{1C525586-FFAD-4571-8EBA-CC0DC154B7EA}" destId="{22A50117-8D7B-4228-A30A-E75B7155CE8F}" srcOrd="9" destOrd="0" presId="urn:microsoft.com/office/officeart/2008/layout/LinedList"/>
    <dgm:cxn modelId="{6318A558-CE03-435F-9350-145906589A84}" type="presParOf" srcId="{1C525586-FFAD-4571-8EBA-CC0DC154B7EA}" destId="{64471B8F-F3FB-4176-B9E4-FEFEA83F20F6}" srcOrd="10" destOrd="0" presId="urn:microsoft.com/office/officeart/2008/layout/LinedList"/>
    <dgm:cxn modelId="{BABAAC55-A042-43AB-AE25-6CF1ED3F9F04}" type="presParOf" srcId="{64471B8F-F3FB-4176-B9E4-FEFEA83F20F6}" destId="{579E74B1-70B1-4C7D-8FE6-1489450309D8}" srcOrd="0" destOrd="0" presId="urn:microsoft.com/office/officeart/2008/layout/LinedList"/>
    <dgm:cxn modelId="{8D4A277A-0F05-4CB0-9BC4-61B5E56F9ED5}" type="presParOf" srcId="{64471B8F-F3FB-4176-B9E4-FEFEA83F20F6}" destId="{E42BC4FB-B2B9-457A-B6B4-FE95B4CFE12C}" srcOrd="1" destOrd="0" presId="urn:microsoft.com/office/officeart/2008/layout/LinedList"/>
    <dgm:cxn modelId="{0FADBEEB-B71D-4884-ACA5-4F8A4E30DD5A}" type="presParOf" srcId="{64471B8F-F3FB-4176-B9E4-FEFEA83F20F6}" destId="{842F7F69-C9FB-4612-A5F7-A25F5B9258C3}" srcOrd="2" destOrd="0" presId="urn:microsoft.com/office/officeart/2008/layout/LinedList"/>
    <dgm:cxn modelId="{54DFCB68-F7C7-4AF7-A8AB-70354883EC73}" type="presParOf" srcId="{1C525586-FFAD-4571-8EBA-CC0DC154B7EA}" destId="{092B1DD1-FC62-4791-879B-64E5524300D7}" srcOrd="11" destOrd="0" presId="urn:microsoft.com/office/officeart/2008/layout/LinedList"/>
    <dgm:cxn modelId="{89CFDCA0-76ED-41B9-9126-8BDE11AE9C6C}" type="presParOf" srcId="{1C525586-FFAD-4571-8EBA-CC0DC154B7EA}" destId="{20B40DFB-F8CA-4BAF-AFF6-27C7BB5E08E9}" srcOrd="12" destOrd="0" presId="urn:microsoft.com/office/officeart/2008/layout/LinedList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6750C4-ABC0-4C9D-9091-09703C9AC4E2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FC8273-F82C-49C1-88D0-B81F65EF0EC5}">
      <dgm:prSet custT="1"/>
      <dgm:spPr/>
      <dgm:t>
        <a:bodyPr/>
        <a:lstStyle/>
        <a:p>
          <a:r>
            <a:rPr lang="en-US" sz="900" b="1" dirty="0"/>
            <a:t>Key Insights</a:t>
          </a:r>
          <a:endParaRPr lang="en-IN" sz="900" dirty="0"/>
        </a:p>
      </dgm:t>
    </dgm:pt>
    <dgm:pt modelId="{2B970594-08CF-4850-8EDD-3D076ABC06DC}" type="parTrans" cxnId="{E20E84E8-2813-41F9-B80C-0EB767889401}">
      <dgm:prSet/>
      <dgm:spPr/>
      <dgm:t>
        <a:bodyPr/>
        <a:lstStyle/>
        <a:p>
          <a:endParaRPr lang="en-IN"/>
        </a:p>
      </dgm:t>
    </dgm:pt>
    <dgm:pt modelId="{804D3B1E-43B5-45F8-8FD7-FAA5EF8EB8A0}" type="sibTrans" cxnId="{E20E84E8-2813-41F9-B80C-0EB767889401}">
      <dgm:prSet/>
      <dgm:spPr/>
      <dgm:t>
        <a:bodyPr/>
        <a:lstStyle/>
        <a:p>
          <a:endParaRPr lang="en-IN"/>
        </a:p>
      </dgm:t>
    </dgm:pt>
    <dgm:pt modelId="{5F04684C-213A-40A4-BF75-9BB00EE192A9}">
      <dgm:prSet custT="1"/>
      <dgm:spPr/>
      <dgm:t>
        <a:bodyPr/>
        <a:lstStyle/>
        <a:p>
          <a:r>
            <a:rPr lang="en-US" sz="900" dirty="0"/>
            <a:t>Face Wash category size is ₹166 Cr.</a:t>
          </a:r>
          <a:endParaRPr lang="en-IN" sz="900" dirty="0"/>
        </a:p>
      </dgm:t>
    </dgm:pt>
    <dgm:pt modelId="{33EB2E9C-66A1-45FB-A163-F23B23D5B7F0}" type="parTrans" cxnId="{5699E2B3-50D0-45FF-9538-EB734158738D}">
      <dgm:prSet/>
      <dgm:spPr/>
      <dgm:t>
        <a:bodyPr/>
        <a:lstStyle/>
        <a:p>
          <a:endParaRPr lang="en-IN"/>
        </a:p>
      </dgm:t>
    </dgm:pt>
    <dgm:pt modelId="{D3B6A091-3B71-4808-85FE-2C3481B60BB9}" type="sibTrans" cxnId="{5699E2B3-50D0-45FF-9538-EB734158738D}">
      <dgm:prSet/>
      <dgm:spPr/>
      <dgm:t>
        <a:bodyPr/>
        <a:lstStyle/>
        <a:p>
          <a:endParaRPr lang="en-IN"/>
        </a:p>
      </dgm:t>
    </dgm:pt>
    <dgm:pt modelId="{68C2ABE7-7329-4D88-88C6-19E80AC3C835}">
      <dgm:prSet custT="1"/>
      <dgm:spPr/>
      <dgm:t>
        <a:bodyPr/>
        <a:lstStyle/>
        <a:p>
          <a:r>
            <a:rPr lang="en-US" sz="900" dirty="0"/>
            <a:t>Dove leads the category with 17.8% share.</a:t>
          </a:r>
          <a:endParaRPr lang="en-IN" sz="900" dirty="0"/>
        </a:p>
      </dgm:t>
    </dgm:pt>
    <dgm:pt modelId="{206BCBA7-8397-4724-A10C-4FD9D6B57C7B}" type="parTrans" cxnId="{40BDD8FD-AEF7-45AE-BCED-0D1A6C5D729F}">
      <dgm:prSet/>
      <dgm:spPr/>
      <dgm:t>
        <a:bodyPr/>
        <a:lstStyle/>
        <a:p>
          <a:endParaRPr lang="en-IN"/>
        </a:p>
      </dgm:t>
    </dgm:pt>
    <dgm:pt modelId="{505CDC2C-0D28-47B8-B3E5-4E97CA2B5074}" type="sibTrans" cxnId="{40BDD8FD-AEF7-45AE-BCED-0D1A6C5D729F}">
      <dgm:prSet/>
      <dgm:spPr/>
      <dgm:t>
        <a:bodyPr/>
        <a:lstStyle/>
        <a:p>
          <a:endParaRPr lang="en-IN"/>
        </a:p>
      </dgm:t>
    </dgm:pt>
    <dgm:pt modelId="{1C633E28-23F6-43C7-A9A9-3DC09B7C93A1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ranks #7 with 3.9% share.</a:t>
          </a:r>
          <a:endParaRPr lang="en-IN" sz="900" dirty="0"/>
        </a:p>
      </dgm:t>
    </dgm:pt>
    <dgm:pt modelId="{161488AA-B640-4A37-9CF9-87C218033D75}" type="parTrans" cxnId="{DDE8710E-5770-447C-A682-B68A2A932409}">
      <dgm:prSet/>
      <dgm:spPr/>
      <dgm:t>
        <a:bodyPr/>
        <a:lstStyle/>
        <a:p>
          <a:endParaRPr lang="en-IN"/>
        </a:p>
      </dgm:t>
    </dgm:pt>
    <dgm:pt modelId="{2757AEA1-EA51-42EB-B4D5-9B7D02309E8A}" type="sibTrans" cxnId="{DDE8710E-5770-447C-A682-B68A2A932409}">
      <dgm:prSet/>
      <dgm:spPr/>
      <dgm:t>
        <a:bodyPr/>
        <a:lstStyle/>
        <a:p>
          <a:endParaRPr lang="en-IN"/>
        </a:p>
      </dgm:t>
    </dgm:pt>
    <dgm:pt modelId="{A497CF4D-07CE-4489-A252-2F82C2339DB3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has gained </a:t>
          </a:r>
          <a:r>
            <a:rPr lang="en-IN" sz="900" b="0" i="0" dirty="0"/>
            <a:t>▲ +134 Bps YOY.</a:t>
          </a:r>
          <a:endParaRPr lang="en-IN" sz="900" dirty="0"/>
        </a:p>
      </dgm:t>
    </dgm:pt>
    <dgm:pt modelId="{D91B9C50-805A-4DFB-A3DA-617BF09A859D}" type="parTrans" cxnId="{2AC6ED87-00DB-4AA2-99EA-C5D9CD56DF5C}">
      <dgm:prSet/>
      <dgm:spPr/>
      <dgm:t>
        <a:bodyPr/>
        <a:lstStyle/>
        <a:p>
          <a:endParaRPr lang="en-IN"/>
        </a:p>
      </dgm:t>
    </dgm:pt>
    <dgm:pt modelId="{F9BCB82A-09F6-457B-B41C-73A6BA6ED05D}" type="sibTrans" cxnId="{2AC6ED87-00DB-4AA2-99EA-C5D9CD56DF5C}">
      <dgm:prSet/>
      <dgm:spPr/>
      <dgm:t>
        <a:bodyPr/>
        <a:lstStyle/>
        <a:p>
          <a:endParaRPr lang="en-IN"/>
        </a:p>
      </dgm:t>
    </dgm:pt>
    <dgm:pt modelId="{0FDB900C-170F-4DD4-878D-53CA40FFC88C}">
      <dgm:prSet custT="1"/>
      <dgm:spPr/>
      <dgm:t>
        <a:bodyPr/>
        <a:lstStyle/>
        <a:p>
          <a:pPr algn="ctr"/>
          <a:r>
            <a:rPr lang="en-US" sz="900" dirty="0"/>
            <a:t>Shampoo distribution remains under-indexed vs Face Wash Dist.</a:t>
          </a:r>
          <a:endParaRPr lang="en-IN" sz="900" dirty="0"/>
        </a:p>
      </dgm:t>
    </dgm:pt>
    <dgm:pt modelId="{466A949E-8297-47C4-ADA8-CF39B0BE8C14}" type="parTrans" cxnId="{4A6087EC-DC6D-4F3A-94A4-27EA2EBBAE78}">
      <dgm:prSet/>
      <dgm:spPr/>
      <dgm:t>
        <a:bodyPr/>
        <a:lstStyle/>
        <a:p>
          <a:endParaRPr lang="en-IN"/>
        </a:p>
      </dgm:t>
    </dgm:pt>
    <dgm:pt modelId="{8593A00F-7F6D-49E6-BAF2-7D2BDF26A4D8}" type="sibTrans" cxnId="{4A6087EC-DC6D-4F3A-94A4-27EA2EBBAE78}">
      <dgm:prSet/>
      <dgm:spPr/>
      <dgm:t>
        <a:bodyPr/>
        <a:lstStyle/>
        <a:p>
          <a:endParaRPr lang="en-IN"/>
        </a:p>
      </dgm:t>
    </dgm:pt>
    <dgm:pt modelId="{B6B5BCF5-9087-401A-873A-EC079ECFC9F0}" type="pres">
      <dgm:prSet presAssocID="{216750C4-ABC0-4C9D-9091-09703C9AC4E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A76498F-E9C0-4631-8EEA-8821E72E4AA4}" type="pres">
      <dgm:prSet presAssocID="{08FC8273-F82C-49C1-88D0-B81F65EF0EC5}" presName="horFlow" presStyleCnt="0"/>
      <dgm:spPr/>
    </dgm:pt>
    <dgm:pt modelId="{78C14A7B-3B65-4C70-B03D-5F0637CE3B5E}" type="pres">
      <dgm:prSet presAssocID="{08FC8273-F82C-49C1-88D0-B81F65EF0EC5}" presName="bigChev" presStyleLbl="node1" presStyleIdx="0" presStyleCnt="1" custScaleX="101974" custScaleY="159029"/>
      <dgm:spPr/>
    </dgm:pt>
    <dgm:pt modelId="{16B3E8AD-D598-499D-A28C-AEF6B836E47A}" type="pres">
      <dgm:prSet presAssocID="{33EB2E9C-66A1-45FB-A163-F23B23D5B7F0}" presName="parTrans" presStyleCnt="0"/>
      <dgm:spPr/>
    </dgm:pt>
    <dgm:pt modelId="{5973C509-4AB8-4735-966D-2D967081E106}" type="pres">
      <dgm:prSet presAssocID="{5F04684C-213A-40A4-BF75-9BB00EE192A9}" presName="node" presStyleLbl="alignAccFollowNode1" presStyleIdx="0" presStyleCnt="5" custScaleX="124427" custScaleY="168055">
        <dgm:presLayoutVars>
          <dgm:bulletEnabled val="1"/>
        </dgm:presLayoutVars>
      </dgm:prSet>
      <dgm:spPr/>
    </dgm:pt>
    <dgm:pt modelId="{A465F7EE-5826-4E91-8049-F2A9A480CA57}" type="pres">
      <dgm:prSet presAssocID="{D3B6A091-3B71-4808-85FE-2C3481B60BB9}" presName="sibTrans" presStyleCnt="0"/>
      <dgm:spPr/>
    </dgm:pt>
    <dgm:pt modelId="{E9687380-6A82-460F-8F04-ADD58EE968CC}" type="pres">
      <dgm:prSet presAssocID="{68C2ABE7-7329-4D88-88C6-19E80AC3C835}" presName="node" presStyleLbl="alignAccFollowNode1" presStyleIdx="1" presStyleCnt="5" custScaleX="130455" custScaleY="142315">
        <dgm:presLayoutVars>
          <dgm:bulletEnabled val="1"/>
        </dgm:presLayoutVars>
      </dgm:prSet>
      <dgm:spPr/>
    </dgm:pt>
    <dgm:pt modelId="{72E4ABD4-D89D-4E78-970A-E01D7C1F75CD}" type="pres">
      <dgm:prSet presAssocID="{505CDC2C-0D28-47B8-B3E5-4E97CA2B5074}" presName="sibTrans" presStyleCnt="0"/>
      <dgm:spPr/>
    </dgm:pt>
    <dgm:pt modelId="{2F73885B-CDC5-433F-94F0-1740FB0BA9A6}" type="pres">
      <dgm:prSet presAssocID="{1C633E28-23F6-43C7-A9A9-3DC09B7C93A1}" presName="node" presStyleLbl="alignAccFollowNode1" presStyleIdx="2" presStyleCnt="5" custScaleX="125586" custScaleY="168055">
        <dgm:presLayoutVars>
          <dgm:bulletEnabled val="1"/>
        </dgm:presLayoutVars>
      </dgm:prSet>
      <dgm:spPr/>
    </dgm:pt>
    <dgm:pt modelId="{B401AD46-3C31-42B6-8879-1972A925F20B}" type="pres">
      <dgm:prSet presAssocID="{2757AEA1-EA51-42EB-B4D5-9B7D02309E8A}" presName="sibTrans" presStyleCnt="0"/>
      <dgm:spPr/>
    </dgm:pt>
    <dgm:pt modelId="{396E9B92-0D71-4E89-AEFC-311FEFF5F3F1}" type="pres">
      <dgm:prSet presAssocID="{A497CF4D-07CE-4489-A252-2F82C2339DB3}" presName="node" presStyleLbl="alignAccFollowNode1" presStyleIdx="3" presStyleCnt="5" custScaleX="144592" custScaleY="200648">
        <dgm:presLayoutVars>
          <dgm:bulletEnabled val="1"/>
        </dgm:presLayoutVars>
      </dgm:prSet>
      <dgm:spPr/>
    </dgm:pt>
    <dgm:pt modelId="{BA19C750-A68F-4118-99F8-EF22DAEAEF6A}" type="pres">
      <dgm:prSet presAssocID="{F9BCB82A-09F6-457B-B41C-73A6BA6ED05D}" presName="sibTrans" presStyleCnt="0"/>
      <dgm:spPr/>
    </dgm:pt>
    <dgm:pt modelId="{D1A1E34E-0E15-4817-855B-5BE12623273D}" type="pres">
      <dgm:prSet presAssocID="{0FDB900C-170F-4DD4-878D-53CA40FFC88C}" presName="node" presStyleLbl="alignAccFollowNode1" presStyleIdx="4" presStyleCnt="5" custScaleX="168534" custScaleY="242471" custLinFactNeighborX="-24812" custLinFactNeighborY="3899">
        <dgm:presLayoutVars>
          <dgm:bulletEnabled val="1"/>
        </dgm:presLayoutVars>
      </dgm:prSet>
      <dgm:spPr/>
    </dgm:pt>
  </dgm:ptLst>
  <dgm:cxnLst>
    <dgm:cxn modelId="{DDE8710E-5770-447C-A682-B68A2A932409}" srcId="{08FC8273-F82C-49C1-88D0-B81F65EF0EC5}" destId="{1C633E28-23F6-43C7-A9A9-3DC09B7C93A1}" srcOrd="2" destOrd="0" parTransId="{161488AA-B640-4A37-9CF9-87C218033D75}" sibTransId="{2757AEA1-EA51-42EB-B4D5-9B7D02309E8A}"/>
    <dgm:cxn modelId="{09E68717-2B7C-4986-9199-9E7A4CAD2133}" type="presOf" srcId="{08FC8273-F82C-49C1-88D0-B81F65EF0EC5}" destId="{78C14A7B-3B65-4C70-B03D-5F0637CE3B5E}" srcOrd="0" destOrd="0" presId="urn:microsoft.com/office/officeart/2005/8/layout/lProcess3"/>
    <dgm:cxn modelId="{C558DB42-B569-4009-A08D-B352C390C8B2}" type="presOf" srcId="{5F04684C-213A-40A4-BF75-9BB00EE192A9}" destId="{5973C509-4AB8-4735-966D-2D967081E106}" srcOrd="0" destOrd="0" presId="urn:microsoft.com/office/officeart/2005/8/layout/lProcess3"/>
    <dgm:cxn modelId="{5C5BA947-3F26-4FEF-984A-1BB3849C6B5D}" type="presOf" srcId="{216750C4-ABC0-4C9D-9091-09703C9AC4E2}" destId="{B6B5BCF5-9087-401A-873A-EC079ECFC9F0}" srcOrd="0" destOrd="0" presId="urn:microsoft.com/office/officeart/2005/8/layout/lProcess3"/>
    <dgm:cxn modelId="{11EFCE7C-F4DC-42CC-872E-DC0A30708279}" type="presOf" srcId="{1C633E28-23F6-43C7-A9A9-3DC09B7C93A1}" destId="{2F73885B-CDC5-433F-94F0-1740FB0BA9A6}" srcOrd="0" destOrd="0" presId="urn:microsoft.com/office/officeart/2005/8/layout/lProcess3"/>
    <dgm:cxn modelId="{2AC6ED87-00DB-4AA2-99EA-C5D9CD56DF5C}" srcId="{08FC8273-F82C-49C1-88D0-B81F65EF0EC5}" destId="{A497CF4D-07CE-4489-A252-2F82C2339DB3}" srcOrd="3" destOrd="0" parTransId="{D91B9C50-805A-4DFB-A3DA-617BF09A859D}" sibTransId="{F9BCB82A-09F6-457B-B41C-73A6BA6ED05D}"/>
    <dgm:cxn modelId="{5699E2B3-50D0-45FF-9538-EB734158738D}" srcId="{08FC8273-F82C-49C1-88D0-B81F65EF0EC5}" destId="{5F04684C-213A-40A4-BF75-9BB00EE192A9}" srcOrd="0" destOrd="0" parTransId="{33EB2E9C-66A1-45FB-A163-F23B23D5B7F0}" sibTransId="{D3B6A091-3B71-4808-85FE-2C3481B60BB9}"/>
    <dgm:cxn modelId="{A70BAEC2-A695-428D-8ADA-C7CF89F3A02F}" type="presOf" srcId="{0FDB900C-170F-4DD4-878D-53CA40FFC88C}" destId="{D1A1E34E-0E15-4817-855B-5BE12623273D}" srcOrd="0" destOrd="0" presId="urn:microsoft.com/office/officeart/2005/8/layout/lProcess3"/>
    <dgm:cxn modelId="{2E2AF8C5-94A1-420F-A888-64EBF5EB1D79}" type="presOf" srcId="{68C2ABE7-7329-4D88-88C6-19E80AC3C835}" destId="{E9687380-6A82-460F-8F04-ADD58EE968CC}" srcOrd="0" destOrd="0" presId="urn:microsoft.com/office/officeart/2005/8/layout/lProcess3"/>
    <dgm:cxn modelId="{CF58A8CE-1852-44E8-A106-DD41EDE3B5F8}" type="presOf" srcId="{A497CF4D-07CE-4489-A252-2F82C2339DB3}" destId="{396E9B92-0D71-4E89-AEFC-311FEFF5F3F1}" srcOrd="0" destOrd="0" presId="urn:microsoft.com/office/officeart/2005/8/layout/lProcess3"/>
    <dgm:cxn modelId="{E20E84E8-2813-41F9-B80C-0EB767889401}" srcId="{216750C4-ABC0-4C9D-9091-09703C9AC4E2}" destId="{08FC8273-F82C-49C1-88D0-B81F65EF0EC5}" srcOrd="0" destOrd="0" parTransId="{2B970594-08CF-4850-8EDD-3D076ABC06DC}" sibTransId="{804D3B1E-43B5-45F8-8FD7-FAA5EF8EB8A0}"/>
    <dgm:cxn modelId="{4A6087EC-DC6D-4F3A-94A4-27EA2EBBAE78}" srcId="{08FC8273-F82C-49C1-88D0-B81F65EF0EC5}" destId="{0FDB900C-170F-4DD4-878D-53CA40FFC88C}" srcOrd="4" destOrd="0" parTransId="{466A949E-8297-47C4-ADA8-CF39B0BE8C14}" sibTransId="{8593A00F-7F6D-49E6-BAF2-7D2BDF26A4D8}"/>
    <dgm:cxn modelId="{40BDD8FD-AEF7-45AE-BCED-0D1A6C5D729F}" srcId="{08FC8273-F82C-49C1-88D0-B81F65EF0EC5}" destId="{68C2ABE7-7329-4D88-88C6-19E80AC3C835}" srcOrd="1" destOrd="0" parTransId="{206BCBA7-8397-4724-A10C-4FD9D6B57C7B}" sibTransId="{505CDC2C-0D28-47B8-B3E5-4E97CA2B5074}"/>
    <dgm:cxn modelId="{AD415EDF-65FA-42B3-B6EE-7A8A1E5DE7D7}" type="presParOf" srcId="{B6B5BCF5-9087-401A-873A-EC079ECFC9F0}" destId="{CA76498F-E9C0-4631-8EEA-8821E72E4AA4}" srcOrd="0" destOrd="0" presId="urn:microsoft.com/office/officeart/2005/8/layout/lProcess3"/>
    <dgm:cxn modelId="{4C126FD4-A3E7-4121-B64E-7DC4C5B459F7}" type="presParOf" srcId="{CA76498F-E9C0-4631-8EEA-8821E72E4AA4}" destId="{78C14A7B-3B65-4C70-B03D-5F0637CE3B5E}" srcOrd="0" destOrd="0" presId="urn:microsoft.com/office/officeart/2005/8/layout/lProcess3"/>
    <dgm:cxn modelId="{ADBE2A6F-5FD9-402D-8F0F-A96C83AD6944}" type="presParOf" srcId="{CA76498F-E9C0-4631-8EEA-8821E72E4AA4}" destId="{16B3E8AD-D598-499D-A28C-AEF6B836E47A}" srcOrd="1" destOrd="0" presId="urn:microsoft.com/office/officeart/2005/8/layout/lProcess3"/>
    <dgm:cxn modelId="{EE4EFAE2-F642-4E74-AD84-6364F2AE9BAD}" type="presParOf" srcId="{CA76498F-E9C0-4631-8EEA-8821E72E4AA4}" destId="{5973C509-4AB8-4735-966D-2D967081E106}" srcOrd="2" destOrd="0" presId="urn:microsoft.com/office/officeart/2005/8/layout/lProcess3"/>
    <dgm:cxn modelId="{889887D3-4AB5-4E02-B626-5DCB1EBD6194}" type="presParOf" srcId="{CA76498F-E9C0-4631-8EEA-8821E72E4AA4}" destId="{A465F7EE-5826-4E91-8049-F2A9A480CA57}" srcOrd="3" destOrd="0" presId="urn:microsoft.com/office/officeart/2005/8/layout/lProcess3"/>
    <dgm:cxn modelId="{6069F2D3-2F0E-4EF5-B23B-A4CB789F562A}" type="presParOf" srcId="{CA76498F-E9C0-4631-8EEA-8821E72E4AA4}" destId="{E9687380-6A82-460F-8F04-ADD58EE968CC}" srcOrd="4" destOrd="0" presId="urn:microsoft.com/office/officeart/2005/8/layout/lProcess3"/>
    <dgm:cxn modelId="{85830F1A-C580-4D9C-BC83-297231640ED1}" type="presParOf" srcId="{CA76498F-E9C0-4631-8EEA-8821E72E4AA4}" destId="{72E4ABD4-D89D-4E78-970A-E01D7C1F75CD}" srcOrd="5" destOrd="0" presId="urn:microsoft.com/office/officeart/2005/8/layout/lProcess3"/>
    <dgm:cxn modelId="{CB9A9B38-61D8-4D68-AC60-01823EEAF62D}" type="presParOf" srcId="{CA76498F-E9C0-4631-8EEA-8821E72E4AA4}" destId="{2F73885B-CDC5-433F-94F0-1740FB0BA9A6}" srcOrd="6" destOrd="0" presId="urn:microsoft.com/office/officeart/2005/8/layout/lProcess3"/>
    <dgm:cxn modelId="{8841B721-1966-4D0C-B6A7-9EACA10ECD8E}" type="presParOf" srcId="{CA76498F-E9C0-4631-8EEA-8821E72E4AA4}" destId="{B401AD46-3C31-42B6-8879-1972A925F20B}" srcOrd="7" destOrd="0" presId="urn:microsoft.com/office/officeart/2005/8/layout/lProcess3"/>
    <dgm:cxn modelId="{ABB9A776-5958-455A-9C41-59DEA47445D6}" type="presParOf" srcId="{CA76498F-E9C0-4631-8EEA-8821E72E4AA4}" destId="{396E9B92-0D71-4E89-AEFC-311FEFF5F3F1}" srcOrd="8" destOrd="0" presId="urn:microsoft.com/office/officeart/2005/8/layout/lProcess3"/>
    <dgm:cxn modelId="{7202D997-CECF-4818-A944-37A4F47DBEF7}" type="presParOf" srcId="{CA76498F-E9C0-4631-8EEA-8821E72E4AA4}" destId="{BA19C750-A68F-4118-99F8-EF22DAEAEF6A}" srcOrd="9" destOrd="0" presId="urn:microsoft.com/office/officeart/2005/8/layout/lProcess3"/>
    <dgm:cxn modelId="{DBA51DBF-1945-4595-BFDE-6DBF27368842}" type="presParOf" srcId="{CA76498F-E9C0-4631-8EEA-8821E72E4AA4}" destId="{D1A1E34E-0E15-4817-855B-5BE12623273D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DFAA5-85F2-4063-83FE-0003ECDF3129}">
      <dsp:nvSpPr>
        <dsp:cNvPr id="0" name=""/>
        <dsp:cNvSpPr/>
      </dsp:nvSpPr>
      <dsp:spPr>
        <a:xfrm>
          <a:off x="3894" y="34348"/>
          <a:ext cx="1817681" cy="10413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Insights:</a:t>
          </a:r>
          <a:endParaRPr lang="en-IN" sz="1400" kern="1200" dirty="0"/>
        </a:p>
      </dsp:txBody>
      <dsp:txXfrm>
        <a:off x="524558" y="34348"/>
        <a:ext cx="776354" cy="1041327"/>
      </dsp:txXfrm>
    </dsp:sp>
    <dsp:sp modelId="{B45F4E3A-F28A-4933-AFD2-26B673249C7F}">
      <dsp:nvSpPr>
        <dsp:cNvPr id="0" name=""/>
        <dsp:cNvSpPr/>
      </dsp:nvSpPr>
      <dsp:spPr>
        <a:xfrm>
          <a:off x="1498534" y="83215"/>
          <a:ext cx="2016731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Category ₹83 Cr (+13% YoY). Himalaya leads (21.6%) but down 3.3 pt. </a:t>
          </a:r>
          <a:r>
            <a:rPr lang="en-US" sz="900" kern="1200" dirty="0" err="1"/>
            <a:t>Mamaearth</a:t>
          </a:r>
          <a:r>
            <a:rPr lang="en-US" sz="900" kern="1200" dirty="0"/>
            <a:t> (#4, +3.1 pt) is the biggest gainer. ★ = </a:t>
          </a:r>
          <a:r>
            <a:rPr lang="en-US" sz="900" kern="1200" dirty="0" err="1"/>
            <a:t>Honasa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1970330" y="83215"/>
        <a:ext cx="1073139" cy="943592"/>
      </dsp:txXfrm>
    </dsp:sp>
    <dsp:sp modelId="{EABA3E1B-A6F8-4933-8515-1587A22C6B11}">
      <dsp:nvSpPr>
        <dsp:cNvPr id="0" name=""/>
        <dsp:cNvSpPr/>
      </dsp:nvSpPr>
      <dsp:spPr>
        <a:xfrm>
          <a:off x="3226516" y="83875"/>
          <a:ext cx="2073057" cy="94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is the #4 Face Wash brand in MT at 11.6% (+3.1 pt YoY). The legacy leader Himalaya is down 3.3 pt. </a:t>
          </a:r>
          <a:endParaRPr lang="en-IN" sz="900" kern="1200" dirty="0"/>
        </a:p>
      </dsp:txBody>
      <dsp:txXfrm>
        <a:off x="3697652" y="83875"/>
        <a:ext cx="1130785" cy="942272"/>
      </dsp:txXfrm>
    </dsp:sp>
    <dsp:sp modelId="{F4933751-6B04-458B-9157-85E9F085117B}">
      <dsp:nvSpPr>
        <dsp:cNvPr id="0" name=""/>
        <dsp:cNvSpPr/>
      </dsp:nvSpPr>
      <dsp:spPr>
        <a:xfrm>
          <a:off x="5010824" y="83215"/>
          <a:ext cx="2053546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gains are distribution-led: ME weighted handling moved 81→87% &amp; The Derma Co weighted handling moved .6 →14.2%. </a:t>
          </a:r>
          <a:endParaRPr lang="en-IN" sz="900" kern="1200" dirty="0"/>
        </a:p>
      </dsp:txBody>
      <dsp:txXfrm>
        <a:off x="5482620" y="83215"/>
        <a:ext cx="1109954" cy="943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54491-AF60-4F4A-8502-1EC3307DAD88}">
      <dsp:nvSpPr>
        <dsp:cNvPr id="0" name=""/>
        <dsp:cNvSpPr/>
      </dsp:nvSpPr>
      <dsp:spPr>
        <a:xfrm>
          <a:off x="0" y="0"/>
          <a:ext cx="7115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7AF8-74BE-4443-B823-02C4F7422963}">
      <dsp:nvSpPr>
        <dsp:cNvPr id="0" name=""/>
        <dsp:cNvSpPr/>
      </dsp:nvSpPr>
      <dsp:spPr>
        <a:xfrm>
          <a:off x="0" y="0"/>
          <a:ext cx="1423189" cy="1876036"/>
        </a:xfrm>
        <a:prstGeom prst="rect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HONASA IS GAINING MODERN TRADE SHARE, LED BY STRONGER DISTRIBUTION</a:t>
          </a:r>
          <a:endParaRPr lang="en-IN" sz="1600" b="1" kern="1200" dirty="0"/>
        </a:p>
      </dsp:txBody>
      <dsp:txXfrm>
        <a:off x="0" y="0"/>
        <a:ext cx="1423189" cy="1876036"/>
      </dsp:txXfrm>
    </dsp:sp>
    <dsp:sp modelId="{5E9C23F4-222C-484A-A108-B17963B330E8}">
      <dsp:nvSpPr>
        <dsp:cNvPr id="0" name=""/>
        <dsp:cNvSpPr/>
      </dsp:nvSpPr>
      <dsp:spPr>
        <a:xfrm>
          <a:off x="1529928" y="2205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What happened —</a:t>
          </a:r>
          <a:r>
            <a:rPr lang="en-US" sz="1100" kern="1200" dirty="0"/>
            <a:t> </a:t>
          </a:r>
          <a:r>
            <a:rPr lang="en-US" sz="1100" kern="1200" dirty="0" err="1"/>
            <a:t>Mamaearth</a:t>
          </a:r>
          <a:r>
            <a:rPr lang="en-US" sz="1100" kern="1200" dirty="0"/>
            <a:t> is the </a:t>
          </a:r>
          <a:r>
            <a:rPr lang="en-IN" sz="1100" kern="1200" dirty="0"/>
            <a:t>★</a:t>
          </a:r>
          <a:r>
            <a:rPr lang="en-US" sz="1100" kern="1200" dirty="0"/>
            <a:t>#4 Face Wash brand in MT at 11.6% (+3.1 pt YoY) and is gaining in Shampoo at 3.9% (+1.3 pt). The legacy leader Himalaya is down 3.3 pt.</a:t>
          </a:r>
          <a:endParaRPr lang="en-IN" sz="1100" kern="1200" dirty="0"/>
        </a:p>
      </dsp:txBody>
      <dsp:txXfrm>
        <a:off x="1529928" y="22053"/>
        <a:ext cx="5586019" cy="441069"/>
      </dsp:txXfrm>
    </dsp:sp>
    <dsp:sp modelId="{3014EFA0-5169-4D60-A5D7-934DE2186031}">
      <dsp:nvSpPr>
        <dsp:cNvPr id="0" name=""/>
        <dsp:cNvSpPr/>
      </dsp:nvSpPr>
      <dsp:spPr>
        <a:xfrm>
          <a:off x="1423189" y="46312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FC06D-6131-4C7B-A993-903F08057C44}">
      <dsp:nvSpPr>
        <dsp:cNvPr id="0" name=""/>
        <dsp:cNvSpPr/>
      </dsp:nvSpPr>
      <dsp:spPr>
        <a:xfrm>
          <a:off x="1529928" y="485176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Why — </a:t>
          </a:r>
          <a:r>
            <a:rPr lang="en-US" sz="1100" kern="1200" dirty="0"/>
            <a:t>The gains are distribution-led: </a:t>
          </a:r>
          <a:r>
            <a:rPr lang="en-US" sz="1100" kern="1200" dirty="0" err="1"/>
            <a:t>Mamaearth</a:t>
          </a:r>
          <a:r>
            <a:rPr lang="en-US" sz="1100" kern="1200" dirty="0"/>
            <a:t> weighted handling moved 81→87% (FW) and 76→81% (Shampoo). The Derma Co is building MT from near-zero (0.6→14.2% handling).</a:t>
          </a:r>
          <a:endParaRPr lang="en-IN" sz="1100" kern="1200" dirty="0"/>
        </a:p>
      </dsp:txBody>
      <dsp:txXfrm>
        <a:off x="1529928" y="485176"/>
        <a:ext cx="5586019" cy="441069"/>
      </dsp:txXfrm>
    </dsp:sp>
    <dsp:sp modelId="{F922B264-6F20-4425-AC71-9BADBD8A3A38}">
      <dsp:nvSpPr>
        <dsp:cNvPr id="0" name=""/>
        <dsp:cNvSpPr/>
      </dsp:nvSpPr>
      <dsp:spPr>
        <a:xfrm>
          <a:off x="1423189" y="926246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282F-3AA8-4F87-A566-78073F7C75EA}">
      <dsp:nvSpPr>
        <dsp:cNvPr id="0" name=""/>
        <dsp:cNvSpPr/>
      </dsp:nvSpPr>
      <dsp:spPr>
        <a:xfrm>
          <a:off x="1529928" y="948300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Impact — </a:t>
          </a:r>
          <a:r>
            <a:rPr lang="en-US" sz="1100" kern="1200" dirty="0" err="1"/>
            <a:t>Honasa</a:t>
          </a:r>
          <a:r>
            <a:rPr lang="en-US" sz="1100" kern="1200" dirty="0"/>
            <a:t> is converting MT shelf into share in the two largest cleansing categories, worth ₹9.6 Cr + ₹6.5 Cr monthly RR and rising.</a:t>
          </a:r>
          <a:endParaRPr lang="en-IN" sz="1100" kern="1200" dirty="0"/>
        </a:p>
      </dsp:txBody>
      <dsp:txXfrm>
        <a:off x="1529928" y="948300"/>
        <a:ext cx="5586019" cy="441069"/>
      </dsp:txXfrm>
    </dsp:sp>
    <dsp:sp modelId="{8DC5D532-BBE1-460A-89C0-ACB6DAE14AE6}">
      <dsp:nvSpPr>
        <dsp:cNvPr id="0" name=""/>
        <dsp:cNvSpPr/>
      </dsp:nvSpPr>
      <dsp:spPr>
        <a:xfrm>
          <a:off x="1423189" y="1389370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C4FB-B2B9-457A-B6B4-FE95B4CFE12C}">
      <dsp:nvSpPr>
        <dsp:cNvPr id="0" name=""/>
        <dsp:cNvSpPr/>
      </dsp:nvSpPr>
      <dsp:spPr>
        <a:xfrm>
          <a:off x="1529928" y="141142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Action — </a:t>
          </a:r>
          <a:r>
            <a:rPr lang="en-US" sz="1100" kern="1200" dirty="0"/>
            <a:t>Need to protect the FW Distribution gain and checked for Shampoo assortment gaps in chains to identify further growth opportunities.</a:t>
          </a:r>
          <a:endParaRPr lang="en-IN" sz="1100" kern="1200" dirty="0"/>
        </a:p>
      </dsp:txBody>
      <dsp:txXfrm>
        <a:off x="1529928" y="1411423"/>
        <a:ext cx="5586019" cy="441069"/>
      </dsp:txXfrm>
    </dsp:sp>
    <dsp:sp modelId="{092B1DD1-FC62-4791-879B-64E5524300D7}">
      <dsp:nvSpPr>
        <dsp:cNvPr id="0" name=""/>
        <dsp:cNvSpPr/>
      </dsp:nvSpPr>
      <dsp:spPr>
        <a:xfrm>
          <a:off x="1423189" y="185249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4A7B-3B65-4C70-B03D-5F0637CE3B5E}">
      <dsp:nvSpPr>
        <dsp:cNvPr id="0" name=""/>
        <dsp:cNvSpPr/>
      </dsp:nvSpPr>
      <dsp:spPr>
        <a:xfrm>
          <a:off x="3215" y="173331"/>
          <a:ext cx="1183516" cy="7382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Key Insights</a:t>
          </a:r>
          <a:endParaRPr lang="en-IN" sz="900" kern="1200" dirty="0"/>
        </a:p>
      </dsp:txBody>
      <dsp:txXfrm>
        <a:off x="372355" y="173331"/>
        <a:ext cx="445236" cy="738280"/>
      </dsp:txXfrm>
    </dsp:sp>
    <dsp:sp modelId="{5973C509-4AB8-4735-966D-2D967081E106}">
      <dsp:nvSpPr>
        <dsp:cNvPr id="0" name=""/>
        <dsp:cNvSpPr/>
      </dsp:nvSpPr>
      <dsp:spPr>
        <a:xfrm>
          <a:off x="1035853" y="218695"/>
          <a:ext cx="1198609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Face Wash category size is ₹166 Cr.</a:t>
          </a:r>
          <a:endParaRPr lang="en-IN" sz="900" kern="1200" dirty="0"/>
        </a:p>
      </dsp:txBody>
      <dsp:txXfrm>
        <a:off x="1359629" y="218695"/>
        <a:ext cx="551058" cy="647551"/>
      </dsp:txXfrm>
    </dsp:sp>
    <dsp:sp modelId="{E9687380-6A82-460F-8F04-ADD58EE968CC}">
      <dsp:nvSpPr>
        <dsp:cNvPr id="0" name=""/>
        <dsp:cNvSpPr/>
      </dsp:nvSpPr>
      <dsp:spPr>
        <a:xfrm>
          <a:off x="2099600" y="268286"/>
          <a:ext cx="1256677" cy="54836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Dove leads the category with 17.8% share.</a:t>
          </a:r>
          <a:endParaRPr lang="en-IN" sz="900" kern="1200" dirty="0"/>
        </a:p>
      </dsp:txBody>
      <dsp:txXfrm>
        <a:off x="2373785" y="268286"/>
        <a:ext cx="708308" cy="548369"/>
      </dsp:txXfrm>
    </dsp:sp>
    <dsp:sp modelId="{2F73885B-CDC5-433F-94F0-1740FB0BA9A6}">
      <dsp:nvSpPr>
        <dsp:cNvPr id="0" name=""/>
        <dsp:cNvSpPr/>
      </dsp:nvSpPr>
      <dsp:spPr>
        <a:xfrm>
          <a:off x="3221414" y="218695"/>
          <a:ext cx="1209773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ranks #7 with 3.9% share.</a:t>
          </a:r>
          <a:endParaRPr lang="en-IN" sz="900" kern="1200" dirty="0"/>
        </a:p>
      </dsp:txBody>
      <dsp:txXfrm>
        <a:off x="3545190" y="218695"/>
        <a:ext cx="562222" cy="647551"/>
      </dsp:txXfrm>
    </dsp:sp>
    <dsp:sp modelId="{396E9B92-0D71-4E89-AEFC-311FEFF5F3F1}">
      <dsp:nvSpPr>
        <dsp:cNvPr id="0" name=""/>
        <dsp:cNvSpPr/>
      </dsp:nvSpPr>
      <dsp:spPr>
        <a:xfrm>
          <a:off x="4296326" y="155901"/>
          <a:ext cx="1392859" cy="77313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has gained </a:t>
          </a:r>
          <a:r>
            <a:rPr lang="en-IN" sz="900" b="0" i="0" kern="1200" dirty="0"/>
            <a:t>▲ +134 Bps YOY.</a:t>
          </a:r>
          <a:endParaRPr lang="en-IN" sz="900" kern="1200" dirty="0"/>
        </a:p>
      </dsp:txBody>
      <dsp:txXfrm>
        <a:off x="4682896" y="155901"/>
        <a:ext cx="619720" cy="773139"/>
      </dsp:txXfrm>
    </dsp:sp>
    <dsp:sp modelId="{D1A1E34E-0E15-4817-855B-5BE12623273D}">
      <dsp:nvSpPr>
        <dsp:cNvPr id="0" name=""/>
        <dsp:cNvSpPr/>
      </dsp:nvSpPr>
      <dsp:spPr>
        <a:xfrm>
          <a:off x="5520861" y="90349"/>
          <a:ext cx="1623493" cy="9342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Shampoo distribution remains under-indexed vs Face Wash Dist.</a:t>
          </a:r>
          <a:endParaRPr lang="en-IN" sz="900" kern="1200" dirty="0"/>
        </a:p>
      </dsp:txBody>
      <dsp:txXfrm>
        <a:off x="5988007" y="90349"/>
        <a:ext cx="689201" cy="934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0.11347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50E9FDCF-2A4B-7AB8-CDCD-392E6C187C28}"/>
            </a:ext>
          </a:extLst>
        </cdr:cNvPr>
        <cdr:cNvSpPr txBox="1"/>
      </cdr:nvSpPr>
      <cdr:spPr>
        <a:xfrm xmlns:a="http://schemas.openxmlformats.org/drawingml/2006/main">
          <a:off x="0" y="0"/>
          <a:ext cx="3335193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1E2761"/>
              </a:solidFill>
              <a:ea typeface="Calibri"/>
            </a:rPr>
            <a:t>Shampoo Market Share by Zone (%)</a:t>
          </a:r>
          <a:endParaRPr lang="en-IN" sz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image" Target="../media/image5.png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12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11" Type="http://schemas.openxmlformats.org/officeDocument/2006/relationships/image" Target="../media/image3.jpeg"/><Relationship Id="rId5" Type="http://schemas.openxmlformats.org/officeDocument/2006/relationships/chart" Target="../charts/chart6.xml"/><Relationship Id="rId10" Type="http://schemas.openxmlformats.org/officeDocument/2006/relationships/image" Target="../media/image2.png"/><Relationship Id="rId4" Type="http://schemas.openxmlformats.org/officeDocument/2006/relationships/chart" Target="../charts/chart5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19.xml"/><Relationship Id="rId7" Type="http://schemas.openxmlformats.org/officeDocument/2006/relationships/chart" Target="../charts/chart23.xml"/><Relationship Id="rId12" Type="http://schemas.openxmlformats.org/officeDocument/2006/relationships/image" Target="../media/image5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11" Type="http://schemas.openxmlformats.org/officeDocument/2006/relationships/image" Target="../media/image4.jpg"/><Relationship Id="rId5" Type="http://schemas.openxmlformats.org/officeDocument/2006/relationships/chart" Target="../charts/chart21.xml"/><Relationship Id="rId10" Type="http://schemas.openxmlformats.org/officeDocument/2006/relationships/image" Target="../media/image3.jpeg"/><Relationship Id="rId4" Type="http://schemas.openxmlformats.org/officeDocument/2006/relationships/chart" Target="../charts/chart20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12" Type="http://schemas.openxmlformats.org/officeDocument/2006/relationships/image" Target="../media/image5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8.xml"/><Relationship Id="rId11" Type="http://schemas.openxmlformats.org/officeDocument/2006/relationships/image" Target="../media/image4.jpg"/><Relationship Id="rId5" Type="http://schemas.openxmlformats.org/officeDocument/2006/relationships/chart" Target="../charts/chart27.xml"/><Relationship Id="rId10" Type="http://schemas.openxmlformats.org/officeDocument/2006/relationships/image" Target="../media/image3.jpeg"/><Relationship Id="rId4" Type="http://schemas.openxmlformats.org/officeDocument/2006/relationships/chart" Target="../charts/chart26.xm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1.xml"/><Relationship Id="rId7" Type="http://schemas.openxmlformats.org/officeDocument/2006/relationships/chart" Target="../charts/chart35.xml"/><Relationship Id="rId12" Type="http://schemas.openxmlformats.org/officeDocument/2006/relationships/image" Target="../media/image5.png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4.xml"/><Relationship Id="rId11" Type="http://schemas.openxmlformats.org/officeDocument/2006/relationships/image" Target="../media/image4.jpg"/><Relationship Id="rId5" Type="http://schemas.openxmlformats.org/officeDocument/2006/relationships/chart" Target="../charts/chart33.xml"/><Relationship Id="rId10" Type="http://schemas.openxmlformats.org/officeDocument/2006/relationships/image" Target="../media/image3.jpeg"/><Relationship Id="rId4" Type="http://schemas.openxmlformats.org/officeDocument/2006/relationships/chart" Target="../charts/chart32.xml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7.xml"/><Relationship Id="rId7" Type="http://schemas.openxmlformats.org/officeDocument/2006/relationships/chart" Target="../charts/chart41.xml"/><Relationship Id="rId12" Type="http://schemas.openxmlformats.org/officeDocument/2006/relationships/image" Target="../media/image5.png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0.xml"/><Relationship Id="rId11" Type="http://schemas.openxmlformats.org/officeDocument/2006/relationships/image" Target="../media/image4.jpg"/><Relationship Id="rId5" Type="http://schemas.openxmlformats.org/officeDocument/2006/relationships/chart" Target="../charts/chart39.xml"/><Relationship Id="rId10" Type="http://schemas.openxmlformats.org/officeDocument/2006/relationships/image" Target="../media/image3.jpeg"/><Relationship Id="rId4" Type="http://schemas.openxmlformats.org/officeDocument/2006/relationships/chart" Target="../charts/chart38.xml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3.xml"/><Relationship Id="rId7" Type="http://schemas.openxmlformats.org/officeDocument/2006/relationships/chart" Target="../charts/chart47.xml"/><Relationship Id="rId12" Type="http://schemas.openxmlformats.org/officeDocument/2006/relationships/image" Target="../media/image5.png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6.xml"/><Relationship Id="rId11" Type="http://schemas.openxmlformats.org/officeDocument/2006/relationships/image" Target="../media/image4.jpg"/><Relationship Id="rId5" Type="http://schemas.openxmlformats.org/officeDocument/2006/relationships/chart" Target="../charts/chart45.xml"/><Relationship Id="rId10" Type="http://schemas.openxmlformats.org/officeDocument/2006/relationships/image" Target="../media/image3.jpeg"/><Relationship Id="rId4" Type="http://schemas.openxmlformats.org/officeDocument/2006/relationships/chart" Target="../charts/chart44.xml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9.xml"/><Relationship Id="rId7" Type="http://schemas.openxmlformats.org/officeDocument/2006/relationships/chart" Target="../charts/chart53.xml"/><Relationship Id="rId12" Type="http://schemas.openxmlformats.org/officeDocument/2006/relationships/image" Target="../media/image5.png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2.xml"/><Relationship Id="rId11" Type="http://schemas.openxmlformats.org/officeDocument/2006/relationships/image" Target="../media/image4.jpg"/><Relationship Id="rId5" Type="http://schemas.openxmlformats.org/officeDocument/2006/relationships/chart" Target="../charts/chart51.xml"/><Relationship Id="rId10" Type="http://schemas.openxmlformats.org/officeDocument/2006/relationships/image" Target="../media/image3.jpeg"/><Relationship Id="rId4" Type="http://schemas.openxmlformats.org/officeDocument/2006/relationships/chart" Target="../charts/chart50.xml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JUNE’26 + Q1 FY27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Jun'26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38.24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40.26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▼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5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36.16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 L3M ▲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6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68.4%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15.53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NSV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38.24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68%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5.7%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+1,553 Lacs YoY — best-ever June on corrected chain NSV, despite a seasonal ▼5% MoM off the May record.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closed at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₹114.39 Cr,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64%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Q1 FY26 (₹69.92 Cr)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zone grew ≥55% (South-1 ▲84%);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Q1 CAGR of +44% confirms structural scale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81.8% of Jun'26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concentration steady vs May; Walmart CNC billed nil in Jun (watch-out).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71.8%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p14:modId xmlns:p14="http://schemas.microsoft.com/office/powerpoint/2010/main"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Jun’26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a16:creationId xmlns:a16="http://schemas.microsoft.com/office/drawing/2014/main"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Best-ever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June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a16:colId xmlns:a16="http://schemas.microsoft.com/office/drawing/2014/main" val="1838313960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50666695"/>
                    </a:ext>
                  </a:extLst>
                </a:gridCol>
                <a:gridCol w="535654">
                  <a:extLst>
                    <a:ext uri="{9D8B030D-6E8A-4147-A177-3AD203B41FA5}">
                      <a16:colId xmlns:a16="http://schemas.microsoft.com/office/drawing/2014/main" val="3063166510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2768301204"/>
                    </a:ext>
                  </a:extLst>
                </a:gridCol>
                <a:gridCol w="585873">
                  <a:extLst>
                    <a:ext uri="{9D8B030D-6E8A-4147-A177-3AD203B41FA5}">
                      <a16:colId xmlns:a16="http://schemas.microsoft.com/office/drawing/2014/main" val="3413074066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672052579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277892322"/>
                    </a:ext>
                  </a:extLst>
                </a:gridCol>
                <a:gridCol w="636090">
                  <a:extLst>
                    <a:ext uri="{9D8B030D-6E8A-4147-A177-3AD203B41FA5}">
                      <a16:colId xmlns:a16="http://schemas.microsoft.com/office/drawing/2014/main" val="1105121212"/>
                    </a:ext>
                  </a:extLst>
                </a:gridCol>
                <a:gridCol w="669568">
                  <a:extLst>
                    <a:ext uri="{9D8B030D-6E8A-4147-A177-3AD203B41FA5}">
                      <a16:colId xmlns:a16="http://schemas.microsoft.com/office/drawing/2014/main" val="1902174447"/>
                    </a:ext>
                  </a:extLst>
                </a:gridCol>
                <a:gridCol w="719786">
                  <a:extLst>
                    <a:ext uri="{9D8B030D-6E8A-4147-A177-3AD203B41FA5}">
                      <a16:colId xmlns:a16="http://schemas.microsoft.com/office/drawing/2014/main" val="1849337359"/>
                    </a:ext>
                  </a:extLst>
                </a:gridCol>
                <a:gridCol w="619350">
                  <a:extLst>
                    <a:ext uri="{9D8B030D-6E8A-4147-A177-3AD203B41FA5}">
                      <a16:colId xmlns:a16="http://schemas.microsoft.com/office/drawing/2014/main"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Avg(MAM)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1,456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1,334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70%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2,271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2,761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3,234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4,026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3,824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3,616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▼ 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4" name="KpiCard Q1 FY27 NSV"/>
          <p:cNvSpPr/>
          <p:nvPr/>
        </p:nvSpPr>
        <p:spPr>
          <a:xfrm>
            <a:off x="175428" y="625780"/>
            <a:ext cx="1934844" cy="790326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5" name="Kpi Q1 FY27 NSV"/>
          <p:cNvSpPr txBox="1"/>
          <p:nvPr/>
        </p:nvSpPr>
        <p:spPr>
          <a:xfrm>
            <a:off x="365768" y="658240"/>
            <a:ext cx="1569712" cy="790326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2000" b="1" dirty="0">
                <a:solidFill>
                  <a:srgbClr val="5B7C87"/>
                </a:solidFill>
                <a:latin typeface="Calibri"/>
              </a:rPr>
              <a:t>Q1 FY27 NSV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4000" b="1" dirty="0">
                <a:solidFill>
                  <a:srgbClr val="1F4E5F"/>
                </a:solidFill>
                <a:latin typeface="Calibri"/>
              </a:rPr>
              <a:t>₹ 114.39 Cr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2000" dirty="0">
                <a:solidFill>
                  <a:srgbClr val="5B7C87"/>
                </a:solidFill>
                <a:latin typeface="Calibri"/>
              </a:rPr>
              <a:t>vs ₹ 69.92 Cr LY</a:t>
            </a:r>
            <a:endParaRPr lang="en-IN" sz="950" dirty="0">
              <a:solidFill>
                <a:srgbClr val="5B7C87"/>
              </a:solidFill>
              <a:latin typeface="Calibri"/>
            </a:endParaRPr>
          </a:p>
        </p:txBody>
      </p:sp>
      <p:sp>
        <p:nvSpPr>
          <p:cNvPr id="9006" name="KpiCard Q1 Growth"/>
          <p:cNvSpPr/>
          <p:nvPr/>
        </p:nvSpPr>
        <p:spPr>
          <a:xfrm>
            <a:off x="2125821" y="655514"/>
            <a:ext cx="1737042" cy="802728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7" name="Kpi Q1 Growth"/>
          <p:cNvSpPr txBox="1"/>
          <p:nvPr/>
        </p:nvSpPr>
        <p:spPr>
          <a:xfrm>
            <a:off x="2089334" y="678056"/>
            <a:ext cx="1934844" cy="73805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6400" b="1" dirty="0">
                <a:solidFill>
                  <a:srgbClr val="5B7C87"/>
                </a:solidFill>
                <a:latin typeface="Calibri"/>
              </a:rPr>
              <a:t>Q1 Growth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11200" b="1" dirty="0">
                <a:solidFill>
                  <a:srgbClr val="1F4E5F"/>
                </a:solidFill>
                <a:latin typeface="Calibri"/>
              </a:rPr>
              <a:t>▲ 63.6%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4000" dirty="0">
                <a:solidFill>
                  <a:srgbClr val="5B7C87"/>
                </a:solidFill>
                <a:latin typeface="Calibri"/>
              </a:rPr>
              <a:t>+ ₹ 44.47 Cr YoY</a:t>
            </a:r>
            <a:endParaRPr lang="en-IN" sz="950" dirty="0">
              <a:solidFill>
                <a:srgbClr val="5B7C87"/>
              </a:solidFill>
              <a:latin typeface="Calibri"/>
            </a:endParaRPr>
          </a:p>
        </p:txBody>
      </p:sp>
      <p:sp>
        <p:nvSpPr>
          <p:cNvPr id="9008" name="KpiCard Best Month"/>
          <p:cNvSpPr/>
          <p:nvPr/>
        </p:nvSpPr>
        <p:spPr>
          <a:xfrm>
            <a:off x="4024177" y="662767"/>
            <a:ext cx="1494567" cy="816694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9" name="Kpi Best Month"/>
          <p:cNvSpPr txBox="1"/>
          <p:nvPr/>
        </p:nvSpPr>
        <p:spPr>
          <a:xfrm>
            <a:off x="3933207" y="633290"/>
            <a:ext cx="1737042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5B7C87"/>
                </a:solidFill>
                <a:latin typeface="Calibri"/>
              </a:rPr>
              <a:t>Best Month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 dirty="0">
                <a:solidFill>
                  <a:srgbClr val="1F4E5F"/>
                </a:solidFill>
                <a:latin typeface="Calibri"/>
              </a:rPr>
              <a:t>May'26 ₹ 40.26 Cr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 dirty="0">
                <a:solidFill>
                  <a:srgbClr val="5B7C87"/>
                </a:solidFill>
                <a:latin typeface="Calibri"/>
              </a:rPr>
              <a:t>all-time high</a:t>
            </a:r>
          </a:p>
        </p:txBody>
      </p:sp>
      <p:sp>
        <p:nvSpPr>
          <p:cNvPr id="9010" name="KpiCard Exit Month"/>
          <p:cNvSpPr/>
          <p:nvPr/>
        </p:nvSpPr>
        <p:spPr>
          <a:xfrm>
            <a:off x="5607628" y="644484"/>
            <a:ext cx="1737042" cy="85326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1" name="Kpi Exit Month"/>
          <p:cNvSpPr txBox="1"/>
          <p:nvPr/>
        </p:nvSpPr>
        <p:spPr>
          <a:xfrm>
            <a:off x="5657446" y="647491"/>
            <a:ext cx="1687224" cy="850253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lang="en-IN" sz="7200" b="1" dirty="0">
                <a:solidFill>
                  <a:srgbClr val="1F4E5F"/>
                </a:solidFill>
                <a:latin typeface="Calibri"/>
              </a:rPr>
              <a:t>Jun’26 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7200" b="1" dirty="0">
                <a:solidFill>
                  <a:srgbClr val="1F4E5F"/>
                </a:solidFill>
                <a:latin typeface="Calibri"/>
              </a:rPr>
              <a:t>₹ 38.24 Cr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5600" b="1" dirty="0">
                <a:solidFill>
                  <a:srgbClr val="5B7C87"/>
                </a:solidFill>
                <a:latin typeface="Calibri"/>
              </a:rPr>
              <a:t>▲ 68% YoY | best-ever June</a:t>
            </a:r>
          </a:p>
        </p:txBody>
      </p:sp>
      <p:sp>
        <p:nvSpPr>
          <p:cNvPr id="9012" name="ZoneHdr"/>
          <p:cNvSpPr txBox="1"/>
          <p:nvPr/>
        </p:nvSpPr>
        <p:spPr>
          <a:xfrm>
            <a:off x="175428" y="1604112"/>
            <a:ext cx="7120030" cy="229666"/>
          </a:xfrm>
          <a:prstGeom prst="rect">
            <a:avLst/>
          </a:prstGeom>
          <a:solidFill>
            <a:srgbClr val="289C83"/>
          </a:solidFill>
          <a:ln>
            <a:noFill/>
          </a:ln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7200" b="1" dirty="0">
                <a:solidFill>
                  <a:schemeClr val="bg1"/>
                </a:solidFill>
                <a:latin typeface="Calibri"/>
              </a:rPr>
              <a:t>ZONE VIEW</a:t>
            </a:r>
            <a:endParaRPr lang="en-IN" sz="2000" b="1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9013" name="Q1Zone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6957"/>
              </p:ext>
            </p:extLst>
          </p:nvPr>
        </p:nvGraphicFramePr>
        <p:xfrm>
          <a:off x="175428" y="1858507"/>
          <a:ext cx="7267689" cy="3144106"/>
        </p:xfrm>
        <a:graphic>
          <a:graphicData uri="http://schemas.openxmlformats.org/drawingml/2006/table">
            <a:tbl>
              <a:tblPr firstRow="1" bandRow="1"/>
              <a:tblGrid>
                <a:gridCol w="2295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800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701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1,173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1,583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2,641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South-1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1,356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2,489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South-2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952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1,576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1,877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2,905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800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Pan India (FSN)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6,992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A1A2E"/>
                          </a:solidFill>
                          <a:latin typeface="Calibri"/>
                        </a:rPr>
                        <a:t>11,439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E7A45"/>
                          </a:solidFill>
                          <a:latin typeface="Calibri"/>
                        </a:rPr>
                        <a:t>▲ 64%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14" name="BrandHdr"/>
          <p:cNvSpPr txBox="1"/>
          <p:nvPr/>
        </p:nvSpPr>
        <p:spPr>
          <a:xfrm>
            <a:off x="4024178" y="5067071"/>
            <a:ext cx="3399485" cy="316974"/>
          </a:xfrm>
          <a:prstGeom prst="rect">
            <a:avLst/>
          </a:prstGeom>
          <a:solidFill>
            <a:srgbClr val="289C83"/>
          </a:solidFill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Calibri"/>
              </a:rPr>
              <a:t>BRAND VIEW</a:t>
            </a:r>
          </a:p>
        </p:txBody>
      </p:sp>
      <p:graphicFrame>
        <p:nvGraphicFramePr>
          <p:cNvPr id="9015" name="Q1Brand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13072"/>
              </p:ext>
            </p:extLst>
          </p:nvPr>
        </p:nvGraphicFramePr>
        <p:xfrm>
          <a:off x="4055705" y="5421570"/>
          <a:ext cx="3331718" cy="3144107"/>
        </p:xfrm>
        <a:graphic>
          <a:graphicData uri="http://schemas.openxmlformats.org/drawingml/2006/table">
            <a:tbl>
              <a:tblPr firstRow="1" bandRow="1"/>
              <a:tblGrid>
                <a:gridCol w="803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ME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6,142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8,254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34%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59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TDC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634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2,951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1E7A45"/>
                          </a:solidFill>
                          <a:latin typeface="Calibri"/>
                        </a:rPr>
                        <a:t>▲ 365%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AQ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16%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Other</a:t>
                      </a:r>
                    </a:p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Brands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B23A3A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6" name="ChainHdr"/>
          <p:cNvSpPr txBox="1"/>
          <p:nvPr/>
        </p:nvSpPr>
        <p:spPr>
          <a:xfrm>
            <a:off x="175428" y="5067071"/>
            <a:ext cx="3809429" cy="316974"/>
          </a:xfrm>
          <a:prstGeom prst="rect">
            <a:avLst/>
          </a:prstGeom>
          <a:solidFill>
            <a:srgbClr val="289C83"/>
          </a:solidFill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Calibri"/>
              </a:rPr>
              <a:t>TOP CHAINS</a:t>
            </a:r>
          </a:p>
        </p:txBody>
      </p:sp>
      <p:graphicFrame>
        <p:nvGraphicFramePr>
          <p:cNvPr id="9017" name="Q1Chain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687661"/>
              </p:ext>
            </p:extLst>
          </p:nvPr>
        </p:nvGraphicFramePr>
        <p:xfrm>
          <a:off x="175428" y="5406167"/>
          <a:ext cx="3809429" cy="3179679"/>
        </p:xfrm>
        <a:graphic>
          <a:graphicData uri="http://schemas.openxmlformats.org/drawingml/2006/table">
            <a:tbl>
              <a:tblPr firstRow="1" bandRow="1"/>
              <a:tblGrid>
                <a:gridCol w="842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 dirty="0" err="1">
                          <a:solidFill>
                            <a:srgbClr val="1A1A2E"/>
                          </a:solidFill>
                          <a:latin typeface="Calibri"/>
                        </a:rPr>
                        <a:t>Dmart</a:t>
                      </a:r>
                      <a:endParaRPr lang="en-IN" sz="1500" dirty="0">
                        <a:solidFill>
                          <a:srgbClr val="1A1A2E"/>
                        </a:solidFill>
                        <a:latin typeface="Calibri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2,600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4,232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63%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Reliance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1,908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2,806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47%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Apollo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793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2,173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174%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FSN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169%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Wellness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249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1E7A45"/>
                          </a:solidFill>
                          <a:latin typeface="Calibri"/>
                        </a:rPr>
                        <a:t>▲ 17%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18" name="Insights"/>
          <p:cNvSpPr txBox="1"/>
          <p:nvPr/>
        </p:nvSpPr>
        <p:spPr>
          <a:xfrm>
            <a:off x="192033" y="8552880"/>
            <a:ext cx="7231630" cy="2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 dirty="0">
                <a:solidFill>
                  <a:srgbClr val="1F4E5F"/>
                </a:solidFill>
                <a:latin typeface="Calibri"/>
              </a:rPr>
              <a:t>WHAT LEADERSHIP SHOULD TAKE AWAY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The Derma Co. multiplied ~4.7x YoY in Q1 (₹6.3 Cr → ₹29.5 Cr) and now holds 26% of the Q1 mix vs 9% LY — the structural growth engine.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 err="1">
                <a:solidFill>
                  <a:srgbClr val="1A1A2E"/>
                </a:solidFill>
                <a:latin typeface="Calibri"/>
              </a:rPr>
              <a:t>Mamaearth grew +34% on the largest base (72% of mix) — Face Cleanser +35% and Shampoo +65% YoY in Jun on corrected NSV keep the anchor compounding.</a:t>
            </a:r>
            <a:r>
              <a:rPr lang="en-IN" sz="1050" dirty="0">
                <a:solidFill>
                  <a:srgbClr val="1A1A2E"/>
                </a:solidFill>
                <a:latin typeface="Calibri"/>
              </a:rPr>
              <a:t/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Apollo (+174%) and Lulu (+171%) are the fastest-compounding chains; Apollo is now the #1 chain in South-1 — pharmacy-led premiumisation is working.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8A2E2E"/>
                </a:solidFill>
                <a:latin typeface="Calibri"/>
              </a:rPr>
              <a:t>Watch-outs: H&amp;G Q1 ▼14% YoY, Walmart CNC billed nil in Jun'26, Wellness Forever (+17%) trails the network (+64%) — chain-level JBP correction needed.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Seasonality note: Jun ▼5% MoM is Sun Care-led (▼30% MoM), in line with category; 2-yr Q1 CAGR of +44% (₹55.0 Cr → ₹114.4 Cr) confirms structural scale-up.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5BF418F-B413-3DFF-1FE7-7A1D5D66CAE1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Q1 FY27 SCORECARD — OFFTAKE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D9E7EA"/>
                </a:solidFill>
                <a:latin typeface="Calibri"/>
              </a:rPr>
              <a:t>Apr–Jun'26 vs Apr–Jun'25  |  NSV ₹ Lacs  |  MT + EB2B  |  post chain-NSV correction</a:t>
            </a:r>
            <a:endParaRPr lang="en-US" sz="3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35%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p14:modId xmlns:p14="http://schemas.microsoft.com/office/powerpoint/2010/main"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65%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p14:modId xmlns:p14="http://schemas.microsoft.com/office/powerpoint/2010/main"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71%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p14:modId xmlns:p14="http://schemas.microsoft.com/office/powerpoint/2010/main"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p14:modId xmlns:p14="http://schemas.microsoft.com/office/powerpoint/2010/main"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p14:modId xmlns:p14="http://schemas.microsoft.com/office/powerpoint/2010/main"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p14:modId xmlns:p14="http://schemas.microsoft.com/office/powerpoint/2010/main"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81" name="Text 5">
            <a:extLst>
              <a:ext uri="{FF2B5EF4-FFF2-40B4-BE49-F238E27FC236}">
                <a16:creationId xmlns:a16="http://schemas.microsoft.com/office/drawing/2014/main"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1143%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5%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  (QTY EXTRACT: MAY'26 BASIS — JUN'26 AWAITED)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a16:creationId xmlns:a16="http://schemas.microsoft.com/office/drawing/2014/main"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a16:creationId xmlns:a16="http://schemas.microsoft.com/office/drawing/2014/main"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a16:colId xmlns:a16="http://schemas.microsoft.com/office/drawing/2014/main" val="7783453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65270024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5547112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6436525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34832599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19156438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282017378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a16:colId xmlns:a16="http://schemas.microsoft.com/office/drawing/2014/main" val="187985350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16742566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0873403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67184648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96042857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794637982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151274359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8215"/>
              </p:ext>
            </p:extLst>
          </p:nvPr>
        </p:nvGraphicFramePr>
        <p:xfrm>
          <a:off x="183651" y="572366"/>
          <a:ext cx="7164935" cy="178312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a16:colId xmlns:a16="http://schemas.microsoft.com/office/drawing/2014/main" val="3848970531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1522408997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226368320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828023372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3845673820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180414308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3702109773"/>
                    </a:ext>
                  </a:extLst>
                </a:gridCol>
                <a:gridCol w="695331">
                  <a:extLst>
                    <a:ext uri="{9D8B030D-6E8A-4147-A177-3AD203B41FA5}">
                      <a16:colId xmlns:a16="http://schemas.microsoft.com/office/drawing/2014/main" val="3174125610"/>
                    </a:ext>
                  </a:extLst>
                </a:gridCol>
                <a:gridCol w="483709">
                  <a:extLst>
                    <a:ext uri="{9D8B030D-6E8A-4147-A177-3AD203B41FA5}">
                      <a16:colId xmlns:a16="http://schemas.microsoft.com/office/drawing/2014/main" val="3399407347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443509617"/>
                    </a:ext>
                  </a:extLst>
                </a:gridCol>
                <a:gridCol w="680215">
                  <a:extLst>
                    <a:ext uri="{9D8B030D-6E8A-4147-A177-3AD203B41FA5}">
                      <a16:colId xmlns:a16="http://schemas.microsoft.com/office/drawing/2014/main"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1,994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▼ 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44%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2,271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3,824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3,616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60741"/>
                  </a:ext>
                </a:extLst>
              </a:tr>
            </a:tbl>
          </a:graphicData>
        </a:graphic>
      </p:graphicFrame>
      <p:sp>
        <p:nvSpPr>
          <p:cNvPr id="20" name="Shape 21 (Strategic Brand Portfolio)"/>
          <p:cNvSpPr/>
          <p:nvPr/>
        </p:nvSpPr>
        <p:spPr>
          <a:xfrm>
            <a:off x="208385" y="2545990"/>
            <a:ext cx="7140201" cy="7000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90000" lnSpcReduction="10000"/>
          </a:bodyPr>
          <a:lstStyle/>
          <a:p>
            <a:r>
              <a:rPr lang="en-US" sz="1200" b="1" dirty="0">
                <a:latin typeface="Calibri" pitchFamily="34" charset="0"/>
              </a:rPr>
              <a:t>Strategic Brand Portfolio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Mamaearth stays portfolio leader: 72.1% share, +38% YoY, steady scale.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The Derma Co. is fastest-scaling: 26.0% of NSV vs single digits a year ago.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Aqualogica: +20% YoY, Jun cooled -16% MoM (Sun Care season); 1.5% of mix.</a:t>
            </a: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Jun’26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Jun’26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5" name="Text 65 (Zone Insights)"/>
          <p:cNvSpPr/>
          <p:nvPr/>
        </p:nvSpPr>
        <p:spPr>
          <a:xfrm>
            <a:off x="329184" y="5555443"/>
            <a:ext cx="6903719" cy="14500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90000" lnSpcReduction="10000"/>
          </a:bodyPr>
          <a:lstStyle/>
          <a:p>
            <a:r>
              <a:rPr lang="en-US" sz="1200" b="1" dirty="0">
                <a:latin typeface="Calibri" pitchFamily="34" charset="0"/>
              </a:rPr>
              <a:t>Zone Insights | Jun’26 (post chain-NSV correction)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West largest zone: NSV ₹985L, 25.8% of MT offtake.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Every zone grew ≥ 64% YoY in Jun’26 — corrected NSV lifts growth network-wide (+68%).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South-1 led YoY growth at +82%; East and North close at +72% each.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Dmart is #1 chain in 3 of 5 zones (North, South-2, West); #2 in South-1 — national engine.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Apollo reclaims #1 in South-1 (₹289L), +163% YoY — Derma Co.-led pharmacy momentum.</a:t>
            </a:r>
          </a:p>
        </p:txBody>
      </p:sp>
      <p:sp>
        <p:nvSpPr>
          <p:cNvPr id="164" name="Shape 64 (mid-divider)"/>
          <p:cNvSpPr/>
          <p:nvPr/>
        </p:nvSpPr>
        <p:spPr>
          <a:xfrm>
            <a:off x="320039" y="7100693"/>
            <a:ext cx="6903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65" name="Text 165 (Brand and Category Repeats)"/>
          <p:cNvSpPr/>
          <p:nvPr/>
        </p:nvSpPr>
        <p:spPr>
          <a:xfrm>
            <a:off x="329184" y="7386443"/>
            <a:ext cx="6903719" cy="14500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90000" lnSpcReduction="10000"/>
          </a:bodyPr>
          <a:lstStyle/>
          <a:p>
            <a:r>
              <a:rPr lang="en-US" sz="1200" b="1" dirty="0">
                <a:latin typeface="Calibri" pitchFamily="34" charset="0"/>
              </a:rPr>
              <a:t>Brand &amp; Category Repeats Across Zones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The Derma Co. held ₹990L in Jun (record ₹1,097L in May), 25.9% of portfolio, +378% YoY.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Face Cleanser &amp; Sun Care are top-2 growth drivers for Derma Co. in 5 of 6 zones.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FSN grew +32% YoY — improving, but still slower than the +68% network pace.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Mamaearth Face Cleanser &amp; Shampoo rank #1/#2 sub-categories by value in every zone.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Sun Care cooled -30% MoM (seasonal) — protect sunscreen distribution into monsoon.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a16:colId xmlns:a16="http://schemas.microsoft.com/office/drawing/2014/main" val="1796692111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4130509951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826358126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54505304"/>
                    </a:ext>
                  </a:extLst>
                </a:gridCol>
                <a:gridCol w="659149">
                  <a:extLst>
                    <a:ext uri="{9D8B030D-6E8A-4147-A177-3AD203B41FA5}">
                      <a16:colId xmlns:a16="http://schemas.microsoft.com/office/drawing/2014/main" val="816571884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555739565"/>
                    </a:ext>
                  </a:extLst>
                </a:gridCol>
                <a:gridCol w="624457">
                  <a:extLst>
                    <a:ext uri="{9D8B030D-6E8A-4147-A177-3AD203B41FA5}">
                      <a16:colId xmlns:a16="http://schemas.microsoft.com/office/drawing/2014/main" val="2296702728"/>
                    </a:ext>
                  </a:extLst>
                </a:gridCol>
                <a:gridCol w="503035">
                  <a:extLst>
                    <a:ext uri="{9D8B030D-6E8A-4147-A177-3AD203B41FA5}">
                      <a16:colId xmlns:a16="http://schemas.microsoft.com/office/drawing/2014/main" val="3831480518"/>
                    </a:ext>
                  </a:extLst>
                </a:gridCol>
                <a:gridCol w="797917">
                  <a:extLst>
                    <a:ext uri="{9D8B030D-6E8A-4147-A177-3AD203B41FA5}">
                      <a16:colId xmlns:a16="http://schemas.microsoft.com/office/drawing/2014/main" val="1086156123"/>
                    </a:ext>
                  </a:extLst>
                </a:gridCol>
                <a:gridCol w="711187">
                  <a:extLst>
                    <a:ext uri="{9D8B030D-6E8A-4147-A177-3AD203B41FA5}">
                      <a16:colId xmlns:a16="http://schemas.microsoft.com/office/drawing/2014/main"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10%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348988"/>
                  </a:ext>
                </a:extLst>
              </a:tr>
            </a:tbl>
          </a:graphicData>
        </a:graphic>
      </p:graphicFrame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21</a:t>
            </a:r>
          </a:p>
        </p:txBody>
      </p:sp>
    </p:spTree>
    <p:extLst>
      <p:ext uri="{BB962C8B-B14F-4D97-AF65-F5344CB8AC3E}">
        <p14:creationId xmlns:p14="http://schemas.microsoft.com/office/powerpoint/2010/main" val="270740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585723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3180" y="86755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2439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3%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11%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3536467-987E-B510-CB4B-2C7C6DD045C7}"/>
              </a:ext>
            </a:extLst>
          </p:cNvPr>
          <p:cNvSpPr/>
          <p:nvPr/>
        </p:nvSpPr>
        <p:spPr>
          <a:xfrm>
            <a:off x="179208" y="2650057"/>
            <a:ext cx="3416132" cy="89019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000" b="1" dirty="0">
                <a:solidFill>
                  <a:srgbClr val="1E2761"/>
                </a:solidFill>
                <a:latin typeface="Calibri"/>
              </a:rPr>
              <a:t>MRL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8584D2-B47F-A543-EB0A-0CEDB933EAC8}"/>
              </a:ext>
            </a:extLst>
          </p:cNvPr>
          <p:cNvSpPr/>
          <p:nvPr/>
        </p:nvSpPr>
        <p:spPr>
          <a:xfrm>
            <a:off x="164592" y="2650057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59EF4B-A544-FAA5-F705-C806019D0BF6}"/>
              </a:ext>
            </a:extLst>
          </p:cNvPr>
          <p:cNvSpPr/>
          <p:nvPr/>
        </p:nvSpPr>
        <p:spPr>
          <a:xfrm>
            <a:off x="3672164" y="2729068"/>
            <a:ext cx="3470032" cy="811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1800" b="1" dirty="0">
                <a:solidFill>
                  <a:srgbClr val="1E2761"/>
                </a:solidFill>
                <a:latin typeface="Calibri"/>
              </a:rPr>
              <a:t>Lulu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  <a:endParaRPr lang="en-IN" sz="1100" b="1" dirty="0">
              <a:solidFill>
                <a:srgbClr val="1E2761"/>
              </a:solidFill>
              <a:latin typeface="Calibri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CBC16-D9D2-6F52-42EA-4D388C92C606}"/>
              </a:ext>
            </a:extLst>
          </p:cNvPr>
          <p:cNvSpPr/>
          <p:nvPr/>
        </p:nvSpPr>
        <p:spPr>
          <a:xfrm>
            <a:off x="3634626" y="2650057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EA8BD1-964A-81EB-77A1-2CB85F9D64C9}"/>
              </a:ext>
            </a:extLst>
          </p:cNvPr>
          <p:cNvSpPr/>
          <p:nvPr/>
        </p:nvSpPr>
        <p:spPr>
          <a:xfrm>
            <a:off x="101510" y="3659185"/>
            <a:ext cx="3507571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20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C24ECE-A21F-F843-BDC6-DFEBE708BE3F}"/>
              </a:ext>
            </a:extLst>
          </p:cNvPr>
          <p:cNvSpPr/>
          <p:nvPr/>
        </p:nvSpPr>
        <p:spPr>
          <a:xfrm>
            <a:off x="179207" y="3619111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C8FA77-A565-0C4B-CE2C-963525AC41C8}"/>
              </a:ext>
            </a:extLst>
          </p:cNvPr>
          <p:cNvSpPr/>
          <p:nvPr/>
        </p:nvSpPr>
        <p:spPr>
          <a:xfrm>
            <a:off x="3672163" y="3640123"/>
            <a:ext cx="3441677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400" b="1" dirty="0">
                <a:solidFill>
                  <a:srgbClr val="1E2761"/>
                </a:solidFill>
                <a:latin typeface="Calibri"/>
              </a:rPr>
              <a:t>Reliance Retail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6DEA8D-9D8B-9353-0CF4-90A3E4ABE2FF}"/>
              </a:ext>
            </a:extLst>
          </p:cNvPr>
          <p:cNvSpPr/>
          <p:nvPr/>
        </p:nvSpPr>
        <p:spPr>
          <a:xfrm>
            <a:off x="3649241" y="3619111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7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093315"/>
              </p:ext>
            </p:extLst>
          </p:nvPr>
        </p:nvGraphicFramePr>
        <p:xfrm>
          <a:off x="166564" y="4793176"/>
          <a:ext cx="3455418" cy="2130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6D948830-5875-429E-B2E8-06A2446FF79B}"/>
              </a:ext>
            </a:extLst>
          </p:cNvPr>
          <p:cNvSpPr/>
          <p:nvPr/>
        </p:nvSpPr>
        <p:spPr>
          <a:xfrm>
            <a:off x="179207" y="4785237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  <a:latin typeface="Calibri"/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a16:creationId xmlns:a16="http://schemas.microsoft.com/office/drawing/2014/main"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448606"/>
              </p:ext>
            </p:extLst>
          </p:nvPr>
        </p:nvGraphicFramePr>
        <p:xfrm>
          <a:off x="3677591" y="4803073"/>
          <a:ext cx="3455418" cy="2148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489623"/>
              </p:ext>
            </p:extLst>
          </p:nvPr>
        </p:nvGraphicFramePr>
        <p:xfrm>
          <a:off x="193824" y="7032150"/>
          <a:ext cx="3455417" cy="212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700BEB62-5218-93B2-569B-61E16123FB26}"/>
              </a:ext>
            </a:extLst>
          </p:cNvPr>
          <p:cNvSpPr txBox="1"/>
          <p:nvPr/>
        </p:nvSpPr>
        <p:spPr>
          <a:xfrm>
            <a:off x="3693221" y="7032150"/>
            <a:ext cx="3420619" cy="20850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MRL's </a:t>
            </a:r>
            <a:r>
              <a:rPr sz="1200" dirty="0" err="1">
                <a:solidFill>
                  <a:sysClr val="windowText" lastClr="000000"/>
                </a:solidFill>
                <a:latin typeface="Calibri"/>
              </a:rPr>
              <a:t>Honasa</a:t>
            </a:r>
            <a:r>
              <a:rPr sz="1200" dirty="0">
                <a:solidFill>
                  <a:sysClr val="windowText" lastClr="00000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21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379C9D4B-2F0C-E811-B5BC-4C5923256D3C}"/>
              </a:ext>
            </a:extLst>
          </p:cNvPr>
          <p:cNvSpPr/>
          <p:nvPr/>
        </p:nvSpPr>
        <p:spPr>
          <a:xfrm>
            <a:off x="232255" y="4956952"/>
            <a:ext cx="3812166" cy="78148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-7713" y="0"/>
            <a:ext cx="7570563" cy="5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INSIGHTS| BRAND (MAMAEARTH &amp; THE DERMA CO.| CATEGORY (FACEWASH  &amp; SHAMPOO)</a:t>
            </a:r>
            <a:endParaRPr lang="en-US" sz="2000" b="1" dirty="0"/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B9142154-E71F-1D64-C69C-BEDD14795E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802719"/>
              </p:ext>
            </p:extLst>
          </p:nvPr>
        </p:nvGraphicFramePr>
        <p:xfrm>
          <a:off x="280013" y="5797984"/>
          <a:ext cx="7068266" cy="111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14">
            <a:extLst>
              <a:ext uri="{FF2B5EF4-FFF2-40B4-BE49-F238E27FC236}">
                <a16:creationId xmlns:a16="http://schemas.microsoft.com/office/drawing/2014/main" id="{44292181-E87A-FAFC-E853-8E63053EE850}"/>
              </a:ext>
            </a:extLst>
          </p:cNvPr>
          <p:cNvSpPr/>
          <p:nvPr/>
        </p:nvSpPr>
        <p:spPr>
          <a:xfrm>
            <a:off x="8301150" y="7644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578703-5602-E615-6449-0FE82BA38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9311"/>
              </p:ext>
            </p:extLst>
          </p:nvPr>
        </p:nvGraphicFramePr>
        <p:xfrm>
          <a:off x="234347" y="599313"/>
          <a:ext cx="7126505" cy="1709206"/>
        </p:xfrm>
        <a:graphic>
          <a:graphicData uri="http://schemas.openxmlformats.org/drawingml/2006/table">
            <a:tbl>
              <a:tblPr/>
              <a:tblGrid>
                <a:gridCol w="1638971">
                  <a:extLst>
                    <a:ext uri="{9D8B030D-6E8A-4147-A177-3AD203B41FA5}">
                      <a16:colId xmlns:a16="http://schemas.microsoft.com/office/drawing/2014/main" val="1040054215"/>
                    </a:ext>
                  </a:extLst>
                </a:gridCol>
                <a:gridCol w="759047">
                  <a:extLst>
                    <a:ext uri="{9D8B030D-6E8A-4147-A177-3AD203B41FA5}">
                      <a16:colId xmlns:a16="http://schemas.microsoft.com/office/drawing/2014/main" val="2448826045"/>
                    </a:ext>
                  </a:extLst>
                </a:gridCol>
                <a:gridCol w="775045">
                  <a:extLst>
                    <a:ext uri="{9D8B030D-6E8A-4147-A177-3AD203B41FA5}">
                      <a16:colId xmlns:a16="http://schemas.microsoft.com/office/drawing/2014/main" val="2451325949"/>
                    </a:ext>
                  </a:extLst>
                </a:gridCol>
                <a:gridCol w="901257">
                  <a:extLst>
                    <a:ext uri="{9D8B030D-6E8A-4147-A177-3AD203B41FA5}">
                      <a16:colId xmlns:a16="http://schemas.microsoft.com/office/drawing/2014/main" val="1241636394"/>
                    </a:ext>
                  </a:extLst>
                </a:gridCol>
                <a:gridCol w="718161">
                  <a:extLst>
                    <a:ext uri="{9D8B030D-6E8A-4147-A177-3AD203B41FA5}">
                      <a16:colId xmlns:a16="http://schemas.microsoft.com/office/drawing/2014/main" val="1072936001"/>
                    </a:ext>
                  </a:extLst>
                </a:gridCol>
                <a:gridCol w="785711">
                  <a:extLst>
                    <a:ext uri="{9D8B030D-6E8A-4147-A177-3AD203B41FA5}">
                      <a16:colId xmlns:a16="http://schemas.microsoft.com/office/drawing/2014/main" val="4003672162"/>
                    </a:ext>
                  </a:extLst>
                </a:gridCol>
                <a:gridCol w="673721">
                  <a:extLst>
                    <a:ext uri="{9D8B030D-6E8A-4147-A177-3AD203B41FA5}">
                      <a16:colId xmlns:a16="http://schemas.microsoft.com/office/drawing/2014/main" val="3060532485"/>
                    </a:ext>
                  </a:extLst>
                </a:gridCol>
                <a:gridCol w="874592">
                  <a:extLst>
                    <a:ext uri="{9D8B030D-6E8A-4147-A177-3AD203B41FA5}">
                      <a16:colId xmlns:a16="http://schemas.microsoft.com/office/drawing/2014/main" val="1825462759"/>
                    </a:ext>
                  </a:extLst>
                </a:gridCol>
              </a:tblGrid>
              <a:tr h="5097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Brand (Category)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 </a:t>
                      </a:r>
                      <a:b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Wtd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</a:t>
                      </a: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Dist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 </a:t>
                      </a:r>
                    </a:p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85786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4831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The Derma Co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32997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Shampoo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+134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63541"/>
                  </a:ext>
                </a:extLst>
              </a:tr>
            </a:tbl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010D717D-B200-F9C1-F0E0-9B6C4374F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27803"/>
              </p:ext>
            </p:extLst>
          </p:nvPr>
        </p:nvGraphicFramePr>
        <p:xfrm>
          <a:off x="234347" y="2661016"/>
          <a:ext cx="7115948" cy="187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4F619751-52E2-97A6-50D1-C8D2040E4488}"/>
              </a:ext>
            </a:extLst>
          </p:cNvPr>
          <p:cNvSpPr/>
          <p:nvPr/>
        </p:nvSpPr>
        <p:spPr>
          <a:xfrm>
            <a:off x="232256" y="5803321"/>
            <a:ext cx="45719" cy="1126007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A08DE1-78F5-E319-DC0C-43F567ADC4D5}"/>
              </a:ext>
            </a:extLst>
          </p:cNvPr>
          <p:cNvSpPr/>
          <p:nvPr/>
        </p:nvSpPr>
        <p:spPr>
          <a:xfrm>
            <a:off x="232255" y="5770936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45652C-03FE-342E-DAD9-AFC958C3B610}"/>
              </a:ext>
            </a:extLst>
          </p:cNvPr>
          <p:cNvSpPr/>
          <p:nvPr/>
        </p:nvSpPr>
        <p:spPr>
          <a:xfrm>
            <a:off x="251039" y="579798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2F1-506F-0C36-C7C0-69DD818A90A8}"/>
              </a:ext>
            </a:extLst>
          </p:cNvPr>
          <p:cNvSpPr/>
          <p:nvPr/>
        </p:nvSpPr>
        <p:spPr>
          <a:xfrm flipH="1">
            <a:off x="7304576" y="5804460"/>
            <a:ext cx="45719" cy="1111940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9DB11-20E5-31CE-3C2B-9867D46644EF}"/>
              </a:ext>
            </a:extLst>
          </p:cNvPr>
          <p:cNvSpPr txBox="1"/>
          <p:nvPr/>
        </p:nvSpPr>
        <p:spPr>
          <a:xfrm>
            <a:off x="244828" y="2273076"/>
            <a:ext cx="71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kern="0" spc="10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Key Insights for Facewash &amp; Shampoo M/s</a:t>
            </a:r>
            <a:endParaRPr lang="en-US" sz="2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20BF0-7E50-AF2D-E0AF-738051766144}"/>
              </a:ext>
            </a:extLst>
          </p:cNvPr>
          <p:cNvSpPr txBox="1"/>
          <p:nvPr/>
        </p:nvSpPr>
        <p:spPr>
          <a:xfrm>
            <a:off x="239785" y="4562649"/>
            <a:ext cx="71356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mbria" pitchFamily="34" charset="-122"/>
                <a:cs typeface="Calibri" pitchFamily="34" charset="-120"/>
              </a:rPr>
              <a:t>FACE WASH | BRAND |MARKET SHARE 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F7B7DEB-7D5B-EB9E-53AE-4EBB23EA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3159"/>
              </p:ext>
            </p:extLst>
          </p:nvPr>
        </p:nvGraphicFramePr>
        <p:xfrm>
          <a:off x="239785" y="6984067"/>
          <a:ext cx="7108313" cy="3593910"/>
        </p:xfrm>
        <a:graphic>
          <a:graphicData uri="http://schemas.openxmlformats.org/drawingml/2006/table">
            <a:tbl>
              <a:tblPr/>
              <a:tblGrid>
                <a:gridCol w="577498">
                  <a:extLst>
                    <a:ext uri="{9D8B030D-6E8A-4147-A177-3AD203B41FA5}">
                      <a16:colId xmlns:a16="http://schemas.microsoft.com/office/drawing/2014/main" val="2077510050"/>
                    </a:ext>
                  </a:extLst>
                </a:gridCol>
                <a:gridCol w="1501493">
                  <a:extLst>
                    <a:ext uri="{9D8B030D-6E8A-4147-A177-3AD203B41FA5}">
                      <a16:colId xmlns:a16="http://schemas.microsoft.com/office/drawing/2014/main" val="1905439698"/>
                    </a:ext>
                  </a:extLst>
                </a:gridCol>
                <a:gridCol w="635988">
                  <a:extLst>
                    <a:ext uri="{9D8B030D-6E8A-4147-A177-3AD203B41FA5}">
                      <a16:colId xmlns:a16="http://schemas.microsoft.com/office/drawing/2014/main" val="228860760"/>
                    </a:ext>
                  </a:extLst>
                </a:gridCol>
                <a:gridCol w="592751">
                  <a:extLst>
                    <a:ext uri="{9D8B030D-6E8A-4147-A177-3AD203B41FA5}">
                      <a16:colId xmlns:a16="http://schemas.microsoft.com/office/drawing/2014/main" val="285040429"/>
                    </a:ext>
                  </a:extLst>
                </a:gridCol>
                <a:gridCol w="645054">
                  <a:extLst>
                    <a:ext uri="{9D8B030D-6E8A-4147-A177-3AD203B41FA5}">
                      <a16:colId xmlns:a16="http://schemas.microsoft.com/office/drawing/2014/main" val="3185290885"/>
                    </a:ext>
                  </a:extLst>
                </a:gridCol>
                <a:gridCol w="965401">
                  <a:extLst>
                    <a:ext uri="{9D8B030D-6E8A-4147-A177-3AD203B41FA5}">
                      <a16:colId xmlns:a16="http://schemas.microsoft.com/office/drawing/2014/main" val="2971838831"/>
                    </a:ext>
                  </a:extLst>
                </a:gridCol>
                <a:gridCol w="1008985">
                  <a:extLst>
                    <a:ext uri="{9D8B030D-6E8A-4147-A177-3AD203B41FA5}">
                      <a16:colId xmlns:a16="http://schemas.microsoft.com/office/drawing/2014/main" val="1677353121"/>
                    </a:ext>
                  </a:extLst>
                </a:gridCol>
                <a:gridCol w="534435">
                  <a:extLst>
                    <a:ext uri="{9D8B030D-6E8A-4147-A177-3AD203B41FA5}">
                      <a16:colId xmlns:a16="http://schemas.microsoft.com/office/drawing/2014/main" val="4225824249"/>
                    </a:ext>
                  </a:extLst>
                </a:gridCol>
                <a:gridCol w="646708">
                  <a:extLst>
                    <a:ext uri="{9D8B030D-6E8A-4147-A177-3AD203B41FA5}">
                      <a16:colId xmlns:a16="http://schemas.microsoft.com/office/drawing/2014/main" val="3515784118"/>
                    </a:ext>
                  </a:extLst>
                </a:gridCol>
              </a:tblGrid>
              <a:tr h="4427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8266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-328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5769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Garnier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+43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9005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Pond's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▼ -114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7443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 err="1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3387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Clean &amp; clear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675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Joy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694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Lakme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18163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Nivea men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6843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Simple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4760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Biotique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-49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3920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Patanjali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962692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Everyuth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387041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VLCC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-22%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117633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GLOW &amp; LOVELY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146126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LOTUS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227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THE DERMA CO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48442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9E03E78B-5ED6-90AA-121F-87E044E83A2C}"/>
              </a:ext>
            </a:extLst>
          </p:cNvPr>
          <p:cNvSpPr/>
          <p:nvPr/>
        </p:nvSpPr>
        <p:spPr>
          <a:xfrm>
            <a:off x="257976" y="6868804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9F466B6-FE5F-DA4E-34A0-AA741214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47168"/>
              </p:ext>
            </p:extLst>
          </p:nvPr>
        </p:nvGraphicFramePr>
        <p:xfrm>
          <a:off x="4128740" y="4957440"/>
          <a:ext cx="3229084" cy="785521"/>
        </p:xfrm>
        <a:graphic>
          <a:graphicData uri="http://schemas.openxmlformats.org/drawingml/2006/table">
            <a:tbl>
              <a:tblPr/>
              <a:tblGrid>
                <a:gridCol w="635647">
                  <a:extLst>
                    <a:ext uri="{9D8B030D-6E8A-4147-A177-3AD203B41FA5}">
                      <a16:colId xmlns:a16="http://schemas.microsoft.com/office/drawing/2014/main" val="4192271008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526558863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627186890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072241119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188857945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965029248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2970150461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388586537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766113091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99297180"/>
                    </a:ext>
                  </a:extLst>
                </a:gridCol>
              </a:tblGrid>
              <a:tr h="23284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The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Derma Co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FACE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WASHz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B0004020202020204" pitchFamily="34" charset="0"/>
                      </a:endParaRPr>
                    </a:p>
                  </a:txBody>
                  <a:tcPr marL="4606" marR="4606" marT="4606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6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May’26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Value .60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Lakhs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F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M/S 0.7%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▲ +71 bps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1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Dist</a:t>
                      </a: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0.6%→14.2%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38582"/>
                  </a:ext>
                </a:extLst>
              </a:tr>
              <a:tr h="3198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07009"/>
                  </a:ext>
                </a:extLst>
              </a:tr>
              <a:tr h="232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5598"/>
                  </a:ext>
                </a:extLst>
              </a:tr>
            </a:tbl>
          </a:graphicData>
        </a:graphic>
      </p:graphicFrame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1ADC7B-6C75-7E99-ADFA-E1880C2AE6B7}"/>
              </a:ext>
            </a:extLst>
          </p:cNvPr>
          <p:cNvGrpSpPr/>
          <p:nvPr/>
        </p:nvGrpSpPr>
        <p:grpSpPr>
          <a:xfrm>
            <a:off x="1026608" y="5171487"/>
            <a:ext cx="179276" cy="253520"/>
            <a:chOff x="995555" y="5177897"/>
            <a:chExt cx="177228" cy="241007"/>
          </a:xfrm>
        </p:grpSpPr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B5511F54-B5BA-4318-3DD3-EF580B187775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  <p:sp>
          <p:nvSpPr>
            <p:cNvPr id="95" name="Arrow: Right 4">
              <a:extLst>
                <a:ext uri="{FF2B5EF4-FFF2-40B4-BE49-F238E27FC236}">
                  <a16:creationId xmlns:a16="http://schemas.microsoft.com/office/drawing/2014/main" id="{DF3C1ACD-D9CF-6F94-3D37-F0B86EEA1D04}"/>
                </a:ext>
              </a:extLst>
            </p:cNvPr>
            <p:cNvSpPr txBox="1"/>
            <p:nvPr/>
          </p:nvSpPr>
          <p:spPr>
            <a:xfrm>
              <a:off x="995555" y="5226099"/>
              <a:ext cx="106683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</p:grpSp>
      <p:sp>
        <p:nvSpPr>
          <p:cNvPr id="88" name="Flow Box 1">
            <a:extLst>
              <a:ext uri="{FF2B5EF4-FFF2-40B4-BE49-F238E27FC236}">
                <a16:creationId xmlns:a16="http://schemas.microsoft.com/office/drawing/2014/main" id="{65FFDF55-186E-4F70-B848-01B98474871B}"/>
              </a:ext>
            </a:extLst>
          </p:cNvPr>
          <p:cNvSpPr>
            <a:spLocks noGrp="1"/>
          </p:cNvSpPr>
          <p:nvPr/>
        </p:nvSpPr>
        <p:spPr>
          <a:xfrm>
            <a:off x="257975" y="4968416"/>
            <a:ext cx="720197" cy="748609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ME</a:t>
            </a:r>
            <a:endParaRPr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FACE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WASH</a:t>
            </a:r>
            <a:r>
              <a:rPr lang="en-IN" sz="1000" b="1" dirty="0">
                <a:solidFill>
                  <a:schemeClr val="bg1"/>
                </a:solidFill>
              </a:rPr>
              <a:t> Rank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#4 </a:t>
            </a: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89" name="Flow Box 2">
            <a:extLst>
              <a:ext uri="{FF2B5EF4-FFF2-40B4-BE49-F238E27FC236}">
                <a16:creationId xmlns:a16="http://schemas.microsoft.com/office/drawing/2014/main" id="{DFAB2D56-689D-4CBB-B28E-14DA7BAB8D4B}"/>
              </a:ext>
            </a:extLst>
          </p:cNvPr>
          <p:cNvSpPr>
            <a:spLocks noGrp="1"/>
          </p:cNvSpPr>
          <p:nvPr/>
        </p:nvSpPr>
        <p:spPr>
          <a:xfrm>
            <a:off x="1254320" y="4974438"/>
            <a:ext cx="674997" cy="74223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Value ₹9.6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51B990B2-3BDA-4993-8961-8793336DBAB2}"/>
              </a:ext>
            </a:extLst>
          </p:cNvPr>
          <p:cNvSpPr/>
          <p:nvPr/>
        </p:nvSpPr>
        <p:spPr>
          <a:xfrm>
            <a:off x="1988245" y="5165711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1" name="Flow Box 3">
            <a:extLst>
              <a:ext uri="{FF2B5EF4-FFF2-40B4-BE49-F238E27FC236}">
                <a16:creationId xmlns:a16="http://schemas.microsoft.com/office/drawing/2014/main" id="{12223511-186F-4E38-A6C9-D4AD296C1461}"/>
              </a:ext>
            </a:extLst>
          </p:cNvPr>
          <p:cNvSpPr>
            <a:spLocks noGrp="1"/>
          </p:cNvSpPr>
          <p:nvPr/>
        </p:nvSpPr>
        <p:spPr>
          <a:xfrm>
            <a:off x="2219007" y="4968792"/>
            <a:ext cx="760205" cy="733733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M/S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11.6%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bg1"/>
                </a:solidFill>
              </a:rPr>
              <a:t>▲</a:t>
            </a:r>
            <a:r>
              <a:rPr sz="1000" b="1" dirty="0">
                <a:solidFill>
                  <a:schemeClr val="bg1"/>
                </a:solidFill>
              </a:rPr>
              <a:t>+311</a:t>
            </a:r>
            <a:endParaRPr lang="en-IN"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B</a:t>
            </a:r>
            <a:r>
              <a:rPr sz="1000" b="1" dirty="0" err="1">
                <a:solidFill>
                  <a:schemeClr val="bg1"/>
                </a:solidFill>
              </a:rPr>
              <a:t>ps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92" name="Flow Box 4">
            <a:extLst>
              <a:ext uri="{FF2B5EF4-FFF2-40B4-BE49-F238E27FC236}">
                <a16:creationId xmlns:a16="http://schemas.microsoft.com/office/drawing/2014/main" id="{6809C1E7-C082-4A53-A6C8-628BC455BEFC}"/>
              </a:ext>
            </a:extLst>
          </p:cNvPr>
          <p:cNvSpPr>
            <a:spLocks noGrp="1"/>
          </p:cNvSpPr>
          <p:nvPr/>
        </p:nvSpPr>
        <p:spPr>
          <a:xfrm>
            <a:off x="3289550" y="4957440"/>
            <a:ext cx="735764" cy="762185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 err="1">
                <a:solidFill>
                  <a:schemeClr val="bg1"/>
                </a:solidFill>
              </a:rPr>
              <a:t>Dist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81→8</a:t>
            </a:r>
            <a:r>
              <a:rPr lang="en-IN" sz="1000" b="1" dirty="0">
                <a:solidFill>
                  <a:schemeClr val="bg1"/>
                </a:solidFill>
              </a:rPr>
              <a:t>7</a:t>
            </a:r>
            <a:r>
              <a:rPr sz="10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675A98A8-0D5E-4B24-B51C-30292EA1AC26}"/>
              </a:ext>
            </a:extLst>
          </p:cNvPr>
          <p:cNvSpPr/>
          <p:nvPr/>
        </p:nvSpPr>
        <p:spPr>
          <a:xfrm>
            <a:off x="3048108" y="5174959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4534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" y="3934882"/>
            <a:ext cx="7562820" cy="424953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3980166"/>
            <a:ext cx="7562850" cy="36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SHAMPOO</a:t>
            </a:r>
            <a:endParaRPr lang="en-US" sz="1350" dirty="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1B6D1794-1D66-C673-96EC-A6D1FC734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290860"/>
              </p:ext>
            </p:extLst>
          </p:nvPr>
        </p:nvGraphicFramePr>
        <p:xfrm>
          <a:off x="154235" y="5368581"/>
          <a:ext cx="7181032" cy="1084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09269" y="5319982"/>
            <a:ext cx="60910" cy="1192189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09268" y="6472949"/>
            <a:ext cx="7271718" cy="57553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 flipV="1">
            <a:off x="124458" y="5308057"/>
            <a:ext cx="7271718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0BEB92-7A66-ADCE-38EA-A15EE053485B}"/>
              </a:ext>
            </a:extLst>
          </p:cNvPr>
          <p:cNvSpPr/>
          <p:nvPr/>
        </p:nvSpPr>
        <p:spPr>
          <a:xfrm>
            <a:off x="143242" y="53808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8C298-A068-367C-958B-89B223497564}"/>
              </a:ext>
            </a:extLst>
          </p:cNvPr>
          <p:cNvSpPr/>
          <p:nvPr/>
        </p:nvSpPr>
        <p:spPr>
          <a:xfrm flipH="1">
            <a:off x="7335267" y="5308060"/>
            <a:ext cx="45719" cy="119118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E0B81-1D4E-027E-8644-ABE43857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84637"/>
              </p:ext>
            </p:extLst>
          </p:nvPr>
        </p:nvGraphicFramePr>
        <p:xfrm>
          <a:off x="158039" y="6586482"/>
          <a:ext cx="7177228" cy="4000409"/>
        </p:xfrm>
        <a:graphic>
          <a:graphicData uri="http://schemas.openxmlformats.org/drawingml/2006/table">
            <a:tbl>
              <a:tblPr/>
              <a:tblGrid>
                <a:gridCol w="460485">
                  <a:extLst>
                    <a:ext uri="{9D8B030D-6E8A-4147-A177-3AD203B41FA5}">
                      <a16:colId xmlns:a16="http://schemas.microsoft.com/office/drawing/2014/main" val="2287102801"/>
                    </a:ext>
                  </a:extLst>
                </a:gridCol>
                <a:gridCol w="1508489">
                  <a:extLst>
                    <a:ext uri="{9D8B030D-6E8A-4147-A177-3AD203B41FA5}">
                      <a16:colId xmlns:a16="http://schemas.microsoft.com/office/drawing/2014/main" val="3967937189"/>
                    </a:ext>
                  </a:extLst>
                </a:gridCol>
                <a:gridCol w="460485">
                  <a:extLst>
                    <a:ext uri="{9D8B030D-6E8A-4147-A177-3AD203B41FA5}">
                      <a16:colId xmlns:a16="http://schemas.microsoft.com/office/drawing/2014/main" val="1876209470"/>
                    </a:ext>
                  </a:extLst>
                </a:gridCol>
                <a:gridCol w="603396">
                  <a:extLst>
                    <a:ext uri="{9D8B030D-6E8A-4147-A177-3AD203B41FA5}">
                      <a16:colId xmlns:a16="http://schemas.microsoft.com/office/drawing/2014/main" val="4020892610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165552266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402045187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3277651063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945216774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232411814"/>
                    </a:ext>
                  </a:extLst>
                </a:gridCol>
              </a:tblGrid>
              <a:tr h="32576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 Dist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59701"/>
                  </a:ext>
                </a:extLst>
              </a:tr>
              <a:tr h="1837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74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14778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L'oreal 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32837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Head &amp; shoulders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14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Tresemme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06104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Clinic plus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1013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Sunsilk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440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68150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Pantene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760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517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 baby care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2335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2361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Dabur vatika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  <a:endParaRPr lang="en-IN" sz="1400" b="1" i="0" u="none" strike="noStrike" dirty="0">
                        <a:solidFill>
                          <a:srgbClr val="008A3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905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6544" y="2388469"/>
            <a:ext cx="709076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• 150ml is the hero pack: </a:t>
            </a:r>
            <a:r>
              <a:rPr lang="en-US" sz="1000" dirty="0"/>
              <a:t>6.7% MT share, ~58% of </a:t>
            </a:r>
            <a:r>
              <a:rPr lang="en-US" sz="1000" dirty="0" err="1"/>
              <a:t>Mamaearth</a:t>
            </a:r>
            <a:r>
              <a:rPr lang="en-US" sz="1000" dirty="0"/>
              <a:t> Face Wash, growing strongly at +98% YoY.</a:t>
            </a:r>
            <a:endParaRPr lang="en-US" sz="1000" b="1" dirty="0"/>
          </a:p>
          <a:p>
            <a:r>
              <a:rPr lang="en-US" sz="1000" b="1" dirty="0"/>
              <a:t>• 150ml has slight MoM softness at -0.4 bps but remains strong YoY with +2.9 bps gain.</a:t>
            </a:r>
          </a:p>
          <a:p>
            <a:r>
              <a:rPr lang="en-US" sz="1000" b="1" dirty="0"/>
              <a:t>• 100ml is the 2</a:t>
            </a:r>
            <a:r>
              <a:rPr lang="en-US" sz="1000" b="1" baseline="30000" dirty="0"/>
              <a:t>nd</a:t>
            </a:r>
            <a:r>
              <a:rPr lang="en-US" sz="1000" b="1" dirty="0"/>
              <a:t> key pack: </a:t>
            </a:r>
            <a:r>
              <a:rPr lang="en-US" sz="1000" dirty="0"/>
              <a:t>~21% contribution but declining -10.7% YoY with negative share movement. Needs availability and promo check.</a:t>
            </a:r>
            <a:endParaRPr lang="en-US" sz="1000" b="1" dirty="0"/>
          </a:p>
          <a:p>
            <a:r>
              <a:rPr lang="en-US" sz="1000" b="1" dirty="0"/>
              <a:t>• 150ml + 100ml contribute ~78% </a:t>
            </a:r>
            <a:r>
              <a:rPr lang="en-US" sz="1000" dirty="0"/>
              <a:t>of the brand, so shelf depth for both packs must be protected in MT</a:t>
            </a:r>
            <a:r>
              <a:rPr lang="en-US" sz="1000" b="1" dirty="0"/>
              <a:t>.</a:t>
            </a:r>
          </a:p>
          <a:p>
            <a:r>
              <a:rPr lang="en-US" sz="1000" b="1" dirty="0"/>
              <a:t>• 200ml is emerging as a growth builder with ~11% contribution &amp; positive share gain. Track chain-wise for scale-up.</a:t>
            </a:r>
          </a:p>
          <a:p>
            <a:r>
              <a:rPr lang="en-US" sz="1000" b="1" dirty="0"/>
              <a:t>• 50ml is a trial pack with ~10.5% contribution and +80% YoY growth. Use for till-points and entry visibility.</a:t>
            </a:r>
          </a:p>
          <a:p>
            <a:r>
              <a:rPr lang="en-US" sz="1000" b="1" dirty="0"/>
              <a:t>• 250ml </a:t>
            </a:r>
            <a:r>
              <a:rPr lang="en-US" sz="1000" dirty="0"/>
              <a:t>is sharply down at -94% YoY and very low contribution.</a:t>
            </a:r>
            <a:endParaRPr lang="en-US" sz="1000" b="1" dirty="0"/>
          </a:p>
          <a:p>
            <a:r>
              <a:rPr lang="en-US" sz="1000" b="1" dirty="0"/>
              <a:t>• Action: </a:t>
            </a:r>
            <a:r>
              <a:rPr lang="en-US" sz="1000" dirty="0"/>
              <a:t>Use 50ml at till-points, impulse counters and trial-led visibility spots.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FACE WASH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85A83E-85D5-4311-AB31-CEC3E151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75334"/>
              </p:ext>
            </p:extLst>
          </p:nvPr>
        </p:nvGraphicFramePr>
        <p:xfrm>
          <a:off x="135382" y="678491"/>
          <a:ext cx="7126506" cy="1676986"/>
        </p:xfrm>
        <a:graphic>
          <a:graphicData uri="http://schemas.openxmlformats.org/drawingml/2006/table">
            <a:tbl>
              <a:tblPr/>
              <a:tblGrid>
                <a:gridCol w="801106">
                  <a:extLst>
                    <a:ext uri="{9D8B030D-6E8A-4147-A177-3AD203B41FA5}">
                      <a16:colId xmlns:a16="http://schemas.microsoft.com/office/drawing/2014/main" val="2384875462"/>
                    </a:ext>
                  </a:extLst>
                </a:gridCol>
                <a:gridCol w="517380">
                  <a:extLst>
                    <a:ext uri="{9D8B030D-6E8A-4147-A177-3AD203B41FA5}">
                      <a16:colId xmlns:a16="http://schemas.microsoft.com/office/drawing/2014/main" val="2593112309"/>
                    </a:ext>
                  </a:extLst>
                </a:gridCol>
                <a:gridCol w="801106">
                  <a:extLst>
                    <a:ext uri="{9D8B030D-6E8A-4147-A177-3AD203B41FA5}">
                      <a16:colId xmlns:a16="http://schemas.microsoft.com/office/drawing/2014/main" val="1583407350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652040375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2239736604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708960461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2639501366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3372754032"/>
                    </a:ext>
                  </a:extLst>
                </a:gridCol>
                <a:gridCol w="634209">
                  <a:extLst>
                    <a:ext uri="{9D8B030D-6E8A-4147-A177-3AD203B41FA5}">
                      <a16:colId xmlns:a16="http://schemas.microsoft.com/office/drawing/2014/main" val="4086455608"/>
                    </a:ext>
                  </a:extLst>
                </a:gridCol>
              </a:tblGrid>
              <a:tr h="1776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 </a:t>
                      </a:r>
                      <a:b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29558"/>
                  </a:ext>
                </a:extLst>
              </a:tr>
              <a:tr h="1776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61074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+290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1846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60086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001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39366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-80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-94%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6938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9911"/>
                  </a:ext>
                </a:extLst>
              </a:tr>
            </a:tbl>
          </a:graphicData>
        </a:graphic>
      </p:graphicFrame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C25727F-59E7-04DE-5B50-72F3C442998C}"/>
              </a:ext>
            </a:extLst>
          </p:cNvPr>
          <p:cNvSpPr/>
          <p:nvPr/>
        </p:nvSpPr>
        <p:spPr>
          <a:xfrm>
            <a:off x="138605" y="4437593"/>
            <a:ext cx="7117575" cy="80397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5DA593-DB5E-8DFC-4D3C-965D1A154BA5}"/>
              </a:ext>
            </a:extLst>
          </p:cNvPr>
          <p:cNvGrpSpPr/>
          <p:nvPr/>
        </p:nvGrpSpPr>
        <p:grpSpPr>
          <a:xfrm>
            <a:off x="1677667" y="4715869"/>
            <a:ext cx="368181" cy="277293"/>
            <a:chOff x="996089" y="5177897"/>
            <a:chExt cx="176694" cy="241007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29D5F5B-A64A-98CE-A5CC-E04BCE306898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01D39A9F-8F17-7FED-EDDA-CA9DEC9A46DF}"/>
                </a:ext>
              </a:extLst>
            </p:cNvPr>
            <p:cNvSpPr txBox="1"/>
            <p:nvPr/>
          </p:nvSpPr>
          <p:spPr>
            <a:xfrm>
              <a:off x="996089" y="5226099"/>
              <a:ext cx="106148" cy="158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24" name="Flow Box 1">
            <a:extLst>
              <a:ext uri="{FF2B5EF4-FFF2-40B4-BE49-F238E27FC236}">
                <a16:creationId xmlns:a16="http://schemas.microsoft.com/office/drawing/2014/main" id="{18AC2083-4AC2-E809-B938-AB7B19D8CA5E}"/>
              </a:ext>
            </a:extLst>
          </p:cNvPr>
          <p:cNvSpPr>
            <a:spLocks noGrp="1"/>
          </p:cNvSpPr>
          <p:nvPr/>
        </p:nvSpPr>
        <p:spPr>
          <a:xfrm>
            <a:off x="178493" y="4486096"/>
            <a:ext cx="1450779" cy="716250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ME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Shampoo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5" name="Flow Box 2">
            <a:extLst>
              <a:ext uri="{FF2B5EF4-FFF2-40B4-BE49-F238E27FC236}">
                <a16:creationId xmlns:a16="http://schemas.microsoft.com/office/drawing/2014/main" id="{59232D69-DB1E-30EF-9DAA-2A11554791DC}"/>
              </a:ext>
            </a:extLst>
          </p:cNvPr>
          <p:cNvSpPr>
            <a:spLocks noGrp="1"/>
          </p:cNvSpPr>
          <p:nvPr/>
        </p:nvSpPr>
        <p:spPr>
          <a:xfrm>
            <a:off x="2101560" y="4484585"/>
            <a:ext cx="1450779" cy="709091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Value ₹</a:t>
            </a:r>
            <a:r>
              <a:rPr lang="en-IN" sz="1200" b="1" dirty="0">
                <a:solidFill>
                  <a:schemeClr val="bg1"/>
                </a:solidFill>
              </a:rPr>
              <a:t>6.5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27" name="Flow Box 3">
            <a:extLst>
              <a:ext uri="{FF2B5EF4-FFF2-40B4-BE49-F238E27FC236}">
                <a16:creationId xmlns:a16="http://schemas.microsoft.com/office/drawing/2014/main" id="{1C740AFB-CEE7-26A8-407D-CAA911563BC9}"/>
              </a:ext>
            </a:extLst>
          </p:cNvPr>
          <p:cNvSpPr>
            <a:spLocks noGrp="1"/>
          </p:cNvSpPr>
          <p:nvPr/>
        </p:nvSpPr>
        <p:spPr>
          <a:xfrm>
            <a:off x="4059343" y="4493256"/>
            <a:ext cx="1318133" cy="709090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chemeClr val="bg1"/>
                </a:solidFill>
              </a:rPr>
              <a:t>M/S</a:t>
            </a:r>
            <a:r>
              <a:rPr lang="en-IN" sz="1400" b="1" dirty="0">
                <a:solidFill>
                  <a:schemeClr val="bg1"/>
                </a:solidFill>
              </a:rPr>
              <a:t> 3.9</a:t>
            </a:r>
            <a:r>
              <a:rPr sz="1400" b="1" dirty="0">
                <a:solidFill>
                  <a:schemeClr val="bg1"/>
                </a:solidFill>
              </a:rPr>
              <a:t>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▲ +134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bps </a:t>
            </a:r>
            <a:r>
              <a:rPr sz="14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30" name="Flow Box 4">
            <a:extLst>
              <a:ext uri="{FF2B5EF4-FFF2-40B4-BE49-F238E27FC236}">
                <a16:creationId xmlns:a16="http://schemas.microsoft.com/office/drawing/2014/main" id="{338421EB-A654-8DE5-7208-E8DFB1B92A7F}"/>
              </a:ext>
            </a:extLst>
          </p:cNvPr>
          <p:cNvSpPr>
            <a:spLocks noGrp="1"/>
          </p:cNvSpPr>
          <p:nvPr/>
        </p:nvSpPr>
        <p:spPr>
          <a:xfrm>
            <a:off x="5908750" y="4485744"/>
            <a:ext cx="1318557" cy="707932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 err="1">
                <a:solidFill>
                  <a:schemeClr val="bg1"/>
                </a:solidFill>
              </a:rPr>
              <a:t>Dist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chemeClr val="bg1"/>
                </a:solidFill>
              </a:rPr>
              <a:t>76%→81%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17E33A-6CF9-6232-F89B-34A011C2BD4A}"/>
              </a:ext>
            </a:extLst>
          </p:cNvPr>
          <p:cNvGrpSpPr/>
          <p:nvPr/>
        </p:nvGrpSpPr>
        <p:grpSpPr>
          <a:xfrm>
            <a:off x="3634605" y="4738931"/>
            <a:ext cx="376342" cy="267791"/>
            <a:chOff x="992172" y="5177897"/>
            <a:chExt cx="180611" cy="25791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824812A-F3F7-7E1D-016C-41D868C6B65C}"/>
                </a:ext>
              </a:extLst>
            </p:cNvPr>
            <p:cNvSpPr/>
            <p:nvPr/>
          </p:nvSpPr>
          <p:spPr>
            <a:xfrm>
              <a:off x="992172" y="5177897"/>
              <a:ext cx="180611" cy="25791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2" name="Arrow: Right 4">
              <a:extLst>
                <a:ext uri="{FF2B5EF4-FFF2-40B4-BE49-F238E27FC236}">
                  <a16:creationId xmlns:a16="http://schemas.microsoft.com/office/drawing/2014/main" id="{B7604E29-31FC-917B-AB16-0780BF19344C}"/>
                </a:ext>
              </a:extLst>
            </p:cNvPr>
            <p:cNvSpPr txBox="1"/>
            <p:nvPr/>
          </p:nvSpPr>
          <p:spPr>
            <a:xfrm>
              <a:off x="992172" y="5226098"/>
              <a:ext cx="110066" cy="1754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8FC9B9-B996-D283-FE1B-1632F46A1A54}"/>
              </a:ext>
            </a:extLst>
          </p:cNvPr>
          <p:cNvGrpSpPr/>
          <p:nvPr/>
        </p:nvGrpSpPr>
        <p:grpSpPr>
          <a:xfrm>
            <a:off x="5428911" y="4711894"/>
            <a:ext cx="397574" cy="294836"/>
            <a:chOff x="981983" y="5177897"/>
            <a:chExt cx="190800" cy="256254"/>
          </a:xfrm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A9112158-420F-A389-6461-65534ED407FA}"/>
                </a:ext>
              </a:extLst>
            </p:cNvPr>
            <p:cNvSpPr/>
            <p:nvPr/>
          </p:nvSpPr>
          <p:spPr>
            <a:xfrm>
              <a:off x="981983" y="5177897"/>
              <a:ext cx="190800" cy="2562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5" name="Arrow: Right 4">
              <a:extLst>
                <a:ext uri="{FF2B5EF4-FFF2-40B4-BE49-F238E27FC236}">
                  <a16:creationId xmlns:a16="http://schemas.microsoft.com/office/drawing/2014/main" id="{65C70857-76D2-4919-84AF-262528A1BC7E}"/>
                </a:ext>
              </a:extLst>
            </p:cNvPr>
            <p:cNvSpPr txBox="1"/>
            <p:nvPr/>
          </p:nvSpPr>
          <p:spPr>
            <a:xfrm>
              <a:off x="981983" y="5226099"/>
              <a:ext cx="120255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96933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9452" y="2767316"/>
            <a:ext cx="7171238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• </a:t>
            </a:r>
            <a:r>
              <a:rPr lang="en-US" sz="1600" b="1" dirty="0"/>
              <a:t>400ml is the hero pack</a:t>
            </a:r>
            <a:r>
              <a:rPr lang="en-US" sz="1600" dirty="0"/>
              <a:t>: 3.0% MT share, ~76% of </a:t>
            </a:r>
            <a:r>
              <a:rPr lang="en-US" sz="1600" dirty="0" err="1"/>
              <a:t>Mamaearth</a:t>
            </a:r>
            <a:r>
              <a:rPr lang="en-US" sz="1600" dirty="0"/>
              <a:t> Shampoo, growing +71% YoY.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High concentration risk</a:t>
            </a:r>
            <a:r>
              <a:rPr lang="en-US" sz="1600" dirty="0"/>
              <a:t>: Brand is heavily dependent on one pack, so any chain-level delisting or stock gap can impact overall performance.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250ml needs recovery</a:t>
            </a:r>
            <a:r>
              <a:rPr lang="en-US" sz="1600" dirty="0"/>
              <a:t>: Second key pack at 12.5% contribution but declining -7% YoY. Listing expansion is required.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650ml is emerging</a:t>
            </a:r>
            <a:r>
              <a:rPr lang="en-US" sz="1600" dirty="0"/>
              <a:t>: Small base but gaining share MoM. Track existing &amp; Listing chain wise for future scale-up.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Action:</a:t>
            </a:r>
            <a:r>
              <a:rPr lang="en-US" sz="1600" dirty="0"/>
              <a:t> Need to Protect 400ml availability and increase listing for gaps to secure and increase sales, need to widen 250ml listing for gaining share and to extend the listing  &amp; linking for 650ml as the next opportunity.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SHAMPOO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DE3B5-36EE-420F-AF74-A0208CB48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29309"/>
              </p:ext>
            </p:extLst>
          </p:nvPr>
        </p:nvGraphicFramePr>
        <p:xfrm>
          <a:off x="151375" y="651667"/>
          <a:ext cx="7118039" cy="2012950"/>
        </p:xfrm>
        <a:graphic>
          <a:graphicData uri="http://schemas.openxmlformats.org/drawingml/2006/table">
            <a:tbl>
              <a:tblPr/>
              <a:tblGrid>
                <a:gridCol w="431396">
                  <a:extLst>
                    <a:ext uri="{9D8B030D-6E8A-4147-A177-3AD203B41FA5}">
                      <a16:colId xmlns:a16="http://schemas.microsoft.com/office/drawing/2014/main" val="2318576066"/>
                    </a:ext>
                  </a:extLst>
                </a:gridCol>
                <a:gridCol w="730055">
                  <a:extLst>
                    <a:ext uri="{9D8B030D-6E8A-4147-A177-3AD203B41FA5}">
                      <a16:colId xmlns:a16="http://schemas.microsoft.com/office/drawing/2014/main" val="2089671565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79983784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505997824"/>
                    </a:ext>
                  </a:extLst>
                </a:gridCol>
                <a:gridCol w="1028714">
                  <a:extLst>
                    <a:ext uri="{9D8B030D-6E8A-4147-A177-3AD203B41FA5}">
                      <a16:colId xmlns:a16="http://schemas.microsoft.com/office/drawing/2014/main" val="2872346768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1067503429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096712120"/>
                    </a:ext>
                  </a:extLst>
                </a:gridCol>
                <a:gridCol w="796424">
                  <a:extLst>
                    <a:ext uri="{9D8B030D-6E8A-4147-A177-3AD203B41FA5}">
                      <a16:colId xmlns:a16="http://schemas.microsoft.com/office/drawing/2014/main" val="3718942374"/>
                    </a:ext>
                  </a:extLst>
                </a:gridCol>
                <a:gridCol w="746648">
                  <a:extLst>
                    <a:ext uri="{9D8B030D-6E8A-4147-A177-3AD203B41FA5}">
                      <a16:colId xmlns:a16="http://schemas.microsoft.com/office/drawing/2014/main" val="419541532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 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</a:t>
                      </a:r>
                    </a:p>
                    <a:p>
                      <a:pPr algn="ctr" rtl="0" fontAlgn="ctr"/>
                      <a:r>
                        <a:rPr lang="en-IN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 ₹Cr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636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12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44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28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033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89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43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80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754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2DC590-D1FD-9DD8-5138-6956995F8BF3}"/>
              </a:ext>
            </a:extLst>
          </p:cNvPr>
          <p:cNvSpPr txBox="1"/>
          <p:nvPr/>
        </p:nvSpPr>
        <p:spPr>
          <a:xfrm>
            <a:off x="135382" y="5609898"/>
            <a:ext cx="71793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ME Shampoo Pack Availability vs Opportunity Gap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FD5412DD-62DE-7EE7-D7EC-5F24EA860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44566"/>
              </p:ext>
            </p:extLst>
          </p:nvPr>
        </p:nvGraphicFramePr>
        <p:xfrm>
          <a:off x="180727" y="6110950"/>
          <a:ext cx="7134033" cy="260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78EEF3A1-7740-B1F2-F8CE-770C531074F9}"/>
              </a:ext>
            </a:extLst>
          </p:cNvPr>
          <p:cNvSpPr/>
          <p:nvPr/>
        </p:nvSpPr>
        <p:spPr>
          <a:xfrm>
            <a:off x="183678" y="8748670"/>
            <a:ext cx="3597747" cy="908832"/>
          </a:xfrm>
          <a:prstGeom prst="roundRect">
            <a:avLst>
              <a:gd name="adj" fmla="val 4444"/>
            </a:avLst>
          </a:prstGeom>
          <a:solidFill>
            <a:srgbClr val="E5F4EC"/>
          </a:solidFill>
          <a:ln>
            <a:solidFill>
              <a:schemeClr val="tx1"/>
            </a:solidFill>
          </a:ln>
        </p:spPr>
        <p:txBody>
          <a:bodyPr/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400ml – 45.9 Cr (69% share) #1</a:t>
            </a:r>
          </a:p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250ml – 9.9 Cr (79% share) #-1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650ml Track chain-wise, plan for scale</a:t>
            </a: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53BD4E85-5535-370B-0B31-C665D95AC02B}"/>
              </a:ext>
            </a:extLst>
          </p:cNvPr>
          <p:cNvSpPr/>
          <p:nvPr/>
        </p:nvSpPr>
        <p:spPr>
          <a:xfrm>
            <a:off x="3842377" y="8836199"/>
            <a:ext cx="3419508" cy="1716064"/>
          </a:xfrm>
          <a:prstGeom prst="roundRect">
            <a:avLst>
              <a:gd name="adj" fmla="val 4138"/>
            </a:avLst>
          </a:prstGeom>
          <a:solidFill>
            <a:srgbClr val="FBEAE9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  <a:spcAft>
                <a:spcPts val="300"/>
              </a:spcAft>
              <a:defRPr sz="1100" b="1">
                <a:solidFill>
                  <a:srgbClr val="8B4513"/>
                </a:solidFill>
              </a:defRPr>
            </a:pPr>
            <a:r>
              <a:rPr lang="en-IN" sz="1600" dirty="0"/>
              <a:t>WHERE WE'RE MISSING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340ml – 261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1000ml – 216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580ml – 64 Cr </a:t>
            </a:r>
            <a:r>
              <a:rPr lang="en-US" sz="1400" dirty="0" err="1"/>
              <a:t>Tresemmé</a:t>
            </a:r>
            <a:r>
              <a:rPr lang="en-US" sz="1400" dirty="0"/>
              <a:t> leads | We: 0 Cr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A26C8-6633-76E7-6AFE-132E91B724C2}"/>
              </a:ext>
            </a:extLst>
          </p:cNvPr>
          <p:cNvSpPr txBox="1"/>
          <p:nvPr/>
        </p:nvSpPr>
        <p:spPr>
          <a:xfrm>
            <a:off x="180726" y="9657502"/>
            <a:ext cx="3597747" cy="101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 b="1">
                <a:solidFill>
                  <a:srgbClr val="800080"/>
                </a:solidFill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COMPETITORS STRONG: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Dove: 250ml, 340ml, 400ml, 1000ml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H&amp;S: 180ml, 250ml, 400ml, 580ml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Himalaya: 180ml, 1000ml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22532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781890"/>
              </p:ext>
            </p:extLst>
          </p:nvPr>
        </p:nvGraphicFramePr>
        <p:xfrm>
          <a:off x="245668" y="6021604"/>
          <a:ext cx="3520838" cy="1058550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MS 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6%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Sales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 (Cr.)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14.98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17.54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18.61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93213"/>
              </p:ext>
            </p:extLst>
          </p:nvPr>
        </p:nvGraphicFramePr>
        <p:xfrm>
          <a:off x="3786425" y="5998952"/>
          <a:ext cx="3548271" cy="1033027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MS 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Sales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(Cr.)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5.49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6.94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7.75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94714"/>
              </p:ext>
            </p:extLst>
          </p:nvPr>
        </p:nvGraphicFramePr>
        <p:xfrm>
          <a:off x="256641" y="7339112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93780"/>
              </p:ext>
            </p:extLst>
          </p:nvPr>
        </p:nvGraphicFramePr>
        <p:xfrm>
          <a:off x="3815653" y="7360861"/>
          <a:ext cx="3538784" cy="1484208"/>
        </p:xfrm>
        <a:graphic>
          <a:graphicData uri="http://schemas.openxmlformats.org/drawingml/2006/table">
            <a:tbl>
              <a:tblPr/>
              <a:tblGrid>
                <a:gridCol w="86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20456" y="9067384"/>
            <a:ext cx="704915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▲24% YoY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(+75 bps)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  <a:latin typeface="Calibri"/>
              </a:rPr>
              <a:t>-2 bps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+11.5%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44F818-C1F3-2C37-6881-13FF35EC5089}"/>
              </a:ext>
            </a:extLst>
          </p:cNvPr>
          <p:cNvSpPr/>
          <p:nvPr/>
        </p:nvSpPr>
        <p:spPr>
          <a:xfrm>
            <a:off x="220456" y="591616"/>
            <a:ext cx="7126502" cy="611752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</a:t>
            </a:r>
            <a:r>
              <a:rPr lang="en-US" sz="1150" dirty="0" err="1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gained share YoY in both categories nationally. Facewash share gains held steady MoM; Shampoo share dipped slightly MoM even as category value grew.</a:t>
            </a:r>
            <a:endParaRPr lang="en-US" sz="1000" dirty="0"/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90680" y="605684"/>
            <a:ext cx="45719" cy="611752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90679" y="1217436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16628"/>
              </p:ext>
            </p:extLst>
          </p:nvPr>
        </p:nvGraphicFramePr>
        <p:xfrm>
          <a:off x="298089" y="4200527"/>
          <a:ext cx="3417545" cy="1380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99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04AC7A0-24DA-9401-A043-42304A39A049}"/>
              </a:ext>
            </a:extLst>
          </p:cNvPr>
          <p:cNvSpPr txBox="1"/>
          <p:nvPr/>
        </p:nvSpPr>
        <p:spPr>
          <a:xfrm>
            <a:off x="253291" y="3856638"/>
            <a:ext cx="704915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5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500" b="1" dirty="0">
                <a:solidFill>
                  <a:srgbClr val="1F4E78"/>
                </a:solidFill>
                <a:latin typeface="Calibri"/>
              </a:rPr>
              <a:t>SHAMPOO (NIELSEN MS VAL)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51749"/>
              </p:ext>
            </p:extLst>
          </p:nvPr>
        </p:nvGraphicFramePr>
        <p:xfrm>
          <a:off x="3781411" y="4197110"/>
          <a:ext cx="3573029" cy="1419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</a:t>
                      </a:r>
                      <a:endParaRPr lang="en-IN" sz="9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18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2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8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03DA08B-77B6-4C6C-EBB4-86762B7954BD}"/>
              </a:ext>
            </a:extLst>
          </p:cNvPr>
          <p:cNvSpPr/>
          <p:nvPr/>
        </p:nvSpPr>
        <p:spPr>
          <a:xfrm>
            <a:off x="265254" y="5630546"/>
            <a:ext cx="7089185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E7342-BF61-6D36-5C21-AFF57B37CC07}"/>
              </a:ext>
            </a:extLst>
          </p:cNvPr>
          <p:cNvSpPr/>
          <p:nvPr/>
        </p:nvSpPr>
        <p:spPr>
          <a:xfrm>
            <a:off x="255872" y="5904864"/>
            <a:ext cx="7110751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F670B11B-E40D-D128-EB4A-8C821046106A}"/>
              </a:ext>
            </a:extLst>
          </p:cNvPr>
          <p:cNvSpPr/>
          <p:nvPr/>
        </p:nvSpPr>
        <p:spPr>
          <a:xfrm>
            <a:off x="212502" y="5730514"/>
            <a:ext cx="3457007" cy="277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7E9A84A3-492F-BC57-02CD-E50F19908EC9}"/>
              </a:ext>
            </a:extLst>
          </p:cNvPr>
          <p:cNvSpPr/>
          <p:nvPr/>
        </p:nvSpPr>
        <p:spPr>
          <a:xfrm>
            <a:off x="3716928" y="5719742"/>
            <a:ext cx="3439648" cy="22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30CF712-BF9D-3C8D-F8BF-3D43F04FC3B1}"/>
              </a:ext>
            </a:extLst>
          </p:cNvPr>
          <p:cNvSpPr/>
          <p:nvPr/>
        </p:nvSpPr>
        <p:spPr>
          <a:xfrm>
            <a:off x="256642" y="7042360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9395683-BBDE-3919-3AA7-3618A368D32B}"/>
              </a:ext>
            </a:extLst>
          </p:cNvPr>
          <p:cNvSpPr/>
          <p:nvPr/>
        </p:nvSpPr>
        <p:spPr>
          <a:xfrm>
            <a:off x="3815654" y="7042360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EC256BFB-A312-B510-AFC0-FD1AA1908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762620"/>
              </p:ext>
            </p:extLst>
          </p:nvPr>
        </p:nvGraphicFramePr>
        <p:xfrm>
          <a:off x="194931" y="1333172"/>
          <a:ext cx="3502216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a16:creationId xmlns:a16="http://schemas.microsoft.com/office/drawing/2014/main" id="{BF728E2D-1079-B203-9F9E-E72210FA8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561294"/>
              </p:ext>
            </p:extLst>
          </p:nvPr>
        </p:nvGraphicFramePr>
        <p:xfrm>
          <a:off x="3800962" y="1335263"/>
          <a:ext cx="3553475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9B535-7E46-EFF1-7949-92AFDB3F3028}"/>
              </a:ext>
            </a:extLst>
          </p:cNvPr>
          <p:cNvSpPr/>
          <p:nvPr/>
        </p:nvSpPr>
        <p:spPr>
          <a:xfrm>
            <a:off x="7311205" y="573298"/>
            <a:ext cx="45719" cy="68563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>
            <a:off x="190679" y="573298"/>
            <a:ext cx="7163759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C2D80-5FC1-B80E-D10C-6A3F267EFABE}"/>
              </a:ext>
            </a:extLst>
          </p:cNvPr>
          <p:cNvSpPr/>
          <p:nvPr/>
        </p:nvSpPr>
        <p:spPr>
          <a:xfrm>
            <a:off x="194931" y="4129117"/>
            <a:ext cx="7171692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9FDCF-2A4B-7AB8-CDCD-392E6C187C28}"/>
              </a:ext>
            </a:extLst>
          </p:cNvPr>
          <p:cNvSpPr txBox="1"/>
          <p:nvPr/>
        </p:nvSpPr>
        <p:spPr>
          <a:xfrm>
            <a:off x="255873" y="1339402"/>
            <a:ext cx="350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200" b="0" u="none" strike="noStrike" dirty="0">
              <a:solidFill>
                <a:srgbClr val="1A1F29"/>
              </a:solidFill>
              <a:effectLst/>
              <a:uFillTx/>
              <a:latin typeface="Calibri"/>
            </a:endParaRPr>
          </a:p>
          <a:p>
            <a:endParaRPr lang="en-IN" sz="1200" dirty="0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975050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14%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9%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81965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208565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6 / 21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36681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387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10.1%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366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387 for East (10.1% of channel), ▼ 7% MoM off the May-26 record of 415. Q1 FY27 = 1,173 Lacs, ▲ 68% vs Q1 FY26.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6% vs L3M and ▲ 72%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58%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7%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96%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31%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180%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▲ 125%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47342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4455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149%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581%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East closed Jun-26 at 387, ▲ 6% vs L3M and ▲ 72% vs Jun-25; Q1 FY27 ▲ 68% YoY (corrected NSV).</a:t>
              </a:r>
              <a:br/>
              <a:r>
                <a:rPr sz="720" b="1">
                  <a:latin typeface="Calibri"/>
                </a:rPr>
                <a:t> 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250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149%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415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8 / 21</a:t>
            </a:r>
          </a:p>
        </p:txBody>
      </p:sp>
    </p:spTree>
    <p:extLst>
      <p:ext uri="{BB962C8B-B14F-4D97-AF65-F5344CB8AC3E}">
        <p14:creationId xmlns:p14="http://schemas.microsoft.com/office/powerpoint/2010/main" val="3277474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860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860 for North (22.5% of channel), ▼ 8% MoM off the May-26 record of 936. Q1 FY27 = 2,641 Lacs, ▲ 67%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1% vs L3M and ▲ 72% vs Jun-25 — YoY momentum intact despite seasonal moderation.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32%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6%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252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78%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4%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Jun'26 182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1400%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Jun'26 135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283%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25%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88%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701748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661828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161%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North closed Jun-26 at 860, ▲ 1% vs L3M and ▲ 72% vs Jun-25; Q1 FY27 ▲ 67% YoY (corrected NSV).</a:t>
              </a:r>
              <a:br/>
              <a:r>
                <a:rPr sz="720" b="1">
                  <a:latin typeface="Calibri"/>
                </a:rPr>
                <a:t> 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328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260%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9 / 21</a:t>
            </a:r>
          </a:p>
        </p:txBody>
      </p:sp>
    </p:spTree>
    <p:extLst>
      <p:ext uri="{BB962C8B-B14F-4D97-AF65-F5344CB8AC3E}">
        <p14:creationId xmlns:p14="http://schemas.microsoft.com/office/powerpoint/2010/main" val="137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827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21.6%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827 for South-1 (21.6% of channel), ▼ 8% MoM off the May-26 record of 895. Q1 FY27 = 2,489 Lacs, ▲ 84%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82%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41%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173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72%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5%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Jun'26 179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130%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721%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210%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93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76%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696366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522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35%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South-1 closed Jun-26 at 827, ▲ 7% vs L3M and ▲ 82% vs Jun-25; Q1 FY27 ▲ 84% YoY (corrected NSV).</a:t>
              </a:r>
              <a:br/>
              <a:r>
                <a:rPr sz="720" b="1">
                  <a:latin typeface="Calibri"/>
                </a:rPr>
                <a:t> Chain Highlights: Apollo leads; Apollo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289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183%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895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2713510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548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14.3%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486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548 for South-2 (14.3% of channel), ▼ 1% MoM off the May-26 record of 555. Q1 FY27 = 1,576 Lacs, ▲ 65%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13% vs L3M and ▲ 64%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47%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10%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93%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28%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1220%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250%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39%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427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382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391%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▼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485%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17%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South-2 closed Jun-26 at 548, ▲ 13% vs L3M and ▲ 64% vs Jun-25; Q1 FY27 ▲ 65% YoY (corrected NSV).</a:t>
              </a:r>
              <a:br/>
              <a:r>
                <a:rPr sz="720" b="1">
                  <a:latin typeface="Calibri"/>
                </a:rPr>
                <a:t> Chain Highlights: Dmart leads; Apollo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132%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555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40574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985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25.8%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985 for West (25.8% of channel), ▼ 3% MoM off the May-26 record of 1017. Q1 FY27 = 2,905 Lacs, ▲ 55% vs Q1 FY26.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5% vs L3M and ▲ 67%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Jun'26 191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50%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42%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1669%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Jun'26 230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407%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36%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76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532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560%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▲ 212%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▲ 199%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230%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70%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West closed Jun-26 at 985, ▲ 5% vs L3M and ▲ 67% vs Jun-25; Q1 FY27 ▲ 55% YoY (corrected NSV).</a:t>
              </a:r>
              <a:br/>
              <a:r>
                <a:rPr sz="720" b="1">
                  <a:latin typeface="Calibri"/>
                </a:rPr>
                <a:t> Chain Highlights: Dmart leads; Metro Cnc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668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Metro Cnc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1017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979347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203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Chain View: Jun-26 closed at 217 for FSN (5.7% of channel), ▲ 4% MoM. Q1 FY27 = 653 Lacs, ▲ 25%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32% vs Jun-25 — best month since the Apr-26 record of 229.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r>
              <a:rPr sz="750">
                <a:latin typeface="Calibri"/>
              </a:rPr>
              <a:t>Zone Insight: FSN improved to +32% YoY but still trails the network (+68%); assortment plus promo refresh remains the lever.</a:t>
            </a: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▲ 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14%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0%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40%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18961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79307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closed Jun-26 at 217, ▲ 7% vs L3M and ▲ 32% vs Jun-25; the Apr-26 record of 229 stands.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4126664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3"/>
            <a:ext cx="1845748" cy="2460998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1803708" cy="240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506" y="3719623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160" y="3735910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D-Mart | Bengaluru | South-2 | BOGO Bin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3471" y="10993339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1315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pic>
        <p:nvPicPr>
          <p:cNvPr id="19" name="Picture 18" descr="JC_Radhika_s05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5" y="4371570"/>
            <a:ext cx="1352781" cy="24049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352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352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9111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pic>
        <p:nvPicPr>
          <p:cNvPr id="24" name="Picture 23" descr="JC_Radhika_s06_p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675" y="4371570"/>
            <a:ext cx="1803708" cy="24049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22995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995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78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678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0" name="Picture 29" descr="JC_Radhika_s08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522" y="7855175"/>
            <a:ext cx="1631307" cy="21750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2678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4" name="TextBox 33"/>
          <p:cNvSpPr txBox="1"/>
          <p:nvPr/>
        </p:nvSpPr>
        <p:spPr>
          <a:xfrm>
            <a:off x="1042843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843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8321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8321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8" name="Picture 37" descr="JC_June2026_s10_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166" y="7671607"/>
            <a:ext cx="1803708" cy="240494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708321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0" name="TextBox 39"/>
          <p:cNvSpPr txBox="1"/>
          <p:nvPr/>
        </p:nvSpPr>
        <p:spPr>
          <a:xfrm>
            <a:off x="3788486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 dirty="0">
                <a:solidFill>
                  <a:srgbClr val="1E2761"/>
                </a:solidFill>
                <a:latin typeface="Calibri"/>
              </a:rPr>
              <a:t>D-Mart | Bengaluru | BOGO Bin Display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8486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Jun'26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17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18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19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20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21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/>
          <p:nvPr/>
        </p:nvSpPr>
        <p:spPr>
          <a:xfrm>
            <a:off x="228600" y="228600"/>
            <a:ext cx="7105650" cy="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F4E79"/>
                </a:solidFill>
              </a:rPr>
              <a:t>Visual Proof of Execution — Q1 FY26-27 (placeholder)</a:t>
            </a:r>
          </a:p>
          <a:p>
            <a:r>
              <a:rPr lang="en-US" sz="1200" i="1">
                <a:solidFill>
                  <a:srgbClr val="595959"/>
                </a:solidFill>
              </a:rPr>
              <a:t>Drop best-in-class visibility photos below; label each by State + Retail Chain banner. No live image source connected this cycle.</a:t>
            </a:r>
          </a:p>
        </p:txBody>
      </p:sp>
      <p:sp>
        <p:nvSpPr>
          <p:cNvPr id="0" name="ExecBox"/>
          <p:cNvSpPr/>
          <p:nvPr/>
        </p:nvSpPr>
        <p:spPr>
          <a:xfrm>
            <a:off x="300000" y="11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856425" y="11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00000" y="395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856425" y="395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00000" y="68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856425" y="68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HeaderBg"/>
          <p:cNvSpPr/>
          <p:nvPr/>
        </p:nvSpPr>
        <p:spPr>
          <a:xfrm>
            <a:off x="0" y="0"/>
            <a:ext cx="756285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" name="BrandAnchor"/>
          <p:cNvSpPr/>
          <p:nvPr/>
        </p:nvSpPr>
        <p:spPr>
          <a:xfrm>
            <a:off x="228600" y="60000"/>
            <a:ext cx="7105650" cy="18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BDD7EE"/>
                </a:solidFill>
                <a:latin typeface="Calibri" pitchFamily="34" charset="0"/>
              </a:rPr>
              <a:t>Portfolio | All Categories | Executive Summary</a:t>
            </a:r>
          </a:p>
        </p:txBody>
      </p:sp>
      <p:sp>
        <p:nvSpPr>
          <p:cNvPr id="1003" name="Title"/>
          <p:cNvSpPr/>
          <p:nvPr/>
        </p:nvSpPr>
        <p:spPr>
          <a:xfrm>
            <a:off x="228600" y="200000"/>
            <a:ext cx="7105650" cy="21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Primary vs. Offtake Sell-Out — Executive View</a:t>
            </a:r>
          </a:p>
        </p:txBody>
      </p:sp>
      <p:sp>
        <p:nvSpPr>
          <p:cNvPr id="1004" name="Subtitle"/>
          <p:cNvSpPr/>
          <p:nvPr/>
        </p:nvSpPr>
        <p:spPr>
          <a:xfrm>
            <a:off x="228600" y="380000"/>
            <a:ext cx="7105650" cy="14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D9E2F3"/>
                </a:solidFill>
                <a:latin typeface="Calibri" pitchFamily="34" charset="0"/>
              </a:rPr>
              <a:t>Q1 FY26-27 (Apr-Jun'26) consolidated | 26-chain matched universe (Primary &amp; Offtake both report)</a:t>
            </a:r>
          </a:p>
        </p:txBody>
      </p:sp>
      <p:sp>
        <p:nvSpPr>
          <p:cNvPr id="1005" name="KpiTile"/>
          <p:cNvSpPr/>
          <p:nvPr/>
        </p:nvSpPr>
        <p:spPr>
          <a:xfrm>
            <a:off x="228600" y="693420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06" name="KpiAccent"/>
          <p:cNvSpPr/>
          <p:nvPr/>
        </p:nvSpPr>
        <p:spPr>
          <a:xfrm>
            <a:off x="228600" y="693420"/>
            <a:ext cx="55000" cy="310473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" name="KpiLabel"/>
          <p:cNvSpPr/>
          <p:nvPr/>
        </p:nvSpPr>
        <p:spPr>
          <a:xfrm>
            <a:off x="348600" y="783420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Total Primary (Q1 FY27)</a:t>
            </a:r>
          </a:p>
        </p:txBody>
      </p:sp>
      <p:sp>
        <p:nvSpPr>
          <p:cNvPr id="1008" name="KpiValue"/>
          <p:cNvSpPr/>
          <p:nvPr/>
        </p:nvSpPr>
        <p:spPr>
          <a:xfrm>
            <a:off x="348600" y="193531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4472C4"/>
                </a:solidFill>
                <a:latin typeface="Calibri" pitchFamily="34" charset="0"/>
              </a:rPr>
              <a:t>Rs 13,625L</a:t>
            </a:r>
          </a:p>
        </p:txBody>
      </p:sp>
      <p:sp>
        <p:nvSpPr>
          <p:cNvPr id="1009" name="KpiDelta"/>
          <p:cNvSpPr/>
          <p:nvPr/>
        </p:nvSpPr>
        <p:spPr>
          <a:xfrm>
            <a:off x="348600" y="311511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26-chain matched universe</a:t>
            </a:r>
          </a:p>
        </p:txBody>
      </p:sp>
      <p:sp>
        <p:nvSpPr>
          <p:cNvPr id="1010" name="KpiTile"/>
          <p:cNvSpPr/>
          <p:nvPr/>
        </p:nvSpPr>
        <p:spPr>
          <a:xfrm>
            <a:off x="228600" y="3988659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11" name="KpiAccent"/>
          <p:cNvSpPr/>
          <p:nvPr/>
        </p:nvSpPr>
        <p:spPr>
          <a:xfrm>
            <a:off x="228600" y="3988659"/>
            <a:ext cx="55000" cy="310473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" name="KpiLabel"/>
          <p:cNvSpPr/>
          <p:nvPr/>
        </p:nvSpPr>
        <p:spPr>
          <a:xfrm>
            <a:off x="348600" y="4078659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Total Offtake (Q1 FY27)</a:t>
            </a:r>
          </a:p>
        </p:txBody>
      </p:sp>
      <p:sp>
        <p:nvSpPr>
          <p:cNvPr id="1013" name="KpiValue"/>
          <p:cNvSpPr/>
          <p:nvPr/>
        </p:nvSpPr>
        <p:spPr>
          <a:xfrm>
            <a:off x="348600" y="523055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ED7D31"/>
                </a:solidFill>
                <a:latin typeface="Calibri" pitchFamily="34" charset="0"/>
              </a:rPr>
              <a:t>Rs 11,436L</a:t>
            </a:r>
          </a:p>
        </p:txBody>
      </p:sp>
      <p:sp>
        <p:nvSpPr>
          <p:cNvPr id="1014" name="KpiDelta"/>
          <p:cNvSpPr/>
          <p:nvPr/>
        </p:nvSpPr>
        <p:spPr>
          <a:xfrm>
            <a:off x="348600" y="641035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Same 26-chain universe</a:t>
            </a:r>
          </a:p>
        </p:txBody>
      </p:sp>
      <p:sp>
        <p:nvSpPr>
          <p:cNvPr id="1015" name="KpiTile"/>
          <p:cNvSpPr/>
          <p:nvPr/>
        </p:nvSpPr>
        <p:spPr>
          <a:xfrm>
            <a:off x="228600" y="7283898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16" name="KpiAccent"/>
          <p:cNvSpPr/>
          <p:nvPr/>
        </p:nvSpPr>
        <p:spPr>
          <a:xfrm>
            <a:off x="228600" y="7283898"/>
            <a:ext cx="55000" cy="3104739"/>
          </a:xfrm>
          <a:prstGeom prst="rect">
            <a:avLst/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" name="KpiLabel"/>
          <p:cNvSpPr/>
          <p:nvPr/>
        </p:nvSpPr>
        <p:spPr>
          <a:xfrm>
            <a:off x="348600" y="7373898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Sell-Out %</a:t>
            </a:r>
          </a:p>
        </p:txBody>
      </p:sp>
      <p:sp>
        <p:nvSpPr>
          <p:cNvPr id="1018" name="KpiValue"/>
          <p:cNvSpPr/>
          <p:nvPr/>
        </p:nvSpPr>
        <p:spPr>
          <a:xfrm>
            <a:off x="348600" y="8525794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E2A500"/>
                </a:solidFill>
                <a:latin typeface="Calibri" pitchFamily="34" charset="0"/>
              </a:rPr>
              <a:t>83.9%</a:t>
            </a:r>
          </a:p>
        </p:txBody>
      </p:sp>
      <p:sp>
        <p:nvSpPr>
          <p:cNvPr id="1019" name="KpiDelta"/>
          <p:cNvSpPr/>
          <p:nvPr/>
        </p:nvSpPr>
        <p:spPr>
          <a:xfrm>
            <a:off x="348600" y="9705595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Gap: Rs 2,188L billed-not-sold</a:t>
            </a:r>
          </a:p>
        </p:txBody>
      </p:sp>
      <p:sp>
        <p:nvSpPr>
          <p:cNvPr id="1020" name="CenterTitle"/>
          <p:cNvSpPr/>
          <p:nvPr/>
        </p:nvSpPr>
        <p:spPr>
          <a:xfrm>
            <a:off x="2080012" y="693420"/>
            <a:ext cx="3402825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100" b="1" dirty="0">
                <a:solidFill>
                  <a:srgbClr val="404040"/>
                </a:solidFill>
                <a:latin typeface="Calibri" pitchFamily="34" charset="0"/>
              </a:rPr>
              <a:t>Primary vs. Offtake — Sell-Out Tracking</a:t>
            </a:r>
          </a:p>
        </p:txBody>
      </p:sp>
      <p:sp>
        <p:nvSpPr>
          <p:cNvPr id="1021" name="LegPrimary"/>
          <p:cNvSpPr/>
          <p:nvPr/>
        </p:nvSpPr>
        <p:spPr>
          <a:xfrm>
            <a:off x="2080012" y="913420"/>
            <a:ext cx="140000" cy="1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2" name="LegPrimaryTxt"/>
          <p:cNvSpPr/>
          <p:nvPr/>
        </p:nvSpPr>
        <p:spPr>
          <a:xfrm>
            <a:off x="22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Primary (billed-in)</a:t>
            </a:r>
          </a:p>
        </p:txBody>
      </p:sp>
      <p:sp>
        <p:nvSpPr>
          <p:cNvPr id="1023" name="LegOfftake"/>
          <p:cNvSpPr/>
          <p:nvPr/>
        </p:nvSpPr>
        <p:spPr>
          <a:xfrm>
            <a:off x="3380012" y="913420"/>
            <a:ext cx="140000" cy="1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4" name="LegOfftakeTxt"/>
          <p:cNvSpPr/>
          <p:nvPr/>
        </p:nvSpPr>
        <p:spPr>
          <a:xfrm>
            <a:off x="35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Offtake (sold-out)</a:t>
            </a:r>
          </a:p>
        </p:txBody>
      </p:sp>
      <p:sp>
        <p:nvSpPr>
          <p:cNvPr id="1025" name="RowLabel"/>
          <p:cNvSpPr/>
          <p:nvPr/>
        </p:nvSpPr>
        <p:spPr>
          <a:xfrm>
            <a:off x="2080012" y="1113420"/>
            <a:ext cx="1020847" cy="4617609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Q1 FY27
(Apr-Jun26)</a:t>
            </a:r>
          </a:p>
        </p:txBody>
      </p:sp>
      <p:sp>
        <p:nvSpPr>
          <p:cNvPr id="1026" name="PrimaryBar"/>
          <p:cNvSpPr/>
          <p:nvPr/>
        </p:nvSpPr>
        <p:spPr>
          <a:xfrm>
            <a:off x="3140859" y="1390476"/>
            <a:ext cx="1721978" cy="147763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7" name="PrimaryVal"/>
          <p:cNvSpPr/>
          <p:nvPr/>
        </p:nvSpPr>
        <p:spPr>
          <a:xfrm>
            <a:off x="4892837" y="1205772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13,625L</a:t>
            </a:r>
          </a:p>
        </p:txBody>
      </p:sp>
      <p:sp>
        <p:nvSpPr>
          <p:cNvPr id="1028" name="OfftakeBar"/>
          <p:cNvSpPr/>
          <p:nvPr/>
        </p:nvSpPr>
        <p:spPr>
          <a:xfrm>
            <a:off x="3140859" y="3514576"/>
            <a:ext cx="1445381" cy="14776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" name="OfftakeVal"/>
          <p:cNvSpPr/>
          <p:nvPr/>
        </p:nvSpPr>
        <p:spPr>
          <a:xfrm>
            <a:off x="4616240" y="3329872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11,436L</a:t>
            </a:r>
          </a:p>
        </p:txBody>
      </p:sp>
      <p:sp>
        <p:nvSpPr>
          <p:cNvPr id="1030" name="SOChip"/>
          <p:cNvSpPr/>
          <p:nvPr/>
        </p:nvSpPr>
        <p:spPr>
          <a:xfrm>
            <a:off x="4922837" y="1806061"/>
            <a:ext cx="560000" cy="3232326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" name="SOChipTxt"/>
          <p:cNvSpPr/>
          <p:nvPr/>
        </p:nvSpPr>
        <p:spPr>
          <a:xfrm>
            <a:off x="4922837" y="1806061"/>
            <a:ext cx="560000" cy="323232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84%</a:t>
            </a:r>
          </a:p>
        </p:txBody>
      </p:sp>
      <p:sp>
        <p:nvSpPr>
          <p:cNvPr id="1032" name="RowLabel"/>
          <p:cNvSpPr/>
          <p:nvPr/>
        </p:nvSpPr>
        <p:spPr>
          <a:xfrm>
            <a:off x="2080012" y="5771029"/>
            <a:ext cx="1020847" cy="4617609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Jun'26</a:t>
            </a:r>
          </a:p>
        </p:txBody>
      </p:sp>
      <p:sp>
        <p:nvSpPr>
          <p:cNvPr id="1033" name="PrimaryBar"/>
          <p:cNvSpPr/>
          <p:nvPr/>
        </p:nvSpPr>
        <p:spPr>
          <a:xfrm>
            <a:off x="3140859" y="6048085"/>
            <a:ext cx="526184" cy="147763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" name="PrimaryVal"/>
          <p:cNvSpPr/>
          <p:nvPr/>
        </p:nvSpPr>
        <p:spPr>
          <a:xfrm>
            <a:off x="3697043" y="5863381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4,163L</a:t>
            </a:r>
          </a:p>
        </p:txBody>
      </p:sp>
      <p:sp>
        <p:nvSpPr>
          <p:cNvPr id="1035" name="OfftakeBar"/>
          <p:cNvSpPr/>
          <p:nvPr/>
        </p:nvSpPr>
        <p:spPr>
          <a:xfrm>
            <a:off x="3140859" y="8172185"/>
            <a:ext cx="483138" cy="14776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" name="OfftakeVal"/>
          <p:cNvSpPr/>
          <p:nvPr/>
        </p:nvSpPr>
        <p:spPr>
          <a:xfrm>
            <a:off x="3653997" y="7987481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3,823L</a:t>
            </a:r>
          </a:p>
        </p:txBody>
      </p:sp>
      <p:sp>
        <p:nvSpPr>
          <p:cNvPr id="1037" name="SOChip"/>
          <p:cNvSpPr/>
          <p:nvPr/>
        </p:nvSpPr>
        <p:spPr>
          <a:xfrm>
            <a:off x="4922837" y="6463670"/>
            <a:ext cx="560000" cy="3232326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" name="SOChipTxt"/>
          <p:cNvSpPr/>
          <p:nvPr/>
        </p:nvSpPr>
        <p:spPr>
          <a:xfrm>
            <a:off x="4922837" y="6463670"/>
            <a:ext cx="560000" cy="323232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92%</a:t>
            </a:r>
          </a:p>
        </p:txBody>
      </p:sp>
      <p:sp>
        <p:nvSpPr>
          <p:cNvPr id="1039" name="SCRBox"/>
          <p:cNvSpPr/>
          <p:nvPr/>
        </p:nvSpPr>
        <p:spPr>
          <a:xfrm>
            <a:off x="5632837" y="693420"/>
            <a:ext cx="1701413" cy="969521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88000" lnSpcReduction="10000"/>
          </a:bodyPr>
          <a:lstStyle/>
          <a:p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SITUATION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Q1 FY27: Primary Rs13,625L vs Offtake Rs11,436L - Sell-Out 83.9%.</a:t>
            </a:r>
          </a:p>
          <a:p>
            <a:endParaRPr sz="400"/>
          </a:p>
          <a:p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COMPLICATION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Rs2,188L billed but not yet sold-through - trade inventory is building faster than consumer offtake.</a:t>
            </a:r>
          </a:p>
          <a:p>
            <a:endParaRPr sz="400"/>
          </a:p>
          <a:p>
            <a:r>
              <a:rPr lang="en-US" sz="1100" b="1" dirty="0">
                <a:solidFill>
                  <a:srgbClr val="1F7A3D"/>
                </a:solidFill>
                <a:latin typeface="Calibri" pitchFamily="34" charset="0"/>
              </a:rPr>
              <a:t>RESOLUTION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Slow Q2 primary billing pace vs Q1 to let channel inventory normalize; prioritize sell-out schemes.</a:t>
            </a:r>
          </a:p>
          <a:p>
            <a:endParaRPr sz="400"/>
          </a:p>
        </p:txBody>
      </p:sp>
      <p:sp>
        <p:nvSpPr>
          <p:cNvPr id="1040" name="Footnote"/>
          <p:cNvSpPr/>
          <p:nvPr/>
        </p:nvSpPr>
        <p:spPr>
          <a:xfrm>
            <a:off x="228600" y="10408638"/>
            <a:ext cx="7105650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800" dirty="0">
                <a:solidFill>
                  <a:srgbClr val="808080"/>
                </a:solidFill>
                <a:latin typeface="Calibri" pitchFamily="34" charset="0"/>
              </a:rPr>
              <a:t>Sell-Out % = Offtake / Primary Billing x 100. Matched universe = chains present in both Primary and Offtake reporting (see Chain_Mapping sheet).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HeaderBg"/>
          <p:cNvSpPr/>
          <p:nvPr/>
        </p:nvSpPr>
        <p:spPr>
          <a:xfrm>
            <a:off x="0" y="0"/>
            <a:ext cx="756285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" name="BrandAnchor"/>
          <p:cNvSpPr/>
          <p:nvPr/>
        </p:nvSpPr>
        <p:spPr>
          <a:xfrm>
            <a:off x="228600" y="60000"/>
            <a:ext cx="7105650" cy="18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BDD7EE"/>
                </a:solidFill>
                <a:latin typeface="Calibri" pitchFamily="34" charset="0"/>
              </a:rPr>
              <a:t>Portfolio | All Categories | Chain-Level Deep Dive</a:t>
            </a:r>
          </a:p>
        </p:txBody>
      </p:sp>
      <p:sp>
        <p:nvSpPr>
          <p:cNvPr id="1043" name="Title"/>
          <p:cNvSpPr/>
          <p:nvPr/>
        </p:nvSpPr>
        <p:spPr>
          <a:xfrm>
            <a:off x="228600" y="200000"/>
            <a:ext cx="7105650" cy="21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Primary vs. Offtake Sell-Out — Chain / KAM View</a:t>
            </a:r>
          </a:p>
        </p:txBody>
      </p:sp>
      <p:sp>
        <p:nvSpPr>
          <p:cNvPr id="1044" name="Subtitle"/>
          <p:cNvSpPr/>
          <p:nvPr/>
        </p:nvSpPr>
        <p:spPr>
          <a:xfrm>
            <a:off x="228600" y="380000"/>
            <a:ext cx="7105650" cy="14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D9E2F3"/>
                </a:solidFill>
                <a:latin typeface="Calibri" pitchFamily="34" charset="0"/>
              </a:rPr>
              <a:t>Q1 FY26-27 (Apr-Jun'26) | Key accounts: Dmart, Reliance, Apollo + top format chains</a:t>
            </a:r>
          </a:p>
        </p:txBody>
      </p:sp>
      <p:sp>
        <p:nvSpPr>
          <p:cNvPr id="1045" name="KpiTile"/>
          <p:cNvSpPr/>
          <p:nvPr/>
        </p:nvSpPr>
        <p:spPr>
          <a:xfrm>
            <a:off x="228600" y="693420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46" name="KpiAccent"/>
          <p:cNvSpPr/>
          <p:nvPr/>
        </p:nvSpPr>
        <p:spPr>
          <a:xfrm>
            <a:off x="228600" y="693420"/>
            <a:ext cx="55000" cy="31047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" name="KpiLabel"/>
          <p:cNvSpPr/>
          <p:nvPr/>
        </p:nvSpPr>
        <p:spPr>
          <a:xfrm>
            <a:off x="348600" y="783420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Weakest Sell-Out (Q1)</a:t>
            </a:r>
          </a:p>
        </p:txBody>
      </p:sp>
      <p:sp>
        <p:nvSpPr>
          <p:cNvPr id="1048" name="KpiValue"/>
          <p:cNvSpPr/>
          <p:nvPr/>
        </p:nvSpPr>
        <p:spPr>
          <a:xfrm>
            <a:off x="348600" y="193531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</a:rPr>
              <a:t>Dmart 77%</a:t>
            </a:r>
          </a:p>
        </p:txBody>
      </p:sp>
      <p:sp>
        <p:nvSpPr>
          <p:cNvPr id="1049" name="KpiDelta"/>
          <p:cNvSpPr/>
          <p:nvPr/>
        </p:nvSpPr>
        <p:spPr>
          <a:xfrm>
            <a:off x="348600" y="311511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Rs5,527L vs Offtake Rs4,232L</a:t>
            </a:r>
          </a:p>
        </p:txBody>
      </p:sp>
      <p:sp>
        <p:nvSpPr>
          <p:cNvPr id="1050" name="KpiTile"/>
          <p:cNvSpPr/>
          <p:nvPr/>
        </p:nvSpPr>
        <p:spPr>
          <a:xfrm>
            <a:off x="228600" y="3988659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51" name="KpiAccent"/>
          <p:cNvSpPr/>
          <p:nvPr/>
        </p:nvSpPr>
        <p:spPr>
          <a:xfrm>
            <a:off x="228600" y="3988659"/>
            <a:ext cx="55000" cy="31047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2" name="KpiLabel"/>
          <p:cNvSpPr/>
          <p:nvPr/>
        </p:nvSpPr>
        <p:spPr>
          <a:xfrm>
            <a:off x="348600" y="4078659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OOS Risk Flag (Q1)</a:t>
            </a:r>
          </a:p>
        </p:txBody>
      </p:sp>
      <p:sp>
        <p:nvSpPr>
          <p:cNvPr id="1053" name="KpiValue"/>
          <p:cNvSpPr/>
          <p:nvPr/>
        </p:nvSpPr>
        <p:spPr>
          <a:xfrm>
            <a:off x="348600" y="523055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</a:rPr>
              <a:t>Metro Cnc 152%</a:t>
            </a:r>
          </a:p>
        </p:txBody>
      </p:sp>
      <p:sp>
        <p:nvSpPr>
          <p:cNvPr id="1054" name="KpiDelta"/>
          <p:cNvSpPr/>
          <p:nvPr/>
        </p:nvSpPr>
        <p:spPr>
          <a:xfrm>
            <a:off x="348600" y="641035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Offtake exceeds Primary - stock depleting</a:t>
            </a:r>
          </a:p>
        </p:txBody>
      </p:sp>
      <p:sp>
        <p:nvSpPr>
          <p:cNvPr id="1055" name="KpiTile"/>
          <p:cNvSpPr/>
          <p:nvPr/>
        </p:nvSpPr>
        <p:spPr>
          <a:xfrm>
            <a:off x="228600" y="7283898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56" name="KpiAccent"/>
          <p:cNvSpPr/>
          <p:nvPr/>
        </p:nvSpPr>
        <p:spPr>
          <a:xfrm>
            <a:off x="228600" y="7283898"/>
            <a:ext cx="55000" cy="3104739"/>
          </a:xfrm>
          <a:prstGeom prst="rect">
            <a:avLst/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" name="KpiLabel"/>
          <p:cNvSpPr/>
          <p:nvPr/>
        </p:nvSpPr>
        <p:spPr>
          <a:xfrm>
            <a:off x="348600" y="7373898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Healthiest Large KAM</a:t>
            </a:r>
          </a:p>
        </p:txBody>
      </p:sp>
      <p:sp>
        <p:nvSpPr>
          <p:cNvPr id="1058" name="KpiValue"/>
          <p:cNvSpPr/>
          <p:nvPr/>
        </p:nvSpPr>
        <p:spPr>
          <a:xfrm>
            <a:off x="348600" y="8525794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1F7A3D"/>
                </a:solidFill>
                <a:latin typeface="Calibri" pitchFamily="34" charset="0"/>
              </a:rPr>
              <a:t>Reliance 92%</a:t>
            </a:r>
          </a:p>
        </p:txBody>
      </p:sp>
      <p:sp>
        <p:nvSpPr>
          <p:cNvPr id="1059" name="KpiDelta"/>
          <p:cNvSpPr/>
          <p:nvPr/>
        </p:nvSpPr>
        <p:spPr>
          <a:xfrm>
            <a:off x="348600" y="9705595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Rs3,047L vs Offtake Rs2,806L</a:t>
            </a:r>
          </a:p>
        </p:txBody>
      </p:sp>
      <p:sp>
        <p:nvSpPr>
          <p:cNvPr id="1060" name="CenterTitle"/>
          <p:cNvSpPr/>
          <p:nvPr/>
        </p:nvSpPr>
        <p:spPr>
          <a:xfrm>
            <a:off x="2080012" y="693420"/>
            <a:ext cx="3402825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100" b="1" dirty="0">
                <a:solidFill>
                  <a:srgbClr val="404040"/>
                </a:solidFill>
                <a:latin typeface="Calibri" pitchFamily="34" charset="0"/>
              </a:rPr>
              <a:t>Primary vs. Offtake — Sell-Out Tracking</a:t>
            </a:r>
          </a:p>
        </p:txBody>
      </p:sp>
      <p:sp>
        <p:nvSpPr>
          <p:cNvPr id="1061" name="LegPrimary"/>
          <p:cNvSpPr/>
          <p:nvPr/>
        </p:nvSpPr>
        <p:spPr>
          <a:xfrm>
            <a:off x="2080012" y="913420"/>
            <a:ext cx="140000" cy="1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" name="LegPrimaryTxt"/>
          <p:cNvSpPr/>
          <p:nvPr/>
        </p:nvSpPr>
        <p:spPr>
          <a:xfrm>
            <a:off x="22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Primary (billed-in)</a:t>
            </a:r>
          </a:p>
        </p:txBody>
      </p:sp>
      <p:sp>
        <p:nvSpPr>
          <p:cNvPr id="1063" name="LegOfftake"/>
          <p:cNvSpPr/>
          <p:nvPr/>
        </p:nvSpPr>
        <p:spPr>
          <a:xfrm>
            <a:off x="3380012" y="913420"/>
            <a:ext cx="140000" cy="1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" name="LegOfftakeTxt"/>
          <p:cNvSpPr/>
          <p:nvPr/>
        </p:nvSpPr>
        <p:spPr>
          <a:xfrm>
            <a:off x="35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Offtake (sold-out)</a:t>
            </a:r>
          </a:p>
        </p:txBody>
      </p:sp>
      <p:sp>
        <p:nvSpPr>
          <p:cNvPr id="1065" name="RowLabel"/>
          <p:cNvSpPr/>
          <p:nvPr/>
        </p:nvSpPr>
        <p:spPr>
          <a:xfrm>
            <a:off x="2080012" y="1113420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Dmart</a:t>
            </a:r>
          </a:p>
        </p:txBody>
      </p:sp>
      <p:sp>
        <p:nvSpPr>
          <p:cNvPr id="1066" name="PrimaryBar"/>
          <p:cNvSpPr/>
          <p:nvPr/>
        </p:nvSpPr>
        <p:spPr>
          <a:xfrm>
            <a:off x="3140859" y="1204172"/>
            <a:ext cx="1721978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" name="PrimaryVal"/>
          <p:cNvSpPr/>
          <p:nvPr/>
        </p:nvSpPr>
        <p:spPr>
          <a:xfrm>
            <a:off x="4892837" y="1143670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5,527L</a:t>
            </a:r>
          </a:p>
        </p:txBody>
      </p:sp>
      <p:sp>
        <p:nvSpPr>
          <p:cNvPr id="1068" name="OfftakeBar"/>
          <p:cNvSpPr/>
          <p:nvPr/>
        </p:nvSpPr>
        <p:spPr>
          <a:xfrm>
            <a:off x="3140859" y="1899938"/>
            <a:ext cx="1318351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" name="OfftakeVal"/>
          <p:cNvSpPr/>
          <p:nvPr/>
        </p:nvSpPr>
        <p:spPr>
          <a:xfrm>
            <a:off x="4489210" y="1839437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4,232L</a:t>
            </a:r>
          </a:p>
        </p:txBody>
      </p:sp>
      <p:sp>
        <p:nvSpPr>
          <p:cNvPr id="1070" name="SOChip"/>
          <p:cNvSpPr/>
          <p:nvPr/>
        </p:nvSpPr>
        <p:spPr>
          <a:xfrm>
            <a:off x="4922837" y="1340300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" name="SOChipTxt"/>
          <p:cNvSpPr/>
          <p:nvPr/>
        </p:nvSpPr>
        <p:spPr>
          <a:xfrm>
            <a:off x="4922837" y="1340300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77%</a:t>
            </a:r>
          </a:p>
        </p:txBody>
      </p:sp>
      <p:sp>
        <p:nvSpPr>
          <p:cNvPr id="1072" name="RowLabel"/>
          <p:cNvSpPr/>
          <p:nvPr/>
        </p:nvSpPr>
        <p:spPr>
          <a:xfrm>
            <a:off x="2080012" y="2665956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Reliance</a:t>
            </a:r>
          </a:p>
        </p:txBody>
      </p:sp>
      <p:sp>
        <p:nvSpPr>
          <p:cNvPr id="1073" name="PrimaryBar"/>
          <p:cNvSpPr/>
          <p:nvPr/>
        </p:nvSpPr>
        <p:spPr>
          <a:xfrm>
            <a:off x="3140859" y="2756708"/>
            <a:ext cx="949358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" name="PrimaryVal"/>
          <p:cNvSpPr/>
          <p:nvPr/>
        </p:nvSpPr>
        <p:spPr>
          <a:xfrm>
            <a:off x="4120217" y="2696207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3,047L</a:t>
            </a:r>
          </a:p>
        </p:txBody>
      </p:sp>
      <p:sp>
        <p:nvSpPr>
          <p:cNvPr id="1075" name="OfftakeBar"/>
          <p:cNvSpPr/>
          <p:nvPr/>
        </p:nvSpPr>
        <p:spPr>
          <a:xfrm>
            <a:off x="3140859" y="3452475"/>
            <a:ext cx="874114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" name="OfftakeVal"/>
          <p:cNvSpPr/>
          <p:nvPr/>
        </p:nvSpPr>
        <p:spPr>
          <a:xfrm>
            <a:off x="4044973" y="3391973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2,806L</a:t>
            </a:r>
          </a:p>
        </p:txBody>
      </p:sp>
      <p:sp>
        <p:nvSpPr>
          <p:cNvPr id="1077" name="SOChip"/>
          <p:cNvSpPr/>
          <p:nvPr/>
        </p:nvSpPr>
        <p:spPr>
          <a:xfrm>
            <a:off x="4922837" y="2892836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" name="SOChipTxt"/>
          <p:cNvSpPr/>
          <p:nvPr/>
        </p:nvSpPr>
        <p:spPr>
          <a:xfrm>
            <a:off x="4922837" y="2892836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92%</a:t>
            </a:r>
          </a:p>
        </p:txBody>
      </p:sp>
      <p:sp>
        <p:nvSpPr>
          <p:cNvPr id="1079" name="RowLabel"/>
          <p:cNvSpPr/>
          <p:nvPr/>
        </p:nvSpPr>
        <p:spPr>
          <a:xfrm>
            <a:off x="2080012" y="4218492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Apollo</a:t>
            </a:r>
          </a:p>
        </p:txBody>
      </p:sp>
      <p:sp>
        <p:nvSpPr>
          <p:cNvPr id="1080" name="PrimaryBar"/>
          <p:cNvSpPr/>
          <p:nvPr/>
        </p:nvSpPr>
        <p:spPr>
          <a:xfrm>
            <a:off x="3140859" y="4309244"/>
            <a:ext cx="796125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1" name="PrimaryVal"/>
          <p:cNvSpPr/>
          <p:nvPr/>
        </p:nvSpPr>
        <p:spPr>
          <a:xfrm>
            <a:off x="3966984" y="4248743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2,555L</a:t>
            </a:r>
          </a:p>
        </p:txBody>
      </p:sp>
      <p:sp>
        <p:nvSpPr>
          <p:cNvPr id="1082" name="OfftakeBar"/>
          <p:cNvSpPr/>
          <p:nvPr/>
        </p:nvSpPr>
        <p:spPr>
          <a:xfrm>
            <a:off x="3140859" y="5005011"/>
            <a:ext cx="676960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3" name="OfftakeVal"/>
          <p:cNvSpPr/>
          <p:nvPr/>
        </p:nvSpPr>
        <p:spPr>
          <a:xfrm>
            <a:off x="3847819" y="4944510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2,173L</a:t>
            </a:r>
          </a:p>
        </p:txBody>
      </p:sp>
      <p:sp>
        <p:nvSpPr>
          <p:cNvPr id="1084" name="SOChip"/>
          <p:cNvSpPr/>
          <p:nvPr/>
        </p:nvSpPr>
        <p:spPr>
          <a:xfrm>
            <a:off x="4922837" y="4445373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5" name="SOChipTxt"/>
          <p:cNvSpPr/>
          <p:nvPr/>
        </p:nvSpPr>
        <p:spPr>
          <a:xfrm>
            <a:off x="4922837" y="4445373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85%</a:t>
            </a:r>
          </a:p>
        </p:txBody>
      </p:sp>
      <p:sp>
        <p:nvSpPr>
          <p:cNvPr id="1086" name="RowLabel"/>
          <p:cNvSpPr/>
          <p:nvPr/>
        </p:nvSpPr>
        <p:spPr>
          <a:xfrm>
            <a:off x="2080012" y="5771028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Metro Cnc</a:t>
            </a:r>
          </a:p>
        </p:txBody>
      </p:sp>
      <p:sp>
        <p:nvSpPr>
          <p:cNvPr id="1087" name="PrimaryBar"/>
          <p:cNvSpPr/>
          <p:nvPr/>
        </p:nvSpPr>
        <p:spPr>
          <a:xfrm>
            <a:off x="3140859" y="5861781"/>
            <a:ext cx="32008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" name="PrimaryVal"/>
          <p:cNvSpPr/>
          <p:nvPr/>
        </p:nvSpPr>
        <p:spPr>
          <a:xfrm>
            <a:off x="3202867" y="5801279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103L</a:t>
            </a:r>
          </a:p>
        </p:txBody>
      </p:sp>
      <p:sp>
        <p:nvSpPr>
          <p:cNvPr id="1089" name="OfftakeBar"/>
          <p:cNvSpPr/>
          <p:nvPr/>
        </p:nvSpPr>
        <p:spPr>
          <a:xfrm>
            <a:off x="3140859" y="6557547"/>
            <a:ext cx="48765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" name="OfftakeVal"/>
          <p:cNvSpPr/>
          <p:nvPr/>
        </p:nvSpPr>
        <p:spPr>
          <a:xfrm>
            <a:off x="3219624" y="6497046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157L</a:t>
            </a:r>
          </a:p>
        </p:txBody>
      </p:sp>
      <p:sp>
        <p:nvSpPr>
          <p:cNvPr id="1091" name="SOChip"/>
          <p:cNvSpPr/>
          <p:nvPr/>
        </p:nvSpPr>
        <p:spPr>
          <a:xfrm>
            <a:off x="4922837" y="5997909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" name="SOChipTxt"/>
          <p:cNvSpPr/>
          <p:nvPr/>
        </p:nvSpPr>
        <p:spPr>
          <a:xfrm>
            <a:off x="4922837" y="5997909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152%</a:t>
            </a:r>
          </a:p>
        </p:txBody>
      </p:sp>
      <p:sp>
        <p:nvSpPr>
          <p:cNvPr id="1093" name="RowLabel"/>
          <p:cNvSpPr/>
          <p:nvPr/>
        </p:nvSpPr>
        <p:spPr>
          <a:xfrm>
            <a:off x="2080012" y="7323565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Lulu</a:t>
            </a:r>
          </a:p>
        </p:txBody>
      </p:sp>
      <p:sp>
        <p:nvSpPr>
          <p:cNvPr id="1094" name="PrimaryBar"/>
          <p:cNvSpPr/>
          <p:nvPr/>
        </p:nvSpPr>
        <p:spPr>
          <a:xfrm>
            <a:off x="3140859" y="7414317"/>
            <a:ext cx="157229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" name="PrimaryVal"/>
          <p:cNvSpPr/>
          <p:nvPr/>
        </p:nvSpPr>
        <p:spPr>
          <a:xfrm>
            <a:off x="3328088" y="7353816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505L</a:t>
            </a:r>
          </a:p>
        </p:txBody>
      </p:sp>
      <p:sp>
        <p:nvSpPr>
          <p:cNvPr id="1096" name="OfftakeBar"/>
          <p:cNvSpPr/>
          <p:nvPr/>
        </p:nvSpPr>
        <p:spPr>
          <a:xfrm>
            <a:off x="3140859" y="8110084"/>
            <a:ext cx="103797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" name="OfftakeVal"/>
          <p:cNvSpPr/>
          <p:nvPr/>
        </p:nvSpPr>
        <p:spPr>
          <a:xfrm>
            <a:off x="3274656" y="8049582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333L</a:t>
            </a:r>
          </a:p>
        </p:txBody>
      </p:sp>
      <p:sp>
        <p:nvSpPr>
          <p:cNvPr id="1098" name="SOChip"/>
          <p:cNvSpPr/>
          <p:nvPr/>
        </p:nvSpPr>
        <p:spPr>
          <a:xfrm>
            <a:off x="4922837" y="7550445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" name="SOChipTxt"/>
          <p:cNvSpPr/>
          <p:nvPr/>
        </p:nvSpPr>
        <p:spPr>
          <a:xfrm>
            <a:off x="4922837" y="7550445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66%</a:t>
            </a:r>
          </a:p>
        </p:txBody>
      </p:sp>
      <p:sp>
        <p:nvSpPr>
          <p:cNvPr id="1100" name="RowLabel"/>
          <p:cNvSpPr/>
          <p:nvPr/>
        </p:nvSpPr>
        <p:spPr>
          <a:xfrm>
            <a:off x="2080012" y="8876101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H&amp;G</a:t>
            </a:r>
          </a:p>
        </p:txBody>
      </p:sp>
      <p:sp>
        <p:nvSpPr>
          <p:cNvPr id="1101" name="PrimaryBar"/>
          <p:cNvSpPr/>
          <p:nvPr/>
        </p:nvSpPr>
        <p:spPr>
          <a:xfrm>
            <a:off x="3140859" y="8966853"/>
            <a:ext cx="74434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" name="PrimaryVal"/>
          <p:cNvSpPr/>
          <p:nvPr/>
        </p:nvSpPr>
        <p:spPr>
          <a:xfrm>
            <a:off x="3245293" y="8906352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239L</a:t>
            </a:r>
          </a:p>
        </p:txBody>
      </p:sp>
      <p:sp>
        <p:nvSpPr>
          <p:cNvPr id="1103" name="OfftakeBar"/>
          <p:cNvSpPr/>
          <p:nvPr/>
        </p:nvSpPr>
        <p:spPr>
          <a:xfrm>
            <a:off x="3140859" y="9662620"/>
            <a:ext cx="62639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" name="OfftakeVal"/>
          <p:cNvSpPr/>
          <p:nvPr/>
        </p:nvSpPr>
        <p:spPr>
          <a:xfrm>
            <a:off x="3233498" y="9602119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201L</a:t>
            </a:r>
          </a:p>
        </p:txBody>
      </p:sp>
      <p:sp>
        <p:nvSpPr>
          <p:cNvPr id="1105" name="SOChip"/>
          <p:cNvSpPr/>
          <p:nvPr/>
        </p:nvSpPr>
        <p:spPr>
          <a:xfrm>
            <a:off x="4922837" y="9102982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" name="SOChipTxt"/>
          <p:cNvSpPr/>
          <p:nvPr/>
        </p:nvSpPr>
        <p:spPr>
          <a:xfrm>
            <a:off x="4922837" y="9102982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84%</a:t>
            </a:r>
          </a:p>
        </p:txBody>
      </p:sp>
      <p:sp>
        <p:nvSpPr>
          <p:cNvPr id="1107" name="SCRBox"/>
          <p:cNvSpPr/>
          <p:nvPr/>
        </p:nvSpPr>
        <p:spPr>
          <a:xfrm>
            <a:off x="5632837" y="693420"/>
            <a:ext cx="1701413" cy="969521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88000" lnSpcReduction="10000"/>
          </a:bodyPr>
          <a:lstStyle/>
          <a:p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SITUATION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Dmart Q1: Primary Rs5,527L, Offtake Rs4,232L - Sell-Out 77%, weakest large KAM.</a:t>
            </a:r>
          </a:p>
          <a:p>
            <a:endParaRPr sz="400"/>
          </a:p>
          <a:p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COMPLICATION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Dmart and Lulu show Primary well ahead of Offtake - stock sitting in DC/store, near-expiry claim risk builds.</a:t>
            </a:r>
          </a:p>
          <a:p>
            <a:endParaRPr sz="400"/>
          </a:p>
          <a:p>
            <a:r>
              <a:rPr lang="en-US" sz="1100" b="1" dirty="0">
                <a:solidFill>
                  <a:srgbClr val="1F7A3D"/>
                </a:solidFill>
                <a:latin typeface="Calibri" pitchFamily="34" charset="0"/>
              </a:rPr>
              <a:t>RESOLUTION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Freeze incremental Dmart/Lulu primary orders this cycle; secure urgent PO for Metro Cnc (OOS risk).</a:t>
            </a:r>
          </a:p>
          <a:p>
            <a:endParaRPr sz="400"/>
          </a:p>
        </p:txBody>
      </p:sp>
      <p:sp>
        <p:nvSpPr>
          <p:cNvPr id="1108" name="Footnote"/>
          <p:cNvSpPr/>
          <p:nvPr/>
        </p:nvSpPr>
        <p:spPr>
          <a:xfrm>
            <a:off x="228600" y="10408638"/>
            <a:ext cx="7105650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800" dirty="0">
                <a:solidFill>
                  <a:srgbClr val="808080"/>
                </a:solidFill>
                <a:latin typeface="Calibri" pitchFamily="34" charset="0"/>
              </a:rPr>
              <a:t>Chains matched via Chain_Mapping sheet (confirmed name pairs only). Chains with Q1 Primary &lt;Rs20L excluded as immaterial.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HeaderBg"/>
          <p:cNvSpPr/>
          <p:nvPr/>
        </p:nvSpPr>
        <p:spPr>
          <a:xfrm>
            <a:off x="0" y="0"/>
            <a:ext cx="756285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0" name="BrandAnchor"/>
          <p:cNvSpPr/>
          <p:nvPr/>
        </p:nvSpPr>
        <p:spPr>
          <a:xfrm>
            <a:off x="228600" y="60000"/>
            <a:ext cx="7105650" cy="18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BDD7EE"/>
                </a:solidFill>
                <a:latin typeface="Calibri" pitchFamily="34" charset="0"/>
              </a:rPr>
              <a:t>Portfolio | All Categories | Zone-Level Deep Dive</a:t>
            </a:r>
          </a:p>
        </p:txBody>
      </p:sp>
      <p:sp>
        <p:nvSpPr>
          <p:cNvPr id="1111" name="Title"/>
          <p:cNvSpPr/>
          <p:nvPr/>
        </p:nvSpPr>
        <p:spPr>
          <a:xfrm>
            <a:off x="228600" y="200000"/>
            <a:ext cx="7105650" cy="21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Primary vs. Offtake Sell-Out — Zone View</a:t>
            </a:r>
          </a:p>
        </p:txBody>
      </p:sp>
      <p:sp>
        <p:nvSpPr>
          <p:cNvPr id="1112" name="Subtitle"/>
          <p:cNvSpPr/>
          <p:nvPr/>
        </p:nvSpPr>
        <p:spPr>
          <a:xfrm>
            <a:off x="228600" y="380000"/>
            <a:ext cx="7105650" cy="14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D9E2F3"/>
                </a:solidFill>
                <a:latin typeface="Calibri" pitchFamily="34" charset="0"/>
              </a:rPr>
              <a:t>Q1 FY26-27 (Apr-Jun'26) | 5 common zones (East, North, South-1, South-2, West)</a:t>
            </a:r>
          </a:p>
        </p:txBody>
      </p:sp>
      <p:sp>
        <p:nvSpPr>
          <p:cNvPr id="1113" name="KpiTile"/>
          <p:cNvSpPr/>
          <p:nvPr/>
        </p:nvSpPr>
        <p:spPr>
          <a:xfrm>
            <a:off x="228600" y="693420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114" name="KpiAccent"/>
          <p:cNvSpPr/>
          <p:nvPr/>
        </p:nvSpPr>
        <p:spPr>
          <a:xfrm>
            <a:off x="228600" y="693420"/>
            <a:ext cx="55000" cy="31047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" name="KpiLabel"/>
          <p:cNvSpPr/>
          <p:nvPr/>
        </p:nvSpPr>
        <p:spPr>
          <a:xfrm>
            <a:off x="348600" y="783420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Weakest Zone Sell-Out</a:t>
            </a:r>
          </a:p>
        </p:txBody>
      </p:sp>
      <p:sp>
        <p:nvSpPr>
          <p:cNvPr id="1116" name="KpiValue"/>
          <p:cNvSpPr/>
          <p:nvPr/>
        </p:nvSpPr>
        <p:spPr>
          <a:xfrm>
            <a:off x="348600" y="193531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</a:rPr>
              <a:t>South-1 75%</a:t>
            </a:r>
          </a:p>
        </p:txBody>
      </p:sp>
      <p:sp>
        <p:nvSpPr>
          <p:cNvPr id="1117" name="KpiDelta"/>
          <p:cNvSpPr/>
          <p:nvPr/>
        </p:nvSpPr>
        <p:spPr>
          <a:xfrm>
            <a:off x="348600" y="311511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Rs3,298L vs Offtake Rs2,489L</a:t>
            </a:r>
          </a:p>
        </p:txBody>
      </p:sp>
      <p:sp>
        <p:nvSpPr>
          <p:cNvPr id="1118" name="KpiTile"/>
          <p:cNvSpPr/>
          <p:nvPr/>
        </p:nvSpPr>
        <p:spPr>
          <a:xfrm>
            <a:off x="228600" y="3988659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119" name="KpiAccent"/>
          <p:cNvSpPr/>
          <p:nvPr/>
        </p:nvSpPr>
        <p:spPr>
          <a:xfrm>
            <a:off x="228600" y="3988659"/>
            <a:ext cx="55000" cy="3104739"/>
          </a:xfrm>
          <a:prstGeom prst="rect">
            <a:avLst/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" name="KpiLabel"/>
          <p:cNvSpPr/>
          <p:nvPr/>
        </p:nvSpPr>
        <p:spPr>
          <a:xfrm>
            <a:off x="348600" y="4078659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Strongest Zone Sell-Out</a:t>
            </a:r>
          </a:p>
        </p:txBody>
      </p:sp>
      <p:sp>
        <p:nvSpPr>
          <p:cNvPr id="1121" name="KpiValue"/>
          <p:cNvSpPr/>
          <p:nvPr/>
        </p:nvSpPr>
        <p:spPr>
          <a:xfrm>
            <a:off x="348600" y="523055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1F7A3D"/>
                </a:solidFill>
                <a:latin typeface="Calibri" pitchFamily="34" charset="0"/>
              </a:rPr>
              <a:t>North 85%</a:t>
            </a:r>
          </a:p>
        </p:txBody>
      </p:sp>
      <p:sp>
        <p:nvSpPr>
          <p:cNvPr id="1122" name="KpiDelta"/>
          <p:cNvSpPr/>
          <p:nvPr/>
        </p:nvSpPr>
        <p:spPr>
          <a:xfrm>
            <a:off x="348600" y="641035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Rs3,120L vs Offtake Rs2,641L</a:t>
            </a:r>
          </a:p>
        </p:txBody>
      </p:sp>
      <p:sp>
        <p:nvSpPr>
          <p:cNvPr id="1123" name="KpiTile"/>
          <p:cNvSpPr/>
          <p:nvPr/>
        </p:nvSpPr>
        <p:spPr>
          <a:xfrm>
            <a:off x="228600" y="7283898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124" name="KpiAccent"/>
          <p:cNvSpPr/>
          <p:nvPr/>
        </p:nvSpPr>
        <p:spPr>
          <a:xfrm>
            <a:off x="228600" y="7283898"/>
            <a:ext cx="55000" cy="3104739"/>
          </a:xfrm>
          <a:prstGeom prst="rect">
            <a:avLst/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" name="KpiLabel"/>
          <p:cNvSpPr/>
          <p:nvPr/>
        </p:nvSpPr>
        <p:spPr>
          <a:xfrm>
            <a:off x="348600" y="7373898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All Zones</a:t>
            </a:r>
          </a:p>
        </p:txBody>
      </p:sp>
      <p:sp>
        <p:nvSpPr>
          <p:cNvPr id="1126" name="KpiValue"/>
          <p:cNvSpPr/>
          <p:nvPr/>
        </p:nvSpPr>
        <p:spPr>
          <a:xfrm>
            <a:off x="348600" y="8525794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E2A500"/>
                </a:solidFill>
                <a:latin typeface="Calibri" pitchFamily="34" charset="0"/>
              </a:rPr>
              <a:t>Primary &gt; Offtake</a:t>
            </a:r>
          </a:p>
        </p:txBody>
      </p:sp>
      <p:sp>
        <p:nvSpPr>
          <p:cNvPr id="1127" name="KpiDelta"/>
          <p:cNvSpPr/>
          <p:nvPr/>
        </p:nvSpPr>
        <p:spPr>
          <a:xfrm>
            <a:off x="348600" y="9705595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Every zone is over-stocked vs sell-out, none in OOS risk</a:t>
            </a:r>
          </a:p>
        </p:txBody>
      </p:sp>
      <p:sp>
        <p:nvSpPr>
          <p:cNvPr id="1128" name="CenterTitle"/>
          <p:cNvSpPr/>
          <p:nvPr/>
        </p:nvSpPr>
        <p:spPr>
          <a:xfrm>
            <a:off x="2080012" y="693420"/>
            <a:ext cx="3402825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100" b="1" dirty="0">
                <a:solidFill>
                  <a:srgbClr val="404040"/>
                </a:solidFill>
                <a:latin typeface="Calibri" pitchFamily="34" charset="0"/>
              </a:rPr>
              <a:t>Primary vs. Offtake — Sell-Out Tracking</a:t>
            </a:r>
          </a:p>
        </p:txBody>
      </p:sp>
      <p:sp>
        <p:nvSpPr>
          <p:cNvPr id="1129" name="LegPrimary"/>
          <p:cNvSpPr/>
          <p:nvPr/>
        </p:nvSpPr>
        <p:spPr>
          <a:xfrm>
            <a:off x="2080012" y="913420"/>
            <a:ext cx="140000" cy="1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" name="LegPrimaryTxt"/>
          <p:cNvSpPr/>
          <p:nvPr/>
        </p:nvSpPr>
        <p:spPr>
          <a:xfrm>
            <a:off x="22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Primary (billed-in)</a:t>
            </a:r>
          </a:p>
        </p:txBody>
      </p:sp>
      <p:sp>
        <p:nvSpPr>
          <p:cNvPr id="1131" name="LegOfftake"/>
          <p:cNvSpPr/>
          <p:nvPr/>
        </p:nvSpPr>
        <p:spPr>
          <a:xfrm>
            <a:off x="3380012" y="913420"/>
            <a:ext cx="140000" cy="1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" name="LegOfftakeTxt"/>
          <p:cNvSpPr/>
          <p:nvPr/>
        </p:nvSpPr>
        <p:spPr>
          <a:xfrm>
            <a:off x="35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Offtake (sold-out)</a:t>
            </a:r>
          </a:p>
        </p:txBody>
      </p:sp>
      <p:sp>
        <p:nvSpPr>
          <p:cNvPr id="1133" name="RowLabel"/>
          <p:cNvSpPr/>
          <p:nvPr/>
        </p:nvSpPr>
        <p:spPr>
          <a:xfrm>
            <a:off x="2080012" y="1113420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East</a:t>
            </a:r>
          </a:p>
        </p:txBody>
      </p:sp>
      <p:sp>
        <p:nvSpPr>
          <p:cNvPr id="1134" name="PrimaryBar"/>
          <p:cNvSpPr/>
          <p:nvPr/>
        </p:nvSpPr>
        <p:spPr>
          <a:xfrm>
            <a:off x="3140859" y="1222802"/>
            <a:ext cx="707100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" name="PrimaryVal"/>
          <p:cNvSpPr/>
          <p:nvPr/>
        </p:nvSpPr>
        <p:spPr>
          <a:xfrm>
            <a:off x="3877959" y="1149880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1,532L</a:t>
            </a:r>
          </a:p>
        </p:txBody>
      </p:sp>
      <p:sp>
        <p:nvSpPr>
          <p:cNvPr id="1136" name="OfftakeBar"/>
          <p:cNvSpPr/>
          <p:nvPr/>
        </p:nvSpPr>
        <p:spPr>
          <a:xfrm>
            <a:off x="3140859" y="2061402"/>
            <a:ext cx="541579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7" name="OfftakeVal"/>
          <p:cNvSpPr/>
          <p:nvPr/>
        </p:nvSpPr>
        <p:spPr>
          <a:xfrm>
            <a:off x="3712438" y="1988480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1,173L</a:t>
            </a:r>
          </a:p>
        </p:txBody>
      </p:sp>
      <p:sp>
        <p:nvSpPr>
          <p:cNvPr id="1138" name="SOChip"/>
          <p:cNvSpPr/>
          <p:nvPr/>
        </p:nvSpPr>
        <p:spPr>
          <a:xfrm>
            <a:off x="4922837" y="1386876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9" name="SOChipTxt"/>
          <p:cNvSpPr/>
          <p:nvPr/>
        </p:nvSpPr>
        <p:spPr>
          <a:xfrm>
            <a:off x="4922837" y="1386876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77%</a:t>
            </a:r>
          </a:p>
        </p:txBody>
      </p:sp>
      <p:sp>
        <p:nvSpPr>
          <p:cNvPr id="1140" name="RowLabel"/>
          <p:cNvSpPr/>
          <p:nvPr/>
        </p:nvSpPr>
        <p:spPr>
          <a:xfrm>
            <a:off x="2080012" y="2976463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North</a:t>
            </a:r>
          </a:p>
        </p:txBody>
      </p:sp>
      <p:sp>
        <p:nvSpPr>
          <p:cNvPr id="1141" name="PrimaryBar"/>
          <p:cNvSpPr/>
          <p:nvPr/>
        </p:nvSpPr>
        <p:spPr>
          <a:xfrm>
            <a:off x="3140859" y="3085846"/>
            <a:ext cx="1439745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2" name="PrimaryVal"/>
          <p:cNvSpPr/>
          <p:nvPr/>
        </p:nvSpPr>
        <p:spPr>
          <a:xfrm>
            <a:off x="4610604" y="3012924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3,120L</a:t>
            </a:r>
          </a:p>
        </p:txBody>
      </p:sp>
      <p:sp>
        <p:nvSpPr>
          <p:cNvPr id="1143" name="OfftakeBar"/>
          <p:cNvSpPr/>
          <p:nvPr/>
        </p:nvSpPr>
        <p:spPr>
          <a:xfrm>
            <a:off x="3140859" y="3924446"/>
            <a:ext cx="1218939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" name="OfftakeVal"/>
          <p:cNvSpPr/>
          <p:nvPr/>
        </p:nvSpPr>
        <p:spPr>
          <a:xfrm>
            <a:off x="4389798" y="3851524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2,641L</a:t>
            </a:r>
          </a:p>
        </p:txBody>
      </p:sp>
      <p:sp>
        <p:nvSpPr>
          <p:cNvPr id="1145" name="SOChip"/>
          <p:cNvSpPr/>
          <p:nvPr/>
        </p:nvSpPr>
        <p:spPr>
          <a:xfrm>
            <a:off x="4922837" y="3249920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" name="SOChipTxt"/>
          <p:cNvSpPr/>
          <p:nvPr/>
        </p:nvSpPr>
        <p:spPr>
          <a:xfrm>
            <a:off x="4922837" y="3249920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85%</a:t>
            </a:r>
          </a:p>
        </p:txBody>
      </p:sp>
      <p:sp>
        <p:nvSpPr>
          <p:cNvPr id="1147" name="RowLabel"/>
          <p:cNvSpPr/>
          <p:nvPr/>
        </p:nvSpPr>
        <p:spPr>
          <a:xfrm>
            <a:off x="2080012" y="4839507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South-1</a:t>
            </a:r>
          </a:p>
        </p:txBody>
      </p:sp>
      <p:sp>
        <p:nvSpPr>
          <p:cNvPr id="1148" name="PrimaryBar"/>
          <p:cNvSpPr/>
          <p:nvPr/>
        </p:nvSpPr>
        <p:spPr>
          <a:xfrm>
            <a:off x="3140859" y="4948889"/>
            <a:ext cx="1522281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" name="PrimaryVal"/>
          <p:cNvSpPr/>
          <p:nvPr/>
        </p:nvSpPr>
        <p:spPr>
          <a:xfrm>
            <a:off x="4693140" y="4875968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3,298L</a:t>
            </a:r>
          </a:p>
        </p:txBody>
      </p:sp>
      <p:sp>
        <p:nvSpPr>
          <p:cNvPr id="1150" name="OfftakeBar"/>
          <p:cNvSpPr/>
          <p:nvPr/>
        </p:nvSpPr>
        <p:spPr>
          <a:xfrm>
            <a:off x="3140859" y="5787489"/>
            <a:ext cx="1148928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" name="OfftakeVal"/>
          <p:cNvSpPr/>
          <p:nvPr/>
        </p:nvSpPr>
        <p:spPr>
          <a:xfrm>
            <a:off x="4319787" y="5714568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2,489L</a:t>
            </a:r>
          </a:p>
        </p:txBody>
      </p:sp>
      <p:sp>
        <p:nvSpPr>
          <p:cNvPr id="1152" name="SOChip"/>
          <p:cNvSpPr/>
          <p:nvPr/>
        </p:nvSpPr>
        <p:spPr>
          <a:xfrm>
            <a:off x="4922837" y="5112963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" name="SOChipTxt"/>
          <p:cNvSpPr/>
          <p:nvPr/>
        </p:nvSpPr>
        <p:spPr>
          <a:xfrm>
            <a:off x="4922837" y="5112963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75%</a:t>
            </a:r>
          </a:p>
        </p:txBody>
      </p:sp>
      <p:sp>
        <p:nvSpPr>
          <p:cNvPr id="1154" name="RowLabel"/>
          <p:cNvSpPr/>
          <p:nvPr/>
        </p:nvSpPr>
        <p:spPr>
          <a:xfrm>
            <a:off x="2080012" y="6702550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South-2</a:t>
            </a:r>
          </a:p>
        </p:txBody>
      </p:sp>
      <p:sp>
        <p:nvSpPr>
          <p:cNvPr id="1155" name="PrimaryBar"/>
          <p:cNvSpPr/>
          <p:nvPr/>
        </p:nvSpPr>
        <p:spPr>
          <a:xfrm>
            <a:off x="3140859" y="6811933"/>
            <a:ext cx="913123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" name="PrimaryVal"/>
          <p:cNvSpPr/>
          <p:nvPr/>
        </p:nvSpPr>
        <p:spPr>
          <a:xfrm>
            <a:off x="4083982" y="6739011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1,979L</a:t>
            </a:r>
          </a:p>
        </p:txBody>
      </p:sp>
      <p:sp>
        <p:nvSpPr>
          <p:cNvPr id="1157" name="OfftakeBar"/>
          <p:cNvSpPr/>
          <p:nvPr/>
        </p:nvSpPr>
        <p:spPr>
          <a:xfrm>
            <a:off x="3140859" y="7650533"/>
            <a:ext cx="727503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" name="OfftakeVal"/>
          <p:cNvSpPr/>
          <p:nvPr/>
        </p:nvSpPr>
        <p:spPr>
          <a:xfrm>
            <a:off x="3898362" y="7577611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1,576L</a:t>
            </a:r>
          </a:p>
        </p:txBody>
      </p:sp>
      <p:sp>
        <p:nvSpPr>
          <p:cNvPr id="1159" name="SOChip"/>
          <p:cNvSpPr/>
          <p:nvPr/>
        </p:nvSpPr>
        <p:spPr>
          <a:xfrm>
            <a:off x="4922837" y="6976007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" name="SOChipTxt"/>
          <p:cNvSpPr/>
          <p:nvPr/>
        </p:nvSpPr>
        <p:spPr>
          <a:xfrm>
            <a:off x="4922837" y="6976007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80%</a:t>
            </a:r>
          </a:p>
        </p:txBody>
      </p:sp>
      <p:sp>
        <p:nvSpPr>
          <p:cNvPr id="1161" name="RowLabel"/>
          <p:cNvSpPr/>
          <p:nvPr/>
        </p:nvSpPr>
        <p:spPr>
          <a:xfrm>
            <a:off x="2080012" y="8565594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West</a:t>
            </a:r>
          </a:p>
        </p:txBody>
      </p:sp>
      <p:sp>
        <p:nvSpPr>
          <p:cNvPr id="1162" name="PrimaryBar"/>
          <p:cNvSpPr/>
          <p:nvPr/>
        </p:nvSpPr>
        <p:spPr>
          <a:xfrm>
            <a:off x="3140859" y="8674977"/>
            <a:ext cx="1721978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" name="PrimaryVal"/>
          <p:cNvSpPr/>
          <p:nvPr/>
        </p:nvSpPr>
        <p:spPr>
          <a:xfrm>
            <a:off x="4892837" y="8602055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3,731L</a:t>
            </a:r>
          </a:p>
        </p:txBody>
      </p:sp>
      <p:sp>
        <p:nvSpPr>
          <p:cNvPr id="1164" name="OfftakeBar"/>
          <p:cNvSpPr/>
          <p:nvPr/>
        </p:nvSpPr>
        <p:spPr>
          <a:xfrm>
            <a:off x="3140859" y="9513577"/>
            <a:ext cx="1340612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" name="OfftakeVal"/>
          <p:cNvSpPr/>
          <p:nvPr/>
        </p:nvSpPr>
        <p:spPr>
          <a:xfrm>
            <a:off x="4511471" y="9440655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2,905L</a:t>
            </a:r>
          </a:p>
        </p:txBody>
      </p:sp>
      <p:sp>
        <p:nvSpPr>
          <p:cNvPr id="1166" name="SOChip"/>
          <p:cNvSpPr/>
          <p:nvPr/>
        </p:nvSpPr>
        <p:spPr>
          <a:xfrm>
            <a:off x="4922837" y="8839050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7" name="SOChipTxt"/>
          <p:cNvSpPr/>
          <p:nvPr/>
        </p:nvSpPr>
        <p:spPr>
          <a:xfrm>
            <a:off x="4922837" y="8839050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78%</a:t>
            </a:r>
          </a:p>
        </p:txBody>
      </p:sp>
      <p:sp>
        <p:nvSpPr>
          <p:cNvPr id="1168" name="SCRBox"/>
          <p:cNvSpPr/>
          <p:nvPr/>
        </p:nvSpPr>
        <p:spPr>
          <a:xfrm>
            <a:off x="5632837" y="693420"/>
            <a:ext cx="1701413" cy="969521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88000" lnSpcReduction="10000"/>
          </a:bodyPr>
          <a:lstStyle/>
          <a:p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SITUATION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All 5 zones show Primary &gt; Offtake in Q1; South-1 weakest at 75%, North best at 85%.</a:t>
            </a:r>
          </a:p>
          <a:p>
            <a:endParaRPr sz="400"/>
          </a:p>
          <a:p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COMPLICATION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South-1 carries the largest billed-not-sold gap - a broad-based over-stock, not a single-zone issue.</a:t>
            </a:r>
          </a:p>
          <a:p>
            <a:endParaRPr sz="400"/>
          </a:p>
          <a:p>
            <a:r>
              <a:rPr lang="en-US" sz="1100" b="1" dirty="0">
                <a:solidFill>
                  <a:srgbClr val="1F7A3D"/>
                </a:solidFill>
                <a:latin typeface="Calibri" pitchFamily="34" charset="0"/>
              </a:rPr>
              <a:t>RESOLUTION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RSM to phase South-1 primary orders over 4-6 weeks; redirect push to sell-out activation, not billing.</a:t>
            </a:r>
          </a:p>
          <a:p>
            <a:endParaRPr sz="400"/>
          </a:p>
        </p:txBody>
      </p:sp>
      <p:sp>
        <p:nvSpPr>
          <p:cNvPr id="1169" name="Footnote"/>
          <p:cNvSpPr/>
          <p:nvPr/>
        </p:nvSpPr>
        <p:spPr>
          <a:xfrm>
            <a:off x="228600" y="10408638"/>
            <a:ext cx="7105650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800" dirty="0">
                <a:solidFill>
                  <a:srgbClr val="808080"/>
                </a:solidFill>
                <a:latin typeface="Calibri" pitchFamily="34" charset="0"/>
              </a:rPr>
              <a:t>Pan India/FSN zone excluded - no matching zone dimension in Primary reporting for this channel.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21969</TotalTime>
  <Words>8076</Words>
  <Application>Microsoft Office PowerPoint</Application>
  <PresentationFormat>Custom</PresentationFormat>
  <Paragraphs>2574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57</cp:revision>
  <dcterms:created xsi:type="dcterms:W3CDTF">2026-06-21T08:36:32Z</dcterms:created>
  <dcterms:modified xsi:type="dcterms:W3CDTF">2026-07-17T22:57:24Z</dcterms:modified>
</cp:coreProperties>
</file>