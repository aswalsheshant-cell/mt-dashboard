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drawings/drawing1.xml" ContentType="application/vnd.openxmlformats-officedocument.drawingml.chartshapes+xml"/>
  <Override PartName="/ppt/drawings/drawing2.xml" ContentType="application/vnd.openxmlformats-officedocument.drawingml.chartshap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69" r:id="rId4"/>
    <p:sldId id="276" r:id="rId5"/>
    <p:sldId id="277" r:id="rId6"/>
    <p:sldId id="278" r:id="rId7"/>
    <p:sldId id="289" r:id="rId29"/>
    <p:sldId id="288" r:id="rId28"/>
    <p:sldId id="287" r:id="rId27"/>
    <p:sldId id="290" r:id="rId30"/>
    <p:sldId id="270" r:id="rId8"/>
    <p:sldId id="271" r:id="rId9"/>
    <p:sldId id="272" r:id="rId10"/>
    <p:sldId id="273" r:id="rId11"/>
    <p:sldId id="274" r:id="rId12"/>
    <p:sldId id="275" r:id="rId13"/>
    <p:sldId id="279" r:id="rId14"/>
    <p:sldId id="280" r:id="rId15"/>
    <p:sldId id="281" r:id="rId21"/>
    <p:sldId id="282" r:id="rId22"/>
    <p:sldId id="283" r:id="rId23"/>
    <p:sldId id="284" r:id="rId24"/>
    <p:sldId id="285" r:id="rId25"/>
    <p:sldId id="286" r:id="rId26"/>
    <p:sldId id="291" r:id="rId31"/>
    <p:sldId id="292" r:id="rId32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6" userDrawn="1">
          <p15:clr>
            <a:srgbClr val="A4A3A4"/>
          </p15:clr>
        </p15:guide>
        <p15:guide id="2" pos="238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C99FF"/>
    <a:srgbClr val="FFFF66"/>
    <a:srgbClr val="CC0066"/>
    <a:srgbClr val="FFFF99"/>
    <a:srgbClr val="1E7461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532" autoAdjust="0"/>
    <p:restoredTop sz="75446" autoAdjust="0"/>
  </p:normalViewPr>
  <p:slideViewPr>
    <p:cSldViewPr snapToGrid="0" snapToObjects="1">
      <p:cViewPr>
        <p:scale>
          <a:sx n="100" d="100"/>
          <a:sy n="100" d="100"/>
        </p:scale>
        <p:origin x="876" y="52"/>
      </p:cViewPr>
      <p:guideLst>
        <p:guide orient="horz" pos="3366"/>
        <p:guide pos="23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0" d="100"/>
          <a:sy n="60" d="100"/>
        </p:scale>
        <p:origin x="728" y="5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13.xml"/><Relationship Id="rId11" Type="http://schemas.openxmlformats.org/officeDocument/2006/relationships/slide" Target="slides/slide14.xml"/><Relationship Id="rId12" Type="http://schemas.openxmlformats.org/officeDocument/2006/relationships/slide" Target="slides/slide15.xml"/><Relationship Id="rId13" Type="http://schemas.openxmlformats.org/officeDocument/2006/relationships/slide" Target="slides/slide16.xml"/><Relationship Id="rId14" Type="http://schemas.openxmlformats.org/officeDocument/2006/relationships/slide" Target="slides/slide17.xml"/><Relationship Id="rId15" Type="http://schemas.openxmlformats.org/officeDocument/2006/relationships/slide" Target="slides/slide18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9.xml"/><Relationship Id="rId28" Type="http://schemas.openxmlformats.org/officeDocument/2006/relationships/slide" Target="slides/slide8.xml"/><Relationship Id="rId29" Type="http://schemas.openxmlformats.org/officeDocument/2006/relationships/slide" Target="slides/slide7.xml"/><Relationship Id="rId30" Type="http://schemas.openxmlformats.org/officeDocument/2006/relationships/slide" Target="slides/slide10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package" Target="../embeddings/Microsoft_Excel_Worksheet12.xlsx"/><Relationship Id="rId3" Type="http://schemas.openxmlformats.org/officeDocument/2006/relationships/chartUserShapes" Target="../drawings/drawing1.xml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package" Target="../embeddings/Microsoft_Excel_Worksheet13.xlsx"/><Relationship Id="rId3" Type="http://schemas.openxmlformats.org/officeDocument/2006/relationships/chartUserShapes" Target="../drawings/drawing2.xml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.xml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5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5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pack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Channel</c:v>
                </c:pt>
              </c:strCache>
            </c:strRef>
          </c:tx>
          <c:spPr>
            <a:ln w="25400" cap="flat">
              <a:solidFill>
                <a:srgbClr val="1F5A85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1F5A85"/>
              </a:solidFill>
              <a:ln w="9525" cap="flat">
                <a:solidFill>
                  <a:srgbClr val="1F5A85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May-25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2466</c:v>
                </c:pt>
                <c:pt idx="1">
                  <c:v>3039</c:v>
                </c:pt>
                <c:pt idx="2">
                  <c:v>2761</c:v>
                </c:pt>
                <c:pt idx="3">
                  <c:v>3234</c:v>
                </c:pt>
                <c:pt idx="4">
                  <c:v>3589</c:v>
                </c:pt>
                <c:pt idx="5">
                  <c:v>4019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DA-4911-B739-110D1015308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D-mart</c:v>
                </c:pt>
              </c:strCache>
            </c:strRef>
          </c:tx>
          <c:spPr>
            <a:ln w="25400" cap="flat">
              <a:solidFill>
                <a:srgbClr val="F39C12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F39C12"/>
              </a:solidFill>
              <a:ln w="9525" cap="flat">
                <a:solidFill>
                  <a:srgbClr val="F39C1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May-25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897</c:v>
                </c:pt>
                <c:pt idx="1">
                  <c:v>967</c:v>
                </c:pt>
                <c:pt idx="2">
                  <c:v>928</c:v>
                </c:pt>
                <c:pt idx="3">
                  <c:v>1226</c:v>
                </c:pt>
                <c:pt idx="4">
                  <c:v>1258</c:v>
                </c:pt>
                <c:pt idx="5">
                  <c:v>1518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DA-4911-B739-110D1015308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Reliance</c:v>
                </c:pt>
              </c:strCache>
            </c:strRef>
          </c:tx>
          <c:spPr>
            <a:ln w="25400" cap="flat">
              <a:solidFill>
                <a:srgbClr val="2E8B57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2E8B57"/>
              </a:solidFill>
              <a:ln w="9525" cap="flat">
                <a:solidFill>
                  <a:srgbClr val="2E8B5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May-25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715</c:v>
                </c:pt>
                <c:pt idx="1">
                  <c:v>900</c:v>
                </c:pt>
                <c:pt idx="2">
                  <c:v>757</c:v>
                </c:pt>
                <c:pt idx="3">
                  <c:v>805</c:v>
                </c:pt>
                <c:pt idx="4">
                  <c:v>868</c:v>
                </c:pt>
                <c:pt idx="5">
                  <c:v>990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4DA-4911-B739-110D10153089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Apollo</c:v>
                </c:pt>
              </c:strCache>
            </c:strRef>
          </c:tx>
          <c:spPr>
            <a:ln w="25400" cap="flat">
              <a:solidFill>
                <a:srgbClr val="7E57C2"/>
              </a:solidFill>
              <a:prstDash val="solid"/>
              <a:round/>
            </a:ln>
            <a:effectLst/>
          </c:spPr>
          <c:marker>
            <c:symbol val="circle"/>
            <c:size val="4"/>
            <c:spPr>
              <a:solidFill>
                <a:srgbClr val="7E57C2"/>
              </a:solidFill>
              <a:ln w="9525" cap="flat">
                <a:solidFill>
                  <a:srgbClr val="7E57C2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May-25</c:v>
                </c:pt>
                <c:pt idx="1">
                  <c:v>Jan-26</c:v>
                </c:pt>
                <c:pt idx="2">
                  <c:v>Feb-26</c:v>
                </c:pt>
                <c:pt idx="3">
                  <c:v>Mar-26</c:v>
                </c:pt>
                <c:pt idx="4">
                  <c:v>Apr-26</c:v>
                </c:pt>
                <c:pt idx="5">
                  <c:v>May-26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272</c:v>
                </c:pt>
                <c:pt idx="1">
                  <c:v>534</c:v>
                </c:pt>
                <c:pt idx="2">
                  <c:v>511</c:v>
                </c:pt>
                <c:pt idx="3">
                  <c:v>570</c:v>
                </c:pt>
                <c:pt idx="4">
                  <c:v>699</c:v>
                </c:pt>
                <c:pt idx="5">
                  <c:v>751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4DA-4911-B739-110D101530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100000"/>
          <a:lstStyle/>
          <a:p>
            <a:pPr>
              <a:defRPr sz="8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00"/>
          <c:min val="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600"/>
      </c:valAx>
      <c:spPr>
        <a:noFill/>
        <a:ln>
          <a:solidFill>
            <a:schemeClr val="tx1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050" b="1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0.12915217200568166"/>
          <c:y val="3.4679707782406567E-2"/>
          <c:w val="0.85273961525591291"/>
          <c:h val="0.661229936999691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May-26 NSV</c:v>
                </c:pt>
              </c:strCache>
            </c:strRef>
          </c:tx>
          <c:spPr>
            <a:solidFill>
              <a:srgbClr val="1F5A8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D-mart</c:v>
                </c:pt>
                <c:pt idx="1">
                  <c:v>Reliance</c:v>
                </c:pt>
                <c:pt idx="2">
                  <c:v>Apollo</c:v>
                </c:pt>
                <c:pt idx="3">
                  <c:v>FSN</c:v>
                </c:pt>
                <c:pt idx="4">
                  <c:v>Wellness Forever</c:v>
                </c:pt>
                <c:pt idx="5">
                  <c:v>H&amp;G</c:v>
                </c:pt>
                <c:pt idx="6">
                  <c:v>Lulu</c:v>
                </c:pt>
                <c:pt idx="7">
                  <c:v>Metro CNC</c:v>
                </c:pt>
                <c:pt idx="8">
                  <c:v>Sancus (RMT)</c:v>
                </c:pt>
                <c:pt idx="9">
                  <c:v>More Retail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1518</c:v>
                </c:pt>
                <c:pt idx="1">
                  <c:v>990</c:v>
                </c:pt>
                <c:pt idx="2">
                  <c:v>751</c:v>
                </c:pt>
                <c:pt idx="3">
                  <c:v>208</c:v>
                </c:pt>
                <c:pt idx="4">
                  <c:v>102</c:v>
                </c:pt>
                <c:pt idx="5">
                  <c:v>87</c:v>
                </c:pt>
                <c:pt idx="6">
                  <c:v>116</c:v>
                </c:pt>
                <c:pt idx="7">
                  <c:v>48</c:v>
                </c:pt>
                <c:pt idx="8">
                  <c:v>46</c:v>
                </c:pt>
                <c:pt idx="9">
                  <c:v>55</c:v>
                </c:pt>
              </c:numCache>
            </c:numRef>
          </c:val>
          <c:extLst>
            <c:ext uri="{C3380CC4-5D6E-409C-BE32-E72D297353CC}">
              <ns5:uniqueId val="{00000000-88D3-4E7A-940E-55667ED1CC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0.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520" b="1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6204850073429631"/>
          <c:y val="3.8657366043831007E-2"/>
          <c:w val="0.67892894986336516"/>
          <c:h val="0.9188105267921670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F5A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5AF-4EE4-884F-89762958C52C}"/>
              </c:ext>
            </c:extLst>
          </c:dPt>
          <c:dPt>
            <c:idx val="1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5AF-4EE4-884F-89762958C52C}"/>
              </c:ext>
            </c:extLst>
          </c:dPt>
          <c:dPt>
            <c:idx val="2"/>
            <c:invertIfNegative val="0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5AF-4EE4-884F-89762958C52C}"/>
              </c:ext>
            </c:extLst>
          </c:dPt>
          <c:dPt>
            <c:idx val="3"/>
            <c:invertIfNegative val="0"/>
            <c:bubble3D val="0"/>
            <c:spPr>
              <a:solidFill>
                <a:srgbClr val="7E57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5AF-4EE4-884F-89762958C52C}"/>
              </c:ext>
            </c:extLst>
          </c:dPt>
          <c:dPt>
            <c:idx val="4"/>
            <c:invertIfNegative val="0"/>
            <c:bubble3D val="0"/>
            <c:spPr>
              <a:solidFill>
                <a:srgbClr val="8B451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5AF-4EE4-884F-89762958C52C}"/>
              </c:ext>
            </c:extLst>
          </c:dPt>
          <c:dPt>
            <c:idx val="5"/>
            <c:invertIfNegative val="0"/>
            <c:bubble3D val="0"/>
            <c:spPr>
              <a:solidFill>
                <a:srgbClr val="D66B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5AF-4EE4-884F-89762958C52C}"/>
              </c:ext>
            </c:extLst>
          </c:dPt>
          <c:dPt>
            <c:idx val="6"/>
            <c:invertIfNegative val="0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5AF-4EE4-884F-89762958C52C}"/>
              </c:ext>
            </c:extLst>
          </c:dPt>
          <c:dLbls>
            <c:dLbl>
              <c:idx val="0"/>
              <c:layout>
                <c:manualLayout>
                  <c:x val="0"/>
                  <c:y val="-2.3348756093794394E-3"/>
                </c:manualLayout>
              </c:layout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38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2181186600728544"/>
                      <c:h val="0.18746540610995055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85AF-4EE4-884F-89762958C52C}"/>
                </c:ext>
              </c:extLst>
            </c:dLbl>
            <c:dLbl>
              <c:idx val="1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25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5AF-4EE4-884F-89762958C52C}"/>
                </c:ext>
              </c:extLst>
            </c:dLbl>
            <c:dLbl>
              <c:idx val="2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19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5AF-4EE4-884F-89762958C52C}"/>
                </c:ext>
              </c:extLst>
            </c:dLbl>
            <c:dLbl>
              <c:idx val="3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5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5AF-4EE4-884F-89762958C52C}"/>
                </c:ext>
              </c:extLst>
            </c:dLbl>
            <c:dLbl>
              <c:idx val="4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5AF-4EE4-884F-89762958C52C}"/>
                </c:ext>
              </c:extLst>
            </c:dLbl>
            <c:dLbl>
              <c:idx val="5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3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85AF-4EE4-884F-89762958C52C}"/>
                </c:ext>
              </c:extLst>
            </c:dLbl>
            <c:dLbl>
              <c:idx val="6"/>
              <c:tx>
                <c:rich>
                  <a:bodyPr rot="-120000"/>
                  <a:lstStyle/>
                  <a:p>
                    <a:pPr>
                      <a:defRPr sz="1050" b="1"/>
                    </a:pPr>
                    <a:r>
                      <a:rPr lang="en-US" sz="1050" dirty="0"/>
                      <a:t>2</a:t>
                    </a:r>
                  </a:p>
                </c:rich>
              </c:tx>
              <c:numFmt formatCode="General" sourceLinked="0"/>
              <c:spPr>
                <a:noFill/>
              </c:sp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85AF-4EE4-884F-89762958C52C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-120000"/>
              <a:lstStyle/>
              <a:p>
                <a:pPr>
                  <a:defRPr sz="1050" b="1"/>
                </a:pPr>
                <a:endParaRPr lang="en-US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D-mart</c:v>
                </c:pt>
                <c:pt idx="1">
                  <c:v>Reliance</c:v>
                </c:pt>
                <c:pt idx="2">
                  <c:v>Apollo</c:v>
                </c:pt>
                <c:pt idx="3">
                  <c:v>FSN</c:v>
                </c:pt>
                <c:pt idx="4">
                  <c:v>Lulu</c:v>
                </c:pt>
                <c:pt idx="5">
                  <c:v>Wellness</c:v>
                </c:pt>
                <c:pt idx="6">
                  <c:v>H&amp;G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37.9</c:v>
                </c:pt>
                <c:pt idx="1">
                  <c:v>24.7</c:v>
                </c:pt>
                <c:pt idx="2">
                  <c:v>18.7</c:v>
                </c:pt>
                <c:pt idx="3">
                  <c:v>5.2</c:v>
                </c:pt>
                <c:pt idx="4">
                  <c:v>2.9</c:v>
                </c:pt>
                <c:pt idx="5">
                  <c:v>2.5</c:v>
                </c:pt>
                <c:pt idx="6">
                  <c:v>2.2000000000000002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5AF-4EE4-884F-89762958C5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483303023"/>
        <c:axId val="1483303503"/>
      </c:barChart>
      <c:valAx>
        <c:axId val="1483303503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1483303023"/>
        <c:crosses val="autoZero"/>
        <c:crossBetween val="between"/>
      </c:valAx>
      <c:catAx>
        <c:axId val="1483303023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b="1"/>
            </a:pPr>
            <a:endParaRPr lang="en-US"/>
          </a:p>
        </c:txPr>
        <c:crossAx val="148330350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4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1.5779382112253881E-2"/>
          <c:y val="0.25109876483050692"/>
          <c:w val="0.95226512081418879"/>
          <c:h val="0.5827213652023138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865</c:v>
                </c:pt>
                <c:pt idx="1">
                  <c:v>836</c:v>
                </c:pt>
                <c:pt idx="2">
                  <c:v>810</c:v>
                </c:pt>
                <c:pt idx="3">
                  <c:v>903</c:v>
                </c:pt>
                <c:pt idx="4">
                  <c:v>756</c:v>
                </c:pt>
                <c:pt idx="5">
                  <c:v>867</c:v>
                </c:pt>
                <c:pt idx="6">
                  <c:v>803</c:v>
                </c:pt>
                <c:pt idx="7">
                  <c:v>768</c:v>
                </c:pt>
                <c:pt idx="8">
                  <c:v>843</c:v>
                </c:pt>
                <c:pt idx="9">
                  <c:v>828</c:v>
                </c:pt>
                <c:pt idx="10">
                  <c:v>935</c:v>
                </c:pt>
                <c:pt idx="11">
                  <c:v>1000</c:v>
                </c:pt>
                <c:pt idx="12">
                  <c:v>1112</c:v>
                </c:pt>
              </c:numCache>
            </c:numRef>
          </c:val>
          <c:extLst>
            <c:ext uri="{C3380CC4-5D6E-409C-BE32-E72D297353CC}">
              <ns5:uniqueId val="{00000000-FCF4-4797-A596-F345064552A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46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0104286522012647E-2"/>
          <c:y val="0.2510982201560491"/>
          <c:w val="0.94901638652967191"/>
          <c:h val="0.5993721962657605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C0066">
                <a:alpha val="92549"/>
              </a:srgb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516</c:v>
                </c:pt>
                <c:pt idx="1">
                  <c:v>491</c:v>
                </c:pt>
                <c:pt idx="2">
                  <c:v>509</c:v>
                </c:pt>
                <c:pt idx="3">
                  <c:v>635</c:v>
                </c:pt>
                <c:pt idx="4">
                  <c:v>489</c:v>
                </c:pt>
                <c:pt idx="5">
                  <c:v>601</c:v>
                </c:pt>
                <c:pt idx="6">
                  <c:v>534</c:v>
                </c:pt>
                <c:pt idx="7">
                  <c:v>633</c:v>
                </c:pt>
                <c:pt idx="8">
                  <c:v>701</c:v>
                </c:pt>
                <c:pt idx="9">
                  <c:v>570</c:v>
                </c:pt>
                <c:pt idx="10">
                  <c:v>630</c:v>
                </c:pt>
                <c:pt idx="11">
                  <c:v>715</c:v>
                </c:pt>
                <c:pt idx="12">
                  <c:v>787</c:v>
                </c:pt>
              </c:numCache>
            </c:numRef>
          </c:val>
          <c:extLst>
            <c:ext uri="{C3380CC4-5D6E-409C-BE32-E72D297353CC}">
              <ns5:uniqueId val="{00000000-9721-4F38-B758-5A355A011A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46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6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3.120629355289873E-2"/>
          <c:y val="0.19617694155324258"/>
          <c:w val="0.91851889873353298"/>
          <c:h val="0.53490644367345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4706"/>
              </a:srgbClr>
            </a:solidFill>
            <a:ln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211</c:v>
                </c:pt>
                <c:pt idx="1">
                  <c:v>144</c:v>
                </c:pt>
                <c:pt idx="2">
                  <c:v>101</c:v>
                </c:pt>
                <c:pt idx="3">
                  <c:v>94</c:v>
                </c:pt>
                <c:pt idx="4">
                  <c:v>87</c:v>
                </c:pt>
                <c:pt idx="5">
                  <c:v>103</c:v>
                </c:pt>
                <c:pt idx="6">
                  <c:v>91</c:v>
                </c:pt>
                <c:pt idx="7">
                  <c:v>92</c:v>
                </c:pt>
                <c:pt idx="8">
                  <c:v>109</c:v>
                </c:pt>
                <c:pt idx="9">
                  <c:v>166</c:v>
                </c:pt>
                <c:pt idx="10">
                  <c:v>306</c:v>
                </c:pt>
                <c:pt idx="11">
                  <c:v>364</c:v>
                </c:pt>
                <c:pt idx="12">
                  <c:v>352</c:v>
                </c:pt>
              </c:numCache>
            </c:numRef>
          </c:val>
          <c:extLst>
            <c:ext uri="{C3380CC4-5D6E-409C-BE32-E72D297353CC}">
              <ns5:uniqueId val="{00000000-FEDF-4B4A-BEFA-A31E29BCC0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750" b="1"/>
      </a:pPr>
      <a:endParaRPr lang="en-US"/>
    </a:p>
  </c:txPr>
  <c:externalData r:id="rId1">
    <c:autoUpdate val="0"/>
  </c:externalData>
</c:chartSpace>
</file>

<file path=ppt/charts/chart7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6.5011820330969264E-2"/>
          <c:y val="0.21971123666038919"/>
          <c:w val="0.86984838331378789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44</c:v>
                </c:pt>
                <c:pt idx="1">
                  <c:v>47</c:v>
                </c:pt>
                <c:pt idx="2">
                  <c:v>56</c:v>
                </c:pt>
                <c:pt idx="3">
                  <c:v>70</c:v>
                </c:pt>
                <c:pt idx="4">
                  <c:v>73</c:v>
                </c:pt>
                <c:pt idx="5">
                  <c:v>90</c:v>
                </c:pt>
                <c:pt idx="6">
                  <c:v>106</c:v>
                </c:pt>
                <c:pt idx="7">
                  <c:v>171</c:v>
                </c:pt>
                <c:pt idx="8">
                  <c:v>307</c:v>
                </c:pt>
                <c:pt idx="9">
                  <c:v>281</c:v>
                </c:pt>
                <c:pt idx="10">
                  <c:v>340</c:v>
                </c:pt>
                <c:pt idx="11">
                  <c:v>405</c:v>
                </c:pt>
                <c:pt idx="12">
                  <c:v>557</c:v>
                </c:pt>
              </c:numCache>
            </c:numRef>
          </c:val>
          <c:extLst>
            <c:ext uri="{C3380CC4-5D6E-409C-BE32-E72D297353CC}">
              <ns5:uniqueId val="{00000000-A396-4471-9054-2499F13A825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5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8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7.0921985815602842E-2"/>
          <c:y val="0.20401757689893282"/>
          <c:w val="0.86393821782915436"/>
          <c:h val="0.6464533564660350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94</c:v>
                </c:pt>
                <c:pt idx="1">
                  <c:v>85</c:v>
                </c:pt>
                <c:pt idx="2">
                  <c:v>73</c:v>
                </c:pt>
                <c:pt idx="3">
                  <c:v>77</c:v>
                </c:pt>
                <c:pt idx="4">
                  <c:v>76</c:v>
                </c:pt>
                <c:pt idx="5">
                  <c:v>85</c:v>
                </c:pt>
                <c:pt idx="6">
                  <c:v>90</c:v>
                </c:pt>
                <c:pt idx="7">
                  <c:v>104</c:v>
                </c:pt>
                <c:pt idx="8">
                  <c:v>123</c:v>
                </c:pt>
                <c:pt idx="9">
                  <c:v>135</c:v>
                </c:pt>
                <c:pt idx="10">
                  <c:v>245</c:v>
                </c:pt>
                <c:pt idx="11">
                  <c:v>334</c:v>
                </c:pt>
                <c:pt idx="12">
                  <c:v>429</c:v>
                </c:pt>
              </c:numCache>
            </c:numRef>
          </c:val>
          <c:extLst>
            <c:ext uri="{C3380CC4-5D6E-409C-BE32-E72D297353CC}">
              <ns5:uniqueId val="{00000000-DAB6-4B7C-9B2B-EC9BDF7BA2C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9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3486625342045011E-2"/>
          <c:y val="0.19617074701820464"/>
          <c:w val="0.93486020364475708"/>
          <c:h val="0.6543001863467631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63</c:v>
                </c:pt>
                <c:pt idx="1">
                  <c:v>60</c:v>
                </c:pt>
                <c:pt idx="2">
                  <c:v>64</c:v>
                </c:pt>
                <c:pt idx="3">
                  <c:v>71</c:v>
                </c:pt>
                <c:pt idx="4">
                  <c:v>58</c:v>
                </c:pt>
                <c:pt idx="5">
                  <c:v>69</c:v>
                </c:pt>
                <c:pt idx="6">
                  <c:v>75</c:v>
                </c:pt>
                <c:pt idx="7">
                  <c:v>92</c:v>
                </c:pt>
                <c:pt idx="8">
                  <c:v>92</c:v>
                </c:pt>
                <c:pt idx="9">
                  <c:v>78</c:v>
                </c:pt>
                <c:pt idx="10">
                  <c:v>80</c:v>
                </c:pt>
                <c:pt idx="11">
                  <c:v>96</c:v>
                </c:pt>
                <c:pt idx="12">
                  <c:v>92</c:v>
                </c:pt>
              </c:numCache>
            </c:numRef>
          </c:val>
          <c:extLst>
            <c:ext uri="{C3380CC4-5D6E-409C-BE32-E72D297353CC}">
              <ns5:uniqueId val="{00000000-6E10-4B2C-9E7C-D3436EF7603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10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May-26 NSV</c:v>
                </c:pt>
              </c:strCache>
            </c:strRef>
          </c:tx>
          <c:spPr>
            <a:solidFill>
              <a:srgbClr val="1F5A8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East</c:v>
                </c:pt>
                <c:pt idx="1">
                  <c:v>North</c:v>
                </c:pt>
                <c:pt idx="2">
                  <c:v>South-1</c:v>
                </c:pt>
                <c:pt idx="3">
                  <c:v>South-2</c:v>
                </c:pt>
                <c:pt idx="4">
                  <c:v>West</c:v>
                </c:pt>
                <c:pt idx="5">
                  <c:v>Pan India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411</c:v>
                </c:pt>
                <c:pt idx="1">
                  <c:v>934</c:v>
                </c:pt>
                <c:pt idx="2">
                  <c:v>894</c:v>
                </c:pt>
                <c:pt idx="3">
                  <c:v>554</c:v>
                </c:pt>
                <c:pt idx="4">
                  <c:v>1017</c:v>
                </c:pt>
                <c:pt idx="5">
                  <c:v>208</c:v>
                </c:pt>
              </c:numCache>
            </c:numRef>
          </c:val>
          <c:extLst>
            <c:ext uri="{C3380CC4-5D6E-409C-BE32-E72D297353CC}">
              <ns5:uniqueId val="{00000000-A1E1-4A86-928A-6318F3BF64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0.0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578200483091799E-2"/>
          <c:y val="6.2499999999999986E-2"/>
          <c:w val="0.6145229468599035"/>
          <c:h val="0.89739858906525583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Zone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F5A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09F-4732-9B05-022234032F3D}"/>
              </c:ext>
            </c:extLst>
          </c:dPt>
          <c:dPt>
            <c:idx val="1"/>
            <c:bubble3D val="0"/>
            <c:spPr>
              <a:solidFill>
                <a:srgbClr val="2E8B5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09F-4732-9B05-022234032F3D}"/>
              </c:ext>
            </c:extLst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09F-4732-9B05-022234032F3D}"/>
              </c:ext>
            </c:extLst>
          </c:dPt>
          <c:dPt>
            <c:idx val="3"/>
            <c:bubble3D val="0"/>
            <c:spPr>
              <a:solidFill>
                <a:srgbClr val="7E57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09F-4732-9B05-022234032F3D}"/>
              </c:ext>
            </c:extLst>
          </c:dPt>
          <c:dPt>
            <c:idx val="4"/>
            <c:bubble3D val="0"/>
            <c:spPr>
              <a:solidFill>
                <a:srgbClr val="D66B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09F-4732-9B05-022234032F3D}"/>
              </c:ext>
            </c:extLst>
          </c:dPt>
          <c:dPt>
            <c:idx val="5"/>
            <c:bubble3D val="0"/>
            <c:spPr>
              <a:solidFill>
                <a:srgbClr val="A0AEC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09F-4732-9B05-022234032F3D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09F-4732-9B05-022234032F3D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09F-4732-9B05-022234032F3D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09F-4732-9B05-022234032F3D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09F-4732-9B05-022234032F3D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B09F-4732-9B05-022234032F3D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b="1"/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B09F-4732-9B05-022234032F3D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East</c:v>
                </c:pt>
                <c:pt idx="1">
                  <c:v>North</c:v>
                </c:pt>
                <c:pt idx="2">
                  <c:v>South-1</c:v>
                </c:pt>
                <c:pt idx="3">
                  <c:v>South-2</c:v>
                </c:pt>
                <c:pt idx="4">
                  <c:v>West</c:v>
                </c:pt>
                <c:pt idx="5">
                  <c:v>Pan India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10.3</c:v>
                </c:pt>
                <c:pt idx="1">
                  <c:v>23.2</c:v>
                </c:pt>
                <c:pt idx="2">
                  <c:v>22.3</c:v>
                </c:pt>
                <c:pt idx="3">
                  <c:v>13.8</c:v>
                </c:pt>
                <c:pt idx="4">
                  <c:v>25.3</c:v>
                </c:pt>
                <c:pt idx="5">
                  <c:v>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09F-4732-9B05-022234032F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2718297101449281"/>
          <c:y val="4.7062610229276887E-2"/>
          <c:w val="0.24980978260869566"/>
          <c:h val="0.90027513227513223"/>
        </c:manualLayout>
      </c:layout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>
        <a:defRPr sz="16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8.4652229425220965E-2"/>
          <c:y val="5.6173665425582227E-2"/>
          <c:w val="0.69038886511817699"/>
          <c:h val="0.82429428996692233"/>
        </c:manualLayout>
      </c:layout>
      <c:lineChart>
        <c:grouping val="standard"/>
        <c:varyColors val="1"/>
        <c:ser>
          <c:idx val="0"/>
          <c:order val="0"/>
          <c:tx>
            <c:v>Lulu</c:v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Dashboard!$B$11:$B$13</c:f>
              <c:numCache>
                <c:formatCode>0%</c:formatCode>
                <c:ptCount val="3"/>
                <c:pt idx="0">
                  <c:v>7.0000000000000007E-2</c:v>
                </c:pt>
                <c:pt idx="1">
                  <c:v>0.08</c:v>
                </c:pt>
                <c:pt idx="2">
                  <c:v>0.08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39F-4B77-9B19-01F911A5DCDF}"/>
            </c:ext>
          </c:extLst>
        </c:ser>
        <c:ser>
          <c:idx val="1"/>
          <c:order val="1"/>
          <c:tx>
            <c:v>MRL</c:v>
          </c:tx>
          <c:dLbls>
            <c:dLbl>
              <c:idx val="0"/>
              <c:layout>
                <c:manualLayout>
                  <c:x val="-0.10655576793393005"/>
                  <c:y val="2.32336654864739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39F-4B77-9B19-01F911A5DCDF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Dashboard!$C$11:$C$13</c:f>
              <c:numCache>
                <c:formatCode>0%</c:formatCode>
                <c:ptCount val="3"/>
                <c:pt idx="0">
                  <c:v>0.08</c:v>
                </c:pt>
                <c:pt idx="1">
                  <c:v>0.11</c:v>
                </c:pt>
                <c:pt idx="2">
                  <c:v>0.14000000000000001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9F-4B77-9B19-01F911A5DCDF}"/>
            </c:ext>
          </c:extLst>
        </c:ser>
        <c:ser>
          <c:idx val="2"/>
          <c:order val="2"/>
          <c:tx>
            <c:v>Wellness</c:v>
          </c:tx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Dashboard!$D$11:$D$13</c:f>
              <c:numCache>
                <c:formatCode>0%</c:formatCode>
                <c:ptCount val="3"/>
                <c:pt idx="0">
                  <c:v>0.15</c:v>
                </c:pt>
                <c:pt idx="1">
                  <c:v>0.16</c:v>
                </c:pt>
                <c:pt idx="2">
                  <c:v>0.18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39F-4B77-9B19-01F911A5DCDF}"/>
            </c:ext>
          </c:extLst>
        </c:ser>
        <c:ser>
          <c:idx val="3"/>
          <c:order val="3"/>
          <c:tx>
            <c:v>Reliance</c:v>
          </c:tx>
          <c:dLbls>
            <c:dLbl>
              <c:idx val="0"/>
              <c:layout>
                <c:manualLayout>
                  <c:x val="-6.5825517943514128E-2"/>
                  <c:y val="-3.041714798283735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39F-4B77-9B19-01F911A5DCDF}"/>
                </c:ext>
              </c:extLst>
            </c:dLbl>
            <c:dLbl>
              <c:idx val="1"/>
              <c:layout>
                <c:manualLayout>
                  <c:x val="-4.0962337986315982E-2"/>
                  <c:y val="-6.618435696237824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39F-4B77-9B19-01F911A5DCDF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Dashboard!$A$11:$A$13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Dashboard!$E$11:$E$13</c:f>
              <c:numCache>
                <c:formatCode>0%</c:formatCode>
                <c:ptCount val="3"/>
                <c:pt idx="0">
                  <c:v>0.20718442854754462</c:v>
                </c:pt>
                <c:pt idx="1">
                  <c:v>0.21346265967674624</c:v>
                </c:pt>
                <c:pt idx="2">
                  <c:v>0.22339169185102428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39F-4B77-9B19-01F911A5DCDF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ysClr val="window" lastClr="FFFFFF"/>
        </a:solidFill>
        <a:ln w="19050">
          <a:noFill/>
          <a:prstDash val="solid"/>
        </a:ln>
        <a:effectLst/>
      </c:spPr>
    </c:plotArea>
    <c:legend>
      <c:legendPos val="r"/>
      <c:layout>
        <c:manualLayout>
          <c:xMode val="edge"/>
          <c:yMode val="edge"/>
          <c:x val="0.77928349442671863"/>
          <c:y val="4.3128268354448114E-2"/>
          <c:w val="0.21770029812160491"/>
          <c:h val="0.81325621009339377"/>
        </c:manualLayout>
      </c:layout>
      <c:overlay val="0"/>
      <c:txPr>
        <a:bodyPr/>
        <a:lstStyle/>
        <a:p>
          <a:pPr algn="just">
            <a:defRPr/>
          </a:pPr>
          <a:endParaRPr lang="en-US"/>
        </a:p>
      </c:txPr>
    </c:legend>
    <c:plotVisOnly val="1"/>
    <c:dispBlanksAs val="zero"/>
    <c:showDLblsOverMax val="1"/>
  </c:chart>
  <c:spPr>
    <a:solidFill>
      <a:sysClr val="window" lastClr="FFFFFF"/>
    </a:solidFill>
    <a:ln w="19050">
      <a:solidFill>
        <a:sysClr val="windowText" lastClr="000000"/>
      </a:solidFill>
      <a:prstDash val="solid"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US"/>
    </a:p>
  </c:txPr>
  <c:externalData r:id="rId2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0.30958371378232746"/>
          <c:y val="5.6173665425582227E-2"/>
          <c:w val="0.69041628621767259"/>
          <c:h val="0.53270627501883594"/>
        </c:manualLayout>
      </c:layout>
      <c:lineChart>
        <c:grouping val="standard"/>
        <c:varyColors val="1"/>
        <c:ser>
          <c:idx val="0"/>
          <c:order val="0"/>
          <c:tx>
            <c:strRef>
              <c:f>Dashboard!$B$42</c:f>
              <c:strCache>
                <c:ptCount val="1"/>
                <c:pt idx="0">
                  <c:v>Lulu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Dashboard!$B$43:$B$45</c:f>
              <c:numCache>
                <c:formatCode>0%</c:formatCode>
                <c:ptCount val="3"/>
                <c:pt idx="0">
                  <c:v>4.6311155723487991E-2</c:v>
                </c:pt>
                <c:pt idx="1">
                  <c:v>4.4976938700190712E-2</c:v>
                </c:pt>
                <c:pt idx="2">
                  <c:v>4.7376640891140534E-2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D7-44C3-8A13-EEEB00F24211}"/>
            </c:ext>
          </c:extLst>
        </c:ser>
        <c:ser>
          <c:idx val="1"/>
          <c:order val="1"/>
          <c:tx>
            <c:strRef>
              <c:f>Dashboard!$C$42</c:f>
              <c:strCache>
                <c:ptCount val="1"/>
                <c:pt idx="0">
                  <c:v>MRL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Dashboard!$C$43:$C$45</c:f>
              <c:numCache>
                <c:formatCode>0%</c:formatCode>
                <c:ptCount val="3"/>
                <c:pt idx="0">
                  <c:v>6.1744745065556897E-2</c:v>
                </c:pt>
                <c:pt idx="1">
                  <c:v>7.2711451374257635E-2</c:v>
                </c:pt>
                <c:pt idx="2">
                  <c:v>7.3387497920415143E-2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D7-44C3-8A13-EEEB00F24211}"/>
            </c:ext>
          </c:extLst>
        </c:ser>
        <c:ser>
          <c:idx val="2"/>
          <c:order val="2"/>
          <c:tx>
            <c:strRef>
              <c:f>Dashboard!$D$42</c:f>
              <c:strCache>
                <c:ptCount val="1"/>
                <c:pt idx="0">
                  <c:v>Wellness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Dashboard!$D$43:$D$45</c:f>
              <c:numCache>
                <c:formatCode>0%</c:formatCode>
                <c:ptCount val="3"/>
                <c:pt idx="0">
                  <c:v>5.8944655595081497E-2</c:v>
                </c:pt>
                <c:pt idx="1">
                  <c:v>5.7601116285340231E-2</c:v>
                </c:pt>
                <c:pt idx="2">
                  <c:v>5.1344642247961876E-2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8D7-44C3-8A13-EEEB00F24211}"/>
            </c:ext>
          </c:extLst>
        </c:ser>
        <c:ser>
          <c:idx val="3"/>
          <c:order val="3"/>
          <c:tx>
            <c:strRef>
              <c:f>Dashboard!$E$42</c:f>
              <c:strCache>
                <c:ptCount val="1"/>
                <c:pt idx="0">
                  <c:v>Reliance M/S</c:v>
                </c:pt>
              </c:strCache>
            </c:strRef>
          </c:tx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Dashboard!$E$43:$E$45</c:f>
              <c:numCache>
                <c:formatCode>0%</c:formatCode>
                <c:ptCount val="3"/>
                <c:pt idx="0">
                  <c:v>0.35391615456625536</c:v>
                </c:pt>
                <c:pt idx="1">
                  <c:v>0.43728303003840074</c:v>
                </c:pt>
                <c:pt idx="2">
                  <c:v>0.65795151650330852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8D7-44C3-8A13-EEEB00F242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in val="-0.2"/>
        </c:scaling>
        <c:delete val="1"/>
        <c:axPos val="l"/>
        <c:numFmt formatCode="0%" sourceLinked="0"/>
        <c:majorTickMark val="out"/>
        <c:minorTickMark val="none"/>
        <c:tickLblPos val="nextTo"/>
        <c:crossAx val="48650112"/>
        <c:crosses val="autoZero"/>
        <c:crossBetween val="between"/>
      </c:valAx>
      <c:dTable>
        <c:showHorzBorder val="1"/>
        <c:showVertBorder val="1"/>
        <c:showOutline val="1"/>
        <c:showKeys val="1"/>
      </c:dTable>
      <c:spPr>
        <a:solidFill>
          <a:sysClr val="window" lastClr="FFFFFF"/>
        </a:solidFill>
        <a:ln w="19050">
          <a:noFill/>
          <a:prstDash val="solid"/>
        </a:ln>
        <a:effectLst/>
      </c:spPr>
    </c:plotArea>
    <c:plotVisOnly val="1"/>
    <c:dispBlanksAs val="zero"/>
    <c:showDLblsOverMax val="1"/>
  </c:chart>
  <c:spPr>
    <a:solidFill>
      <a:sysClr val="window" lastClr="FFFFFF"/>
    </a:solidFill>
    <a:ln w="19050">
      <a:solidFill>
        <a:sysClr val="windowText" lastClr="000000"/>
      </a:solidFill>
      <a:prstDash val="solid"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US"/>
    </a:p>
  </c:txPr>
  <c:externalData r:id="rId2">
    <c:autoUpdate val="0"/>
  </c:externalData>
  <c:userShapes r:id="rId3"/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2.5846084568085421E-2"/>
          <c:y val="0.12760314498958977"/>
          <c:w val="0.74919495968214544"/>
          <c:h val="0.75260349779893998"/>
        </c:manualLayout>
      </c:layout>
      <c:lineChart>
        <c:grouping val="standard"/>
        <c:varyColors val="1"/>
        <c:ser>
          <c:idx val="0"/>
          <c:order val="0"/>
          <c:tx>
            <c:strRef>
              <c:f>Dashboard!$B$42</c:f>
              <c:strCache>
                <c:ptCount val="1"/>
                <c:pt idx="0">
                  <c:v>Lulu M/S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Dashboard!$B$43:$B$45</c:f>
              <c:numCache>
                <c:formatCode>0%</c:formatCode>
                <c:ptCount val="3"/>
                <c:pt idx="0">
                  <c:v>7.8940184297406624E-2</c:v>
                </c:pt>
                <c:pt idx="1">
                  <c:v>9.1252676264604593E-2</c:v>
                </c:pt>
                <c:pt idx="2">
                  <c:v>9.2900024160010891E-2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70B-4CDE-BCA3-79E0AAF2B8B6}"/>
            </c:ext>
          </c:extLst>
        </c:ser>
        <c:ser>
          <c:idx val="1"/>
          <c:order val="1"/>
          <c:tx>
            <c:strRef>
              <c:f>Dashboard!$C$42</c:f>
              <c:strCache>
                <c:ptCount val="1"/>
                <c:pt idx="0">
                  <c:v>MRL M/S</c:v>
                </c:pt>
              </c:strCache>
            </c:strRef>
          </c:tx>
          <c:dLbls>
            <c:dLbl>
              <c:idx val="0"/>
              <c:layout>
                <c:manualLayout>
                  <c:x val="-0.10655576793393005"/>
                  <c:y val="2.3233665486473942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0B-4CDE-BCA3-79E0AAF2B8B6}"/>
                </c:ext>
              </c:extLst>
            </c:dLbl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Dashboard!$C$43:$C$45</c:f>
              <c:numCache>
                <c:formatCode>0%</c:formatCode>
                <c:ptCount val="3"/>
                <c:pt idx="0">
                  <c:v>0.21648335126659687</c:v>
                </c:pt>
                <c:pt idx="1">
                  <c:v>0.18565398116611648</c:v>
                </c:pt>
                <c:pt idx="2">
                  <c:v>0.25308976853615012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70B-4CDE-BCA3-79E0AAF2B8B6}"/>
            </c:ext>
          </c:extLst>
        </c:ser>
        <c:ser>
          <c:idx val="2"/>
          <c:order val="2"/>
          <c:tx>
            <c:strRef>
              <c:f>Dashboard!$D$42</c:f>
              <c:strCache>
                <c:ptCount val="1"/>
                <c:pt idx="0">
                  <c:v>Wellness M/S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Dashboard!$D$43:$D$45</c:f>
              <c:numCache>
                <c:formatCode>0%</c:formatCode>
                <c:ptCount val="3"/>
                <c:pt idx="0">
                  <c:v>0.30105733370847576</c:v>
                </c:pt>
                <c:pt idx="1">
                  <c:v>0.34729910332316388</c:v>
                </c:pt>
                <c:pt idx="2">
                  <c:v>0.33479432523501801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70B-4CDE-BCA3-79E0AAF2B8B6}"/>
            </c:ext>
          </c:extLst>
        </c:ser>
        <c:ser>
          <c:idx val="3"/>
          <c:order val="3"/>
          <c:tx>
            <c:strRef>
              <c:f>Dashboard!$E$42</c:f>
              <c:strCache>
                <c:ptCount val="1"/>
                <c:pt idx="0">
                  <c:v>Reliance M/S</c:v>
                </c:pt>
              </c:strCache>
            </c:strRef>
          </c:tx>
          <c:dLbls>
            <c:spPr>
              <a:noFill/>
              <a:ln>
                <a:noFill/>
              </a:ln>
              <a:effectLst/>
            </c:sp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Dashboard!$A$43:$A$45</c:f>
              <c:strCache>
                <c:ptCount val="3"/>
                <c:pt idx="0">
                  <c:v>Mar-26</c:v>
                </c:pt>
                <c:pt idx="1">
                  <c:v>Apr-26</c:v>
                </c:pt>
                <c:pt idx="2">
                  <c:v>May-26</c:v>
                </c:pt>
              </c:strCache>
            </c:strRef>
          </c:cat>
          <c:val>
            <c:numRef>
              <c:f>Dashboard!$E$43:$E$45</c:f>
              <c:numCache>
                <c:formatCode>0%</c:formatCode>
                <c:ptCount val="3"/>
                <c:pt idx="0">
                  <c:v>0.19217005110269872</c:v>
                </c:pt>
                <c:pt idx="1">
                  <c:v>0.19216297920895509</c:v>
                </c:pt>
                <c:pt idx="2">
                  <c:v>0.22397644885676518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E70B-4CDE-BCA3-79E0AAF2B8B6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0%" sourceLinked="0"/>
        <c:majorTickMark val="none"/>
        <c:minorTickMark val="none"/>
        <c:tickLblPos val="nextTo"/>
        <c:crossAx val="48650112"/>
        <c:crosses val="autoZero"/>
        <c:crossBetween val="between"/>
      </c:valAx>
      <c:spPr>
        <a:solidFill>
          <a:sysClr val="window" lastClr="FFFFFF"/>
        </a:solidFill>
        <a:ln w="19050">
          <a:noFill/>
          <a:prstDash val="solid"/>
        </a:ln>
        <a:effectLst/>
      </c:spPr>
    </c:plotArea>
    <c:legend>
      <c:legendPos val="r"/>
      <c:layout>
        <c:manualLayout>
          <c:xMode val="edge"/>
          <c:yMode val="edge"/>
          <c:x val="0.77928349442671863"/>
          <c:y val="4.3128268354448114E-2"/>
          <c:w val="0.21770029812160491"/>
          <c:h val="0.81325621009339377"/>
        </c:manualLayout>
      </c:layout>
      <c:overlay val="0"/>
      <c:txPr>
        <a:bodyPr/>
        <a:lstStyle/>
        <a:p>
          <a:pPr algn="just">
            <a:defRPr/>
          </a:pPr>
          <a:endParaRPr lang="en-US"/>
        </a:p>
      </c:txPr>
    </c:legend>
    <c:plotVisOnly val="1"/>
    <c:dispBlanksAs val="zero"/>
    <c:showDLblsOverMax val="1"/>
  </c:chart>
  <c:spPr>
    <a:solidFill>
      <a:sysClr val="window" lastClr="FFFFFF"/>
    </a:solidFill>
    <a:ln w="19050">
      <a:solidFill>
        <a:sysClr val="windowText" lastClr="000000"/>
      </a:solidFill>
      <a:prstDash val="solid"/>
    </a:ln>
    <a:effectLst/>
  </c:spPr>
  <c:txPr>
    <a:bodyPr/>
    <a:lstStyle/>
    <a:p>
      <a:pPr>
        <a:defRPr>
          <a:solidFill>
            <a:sysClr val="windowText" lastClr="000000"/>
          </a:solidFill>
          <a:latin typeface="+mn-lt"/>
          <a:ea typeface="+mn-ea"/>
          <a:cs typeface="+mn-cs"/>
        </a:defRPr>
      </a:pPr>
      <a:endParaRPr lang="en-US"/>
    </a:p>
  </c:txPr>
  <c:externalData r:id="rId2">
    <c:autoUpdate val="0"/>
  </c:externalData>
  <c:userShapes r:id="rId3"/>
</c:chartSpace>
</file>

<file path=ppt/charts/chart15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>
  <c:date1904 val="0"/>
  <c:lang val="en-US"/>
  <c:roundedCorners val="0"/>
  <ns1:AlternateContent>
    <ns1:Choice Requires="c14">
      <ns2:style val="102"/>
    </ns1:Choice>
    <ns1:Fallback>
      <c:style val="2"/>
    </ns1:Fallback>
  </ns1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Face Wash MS %</c:v>
                </c:pt>
              </c:strCache>
            </c:strRef>
          </c:tx>
          <c:spPr>
            <a:solidFill>
              <a:srgbClr val="1E2761"/>
            </a:solidFill>
            <a:ln w="0">
              <a:noFill/>
            </a:ln>
          </c:spPr>
          <c:invertIfNegative val="0"/>
          <c:dLbls>
            <c:numFmt formatCode="0.0\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850" b="0" u="none" strike="noStrike">
                    <a:solidFill>
                      <a:srgbClr val="1E2761"/>
                    </a:solidFill>
                    <a:uFillTx/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eparator>; </c:separator>
            <c:showLeaderLines val="0"/>
            <c:extLst>
              <c:ext uri="{CE6537A1-D6FC-4f65-9D91-7224C49458BB}">
                <ns4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5.7</c:v>
                </c:pt>
                <c:pt idx="1">
                  <c:v>8.2100000000000009</c:v>
                </c:pt>
                <c:pt idx="2">
                  <c:v>7.32</c:v>
                </c:pt>
                <c:pt idx="3">
                  <c:v>8.1</c:v>
                </c:pt>
              </c:numCache>
            </c:numRef>
          </c:val>
          <c:extLst>
            <c:ext uri="{C3380CC4-5D6E-409C-BE32-E72D297353CC}">
              <ns5:uniqueId val="{00000000-DB12-4983-9EB2-8FB6651543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121825"/>
        <c:axId val="75681990"/>
      </c:barChart>
      <c:catAx>
        <c:axId val="15121825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900" b="0" u="none" strike="noStrike">
                <a:solidFill>
                  <a:srgbClr val="595959"/>
                </a:solidFill>
                <a:uFillTx/>
                <a:latin typeface="Arial"/>
              </a:defRPr>
            </a:pPr>
            <a:endParaRPr lang="en-US"/>
          </a:p>
        </c:txPr>
        <c:crossAx val="75681990"/>
        <c:crosses val="autoZero"/>
        <c:auto val="1"/>
        <c:lblAlgn val="ctr"/>
        <c:lblOffset val="100"/>
        <c:noMultiLvlLbl val="0"/>
      </c:catAx>
      <c:valAx>
        <c:axId val="75681990"/>
        <c:scaling>
          <c:orientation val="minMax"/>
          <c:max val="9.5"/>
        </c:scaling>
        <c:delete val="1"/>
        <c:axPos val="l"/>
        <c:numFmt formatCode="General" sourceLinked="1"/>
        <c:majorTickMark val="out"/>
        <c:minorTickMark val="none"/>
        <c:tickLblPos val="nextTo"/>
        <c:crossAx val="15121825"/>
        <c:crosses val="autoZero"/>
        <c:crossBetween val="between"/>
      </c:valAx>
      <c:spPr>
        <a:noFill/>
        <a:ln w="0">
          <a:noFill/>
        </a:ln>
      </c:spPr>
    </c:plotArea>
    <c:plotVisOnly val="1"/>
    <c:dispBlanksAs val="span"/>
    <c:showDLblsOverMax val="1"/>
  </c:chart>
  <c:spPr>
    <a:solidFill>
      <a:srgbClr val="FFFFFF"/>
    </a:solidFill>
    <a:ln w="0">
      <a:solidFill>
        <a:sysClr val="windowText" lastClr="000000"/>
      </a:solidFill>
    </a:ln>
  </c:spPr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label 0</c:f>
              <c:strCache>
                <c:ptCount val="1"/>
                <c:pt idx="0">
                  <c:v>Shampoo MS %</c:v>
                </c:pt>
              </c:strCache>
            </c:strRef>
          </c:tx>
          <c:spPr>
            <a:solidFill>
              <a:srgbClr val="4472C4"/>
            </a:solidFill>
            <a:ln w="9360">
              <a:solidFill>
                <a:srgbClr val="F9F9F9"/>
              </a:solidFill>
              <a:round/>
            </a:ln>
          </c:spPr>
          <c:dPt>
            <c:idx val="0"/>
            <c:bubble3D val="0"/>
            <c:spPr>
              <a:solidFill>
                <a:srgbClr val="1E2761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1-5E94-4461-9F6A-C9E07ACD51E8}"/>
              </c:ext>
            </c:extLst>
          </c:dPt>
          <c:dPt>
            <c:idx val="1"/>
            <c:bubble3D val="0"/>
            <c:spPr>
              <a:solidFill>
                <a:srgbClr val="2E5FA3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3-5E94-4461-9F6A-C9E07ACD51E8}"/>
              </c:ext>
            </c:extLst>
          </c:dPt>
          <c:dPt>
            <c:idx val="2"/>
            <c:bubble3D val="0"/>
            <c:spPr>
              <a:solidFill>
                <a:srgbClr val="D9760A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5-5E94-4461-9F6A-C9E07ACD51E8}"/>
              </c:ext>
            </c:extLst>
          </c:dPt>
          <c:dPt>
            <c:idx val="3"/>
            <c:bubble3D val="0"/>
            <c:spPr>
              <a:solidFill>
                <a:srgbClr val="1F7A3D"/>
              </a:solidFill>
              <a:ln w="0">
                <a:noFill/>
              </a:ln>
            </c:spPr>
            <c:extLst>
              <c:ext xmlns:c16="http://schemas.microsoft.com/office/drawing/2014/chart" uri="{C3380CC4-5D6E-409C-BE32-E72D297353CC}">
                <c16:uniqueId val="{00000007-5E94-4461-9F6A-C9E07ACD51E8}"/>
              </c:ext>
            </c:extLst>
          </c:dPt>
          <c:dLbls>
            <c:dLbl>
              <c:idx val="0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E94-4461-9F6A-C9E07ACD51E8}"/>
                </c:ext>
              </c:extLst>
            </c:dLbl>
            <c:dLbl>
              <c:idx val="1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E94-4461-9F6A-C9E07ACD51E8}"/>
                </c:ext>
              </c:extLst>
            </c:dLbl>
            <c:dLbl>
              <c:idx val="2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E94-4461-9F6A-C9E07ACD51E8}"/>
                </c:ext>
              </c:extLst>
            </c:dLbl>
            <c:dLbl>
              <c:idx val="3"/>
              <c:numFmt formatCode="0%" sourceLinked="0"/>
              <c:spPr/>
              <c:txPr>
                <a:bodyPr wrap="square"/>
                <a:lstStyle/>
                <a:p>
                  <a:pPr>
                    <a:defRPr sz="850" b="0" u="none" strike="noStrike">
                      <a:solidFill>
                        <a:srgbClr val="FFFFFF"/>
                      </a:solidFill>
                      <a:uFillTx/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1"/>
              <c:separator>
</c:separator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E94-4461-9F6A-C9E07ACD51E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 wrap="square"/>
              <a:lstStyle/>
              <a:p>
                <a:pPr>
                  <a:defRPr sz="1800" b="0" u="none" strike="noStrike">
                    <a:solidFill>
                      <a:srgbClr val="000000"/>
                    </a:solidFill>
                    <a:uFillTx/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1"/>
            <c:separator>
</c:separator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categories</c:f>
              <c:strCache>
                <c:ptCount val="4"/>
                <c:pt idx="0">
                  <c:v>East</c:v>
                </c:pt>
                <c:pt idx="1">
                  <c:v>North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2.99</c:v>
                </c:pt>
                <c:pt idx="1">
                  <c:v>2.19</c:v>
                </c:pt>
                <c:pt idx="2">
                  <c:v>3.08</c:v>
                </c:pt>
                <c:pt idx="3">
                  <c:v>2.16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5E94-4461-9F6A-C9E07ACD51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sz="900" b="0" u="none" strike="noStrike">
              <a:solidFill>
                <a:srgbClr val="000000"/>
              </a:solidFill>
              <a:uFillTx/>
              <a:latin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 w="0">
      <a:solidFill>
        <a:sysClr val="windowText" lastClr="000000"/>
      </a:solidFill>
    </a:ln>
  </c:spPr>
</c:chartSpace>
</file>

<file path=ppt/charts/chart17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5421926234492152E-2"/>
          <c:y val="0.26864134364336634"/>
          <c:w val="0.93170112609475297"/>
          <c:h val="0.581829144721887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92</c:v>
                </c:pt>
                <c:pt idx="1">
                  <c:v>97</c:v>
                </c:pt>
                <c:pt idx="2">
                  <c:v>102</c:v>
                </c:pt>
                <c:pt idx="3">
                  <c:v>105</c:v>
                </c:pt>
                <c:pt idx="4">
                  <c:v>107</c:v>
                </c:pt>
                <c:pt idx="5">
                  <c:v>106</c:v>
                </c:pt>
                <c:pt idx="6">
                  <c:v>105</c:v>
                </c:pt>
                <c:pt idx="7">
                  <c:v>105</c:v>
                </c:pt>
                <c:pt idx="8">
                  <c:v>106</c:v>
                </c:pt>
                <c:pt idx="9">
                  <c:v>109</c:v>
                </c:pt>
                <c:pt idx="10">
                  <c:v>114</c:v>
                </c:pt>
                <c:pt idx="11">
                  <c:v>120</c:v>
                </c:pt>
                <c:pt idx="12">
                  <c:v>132</c:v>
                </c:pt>
              </c:numCache>
            </c:numRef>
          </c:val>
          <c:extLst>
            <c:ext uri="{C3380CC4-5D6E-409C-BE32-E72D297353CC}">
              <ns5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18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4.4928814803513822E-2"/>
          <c:y val="0.21060446415131887"/>
          <c:w val="0.90237313469136882"/>
          <c:h val="0.598195766480341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CC00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69</c:v>
                </c:pt>
                <c:pt idx="1">
                  <c:v>75</c:v>
                </c:pt>
                <c:pt idx="2">
                  <c:v>80</c:v>
                </c:pt>
                <c:pt idx="3">
                  <c:v>84</c:v>
                </c:pt>
                <c:pt idx="4">
                  <c:v>87</c:v>
                </c:pt>
                <c:pt idx="5">
                  <c:v>88</c:v>
                </c:pt>
                <c:pt idx="6">
                  <c:v>89</c:v>
                </c:pt>
                <c:pt idx="7">
                  <c:v>90</c:v>
                </c:pt>
                <c:pt idx="8">
                  <c:v>92</c:v>
                </c:pt>
                <c:pt idx="9">
                  <c:v>95</c:v>
                </c:pt>
                <c:pt idx="10">
                  <c:v>101</c:v>
                </c:pt>
                <c:pt idx="11">
                  <c:v>108</c:v>
                </c:pt>
                <c:pt idx="12">
                  <c:v>122</c:v>
                </c:pt>
              </c:numCache>
            </c:numRef>
          </c:val>
          <c:extLst>
            <c:ext uri="{C3380CC4-5D6E-409C-BE32-E72D297353CC}">
              <ns5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19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853393475036016E-2"/>
          <c:y val="0.20540967764644144"/>
          <c:w val="0.92341816753503314"/>
          <c:h val="0.6256135725119514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</c:v>
                </c:pt>
                <c:pt idx="1">
                  <c:v>15</c:v>
                </c:pt>
                <c:pt idx="2">
                  <c:v>15</c:v>
                </c:pt>
                <c:pt idx="3">
                  <c:v>16</c:v>
                </c:pt>
                <c:pt idx="4">
                  <c:v>17</c:v>
                </c:pt>
                <c:pt idx="5">
                  <c:v>19</c:v>
                </c:pt>
                <c:pt idx="6">
                  <c:v>20</c:v>
                </c:pt>
                <c:pt idx="7">
                  <c:v>22</c:v>
                </c:pt>
                <c:pt idx="8">
                  <c:v>24</c:v>
                </c:pt>
                <c:pt idx="9">
                  <c:v>27</c:v>
                </c:pt>
                <c:pt idx="10">
                  <c:v>30</c:v>
                </c:pt>
                <c:pt idx="11">
                  <c:v>30</c:v>
                </c:pt>
                <c:pt idx="12">
                  <c:v>36</c:v>
                </c:pt>
              </c:numCache>
            </c:numRef>
          </c:val>
          <c:extLst>
            <c:ext uri="{C3380CC4-5D6E-409C-BE32-E72D297353CC}">
              <ns5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0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071378336781807E-2"/>
          <c:y val="0.26365675834534624"/>
          <c:w val="0.92972068460169122"/>
          <c:h val="0.54788899427662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</c:v>
                </c:pt>
                <c:pt idx="1">
                  <c:v>4</c:v>
                </c:pt>
                <c:pt idx="2">
                  <c:v>6</c:v>
                </c:pt>
                <c:pt idx="3">
                  <c:v>7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</c:numCache>
            </c:numRef>
          </c:val>
          <c:extLst>
            <c:ext uri="{C3380CC4-5D6E-409C-BE32-E72D297353CC}">
              <ns5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1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287637383212361E-2"/>
          <c:y val="0.25504911390463525"/>
          <c:w val="0.92958685215902304"/>
          <c:h val="0.5483802317332703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9</c:v>
                </c:pt>
                <c:pt idx="4">
                  <c:v>9</c:v>
                </c:pt>
                <c:pt idx="5">
                  <c:v>10</c:v>
                </c:pt>
                <c:pt idx="6">
                  <c:v>10</c:v>
                </c:pt>
                <c:pt idx="7">
                  <c:v>11</c:v>
                </c:pt>
                <c:pt idx="8">
                  <c:v>12</c:v>
                </c:pt>
                <c:pt idx="9">
                  <c:v>14</c:v>
                </c:pt>
                <c:pt idx="10">
                  <c:v>15</c:v>
                </c:pt>
                <c:pt idx="11">
                  <c:v>15</c:v>
                </c:pt>
                <c:pt idx="12">
                  <c:v>18</c:v>
                </c:pt>
              </c:numCache>
            </c:numRef>
          </c:val>
          <c:extLst>
            <c:ext uri="{C3380CC4-5D6E-409C-BE32-E72D297353CC}">
              <ns5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2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6896996038139206E-2"/>
          <c:y val="0.22413394136912687"/>
          <c:w val="0.93013806859507275"/>
          <c:h val="0.5874114054332859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9</c:v>
                </c:pt>
                <c:pt idx="2">
                  <c:v>9</c:v>
                </c:pt>
                <c:pt idx="3">
                  <c:v>8</c:v>
                </c:pt>
                <c:pt idx="4">
                  <c:v>8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8</c:v>
                </c:pt>
                <c:pt idx="10">
                  <c:v>7</c:v>
                </c:pt>
                <c:pt idx="11">
                  <c:v>7</c:v>
                </c:pt>
                <c:pt idx="12">
                  <c:v>7</c:v>
                </c:pt>
              </c:numCache>
            </c:numRef>
          </c:val>
          <c:extLst>
            <c:ext uri="{C3380CC4-5D6E-409C-BE32-E72D297353CC}">
              <ns5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3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3.2738344308678995E-2"/>
          <c:y val="0.25219642803472847"/>
          <c:w val="0.94379813555378289"/>
          <c:h val="0.606473123931681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7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202</c:v>
                </c:pt>
                <c:pt idx="1">
                  <c:v>191</c:v>
                </c:pt>
                <c:pt idx="2">
                  <c:v>187</c:v>
                </c:pt>
                <c:pt idx="3">
                  <c:v>227</c:v>
                </c:pt>
                <c:pt idx="4">
                  <c:v>177</c:v>
                </c:pt>
                <c:pt idx="5">
                  <c:v>199</c:v>
                </c:pt>
                <c:pt idx="6">
                  <c:v>182</c:v>
                </c:pt>
                <c:pt idx="7">
                  <c:v>181</c:v>
                </c:pt>
                <c:pt idx="8">
                  <c:v>198</c:v>
                </c:pt>
                <c:pt idx="9">
                  <c:v>195</c:v>
                </c:pt>
                <c:pt idx="10">
                  <c:v>228</c:v>
                </c:pt>
                <c:pt idx="11">
                  <c:v>245</c:v>
                </c:pt>
                <c:pt idx="12">
                  <c:v>262</c:v>
                </c:pt>
              </c:numCache>
            </c:numRef>
          </c:val>
          <c:extLst>
            <c:ext uri="{C3380CC4-5D6E-409C-BE32-E72D297353CC}">
              <ns5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4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3.8390893228502782E-2"/>
          <c:y val="8.933430277358391E-2"/>
          <c:w val="0.93375367464054193"/>
          <c:h val="0.7477236379076717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122</c:v>
                </c:pt>
                <c:pt idx="1">
                  <c:v>102</c:v>
                </c:pt>
                <c:pt idx="2">
                  <c:v>114</c:v>
                </c:pt>
                <c:pt idx="3">
                  <c:v>160</c:v>
                </c:pt>
                <c:pt idx="4">
                  <c:v>109</c:v>
                </c:pt>
                <c:pt idx="5">
                  <c:v>136</c:v>
                </c:pt>
                <c:pt idx="6">
                  <c:v>119</c:v>
                </c:pt>
                <c:pt idx="7">
                  <c:v>146</c:v>
                </c:pt>
                <c:pt idx="8">
                  <c:v>171</c:v>
                </c:pt>
                <c:pt idx="9">
                  <c:v>134</c:v>
                </c:pt>
                <c:pt idx="10">
                  <c:v>146</c:v>
                </c:pt>
                <c:pt idx="11">
                  <c:v>176</c:v>
                </c:pt>
                <c:pt idx="12">
                  <c:v>188</c:v>
                </c:pt>
              </c:numCache>
            </c:numRef>
          </c:val>
          <c:extLst>
            <c:ext uri="{C3380CC4-5D6E-409C-BE32-E72D297353CC}">
              <ns5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5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3.0085690813967721E-2"/>
          <c:y val="0.16478363112192507"/>
          <c:w val="0.94842686584444846"/>
          <c:h val="0.6722737815316279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59</c:v>
                </c:pt>
                <c:pt idx="1">
                  <c:v>45</c:v>
                </c:pt>
                <c:pt idx="2">
                  <c:v>26</c:v>
                </c:pt>
                <c:pt idx="3">
                  <c:v>23</c:v>
                </c:pt>
                <c:pt idx="4">
                  <c:v>21</c:v>
                </c:pt>
                <c:pt idx="5">
                  <c:v>23</c:v>
                </c:pt>
                <c:pt idx="6">
                  <c:v>20</c:v>
                </c:pt>
                <c:pt idx="7">
                  <c:v>22</c:v>
                </c:pt>
                <c:pt idx="8">
                  <c:v>22</c:v>
                </c:pt>
                <c:pt idx="9">
                  <c:v>40</c:v>
                </c:pt>
                <c:pt idx="10">
                  <c:v>72</c:v>
                </c:pt>
                <c:pt idx="11">
                  <c:v>86</c:v>
                </c:pt>
                <c:pt idx="12">
                  <c:v>89</c:v>
                </c:pt>
              </c:numCache>
            </c:numRef>
          </c:val>
          <c:extLst>
            <c:ext uri="{C3380CC4-5D6E-409C-BE32-E72D297353CC}">
              <ns5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6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6.1908583578582026E-2"/>
          <c:y val="0.31309240053509868"/>
          <c:w val="0.86737027670079103"/>
          <c:h val="0.49845335208687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</c:v>
                </c:pt>
                <c:pt idx="1">
                  <c:v>9</c:v>
                </c:pt>
                <c:pt idx="2">
                  <c:v>12</c:v>
                </c:pt>
                <c:pt idx="3">
                  <c:v>18</c:v>
                </c:pt>
                <c:pt idx="4">
                  <c:v>21</c:v>
                </c:pt>
                <c:pt idx="5">
                  <c:v>27</c:v>
                </c:pt>
                <c:pt idx="6">
                  <c:v>29</c:v>
                </c:pt>
                <c:pt idx="7">
                  <c:v>43</c:v>
                </c:pt>
                <c:pt idx="8">
                  <c:v>67</c:v>
                </c:pt>
                <c:pt idx="9">
                  <c:v>63</c:v>
                </c:pt>
                <c:pt idx="10">
                  <c:v>84</c:v>
                </c:pt>
                <c:pt idx="11">
                  <c:v>94</c:v>
                </c:pt>
                <c:pt idx="12">
                  <c:v>132</c:v>
                </c:pt>
              </c:numCache>
            </c:numRef>
          </c:val>
          <c:extLst>
            <c:ext uri="{C3380CC4-5D6E-409C-BE32-E72D297353CC}">
              <ns5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7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071378336781804E-2"/>
          <c:y val="0.28013530574193035"/>
          <c:w val="0.92972068460169122"/>
          <c:h val="0.498453352086871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17</c:v>
                </c:pt>
                <c:pt idx="1">
                  <c:v>18</c:v>
                </c:pt>
                <c:pt idx="2">
                  <c:v>12</c:v>
                </c:pt>
                <c:pt idx="3">
                  <c:v>13</c:v>
                </c:pt>
                <c:pt idx="4">
                  <c:v>11</c:v>
                </c:pt>
                <c:pt idx="5">
                  <c:v>15</c:v>
                </c:pt>
                <c:pt idx="6">
                  <c:v>14</c:v>
                </c:pt>
                <c:pt idx="7">
                  <c:v>17</c:v>
                </c:pt>
                <c:pt idx="8">
                  <c:v>18</c:v>
                </c:pt>
                <c:pt idx="9">
                  <c:v>26</c:v>
                </c:pt>
                <c:pt idx="10">
                  <c:v>54</c:v>
                </c:pt>
                <c:pt idx="11">
                  <c:v>68</c:v>
                </c:pt>
                <c:pt idx="12">
                  <c:v>92</c:v>
                </c:pt>
              </c:numCache>
            </c:numRef>
          </c:val>
          <c:extLst>
            <c:ext uri="{C3380CC4-5D6E-409C-BE32-E72D297353CC}">
              <ns5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8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071378336781807E-2"/>
          <c:y val="0.20038461797987842"/>
          <c:w val="0.92972068460169122"/>
          <c:h val="0.611160669100331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10</c:v>
                </c:pt>
                <c:pt idx="4">
                  <c:v>8</c:v>
                </c:pt>
                <c:pt idx="5">
                  <c:v>10</c:v>
                </c:pt>
                <c:pt idx="6">
                  <c:v>10</c:v>
                </c:pt>
                <c:pt idx="7">
                  <c:v>13</c:v>
                </c:pt>
                <c:pt idx="8">
                  <c:v>14</c:v>
                </c:pt>
                <c:pt idx="9">
                  <c:v>12</c:v>
                </c:pt>
                <c:pt idx="10">
                  <c:v>15</c:v>
                </c:pt>
                <c:pt idx="11">
                  <c:v>16</c:v>
                </c:pt>
                <c:pt idx="12">
                  <c:v>16</c:v>
                </c:pt>
              </c:numCache>
            </c:numRef>
          </c:val>
          <c:extLst>
            <c:ext uri="{C3380CC4-5D6E-409C-BE32-E72D297353CC}">
              <ns5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29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7.0921985815602842E-2"/>
          <c:y val="0.21971123666038919"/>
          <c:w val="0.86393821782915436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131</c:v>
                </c:pt>
                <c:pt idx="1">
                  <c:v>123</c:v>
                </c:pt>
                <c:pt idx="2">
                  <c:v>119</c:v>
                </c:pt>
                <c:pt idx="3">
                  <c:v>144</c:v>
                </c:pt>
                <c:pt idx="4">
                  <c:v>128</c:v>
                </c:pt>
                <c:pt idx="5">
                  <c:v>137</c:v>
                </c:pt>
                <c:pt idx="6">
                  <c:v>126</c:v>
                </c:pt>
                <c:pt idx="7">
                  <c:v>129</c:v>
                </c:pt>
                <c:pt idx="8">
                  <c:v>138</c:v>
                </c:pt>
                <c:pt idx="9">
                  <c:v>136</c:v>
                </c:pt>
                <c:pt idx="10">
                  <c:v>144</c:v>
                </c:pt>
                <c:pt idx="11">
                  <c:v>162</c:v>
                </c:pt>
                <c:pt idx="12">
                  <c:v>189</c:v>
                </c:pt>
              </c:numCache>
            </c:numRef>
          </c:val>
          <c:extLst>
            <c:ext uri="{C3380CC4-5D6E-409C-BE32-E72D297353CC}">
              <ns5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0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3.8390893228502782E-2"/>
          <c:y val="0.18678990579931179"/>
          <c:w val="0.90162823401020409"/>
          <c:h val="0.5727837962794214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105</c:v>
                </c:pt>
                <c:pt idx="1">
                  <c:v>104</c:v>
                </c:pt>
                <c:pt idx="2">
                  <c:v>108</c:v>
                </c:pt>
                <c:pt idx="3">
                  <c:v>128</c:v>
                </c:pt>
                <c:pt idx="4">
                  <c:v>108</c:v>
                </c:pt>
                <c:pt idx="5">
                  <c:v>124</c:v>
                </c:pt>
                <c:pt idx="6">
                  <c:v>107</c:v>
                </c:pt>
                <c:pt idx="7">
                  <c:v>125</c:v>
                </c:pt>
                <c:pt idx="8">
                  <c:v>143</c:v>
                </c:pt>
                <c:pt idx="9">
                  <c:v>119</c:v>
                </c:pt>
                <c:pt idx="10">
                  <c:v>130</c:v>
                </c:pt>
                <c:pt idx="11">
                  <c:v>139</c:v>
                </c:pt>
                <c:pt idx="12">
                  <c:v>170</c:v>
                </c:pt>
              </c:numCache>
            </c:numRef>
          </c:val>
          <c:extLst>
            <c:ext uri="{C3380CC4-5D6E-409C-BE32-E72D297353CC}">
              <ns5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1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3.0589468483624795E-2"/>
          <c:y val="0.22163312522741269"/>
          <c:w val="0.91737162397150918"/>
          <c:h val="0.593147276451332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32</c:v>
                </c:pt>
                <c:pt idx="1">
                  <c:v>23</c:v>
                </c:pt>
                <c:pt idx="2">
                  <c:v>20</c:v>
                </c:pt>
                <c:pt idx="3">
                  <c:v>21</c:v>
                </c:pt>
                <c:pt idx="4">
                  <c:v>21</c:v>
                </c:pt>
                <c:pt idx="5">
                  <c:v>22</c:v>
                </c:pt>
                <c:pt idx="6">
                  <c:v>20</c:v>
                </c:pt>
                <c:pt idx="7">
                  <c:v>22</c:v>
                </c:pt>
                <c:pt idx="8">
                  <c:v>28</c:v>
                </c:pt>
                <c:pt idx="9">
                  <c:v>32</c:v>
                </c:pt>
                <c:pt idx="10">
                  <c:v>51</c:v>
                </c:pt>
                <c:pt idx="11">
                  <c:v>70</c:v>
                </c:pt>
                <c:pt idx="12">
                  <c:v>70</c:v>
                </c:pt>
              </c:numCache>
            </c:numRef>
          </c:val>
          <c:extLst>
            <c:ext uri="{C3380CC4-5D6E-409C-BE32-E72D297353CC}">
              <ns5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2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071378336781807E-2"/>
          <c:y val="0.17302474766413348"/>
          <c:w val="0.92914325522157026"/>
          <c:h val="0.638521004957837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</c:v>
                </c:pt>
                <c:pt idx="1">
                  <c:v>14</c:v>
                </c:pt>
                <c:pt idx="2">
                  <c:v>17</c:v>
                </c:pt>
                <c:pt idx="3">
                  <c:v>20</c:v>
                </c:pt>
                <c:pt idx="4">
                  <c:v>20</c:v>
                </c:pt>
                <c:pt idx="5">
                  <c:v>23</c:v>
                </c:pt>
                <c:pt idx="6">
                  <c:v>30</c:v>
                </c:pt>
                <c:pt idx="7">
                  <c:v>45</c:v>
                </c:pt>
                <c:pt idx="8">
                  <c:v>68</c:v>
                </c:pt>
                <c:pt idx="9">
                  <c:v>58</c:v>
                </c:pt>
                <c:pt idx="10">
                  <c:v>65</c:v>
                </c:pt>
                <c:pt idx="11">
                  <c:v>85</c:v>
                </c:pt>
                <c:pt idx="12">
                  <c:v>116</c:v>
                </c:pt>
              </c:numCache>
            </c:numRef>
          </c:val>
          <c:extLst>
            <c:ext uri="{C3380CC4-5D6E-409C-BE32-E72D297353CC}">
              <ns5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3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071378336781807E-2"/>
          <c:y val="0.23069966355217797"/>
          <c:w val="0.92957621646821498"/>
          <c:h val="0.580846089069792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29</c:v>
                </c:pt>
                <c:pt idx="1">
                  <c:v>30</c:v>
                </c:pt>
                <c:pt idx="2">
                  <c:v>29</c:v>
                </c:pt>
                <c:pt idx="3">
                  <c:v>31</c:v>
                </c:pt>
                <c:pt idx="4">
                  <c:v>33</c:v>
                </c:pt>
                <c:pt idx="5">
                  <c:v>28</c:v>
                </c:pt>
                <c:pt idx="6">
                  <c:v>31</c:v>
                </c:pt>
                <c:pt idx="7">
                  <c:v>40</c:v>
                </c:pt>
                <c:pt idx="8">
                  <c:v>48</c:v>
                </c:pt>
                <c:pt idx="9">
                  <c:v>40</c:v>
                </c:pt>
                <c:pt idx="10">
                  <c:v>72</c:v>
                </c:pt>
                <c:pt idx="11">
                  <c:v>115</c:v>
                </c:pt>
                <c:pt idx="12">
                  <c:v>131</c:v>
                </c:pt>
              </c:numCache>
            </c:numRef>
          </c:val>
          <c:extLst>
            <c:ext uri="{C3380CC4-5D6E-409C-BE32-E72D297353CC}">
              <ns5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4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071378336781807E-2"/>
          <c:y val="0.16478547396584139"/>
          <c:w val="0.92957621646821498"/>
          <c:h val="0.6467602786561291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16</c:v>
                </c:pt>
                <c:pt idx="1">
                  <c:v>16</c:v>
                </c:pt>
                <c:pt idx="2">
                  <c:v>18</c:v>
                </c:pt>
                <c:pt idx="3">
                  <c:v>20</c:v>
                </c:pt>
                <c:pt idx="4">
                  <c:v>17</c:v>
                </c:pt>
                <c:pt idx="5">
                  <c:v>20</c:v>
                </c:pt>
                <c:pt idx="6">
                  <c:v>21</c:v>
                </c:pt>
                <c:pt idx="7">
                  <c:v>27</c:v>
                </c:pt>
                <c:pt idx="8">
                  <c:v>28</c:v>
                </c:pt>
                <c:pt idx="9">
                  <c:v>24</c:v>
                </c:pt>
                <c:pt idx="10">
                  <c:v>24</c:v>
                </c:pt>
                <c:pt idx="11">
                  <c:v>28</c:v>
                </c:pt>
                <c:pt idx="12">
                  <c:v>30</c:v>
                </c:pt>
              </c:numCache>
            </c:numRef>
          </c:val>
          <c:extLst>
            <c:ext uri="{C3380CC4-5D6E-409C-BE32-E72D297353CC}">
              <ns5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5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9194841625148085E-2"/>
          <c:y val="0.20309637175823234"/>
          <c:w val="0.92479277329480847"/>
          <c:h val="0.6473743047456201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96</c:v>
                </c:pt>
                <c:pt idx="1">
                  <c:v>108</c:v>
                </c:pt>
                <c:pt idx="2">
                  <c:v>102</c:v>
                </c:pt>
                <c:pt idx="3">
                  <c:v>98</c:v>
                </c:pt>
                <c:pt idx="4">
                  <c:v>87</c:v>
                </c:pt>
                <c:pt idx="5">
                  <c:v>100</c:v>
                </c:pt>
                <c:pt idx="6">
                  <c:v>93</c:v>
                </c:pt>
                <c:pt idx="7">
                  <c:v>91</c:v>
                </c:pt>
                <c:pt idx="8">
                  <c:v>104</c:v>
                </c:pt>
                <c:pt idx="9">
                  <c:v>101</c:v>
                </c:pt>
                <c:pt idx="10">
                  <c:v>115</c:v>
                </c:pt>
                <c:pt idx="11">
                  <c:v>121</c:v>
                </c:pt>
                <c:pt idx="12">
                  <c:v>144</c:v>
                </c:pt>
              </c:numCache>
            </c:numRef>
          </c:val>
          <c:extLst>
            <c:ext uri="{C3380CC4-5D6E-409C-BE32-E72D297353CC}">
              <ns5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6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3.8390893228502782E-2"/>
          <c:y val="0.21241486149059391"/>
          <c:w val="0.90162823401020409"/>
          <c:h val="0.5796445426378884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76</c:v>
                </c:pt>
                <c:pt idx="1">
                  <c:v>81</c:v>
                </c:pt>
                <c:pt idx="2">
                  <c:v>80</c:v>
                </c:pt>
                <c:pt idx="3">
                  <c:v>84</c:v>
                </c:pt>
                <c:pt idx="4">
                  <c:v>74</c:v>
                </c:pt>
                <c:pt idx="5">
                  <c:v>95</c:v>
                </c:pt>
                <c:pt idx="6">
                  <c:v>87</c:v>
                </c:pt>
                <c:pt idx="7">
                  <c:v>104</c:v>
                </c:pt>
                <c:pt idx="8">
                  <c:v>108</c:v>
                </c:pt>
                <c:pt idx="9">
                  <c:v>92</c:v>
                </c:pt>
                <c:pt idx="10">
                  <c:v>103</c:v>
                </c:pt>
                <c:pt idx="11">
                  <c:v>110</c:v>
                </c:pt>
                <c:pt idx="12">
                  <c:v>119</c:v>
                </c:pt>
              </c:numCache>
            </c:numRef>
          </c:val>
          <c:extLst>
            <c:ext uri="{C3380CC4-5D6E-409C-BE32-E72D297353CC}">
              <ns5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7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4.7792295246022756E-2"/>
          <c:y val="0.16478363112192507"/>
          <c:w val="0.88706785213551886"/>
          <c:h val="0.649996354617834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20</c:v>
                </c:pt>
                <c:pt idx="1">
                  <c:v>15</c:v>
                </c:pt>
                <c:pt idx="2">
                  <c:v>12</c:v>
                </c:pt>
                <c:pt idx="3">
                  <c:v>11</c:v>
                </c:pt>
                <c:pt idx="4">
                  <c:v>10</c:v>
                </c:pt>
                <c:pt idx="5">
                  <c:v>11</c:v>
                </c:pt>
                <c:pt idx="6">
                  <c:v>9</c:v>
                </c:pt>
                <c:pt idx="7">
                  <c:v>9</c:v>
                </c:pt>
                <c:pt idx="8">
                  <c:v>12</c:v>
                </c:pt>
                <c:pt idx="9">
                  <c:v>14</c:v>
                </c:pt>
                <c:pt idx="10">
                  <c:v>31</c:v>
                </c:pt>
                <c:pt idx="11">
                  <c:v>38</c:v>
                </c:pt>
                <c:pt idx="12">
                  <c:v>40</c:v>
                </c:pt>
              </c:numCache>
            </c:numRef>
          </c:val>
          <c:extLst>
            <c:ext uri="{C3380CC4-5D6E-409C-BE32-E72D297353CC}">
              <ns5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8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071378336781807E-2"/>
          <c:y val="0.20598184245730175"/>
          <c:w val="0.92957621646821498"/>
          <c:h val="0.597324636466376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5</c:v>
                </c:pt>
                <c:pt idx="6">
                  <c:v>7</c:v>
                </c:pt>
                <c:pt idx="7">
                  <c:v>14</c:v>
                </c:pt>
                <c:pt idx="8">
                  <c:v>28</c:v>
                </c:pt>
                <c:pt idx="9">
                  <c:v>21</c:v>
                </c:pt>
                <c:pt idx="10">
                  <c:v>29</c:v>
                </c:pt>
                <c:pt idx="11">
                  <c:v>42</c:v>
                </c:pt>
                <c:pt idx="12">
                  <c:v>62</c:v>
                </c:pt>
              </c:numCache>
            </c:numRef>
          </c:val>
          <c:extLst>
            <c:ext uri="{C3380CC4-5D6E-409C-BE32-E72D297353CC}">
              <ns5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39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6.1908583578582026E-2"/>
          <c:y val="0.22246038985388589"/>
          <c:w val="0.89257420499319096"/>
          <c:h val="0.589085362768084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10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8</c:v>
                </c:pt>
                <c:pt idx="6">
                  <c:v>9</c:v>
                </c:pt>
                <c:pt idx="7">
                  <c:v>13</c:v>
                </c:pt>
                <c:pt idx="8">
                  <c:v>17</c:v>
                </c:pt>
                <c:pt idx="9">
                  <c:v>15</c:v>
                </c:pt>
                <c:pt idx="10">
                  <c:v>25</c:v>
                </c:pt>
                <c:pt idx="11">
                  <c:v>35</c:v>
                </c:pt>
                <c:pt idx="12">
                  <c:v>57</c:v>
                </c:pt>
              </c:numCache>
            </c:numRef>
          </c:val>
          <c:extLst>
            <c:ext uri="{C3380CC4-5D6E-409C-BE32-E72D297353CC}">
              <ns5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0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6.1908583578582026E-2"/>
          <c:y val="0.17302474766413348"/>
          <c:w val="0.86737027670079103"/>
          <c:h val="0.638521004957837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</c:v>
                </c:pt>
                <c:pt idx="1">
                  <c:v>6</c:v>
                </c:pt>
                <c:pt idx="2">
                  <c:v>6</c:v>
                </c:pt>
                <c:pt idx="3">
                  <c:v>6</c:v>
                </c:pt>
                <c:pt idx="4">
                  <c:v>6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8</c:v>
                </c:pt>
                <c:pt idx="10">
                  <c:v>8</c:v>
                </c:pt>
                <c:pt idx="11">
                  <c:v>10</c:v>
                </c:pt>
                <c:pt idx="12">
                  <c:v>10</c:v>
                </c:pt>
              </c:numCache>
            </c:numRef>
          </c:val>
          <c:extLst>
            <c:ext uri="{C3380CC4-5D6E-409C-BE32-E72D297353CC}">
              <ns5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1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7.0921985815602842E-2"/>
          <c:y val="0.21971123666038919"/>
          <c:w val="0.86393821782915436"/>
          <c:h val="0.6307596967045785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20000"/>
                <a:lumOff val="80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6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movingAvg"/>
            <c:period val="2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273</c:v>
                </c:pt>
                <c:pt idx="1">
                  <c:v>258</c:v>
                </c:pt>
                <c:pt idx="2">
                  <c:v>229</c:v>
                </c:pt>
                <c:pt idx="3">
                  <c:v>257</c:v>
                </c:pt>
                <c:pt idx="4">
                  <c:v>216</c:v>
                </c:pt>
                <c:pt idx="5">
                  <c:v>287</c:v>
                </c:pt>
                <c:pt idx="6">
                  <c:v>248</c:v>
                </c:pt>
                <c:pt idx="7">
                  <c:v>217</c:v>
                </c:pt>
                <c:pt idx="8">
                  <c:v>225</c:v>
                </c:pt>
                <c:pt idx="9">
                  <c:v>224</c:v>
                </c:pt>
                <c:pt idx="10">
                  <c:v>260</c:v>
                </c:pt>
                <c:pt idx="11">
                  <c:v>259</c:v>
                </c:pt>
                <c:pt idx="12">
                  <c:v>290</c:v>
                </c:pt>
              </c:numCache>
            </c:numRef>
          </c:val>
          <c:extLst>
            <c:ext uri="{C3380CC4-5D6E-409C-BE32-E72D297353CC}">
              <ns5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5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2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3.2453133187050578E-2"/>
          <c:y val="0.19954296804295799"/>
          <c:w val="0.91470400990001632"/>
          <c:h val="0.6200349938660176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lumMod val="75000"/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name>12</c:nam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130</c:v>
                </c:pt>
                <c:pt idx="1">
                  <c:v>133</c:v>
                </c:pt>
                <c:pt idx="2">
                  <c:v>128</c:v>
                </c:pt>
                <c:pt idx="3">
                  <c:v>149</c:v>
                </c:pt>
                <c:pt idx="4">
                  <c:v>120</c:v>
                </c:pt>
                <c:pt idx="5">
                  <c:v>168</c:v>
                </c:pt>
                <c:pt idx="6">
                  <c:v>140</c:v>
                </c:pt>
                <c:pt idx="7">
                  <c:v>155</c:v>
                </c:pt>
                <c:pt idx="8">
                  <c:v>162</c:v>
                </c:pt>
                <c:pt idx="9">
                  <c:v>142</c:v>
                </c:pt>
                <c:pt idx="10">
                  <c:v>164</c:v>
                </c:pt>
                <c:pt idx="11">
                  <c:v>169</c:v>
                </c:pt>
                <c:pt idx="12">
                  <c:v>175</c:v>
                </c:pt>
              </c:numCache>
            </c:numRef>
          </c:val>
          <c:extLst>
            <c:ext uri="{C3380CC4-5D6E-409C-BE32-E72D297353CC}">
              <ns5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3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4.7792295246022756E-2"/>
          <c:y val="0.16478363112192507"/>
          <c:w val="0.88706785213551886"/>
          <c:h val="0.6499963546178342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FF66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64</c:v>
                </c:pt>
                <c:pt idx="1">
                  <c:v>34</c:v>
                </c:pt>
                <c:pt idx="2">
                  <c:v>19</c:v>
                </c:pt>
                <c:pt idx="3">
                  <c:v>20</c:v>
                </c:pt>
                <c:pt idx="4">
                  <c:v>18</c:v>
                </c:pt>
                <c:pt idx="5">
                  <c:v>30</c:v>
                </c:pt>
                <c:pt idx="6">
                  <c:v>22</c:v>
                </c:pt>
                <c:pt idx="7">
                  <c:v>20</c:v>
                </c:pt>
                <c:pt idx="8">
                  <c:v>23</c:v>
                </c:pt>
                <c:pt idx="9">
                  <c:v>45</c:v>
                </c:pt>
                <c:pt idx="10">
                  <c:v>107</c:v>
                </c:pt>
                <c:pt idx="11">
                  <c:v>103</c:v>
                </c:pt>
                <c:pt idx="12">
                  <c:v>88</c:v>
                </c:pt>
              </c:numCache>
            </c:numRef>
          </c:val>
          <c:extLst>
            <c:ext uri="{C3380CC4-5D6E-409C-BE32-E72D297353CC}">
              <ns5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4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071378336781807E-2"/>
          <c:y val="0.18126402136242553"/>
          <c:w val="0.92914325522157026"/>
          <c:h val="0.6138031838629607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13</c:v>
                </c:pt>
                <c:pt idx="1">
                  <c:v>13</c:v>
                </c:pt>
                <c:pt idx="2">
                  <c:v>14</c:v>
                </c:pt>
                <c:pt idx="3">
                  <c:v>18</c:v>
                </c:pt>
                <c:pt idx="4">
                  <c:v>18</c:v>
                </c:pt>
                <c:pt idx="5">
                  <c:v>24</c:v>
                </c:pt>
                <c:pt idx="6">
                  <c:v>25</c:v>
                </c:pt>
                <c:pt idx="7">
                  <c:v>52</c:v>
                </c:pt>
                <c:pt idx="8">
                  <c:v>124</c:v>
                </c:pt>
                <c:pt idx="9">
                  <c:v>119</c:v>
                </c:pt>
                <c:pt idx="10">
                  <c:v>140</c:v>
                </c:pt>
                <c:pt idx="11">
                  <c:v>152</c:v>
                </c:pt>
                <c:pt idx="12">
                  <c:v>215</c:v>
                </c:pt>
              </c:numCache>
            </c:numRef>
          </c:val>
          <c:extLst>
            <c:ext uri="{C3380CC4-5D6E-409C-BE32-E72D297353CC}">
              <ns5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5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6.1908583578582026E-2"/>
          <c:y val="0.23069966355217797"/>
          <c:w val="0.86737027670079103"/>
          <c:h val="0.5808460890697925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22</c:v>
                </c:pt>
                <c:pt idx="1">
                  <c:v>15</c:v>
                </c:pt>
                <c:pt idx="2">
                  <c:v>13</c:v>
                </c:pt>
                <c:pt idx="3">
                  <c:v>14</c:v>
                </c:pt>
                <c:pt idx="4">
                  <c:v>13</c:v>
                </c:pt>
                <c:pt idx="5">
                  <c:v>23</c:v>
                </c:pt>
                <c:pt idx="6">
                  <c:v>23</c:v>
                </c:pt>
                <c:pt idx="7">
                  <c:v>24</c:v>
                </c:pt>
                <c:pt idx="8">
                  <c:v>26</c:v>
                </c:pt>
                <c:pt idx="9">
                  <c:v>38</c:v>
                </c:pt>
                <c:pt idx="10">
                  <c:v>74</c:v>
                </c:pt>
                <c:pt idx="11">
                  <c:v>85</c:v>
                </c:pt>
                <c:pt idx="12">
                  <c:v>119</c:v>
                </c:pt>
              </c:numCache>
            </c:numRef>
          </c:val>
          <c:extLst>
            <c:ext uri="{C3380CC4-5D6E-409C-BE32-E72D297353CC}">
              <ns5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5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6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071378336781807E-2"/>
          <c:y val="0.22246038985388589"/>
          <c:w val="0.92972068460169122"/>
          <c:h val="0.5643675416732084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18</c:v>
                </c:pt>
                <c:pt idx="1">
                  <c:v>16</c:v>
                </c:pt>
                <c:pt idx="2">
                  <c:v>17</c:v>
                </c:pt>
                <c:pt idx="3">
                  <c:v>18</c:v>
                </c:pt>
                <c:pt idx="4">
                  <c:v>15</c:v>
                </c:pt>
                <c:pt idx="5">
                  <c:v>19</c:v>
                </c:pt>
                <c:pt idx="6">
                  <c:v>21</c:v>
                </c:pt>
                <c:pt idx="7">
                  <c:v>20</c:v>
                </c:pt>
                <c:pt idx="8">
                  <c:v>20</c:v>
                </c:pt>
                <c:pt idx="9">
                  <c:v>19</c:v>
                </c:pt>
                <c:pt idx="10">
                  <c:v>19</c:v>
                </c:pt>
                <c:pt idx="11">
                  <c:v>22</c:v>
                </c:pt>
                <c:pt idx="12">
                  <c:v>19</c:v>
                </c:pt>
              </c:numCache>
            </c:numRef>
          </c:val>
          <c:extLst>
            <c:ext uri="{C3380CC4-5D6E-409C-BE32-E72D297353CC}">
              <ns5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/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txPr>
    <a:bodyPr/>
    <a:lstStyle/>
    <a:p>
      <a:pPr marL="0" algn="ctr" defTabSz="914400" rtl="0" eaLnBrk="1" latinLnBrk="0" hangingPunct="1">
        <a:defRPr lang="en-US" sz="900" kern="1200">
          <a:solidFill>
            <a:srgbClr val="2E8B57"/>
          </a:solidFill>
          <a:latin typeface="+mn-lt"/>
          <a:ea typeface="+mn-ea"/>
          <a:cs typeface="+mn-cs"/>
        </a:defRPr>
      </a:pPr>
      <a:endParaRPr lang="en-US"/>
    </a:p>
  </c:txPr>
  <c:externalData r:id="rId1">
    <c:autoUpdate val="0"/>
  </c:externalData>
</c:chartSpace>
</file>

<file path=ppt/charts/chart47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3.3447513047785683E-2"/>
          <c:y val="0.26843902853901647"/>
          <c:w val="0.91533270220863006"/>
          <c:h val="0.582031847007492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2E8B57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70</c:v>
                </c:pt>
                <c:pt idx="1">
                  <c:v>74</c:v>
                </c:pt>
                <c:pt idx="2">
                  <c:v>93</c:v>
                </c:pt>
                <c:pt idx="3">
                  <c:v>73</c:v>
                </c:pt>
                <c:pt idx="4">
                  <c:v>68</c:v>
                </c:pt>
                <c:pt idx="5">
                  <c:v>64</c:v>
                </c:pt>
                <c:pt idx="6">
                  <c:v>74</c:v>
                </c:pt>
                <c:pt idx="7">
                  <c:v>68</c:v>
                </c:pt>
                <c:pt idx="8">
                  <c:v>71</c:v>
                </c:pt>
                <c:pt idx="9">
                  <c:v>74</c:v>
                </c:pt>
                <c:pt idx="10">
                  <c:v>73</c:v>
                </c:pt>
                <c:pt idx="11">
                  <c:v>93</c:v>
                </c:pt>
                <c:pt idx="12">
                  <c:v>96</c:v>
                </c:pt>
              </c:numCache>
            </c:numRef>
          </c:val>
          <c:extLst>
            <c:ext uri="{C3380CC4-5D6E-409C-BE32-E72D297353CC}">
              <ns5:uniqueId val="{00000000-91F2-44B5-998A-8A4E5EB210B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2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8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9031813811643551E-2"/>
          <c:y val="0.23254205288042903"/>
          <c:w val="0.92098159106617783"/>
          <c:h val="0.54693565319292647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FF000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14</c:v>
                </c:pt>
                <c:pt idx="1">
                  <c:v>15</c:v>
                </c:pt>
                <c:pt idx="2">
                  <c:v>18</c:v>
                </c:pt>
                <c:pt idx="3">
                  <c:v>16</c:v>
                </c:pt>
                <c:pt idx="4">
                  <c:v>14</c:v>
                </c:pt>
                <c:pt idx="5">
                  <c:v>13</c:v>
                </c:pt>
                <c:pt idx="6">
                  <c:v>14</c:v>
                </c:pt>
                <c:pt idx="7">
                  <c:v>14</c:v>
                </c:pt>
                <c:pt idx="8">
                  <c:v>12</c:v>
                </c:pt>
                <c:pt idx="9">
                  <c:v>12</c:v>
                </c:pt>
                <c:pt idx="10">
                  <c:v>11</c:v>
                </c:pt>
                <c:pt idx="11">
                  <c:v>14</c:v>
                </c:pt>
                <c:pt idx="12">
                  <c:v>14</c:v>
                </c:pt>
              </c:numCache>
            </c:numRef>
          </c:val>
          <c:extLst>
            <c:ext uri="{C3380CC4-5D6E-409C-BE32-E72D297353CC}">
              <ns5:uniqueId val="{00000000-8807-449E-A631-74664EA5CA1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2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49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4.7792295246022756E-2"/>
          <c:y val="0.25367281326153923"/>
          <c:w val="0.88706785213551886"/>
          <c:h val="0.5611075276039179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22</c:v>
                </c:pt>
                <c:pt idx="1">
                  <c:v>16</c:v>
                </c:pt>
                <c:pt idx="2">
                  <c:v>14</c:v>
                </c:pt>
                <c:pt idx="3">
                  <c:v>10</c:v>
                </c:pt>
                <c:pt idx="4">
                  <c:v>9</c:v>
                </c:pt>
                <c:pt idx="5">
                  <c:v>9</c:v>
                </c:pt>
                <c:pt idx="6">
                  <c:v>10</c:v>
                </c:pt>
                <c:pt idx="7">
                  <c:v>10</c:v>
                </c:pt>
                <c:pt idx="8">
                  <c:v>12</c:v>
                </c:pt>
                <c:pt idx="9">
                  <c:v>19</c:v>
                </c:pt>
                <c:pt idx="10">
                  <c:v>26</c:v>
                </c:pt>
                <c:pt idx="11">
                  <c:v>37</c:v>
                </c:pt>
                <c:pt idx="12">
                  <c:v>29</c:v>
                </c:pt>
              </c:numCache>
            </c:numRef>
          </c:val>
          <c:extLst>
            <c:ext uri="{C3380CC4-5D6E-409C-BE32-E72D297353CC}">
              <ns5:uniqueId val="{00000000-0733-49EE-8507-6C7F27CAA63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7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0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6.1908583578582026E-2"/>
          <c:y val="0.23997508031646125"/>
          <c:w val="0.89064537276137967"/>
          <c:h val="0.5715701475039162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1F5A85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4</c:v>
                </c:pt>
                <c:pt idx="1">
                  <c:v>3</c:v>
                </c:pt>
                <c:pt idx="2">
                  <c:v>5</c:v>
                </c:pt>
                <c:pt idx="3">
                  <c:v>5</c:v>
                </c:pt>
                <c:pt idx="4">
                  <c:v>6</c:v>
                </c:pt>
                <c:pt idx="5">
                  <c:v>7</c:v>
                </c:pt>
                <c:pt idx="6">
                  <c:v>8</c:v>
                </c:pt>
                <c:pt idx="7">
                  <c:v>8</c:v>
                </c:pt>
                <c:pt idx="8">
                  <c:v>10</c:v>
                </c:pt>
                <c:pt idx="9">
                  <c:v>10</c:v>
                </c:pt>
                <c:pt idx="10">
                  <c:v>10</c:v>
                </c:pt>
                <c:pt idx="11">
                  <c:v>15</c:v>
                </c:pt>
                <c:pt idx="12">
                  <c:v>14</c:v>
                </c:pt>
              </c:numCache>
            </c:numRef>
          </c:val>
          <c:extLst>
            <c:ext uri="{C3380CC4-5D6E-409C-BE32-E72D297353CC}">
              <ns5:uniqueId val="{00000000-E00F-4D2A-9584-298BA6A2EA4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7.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1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6.1908583578582026E-2"/>
          <c:y val="0.27189603204363832"/>
          <c:w val="0.89257420499319096"/>
          <c:h val="0.5396497205783321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8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10</c:v>
                </c:pt>
                <c:pt idx="1">
                  <c:v>7</c:v>
                </c:pt>
                <c:pt idx="2">
                  <c:v>6</c:v>
                </c:pt>
                <c:pt idx="3">
                  <c:v>6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4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16</c:v>
                </c:pt>
                <c:pt idx="12">
                  <c:v>12</c:v>
                </c:pt>
              </c:numCache>
            </c:numRef>
          </c:val>
          <c:extLst>
            <c:ext uri="{C3380CC4-5D6E-409C-BE32-E72D297353CC}">
              <ns5:uniqueId val="{00000000-0BB4-43C4-9A62-33A49F6555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2.xml><?xml version="1.0" encoding="utf-8"?>
<c:chartSpace xmlns:a="http://schemas.openxmlformats.org/drawingml/2006/main" xmlns:c="http://schemas.openxmlformats.org/drawingml/2006/chart" xmlns:ns1="http://schemas.openxmlformats.org/markup-compatibility/2006" xmlns:ns2="http://schemas.microsoft.com/office/drawing/2007/8/2/chart" xmlns:ns4="http://schemas.microsoft.com/office/drawing/2012/chart" xmlns:ns5="http://schemas.microsoft.com/office/drawing/2014/chart" xmlns:r="http://schemas.openxmlformats.org/officeDocument/2006/relationships">
  <c:date1904 val="0"/>
  <c:lang val="en-US"/>
  <c:roundedCorners val="1"/>
  <ns1:AlternateContent>
    <ns1:Choice Requires="c14">
      <ns2:style val="102"/>
    </ns1:Choice>
    <ns1:Fallback>
      <c:style val="2"/>
    </ns1:Fallback>
  </ns1:AlternateContent>
  <c:chart>
    <c:autoTitleDeleted val="1"/>
    <c:plotArea>
      <c:layout>
        <c:manualLayout>
          <c:layoutTarget val="inner"/>
          <c:xMode val="edge"/>
          <c:yMode val="edge"/>
          <c:x val="2.7071378336781807E-2"/>
          <c:y val="0.28871814369160476"/>
          <c:w val="0.92741141023499118"/>
          <c:h val="0.522827895232126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NSV</c:v>
                </c:pt>
              </c:strCache>
            </c:strRef>
          </c:tx>
          <c:spPr>
            <a:solidFill>
              <a:srgbClr val="7030A0">
                <a:alpha val="85000"/>
              </a:srgbClr>
            </a:solidFill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uri="{CE6537A1-D6FC-4f65-9D91-7224C49458BB}">
                <ns4:showLeaderLines val="1"/>
              </c:ext>
            </c:extLst>
          </c:dLbls>
          <c:trendline>
            <c:trendlineType val="poly"/>
            <c:order val="6"/>
            <c:dispRSqr val="0"/>
            <c:dispEq val="0"/>
          </c:trendline>
          <c:cat>
            <c:strRef>
              <c:f>Sheet1!$A$2:$A$14</c:f>
              <c:strCache>
                <c:ptCount val="13"/>
                <c:pt idx="0">
                  <c:v>May</c:v>
                </c:pt>
                <c:pt idx="1">
                  <c:v>Jun</c:v>
                </c:pt>
                <c:pt idx="2">
                  <c:v>Jul</c:v>
                </c:pt>
                <c:pt idx="3">
                  <c:v>Aug</c:v>
                </c:pt>
                <c:pt idx="4">
                  <c:v>Sep</c:v>
                </c:pt>
                <c:pt idx="5">
                  <c:v>Oct</c:v>
                </c:pt>
                <c:pt idx="6">
                  <c:v>Nov</c:v>
                </c:pt>
                <c:pt idx="7">
                  <c:v>Dec</c:v>
                </c:pt>
                <c:pt idx="8">
                  <c:v>Jan</c:v>
                </c:pt>
                <c:pt idx="9">
                  <c:v>Feb</c:v>
                </c:pt>
                <c:pt idx="10">
                  <c:v>Mar</c:v>
                </c:pt>
                <c:pt idx="11">
                  <c:v>Apr</c:v>
                </c:pt>
                <c:pt idx="12">
                  <c:v>May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</c:v>
                </c:pt>
                <c:pt idx="1">
                  <c:v>9</c:v>
                </c:pt>
                <c:pt idx="2">
                  <c:v>10</c:v>
                </c:pt>
                <c:pt idx="3">
                  <c:v>10</c:v>
                </c:pt>
                <c:pt idx="4">
                  <c:v>8</c:v>
                </c:pt>
                <c:pt idx="5">
                  <c:v>10</c:v>
                </c:pt>
                <c:pt idx="6">
                  <c:v>11</c:v>
                </c:pt>
                <c:pt idx="7">
                  <c:v>17</c:v>
                </c:pt>
                <c:pt idx="8">
                  <c:v>11</c:v>
                </c:pt>
                <c:pt idx="9">
                  <c:v>10</c:v>
                </c:pt>
                <c:pt idx="10">
                  <c:v>9</c:v>
                </c:pt>
                <c:pt idx="11">
                  <c:v>13</c:v>
                </c:pt>
                <c:pt idx="12">
                  <c:v>10</c:v>
                </c:pt>
              </c:numCache>
            </c:numRef>
          </c:val>
          <c:extLst>
            <c:ext uri="{C3380CC4-5D6E-409C-BE32-E72D297353CC}">
              <ns5:uniqueId val="{00000000-53EC-4B9C-B464-2CB8801B151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 rot="2700000"/>
          <a:lstStyle/>
          <a:p>
            <a:pPr>
              <a:defRPr sz="6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.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solidFill>
        <a:schemeClr val="tx1"/>
      </a:solidFill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Apr'26</c:v>
                </c:pt>
              </c:strCache>
            </c:strRef>
          </c:tx>
          <c:spPr>
            <a:solidFill>
              <a:srgbClr val="1F4E78"/>
            </a:solidFill>
            <a:ln>
              <a:noFill/>
            </a:ln>
          </c:spPr>
          <c:invertIfNegative val="1"/>
          <c:cat>
            <c:strRef>
              <c:f>Sheet1!$A$2:$A$9</c:f>
              <c:strCache>
                <c:ptCount val="8"/>
                <c:pt idx="0">
                  <c:v>150g/ml</c:v>
                </c:pt>
                <c:pt idx="1">
                  <c:v>50g/ml</c:v>
                </c:pt>
                <c:pt idx="2">
                  <c:v>100g/ml</c:v>
                </c:pt>
                <c:pt idx="3">
                  <c:v>30g/ml</c:v>
                </c:pt>
                <c:pt idx="4">
                  <c:v>200g/ml</c:v>
                </c:pt>
                <c:pt idx="5">
                  <c:v>250g/ml</c:v>
                </c:pt>
                <c:pt idx="6">
                  <c:v>125g/ml</c:v>
                </c:pt>
                <c:pt idx="7">
                  <c:v>80g/ml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25.48</c:v>
                </c:pt>
                <c:pt idx="1">
                  <c:v>31.330000000000002</c:v>
                </c:pt>
                <c:pt idx="2">
                  <c:v>23.29</c:v>
                </c:pt>
                <c:pt idx="3">
                  <c:v>13.6</c:v>
                </c:pt>
                <c:pt idx="4">
                  <c:v>10.18</c:v>
                </c:pt>
                <c:pt idx="5">
                  <c:v>8.1</c:v>
                </c:pt>
                <c:pt idx="6">
                  <c:v>9.65</c:v>
                </c:pt>
                <c:pt idx="7">
                  <c:v>9.52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D278-4F24-BC5E-1C7BFA924A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May'26</c:v>
                </c:pt>
              </c:strCache>
            </c:strRef>
          </c:tx>
          <c:spPr>
            <a:solidFill>
              <a:srgbClr val="81B7A9"/>
            </a:solidFill>
            <a:ln>
              <a:noFill/>
            </a:ln>
          </c:spPr>
          <c:invertIfNegative val="1"/>
          <c:cat>
            <c:strRef>
              <c:f>Sheet1!$A$2:$A$9</c:f>
              <c:strCache>
                <c:ptCount val="8"/>
                <c:pt idx="0">
                  <c:v>150g/ml</c:v>
                </c:pt>
                <c:pt idx="1">
                  <c:v>50g/ml</c:v>
                </c:pt>
                <c:pt idx="2">
                  <c:v>100g/ml</c:v>
                </c:pt>
                <c:pt idx="3">
                  <c:v>30g/ml</c:v>
                </c:pt>
                <c:pt idx="4">
                  <c:v>200g/ml</c:v>
                </c:pt>
                <c:pt idx="5">
                  <c:v>250g/ml</c:v>
                </c:pt>
                <c:pt idx="6">
                  <c:v>125g/ml</c:v>
                </c:pt>
                <c:pt idx="7">
                  <c:v>80g/ml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37.19</c:v>
                </c:pt>
                <c:pt idx="1">
                  <c:v>35.07</c:v>
                </c:pt>
                <c:pt idx="2">
                  <c:v>24.73</c:v>
                </c:pt>
                <c:pt idx="3">
                  <c:v>14.66</c:v>
                </c:pt>
                <c:pt idx="4">
                  <c:v>13.01</c:v>
                </c:pt>
                <c:pt idx="5">
                  <c:v>11.44</c:v>
                </c:pt>
                <c:pt idx="6">
                  <c:v>11.4</c:v>
                </c:pt>
                <c:pt idx="7">
                  <c:v>9.68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278-4F24-BC5E-1C7BFA924A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750"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750">
                <a:latin typeface="Segoe UI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800">
              <a:latin typeface="Segoe UI"/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</cdr:x>
      <cdr:y>0.00077</cdr:y>
    </cdr:from>
    <cdr:to>
      <cdr:x>0.473</cdr:x>
      <cdr:y>0.10927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6D948830-5875-429E-B2E8-06A2446FF79B}"/>
            </a:ext>
          </a:extLst>
        </cdr:cNvPr>
        <cdr:cNvSpPr/>
      </cdr:nvSpPr>
      <cdr:spPr>
        <a:xfrm xmlns:a="http://schemas.openxmlformats.org/drawingml/2006/main">
          <a:off x="0" y="1635"/>
          <a:ext cx="1455089" cy="229108"/>
        </a:xfrm>
        <a:prstGeom xmlns:a="http://schemas.openxmlformats.org/drawingml/2006/main" prst="rect">
          <a:avLst/>
        </a:prstGeom>
        <a:solidFill xmlns:a="http://schemas.openxmlformats.org/drawingml/2006/main">
          <a:srgbClr val="CC99FF"/>
        </a:solidFill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IN" dirty="0"/>
            <a:t>Shampoo M/S</a:t>
          </a: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5.78801E-7</cdr:x>
      <cdr:y>0</cdr:y>
    </cdr:from>
    <cdr:to>
      <cdr:x>0.39837</cdr:x>
      <cdr:y>0.10323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6D948830-5875-429E-B2E8-06A2446FF79B}"/>
            </a:ext>
          </a:extLst>
        </cdr:cNvPr>
        <cdr:cNvSpPr/>
      </cdr:nvSpPr>
      <cdr:spPr>
        <a:xfrm xmlns:a="http://schemas.openxmlformats.org/drawingml/2006/main">
          <a:off x="2" y="0"/>
          <a:ext cx="1376542" cy="219456"/>
        </a:xfrm>
        <a:prstGeom xmlns:a="http://schemas.openxmlformats.org/drawingml/2006/main" prst="rect">
          <a:avLst/>
        </a:prstGeom>
        <a:solidFill xmlns:a="http://schemas.openxmlformats.org/drawingml/2006/main">
          <a:srgbClr val="FFC000"/>
        </a:solidFill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15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lvl1pPr marL="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en-IN" dirty="0">
              <a:solidFill>
                <a:schemeClr val="bg1"/>
              </a:solidFill>
            </a:rPr>
            <a:t>Suncare M/S</a:t>
          </a:r>
        </a:p>
      </cdr:txBody>
    </cdr:sp>
  </cdr:relSizeAnchor>
</c:userShape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8786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p14="http://schemas.microsoft.com/office/powerpoint/2010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val="93808998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5" Type="http://schemas.openxmlformats.org/officeDocument/2006/relationships/chart" Target="../charts/char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4.xml"/><Relationship Id="rId4" Type="http://schemas.openxmlformats.org/officeDocument/2006/relationships/chart" Target="../charts/chart5.xml"/><Relationship Id="rId5" Type="http://schemas.openxmlformats.org/officeDocument/2006/relationships/chart" Target="../charts/chart6.xml"/><Relationship Id="rId6" Type="http://schemas.openxmlformats.org/officeDocument/2006/relationships/chart" Target="../charts/chart7.xml"/><Relationship Id="rId7" Type="http://schemas.openxmlformats.org/officeDocument/2006/relationships/chart" Target="../charts/chart8.xml"/><Relationship Id="rId8" Type="http://schemas.openxmlformats.org/officeDocument/2006/relationships/chart" Target="../charts/chart9.xml"/><Relationship Id="rId9" Type="http://schemas.openxmlformats.org/officeDocument/2006/relationships/image" Target="../media/image1.png"/><Relationship Id="rId10" Type="http://schemas.openxmlformats.org/officeDocument/2006/relationships/image" Target="../media/image2.png"/><Relationship Id="rId11" Type="http://schemas.openxmlformats.org/officeDocument/2006/relationships/image" Target="../media/image3.jpeg"/><Relationship Id="rId12" Type="http://schemas.openxmlformats.org/officeDocument/2006/relationships/image" Target="../media/image4.jpg"/><Relationship Id="rId13" Type="http://schemas.openxmlformats.org/officeDocument/2006/relationships/image" Target="../media/image5.png"/><Relationship Id="rId1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0.xml"/><Relationship Id="rId3" Type="http://schemas.openxmlformats.org/officeDocument/2006/relationships/chart" Target="../charts/chart1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2.xml"/><Relationship Id="rId3" Type="http://schemas.openxmlformats.org/officeDocument/2006/relationships/chart" Target="../charts/chart13.xml"/><Relationship Id="rId4" Type="http://schemas.openxmlformats.org/officeDocument/2006/relationships/chart" Target="../charts/chart1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5.xml"/><Relationship Id="rId3" Type="http://schemas.openxmlformats.org/officeDocument/2006/relationships/chart" Target="../charts/chart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7.xml"/><Relationship Id="rId3" Type="http://schemas.openxmlformats.org/officeDocument/2006/relationships/chart" Target="../charts/chart18.xml"/><Relationship Id="rId4" Type="http://schemas.openxmlformats.org/officeDocument/2006/relationships/chart" Target="../charts/chart19.xml"/><Relationship Id="rId5" Type="http://schemas.openxmlformats.org/officeDocument/2006/relationships/chart" Target="../charts/chart20.xml"/><Relationship Id="rId6" Type="http://schemas.openxmlformats.org/officeDocument/2006/relationships/chart" Target="../charts/chart21.xml"/><Relationship Id="rId7" Type="http://schemas.openxmlformats.org/officeDocument/2006/relationships/chart" Target="../charts/chart22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3.xml"/><Relationship Id="rId3" Type="http://schemas.openxmlformats.org/officeDocument/2006/relationships/chart" Target="../charts/chart24.xml"/><Relationship Id="rId4" Type="http://schemas.openxmlformats.org/officeDocument/2006/relationships/chart" Target="../charts/chart25.xml"/><Relationship Id="rId5" Type="http://schemas.openxmlformats.org/officeDocument/2006/relationships/chart" Target="../charts/chart26.xml"/><Relationship Id="rId6" Type="http://schemas.openxmlformats.org/officeDocument/2006/relationships/chart" Target="../charts/chart27.xml"/><Relationship Id="rId7" Type="http://schemas.openxmlformats.org/officeDocument/2006/relationships/chart" Target="../charts/chart28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9.xml"/><Relationship Id="rId3" Type="http://schemas.openxmlformats.org/officeDocument/2006/relationships/chart" Target="../charts/chart30.xml"/><Relationship Id="rId4" Type="http://schemas.openxmlformats.org/officeDocument/2006/relationships/chart" Target="../charts/chart31.xml"/><Relationship Id="rId5" Type="http://schemas.openxmlformats.org/officeDocument/2006/relationships/chart" Target="../charts/chart32.xml"/><Relationship Id="rId6" Type="http://schemas.openxmlformats.org/officeDocument/2006/relationships/chart" Target="../charts/chart33.xml"/><Relationship Id="rId7" Type="http://schemas.openxmlformats.org/officeDocument/2006/relationships/chart" Target="../charts/chart34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5.xml"/><Relationship Id="rId3" Type="http://schemas.openxmlformats.org/officeDocument/2006/relationships/chart" Target="../charts/chart36.xml"/><Relationship Id="rId4" Type="http://schemas.openxmlformats.org/officeDocument/2006/relationships/chart" Target="../charts/chart37.xml"/><Relationship Id="rId5" Type="http://schemas.openxmlformats.org/officeDocument/2006/relationships/chart" Target="../charts/chart38.xml"/><Relationship Id="rId6" Type="http://schemas.openxmlformats.org/officeDocument/2006/relationships/chart" Target="../charts/chart39.xml"/><Relationship Id="rId7" Type="http://schemas.openxmlformats.org/officeDocument/2006/relationships/chart" Target="../charts/chart40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1.xml"/><Relationship Id="rId3" Type="http://schemas.openxmlformats.org/officeDocument/2006/relationships/chart" Target="../charts/chart42.xml"/><Relationship Id="rId4" Type="http://schemas.openxmlformats.org/officeDocument/2006/relationships/chart" Target="../charts/chart43.xml"/><Relationship Id="rId5" Type="http://schemas.openxmlformats.org/officeDocument/2006/relationships/chart" Target="../charts/chart44.xml"/><Relationship Id="rId6" Type="http://schemas.openxmlformats.org/officeDocument/2006/relationships/chart" Target="../charts/chart45.xml"/><Relationship Id="rId7" Type="http://schemas.openxmlformats.org/officeDocument/2006/relationships/chart" Target="../charts/chart46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7.xml"/><Relationship Id="rId3" Type="http://schemas.openxmlformats.org/officeDocument/2006/relationships/chart" Target="../charts/chart48.xml"/><Relationship Id="rId4" Type="http://schemas.openxmlformats.org/officeDocument/2006/relationships/chart" Target="../charts/chart49.xml"/><Relationship Id="rId5" Type="http://schemas.openxmlformats.org/officeDocument/2006/relationships/chart" Target="../charts/chart50.xml"/><Relationship Id="rId6" Type="http://schemas.openxmlformats.org/officeDocument/2006/relationships/chart" Target="../charts/chart51.xml"/><Relationship Id="rId7" Type="http://schemas.openxmlformats.org/officeDocument/2006/relationships/chart" Target="../charts/chart52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jpeg"/><Relationship Id="rId11" Type="http://schemas.openxmlformats.org/officeDocument/2006/relationships/image" Target="../media/image4.jpg"/><Relationship Id="rId12" Type="http://schemas.openxmlformats.org/officeDocument/2006/relationships/image" Target="../media/image5.png"/><Relationship Id="rId13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image" Target="../media/image11.jpg"/><Relationship Id="rId5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101" Type="http://schemas.openxmlformats.org/officeDocument/2006/relationships/image" Target="../media/execimg_wb_1.jpg"/><Relationship Id="rId102" Type="http://schemas.openxmlformats.org/officeDocument/2006/relationships/image" Target="../media/execimg_wb_2.jpg"/><Relationship Id="rId103" Type="http://schemas.openxmlformats.org/officeDocument/2006/relationships/image" Target="../media/execimg_wb_3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100" Type="http://schemas.openxmlformats.org/officeDocument/2006/relationships/image" Target="../media/execimg7.jpg"/><Relationship Id="rId101" Type="http://schemas.openxmlformats.org/officeDocument/2006/relationships/image" Target="../media/execimg8.jpg"/><Relationship Id="rId102" Type="http://schemas.openxmlformats.org/officeDocument/2006/relationships/image" Target="../media/execimg9.jpg"/><Relationship Id="rId103" Type="http://schemas.openxmlformats.org/officeDocument/2006/relationships/image" Target="../media/execimg10.jpg"/><Relationship Id="rId104" Type="http://schemas.openxmlformats.org/officeDocument/2006/relationships/image" Target="../media/execimg11.jpg"/><Relationship Id="rId105" Type="http://schemas.openxmlformats.org/officeDocument/2006/relationships/image" Target="../media/execimg12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100" Type="http://schemas.openxmlformats.org/officeDocument/2006/relationships/image" Target="../media/execimg13.jpg"/><Relationship Id="rId101" Type="http://schemas.openxmlformats.org/officeDocument/2006/relationships/image" Target="../media/execimg14.jpg"/><Relationship Id="rId102" Type="http://schemas.openxmlformats.org/officeDocument/2006/relationships/image" Target="../media/execimg15.jpg"/><Relationship Id="rId103" Type="http://schemas.openxmlformats.org/officeDocument/2006/relationships/image" Target="../media/execimg16.jpg"/><Relationship Id="rId104" Type="http://schemas.openxmlformats.org/officeDocument/2006/relationships/image" Target="../media/execimg17.jpg"/><Relationship Id="rId105" Type="http://schemas.openxmlformats.org/officeDocument/2006/relationships/image" Target="../media/execimg1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100" Type="http://schemas.openxmlformats.org/officeDocument/2006/relationships/image" Target="../media/execimg19.jpg"/><Relationship Id="rId101" Type="http://schemas.openxmlformats.org/officeDocument/2006/relationships/image" Target="../media/execimg20.jpg"/><Relationship Id="rId102" Type="http://schemas.openxmlformats.org/officeDocument/2006/relationships/image" Target="../media/execimg21.jpg"/><Relationship Id="rId103" Type="http://schemas.openxmlformats.org/officeDocument/2006/relationships/image" Target="../media/execimg22.jpg"/><Relationship Id="rId104" Type="http://schemas.openxmlformats.org/officeDocument/2006/relationships/image" Target="../media/execimg23.jpg"/><Relationship Id="rId105" Type="http://schemas.openxmlformats.org/officeDocument/2006/relationships/image" Target="../media/execimg24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100" Type="http://schemas.openxmlformats.org/officeDocument/2006/relationships/image" Target="../media/execimg25.jpg"/><Relationship Id="rId101" Type="http://schemas.openxmlformats.org/officeDocument/2006/relationships/image" Target="../media/execimg26.jpg"/><Relationship Id="rId102" Type="http://schemas.openxmlformats.org/officeDocument/2006/relationships/image" Target="../media/execimg27.jpg"/><Relationship Id="rId103" Type="http://schemas.openxmlformats.org/officeDocument/2006/relationships/image" Target="../media/execimg28.jpg"/><Relationship Id="rId104" Type="http://schemas.openxmlformats.org/officeDocument/2006/relationships/image" Target="../media/execimg29.jpg"/><Relationship Id="rId105" Type="http://schemas.openxmlformats.org/officeDocument/2006/relationships/image" Target="../media/execimg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100" Type="http://schemas.openxmlformats.org/officeDocument/2006/relationships/image" Target="../media/execimg31.jpg"/><Relationship Id="rId101" Type="http://schemas.openxmlformats.org/officeDocument/2006/relationships/image" Target="../media/execimg32.jpg"/><Relationship Id="rId102" Type="http://schemas.openxmlformats.org/officeDocument/2006/relationships/image" Target="../media/execimg33.jpg"/><Relationship Id="rId103" Type="http://schemas.openxmlformats.org/officeDocument/2006/relationships/image" Target="../media/execimg3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http://schemas.microsoft.com/office/powerpoint/2010/main" xmlns:ns3="http://schemas.openxmlformats.org/drawingml/2006/chart" xmlns:ns5="http://schemas.microsoft.com/office/drawing/2014/main" xmlns:p="http://schemas.openxmlformats.org/presentationml/2006/main" xmlns:r="http://schemas.openxmlformats.org/officeDocument/2006/relationships">
  <p:cSld name="Slide 1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7844" y="-14471"/>
            <a:ext cx="7580694" cy="454996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algn="ctr"/>
            <a:r>
              <a:rPr lang="en-US" sz="24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OFFTAKE PERFORMANCE REPORT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-17844" y="368972"/>
            <a:ext cx="7580694" cy="3565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F5A85"/>
                </a:solidFill>
                <a:latin typeface="+mj-lt"/>
              </a:rPr>
              <a:t>SUMMARY &amp; KEY INSIGHTS MAY’26</a:t>
            </a:r>
            <a:endParaRPr lang="en-US" sz="1600" b="1" dirty="0">
              <a:latin typeface="+mj-lt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34673" y="727947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30480" y="831732"/>
            <a:ext cx="1650113" cy="64820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7553" y="955993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+mj-lt"/>
              </a:rPr>
              <a:t>May'26 NSV</a:t>
            </a:r>
            <a:endParaRPr lang="en-US" sz="800" b="1" dirty="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462689" y="1072345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+mj-lt"/>
                <a:ea typeface="Calibri"/>
              </a:rPr>
              <a:t>₹ 40.19 Cr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+mj-lt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099465" y="831733"/>
            <a:ext cx="1645920" cy="648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190905" y="904885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+mj-lt"/>
              </a:rPr>
              <a:t>Apr'26 NSV</a:t>
            </a:r>
            <a:endParaRPr lang="en-US" sz="800" b="1" dirty="0">
              <a:latin typeface="+mj-lt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190905" y="1060333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+mj-lt"/>
                <a:ea typeface="Calibri"/>
              </a:rPr>
              <a:t>₹ 35.89 Cr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190905" y="1307221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2E8B57"/>
                </a:solidFill>
                <a:latin typeface="+mj-lt"/>
              </a:rPr>
              <a:t>MoM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</a:t>
            </a:r>
            <a:r>
              <a:rPr lang="en-IN" sz="900" b="1" dirty="0">
                <a:solidFill>
                  <a:srgbClr val="008A3D"/>
                </a:solidFill>
                <a:latin typeface="+mj-lt"/>
              </a:rPr>
              <a:t>12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%</a:t>
            </a:r>
            <a:endParaRPr lang="en-US" sz="900" b="1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855113" y="831733"/>
            <a:ext cx="1645920" cy="63107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928265" y="904885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+mj-lt"/>
              </a:rPr>
              <a:t>L3M Avg</a:t>
            </a:r>
            <a:endParaRPr lang="en-US" sz="800" b="1" dirty="0">
              <a:latin typeface="+mj-lt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28265" y="1060333"/>
            <a:ext cx="14996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u="none" strike="noStrike" dirty="0">
                <a:solidFill>
                  <a:srgbClr val="176C5D"/>
                </a:solidFill>
                <a:effectLst/>
                <a:uFillTx/>
                <a:latin typeface="+mj-lt"/>
                <a:ea typeface="Calibri"/>
              </a:rPr>
              <a:t>₹ 31.95 Cr</a:t>
            </a:r>
            <a:endParaRPr lang="en-US" b="1" dirty="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928265" y="1307221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2E8B57"/>
                </a:solidFill>
                <a:latin typeface="+mj-lt"/>
              </a:rPr>
              <a:t>GO L3M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</a:t>
            </a:r>
            <a:r>
              <a:rPr lang="en-IN" sz="900" b="1" dirty="0">
                <a:solidFill>
                  <a:srgbClr val="008A3D"/>
                </a:solidFill>
                <a:latin typeface="+mj-lt"/>
              </a:rPr>
              <a:t>26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%</a:t>
            </a:r>
            <a:endParaRPr lang="en-US" sz="900" b="1" dirty="0">
              <a:latin typeface="+mj-l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638193" y="848317"/>
            <a:ext cx="1645920" cy="63162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chemeClr val="accent6">
                <a:lumMod val="50000"/>
              </a:schemeClr>
            </a:solidFill>
            <a:prstDash val="solid"/>
          </a:ln>
        </p:spPr>
        <p:txBody>
          <a:bodyPr anchor="t"/>
          <a:lstStyle/>
          <a:p>
            <a:endParaRPr lang="en-IN" sz="2400" b="1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665625" y="904885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+mj-lt"/>
              </a:rPr>
              <a:t>YoY Growth</a:t>
            </a:r>
            <a:endParaRPr lang="en-US" sz="800" b="1" dirty="0">
              <a:latin typeface="+mj-lt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665625" y="1060333"/>
            <a:ext cx="145389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b="1" dirty="0">
                <a:solidFill>
                  <a:srgbClr val="1F5A85"/>
                </a:solidFill>
                <a:latin typeface="+mj-lt"/>
              </a:rPr>
              <a:t>63.0%</a:t>
            </a:r>
            <a:endParaRPr lang="en-US" b="1" dirty="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65625" y="1307221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</a:t>
            </a:r>
            <a:r>
              <a:rPr lang="en-US" sz="900" b="1" u="none" strike="noStrike" dirty="0">
                <a:solidFill>
                  <a:srgbClr val="176C5D"/>
                </a:solidFill>
                <a:effectLst/>
                <a:uFillTx/>
                <a:latin typeface="+mj-lt"/>
                <a:ea typeface="Calibri"/>
              </a:rPr>
              <a:t>₹ 15.54 Cr</a:t>
            </a:r>
            <a:endParaRPr lang="en-US" sz="900" b="1" dirty="0">
              <a:latin typeface="+mj-lt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20039" y="1576925"/>
            <a:ext cx="3886201" cy="307761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r>
              <a:rPr lang="en-US" sz="1200" b="1" dirty="0">
                <a:solidFill>
                  <a:srgbClr val="1F5A85"/>
                </a:solidFill>
                <a:latin typeface="+mj-lt"/>
              </a:rPr>
              <a:t>Monthly and Top-3 Chain NSV Sales Trend </a:t>
            </a:r>
          </a:p>
        </p:txBody>
      </p:sp>
      <p:sp>
        <p:nvSpPr>
          <p:cNvPr id="23" name="Shape 21"/>
          <p:cNvSpPr/>
          <p:nvPr/>
        </p:nvSpPr>
        <p:spPr>
          <a:xfrm>
            <a:off x="329564" y="1873484"/>
            <a:ext cx="6908829" cy="38826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graphicFrame>
        <p:nvGraphicFramePr>
          <p:cNvPr id="24" name="Chart 0"/>
          <p:cNvGraphicFramePr/>
          <p:nvPr>
            <p:extLst>
              <p:ext uri="{D42A27DB-BD31-4B8C-83A1-F6EECF244321}">
                <ns2:modId val="2065221601"/>
              </p:ext>
            </p:extLst>
          </p:nvPr>
        </p:nvGraphicFramePr>
        <p:xfrm>
          <a:off x="320040" y="1969505"/>
          <a:ext cx="3886200" cy="3442757"/>
        </p:xfrm>
        <a:graphic>
          <a:graphicData uri="http://schemas.openxmlformats.org/drawingml/2006/chart">
            <ns3:chart r:id="rId3"/>
          </a:graphicData>
        </a:graphic>
      </p:graphicFrame>
      <p:sp>
        <p:nvSpPr>
          <p:cNvPr id="28" name="Text 24"/>
          <p:cNvSpPr/>
          <p:nvPr/>
        </p:nvSpPr>
        <p:spPr>
          <a:xfrm>
            <a:off x="316865" y="5494159"/>
            <a:ext cx="6893433" cy="1336807"/>
          </a:xfrm>
          <a:prstGeom prst="rect">
            <a:avLst/>
          </a:prstGeom>
          <a:noFill/>
          <a:ln>
            <a:solidFill>
              <a:schemeClr val="accent6">
                <a:lumMod val="50000"/>
              </a:schemeClr>
            </a:solidFill>
          </a:ln>
        </p:spPr>
        <p:txBody>
          <a:bodyPr wrap="square" lIns="254" tIns="254" rIns="254" bIns="254" rtlCol="0" anchor="t">
            <a:normAutofit/>
          </a:bodyPr>
          <a:lstStyle/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May'26 Highest ever NSV offtake &amp; closed at Rs.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40.19 Cr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63% YoY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25.8%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vs L3M Avg, adding +1,554 Lacs YoY.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broad based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</a:t>
            </a:r>
            <a:r>
              <a:rPr lang="en-US" sz="1200" b="1" dirty="0" err="1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CAGR of 46.5%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this is not a low base artifact as 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May'25 itself grew +31.7% YoY</a:t>
            </a:r>
            <a:r>
              <a:rPr lang="en-US" sz="12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2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b="1" dirty="0" err="1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Dmart</a:t>
            </a: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Reliance and Apollo delivered 81.1% of May'26 offtake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up from 77% 6 months ago. </a:t>
            </a:r>
          </a:p>
          <a:p>
            <a:pPr marL="171450" indent="-17145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remain the growth engines &amp; </a:t>
            </a:r>
            <a:r>
              <a:rPr lang="en-US" sz="12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holds 70.6% portfolio share.</a:t>
            </a:r>
            <a:endParaRPr lang="en-US" sz="1200" dirty="0"/>
          </a:p>
        </p:txBody>
      </p:sp>
      <p:sp>
        <p:nvSpPr>
          <p:cNvPr id="34" name="Text 3"/>
          <p:cNvSpPr/>
          <p:nvPr/>
        </p:nvSpPr>
        <p:spPr>
          <a:xfrm>
            <a:off x="320037" y="6853636"/>
            <a:ext cx="6879816" cy="22429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5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j-lt"/>
              </a:rPr>
              <a:t>Chain-wise Monthly Performance Snapshot</a:t>
            </a:r>
            <a:endParaRPr lang="en-US" sz="1080" b="1" dirty="0"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lt"/>
            </a:endParaRPr>
          </a:p>
        </p:txBody>
      </p:sp>
      <p:sp>
        <p:nvSpPr>
          <p:cNvPr id="35" name="Shape 4"/>
          <p:cNvSpPr/>
          <p:nvPr/>
        </p:nvSpPr>
        <p:spPr>
          <a:xfrm>
            <a:off x="3785686" y="9278795"/>
            <a:ext cx="2232000" cy="0"/>
          </a:xfrm>
          <a:prstGeom prst="line">
            <a:avLst/>
          </a:prstGeom>
          <a:ln w="12700">
            <a:solidFill>
              <a:schemeClr val="bg1"/>
            </a:solidFill>
            <a:prstDash val="solid"/>
          </a:ln>
        </p:spPr>
        <p:txBody>
          <a:bodyPr wrap="square" anchor="t">
            <a:normAutofit fontScale="25000" lnSpcReduction="20000"/>
          </a:bodyPr>
          <a:lstStyle/>
          <a:p>
            <a:endParaRPr lang="en-IN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162" name="Chart 0"/>
          <p:cNvGraphicFramePr/>
          <p:nvPr>
            <p:extLst>
              <p:ext uri="{D42A27DB-BD31-4B8C-83A1-F6EECF244321}">
                <ns2:modId val="1419950149"/>
              </p:ext>
            </p:extLst>
          </p:nvPr>
        </p:nvGraphicFramePr>
        <p:xfrm>
          <a:off x="4343400" y="3888147"/>
          <a:ext cx="2820571" cy="1524115"/>
        </p:xfrm>
        <a:graphic>
          <a:graphicData uri="http://schemas.openxmlformats.org/drawingml/2006/chart">
            <ns3:chart r:id="rId4"/>
          </a:graphicData>
        </a:graphic>
      </p:graphicFrame>
      <p:sp>
        <p:nvSpPr>
          <p:cNvPr id="26" name="TextBox 25">
            <a:extLst>
              <a:ext uri="{FF2B5EF4-FFF2-40B4-BE49-F238E27FC236}">
                <ns5:creationId id="{6B156FE4-172B-BA3D-9CDC-FAB8090CC183}"/>
              </a:ext>
            </a:extLst>
          </p:cNvPr>
          <p:cNvSpPr txBox="1"/>
          <p:nvPr/>
        </p:nvSpPr>
        <p:spPr>
          <a:xfrm>
            <a:off x="4343400" y="1585620"/>
            <a:ext cx="2894993" cy="26280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t">
            <a:spAutoFit/>
          </a:bodyPr>
          <a:lstStyle/>
          <a:p>
            <a:r>
              <a:rPr lang="en-US" sz="1100" b="1" dirty="0">
                <a:solidFill>
                  <a:srgbClr val="1F5A85"/>
                </a:solidFill>
                <a:latin typeface="+mj-lt"/>
              </a:rPr>
              <a:t>May’26 Chain Sales Contribution % &amp; Sales</a:t>
            </a:r>
            <a:endParaRPr lang="en-IN" sz="1400" dirty="0">
              <a:latin typeface="+mj-lt"/>
            </a:endParaRPr>
          </a:p>
        </p:txBody>
      </p:sp>
      <p:graphicFrame>
        <p:nvGraphicFramePr>
          <p:cNvPr id="27" name="Chart 1">
            <a:extLst>
              <a:ext uri="{FF2B5EF4-FFF2-40B4-BE49-F238E27FC236}">
                <ns5:creationId id="{4D338C2C-F060-A690-F2A5-A0B1ADED798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ns2:modId val="197664542"/>
              </p:ext>
            </p:extLst>
          </p:nvPr>
        </p:nvGraphicFramePr>
        <p:xfrm>
          <a:off x="4343400" y="1955311"/>
          <a:ext cx="2820571" cy="1868955"/>
        </p:xfrm>
        <a:graphic>
          <a:graphicData uri="http://schemas.openxmlformats.org/drawingml/2006/chart">
            <ns3:chart r:id="rId5"/>
          </a:graphicData>
        </a:graphic>
      </p:graphicFrame>
      <p:sp>
        <p:nvSpPr>
          <p:cNvPr id="31" name="Text 5">
            <a:extLst>
              <a:ext uri="{FF2B5EF4-FFF2-40B4-BE49-F238E27FC236}">
                <ns5:creationId id="{6EEBAD4D-E994-6642-BFEF-9B00F3852BDA}"/>
              </a:ext>
            </a:extLst>
          </p:cNvPr>
          <p:cNvSpPr/>
          <p:nvPr/>
        </p:nvSpPr>
        <p:spPr>
          <a:xfrm>
            <a:off x="490121" y="1338679"/>
            <a:ext cx="14996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algn="ctr">
              <a:buNone/>
            </a:pPr>
            <a:r>
              <a:rPr lang="en-IN" sz="900" b="1" dirty="0">
                <a:solidFill>
                  <a:srgbClr val="176C5D"/>
                </a:solidFill>
                <a:latin typeface="+mj-lt"/>
              </a:rPr>
              <a:t>Highest-ever</a:t>
            </a:r>
            <a:r>
              <a:rPr lang="en-IN" sz="1100" b="1" dirty="0">
                <a:solidFill>
                  <a:srgbClr val="176C5D"/>
                </a:solidFill>
                <a:latin typeface="+mj-lt"/>
              </a:rPr>
              <a:t> NSV</a:t>
            </a:r>
            <a:endParaRPr lang="en-US" sz="1100" b="1" dirty="0">
              <a:solidFill>
                <a:srgbClr val="176C5D"/>
              </a:solidFill>
              <a:latin typeface="+mj-lt"/>
            </a:endParaRPr>
          </a:p>
        </p:txBody>
      </p:sp>
      <p:sp>
        <p:nvSpPr>
          <p:cNvPr id="157" name="Text 29">
            <a:extLst>
              <a:ext uri="{FF2B5EF4-FFF2-40B4-BE49-F238E27FC236}">
                <ns5:creationId id="{98442E13-B18C-754F-25D8-06BBAE4BA342}"/>
              </a:ext>
            </a:extLst>
          </p:cNvPr>
          <p:cNvSpPr/>
          <p:nvPr/>
        </p:nvSpPr>
        <p:spPr>
          <a:xfrm>
            <a:off x="11982318" y="8910803"/>
            <a:ext cx="411120" cy="109440"/>
          </a:xfrm>
          <a:prstGeom prst="rect">
            <a:avLst/>
          </a:prstGeom>
          <a:noFill/>
          <a:ln w="0">
            <a:noFill/>
          </a:ln>
          <a:effectLst/>
        </p:spPr>
        <p:txBody>
          <a:bodyPr lIns="0" tIns="0" rIns="0" bIns="0" anchor="t">
            <a:no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680" b="0" i="0" u="none" strike="noStrike" kern="0" cap="none" spc="0" normalizeH="0" baseline="0" noProof="0">
                <a:ln>
                  <a:noFill/>
                </a:ln>
                <a:solidFill>
                  <a:srgbClr val="8C8C86"/>
                </a:solidFill>
                <a:effectLst/>
                <a:uLnTx/>
                <a:uFillTx/>
                <a:latin typeface="Calibri"/>
                <a:ea typeface="Calibri"/>
                <a:cs typeface="+mn-cs"/>
              </a:rPr>
              <a:t>04</a:t>
            </a:r>
            <a:endParaRPr kumimoji="0" lang="en-US" sz="68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ns5:creationId id="{59E58AC1-33D2-CB7D-1A58-5B3335E7E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2:modId val="2065709966"/>
              </p:ext>
            </p:extLst>
          </p:nvPr>
        </p:nvGraphicFramePr>
        <p:xfrm>
          <a:off x="320040" y="7127525"/>
          <a:ext cx="6879813" cy="3453320"/>
        </p:xfrm>
        <a:graphic>
          <a:graphicData uri="http://schemas.openxmlformats.org/drawingml/2006/table">
            <a:tbl>
              <a:tblPr/>
              <a:tblGrid>
                <a:gridCol w="803482">
                  <a:extLst>
                    <a:ext uri="{9D8B030D-6E8A-4147-A177-3AD203B41FA5}">
                      <ns5:colId val="1838313960"/>
                    </a:ext>
                  </a:extLst>
                </a:gridCol>
                <a:gridCol w="602611">
                  <a:extLst>
                    <a:ext uri="{9D8B030D-6E8A-4147-A177-3AD203B41FA5}">
                      <ns5:colId val="250666695"/>
                    </a:ext>
                  </a:extLst>
                </a:gridCol>
                <a:gridCol w="535654">
                  <a:extLst>
                    <a:ext uri="{9D8B030D-6E8A-4147-A177-3AD203B41FA5}">
                      <ns5:colId val="3063166510"/>
                    </a:ext>
                  </a:extLst>
                </a:gridCol>
                <a:gridCol w="552394">
                  <a:extLst>
                    <a:ext uri="{9D8B030D-6E8A-4147-A177-3AD203B41FA5}">
                      <ns5:colId val="2768301204"/>
                    </a:ext>
                  </a:extLst>
                </a:gridCol>
                <a:gridCol w="585873">
                  <a:extLst>
                    <a:ext uri="{9D8B030D-6E8A-4147-A177-3AD203B41FA5}">
                      <ns5:colId val="3413074066"/>
                    </a:ext>
                  </a:extLst>
                </a:gridCol>
                <a:gridCol w="552394">
                  <a:extLst>
                    <a:ext uri="{9D8B030D-6E8A-4147-A177-3AD203B41FA5}">
                      <ns5:colId val="672052579"/>
                    </a:ext>
                  </a:extLst>
                </a:gridCol>
                <a:gridCol w="602611">
                  <a:extLst>
                    <a:ext uri="{9D8B030D-6E8A-4147-A177-3AD203B41FA5}">
                      <ns5:colId val="2277892322"/>
                    </a:ext>
                  </a:extLst>
                </a:gridCol>
                <a:gridCol w="636090">
                  <a:extLst>
                    <a:ext uri="{9D8B030D-6E8A-4147-A177-3AD203B41FA5}">
                      <ns5:colId val="1105121212"/>
                    </a:ext>
                  </a:extLst>
                </a:gridCol>
                <a:gridCol w="669568">
                  <a:extLst>
                    <a:ext uri="{9D8B030D-6E8A-4147-A177-3AD203B41FA5}">
                      <ns5:colId val="1902174447"/>
                    </a:ext>
                  </a:extLst>
                </a:gridCol>
                <a:gridCol w="719786">
                  <a:extLst>
                    <a:ext uri="{9D8B030D-6E8A-4147-A177-3AD203B41FA5}">
                      <ns5:colId val="1849337359"/>
                    </a:ext>
                  </a:extLst>
                </a:gridCol>
                <a:gridCol w="619350">
                  <a:extLst>
                    <a:ext uri="{9D8B030D-6E8A-4147-A177-3AD203B41FA5}">
                      <ns5:colId val="2525690762"/>
                    </a:ext>
                  </a:extLst>
                </a:gridCol>
              </a:tblGrid>
              <a:tr h="144662">
                <a:tc rowSpan="2"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Jan-26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Cont</a:t>
                      </a:r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L3M </a:t>
                      </a:r>
                      <a:b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Avg(FMA)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MOM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5:rowId val="1633868616"/>
                  </a:ext>
                </a:extLst>
              </a:tr>
              <a:tr h="212059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ns5:rowId val="874259251"/>
                  </a:ext>
                </a:extLst>
              </a:tr>
              <a:tr h="7666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967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1,258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1,518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69%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291664516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39%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415771512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593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547535608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Fsn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918465649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Wellness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19004833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41%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2115560831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176%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705815765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Metro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4169636295"/>
                  </a:ext>
                </a:extLst>
              </a:tr>
              <a:tr h="3803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Delhi RMT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20%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666748315"/>
                  </a:ext>
                </a:extLst>
              </a:tr>
              <a:tr h="25061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117%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24%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953244793"/>
                  </a:ext>
                </a:extLst>
              </a:tr>
              <a:tr h="25244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Walmart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37%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56%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4162912943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Spencer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63%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4216556967"/>
                  </a:ext>
                </a:extLst>
              </a:tr>
              <a:tr h="16770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Vmm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138%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 dirty="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13%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099715363"/>
                  </a:ext>
                </a:extLst>
              </a:tr>
              <a:tr h="2829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5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IN" sz="1200" b="1" kern="1200">
                          <a:solidFill>
                            <a:srgbClr val="1F7A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▲ 97%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064421406"/>
                  </a:ext>
                </a:extLst>
              </a:tr>
              <a:tr h="25061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 Channel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2488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3075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2795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3273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3589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4019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3195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▲ 62%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▲ 12%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5:rowId val="2572042144"/>
                  </a:ext>
                </a:extLst>
              </a:tr>
            </a:tbl>
          </a:graphicData>
        </a:graphic>
      </p:graphicFrame>
      <p:sp>
        <p:nvSpPr>
          <p:cNvPr id="212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powerpoint/2010/main" xmlns:ns3="http://schemas.openxmlformats.org/drawingml/2006/chart" xmlns:ns5="http://schemas.microsoft.com/office/drawing/2014/main" xmlns:ns6="http://schemas.microsoft.com/office/drawing/2010/main" xmlns:p="http://schemas.openxmlformats.org/presentationml/2006/main" xmlns:r="http://schemas.openxmlformats.org/officeDocument/2006/relationships">
  <p:cSld name="Slide 3"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329184"/>
            <a:ext cx="6903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D8E6F2"/>
                </a:solidFill>
                <a:latin typeface="+mj-lt"/>
              </a:rPr>
              <a:t>Portfolio growth drivers and contribution view</a:t>
            </a:r>
            <a:endParaRPr lang="en-US" sz="650" dirty="0">
              <a:latin typeface="+mj-lt"/>
            </a:endParaRPr>
          </a:p>
        </p:txBody>
      </p:sp>
      <p:sp>
        <p:nvSpPr>
          <p:cNvPr id="121" name="Shape 3"/>
          <p:cNvSpPr/>
          <p:nvPr/>
        </p:nvSpPr>
        <p:spPr>
          <a:xfrm>
            <a:off x="222330" y="3344609"/>
            <a:ext cx="7134838" cy="29139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22" name="Text 4"/>
          <p:cNvSpPr/>
          <p:nvPr/>
        </p:nvSpPr>
        <p:spPr>
          <a:xfrm>
            <a:off x="358354" y="3447979"/>
            <a:ext cx="671971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+mj-lt"/>
              </a:rPr>
              <a:t>Overall | Mamaearth — Top 3 Sub-category Monthly Trend (NSV)</a:t>
            </a:r>
            <a:endParaRPr lang="en-US" sz="1600" dirty="0">
              <a:latin typeface="+mj-lt"/>
            </a:endParaRPr>
          </a:p>
        </p:txBody>
      </p:sp>
      <p:sp>
        <p:nvSpPr>
          <p:cNvPr id="123" name="Text 5"/>
          <p:cNvSpPr/>
          <p:nvPr/>
        </p:nvSpPr>
        <p:spPr>
          <a:xfrm>
            <a:off x="400382" y="3686799"/>
            <a:ext cx="584737" cy="2598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900" b="1" dirty="0">
              <a:latin typeface="+mj-lt"/>
            </a:endParaRPr>
          </a:p>
        </p:txBody>
      </p:sp>
      <p:sp>
        <p:nvSpPr>
          <p:cNvPr id="124" name="Text 6"/>
          <p:cNvSpPr/>
          <p:nvPr/>
        </p:nvSpPr>
        <p:spPr>
          <a:xfrm>
            <a:off x="809945" y="3750191"/>
            <a:ext cx="584737" cy="21725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8B57"/>
                </a:solidFill>
                <a:latin typeface="+mj-lt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▲29%</a:t>
            </a:r>
            <a:endParaRPr lang="en-US" sz="900" b="1" dirty="0">
              <a:latin typeface="+mj-lt"/>
            </a:endParaRPr>
          </a:p>
        </p:txBody>
      </p:sp>
      <p:sp>
        <p:nvSpPr>
          <p:cNvPr id="125" name="Text 7"/>
          <p:cNvSpPr/>
          <p:nvPr/>
        </p:nvSpPr>
        <p:spPr>
          <a:xfrm>
            <a:off x="1293022" y="3753955"/>
            <a:ext cx="429221" cy="20361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11%</a:t>
            </a:r>
            <a:endParaRPr lang="en-US" sz="900" b="1" dirty="0">
              <a:latin typeface="+mj-lt"/>
            </a:endParaRPr>
          </a:p>
        </p:txBody>
      </p:sp>
      <p:sp>
        <p:nvSpPr>
          <p:cNvPr id="126" name="Text 8"/>
          <p:cNvSpPr/>
          <p:nvPr/>
        </p:nvSpPr>
        <p:spPr>
          <a:xfrm>
            <a:off x="1785393" y="3776240"/>
            <a:ext cx="466503" cy="18278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May’26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 1,112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27" name="Chart 0"/>
          <p:cNvGraphicFramePr/>
          <p:nvPr>
            <p:extLst>
              <p:ext uri="{D42A27DB-BD31-4B8C-83A1-F6EECF244321}">
                <ns2:modId val="3114608031"/>
              </p:ext>
            </p:extLst>
          </p:nvPr>
        </p:nvGraphicFramePr>
        <p:xfrm>
          <a:off x="183161" y="3696069"/>
          <a:ext cx="2323982" cy="1365131"/>
        </p:xfrm>
        <a:graphic>
          <a:graphicData uri="http://schemas.openxmlformats.org/drawingml/2006/chart">
            <ns3:chart r:id="rId3"/>
          </a:graphicData>
        </a:graphic>
      </p:graphicFrame>
      <p:sp>
        <p:nvSpPr>
          <p:cNvPr id="128" name="Text 9"/>
          <p:cNvSpPr/>
          <p:nvPr/>
        </p:nvSpPr>
        <p:spPr>
          <a:xfrm>
            <a:off x="2747132" y="3749587"/>
            <a:ext cx="781916" cy="19761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Shampoo</a:t>
            </a:r>
            <a:endParaRPr lang="en-US" sz="900" b="1" dirty="0">
              <a:latin typeface="+mj-lt"/>
            </a:endParaRPr>
          </a:p>
        </p:txBody>
      </p:sp>
      <p:sp>
        <p:nvSpPr>
          <p:cNvPr id="129" name="Text 10"/>
          <p:cNvSpPr/>
          <p:nvPr/>
        </p:nvSpPr>
        <p:spPr>
          <a:xfrm>
            <a:off x="3371454" y="3757079"/>
            <a:ext cx="631660" cy="19214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 b="1" dirty="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53%</a:t>
            </a:r>
            <a:endParaRPr lang="en-US" sz="900" b="1" dirty="0">
              <a:latin typeface="+mj-lt"/>
            </a:endParaRPr>
          </a:p>
        </p:txBody>
      </p:sp>
      <p:sp>
        <p:nvSpPr>
          <p:cNvPr id="130" name="Text 11"/>
          <p:cNvSpPr/>
          <p:nvPr/>
        </p:nvSpPr>
        <p:spPr>
          <a:xfrm>
            <a:off x="3888392" y="3753955"/>
            <a:ext cx="429635" cy="23040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10%</a:t>
            </a:r>
            <a:endParaRPr lang="en-US" sz="900" b="1" dirty="0">
              <a:latin typeface="+mj-lt"/>
            </a:endParaRPr>
          </a:p>
        </p:txBody>
      </p:sp>
      <p:sp>
        <p:nvSpPr>
          <p:cNvPr id="131" name="Text 12"/>
          <p:cNvSpPr/>
          <p:nvPr/>
        </p:nvSpPr>
        <p:spPr>
          <a:xfrm>
            <a:off x="4388959" y="3795305"/>
            <a:ext cx="510528" cy="14465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May'26 787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32" name="Chart 1"/>
          <p:cNvGraphicFramePr/>
          <p:nvPr>
            <p:extLst>
              <p:ext uri="{D42A27DB-BD31-4B8C-83A1-F6EECF244321}">
                <ns2:modId val="1111727322"/>
              </p:ext>
            </p:extLst>
          </p:nvPr>
        </p:nvGraphicFramePr>
        <p:xfrm>
          <a:off x="2633515" y="3696069"/>
          <a:ext cx="2323982" cy="1374952"/>
        </p:xfrm>
        <a:graphic>
          <a:graphicData uri="http://schemas.openxmlformats.org/drawingml/2006/chart">
            <ns3:chart r:id="rId4"/>
          </a:graphicData>
        </a:graphic>
      </p:graphicFrame>
      <p:sp>
        <p:nvSpPr>
          <p:cNvPr id="133" name="Text 13"/>
          <p:cNvSpPr/>
          <p:nvPr/>
        </p:nvSpPr>
        <p:spPr>
          <a:xfrm>
            <a:off x="5244528" y="3722786"/>
            <a:ext cx="727073" cy="23798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b="1" dirty="0">
              <a:latin typeface="+mj-lt"/>
            </a:endParaRPr>
          </a:p>
        </p:txBody>
      </p:sp>
      <p:sp>
        <p:nvSpPr>
          <p:cNvPr id="134" name="Text 14"/>
          <p:cNvSpPr/>
          <p:nvPr/>
        </p:nvSpPr>
        <p:spPr>
          <a:xfrm>
            <a:off x="5784569" y="3765646"/>
            <a:ext cx="727073" cy="21150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8B57"/>
                </a:solidFill>
                <a:latin typeface="+mj-lt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67%</a:t>
            </a:r>
            <a:endParaRPr lang="en-US" sz="900" b="1" dirty="0">
              <a:latin typeface="+mj-lt"/>
            </a:endParaRPr>
          </a:p>
        </p:txBody>
      </p:sp>
      <p:sp>
        <p:nvSpPr>
          <p:cNvPr id="135" name="Text 15"/>
          <p:cNvSpPr/>
          <p:nvPr/>
        </p:nvSpPr>
        <p:spPr>
          <a:xfrm>
            <a:off x="6279805" y="3784034"/>
            <a:ext cx="727073" cy="21150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D03A3A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C00000"/>
                </a:solidFill>
                <a:latin typeface="+mj-lt"/>
              </a:rPr>
              <a:t>▼ 3%</a:t>
            </a:r>
            <a:endParaRPr lang="en-US" sz="900" b="1" dirty="0">
              <a:latin typeface="+mj-lt"/>
            </a:endParaRPr>
          </a:p>
        </p:txBody>
      </p:sp>
      <p:sp>
        <p:nvSpPr>
          <p:cNvPr id="136" name="Text 16"/>
          <p:cNvSpPr/>
          <p:nvPr/>
        </p:nvSpPr>
        <p:spPr>
          <a:xfrm>
            <a:off x="6777100" y="3784034"/>
            <a:ext cx="432864" cy="23798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May’26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352</a:t>
            </a:r>
            <a:endParaRPr lang="en-US" sz="900" b="1" dirty="0">
              <a:latin typeface="+mj-lt"/>
            </a:endParaRPr>
          </a:p>
        </p:txBody>
      </p:sp>
      <p:graphicFrame>
        <p:nvGraphicFramePr>
          <p:cNvPr id="137" name="Chart 2"/>
          <p:cNvGraphicFramePr/>
          <p:nvPr>
            <p:extLst>
              <p:ext uri="{D42A27DB-BD31-4B8C-83A1-F6EECF244321}">
                <ns2:modId val="1722708341"/>
              </p:ext>
            </p:extLst>
          </p:nvPr>
        </p:nvGraphicFramePr>
        <p:xfrm>
          <a:off x="5088719" y="3700880"/>
          <a:ext cx="2268449" cy="1385777"/>
        </p:xfrm>
        <a:graphic>
          <a:graphicData uri="http://schemas.openxmlformats.org/drawingml/2006/chart">
            <ns3:chart r:id="rId5"/>
          </a:graphicData>
        </a:graphic>
      </p:graphicFrame>
      <p:sp>
        <p:nvSpPr>
          <p:cNvPr id="138" name="Shape 17"/>
          <p:cNvSpPr/>
          <p:nvPr/>
        </p:nvSpPr>
        <p:spPr>
          <a:xfrm>
            <a:off x="201322" y="5760752"/>
            <a:ext cx="7117927" cy="317201"/>
          </a:xfrm>
          <a:prstGeom prst="rect">
            <a:avLst/>
          </a:prstGeom>
          <a:solidFill>
            <a:srgbClr val="2D9B7F"/>
          </a:solidFill>
          <a:ln w="12700">
            <a:solidFill>
              <a:schemeClr val="tx1"/>
            </a:solidFill>
            <a:prstDash val="solid"/>
          </a:ln>
        </p:spPr>
        <p:txBody>
          <a:bodyPr anchor="t"/>
          <a:lstStyle/>
          <a:p>
            <a:r>
              <a:rPr lang="en-US" sz="1600" b="1" dirty="0">
                <a:solidFill>
                  <a:srgbClr val="FFFFFF"/>
                </a:solidFill>
                <a:latin typeface="+mj-lt"/>
              </a:rPr>
              <a:t>Overall | The Derma Co. — Top 3 Sub-category Monthly Trend (NSV)</a:t>
            </a:r>
            <a:endParaRPr lang="en-IN" sz="1600" dirty="0">
              <a:latin typeface="+mj-lt"/>
            </a:endParaRPr>
          </a:p>
        </p:txBody>
      </p:sp>
      <p:graphicFrame>
        <p:nvGraphicFramePr>
          <p:cNvPr id="144" name="Chart 3"/>
          <p:cNvGraphicFramePr/>
          <p:nvPr>
            <p:extLst>
              <p:ext uri="{D42A27DB-BD31-4B8C-83A1-F6EECF244321}">
                <ns2:modId val="2955252500"/>
              </p:ext>
            </p:extLst>
          </p:nvPr>
        </p:nvGraphicFramePr>
        <p:xfrm>
          <a:off x="215343" y="6089741"/>
          <a:ext cx="2323808" cy="1368495"/>
        </p:xfrm>
        <a:graphic>
          <a:graphicData uri="http://schemas.openxmlformats.org/drawingml/2006/chart">
            <ns3:chart r:id="rId6"/>
          </a:graphicData>
        </a:graphic>
      </p:graphicFrame>
      <p:graphicFrame>
        <p:nvGraphicFramePr>
          <p:cNvPr id="149" name="Chart 4"/>
          <p:cNvGraphicFramePr/>
          <p:nvPr>
            <p:extLst>
              <p:ext uri="{D42A27DB-BD31-4B8C-83A1-F6EECF244321}">
                <ns2:modId val="3611960813"/>
              </p:ext>
            </p:extLst>
          </p:nvPr>
        </p:nvGraphicFramePr>
        <p:xfrm>
          <a:off x="2658102" y="6107760"/>
          <a:ext cx="2354473" cy="1368495"/>
        </p:xfrm>
        <a:graphic>
          <a:graphicData uri="http://schemas.openxmlformats.org/drawingml/2006/chart">
            <ns3:chart r:id="rId7"/>
          </a:graphicData>
        </a:graphic>
      </p:graphicFrame>
      <p:graphicFrame>
        <p:nvGraphicFramePr>
          <p:cNvPr id="154" name="Chart 5"/>
          <p:cNvGraphicFramePr/>
          <p:nvPr>
            <p:extLst>
              <p:ext uri="{D42A27DB-BD31-4B8C-83A1-F6EECF244321}">
                <ns2:modId val="1363117542"/>
              </p:ext>
            </p:extLst>
          </p:nvPr>
        </p:nvGraphicFramePr>
        <p:xfrm>
          <a:off x="5110835" y="6112627"/>
          <a:ext cx="2218791" cy="1368496"/>
        </p:xfrm>
        <a:graphic>
          <a:graphicData uri="http://schemas.openxmlformats.org/drawingml/2006/chart">
            <ns3:chart r:id="rId8"/>
          </a:graphicData>
        </a:graphic>
      </p:graphicFrame>
      <p:sp>
        <p:nvSpPr>
          <p:cNvPr id="181" name="Text 5">
            <a:extLst>
              <a:ext uri="{FF2B5EF4-FFF2-40B4-BE49-F238E27FC236}">
                <ns5:creationId id="{573815EF-2900-A007-314E-40A00F1BF0E4}"/>
              </a:ext>
            </a:extLst>
          </p:cNvPr>
          <p:cNvSpPr/>
          <p:nvPr/>
        </p:nvSpPr>
        <p:spPr>
          <a:xfrm>
            <a:off x="365448" y="6156080"/>
            <a:ext cx="638856" cy="25237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1600" b="1" dirty="0">
              <a:latin typeface="+mj-lt"/>
            </a:endParaRPr>
          </a:p>
        </p:txBody>
      </p:sp>
      <p:sp>
        <p:nvSpPr>
          <p:cNvPr id="182" name="Text 6">
            <a:extLst>
              <a:ext uri="{FF2B5EF4-FFF2-40B4-BE49-F238E27FC236}">
                <ns5:creationId id="{B8CC834D-A1C0-16B8-D31E-8DF1A466C48C}"/>
              </a:ext>
            </a:extLst>
          </p:cNvPr>
          <p:cNvSpPr/>
          <p:nvPr/>
        </p:nvSpPr>
        <p:spPr>
          <a:xfrm>
            <a:off x="819976" y="6177683"/>
            <a:ext cx="638856" cy="211021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 b="1" dirty="0">
                <a:solidFill>
                  <a:srgbClr val="2E8B57"/>
                </a:solidFill>
                <a:latin typeface="+mj-lt"/>
              </a:rPr>
              <a:t>GOLY </a:t>
            </a:r>
            <a:r>
              <a:rPr sz="800" b="1" dirty="0">
                <a:solidFill>
                  <a:srgbClr val="008A3D"/>
                </a:solidFill>
                <a:latin typeface="+mj-lt"/>
              </a:rPr>
              <a:t>▲ 1166%</a:t>
            </a:r>
            <a:endParaRPr lang="en-US" sz="800" b="1" dirty="0">
              <a:latin typeface="+mj-lt"/>
            </a:endParaRPr>
          </a:p>
        </p:txBody>
      </p:sp>
      <p:sp>
        <p:nvSpPr>
          <p:cNvPr id="183" name="Text 7">
            <a:extLst>
              <a:ext uri="{FF2B5EF4-FFF2-40B4-BE49-F238E27FC236}">
                <ns5:creationId id="{4ED6EDAE-5A2F-8C7E-D267-522D20C6C37E}"/>
              </a:ext>
            </a:extLst>
          </p:cNvPr>
          <p:cNvSpPr/>
          <p:nvPr/>
        </p:nvSpPr>
        <p:spPr>
          <a:xfrm>
            <a:off x="1367927" y="6197772"/>
            <a:ext cx="468946" cy="19777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 b="1">
                <a:solidFill>
                  <a:srgbClr val="2E8B57"/>
                </a:solidFill>
                <a:latin typeface="+mj-lt"/>
              </a:rPr>
              <a:t>MoM </a:t>
            </a:r>
            <a:r>
              <a:rPr sz="800" b="1">
                <a:solidFill>
                  <a:srgbClr val="008A3D"/>
                </a:solidFill>
                <a:latin typeface="+mj-lt"/>
              </a:rPr>
              <a:t>▲ 38%</a:t>
            </a:r>
            <a:endParaRPr lang="en-US" sz="800" b="1" dirty="0">
              <a:latin typeface="+mj-lt"/>
            </a:endParaRPr>
          </a:p>
        </p:txBody>
      </p:sp>
      <p:sp>
        <p:nvSpPr>
          <p:cNvPr id="184" name="Text 8">
            <a:extLst>
              <a:ext uri="{FF2B5EF4-FFF2-40B4-BE49-F238E27FC236}">
                <ns5:creationId id="{4AB69E0C-B860-0D9B-376A-2BA4BC27D1D7}"/>
              </a:ext>
            </a:extLst>
          </p:cNvPr>
          <p:cNvSpPr/>
          <p:nvPr/>
        </p:nvSpPr>
        <p:spPr>
          <a:xfrm>
            <a:off x="1817980" y="6211580"/>
            <a:ext cx="509679" cy="17754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+mj-lt"/>
              </a:rPr>
              <a:t>May’26 </a:t>
            </a:r>
          </a:p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+mj-lt"/>
              </a:rPr>
              <a:t>557</a:t>
            </a:r>
            <a:endParaRPr lang="en-US" sz="800" b="1" dirty="0">
              <a:latin typeface="+mj-lt"/>
            </a:endParaRPr>
          </a:p>
        </p:txBody>
      </p:sp>
      <p:sp>
        <p:nvSpPr>
          <p:cNvPr id="185" name="Text 9">
            <a:extLst>
              <a:ext uri="{FF2B5EF4-FFF2-40B4-BE49-F238E27FC236}">
                <ns5:creationId id="{FB1861BD-DCBA-32CD-D772-9766D0D5207A}"/>
              </a:ext>
            </a:extLst>
          </p:cNvPr>
          <p:cNvSpPr/>
          <p:nvPr/>
        </p:nvSpPr>
        <p:spPr>
          <a:xfrm>
            <a:off x="2796089" y="6181883"/>
            <a:ext cx="830026" cy="19194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b="1" dirty="0">
              <a:latin typeface="+mj-lt"/>
            </a:endParaRPr>
          </a:p>
        </p:txBody>
      </p:sp>
      <p:sp>
        <p:nvSpPr>
          <p:cNvPr id="186" name="Text 10">
            <a:extLst>
              <a:ext uri="{FF2B5EF4-FFF2-40B4-BE49-F238E27FC236}">
                <ns5:creationId id="{EFA6FB32-B81D-E958-A3CE-42F7D6F0F2BC}"/>
              </a:ext>
            </a:extLst>
          </p:cNvPr>
          <p:cNvSpPr/>
          <p:nvPr/>
        </p:nvSpPr>
        <p:spPr>
          <a:xfrm>
            <a:off x="3408259" y="6189375"/>
            <a:ext cx="670525" cy="18662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2E8B57"/>
                </a:solidFill>
                <a:latin typeface="+mj-lt"/>
              </a:rPr>
              <a:t>GOLY </a:t>
            </a:r>
          </a:p>
          <a:p>
            <a:pPr marL="0" indent="0">
              <a:buNone/>
            </a:pPr>
            <a:r>
              <a:rPr sz="800" b="1" dirty="0">
                <a:solidFill>
                  <a:srgbClr val="008A3D"/>
                </a:solidFill>
                <a:latin typeface="+mj-lt"/>
              </a:rPr>
              <a:t>▲ 356%</a:t>
            </a:r>
            <a:endParaRPr lang="en-US" sz="800" b="1" dirty="0">
              <a:latin typeface="+mj-lt"/>
            </a:endParaRPr>
          </a:p>
        </p:txBody>
      </p:sp>
      <p:sp>
        <p:nvSpPr>
          <p:cNvPr id="187" name="Text 11">
            <a:extLst>
              <a:ext uri="{FF2B5EF4-FFF2-40B4-BE49-F238E27FC236}">
                <ns5:creationId id="{4054B2C8-E4BE-C04C-0846-B32392962EC0}"/>
              </a:ext>
            </a:extLst>
          </p:cNvPr>
          <p:cNvSpPr/>
          <p:nvPr/>
        </p:nvSpPr>
        <p:spPr>
          <a:xfrm>
            <a:off x="3920162" y="6186251"/>
            <a:ext cx="456069" cy="22379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800" b="1">
                <a:solidFill>
                  <a:srgbClr val="2E8B57"/>
                </a:solidFill>
                <a:latin typeface="+mj-lt"/>
              </a:rPr>
              <a:t>MoM </a:t>
            </a:r>
            <a:r>
              <a:rPr sz="800" b="1">
                <a:solidFill>
                  <a:srgbClr val="008A3D"/>
                </a:solidFill>
                <a:latin typeface="+mj-lt"/>
              </a:rPr>
              <a:t>▲ 28%</a:t>
            </a:r>
            <a:endParaRPr lang="en-US" sz="800" b="1" dirty="0">
              <a:latin typeface="+mj-lt"/>
            </a:endParaRPr>
          </a:p>
        </p:txBody>
      </p:sp>
      <p:sp>
        <p:nvSpPr>
          <p:cNvPr id="188" name="Text 12">
            <a:extLst>
              <a:ext uri="{FF2B5EF4-FFF2-40B4-BE49-F238E27FC236}">
                <ns5:creationId id="{A5A2E916-65F9-0EC6-6A78-245299CE0665}"/>
              </a:ext>
            </a:extLst>
          </p:cNvPr>
          <p:cNvSpPr/>
          <p:nvPr/>
        </p:nvSpPr>
        <p:spPr>
          <a:xfrm>
            <a:off x="4321194" y="6227602"/>
            <a:ext cx="541940" cy="1405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+mj-lt"/>
              </a:rPr>
              <a:t>May’26 </a:t>
            </a:r>
          </a:p>
          <a:p>
            <a:pPr marL="0" indent="0">
              <a:buNone/>
            </a:pPr>
            <a:r>
              <a:rPr lang="en-US" sz="800" b="1" dirty="0">
                <a:solidFill>
                  <a:srgbClr val="1E293B"/>
                </a:solidFill>
                <a:latin typeface="+mj-lt"/>
              </a:rPr>
              <a:t>429</a:t>
            </a:r>
            <a:endParaRPr lang="en-US" sz="800" b="1" dirty="0">
              <a:latin typeface="+mj-lt"/>
            </a:endParaRPr>
          </a:p>
        </p:txBody>
      </p:sp>
      <p:sp>
        <p:nvSpPr>
          <p:cNvPr id="189" name="Text 13">
            <a:extLst>
              <a:ext uri="{FF2B5EF4-FFF2-40B4-BE49-F238E27FC236}">
                <ns5:creationId id="{23EF3F87-F6D1-78AB-3C0F-B06F73797DE8}"/>
              </a:ext>
            </a:extLst>
          </p:cNvPr>
          <p:cNvSpPr/>
          <p:nvPr/>
        </p:nvSpPr>
        <p:spPr>
          <a:xfrm>
            <a:off x="5236583" y="6190198"/>
            <a:ext cx="794364" cy="23116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11827"/>
                </a:solidFill>
                <a:latin typeface="+mj-lt"/>
              </a:rPr>
              <a:t>Face Serum</a:t>
            </a:r>
            <a:endParaRPr lang="en-US" sz="1050" b="1" dirty="0">
              <a:latin typeface="+mj-lt"/>
            </a:endParaRPr>
          </a:p>
        </p:txBody>
      </p:sp>
      <p:sp>
        <p:nvSpPr>
          <p:cNvPr id="190" name="Text 14">
            <a:extLst>
              <a:ext uri="{FF2B5EF4-FFF2-40B4-BE49-F238E27FC236}">
                <ns5:creationId id="{CAEB6D30-513C-DF28-759F-EF186C248833}"/>
              </a:ext>
            </a:extLst>
          </p:cNvPr>
          <p:cNvSpPr/>
          <p:nvPr/>
        </p:nvSpPr>
        <p:spPr>
          <a:xfrm>
            <a:off x="5850012" y="6189106"/>
            <a:ext cx="794364" cy="20543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2E8B57"/>
                </a:solidFill>
                <a:latin typeface="+mj-lt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46%</a:t>
            </a:r>
            <a:endParaRPr lang="en-US" sz="900" b="1" dirty="0">
              <a:latin typeface="+mj-lt"/>
            </a:endParaRPr>
          </a:p>
        </p:txBody>
      </p:sp>
      <p:sp>
        <p:nvSpPr>
          <p:cNvPr id="191" name="Text 15">
            <a:extLst>
              <a:ext uri="{FF2B5EF4-FFF2-40B4-BE49-F238E27FC236}">
                <ns5:creationId id="{38043CDA-B4CC-0A63-1373-A029921B3813}"/>
              </a:ext>
            </a:extLst>
          </p:cNvPr>
          <p:cNvSpPr/>
          <p:nvPr/>
        </p:nvSpPr>
        <p:spPr>
          <a:xfrm>
            <a:off x="6345248" y="6207494"/>
            <a:ext cx="794364" cy="20543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D03A3A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C00000"/>
                </a:solidFill>
                <a:latin typeface="+mj-lt"/>
              </a:rPr>
              <a:t>▼ 4%</a:t>
            </a:r>
            <a:endParaRPr lang="en-US" sz="900" b="1" dirty="0">
              <a:latin typeface="+mj-lt"/>
            </a:endParaRPr>
          </a:p>
        </p:txBody>
      </p:sp>
      <p:sp>
        <p:nvSpPr>
          <p:cNvPr id="192" name="Text 16">
            <a:extLst>
              <a:ext uri="{FF2B5EF4-FFF2-40B4-BE49-F238E27FC236}">
                <ns5:creationId id="{BB8D08DB-94EE-12CE-170F-071FD9431C0A}"/>
              </a:ext>
            </a:extLst>
          </p:cNvPr>
          <p:cNvSpPr/>
          <p:nvPr/>
        </p:nvSpPr>
        <p:spPr>
          <a:xfrm>
            <a:off x="6742635" y="6211864"/>
            <a:ext cx="491917" cy="20764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May’26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92</a:t>
            </a:r>
            <a:endParaRPr lang="en-US" sz="900" b="1" dirty="0">
              <a:latin typeface="+mj-lt"/>
            </a:endParaRPr>
          </a:p>
        </p:txBody>
      </p:sp>
      <p:sp>
        <p:nvSpPr>
          <p:cNvPr id="8" name="Text 0">
            <a:extLst>
              <a:ext uri="{FF2B5EF4-FFF2-40B4-BE49-F238E27FC236}">
                <ns5:creationId id="{D1F24257-30D4-F248-BEAF-DBFBE20CBC3A}"/>
              </a:ext>
            </a:extLst>
          </p:cNvPr>
          <p:cNvSpPr/>
          <p:nvPr/>
        </p:nvSpPr>
        <p:spPr>
          <a:xfrm>
            <a:off x="-9525" y="2478"/>
            <a:ext cx="7562849" cy="478448"/>
          </a:xfrm>
          <a:prstGeom prst="rect">
            <a:avLst/>
          </a:prstGeom>
          <a:solidFill>
            <a:srgbClr val="2D9B7F"/>
          </a:solidFill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+mj-lt"/>
              </a:rPr>
              <a:t>Brand &amp; Category Segment Deep-Dive</a:t>
            </a:r>
          </a:p>
          <a:p>
            <a:pPr marL="0" indent="0">
              <a:buNone/>
            </a:pPr>
            <a:r>
              <a:rPr lang="en-US" sz="1050" dirty="0">
                <a:solidFill>
                  <a:srgbClr val="D8E6F2"/>
                </a:solidFill>
                <a:latin typeface="+mj-lt"/>
              </a:rPr>
              <a:t>Portfolio growth drivers and contribution view</a:t>
            </a:r>
            <a:endParaRPr lang="en-US" sz="3600" dirty="0">
              <a:latin typeface="+mj-lt"/>
            </a:endParaRPr>
          </a:p>
        </p:txBody>
      </p:sp>
      <p:pic>
        <p:nvPicPr>
          <p:cNvPr id="1026" name="Picture 2" descr="A white and orange tube with white text  AI-generated content may be incorrect.">
            <a:extLst>
              <a:ext uri="{FF2B5EF4-FFF2-40B4-BE49-F238E27FC236}">
                <ns5:creationId id="{BEBA9504-2B9F-2470-AAE9-2FFBDC6118C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ns6:useLocalDpi val="0"/>
              </a:ext>
            </a:extLst>
          </a:blip>
          <a:srcRect l="24448" r="23559"/>
          <a:stretch/>
        </p:blipFill>
        <p:spPr bwMode="auto">
          <a:xfrm>
            <a:off x="2870853" y="6389126"/>
            <a:ext cx="212290" cy="408312"/>
          </a:xfrm>
          <a:prstGeom prst="rect">
            <a:avLst/>
          </a:prstGeom>
          <a:noFill/>
          <a:extLst>
            <a:ext uri="{909E8E84-426E-40DD-AFC4-6F175D3DCCD1}">
              <ns6:hiddenFill>
                <a:solidFill>
                  <a:srgbClr val="FFFFFF"/>
                </a:solidFill>
              </ns6:hiddenFill>
            </a:ext>
          </a:extLst>
        </p:spPr>
      </p:pic>
      <p:pic>
        <p:nvPicPr>
          <p:cNvPr id="1028" name="Picture 4">
            <a:extLst>
              <a:ext uri="{FF2B5EF4-FFF2-40B4-BE49-F238E27FC236}">
                <ns5:creationId id="{12530F3C-DA5C-5821-322F-8F9430995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ns6:useLocalDpi val="0"/>
              </a:ext>
            </a:extLst>
          </a:blip>
          <a:srcRect/>
          <a:stretch>
            <a:fillRect/>
          </a:stretch>
        </p:blipFill>
        <p:spPr bwMode="auto">
          <a:xfrm>
            <a:off x="405993" y="6438256"/>
            <a:ext cx="210106" cy="445801"/>
          </a:xfrm>
          <a:prstGeom prst="rect">
            <a:avLst/>
          </a:prstGeom>
          <a:noFill/>
          <a:extLst>
            <a:ext uri="{909E8E84-426E-40DD-AFC4-6F175D3DCCD1}">
              <ns6:hiddenFill>
                <a:solidFill>
                  <a:srgbClr val="FFFFFF"/>
                </a:solidFill>
              </ns6:hiddenFill>
            </a:ext>
          </a:extLst>
        </p:spPr>
      </p:pic>
      <p:sp>
        <p:nvSpPr>
          <p:cNvPr id="5" name="Shape 21">
            <a:extLst>
              <a:ext uri="{FF2B5EF4-FFF2-40B4-BE49-F238E27FC236}">
                <ns5:creationId id="{A263EF77-1531-A74F-2720-119E0ADC41D3}"/>
              </a:ext>
            </a:extLst>
          </p:cNvPr>
          <p:cNvSpPr/>
          <p:nvPr/>
        </p:nvSpPr>
        <p:spPr>
          <a:xfrm>
            <a:off x="222330" y="5164954"/>
            <a:ext cx="7091574" cy="531272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SKU note: </a:t>
            </a:r>
            <a:r>
              <a:rPr lang="en-US" sz="800" dirty="0"/>
              <a:t>Rice Dewy Bright Face Wash variants from </a:t>
            </a:r>
            <a:r>
              <a:rPr lang="en-US" sz="800" dirty="0" err="1"/>
              <a:t>Mamaearth</a:t>
            </a:r>
            <a:r>
              <a:rPr lang="en-US" sz="800" dirty="0"/>
              <a:t> lead the Face Wash portfolio with NSV of ₹5.40 Cr.</a:t>
            </a:r>
          </a:p>
          <a:p>
            <a:r>
              <a:rPr lang="en-US" sz="800" dirty="0"/>
              <a:t>Onion Shampoo variants from </a:t>
            </a:r>
            <a:r>
              <a:rPr lang="en-US" sz="800" dirty="0" err="1"/>
              <a:t>Mamaearth</a:t>
            </a:r>
            <a:r>
              <a:rPr lang="en-US" sz="800" dirty="0"/>
              <a:t> lead the Shampoo portfolio with NSV of ₹4.56 Cr.</a:t>
            </a:r>
            <a:endParaRPr lang="en-US" sz="8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800" dirty="0"/>
              <a:t>Ultra Light Sunscreen from </a:t>
            </a:r>
            <a:r>
              <a:rPr lang="en-US" sz="800" dirty="0" err="1"/>
              <a:t>Mamaearth</a:t>
            </a:r>
            <a:r>
              <a:rPr lang="en-US" sz="800" dirty="0"/>
              <a:t> leads the Suncare portfolio with NSV of ₹1.62 Cr. 2</a:t>
            </a:r>
          </a:p>
          <a:p>
            <a:endParaRPr lang="en-IN" sz="800" dirty="0"/>
          </a:p>
        </p:txBody>
      </p:sp>
      <p:sp>
        <p:nvSpPr>
          <p:cNvPr id="9" name="Shape 21">
            <a:extLst>
              <a:ext uri="{FF2B5EF4-FFF2-40B4-BE49-F238E27FC236}">
                <ns5:creationId id="{7D2BC999-FEEF-16FE-42C3-05699746AAC4}"/>
              </a:ext>
            </a:extLst>
          </p:cNvPr>
          <p:cNvSpPr/>
          <p:nvPr/>
        </p:nvSpPr>
        <p:spPr>
          <a:xfrm>
            <a:off x="227675" y="7524842"/>
            <a:ext cx="7101951" cy="490510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endParaRPr lang="en-IN" dirty="0"/>
          </a:p>
        </p:txBody>
      </p:sp>
      <p:sp>
        <p:nvSpPr>
          <p:cNvPr id="10" name="Text 22">
            <a:extLst>
              <a:ext uri="{FF2B5EF4-FFF2-40B4-BE49-F238E27FC236}">
                <ns5:creationId id="{8B84603B-62AF-1A90-CB4A-FDDD812008BB}"/>
              </a:ext>
            </a:extLst>
          </p:cNvPr>
          <p:cNvSpPr/>
          <p:nvPr/>
        </p:nvSpPr>
        <p:spPr>
          <a:xfrm>
            <a:off x="234663" y="7557942"/>
            <a:ext cx="7101951" cy="534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SKU note: </a:t>
            </a:r>
            <a:r>
              <a:rPr lang="en-US" sz="900" dirty="0"/>
              <a:t>1% Salicylic FW follows with NSV of ₹285 Lacs., contribute 6.4% of May’26 NSV within 1 year of launch	.</a:t>
            </a:r>
            <a:endParaRPr lang="en-US" sz="9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/>
              <a:t>Hyaluronic Acid leads the pack and contributes 96% of total Suncare sales, with NSV of ₹411 Lacs.</a:t>
            </a:r>
            <a:endParaRPr lang="en-IN" sz="9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r>
              <a:rPr lang="en-US" sz="900" dirty="0"/>
              <a:t>5% Niacinamide Serum leads with NSV of ₹28 Lacs, followed by Vitamin C Serum at ₹23 Lacs.</a:t>
            </a:r>
            <a:r>
              <a:rPr lang="en-US" sz="9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900" dirty="0"/>
          </a:p>
        </p:txBody>
      </p:sp>
      <p:sp>
        <p:nvSpPr>
          <p:cNvPr id="3" name="TextBox 2">
            <a:extLst>
              <a:ext uri="{FF2B5EF4-FFF2-40B4-BE49-F238E27FC236}">
                <ns5:creationId id="{70F494E4-7AF4-BACF-7B7D-D4CC530B66A3}"/>
              </a:ext>
            </a:extLst>
          </p:cNvPr>
          <p:cNvSpPr txBox="1"/>
          <p:nvPr/>
        </p:nvSpPr>
        <p:spPr>
          <a:xfrm>
            <a:off x="200735" y="8084035"/>
            <a:ext cx="7097667" cy="215444"/>
          </a:xfrm>
          <a:prstGeom prst="rect">
            <a:avLst/>
          </a:prstGeom>
          <a:solidFill>
            <a:srgbClr val="2D9B7F"/>
          </a:solidFill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i="0" dirty="0">
                <a:solidFill>
                  <a:schemeClr val="bg1"/>
                </a:solidFill>
                <a:latin typeface="Calibri"/>
              </a:rPr>
              <a:t>VOLUME VS. VALUE DECOMPOSITION — MAY'26 VS MAY'25</a:t>
            </a:r>
            <a:endParaRPr sz="1200" b="1" i="0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11" name="Picture 10" descr="A bottle of rice face wash&#10;&#10;Description automatically generated">
            <a:extLst>
              <a:ext uri="{FF2B5EF4-FFF2-40B4-BE49-F238E27FC236}">
                <ns5:creationId id="{9C671B61-DB31-0587-EDD3-C43226FF5A35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7809" t="6059" r="29332" b="4208"/>
          <a:stretch/>
        </p:blipFill>
        <p:spPr>
          <a:xfrm>
            <a:off x="406348" y="3893213"/>
            <a:ext cx="169208" cy="348962"/>
          </a:xfrm>
          <a:prstGeom prst="rect">
            <a:avLst/>
          </a:prstGeom>
        </p:spPr>
      </p:pic>
      <p:pic>
        <p:nvPicPr>
          <p:cNvPr id="13" name="Picture 12" descr="A yellow bottle of sunscreen&#10;&#10;Description automatically generated">
            <a:extLst>
              <a:ext uri="{FF2B5EF4-FFF2-40B4-BE49-F238E27FC236}">
                <ns5:creationId id="{428F7BD9-F94D-E689-E889-BB0445012F6E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32069" t="9042" r="31762" b="9272"/>
          <a:stretch/>
        </p:blipFill>
        <p:spPr>
          <a:xfrm>
            <a:off x="5364833" y="3947054"/>
            <a:ext cx="196303" cy="443346"/>
          </a:xfrm>
          <a:prstGeom prst="rect">
            <a:avLst/>
          </a:prstGeom>
        </p:spPr>
      </p:pic>
      <p:pic>
        <p:nvPicPr>
          <p:cNvPr id="14" name="Google Shape;1518;p235" descr="A purple bottle with a dropper next to a box&#10;&#10;AI-generated content may be incorrect.">
            <a:extLst>
              <a:ext uri="{FF2B5EF4-FFF2-40B4-BE49-F238E27FC236}">
                <ns5:creationId id="{69A52EB1-ABE9-6C46-A7E5-35B36BFF983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254985" y="6368111"/>
            <a:ext cx="369760" cy="311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396;p227" descr="A white bottle with a label on it&#10;&#10;Description automatically generated">
            <a:extLst>
              <a:ext uri="{FF2B5EF4-FFF2-40B4-BE49-F238E27FC236}">
                <ns5:creationId id="{03495C88-1D2A-861C-04CC-A94B48070B17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 l="19608" b="483"/>
          <a:stretch/>
        </p:blipFill>
        <p:spPr>
          <a:xfrm>
            <a:off x="2816926" y="3872603"/>
            <a:ext cx="178723" cy="41260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" name="Table 16">
            <a:extLst>
              <a:ext uri="{FF2B5EF4-FFF2-40B4-BE49-F238E27FC236}">
                <ns5:creationId id="{748C78F8-7256-D531-06D7-F8E7EEBA1D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2:modId val="3826371957"/>
              </p:ext>
            </p:extLst>
          </p:nvPr>
        </p:nvGraphicFramePr>
        <p:xfrm>
          <a:off x="182540" y="8390919"/>
          <a:ext cx="7105485" cy="1093408"/>
        </p:xfrm>
        <a:graphic>
          <a:graphicData uri="http://schemas.openxmlformats.org/drawingml/2006/table">
            <a:tbl>
              <a:tblPr/>
              <a:tblGrid>
                <a:gridCol w="772746">
                  <a:extLst>
                    <a:ext uri="{9D8B030D-6E8A-4147-A177-3AD203B41FA5}">
                      <ns5:colId val="778345302"/>
                    </a:ext>
                  </a:extLst>
                </a:gridCol>
                <a:gridCol w="904677">
                  <a:extLst>
                    <a:ext uri="{9D8B030D-6E8A-4147-A177-3AD203B41FA5}">
                      <ns5:colId val="1652700246"/>
                    </a:ext>
                  </a:extLst>
                </a:gridCol>
                <a:gridCol w="904677">
                  <a:extLst>
                    <a:ext uri="{9D8B030D-6E8A-4147-A177-3AD203B41FA5}">
                      <ns5:colId val="554711202"/>
                    </a:ext>
                  </a:extLst>
                </a:gridCol>
                <a:gridCol w="904677">
                  <a:extLst>
                    <a:ext uri="{9D8B030D-6E8A-4147-A177-3AD203B41FA5}">
                      <ns5:colId val="464365253"/>
                    </a:ext>
                  </a:extLst>
                </a:gridCol>
                <a:gridCol w="904677">
                  <a:extLst>
                    <a:ext uri="{9D8B030D-6E8A-4147-A177-3AD203B41FA5}">
                      <ns5:colId val="1348325996"/>
                    </a:ext>
                  </a:extLst>
                </a:gridCol>
                <a:gridCol w="904677">
                  <a:extLst>
                    <a:ext uri="{9D8B030D-6E8A-4147-A177-3AD203B41FA5}">
                      <ns5:colId val="4191564383"/>
                    </a:ext>
                  </a:extLst>
                </a:gridCol>
                <a:gridCol w="904677">
                  <a:extLst>
                    <a:ext uri="{9D8B030D-6E8A-4147-A177-3AD203B41FA5}">
                      <ns5:colId val="2820173786"/>
                    </a:ext>
                  </a:extLst>
                </a:gridCol>
                <a:gridCol w="904677">
                  <a:extLst>
                    <a:ext uri="{9D8B030D-6E8A-4147-A177-3AD203B41FA5}">
                      <ns5:colId val="3633227043"/>
                    </a:ext>
                  </a:extLst>
                </a:gridCol>
              </a:tblGrid>
              <a:tr h="189124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Mamaearth</a:t>
                      </a:r>
                      <a:endParaRPr lang="en-IN" sz="10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ns5:rowId val="586341585"/>
                  </a:ext>
                </a:extLst>
              </a:tr>
              <a:tr h="313237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Sub Cat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ASP </a:t>
                      </a:r>
                      <a:b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extLst>
                  <a:ext uri="{0D108BD9-81ED-4DB2-BD59-A6C34878D82A}">
                    <ns5:rowId val="3585346606"/>
                  </a:ext>
                </a:extLst>
              </a:tr>
              <a:tr h="23975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Face Cleanser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6,23,925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7,85,723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▲ 26%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865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1,120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2E8B57"/>
                          </a:solidFill>
                          <a:latin typeface="+mj-lt"/>
                          <a:ea typeface="+mn-ea"/>
                          <a:cs typeface="+mn-cs"/>
                        </a:rPr>
                        <a:t>▲ 30%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2E8B57"/>
                          </a:solidFill>
                          <a:latin typeface="+mj-lt"/>
                          <a:ea typeface="+mn-ea"/>
                          <a:cs typeface="+mn-cs"/>
                        </a:rPr>
                        <a:t>▲ 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554849942"/>
                  </a:ext>
                </a:extLst>
              </a:tr>
              <a:tr h="17139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Shampoo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2,75,067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3,57,736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▲ 30%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516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789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2E8B57"/>
                          </a:solidFill>
                          <a:latin typeface="+mj-lt"/>
                          <a:ea typeface="+mn-ea"/>
                          <a:cs typeface="+mn-cs"/>
                        </a:rPr>
                        <a:t>▲ 53%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2E8B57"/>
                          </a:solidFill>
                          <a:latin typeface="+mj-lt"/>
                          <a:ea typeface="+mn-ea"/>
                          <a:cs typeface="+mn-cs"/>
                        </a:rPr>
                        <a:t>▲ 18%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2128823973"/>
                  </a:ext>
                </a:extLst>
              </a:tr>
              <a:tr h="1773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Sun Care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1,12,028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1,67,158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▲ 49%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211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353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2E8B57"/>
                          </a:solidFill>
                          <a:latin typeface="+mj-lt"/>
                          <a:ea typeface="+mn-ea"/>
                          <a:cs typeface="+mn-cs"/>
                        </a:rPr>
                        <a:t>▲ 67%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2E8B57"/>
                          </a:solidFill>
                          <a:latin typeface="+mj-lt"/>
                          <a:ea typeface="+mn-ea"/>
                          <a:cs typeface="+mn-cs"/>
                        </a:rPr>
                        <a:t>▲ 12%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2503179601"/>
                  </a:ext>
                </a:extLst>
              </a:tr>
            </a:tbl>
          </a:graphicData>
        </a:graphic>
      </p:graphicFrame>
      <p:graphicFrame>
        <p:nvGraphicFramePr>
          <p:cNvPr id="18" name="Table 17">
            <a:extLst>
              <a:ext uri="{FF2B5EF4-FFF2-40B4-BE49-F238E27FC236}">
                <ns5:creationId id="{D7581020-ECB9-622E-A63B-C206AEA971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2:modId val="678895920"/>
              </p:ext>
            </p:extLst>
          </p:nvPr>
        </p:nvGraphicFramePr>
        <p:xfrm>
          <a:off x="158540" y="9604799"/>
          <a:ext cx="7162797" cy="984250"/>
        </p:xfrm>
        <a:graphic>
          <a:graphicData uri="http://schemas.openxmlformats.org/drawingml/2006/table">
            <a:tbl>
              <a:tblPr/>
              <a:tblGrid>
                <a:gridCol w="778979">
                  <a:extLst>
                    <a:ext uri="{9D8B030D-6E8A-4147-A177-3AD203B41FA5}">
                      <ns5:colId val="1879853503"/>
                    </a:ext>
                  </a:extLst>
                </a:gridCol>
                <a:gridCol w="911974">
                  <a:extLst>
                    <a:ext uri="{9D8B030D-6E8A-4147-A177-3AD203B41FA5}">
                      <ns5:colId val="2316742566"/>
                    </a:ext>
                  </a:extLst>
                </a:gridCol>
                <a:gridCol w="911974">
                  <a:extLst>
                    <a:ext uri="{9D8B030D-6E8A-4147-A177-3AD203B41FA5}">
                      <ns5:colId val="3208734033"/>
                    </a:ext>
                  </a:extLst>
                </a:gridCol>
                <a:gridCol w="911974">
                  <a:extLst>
                    <a:ext uri="{9D8B030D-6E8A-4147-A177-3AD203B41FA5}">
                      <ns5:colId val="2367184648"/>
                    </a:ext>
                  </a:extLst>
                </a:gridCol>
                <a:gridCol w="911974">
                  <a:extLst>
                    <a:ext uri="{9D8B030D-6E8A-4147-A177-3AD203B41FA5}">
                      <ns5:colId val="3296042857"/>
                    </a:ext>
                  </a:extLst>
                </a:gridCol>
                <a:gridCol w="911974">
                  <a:extLst>
                    <a:ext uri="{9D8B030D-6E8A-4147-A177-3AD203B41FA5}">
                      <ns5:colId val="2794637982"/>
                    </a:ext>
                  </a:extLst>
                </a:gridCol>
                <a:gridCol w="911974">
                  <a:extLst>
                    <a:ext uri="{9D8B030D-6E8A-4147-A177-3AD203B41FA5}">
                      <ns5:colId val="2151274359"/>
                    </a:ext>
                  </a:extLst>
                </a:gridCol>
                <a:gridCol w="911974">
                  <a:extLst>
                    <a:ext uri="{9D8B030D-6E8A-4147-A177-3AD203B41FA5}">
                      <ns5:colId val="1193925391"/>
                    </a:ext>
                  </a:extLst>
                </a:gridCol>
              </a:tblGrid>
              <a:tr h="155673">
                <a:tc gridSpan="8"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The Derma co.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ns5:rowId val="4020276058"/>
                  </a:ext>
                </a:extLst>
              </a:tr>
              <a:tr h="30511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Sub Cat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Qty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May-25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May-26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NSV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ASP </a:t>
                      </a:r>
                      <a:b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</a:br>
                      <a:r>
                        <a:rPr lang="en-IN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GOLY%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461"/>
                    </a:solidFill>
                  </a:tcPr>
                </a:tc>
                <a:extLst>
                  <a:ext uri="{0D108BD9-81ED-4DB2-BD59-A6C34878D82A}">
                    <ns5:rowId val="4240386649"/>
                  </a:ext>
                </a:extLst>
              </a:tr>
              <a:tr h="17225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Face Cleanser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22,592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4,28,182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▲ 1795%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557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2E8B57"/>
                          </a:solidFill>
                          <a:latin typeface="+mj-lt"/>
                          <a:ea typeface="+mn-ea"/>
                          <a:cs typeface="+mn-cs"/>
                        </a:rPr>
                        <a:t>▲ 1164%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33%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670274450"/>
                  </a:ext>
                </a:extLst>
              </a:tr>
              <a:tr h="15567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Sun Care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29,103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1,62,541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▲ 459%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94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429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2E8B57"/>
                          </a:solidFill>
                          <a:latin typeface="+mj-lt"/>
                          <a:ea typeface="+mn-ea"/>
                          <a:cs typeface="+mn-cs"/>
                        </a:rPr>
                        <a:t>▲ 357%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100" b="1" kern="1200" dirty="0">
                          <a:solidFill>
                            <a:srgbClr val="D03A3A"/>
                          </a:solidFill>
                          <a:latin typeface="+mj-lt"/>
                          <a:ea typeface="+mn-ea"/>
                          <a:cs typeface="+mn-cs"/>
                        </a:rPr>
                        <a:t>▼ 18%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2218851478"/>
                  </a:ext>
                </a:extLst>
              </a:tr>
              <a:tr h="155673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Shampoo</a:t>
                      </a:r>
                    </a:p>
                  </a:txBody>
                  <a:tcPr marL="6350" marR="6350" marT="635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22,124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30,097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▲ 36%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92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2E8B57"/>
                          </a:solidFill>
                          <a:latin typeface="+mj-lt"/>
                          <a:ea typeface="+mn-ea"/>
                          <a:cs typeface="+mn-cs"/>
                        </a:rPr>
                        <a:t>▲ 46%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ctr" latinLnBrk="0" hangingPunct="1">
                        <a:buNone/>
                      </a:pPr>
                      <a:r>
                        <a:rPr lang="en-IN" sz="1050" b="1" kern="1200" dirty="0">
                          <a:solidFill>
                            <a:srgbClr val="2E8B57"/>
                          </a:solidFill>
                          <a:latin typeface="+mj-lt"/>
                          <a:ea typeface="+mn-ea"/>
                          <a:cs typeface="+mn-cs"/>
                        </a:rPr>
                        <a:t>▲ 7%</a:t>
                      </a:r>
                    </a:p>
                  </a:txBody>
                  <a:tcPr marL="6350" marR="6350" marT="635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295721357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ns5:creationId id="{B79E92E9-62D0-7467-97E8-BE362246B2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2:modId val="482462455"/>
              </p:ext>
            </p:extLst>
          </p:nvPr>
        </p:nvGraphicFramePr>
        <p:xfrm>
          <a:off x="183651" y="572366"/>
          <a:ext cx="7164935" cy="1627184"/>
        </p:xfrm>
        <a:graphic>
          <a:graphicData uri="http://schemas.openxmlformats.org/drawingml/2006/table">
            <a:tbl>
              <a:tblPr/>
              <a:tblGrid>
                <a:gridCol w="1148808">
                  <a:extLst>
                    <a:ext uri="{9D8B030D-6E8A-4147-A177-3AD203B41FA5}">
                      <ns5:colId val="3848970531"/>
                    </a:ext>
                  </a:extLst>
                </a:gridCol>
                <a:gridCol w="604636">
                  <a:extLst>
                    <a:ext uri="{9D8B030D-6E8A-4147-A177-3AD203B41FA5}">
                      <ns5:colId val="1522408997"/>
                    </a:ext>
                  </a:extLst>
                </a:gridCol>
                <a:gridCol w="589520">
                  <a:extLst>
                    <a:ext uri="{9D8B030D-6E8A-4147-A177-3AD203B41FA5}">
                      <ns5:colId val="226368320"/>
                    </a:ext>
                  </a:extLst>
                </a:gridCol>
                <a:gridCol w="589520">
                  <a:extLst>
                    <a:ext uri="{9D8B030D-6E8A-4147-A177-3AD203B41FA5}">
                      <ns5:colId val="828023372"/>
                    </a:ext>
                  </a:extLst>
                </a:gridCol>
                <a:gridCol w="589520">
                  <a:extLst>
                    <a:ext uri="{9D8B030D-6E8A-4147-A177-3AD203B41FA5}">
                      <ns5:colId val="3845673820"/>
                    </a:ext>
                  </a:extLst>
                </a:gridCol>
                <a:gridCol w="574404">
                  <a:extLst>
                    <a:ext uri="{9D8B030D-6E8A-4147-A177-3AD203B41FA5}">
                      <ns5:colId val="4180414308"/>
                    </a:ext>
                  </a:extLst>
                </a:gridCol>
                <a:gridCol w="604636">
                  <a:extLst>
                    <a:ext uri="{9D8B030D-6E8A-4147-A177-3AD203B41FA5}">
                      <ns5:colId val="3702109773"/>
                    </a:ext>
                  </a:extLst>
                </a:gridCol>
                <a:gridCol w="695331">
                  <a:extLst>
                    <a:ext uri="{9D8B030D-6E8A-4147-A177-3AD203B41FA5}">
                      <ns5:colId val="3174125610"/>
                    </a:ext>
                  </a:extLst>
                </a:gridCol>
                <a:gridCol w="483709">
                  <a:extLst>
                    <a:ext uri="{9D8B030D-6E8A-4147-A177-3AD203B41FA5}">
                      <ns5:colId val="3399407347"/>
                    </a:ext>
                  </a:extLst>
                </a:gridCol>
                <a:gridCol w="604636">
                  <a:extLst>
                    <a:ext uri="{9D8B030D-6E8A-4147-A177-3AD203B41FA5}">
                      <ns5:colId val="443509617"/>
                    </a:ext>
                  </a:extLst>
                </a:gridCol>
                <a:gridCol w="680215">
                  <a:extLst>
                    <a:ext uri="{9D8B030D-6E8A-4147-A177-3AD203B41FA5}">
                      <ns5:colId val="2768538990"/>
                    </a:ext>
                  </a:extLst>
                </a:gridCol>
              </a:tblGrid>
              <a:tr h="4447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Brand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Jan-26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Cont%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 </a:t>
                      </a:r>
                      <a:b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Avg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 </a:t>
                      </a:r>
                      <a:b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GOLY </a:t>
                      </a:r>
                      <a:b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</a:br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5:rowId val="331996166"/>
                  </a:ext>
                </a:extLst>
              </a:tr>
              <a:tr h="226982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Mamaearth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2,168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2,438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2,188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2,477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2,653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2,836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70.60%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2,436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16%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30%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181819567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The Derma Co.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543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686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856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1,100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27.40%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685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61%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405%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249768965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Aqualogica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1.80%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25%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8A3D"/>
                          </a:solidFill>
                          <a:effectLst/>
                          <a:latin typeface="Calibri" panose="020B0604020202020204" pitchFamily="34" charset="0"/>
                        </a:rPr>
                        <a:t>▲ 13%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015411830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Emerging Brands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0.30%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14%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0" i="0" u="none" strike="noStrike">
                          <a:solidFill>
                            <a:srgbClr val="C00000"/>
                          </a:solidFill>
                          <a:effectLst/>
                          <a:latin typeface="Calibri" panose="020B0604020202020204" pitchFamily="34" charset="0"/>
                        </a:rPr>
                        <a:t>▼ 33%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429677323"/>
                  </a:ext>
                </a:extLst>
              </a:tr>
              <a:tr h="238858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Portfolio Total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2,466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3,039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2,761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3,234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3,589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4,019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100.00%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3,195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▲ 26%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604020202020204" pitchFamily="34" charset="0"/>
                        </a:rPr>
                        <a:t>▲ 63%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ns5:rowId val="2155860741"/>
                  </a:ext>
                </a:extLst>
              </a:tr>
            </a:tbl>
          </a:graphicData>
        </a:graphic>
      </p:graphicFrame>
      <p:sp>
        <p:nvSpPr>
          <p:cNvPr id="20" name="Shape 21">
            <a:extLst>
              <a:ext uri="{FF2B5EF4-FFF2-40B4-BE49-F238E27FC236}">
                <ns5:creationId id="{5B7DF914-149A-FC9E-7E02-630EAAC9B064}"/>
              </a:ext>
            </a:extLst>
          </p:cNvPr>
          <p:cNvSpPr/>
          <p:nvPr/>
        </p:nvSpPr>
        <p:spPr>
          <a:xfrm>
            <a:off x="208385" y="2216475"/>
            <a:ext cx="7140201" cy="1031161"/>
          </a:xfrm>
          <a:prstGeom prst="roundRect">
            <a:avLst>
              <a:gd name="adj" fmla="val 3226"/>
            </a:avLst>
          </a:prstGeom>
          <a:solidFill>
            <a:srgbClr val="FFF6E0"/>
          </a:solidFill>
          <a:ln/>
        </p:spPr>
        <p:txBody>
          <a:bodyPr anchor="t"/>
          <a:lstStyle/>
          <a:p>
            <a:r>
              <a:rPr lang="en-US" sz="1200" b="1" dirty="0">
                <a:effectLst/>
                <a:ea typeface="Calibri"/>
                <a:cs typeface="Calibri"/>
              </a:rPr>
              <a:t>Strategic</a:t>
            </a:r>
            <a:r>
              <a:rPr lang="en-US" sz="1200" b="1" spc="-25" dirty="0">
                <a:effectLst/>
                <a:ea typeface="Calibri"/>
                <a:cs typeface="Calibri"/>
              </a:rPr>
              <a:t> </a:t>
            </a:r>
            <a:r>
              <a:rPr lang="en-US" sz="1200" b="1" dirty="0">
                <a:effectLst/>
                <a:ea typeface="Calibri"/>
                <a:cs typeface="Calibri"/>
              </a:rPr>
              <a:t>Brand</a:t>
            </a:r>
            <a:r>
              <a:rPr lang="en-US" sz="1200" b="1" spc="-25" dirty="0">
                <a:effectLst/>
                <a:ea typeface="Calibri"/>
                <a:cs typeface="Calibri"/>
              </a:rPr>
              <a:t> </a:t>
            </a:r>
            <a:r>
              <a:rPr lang="en-US" sz="1200" b="1" dirty="0">
                <a:effectLst/>
                <a:ea typeface="Calibri"/>
                <a:cs typeface="Calibri"/>
              </a:rPr>
              <a:t>Portfolio</a:t>
            </a:r>
          </a:p>
          <a:p>
            <a:endParaRPr lang="en-US" sz="1000" b="1" dirty="0">
              <a:solidFill>
                <a:srgbClr val="1F7A3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000" b="1" dirty="0" err="1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Mamaearth</a:t>
            </a:r>
            <a:r>
              <a:rPr lang="en-US" sz="1000" b="1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remains the portfolio Leader at 70.6% share, growing a steady +30% YoY. </a:t>
            </a:r>
          </a:p>
          <a:p>
            <a:r>
              <a:rPr lang="en-US" sz="1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 Co. 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fastest scaling brand now 27.4% of NSV vs single digits a </a:t>
            </a:r>
            <a:r>
              <a:rPr lang="en-US" sz="1000" dirty="0" err="1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Yr</a:t>
            </a:r>
            <a:r>
              <a:rPr lang="en-US" sz="10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ago, on a genuinely low FY25 base.</a:t>
            </a:r>
          </a:p>
          <a:p>
            <a:r>
              <a:rPr lang="en-US" sz="1000" b="1" dirty="0" err="1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Aqualogica</a:t>
            </a:r>
            <a:r>
              <a:rPr lang="en-US" sz="1000" b="1" dirty="0">
                <a:solidFill>
                  <a:srgbClr val="1F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continues to show positive structural growth, with ▲13% YoY, ▲7% MoM, and ▲25% vs L3M average. However, its current contribution remains relatively small, so it is not yet materially influencing the overall portfolio trajectory.</a:t>
            </a:r>
            <a:endParaRPr lang="en-IN" sz="1000" dirty="0">
              <a:effectLst/>
              <a:latin typeface="+mj-lt"/>
              <a:ea typeface="Calibri"/>
              <a:cs typeface="Calibri"/>
            </a:endParaRPr>
          </a:p>
        </p:txBody>
      </p:sp>
      <p:sp>
        <p:nvSpPr>
          <p:cNvPr id="1078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2="http://schemas.microsoft.com/office/powerpoint/2010/main" xmlns:ns3="http://schemas.openxmlformats.org/drawingml/2006/chart" xmlns:ns5="http://schemas.microsoft.com/office/drawing/2014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502920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3" name="Text 1"/>
          <p:cNvSpPr/>
          <p:nvPr/>
        </p:nvSpPr>
        <p:spPr>
          <a:xfrm>
            <a:off x="320040" y="109728"/>
            <a:ext cx="6903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+mj-lt"/>
              </a:rPr>
              <a:t>Zone Performance Summary</a:t>
            </a:r>
            <a:endParaRPr lang="en-US" sz="1300" dirty="0">
              <a:latin typeface="+mj-lt"/>
            </a:endParaRPr>
          </a:p>
        </p:txBody>
      </p:sp>
      <p:sp>
        <p:nvSpPr>
          <p:cNvPr id="4" name="Text 2"/>
          <p:cNvSpPr/>
          <p:nvPr/>
        </p:nvSpPr>
        <p:spPr>
          <a:xfrm>
            <a:off x="320040" y="329184"/>
            <a:ext cx="6903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50" dirty="0">
                <a:solidFill>
                  <a:srgbClr val="D8E6F2"/>
                </a:solidFill>
                <a:latin typeface="+mj-lt"/>
              </a:rPr>
              <a:t>Zone share, May’26 NSV and growth view</a:t>
            </a:r>
            <a:endParaRPr lang="en-US" sz="650" dirty="0">
              <a:latin typeface="+mj-lt"/>
            </a:endParaRPr>
          </a:p>
        </p:txBody>
      </p:sp>
      <p:sp>
        <p:nvSpPr>
          <p:cNvPr id="5" name="Text 3"/>
          <p:cNvSpPr/>
          <p:nvPr/>
        </p:nvSpPr>
        <p:spPr>
          <a:xfrm>
            <a:off x="320040" y="536126"/>
            <a:ext cx="6903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F5A85"/>
                </a:solidFill>
                <a:latin typeface="+mj-lt"/>
              </a:rPr>
              <a:t>Zone May’26 NSV and Share</a:t>
            </a:r>
            <a:endParaRPr lang="en-US" sz="1600" dirty="0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320040" y="75895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ns2:modId val="1276853806"/>
              </p:ext>
            </p:extLst>
          </p:nvPr>
        </p:nvGraphicFramePr>
        <p:xfrm>
          <a:off x="320040" y="823920"/>
          <a:ext cx="3456000" cy="2286000"/>
        </p:xfrm>
        <a:graphic>
          <a:graphicData uri="http://schemas.openxmlformats.org/drawingml/2006/chart">
            <ns3:chart r:id="rId2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ns2:modId val="282652588"/>
              </p:ext>
            </p:extLst>
          </p:nvPr>
        </p:nvGraphicFramePr>
        <p:xfrm>
          <a:off x="3911760" y="850392"/>
          <a:ext cx="3312000" cy="2268000"/>
        </p:xfrm>
        <a:graphic>
          <a:graphicData uri="http://schemas.openxmlformats.org/drawingml/2006/chart">
            <ns3:chart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320040" y="3144576"/>
            <a:ext cx="6922770" cy="256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b="1" dirty="0">
                <a:solidFill>
                  <a:srgbClr val="1F5A85"/>
                </a:solidFill>
                <a:latin typeface="+mj-lt"/>
              </a:rPr>
              <a:t>Zone Summary</a:t>
            </a:r>
            <a:endParaRPr lang="en-US" dirty="0">
              <a:latin typeface="+mj-lt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320040" y="3418895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69" name="Text 65"/>
          <p:cNvSpPr/>
          <p:nvPr/>
        </p:nvSpPr>
        <p:spPr>
          <a:xfrm>
            <a:off x="329184" y="5389561"/>
            <a:ext cx="6903719" cy="516379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254" tIns="254" rIns="254" bIns="254" numCol="1" spcCol="720000" rtlCol="0" anchor="t">
            <a:noAutofit/>
          </a:bodyPr>
          <a:lstStyle/>
          <a:p>
            <a:r>
              <a:rPr lang="en-US" sz="1600" b="1" dirty="0">
                <a:solidFill>
                  <a:srgbClr val="1E7461"/>
                </a:solidFill>
              </a:rPr>
              <a:t>Zone Insights | May’26</a:t>
            </a:r>
            <a:endParaRPr lang="en-US" dirty="0">
              <a:solidFill>
                <a:srgbClr val="1E746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West remained the largest zone</a:t>
            </a:r>
            <a:r>
              <a:rPr lang="en-US" sz="1400" dirty="0"/>
              <a:t> with NSV of </a:t>
            </a:r>
            <a:r>
              <a:rPr lang="en-US" sz="1400" b="1" dirty="0"/>
              <a:t>₹1,017 Lacs</a:t>
            </a:r>
            <a:r>
              <a:rPr lang="en-US" sz="1400" dirty="0"/>
              <a:t>, contributing </a:t>
            </a:r>
            <a:r>
              <a:rPr lang="en-US" sz="1400" b="1" dirty="0"/>
              <a:t>25.3%</a:t>
            </a:r>
            <a:r>
              <a:rPr lang="en-US" sz="1400" dirty="0"/>
              <a:t> to overall MT offtake.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North and South-1 emerged as the next key growth bases</a:t>
            </a:r>
            <a:r>
              <a:rPr lang="en-US" sz="1400" dirty="0"/>
              <a:t>, strengthening the national growth mix beyond West.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South-1 delivered the strongest YoY growth at </a:t>
            </a:r>
            <a:r>
              <a:rPr lang="en-US" sz="1400" dirty="0">
                <a:solidFill>
                  <a:srgbClr val="008A3D"/>
                </a:solidFill>
                <a:latin typeface="Calibri"/>
              </a:rPr>
              <a:t>▲84%, </a:t>
            </a:r>
            <a:r>
              <a:rPr lang="en-US" sz="1400" dirty="0"/>
              <a:t>indicating strong scale-up momentum in the region.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/>
              <a:t>Dmart</a:t>
            </a:r>
            <a:r>
              <a:rPr lang="en-US" sz="1400" b="1" dirty="0"/>
              <a:t> is the #1 chain in 3 out of 5 zones</a:t>
            </a:r>
            <a:r>
              <a:rPr lang="en-US" sz="1400" dirty="0"/>
              <a:t>: North, South-2 and West. This confirms </a:t>
            </a:r>
            <a:r>
              <a:rPr lang="en-US" sz="1400" dirty="0" err="1"/>
              <a:t>Dmart</a:t>
            </a:r>
            <a:r>
              <a:rPr lang="en-US" sz="1400" dirty="0"/>
              <a:t> as a national growth engine, not limited to one zone.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Apollo leads South-1 and ranks #2/#3 in three other zones</a:t>
            </a:r>
            <a:r>
              <a:rPr lang="en-US" sz="1400" dirty="0"/>
              <a:t>, showing repeatable pharmacy-channel momentum across regions, largely driven by </a:t>
            </a:r>
            <a:r>
              <a:rPr lang="en-US" sz="1400" b="1" dirty="0"/>
              <a:t>The Derma Co.</a:t>
            </a:r>
            <a:endParaRPr lang="en-US" sz="1400" dirty="0"/>
          </a:p>
          <a:p>
            <a:endParaRPr lang="en-US" sz="1400" b="1" dirty="0"/>
          </a:p>
          <a:p>
            <a:endParaRPr lang="en-US" sz="1400" b="1" dirty="0"/>
          </a:p>
          <a:p>
            <a:r>
              <a:rPr lang="en-US" sz="1600" b="1" dirty="0">
                <a:solidFill>
                  <a:srgbClr val="1E7461"/>
                </a:solidFill>
              </a:rPr>
              <a:t>Brand &amp; Category Repeats Across </a:t>
            </a:r>
            <a:r>
              <a:rPr lang="en-US" b="1" dirty="0">
                <a:solidFill>
                  <a:schemeClr val="bg1"/>
                </a:solidFill>
              </a:rPr>
              <a:t>Zones</a:t>
            </a:r>
            <a:endParaRPr lang="en-US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The Derma Co. achieved its highest-ever monthly NSV of ₹1,100 Lacs</a:t>
            </a:r>
            <a:r>
              <a:rPr lang="en-US" sz="1400" dirty="0"/>
              <a:t>, contributing </a:t>
            </a:r>
            <a:r>
              <a:rPr lang="en-US" sz="1400" b="1" dirty="0"/>
              <a:t>27.4%</a:t>
            </a:r>
            <a:r>
              <a:rPr lang="en-US" sz="1400" dirty="0"/>
              <a:t> to the portfolio. The brand grew </a:t>
            </a:r>
            <a:r>
              <a:rPr lang="en-US" sz="1400" dirty="0">
                <a:solidFill>
                  <a:srgbClr val="008A3D"/>
                </a:solidFill>
                <a:latin typeface="Calibri"/>
              </a:rPr>
              <a:t>▲404% </a:t>
            </a:r>
            <a:r>
              <a:rPr lang="en-US" sz="1400" b="1" dirty="0"/>
              <a:t>YoY</a:t>
            </a:r>
            <a:r>
              <a:rPr lang="en-US" sz="1400" dirty="0"/>
              <a:t>, making it the fastest-scaling growth engine in the portfolio.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Face Cleanser and Sun Care remained the top 2 growth drivers for The Derma Co. in 5 out of 6 zones</a:t>
            </a:r>
            <a:r>
              <a:rPr lang="en-US" sz="1400" dirty="0"/>
              <a:t>, making them the clearest scale-up levers. </a:t>
            </a:r>
            <a:r>
              <a:rPr lang="en-US" sz="1400" dirty="0">
                <a:solidFill>
                  <a:srgbClr val="404040"/>
                </a:solidFill>
                <a:latin typeface="Calibri"/>
              </a:rPr>
              <a:t>FSN is the only chain growing materially slower than the network (+18.9% YoY).</a:t>
            </a:r>
            <a:endParaRPr lang="en-US" sz="14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 err="1"/>
              <a:t>Mamaearth</a:t>
            </a:r>
            <a:r>
              <a:rPr lang="en-US" sz="1400" b="1" dirty="0"/>
              <a:t> Face Cleanser and Shampoo ranked as the #1/#2 sub-categories by value across every zone</a:t>
            </a:r>
            <a:r>
              <a:rPr lang="en-US" sz="1400" dirty="0"/>
              <a:t>, confirming their role as stable national anchors.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b="1" dirty="0"/>
              <a:t>Sun Care emerged as the fastest seasonal mover across zones</a:t>
            </a:r>
            <a:r>
              <a:rPr lang="en-US" sz="1400" dirty="0"/>
              <a:t>, supported by strong summer-led demand and visibility execution.</a:t>
            </a:r>
          </a:p>
        </p:txBody>
      </p:sp>
      <p:sp>
        <p:nvSpPr>
          <p:cNvPr id="68" name="Shape 64"/>
          <p:cNvSpPr/>
          <p:nvPr/>
        </p:nvSpPr>
        <p:spPr>
          <a:xfrm>
            <a:off x="320039" y="559191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graphicFrame>
        <p:nvGraphicFramePr>
          <p:cNvPr id="240" name="Table 239">
            <a:extLst>
              <a:ext uri="{FF2B5EF4-FFF2-40B4-BE49-F238E27FC236}">
                <ns5:creationId id="{22C0EF99-FAAB-CACA-AEC1-CA5D7B9E08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2:modId val="4011638642"/>
              </p:ext>
            </p:extLst>
          </p:nvPr>
        </p:nvGraphicFramePr>
        <p:xfrm>
          <a:off x="320040" y="3510335"/>
          <a:ext cx="6903719" cy="1854608"/>
        </p:xfrm>
        <a:graphic>
          <a:graphicData uri="http://schemas.openxmlformats.org/drawingml/2006/table">
            <a:tbl>
              <a:tblPr/>
              <a:tblGrid>
                <a:gridCol w="867302">
                  <a:extLst>
                    <a:ext uri="{9D8B030D-6E8A-4147-A177-3AD203B41FA5}">
                      <ns5:colId val="1796692111"/>
                    </a:ext>
                  </a:extLst>
                </a:gridCol>
                <a:gridCol w="693841">
                  <a:extLst>
                    <a:ext uri="{9D8B030D-6E8A-4147-A177-3AD203B41FA5}">
                      <ns5:colId val="4130509951"/>
                    </a:ext>
                  </a:extLst>
                </a:gridCol>
                <a:gridCol w="676495">
                  <a:extLst>
                    <a:ext uri="{9D8B030D-6E8A-4147-A177-3AD203B41FA5}">
                      <ns5:colId val="3826358126"/>
                    </a:ext>
                  </a:extLst>
                </a:gridCol>
                <a:gridCol w="676495">
                  <a:extLst>
                    <a:ext uri="{9D8B030D-6E8A-4147-A177-3AD203B41FA5}">
                      <ns5:colId val="354505304"/>
                    </a:ext>
                  </a:extLst>
                </a:gridCol>
                <a:gridCol w="659149">
                  <a:extLst>
                    <a:ext uri="{9D8B030D-6E8A-4147-A177-3AD203B41FA5}">
                      <ns5:colId val="816571884"/>
                    </a:ext>
                  </a:extLst>
                </a:gridCol>
                <a:gridCol w="693841">
                  <a:extLst>
                    <a:ext uri="{9D8B030D-6E8A-4147-A177-3AD203B41FA5}">
                      <ns5:colId val="555739565"/>
                    </a:ext>
                  </a:extLst>
                </a:gridCol>
                <a:gridCol w="624457">
                  <a:extLst>
                    <a:ext uri="{9D8B030D-6E8A-4147-A177-3AD203B41FA5}">
                      <ns5:colId val="2296702728"/>
                    </a:ext>
                  </a:extLst>
                </a:gridCol>
                <a:gridCol w="503035">
                  <a:extLst>
                    <a:ext uri="{9D8B030D-6E8A-4147-A177-3AD203B41FA5}">
                      <ns5:colId val="3831480518"/>
                    </a:ext>
                  </a:extLst>
                </a:gridCol>
                <a:gridCol w="797917">
                  <a:extLst>
                    <a:ext uri="{9D8B030D-6E8A-4147-A177-3AD203B41FA5}">
                      <ns5:colId val="1086156123"/>
                    </a:ext>
                  </a:extLst>
                </a:gridCol>
                <a:gridCol w="711187">
                  <a:extLst>
                    <a:ext uri="{9D8B030D-6E8A-4147-A177-3AD203B41FA5}">
                      <ns5:colId val="859510602"/>
                    </a:ext>
                  </a:extLst>
                </a:gridCol>
              </a:tblGrid>
              <a:tr h="45155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Zone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Feb-26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Zone Share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L3M Avg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GOLY May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5:rowId val="2036333050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East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284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311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10.3%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28%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55%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4223876577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North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566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630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764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845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934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23.2%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746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65%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185023069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South-1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487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770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894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22.3%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674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33%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84%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571997152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South-2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429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554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13.8%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421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31%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2256224738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West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652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722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896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903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1,017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25.3%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840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21%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56%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4244018670"/>
                  </a:ext>
                </a:extLst>
              </a:tr>
              <a:tr h="233842">
                <a:tc>
                  <a:txBody>
                    <a:bodyPr/>
                    <a:lstStyle/>
                    <a:p>
                      <a:pPr algn="l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FSN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175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168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229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208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5.2%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190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9%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sz="1400" b="0" i="0" u="none" dirty="0">
                          <a:solidFill>
                            <a:srgbClr val="008A3D"/>
                          </a:solidFill>
                          <a:latin typeface="Calibri"/>
                        </a:rPr>
                        <a:t>▲ 19%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5:rowId val="3421348988"/>
                  </a:ext>
                </a:extLst>
              </a:tr>
            </a:tbl>
          </a:graphicData>
        </a:graphic>
      </p:graphicFrame>
      <p:sp>
        <p:nvSpPr>
          <p:cNvPr id="15" name="Shape 64">
            <a:extLst>
              <a:ext uri="{FF2B5EF4-FFF2-40B4-BE49-F238E27FC236}">
                <ns5:creationId id="{E7CD4EB2-142A-8EFA-51E0-5F02C7C991AA}"/>
              </a:ext>
            </a:extLst>
          </p:cNvPr>
          <p:cNvSpPr/>
          <p:nvPr/>
        </p:nvSpPr>
        <p:spPr>
          <a:xfrm>
            <a:off x="320039" y="8411471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sp>
        <p:nvSpPr>
          <p:cNvPr id="16" name="Shape 64">
            <a:extLst>
              <a:ext uri="{FF2B5EF4-FFF2-40B4-BE49-F238E27FC236}">
                <ns5:creationId id="{E050BDAA-C913-441A-CD85-620B427F4BF7}"/>
              </a:ext>
            </a:extLst>
          </p:cNvPr>
          <p:cNvSpPr/>
          <p:nvPr/>
        </p:nvSpPr>
        <p:spPr>
          <a:xfrm>
            <a:off x="320039" y="8183192"/>
            <a:ext cx="6903720" cy="0"/>
          </a:xfrm>
          <a:prstGeom prst="line">
            <a:avLst/>
          </a:prstGeom>
          <a:noFill/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 sz="3600">
              <a:latin typeface="+mj-lt"/>
            </a:endParaRPr>
          </a:p>
        </p:txBody>
      </p:sp>
      <p:sp>
        <p:nvSpPr>
          <p:cNvPr id="2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3 / 24</a:t>
            </a:r>
          </a:p>
        </p:txBody>
      </p:sp>
    </p:spTree>
    <p:extLst>
      <p:ext uri="{BB962C8B-B14F-4D97-AF65-F5344CB8AC3E}">
        <ns2:creationId val="2707407597"/>
      </p:ext>
    </p:extLst>
  </p:cSld>
  <p:clrMapOvr>
    <a:masterClrMapping/>
  </p:clrMapOvr>
</p:sld>
</file>

<file path=ppt/slides/slide4.xml><?xml version="1.0" encoding="utf-8"?>
<p:sld xmlns:a="http://schemas.openxmlformats.org/drawingml/2006/main" xmlns:ns2="http://schemas.microsoft.com/office/drawing/2014/main" xmlns:ns3="http://schemas.microsoft.com/office/powerpoint/2010/main" xmlns:ns4="http://schemas.openxmlformats.org/drawingml/2006/chart" xmlns:p="http://schemas.openxmlformats.org/presentationml/2006/main" xmlns:r="http://schemas.openxmlformats.org/officeDocument/2006/relationships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2608" y="54864"/>
            <a:ext cx="6977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CHAIN-WISE MARKET SHARE — GROSS SALES BASIS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May'26 Honasa share of category Gross Sales, by chain  |  NEW — basis differs from NSV elsewhere in this deck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64592" y="2361257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Required by Chain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64592" y="4638105"/>
            <a:ext cx="6886166" cy="2225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210005" y="8863968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000" dirty="0"/>
          </a:p>
        </p:txBody>
      </p:sp>
      <p:sp>
        <p:nvSpPr>
          <p:cNvPr id="18" name="TextBox 17">
            <a:extLst>
              <a:ext uri="{FF2B5EF4-FFF2-40B4-BE49-F238E27FC236}">
                <ns2:creationId id="{2560D2A8-F9F0-8CC1-6209-E2DDBA6CAB94}"/>
              </a:ext>
            </a:extLst>
          </p:cNvPr>
          <p:cNvSpPr txBox="1"/>
          <p:nvPr/>
        </p:nvSpPr>
        <p:spPr>
          <a:xfrm>
            <a:off x="164592" y="607972"/>
            <a:ext cx="6977605" cy="174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dirty="0">
                <a:solidFill>
                  <a:srgbClr val="1E2761"/>
                </a:solidFill>
                <a:latin typeface="Calibri"/>
              </a:rPr>
              <a:t>MARKET SHARE SUMMARY — MAY'26 VS APR'26</a:t>
            </a:r>
          </a:p>
        </p:txBody>
      </p:sp>
      <p:sp>
        <p:nvSpPr>
          <p:cNvPr id="19" name="Rectangle 18">
            <a:extLst>
              <a:ext uri="{FF2B5EF4-FFF2-40B4-BE49-F238E27FC236}">
                <ns2:creationId id="{CD3C9184-40E8-0278-FABE-3E85AC7B3074}"/>
              </a:ext>
            </a:extLst>
          </p:cNvPr>
          <p:cNvSpPr/>
          <p:nvPr/>
        </p:nvSpPr>
        <p:spPr>
          <a:xfrm flipV="1">
            <a:off x="164593" y="2561602"/>
            <a:ext cx="6977604" cy="48626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20" name="Table 19">
            <a:extLst>
              <a:ext uri="{FF2B5EF4-FFF2-40B4-BE49-F238E27FC236}">
                <ns2:creationId id="{C5167BE8-2365-C47D-7FC4-FF853320F9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3833176952"/>
              </p:ext>
            </p:extLst>
          </p:nvPr>
        </p:nvGraphicFramePr>
        <p:xfrm>
          <a:off x="164593" y="873780"/>
          <a:ext cx="6977605" cy="16213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40722">
                  <a:extLst>
                    <a:ext uri="{9D8B030D-6E8A-4147-A177-3AD203B41FA5}">
                      <ns2:colId val="20000"/>
                    </a:ext>
                  </a:extLst>
                </a:gridCol>
                <a:gridCol w="1526656">
                  <a:extLst>
                    <a:ext uri="{9D8B030D-6E8A-4147-A177-3AD203B41FA5}">
                      <ns2:colId val="20001"/>
                    </a:ext>
                  </a:extLst>
                </a:gridCol>
                <a:gridCol w="1526656">
                  <a:extLst>
                    <a:ext uri="{9D8B030D-6E8A-4147-A177-3AD203B41FA5}">
                      <ns2:colId val="20002"/>
                    </a:ext>
                  </a:extLst>
                </a:gridCol>
                <a:gridCol w="1174350">
                  <a:extLst>
                    <a:ext uri="{9D8B030D-6E8A-4147-A177-3AD203B41FA5}">
                      <ns2:colId val="20003"/>
                    </a:ext>
                  </a:extLst>
                </a:gridCol>
                <a:gridCol w="1409221">
                  <a:extLst>
                    <a:ext uri="{9D8B030D-6E8A-4147-A177-3AD203B41FA5}">
                      <ns2:colId val="20004"/>
                    </a:ext>
                  </a:extLst>
                </a:gridCol>
              </a:tblGrid>
              <a:tr h="426823">
                <a:tc>
                  <a:txBody>
                    <a:bodyPr/>
                    <a:lstStyle/>
                    <a:p>
                      <a:pPr algn="l"/>
                      <a:r>
                        <a:rPr lang="en-IN"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Chain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Honasa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GS</a:t>
                      </a:r>
                      <a:endParaRPr lang="en-IN"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(Lacs)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Total Mkt </a:t>
                      </a:r>
                      <a:endParaRPr lang="en-IN"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(Lacs)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Mkt Share %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38100" marR="38100" marT="19050" marB="19050" anchor="ctr"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262626"/>
                          </a:solidFill>
                          <a:latin typeface="Calibri"/>
                        </a:rPr>
                        <a:t>MRL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59.7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2,128.7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2.80%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1F7A3D"/>
                          </a:solidFill>
                          <a:latin typeface="Calibri"/>
                        </a:rPr>
                        <a:t>▲ +31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Lulu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111.5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2,848.0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3.91%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Calibri"/>
                        </a:rPr>
                        <a:t>▼ -21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262626"/>
                          </a:solidFill>
                          <a:latin typeface="Calibri"/>
                        </a:rPr>
                        <a:t>Wellness Forever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137.4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977.6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14.06%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C0392B"/>
                          </a:solidFill>
                          <a:latin typeface="Calibri"/>
                        </a:rPr>
                        <a:t>▼ -35</a:t>
                      </a:r>
                    </a:p>
                  </a:txBody>
                  <a:tcPr marL="38100" marR="3810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298637">
                <a:tc>
                  <a:txBody>
                    <a:bodyPr/>
                    <a:lstStyle/>
                    <a:p>
                      <a:pPr algn="l"/>
                      <a:r>
                        <a:rPr sz="1200" b="1" dirty="0">
                          <a:solidFill>
                            <a:srgbClr val="262626"/>
                          </a:solidFill>
                          <a:latin typeface="Calibri"/>
                        </a:rPr>
                        <a:t>Reliance Retail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62626"/>
                          </a:solidFill>
                          <a:latin typeface="Calibri"/>
                        </a:rPr>
                        <a:t>2,052.0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262626"/>
                          </a:solidFill>
                          <a:latin typeface="Calibri"/>
                        </a:rPr>
                        <a:t>19,298.6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262626"/>
                          </a:solidFill>
                          <a:latin typeface="Calibri"/>
                        </a:rPr>
                        <a:t>10.63%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C0392B"/>
                          </a:solidFill>
                          <a:latin typeface="Calibri"/>
                        </a:rPr>
                        <a:t>▼ -38</a:t>
                      </a:r>
                    </a:p>
                  </a:txBody>
                  <a:tcPr marL="38100" marR="38100" marT="19050" marB="1905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ns2:creationId id="{53536467-987E-B510-CB4B-2C7C6DD045C7}"/>
              </a:ext>
            </a:extLst>
          </p:cNvPr>
          <p:cNvSpPr/>
          <p:nvPr/>
        </p:nvSpPr>
        <p:spPr>
          <a:xfrm>
            <a:off x="164592" y="2632079"/>
            <a:ext cx="3470034" cy="117099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ns2:creationId id="{3F8584D2-B47F-A543-EB0A-0CEDB933EAC8}"/>
              </a:ext>
            </a:extLst>
          </p:cNvPr>
          <p:cNvSpPr/>
          <p:nvPr/>
        </p:nvSpPr>
        <p:spPr>
          <a:xfrm>
            <a:off x="164592" y="2702439"/>
            <a:ext cx="3378594" cy="53243"/>
          </a:xfrm>
          <a:prstGeom prst="rect">
            <a:avLst/>
          </a:prstGeom>
          <a:solidFill>
            <a:srgbClr val="1F6F78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ns2:creationId id="{0808C125-907F-EAD7-6FA6-EFFDCB2B3DF9}"/>
              </a:ext>
            </a:extLst>
          </p:cNvPr>
          <p:cNvSpPr txBox="1"/>
          <p:nvPr/>
        </p:nvSpPr>
        <p:spPr>
          <a:xfrm>
            <a:off x="310896" y="2861677"/>
            <a:ext cx="307352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400" b="1" dirty="0">
                <a:solidFill>
                  <a:srgbClr val="1E2761"/>
                </a:solidFill>
                <a:latin typeface="Calibri"/>
              </a:rPr>
              <a:t>M</a:t>
            </a:r>
            <a:r>
              <a:rPr lang="en-IN" sz="1400" b="1" dirty="0">
                <a:solidFill>
                  <a:srgbClr val="1E2761"/>
                </a:solidFill>
                <a:latin typeface="Calibri"/>
              </a:rPr>
              <a:t>RL</a:t>
            </a:r>
            <a:endParaRPr sz="1400" b="1" dirty="0">
              <a:solidFill>
                <a:srgbClr val="1E2761"/>
              </a:solidFill>
              <a:latin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ns2:creationId id="{71CE044D-6559-566B-C81B-F2AC88E1CEF6}"/>
              </a:ext>
            </a:extLst>
          </p:cNvPr>
          <p:cNvSpPr txBox="1"/>
          <p:nvPr/>
        </p:nvSpPr>
        <p:spPr>
          <a:xfrm>
            <a:off x="310896" y="3126935"/>
            <a:ext cx="2912478" cy="545790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sz="1000" dirty="0">
                <a:solidFill>
                  <a:srgbClr val="404040"/>
                </a:solidFill>
                <a:latin typeface="Calibri"/>
              </a:rPr>
              <a:t>•  Mkt Share 2.80% | MoM ▲ +31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sz="1000" dirty="0">
                <a:solidFill>
                  <a:srgbClr val="404040"/>
                </a:solidFill>
                <a:latin typeface="Calibri"/>
              </a:rPr>
              <a:t>•  Build — low share, large market; expand assortment &amp; visibility</a:t>
            </a:r>
            <a:endParaRPr sz="90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28" name="Rectangle 27">
            <a:extLst>
              <a:ext uri="{FF2B5EF4-FFF2-40B4-BE49-F238E27FC236}">
                <ns2:creationId id="{6959EF4B-A544-FAA5-F705-C806019D0BF6}"/>
              </a:ext>
            </a:extLst>
          </p:cNvPr>
          <p:cNvSpPr/>
          <p:nvPr/>
        </p:nvSpPr>
        <p:spPr>
          <a:xfrm>
            <a:off x="3634626" y="2632079"/>
            <a:ext cx="3507572" cy="117099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ns2:creationId id="{44BCBC16-D9D2-6F52-42EA-4D388C92C606}"/>
              </a:ext>
            </a:extLst>
          </p:cNvPr>
          <p:cNvSpPr/>
          <p:nvPr/>
        </p:nvSpPr>
        <p:spPr>
          <a:xfrm>
            <a:off x="3634626" y="2702439"/>
            <a:ext cx="3416132" cy="61096"/>
          </a:xfrm>
          <a:prstGeom prst="rect">
            <a:avLst/>
          </a:prstGeom>
          <a:solidFill>
            <a:srgbClr val="B8860B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ns2:creationId id="{2D82984B-EAFC-D5A6-612F-37F53B526F54}"/>
              </a:ext>
            </a:extLst>
          </p:cNvPr>
          <p:cNvSpPr txBox="1"/>
          <p:nvPr/>
        </p:nvSpPr>
        <p:spPr>
          <a:xfrm>
            <a:off x="3748838" y="2861677"/>
            <a:ext cx="279326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400" b="1" dirty="0">
                <a:solidFill>
                  <a:srgbClr val="1E2761"/>
                </a:solidFill>
                <a:latin typeface="Calibri"/>
              </a:rPr>
              <a:t>Lulu</a:t>
            </a:r>
          </a:p>
        </p:txBody>
      </p:sp>
      <p:sp>
        <p:nvSpPr>
          <p:cNvPr id="33" name="TextBox 32">
            <a:extLst>
              <a:ext uri="{FF2B5EF4-FFF2-40B4-BE49-F238E27FC236}">
                <ns2:creationId id="{282887BE-5C0F-FD16-147A-2E08078B43BD}"/>
              </a:ext>
            </a:extLst>
          </p:cNvPr>
          <p:cNvSpPr txBox="1"/>
          <p:nvPr/>
        </p:nvSpPr>
        <p:spPr>
          <a:xfrm>
            <a:off x="3748838" y="3126935"/>
            <a:ext cx="3187733" cy="401457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sz="1050" dirty="0">
                <a:solidFill>
                  <a:srgbClr val="404040"/>
                </a:solidFill>
                <a:latin typeface="Calibri"/>
              </a:rPr>
              <a:t>•  Mkt Share 3.91% | MoM ▼ -21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sz="1050" dirty="0">
                <a:solidFill>
                  <a:srgbClr val="404040"/>
                </a:solidFill>
                <a:latin typeface="Calibri"/>
              </a:rPr>
              <a:t>•  Fix — review listing gaps in declining sub-categories</a:t>
            </a:r>
          </a:p>
        </p:txBody>
      </p:sp>
      <p:sp>
        <p:nvSpPr>
          <p:cNvPr id="34" name="Rectangle 33">
            <a:extLst>
              <a:ext uri="{FF2B5EF4-FFF2-40B4-BE49-F238E27FC236}">
                <ns2:creationId id="{F1EA8BD1-964A-81EB-77A1-2CB85F9D64C9}"/>
              </a:ext>
            </a:extLst>
          </p:cNvPr>
          <p:cNvSpPr/>
          <p:nvPr/>
        </p:nvSpPr>
        <p:spPr>
          <a:xfrm>
            <a:off x="164592" y="3793367"/>
            <a:ext cx="3470034" cy="1180138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ns2:creationId id="{A5C24ECE-A21F-F843-BDC6-DFEBE708BE3F}"/>
              </a:ext>
            </a:extLst>
          </p:cNvPr>
          <p:cNvSpPr/>
          <p:nvPr/>
        </p:nvSpPr>
        <p:spPr>
          <a:xfrm>
            <a:off x="164592" y="3863727"/>
            <a:ext cx="3378594" cy="53243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ns2:creationId id="{936CAB1B-5B70-841B-2048-7D6F5B62F9A0}"/>
              </a:ext>
            </a:extLst>
          </p:cNvPr>
          <p:cNvSpPr txBox="1"/>
          <p:nvPr/>
        </p:nvSpPr>
        <p:spPr>
          <a:xfrm>
            <a:off x="292608" y="4022965"/>
            <a:ext cx="307352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400" b="1" dirty="0">
                <a:solidFill>
                  <a:srgbClr val="1E2761"/>
                </a:solidFill>
                <a:latin typeface="Calibri"/>
              </a:rPr>
              <a:t>Wellness Forever</a:t>
            </a:r>
          </a:p>
        </p:txBody>
      </p:sp>
      <p:sp>
        <p:nvSpPr>
          <p:cNvPr id="39" name="TextBox 38">
            <a:extLst>
              <a:ext uri="{FF2B5EF4-FFF2-40B4-BE49-F238E27FC236}">
                <ns2:creationId id="{97CAE435-D914-C77F-7012-EF503F93CB9D}"/>
              </a:ext>
            </a:extLst>
          </p:cNvPr>
          <p:cNvSpPr txBox="1"/>
          <p:nvPr/>
        </p:nvSpPr>
        <p:spPr>
          <a:xfrm>
            <a:off x="310896" y="4288223"/>
            <a:ext cx="3232290" cy="545790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sz="1000" dirty="0">
                <a:solidFill>
                  <a:srgbClr val="404040"/>
                </a:solidFill>
                <a:latin typeface="Calibri"/>
              </a:rPr>
              <a:t>•  Mkt Share 14.06% | MoM ▼ -35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sz="1000" dirty="0">
                <a:solidFill>
                  <a:srgbClr val="404040"/>
                </a:solidFill>
                <a:latin typeface="Calibri"/>
              </a:rPr>
              <a:t>•  Protect — stronghold chain; monitor pharmacy-channel pressure</a:t>
            </a:r>
            <a:endParaRPr sz="850" dirty="0">
              <a:solidFill>
                <a:srgbClr val="404040"/>
              </a:solidFill>
              <a:latin typeface="Calibri"/>
            </a:endParaRPr>
          </a:p>
        </p:txBody>
      </p:sp>
      <p:sp>
        <p:nvSpPr>
          <p:cNvPr id="40" name="Rectangle 39">
            <a:extLst>
              <a:ext uri="{FF2B5EF4-FFF2-40B4-BE49-F238E27FC236}">
                <ns2:creationId id="{ADC8FA77-A565-0C4B-CE2C-963525AC41C8}"/>
              </a:ext>
            </a:extLst>
          </p:cNvPr>
          <p:cNvSpPr/>
          <p:nvPr/>
        </p:nvSpPr>
        <p:spPr>
          <a:xfrm>
            <a:off x="3634626" y="3793367"/>
            <a:ext cx="3507572" cy="1170994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D9D9D9"/>
            </a:solidFill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1" name="Rectangle 40">
            <a:extLst>
              <a:ext uri="{FF2B5EF4-FFF2-40B4-BE49-F238E27FC236}">
                <ns2:creationId id="{BE6DEA8D-9D8B-9353-0CF4-90A3E4ABE2FF}"/>
              </a:ext>
            </a:extLst>
          </p:cNvPr>
          <p:cNvSpPr/>
          <p:nvPr/>
        </p:nvSpPr>
        <p:spPr>
          <a:xfrm>
            <a:off x="3634626" y="3863727"/>
            <a:ext cx="3416132" cy="61096"/>
          </a:xfrm>
          <a:prstGeom prst="rect">
            <a:avLst/>
          </a:prstGeom>
          <a:solidFill>
            <a:srgbClr val="1F7A3D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ns2:creationId id="{BF549055-5E78-DE3E-07C7-B0F7892927E4}"/>
              </a:ext>
            </a:extLst>
          </p:cNvPr>
          <p:cNvSpPr txBox="1"/>
          <p:nvPr/>
        </p:nvSpPr>
        <p:spPr>
          <a:xfrm>
            <a:off x="3762642" y="4023153"/>
            <a:ext cx="2793264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defTabSz="457200"/>
            <a:r>
              <a:rPr sz="1400" b="1" dirty="0">
                <a:solidFill>
                  <a:srgbClr val="1E2761"/>
                </a:solidFill>
                <a:latin typeface="Calibri"/>
              </a:rPr>
              <a:t>(Reliance Retail</a:t>
            </a:r>
          </a:p>
        </p:txBody>
      </p:sp>
      <p:sp>
        <p:nvSpPr>
          <p:cNvPr id="45" name="TextBox 44">
            <a:extLst>
              <a:ext uri="{FF2B5EF4-FFF2-40B4-BE49-F238E27FC236}">
                <ns2:creationId id="{4ED9EB45-E348-A3EE-D160-6F3F48B44832}"/>
              </a:ext>
            </a:extLst>
          </p:cNvPr>
          <p:cNvSpPr txBox="1"/>
          <p:nvPr/>
        </p:nvSpPr>
        <p:spPr>
          <a:xfrm>
            <a:off x="3748839" y="4288223"/>
            <a:ext cx="3187732" cy="545790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sz="1000" dirty="0">
                <a:solidFill>
                  <a:srgbClr val="404040"/>
                </a:solidFill>
                <a:latin typeface="Calibri"/>
              </a:rPr>
              <a:t>•  Mkt Share 10.63% | MoM ▼ -38 bps</a:t>
            </a:r>
          </a:p>
          <a:p>
            <a:pPr defTabSz="457200">
              <a:lnSpc>
                <a:spcPct val="104000"/>
              </a:lnSpc>
              <a:spcAft>
                <a:spcPts val="200"/>
              </a:spcAft>
            </a:pPr>
            <a:r>
              <a:rPr sz="1000" dirty="0">
                <a:solidFill>
                  <a:srgbClr val="404040"/>
                </a:solidFill>
                <a:latin typeface="Calibri"/>
              </a:rPr>
              <a:t>•  Protect &amp; Accelerate — largest base; review category mix shift</a:t>
            </a:r>
          </a:p>
        </p:txBody>
      </p:sp>
      <p:graphicFrame>
        <p:nvGraphicFramePr>
          <p:cNvPr id="47" name="Chart">
            <a:extLst>
              <a:ext uri="{FF2B5EF4-FFF2-40B4-BE49-F238E27FC236}">
                <ns2:creationId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ns3:modId val="3290096950"/>
              </p:ext>
            </p:extLst>
          </p:nvPr>
        </p:nvGraphicFramePr>
        <p:xfrm>
          <a:off x="179208" y="5021524"/>
          <a:ext cx="3455418" cy="2130443"/>
        </p:xfrm>
        <a:graphic>
          <a:graphicData uri="http://schemas.openxmlformats.org/drawingml/2006/chart">
            <ns4:chart r:id="rId2"/>
          </a:graphicData>
        </a:graphic>
      </p:graphicFrame>
      <p:sp>
        <p:nvSpPr>
          <p:cNvPr id="48" name="Rectangle 47">
            <a:extLst>
              <a:ext uri="{FF2B5EF4-FFF2-40B4-BE49-F238E27FC236}">
                <ns2:creationId id="{6D948830-5875-429E-B2E8-06A2446FF79B}"/>
              </a:ext>
            </a:extLst>
          </p:cNvPr>
          <p:cNvSpPr/>
          <p:nvPr/>
        </p:nvSpPr>
        <p:spPr>
          <a:xfrm>
            <a:off x="179207" y="5025996"/>
            <a:ext cx="875845" cy="3109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IN" sz="1600" dirty="0">
                <a:solidFill>
                  <a:schemeClr val="bg1"/>
                </a:solidFill>
              </a:rPr>
              <a:t>FW M/S</a:t>
            </a:r>
          </a:p>
        </p:txBody>
      </p:sp>
      <p:graphicFrame>
        <p:nvGraphicFramePr>
          <p:cNvPr id="49" name="Chart">
            <a:extLst>
              <a:ext uri="{FF2B5EF4-FFF2-40B4-BE49-F238E27FC236}">
                <ns2:creationId id="{3FFAD1AD-462A-48E2-8AFA-503AE095D6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ns3:modId val="2213731645"/>
              </p:ext>
            </p:extLst>
          </p:nvPr>
        </p:nvGraphicFramePr>
        <p:xfrm>
          <a:off x="3717578" y="5015175"/>
          <a:ext cx="3455418" cy="2148019"/>
        </p:xfrm>
        <a:graphic>
          <a:graphicData uri="http://schemas.openxmlformats.org/drawingml/2006/chart">
            <ns4:chart r:id="rId3"/>
          </a:graphicData>
        </a:graphic>
      </p:graphicFrame>
      <p:graphicFrame>
        <p:nvGraphicFramePr>
          <p:cNvPr id="50" name="Chart">
            <a:extLst>
              <a:ext uri="{FF2B5EF4-FFF2-40B4-BE49-F238E27FC236}">
                <ns2:creationId id="{00000000-0008-0000-01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ns3:modId val="1947335235"/>
              </p:ext>
            </p:extLst>
          </p:nvPr>
        </p:nvGraphicFramePr>
        <p:xfrm>
          <a:off x="179207" y="7206247"/>
          <a:ext cx="3455417" cy="2125794"/>
        </p:xfrm>
        <a:graphic>
          <a:graphicData uri="http://schemas.openxmlformats.org/drawingml/2006/chart">
            <ns4:chart r:id="rId4"/>
          </a:graphicData>
        </a:graphic>
      </p:graphicFrame>
      <p:sp>
        <p:nvSpPr>
          <p:cNvPr id="52" name="TextBox 51">
            <a:extLst>
              <a:ext uri="{FF2B5EF4-FFF2-40B4-BE49-F238E27FC236}">
                <ns2:creationId id="{700BEB62-5218-93B2-569B-61E16123FB26}"/>
              </a:ext>
            </a:extLst>
          </p:cNvPr>
          <p:cNvSpPr txBox="1"/>
          <p:nvPr/>
        </p:nvSpPr>
        <p:spPr>
          <a:xfrm>
            <a:off x="3748839" y="7247033"/>
            <a:ext cx="3424157" cy="20850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lIns="0" tIns="0" anchor="t">
            <a:spAutoFit/>
          </a:bodyPr>
          <a:lstStyle/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 b="0" dirty="0">
                <a:solidFill>
                  <a:srgbClr val="404040"/>
                </a:solidFill>
                <a:latin typeface="Calibri"/>
              </a:rPr>
              <a:t>•  MRL's </a:t>
            </a:r>
            <a:r>
              <a:rPr sz="1200" b="0" dirty="0" err="1">
                <a:solidFill>
                  <a:srgbClr val="404040"/>
                </a:solidFill>
                <a:latin typeface="Calibri"/>
              </a:rPr>
              <a:t>Honasa</a:t>
            </a:r>
            <a:r>
              <a:rPr sz="1200" b="0" dirty="0">
                <a:solidFill>
                  <a:srgbClr val="404040"/>
                </a:solidFill>
                <a:latin typeface="Calibri"/>
              </a:rPr>
              <a:t> share nearly doubled over the period, 8% to 14% — the fastest-improving chain in this view.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 b="0" dirty="0">
                <a:solidFill>
                  <a:srgbClr val="404040"/>
                </a:solidFill>
                <a:latin typeface="Calibri"/>
              </a:rPr>
              <a:t>•  Wellness Forever holds the strongest relative position across all three months (15% to 18%), consistent with the stronghold-chain read on the previous page even though the absolute share level differs.</a:t>
            </a:r>
          </a:p>
          <a:p>
            <a:pPr>
              <a:lnSpc>
                <a:spcPct val="104000"/>
              </a:lnSpc>
              <a:spcAft>
                <a:spcPts val="300"/>
              </a:spcAft>
            </a:pPr>
            <a:r>
              <a:rPr sz="1200" b="0" dirty="0">
                <a:solidFill>
                  <a:srgbClr val="404040"/>
                </a:solidFill>
                <a:latin typeface="Calibri"/>
              </a:rPr>
              <a:t>•  Lulu and Reliance are comparatively flat over the period (Lulu 7% to 8%; Reliance 10% to 11%).</a:t>
            </a:r>
          </a:p>
        </p:txBody>
      </p:sp>
      <p:sp>
        <p:nvSpPr>
          <p:cNvPr id="102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powerpoint/2010/main" xmlns:ns3="http://schemas.microsoft.com/office/drawing/2014/main" xmlns:ns4="http://schemas.openxmlformats.org/drawingml/2006/chart" xmlns:p="http://schemas.openxmlformats.org/presentationml/2006/main" xmlns:r="http://schemas.openxmlformats.org/officeDocument/2006/relationships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2608" y="54864"/>
            <a:ext cx="6977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READOUT: FACEWASH &amp; SHAMPOO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external validation (Nielsen MS Val, Urban) vs chain-wise performance  |  NEW</a:t>
            </a:r>
            <a:endParaRPr lang="en-US" sz="8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ns2:modId val="1650555931"/>
              </p:ext>
            </p:extLst>
          </p:nvPr>
        </p:nvGraphicFramePr>
        <p:xfrm>
          <a:off x="251039" y="6062817"/>
          <a:ext cx="3515935" cy="926266"/>
        </p:xfrm>
        <a:graphic>
          <a:graphicData uri="http://schemas.openxmlformats.org/drawingml/2006/table">
            <a:tbl>
              <a:tblPr/>
              <a:tblGrid>
                <a:gridCol w="688866">
                  <a:extLst>
                    <a:ext uri="{9D8B030D-6E8A-4147-A177-3AD203B41FA5}">
                      <ns3:colId val="20000"/>
                    </a:ext>
                  </a:extLst>
                </a:gridCol>
                <a:gridCol w="530558">
                  <a:extLst>
                    <a:ext uri="{9D8B030D-6E8A-4147-A177-3AD203B41FA5}">
                      <ns3:colId val="20001"/>
                    </a:ext>
                  </a:extLst>
                </a:gridCol>
                <a:gridCol w="498282">
                  <a:extLst>
                    <a:ext uri="{9D8B030D-6E8A-4147-A177-3AD203B41FA5}">
                      <ns3:colId val="20002"/>
                    </a:ext>
                  </a:extLst>
                </a:gridCol>
                <a:gridCol w="530558">
                  <a:extLst>
                    <a:ext uri="{9D8B030D-6E8A-4147-A177-3AD203B41FA5}">
                      <ns3:colId val="20003"/>
                    </a:ext>
                  </a:extLst>
                </a:gridCol>
                <a:gridCol w="588963">
                  <a:extLst>
                    <a:ext uri="{9D8B030D-6E8A-4147-A177-3AD203B41FA5}">
                      <ns3:colId val="20004"/>
                    </a:ext>
                  </a:extLst>
                </a:gridCol>
                <a:gridCol w="678708">
                  <a:extLst>
                    <a:ext uri="{9D8B030D-6E8A-4147-A177-3AD203B41FA5}">
                      <ns3:colId val="20005"/>
                    </a:ext>
                  </a:extLst>
                </a:gridCol>
              </a:tblGrid>
              <a:tr h="2582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+mn-lt"/>
                        </a:rPr>
                        <a:t>Metric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+mn-lt"/>
                        </a:rPr>
                        <a:t>May'25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+mn-lt"/>
                        </a:rPr>
                        <a:t>Apr'26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+mn-lt"/>
                        </a:rPr>
                        <a:t>May'26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+mn-lt"/>
                        </a:rPr>
                        <a:t>MoM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+mn-lt"/>
                        </a:rPr>
                        <a:t>YoY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4096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  <a:latin typeface="+mn-lt"/>
                        </a:rPr>
                        <a:t>MS %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+mn-lt"/>
                        </a:rPr>
                        <a:t>5.61%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+mn-lt"/>
                        </a:rPr>
                        <a:t>6.65%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+mn-lt"/>
                        </a:rPr>
                        <a:t>6.68%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8A3D"/>
                          </a:solidFill>
                          <a:latin typeface="+mn-lt"/>
                        </a:rPr>
                        <a:t>▲+2bps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8A3D"/>
                          </a:solidFill>
                          <a:latin typeface="+mn-lt"/>
                        </a:rPr>
                        <a:t>▲+107bps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25828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  <a:latin typeface="+mn-lt"/>
                        </a:rPr>
                        <a:t>Sales (Cr.)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+mn-lt"/>
                        </a:rPr>
                        <a:t>14.98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+mn-lt"/>
                        </a:rPr>
                        <a:t>17.54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  <a:latin typeface="+mn-lt"/>
                        </a:rPr>
                        <a:t>18.61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8A3D"/>
                          </a:solidFill>
                          <a:latin typeface="+mn-lt"/>
                        </a:rPr>
                        <a:t>▲+6.1%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8A3D"/>
                          </a:solidFill>
                          <a:latin typeface="+mn-lt"/>
                        </a:rPr>
                        <a:t>▲+24.2%</a:t>
                      </a:r>
                      <a:endParaRPr lang="en-US" sz="800" dirty="0">
                        <a:latin typeface="+mn-lt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</a:tbl>
          </a:graphicData>
        </a:graphic>
      </p:graphicFrame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ns2:modId val="2676845494"/>
              </p:ext>
            </p:extLst>
          </p:nvPr>
        </p:nvGraphicFramePr>
        <p:xfrm>
          <a:off x="3810051" y="6046718"/>
          <a:ext cx="3501529" cy="934786"/>
        </p:xfrm>
        <a:graphic>
          <a:graphicData uri="http://schemas.openxmlformats.org/drawingml/2006/table">
            <a:tbl>
              <a:tblPr/>
              <a:tblGrid>
                <a:gridCol w="666034">
                  <a:extLst>
                    <a:ext uri="{9D8B030D-6E8A-4147-A177-3AD203B41FA5}">
                      <ns3:colId val="20000"/>
                    </a:ext>
                  </a:extLst>
                </a:gridCol>
                <a:gridCol w="512972">
                  <a:extLst>
                    <a:ext uri="{9D8B030D-6E8A-4147-A177-3AD203B41FA5}">
                      <ns3:colId val="20001"/>
                    </a:ext>
                  </a:extLst>
                </a:gridCol>
                <a:gridCol w="481766">
                  <a:extLst>
                    <a:ext uri="{9D8B030D-6E8A-4147-A177-3AD203B41FA5}">
                      <ns3:colId val="20002"/>
                    </a:ext>
                  </a:extLst>
                </a:gridCol>
                <a:gridCol w="512972">
                  <a:extLst>
                    <a:ext uri="{9D8B030D-6E8A-4147-A177-3AD203B41FA5}">
                      <ns3:colId val="20003"/>
                    </a:ext>
                  </a:extLst>
                </a:gridCol>
                <a:gridCol w="662305">
                  <a:extLst>
                    <a:ext uri="{9D8B030D-6E8A-4147-A177-3AD203B41FA5}">
                      <ns3:colId val="20004"/>
                    </a:ext>
                  </a:extLst>
                </a:gridCol>
                <a:gridCol w="665480">
                  <a:extLst>
                    <a:ext uri="{9D8B030D-6E8A-4147-A177-3AD203B41FA5}">
                      <ns3:colId val="20005"/>
                    </a:ext>
                  </a:extLst>
                </a:gridCol>
              </a:tblGrid>
              <a:tr h="2567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May'25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Apr'26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May'26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MoM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YoY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32545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MS %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1.75%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2.52%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2.50%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C00000"/>
                          </a:solidFill>
                        </a:rPr>
                        <a:t>▼-2bps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8A3D"/>
                          </a:solidFill>
                        </a:rPr>
                        <a:t>▲+75bps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35262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00" b="1" dirty="0">
                          <a:solidFill>
                            <a:srgbClr val="111827"/>
                          </a:solidFill>
                        </a:rPr>
                        <a:t>Sales (Cr.)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5.49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6.94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111827"/>
                          </a:solidFill>
                        </a:rPr>
                        <a:t>7.75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8A3D"/>
                          </a:solidFill>
                        </a:rPr>
                        <a:t>▲+11.5%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008A3D"/>
                          </a:solidFill>
                        </a:rPr>
                        <a:t>▲+41.1%</a:t>
                      </a:r>
                      <a:endParaRPr lang="en-US" sz="8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</a:tbl>
          </a:graphicData>
        </a:graphic>
      </p:graphicFrame>
      <p:graphicFrame>
        <p:nvGraphicFramePr>
          <p:cNvPr id="15" name="Table 2"/>
          <p:cNvGraphicFramePr>
            <a:graphicFrameLocks noGrp="1"/>
          </p:cNvGraphicFramePr>
          <p:nvPr>
            <p:extLst>
              <p:ext uri="{D42A27DB-BD31-4B8C-83A1-F6EECF244321}">
                <ns2:modId val="3525972192"/>
              </p:ext>
            </p:extLst>
          </p:nvPr>
        </p:nvGraphicFramePr>
        <p:xfrm>
          <a:off x="251038" y="7328954"/>
          <a:ext cx="3529782" cy="1505958"/>
        </p:xfrm>
        <a:graphic>
          <a:graphicData uri="http://schemas.openxmlformats.org/drawingml/2006/table">
            <a:tbl>
              <a:tblPr/>
              <a:tblGrid>
                <a:gridCol w="1000750">
                  <a:extLst>
                    <a:ext uri="{9D8B030D-6E8A-4147-A177-3AD203B41FA5}">
                      <ns3:colId val="20000"/>
                    </a:ext>
                  </a:extLst>
                </a:gridCol>
                <a:gridCol w="623283">
                  <a:extLst>
                    <a:ext uri="{9D8B030D-6E8A-4147-A177-3AD203B41FA5}">
                      <ns3:colId val="20001"/>
                    </a:ext>
                  </a:extLst>
                </a:gridCol>
                <a:gridCol w="607118">
                  <a:extLst>
                    <a:ext uri="{9D8B030D-6E8A-4147-A177-3AD203B41FA5}">
                      <ns3:colId val="20002"/>
                    </a:ext>
                  </a:extLst>
                </a:gridCol>
                <a:gridCol w="623283">
                  <a:extLst>
                    <a:ext uri="{9D8B030D-6E8A-4147-A177-3AD203B41FA5}">
                      <ns3:colId val="20003"/>
                    </a:ext>
                  </a:extLst>
                </a:gridCol>
                <a:gridCol w="675348">
                  <a:extLst>
                    <a:ext uri="{9D8B030D-6E8A-4147-A177-3AD203B41FA5}">
                      <ns3:colId val="20004"/>
                    </a:ext>
                  </a:extLst>
                </a:gridCol>
              </a:tblGrid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Brand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May'25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Apr'26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May'26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YoY bps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Himalaya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21.51%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22.26%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22.20%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A3D"/>
                          </a:solidFill>
                        </a:rPr>
                        <a:t>▲ +69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Garnier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14.53%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13.32%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13.41%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▼ -112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Pond's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13.03%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13.07%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12.71%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C00000"/>
                          </a:solidFill>
                        </a:rPr>
                        <a:t>▼ -32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827"/>
                          </a:solidFill>
                        </a:rPr>
                        <a:t>Mamaearth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5.61%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6.65%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6.68%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A3D"/>
                          </a:solidFill>
                        </a:rPr>
                        <a:t>▲ +107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25099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111827"/>
                          </a:solidFill>
                        </a:rPr>
                        <a:t>The Derma Co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0.12%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0.73%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11827"/>
                          </a:solidFill>
                        </a:rPr>
                        <a:t>0.81%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08A3D"/>
                          </a:solidFill>
                        </a:rPr>
                        <a:t>▲ +69</a:t>
                      </a:r>
                      <a:endParaRPr lang="en-US" sz="95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</a:tbl>
          </a:graphicData>
        </a:graphic>
      </p:graphicFrame>
      <p:graphicFrame>
        <p:nvGraphicFramePr>
          <p:cNvPr id="9" name="Table 3"/>
          <p:cNvGraphicFramePr>
            <a:graphicFrameLocks noGrp="1"/>
          </p:cNvGraphicFramePr>
          <p:nvPr>
            <p:extLst>
              <p:ext uri="{D42A27DB-BD31-4B8C-83A1-F6EECF244321}">
                <ns2:modId val="3824060474"/>
              </p:ext>
            </p:extLst>
          </p:nvPr>
        </p:nvGraphicFramePr>
        <p:xfrm>
          <a:off x="3810050" y="7350703"/>
          <a:ext cx="3459560" cy="1484208"/>
        </p:xfrm>
        <a:graphic>
          <a:graphicData uri="http://schemas.openxmlformats.org/drawingml/2006/table">
            <a:tbl>
              <a:tblPr/>
              <a:tblGrid>
                <a:gridCol w="841437">
                  <a:extLst>
                    <a:ext uri="{9D8B030D-6E8A-4147-A177-3AD203B41FA5}">
                      <ns3:colId val="20000"/>
                    </a:ext>
                  </a:extLst>
                </a:gridCol>
                <a:gridCol w="608916">
                  <a:extLst>
                    <a:ext uri="{9D8B030D-6E8A-4147-A177-3AD203B41FA5}">
                      <ns3:colId val="20001"/>
                    </a:ext>
                  </a:extLst>
                </a:gridCol>
                <a:gridCol w="608916">
                  <a:extLst>
                    <a:ext uri="{9D8B030D-6E8A-4147-A177-3AD203B41FA5}">
                      <ns3:colId val="20002"/>
                    </a:ext>
                  </a:extLst>
                </a:gridCol>
                <a:gridCol w="608916">
                  <a:extLst>
                    <a:ext uri="{9D8B030D-6E8A-4147-A177-3AD203B41FA5}">
                      <ns3:colId val="20003"/>
                    </a:ext>
                  </a:extLst>
                </a:gridCol>
                <a:gridCol w="791375">
                  <a:extLst>
                    <a:ext uri="{9D8B030D-6E8A-4147-A177-3AD203B41FA5}">
                      <ns3:colId val="20004"/>
                    </a:ext>
                  </a:extLst>
                </a:gridCol>
              </a:tblGrid>
              <a:tr h="244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Brand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May'25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Apr'26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May'26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FFFFFF"/>
                          </a:solidFill>
                        </a:rPr>
                        <a:t>YoY bps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5A85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244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Dove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15.23%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13.31%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14.95%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C00000"/>
                          </a:solidFill>
                        </a:rPr>
                        <a:t>▼ -28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235515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62626"/>
                          </a:solidFill>
                        </a:rPr>
                        <a:t>H &amp; S</a:t>
                      </a:r>
                      <a:endParaRPr lang="en-US" sz="90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12.19%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11.74%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11.12%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C00000"/>
                          </a:solidFill>
                        </a:rPr>
                        <a:t>▼ -106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25969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TRESemme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6.44%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6.78%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7.43%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008A3D"/>
                          </a:solidFill>
                        </a:rPr>
                        <a:t>▲ +99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2446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b="1" dirty="0">
                          <a:solidFill>
                            <a:srgbClr val="111827"/>
                          </a:solidFill>
                        </a:rPr>
                        <a:t>Mamaearth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1.75%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2.52%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2.50%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008A3D"/>
                          </a:solidFill>
                        </a:rPr>
                        <a:t>▲ +75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  <a:tr h="25494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Patanjali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2.17%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2.10%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dirty="0">
                          <a:solidFill>
                            <a:srgbClr val="111827"/>
                          </a:solidFill>
                        </a:rPr>
                        <a:t>1.84%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10" b="1" dirty="0">
                          <a:solidFill>
                            <a:srgbClr val="C00000"/>
                          </a:solidFill>
                        </a:rPr>
                        <a:t>▼ -34</a:t>
                      </a:r>
                      <a:endParaRPr lang="en-US" sz="910" dirty="0"/>
                    </a:p>
                  </a:txBody>
                  <a:tcPr anchor="ctr">
                    <a:lnL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ns3:rowId val="10005"/>
                  </a:ext>
                </a:extLst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256641" y="8859138"/>
            <a:ext cx="6963770" cy="351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Reason &amp; Action Required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242807" y="9185148"/>
            <a:ext cx="6977604" cy="1417320"/>
          </a:xfrm>
          <a:prstGeom prst="rect">
            <a:avLst/>
          </a:prstGeom>
          <a:solidFill>
            <a:srgbClr val="F3F6F8"/>
          </a:solidFill>
          <a:ln w="9525">
            <a:solidFill>
              <a:srgbClr val="D9E2EC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18" name="Text 12"/>
          <p:cNvSpPr/>
          <p:nvPr/>
        </p:nvSpPr>
        <p:spPr>
          <a:xfrm>
            <a:off x="393801" y="9216454"/>
            <a:ext cx="6703284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Facewash: 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is broad-based (category value </a:t>
            </a:r>
            <a:r>
              <a:rPr lang="en-US" sz="1100" b="1" dirty="0">
                <a:solidFill>
                  <a:srgbClr val="008A3D"/>
                </a:solidFill>
              </a:rPr>
              <a:t>▲24% YoY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consistent with the strong chain-wise Face category growth seen elsewhere in this deck — reads as genuine share gain, not just category tailwind. Protect and continue distribution push.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Shampoo: </a:t>
            </a:r>
            <a:endParaRPr lang="en-US" sz="105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gain remains strong </a:t>
            </a:r>
            <a:r>
              <a:rPr lang="en-US" sz="1100" b="1" dirty="0">
                <a:solidFill>
                  <a:srgbClr val="008A3D"/>
                </a:solidFill>
              </a:rPr>
              <a:t>(+75 bps)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marginal MoM dip (</a:t>
            </a:r>
            <a:r>
              <a:rPr lang="en-US" sz="1000" b="1" dirty="0">
                <a:solidFill>
                  <a:srgbClr val="C00000"/>
                </a:solidFill>
              </a:rPr>
              <a:t>-2 bps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against </a:t>
            </a:r>
            <a:r>
              <a:rPr lang="en-US" sz="1100" b="1" dirty="0">
                <a:solidFill>
                  <a:srgbClr val="008A3D"/>
                </a:solidFill>
              </a:rPr>
              <a:t>+11.5% </a:t>
            </a: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value growth suggests Honasa grew slower than the category this month — flag for next-cycle tracking.</a:t>
            </a:r>
            <a:endParaRPr lang="en-US" sz="1050" dirty="0"/>
          </a:p>
        </p:txBody>
      </p:sp>
      <p:sp>
        <p:nvSpPr>
          <p:cNvPr id="20" name="Rectangle 19">
            <a:extLst>
              <a:ext uri="{FF2B5EF4-FFF2-40B4-BE49-F238E27FC236}">
                <ns3:creationId id="{1344F818-C1F3-2C37-6881-13FF35EC5089}"/>
              </a:ext>
            </a:extLst>
          </p:cNvPr>
          <p:cNvSpPr/>
          <p:nvPr/>
        </p:nvSpPr>
        <p:spPr>
          <a:xfrm>
            <a:off x="391144" y="623097"/>
            <a:ext cx="6806916" cy="680691"/>
          </a:xfrm>
          <a:prstGeom prst="rect">
            <a:avLst/>
          </a:prstGeom>
          <a:solidFill>
            <a:srgbClr val="EAF1FA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ns3:creationId id="{636B1AAB-4748-7CC0-BEE7-26A29602347A}"/>
              </a:ext>
            </a:extLst>
          </p:cNvPr>
          <p:cNvSpPr/>
          <p:nvPr/>
        </p:nvSpPr>
        <p:spPr>
          <a:xfrm>
            <a:off x="334249" y="618717"/>
            <a:ext cx="59552" cy="621834"/>
          </a:xfrm>
          <a:prstGeom prst="rect">
            <a:avLst/>
          </a:prstGeom>
          <a:solidFill>
            <a:srgbClr val="2D9B7F"/>
          </a:solidFill>
          <a:ln w="9525" cap="flat" cmpd="sng" algn="ctr">
            <a:noFill/>
            <a:prstDash val="solid"/>
          </a:ln>
          <a:effectLst/>
        </p:spPr>
        <p:txBody>
          <a:bodyPr rtlCol="0" anchor="t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523592" y="549490"/>
            <a:ext cx="6821651" cy="722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F5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confirms the chain-wise growth story: Mamaearth gained share YoY in both categories nationally. Facewash share gains held steady MoM; Shampoo share dipped slightly MoM even as category value grew.</a:t>
            </a:r>
          </a:p>
          <a:p>
            <a:pPr marL="0" indent="0">
              <a:buNone/>
            </a:pPr>
            <a:endParaRPr lang="en-US" sz="850" dirty="0"/>
          </a:p>
        </p:txBody>
      </p:sp>
      <p:sp>
        <p:nvSpPr>
          <p:cNvPr id="23" name="Rectangle 22">
            <a:extLst>
              <a:ext uri="{FF2B5EF4-FFF2-40B4-BE49-F238E27FC236}">
                <ns3:creationId id="{5B8656B2-8BE9-1A4B-D34B-2D4E8094CDD4}"/>
              </a:ext>
            </a:extLst>
          </p:cNvPr>
          <p:cNvSpPr/>
          <p:nvPr/>
        </p:nvSpPr>
        <p:spPr>
          <a:xfrm>
            <a:off x="334249" y="1313204"/>
            <a:ext cx="6849839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24" name="Table 23">
            <a:extLst>
              <a:ext uri="{FF2B5EF4-FFF2-40B4-BE49-F238E27FC236}">
                <ns3:creationId id="{84D32A58-B0BD-972E-2458-5A95BB9C87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2:modId val="3959128438"/>
              </p:ext>
            </p:extLst>
          </p:nvPr>
        </p:nvGraphicFramePr>
        <p:xfrm>
          <a:off x="264338" y="4517151"/>
          <a:ext cx="3431892" cy="11956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8186">
                  <a:extLst>
                    <a:ext uri="{9D8B030D-6E8A-4147-A177-3AD203B41FA5}">
                      <ns3:colId val="20000"/>
                    </a:ext>
                  </a:extLst>
                </a:gridCol>
                <a:gridCol w="519618">
                  <a:extLst>
                    <a:ext uri="{9D8B030D-6E8A-4147-A177-3AD203B41FA5}">
                      <ns3:colId val="20001"/>
                    </a:ext>
                  </a:extLst>
                </a:gridCol>
                <a:gridCol w="552417">
                  <a:extLst>
                    <a:ext uri="{9D8B030D-6E8A-4147-A177-3AD203B41FA5}">
                      <ns3:colId val="20002"/>
                    </a:ext>
                  </a:extLst>
                </a:gridCol>
                <a:gridCol w="747489">
                  <a:extLst>
                    <a:ext uri="{9D8B030D-6E8A-4147-A177-3AD203B41FA5}">
                      <ns3:colId val="20003"/>
                    </a:ext>
                  </a:extLst>
                </a:gridCol>
                <a:gridCol w="1134182">
                  <a:extLst>
                    <a:ext uri="{9D8B030D-6E8A-4147-A177-3AD203B41FA5}">
                      <ns3:colId val="20004"/>
                    </a:ext>
                  </a:extLst>
                </a:gridCol>
              </a:tblGrid>
              <a:tr h="269977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Apr'26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May'26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Top Brand in Zone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212100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1A1F29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7.36%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7.03%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BF3F3E"/>
                          </a:solidFill>
                          <a:latin typeface="Calibri"/>
                        </a:rPr>
                        <a:t>▼ -33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(20.1%)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269977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1A1F29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6.22%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7.13%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99761"/>
                          </a:solidFill>
                          <a:latin typeface="Calibri"/>
                        </a:rPr>
                        <a:t>▲ +90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(28.3%)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269977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1A1F29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5.00%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5.37%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299761"/>
                          </a:solidFill>
                          <a:latin typeface="Calibri"/>
                        </a:rPr>
                        <a:t>▲ +37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(23.0%)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173606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1A1F29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7.26%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7.23%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BF3F3E"/>
                          </a:solidFill>
                          <a:latin typeface="Calibri"/>
                        </a:rPr>
                        <a:t>▼ -3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Himalaya (22.1%)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ns3:creationId id="{E04AC7A0-24DA-9401-A043-42304A39A049}"/>
              </a:ext>
            </a:extLst>
          </p:cNvPr>
          <p:cNvSpPr txBox="1"/>
          <p:nvPr/>
        </p:nvSpPr>
        <p:spPr>
          <a:xfrm>
            <a:off x="321098" y="4250212"/>
            <a:ext cx="6862524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dirty="0">
                <a:solidFill>
                  <a:srgbClr val="1F4E78"/>
                </a:solidFill>
                <a:latin typeface="Calibri"/>
              </a:rPr>
              <a:t>ZONE-WISE MARKET SHARE — </a:t>
            </a:r>
            <a:r>
              <a:rPr lang="en-IN" sz="1200" b="1" dirty="0">
                <a:solidFill>
                  <a:srgbClr val="1F4E78"/>
                </a:solidFill>
                <a:latin typeface="Calibri"/>
              </a:rPr>
              <a:t>Facewash &amp; </a:t>
            </a:r>
            <a:r>
              <a:rPr sz="1200" b="1" dirty="0">
                <a:solidFill>
                  <a:srgbClr val="1F4E78"/>
                </a:solidFill>
                <a:latin typeface="Calibri"/>
              </a:rPr>
              <a:t>SHAMPOO (NIELSEN MS VAL)</a:t>
            </a:r>
            <a:endParaRPr sz="1150" b="1" dirty="0">
              <a:solidFill>
                <a:srgbClr val="1F4E78"/>
              </a:solidFill>
              <a:latin typeface="Calibri"/>
            </a:endParaRPr>
          </a:p>
        </p:txBody>
      </p:sp>
      <p:sp>
        <p:nvSpPr>
          <p:cNvPr id="26" name="Rectangle 25">
            <a:extLst>
              <a:ext uri="{FF2B5EF4-FFF2-40B4-BE49-F238E27FC236}">
                <ns3:creationId id="{D96E2635-8CAF-63F0-D9F6-EDAB501EFA72}"/>
              </a:ext>
            </a:extLst>
          </p:cNvPr>
          <p:cNvSpPr/>
          <p:nvPr/>
        </p:nvSpPr>
        <p:spPr>
          <a:xfrm>
            <a:off x="321234" y="4451444"/>
            <a:ext cx="6891480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27" name="Table 26">
            <a:extLst>
              <a:ext uri="{FF2B5EF4-FFF2-40B4-BE49-F238E27FC236}">
                <ns3:creationId id="{D5E60B29-7B97-3BAE-2DF9-5905818B0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2:modId val="714869175"/>
              </p:ext>
            </p:extLst>
          </p:nvPr>
        </p:nvGraphicFramePr>
        <p:xfrm>
          <a:off x="3780822" y="4517150"/>
          <a:ext cx="3431892" cy="1229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9456">
                  <a:extLst>
                    <a:ext uri="{9D8B030D-6E8A-4147-A177-3AD203B41FA5}">
                      <ns3:colId val="20000"/>
                    </a:ext>
                  </a:extLst>
                </a:gridCol>
                <a:gridCol w="479456">
                  <a:extLst>
                    <a:ext uri="{9D8B030D-6E8A-4147-A177-3AD203B41FA5}">
                      <ns3:colId val="20001"/>
                    </a:ext>
                  </a:extLst>
                </a:gridCol>
                <a:gridCol w="479456">
                  <a:extLst>
                    <a:ext uri="{9D8B030D-6E8A-4147-A177-3AD203B41FA5}">
                      <ns3:colId val="20002"/>
                    </a:ext>
                  </a:extLst>
                </a:gridCol>
                <a:gridCol w="580393">
                  <a:extLst>
                    <a:ext uri="{9D8B030D-6E8A-4147-A177-3AD203B41FA5}">
                      <ns3:colId val="20003"/>
                    </a:ext>
                  </a:extLst>
                </a:gridCol>
                <a:gridCol w="1413131">
                  <a:extLst>
                    <a:ext uri="{9D8B030D-6E8A-4147-A177-3AD203B41FA5}">
                      <ns3:colId val="20004"/>
                    </a:ext>
                  </a:extLst>
                </a:gridCol>
              </a:tblGrid>
              <a:tr h="284094">
                <a:tc>
                  <a:txBody>
                    <a:bodyPr/>
                    <a:lstStyle/>
                    <a:p>
                      <a:pPr algn="l"/>
                      <a:r>
                        <a:rPr sz="800" b="1" dirty="0">
                          <a:solidFill>
                            <a:srgbClr val="FFFFFF"/>
                          </a:solidFill>
                          <a:latin typeface="Calibri"/>
                        </a:rPr>
                        <a:t>Zone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Apr'26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May'26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Top Brand in Zone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ns3:rowId val="10000"/>
                  </a:ext>
                </a:extLst>
              </a:tr>
              <a:tr h="28409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North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2.45%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2.19%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BF3F3E"/>
                          </a:solidFill>
                          <a:latin typeface="Calibri"/>
                        </a:rPr>
                        <a:t>▼ -26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Dove (15.7%)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1"/>
                  </a:ext>
                </a:extLst>
              </a:tr>
              <a:tr h="171577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South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3.00%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3.08%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99761"/>
                          </a:solidFill>
                          <a:latin typeface="Calibri"/>
                        </a:rPr>
                        <a:t>▲ +8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Head &amp; Shoulders (12.5%)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3:rowId val="10002"/>
                  </a:ext>
                </a:extLst>
              </a:tr>
              <a:tr h="28409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East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2.61%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2.99%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99761"/>
                          </a:solidFill>
                          <a:latin typeface="Calibri"/>
                        </a:rPr>
                        <a:t>▲ +37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Dove (13.7%)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3:rowId val="10003"/>
                  </a:ext>
                </a:extLst>
              </a:tr>
              <a:tr h="171577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West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2.11%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2.16%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299761"/>
                          </a:solidFill>
                          <a:latin typeface="Calibri"/>
                        </a:rPr>
                        <a:t>▲ +5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dirty="0">
                          <a:solidFill>
                            <a:srgbClr val="1A1F29"/>
                          </a:solidFill>
                          <a:latin typeface="Calibri"/>
                        </a:rPr>
                        <a:t>Dove (16.8%)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3:rowId val="10004"/>
                  </a:ext>
                </a:extLst>
              </a:tr>
            </a:tbl>
          </a:graphicData>
        </a:graphic>
      </p:graphicFrame>
      <p:sp>
        <p:nvSpPr>
          <p:cNvPr id="29" name="Rectangle 28">
            <a:extLst>
              <a:ext uri="{FF2B5EF4-FFF2-40B4-BE49-F238E27FC236}">
                <ns3:creationId id="{203DA08B-77B6-4C6C-EBB4-86762B7954BD}"/>
              </a:ext>
            </a:extLst>
          </p:cNvPr>
          <p:cNvSpPr/>
          <p:nvPr/>
        </p:nvSpPr>
        <p:spPr>
          <a:xfrm>
            <a:off x="313607" y="5746510"/>
            <a:ext cx="6849839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ns3:creationId id="{B10E7342-BF61-6D36-5C21-AFF57B37CC07}"/>
              </a:ext>
            </a:extLst>
          </p:cNvPr>
          <p:cNvSpPr/>
          <p:nvPr/>
        </p:nvSpPr>
        <p:spPr>
          <a:xfrm>
            <a:off x="325575" y="5981189"/>
            <a:ext cx="6849839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8" name="Text 6">
            <a:extLst>
              <a:ext uri="{FF2B5EF4-FFF2-40B4-BE49-F238E27FC236}">
                <ns3:creationId id="{F670B11B-E40D-D128-EB4A-8C821046106A}"/>
              </a:ext>
            </a:extLst>
          </p:cNvPr>
          <p:cNvSpPr/>
          <p:nvPr/>
        </p:nvSpPr>
        <p:spPr>
          <a:xfrm>
            <a:off x="305840" y="5712788"/>
            <a:ext cx="3353070" cy="3026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Facewash — Mamaearth (Nielsen MS Val, Urban India)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0" name="Text 7">
            <a:extLst>
              <a:ext uri="{FF2B5EF4-FFF2-40B4-BE49-F238E27FC236}">
                <ns3:creationId id="{7E9A84A3-492F-BC57-02CD-E50F19908EC9}"/>
              </a:ext>
            </a:extLst>
          </p:cNvPr>
          <p:cNvSpPr/>
          <p:nvPr/>
        </p:nvSpPr>
        <p:spPr>
          <a:xfrm>
            <a:off x="3810051" y="5735830"/>
            <a:ext cx="3336233" cy="245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Shampoo — Mamaearth (Nielsen MS Val, Urban India)</a:t>
            </a:r>
            <a:endParaRPr lang="en-US" sz="11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2" name="Text 8">
            <a:extLst>
              <a:ext uri="{FF2B5EF4-FFF2-40B4-BE49-F238E27FC236}">
                <ns3:creationId id="{830CF712-BF9D-3C8D-F8BF-3D43F04FC3B1}"/>
              </a:ext>
            </a:extLst>
          </p:cNvPr>
          <p:cNvSpPr/>
          <p:nvPr/>
        </p:nvSpPr>
        <p:spPr>
          <a:xfrm>
            <a:off x="251039" y="7032202"/>
            <a:ext cx="3529783" cy="306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Gainers / Decliners Facewash (Top competitors, MS Val May'26)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5" name="Text 8">
            <a:extLst>
              <a:ext uri="{FF2B5EF4-FFF2-40B4-BE49-F238E27FC236}">
                <ns3:creationId id="{49395683-BBDE-3919-3AA7-3618A368D32B}"/>
              </a:ext>
            </a:extLst>
          </p:cNvPr>
          <p:cNvSpPr/>
          <p:nvPr/>
        </p:nvSpPr>
        <p:spPr>
          <a:xfrm>
            <a:off x="3810051" y="7032202"/>
            <a:ext cx="3501529" cy="263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Gainers / Decliners  Shampoo (Top competitors, MS Val May'26)</a:t>
            </a:r>
            <a:endParaRPr lang="en-US" sz="1050" dirty="0">
              <a:solidFill>
                <a:prstClr val="black"/>
              </a:solidFill>
              <a:latin typeface="Calibri" panose="020F0502020204030204"/>
            </a:endParaRPr>
          </a:p>
        </p:txBody>
      </p:sp>
      <p:graphicFrame>
        <p:nvGraphicFramePr>
          <p:cNvPr id="46" name="Chart 0">
            <a:extLst>
              <a:ext uri="{FF2B5EF4-FFF2-40B4-BE49-F238E27FC236}">
                <ns3:creationId id="{EC256BFB-A312-B510-AFC0-FD1AA1908DEC}"/>
              </a:ext>
            </a:extLst>
          </p:cNvPr>
          <p:cNvGraphicFramePr/>
          <p:nvPr>
            <p:extLst>
              <p:ext uri="{D42A27DB-BD31-4B8C-83A1-F6EECF244321}">
                <ns2:modId val="312657253"/>
              </p:ext>
            </p:extLst>
          </p:nvPr>
        </p:nvGraphicFramePr>
        <p:xfrm>
          <a:off x="264338" y="1735007"/>
          <a:ext cx="3431892" cy="2447351"/>
        </p:xfrm>
        <a:graphic>
          <a:graphicData uri="http://schemas.openxmlformats.org/drawingml/2006/chart">
            <ns4:chart r:id="rId2"/>
          </a:graphicData>
        </a:graphic>
      </p:graphicFrame>
      <p:graphicFrame>
        <p:nvGraphicFramePr>
          <p:cNvPr id="47" name="Chart 1">
            <a:extLst>
              <a:ext uri="{FF2B5EF4-FFF2-40B4-BE49-F238E27FC236}">
                <ns3:creationId id="{BF728E2D-1079-B203-9F9E-E72210FA8978}"/>
              </a:ext>
            </a:extLst>
          </p:cNvPr>
          <p:cNvGraphicFramePr/>
          <p:nvPr>
            <p:extLst>
              <p:ext uri="{D42A27DB-BD31-4B8C-83A1-F6EECF244321}">
                <ns2:modId val="3137276755"/>
              </p:ext>
            </p:extLst>
          </p:nvPr>
        </p:nvGraphicFramePr>
        <p:xfrm>
          <a:off x="3810051" y="1758454"/>
          <a:ext cx="3335193" cy="2441059"/>
        </p:xfrm>
        <a:graphic>
          <a:graphicData uri="http://schemas.openxmlformats.org/drawingml/2006/chart">
            <ns4:chart r:id="rId3"/>
          </a:graphicData>
        </a:graphic>
      </p:graphicFrame>
      <p:sp>
        <p:nvSpPr>
          <p:cNvPr id="48" name="Text 3">
            <a:extLst>
              <a:ext uri="{FF2B5EF4-FFF2-40B4-BE49-F238E27FC236}">
                <ns3:creationId id="{1364D597-373B-B835-283A-83278D4CE488}"/>
              </a:ext>
            </a:extLst>
          </p:cNvPr>
          <p:cNvSpPr/>
          <p:nvPr/>
        </p:nvSpPr>
        <p:spPr>
          <a:xfrm>
            <a:off x="212327" y="1414451"/>
            <a:ext cx="3483903" cy="28683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dirty="0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Face Wash Market Share by Zone (%)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9" name="Text 4">
            <a:extLst>
              <a:ext uri="{FF2B5EF4-FFF2-40B4-BE49-F238E27FC236}">
                <ns3:creationId id="{88DAF308-B0E9-082F-2E84-41976AA65062}"/>
              </a:ext>
            </a:extLst>
          </p:cNvPr>
          <p:cNvSpPr/>
          <p:nvPr/>
        </p:nvSpPr>
        <p:spPr>
          <a:xfrm>
            <a:off x="3935019" y="1425682"/>
            <a:ext cx="3335193" cy="2649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u="none" strike="noStrike" dirty="0">
                <a:solidFill>
                  <a:srgbClr val="1E2761"/>
                </a:solidFill>
                <a:effectLst/>
                <a:uFillTx/>
                <a:latin typeface="Calibri"/>
                <a:ea typeface="Calibri"/>
              </a:rPr>
              <a:t>Shampoo Market Share by Zone (%)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3="http://schemas.microsoft.com/office/powerpoint/2010/main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33" y="0"/>
            <a:ext cx="7562820" cy="566928"/>
          </a:xfrm>
          <a:prstGeom prst="rect">
            <a:avLst/>
          </a:prstGeom>
          <a:solidFill>
            <a:srgbClr val="2D9B7F"/>
          </a:solidFill>
          <a:ln w="12700">
            <a:solidFill>
              <a:srgbClr val="0B1F3A"/>
            </a:solidFill>
            <a:prstDash val="solid"/>
          </a:ln>
        </p:spPr>
        <p:txBody>
          <a:bodyPr anchor="t"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92608" y="54864"/>
            <a:ext cx="69776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MARKET SHARE READOUT: FACEWASH &amp; SHAMPOO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292608" y="329184"/>
            <a:ext cx="69776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D8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Category-level external validation (Nielsen MS Val, Urban) vs chain-wise performance  |  NEW</a:t>
            </a:r>
            <a:endParaRPr lang="en-US" sz="850" dirty="0"/>
          </a:p>
        </p:txBody>
      </p:sp>
      <p:sp>
        <p:nvSpPr>
          <p:cNvPr id="5" name="TextBox 4">
            <a:extLst>
              <a:ext uri="{FF2B5EF4-FFF2-40B4-BE49-F238E27FC236}">
                <ns2:creationId id="{64857D34-0CE0-3333-85DE-AB7073C79907}"/>
              </a:ext>
            </a:extLst>
          </p:cNvPr>
          <p:cNvSpPr txBox="1"/>
          <p:nvPr/>
        </p:nvSpPr>
        <p:spPr>
          <a:xfrm>
            <a:off x="192023" y="638060"/>
            <a:ext cx="718383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4E78"/>
                </a:solidFill>
                <a:latin typeface="Calibri"/>
              </a:rPr>
              <a:t>FACEWASH — TOP CONTRIBUTING STATES</a:t>
            </a:r>
          </a:p>
        </p:txBody>
      </p:sp>
      <p:sp>
        <p:nvSpPr>
          <p:cNvPr id="6" name="Rectangle 5">
            <a:extLst>
              <a:ext uri="{FF2B5EF4-FFF2-40B4-BE49-F238E27FC236}">
                <ns2:creationId id="{B7E2B9DE-05A4-660A-7E68-01DBCF744160}"/>
              </a:ext>
            </a:extLst>
          </p:cNvPr>
          <p:cNvSpPr/>
          <p:nvPr/>
        </p:nvSpPr>
        <p:spPr>
          <a:xfrm>
            <a:off x="192023" y="838201"/>
            <a:ext cx="718383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19" name="Table 18">
            <a:extLst>
              <a:ext uri="{FF2B5EF4-FFF2-40B4-BE49-F238E27FC236}">
                <ns2:creationId id="{BD97DBBC-354C-3227-37A3-CEF3B40C89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171146387"/>
              </p:ext>
            </p:extLst>
          </p:nvPr>
        </p:nvGraphicFramePr>
        <p:xfrm>
          <a:off x="192024" y="1085194"/>
          <a:ext cx="7078188" cy="19932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5958">
                  <a:extLst>
                    <a:ext uri="{9D8B030D-6E8A-4147-A177-3AD203B41FA5}">
                      <ns2:colId val="20000"/>
                    </a:ext>
                  </a:extLst>
                </a:gridCol>
                <a:gridCol w="1954425">
                  <a:extLst>
                    <a:ext uri="{9D8B030D-6E8A-4147-A177-3AD203B41FA5}">
                      <ns2:colId val="20001"/>
                    </a:ext>
                  </a:extLst>
                </a:gridCol>
                <a:gridCol w="1795958">
                  <a:extLst>
                    <a:ext uri="{9D8B030D-6E8A-4147-A177-3AD203B41FA5}">
                      <ns2:colId val="20002"/>
                    </a:ext>
                  </a:extLst>
                </a:gridCol>
                <a:gridCol w="1531847">
                  <a:extLst>
                    <a:ext uri="{9D8B030D-6E8A-4147-A177-3AD203B41FA5}">
                      <ns2:colId val="20003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Contrib. to Category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May'26 Share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Uttar Pradesh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14.5%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6.05%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-122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Maharashtra *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13.5%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6.04%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+16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West Bengal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8.4%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4.95%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+28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Delhi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7.6%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9.26%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-42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Haryana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5.8%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7.75%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+148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Madhya Pradesh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5.5%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7.26%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+14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Bihar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5.5%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4.70%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-15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7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Gujarat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10.21%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-88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8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ns2:creationId id="{1D792F32-CC22-2A79-831E-4F3CDED65A41}"/>
              </a:ext>
            </a:extLst>
          </p:cNvPr>
          <p:cNvSpPr txBox="1"/>
          <p:nvPr/>
        </p:nvSpPr>
        <p:spPr>
          <a:xfrm>
            <a:off x="192023" y="3144606"/>
            <a:ext cx="7183833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B7686"/>
                </a:solidFill>
                <a:latin typeface="Calibri"/>
              </a:rPr>
              <a:t>* High contribution to category size but share below the national average — under-penetrated opportunity</a:t>
            </a:r>
          </a:p>
        </p:txBody>
      </p:sp>
      <p:sp>
        <p:nvSpPr>
          <p:cNvPr id="28" name="TextBox 27">
            <a:extLst>
              <a:ext uri="{FF2B5EF4-FFF2-40B4-BE49-F238E27FC236}">
                <ns2:creationId id="{B2B27280-5074-6293-34D4-296950CAC819}"/>
              </a:ext>
            </a:extLst>
          </p:cNvPr>
          <p:cNvSpPr txBox="1"/>
          <p:nvPr/>
        </p:nvSpPr>
        <p:spPr>
          <a:xfrm>
            <a:off x="192023" y="3350780"/>
            <a:ext cx="718383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4E78"/>
                </a:solidFill>
                <a:latin typeface="Calibri"/>
              </a:rPr>
              <a:t>SHAMPOO — TOP CONTRIBUTING STATES</a:t>
            </a:r>
          </a:p>
        </p:txBody>
      </p:sp>
      <p:sp>
        <p:nvSpPr>
          <p:cNvPr id="31" name="Rectangle 30">
            <a:extLst>
              <a:ext uri="{FF2B5EF4-FFF2-40B4-BE49-F238E27FC236}">
                <ns2:creationId id="{AFBE3F23-3992-F713-9337-DD08117E185D}"/>
              </a:ext>
            </a:extLst>
          </p:cNvPr>
          <p:cNvSpPr/>
          <p:nvPr/>
        </p:nvSpPr>
        <p:spPr>
          <a:xfrm>
            <a:off x="192023" y="3550921"/>
            <a:ext cx="718383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32" name="Table 31">
            <a:extLst>
              <a:ext uri="{FF2B5EF4-FFF2-40B4-BE49-F238E27FC236}">
                <ns2:creationId id="{0D79B10F-6B35-5D44-EF24-0F827403A9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3495719043"/>
              </p:ext>
            </p:extLst>
          </p:nvPr>
        </p:nvGraphicFramePr>
        <p:xfrm>
          <a:off x="192024" y="3797914"/>
          <a:ext cx="7078188" cy="19932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95958">
                  <a:extLst>
                    <a:ext uri="{9D8B030D-6E8A-4147-A177-3AD203B41FA5}">
                      <ns2:colId val="20000"/>
                    </a:ext>
                  </a:extLst>
                </a:gridCol>
                <a:gridCol w="1954425">
                  <a:extLst>
                    <a:ext uri="{9D8B030D-6E8A-4147-A177-3AD203B41FA5}">
                      <ns2:colId val="20001"/>
                    </a:ext>
                  </a:extLst>
                </a:gridCol>
                <a:gridCol w="1795958">
                  <a:extLst>
                    <a:ext uri="{9D8B030D-6E8A-4147-A177-3AD203B41FA5}">
                      <ns2:colId val="20002"/>
                    </a:ext>
                  </a:extLst>
                </a:gridCol>
                <a:gridCol w="1531847">
                  <a:extLst>
                    <a:ext uri="{9D8B030D-6E8A-4147-A177-3AD203B41FA5}">
                      <ns2:colId val="20003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Contrib. to Category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May'26 Share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MoM (bps)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Maharashtra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14.8%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1.48%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+11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Gujarat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10.8%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2.63%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-61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Uttar Pradesh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9.7%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2.46%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-67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Delhi *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7.2%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1.89%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+16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Karnataka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6.3%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2.72%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+42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West Bengal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5.8%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2.84%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299761"/>
                          </a:solidFill>
                          <a:latin typeface="Calibri"/>
                        </a:rPr>
                        <a:t>▲ +53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Haryana *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5.6%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2.18%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-5 bps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7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1A1F29"/>
                          </a:solidFill>
                          <a:latin typeface="Calibri"/>
                        </a:rPr>
                        <a:t>Punjab *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5.5%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1A1F29"/>
                          </a:solidFill>
                          <a:latin typeface="Calibri"/>
                        </a:rPr>
                        <a:t>1.41%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BF3F3E"/>
                          </a:solidFill>
                          <a:latin typeface="Calibri"/>
                        </a:rPr>
                        <a:t>▼ -33 bps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8"/>
                  </a:ext>
                </a:extLst>
              </a:tr>
            </a:tbl>
          </a:graphicData>
        </a:graphic>
      </p:graphicFrame>
      <p:sp>
        <p:nvSpPr>
          <p:cNvPr id="33" name="TextBox 32">
            <a:extLst>
              <a:ext uri="{FF2B5EF4-FFF2-40B4-BE49-F238E27FC236}">
                <ns2:creationId id="{45097F38-80FE-65D5-CEEB-23A445100D27}"/>
              </a:ext>
            </a:extLst>
          </p:cNvPr>
          <p:cNvSpPr txBox="1"/>
          <p:nvPr/>
        </p:nvSpPr>
        <p:spPr>
          <a:xfrm>
            <a:off x="192023" y="5857326"/>
            <a:ext cx="7183833" cy="1154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750" b="0">
                <a:solidFill>
                  <a:srgbClr val="6B7686"/>
                </a:solidFill>
                <a:latin typeface="Calibri"/>
              </a:rPr>
              <a:t>* High contribution to category size but share below the national average — under-penetrated opportunity</a:t>
            </a:r>
          </a:p>
        </p:txBody>
      </p:sp>
      <p:sp>
        <p:nvSpPr>
          <p:cNvPr id="34" name="Rectangle 33">
            <a:extLst>
              <a:ext uri="{FF2B5EF4-FFF2-40B4-BE49-F238E27FC236}">
                <ns2:creationId id="{05F60EE2-F0FF-441C-34D0-10318CF31257}"/>
              </a:ext>
            </a:extLst>
          </p:cNvPr>
          <p:cNvSpPr/>
          <p:nvPr/>
        </p:nvSpPr>
        <p:spPr>
          <a:xfrm>
            <a:off x="192023" y="6131698"/>
            <a:ext cx="7183833" cy="1149973"/>
          </a:xfrm>
          <a:prstGeom prst="rect">
            <a:avLst/>
          </a:prstGeom>
          <a:solidFill>
            <a:srgbClr val="F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5" name="Rectangle 34">
            <a:extLst>
              <a:ext uri="{FF2B5EF4-FFF2-40B4-BE49-F238E27FC236}">
                <ns2:creationId id="{E371F915-AC3C-E886-CEE2-67CA6AE77950}"/>
              </a:ext>
            </a:extLst>
          </p:cNvPr>
          <p:cNvSpPr/>
          <p:nvPr/>
        </p:nvSpPr>
        <p:spPr>
          <a:xfrm>
            <a:off x="192023" y="6131698"/>
            <a:ext cx="46953" cy="1149973"/>
          </a:xfrm>
          <a:prstGeom prst="rect">
            <a:avLst/>
          </a:prstGeom>
          <a:solidFill>
            <a:srgbClr val="D9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ns2:creationId id="{B1BC9EFA-0433-FF39-3AFB-FCD51C545262}"/>
              </a:ext>
            </a:extLst>
          </p:cNvPr>
          <p:cNvSpPr txBox="1"/>
          <p:nvPr/>
        </p:nvSpPr>
        <p:spPr>
          <a:xfrm>
            <a:off x="320040" y="6194840"/>
            <a:ext cx="6888028" cy="956672"/>
          </a:xfrm>
          <a:prstGeom prst="rect">
            <a:avLst/>
          </a:prstGeom>
          <a:noFill/>
        </p:spPr>
        <p:txBody>
          <a:bodyPr wrap="square" lIns="0" tIns="0" anchor="t">
            <a:spAutoFit/>
          </a:bodyPr>
          <a:lstStyle/>
          <a:p>
            <a:r>
              <a:rPr sz="1000" b="1">
                <a:solidFill>
                  <a:srgbClr val="D9772E"/>
                </a:solidFill>
                <a:latin typeface="Calibri"/>
              </a:rPr>
              <a:t>High Contribution, Low Share States</a:t>
            </a:r>
          </a:p>
          <a:p>
            <a:pPr>
              <a:spcBef>
                <a:spcPts val="200"/>
              </a:spcBef>
            </a:pPr>
            <a:r>
              <a:rPr sz="950">
                <a:solidFill>
                  <a:srgbClr val="3C4453"/>
                </a:solidFill>
                <a:latin typeface="Calibri"/>
              </a:rPr>
              <a:t>Facewash: Uttar Pradesh (14.5% contrib, 6.0% share); Maharashtra (13.5% contrib, 6.0% share); West Bengal (8.4% contrib, 5.0% share); Bihar (5.5% contrib, 4.7% share). Shampoo: Maharashtra (14.8% contrib, 1.5% share); Uttar Pradesh (9.7% contrib, 2.5% share); Delhi (7.2% contrib, 1.9% share); Haryana (5.6% contrib, 2.2% share); Punjab (5.5% contrib, 1.4% share). Uttar Pradesh and Maharashtra are the two largest under-penetrated states across both categories — biggest white-space opportunity for distribution and visibility investment.</a:t>
            </a:r>
          </a:p>
        </p:txBody>
      </p:sp>
      <p:sp>
        <p:nvSpPr>
          <p:cNvPr id="37" name="TextBox 36">
            <a:extLst>
              <a:ext uri="{FF2B5EF4-FFF2-40B4-BE49-F238E27FC236}">
                <ns2:creationId id="{961E6643-A9A1-4AE4-77E0-64D300ED1ADE}"/>
              </a:ext>
            </a:extLst>
          </p:cNvPr>
          <p:cNvSpPr txBox="1"/>
          <p:nvPr/>
        </p:nvSpPr>
        <p:spPr>
          <a:xfrm>
            <a:off x="192023" y="7425956"/>
            <a:ext cx="7183833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>
                <a:solidFill>
                  <a:srgbClr val="1F4E78"/>
                </a:solidFill>
                <a:latin typeface="Calibri"/>
              </a:rPr>
              <a:t>CATEGORY, BRAND &amp; PACK-SIZE DRIVING HONASA'S STATE-WISE CHAIN SALES (INTERNAL)</a:t>
            </a:r>
          </a:p>
        </p:txBody>
      </p:sp>
      <p:sp>
        <p:nvSpPr>
          <p:cNvPr id="38" name="Rectangle 37">
            <a:extLst>
              <a:ext uri="{FF2B5EF4-FFF2-40B4-BE49-F238E27FC236}">
                <ns2:creationId id="{7B4A5C50-2806-95E8-8A29-7E8C32EC6920}"/>
              </a:ext>
            </a:extLst>
          </p:cNvPr>
          <p:cNvSpPr/>
          <p:nvPr/>
        </p:nvSpPr>
        <p:spPr>
          <a:xfrm>
            <a:off x="192023" y="7626097"/>
            <a:ext cx="7183833" cy="45719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/>
          </a:p>
        </p:txBody>
      </p:sp>
      <p:graphicFrame>
        <p:nvGraphicFramePr>
          <p:cNvPr id="39" name="Table 38">
            <a:extLst>
              <a:ext uri="{FF2B5EF4-FFF2-40B4-BE49-F238E27FC236}">
                <ns2:creationId id="{6D18F9E0-4DB4-B760-1816-5B50B0F7E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250059464"/>
              </p:ext>
            </p:extLst>
          </p:nvPr>
        </p:nvGraphicFramePr>
        <p:xfrm>
          <a:off x="192024" y="7889358"/>
          <a:ext cx="7078187" cy="2214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3380">
                  <a:extLst>
                    <a:ext uri="{9D8B030D-6E8A-4147-A177-3AD203B41FA5}">
                      <ns2:colId val="20000"/>
                    </a:ext>
                  </a:extLst>
                </a:gridCol>
                <a:gridCol w="1109268">
                  <a:extLst>
                    <a:ext uri="{9D8B030D-6E8A-4147-A177-3AD203B41FA5}">
                      <ns2:colId val="20001"/>
                    </a:ext>
                  </a:extLst>
                </a:gridCol>
                <a:gridCol w="1320557">
                  <a:extLst>
                    <a:ext uri="{9D8B030D-6E8A-4147-A177-3AD203B41FA5}">
                      <ns2:colId val="20002"/>
                    </a:ext>
                  </a:extLst>
                </a:gridCol>
                <a:gridCol w="1637491">
                  <a:extLst>
                    <a:ext uri="{9D8B030D-6E8A-4147-A177-3AD203B41FA5}">
                      <ns2:colId val="20003"/>
                    </a:ext>
                  </a:extLst>
                </a:gridCol>
                <a:gridCol w="1637491">
                  <a:extLst>
                    <a:ext uri="{9D8B030D-6E8A-4147-A177-3AD203B41FA5}">
                      <ns2:colId val="20004"/>
                    </a:ext>
                  </a:extLst>
                </a:gridCol>
              </a:tblGrid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May'26 (Lacs)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Top Category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Top Brand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Top Pack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Kerala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54.9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Telangana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32.4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Karnataka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32.1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Uttar Pradesh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16.3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Tamil Nadu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14.4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West Bengal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14.1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Delhi/Ncr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13.6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The Derma Co.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50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7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Andhra Pradesh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3.4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100 ml/g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8"/>
                  </a:ext>
                </a:extLst>
              </a:tr>
              <a:tr h="22147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A1F29"/>
                          </a:solidFill>
                          <a:latin typeface="Calibri"/>
                        </a:rPr>
                        <a:t>Punjab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2.9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A1F29"/>
                          </a:solidFill>
                          <a:latin typeface="Calibri"/>
                        </a:rPr>
                        <a:t>100 ml/g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9"/>
                  </a:ext>
                </a:extLst>
              </a:tr>
            </a:tbl>
          </a:graphicData>
        </a:graphic>
      </p:graphicFrame>
      <p:sp>
        <p:nvSpPr>
          <p:cNvPr id="40" name="TextBox 39">
            <a:extLst>
              <a:ext uri="{FF2B5EF4-FFF2-40B4-BE49-F238E27FC236}">
                <ns2:creationId id="{C53E1D41-A56D-FA35-DCE0-0348A37C0893}"/>
              </a:ext>
            </a:extLst>
          </p:cNvPr>
          <p:cNvSpPr txBox="1"/>
          <p:nvPr/>
        </p:nvSpPr>
        <p:spPr>
          <a:xfrm>
            <a:off x="192023" y="10217458"/>
            <a:ext cx="7183833" cy="264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0">
                <a:solidFill>
                  <a:srgbClr val="6B7686"/>
                </a:solidFill>
                <a:latin typeface="Calibri"/>
              </a:rPr>
              <a:t>Basis: MT chain extract (MRL + Lulu + Wellness), Data for=HCL rows only — Honasa's internal sales mix, not a competitive denominator. State names from this source do not map 1:1 to Nielsen's state list above (e.g. Kerala/Andhra Pradesh have no separate Nielsen state cut).</a:t>
            </a:r>
          </a:p>
        </p:txBody>
      </p:sp>
      <p:sp>
        <p:nvSpPr>
          <p:cNvPr id="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6 / 24</a:t>
            </a:r>
          </a:p>
        </p:txBody>
      </p:sp>
    </p:spTree>
    <p:extLst>
      <p:ext uri="{BB962C8B-B14F-4D97-AF65-F5344CB8AC3E}">
        <ns3:creationId val="236681570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ar"/>
          <p:cNvSpPr/>
          <p:nvPr/>
        </p:nvSpPr>
        <p:spPr>
          <a:xfrm>
            <a:off x="0" y="0"/>
            <a:ext cx="7562850" cy="620000"/>
          </a:xfrm>
          <a:prstGeom prst="rect">
            <a:avLst/>
          </a:prstGeom>
          <a:solidFill>
            <a:srgbClr val="2D9B7F"/>
          </a:solidFill>
        </p:spPr>
        <p:txBody>
          <a:bodyPr anchor="ctr" lIns="212691" rIns="0" tIns="0" bIns="0"/>
          <a:p>
            <a:r>
              <a:rPr lang="en-US" sz="1900" b="1">
                <a:solidFill>
                  <a:srgbClr val="FFFFFF"/>
                </a:solidFill>
                <a:latin typeface="Calibri"/>
              </a:rPr>
              <a:t>NIELSEN MARKET SHARE READOUT: FACEWASH</a:t>
            </a:r>
          </a:p>
        </p:txBody>
      </p:sp>
      <p:sp>
        <p:nvSpPr>
          <p:cNvPr id="11" name="tb11"/>
          <p:cNvSpPr txBox="1"/>
          <p:nvPr/>
        </p:nvSpPr>
        <p:spPr>
          <a:xfrm>
            <a:off x="212691" y="660000"/>
            <a:ext cx="6926523" cy="30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100">
                <a:solidFill>
                  <a:srgbClr val="1F2933"/>
                </a:solidFill>
                <a:latin typeface="Calibri"/>
              </a:rPr>
              <a:t>Category-level external validation (Nielsen MS Val, Urban — Facewash)  |  standalone facewash read, not linked to other slides</a:t>
            </a:r>
          </a:p>
        </p:txBody>
      </p:sp>
      <p:sp>
        <p:nvSpPr>
          <p:cNvPr id="12" name="card12"/>
          <p:cNvSpPr/>
          <p:nvPr/>
        </p:nvSpPr>
        <p:spPr>
          <a:xfrm>
            <a:off x="212691" y="1040000"/>
            <a:ext cx="2242174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B7F"/>
            </a:solidFill>
          </a:ln>
        </p:spPr>
        <p:txBody>
          <a:bodyPr wrap="square" anchor="ctr" lIns="60000" rIns="60000" tIns="20000" bIns="2000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MS Val</a:t>
            </a:r>
          </a:p>
          <a:p>
            <a:pPr algn="ctr"/>
            <a:r>
              <a:rPr lang="en-US" sz="2000" b="1">
                <a:solidFill>
                  <a:srgbClr val="2D9B7F"/>
                </a:solidFill>
                <a:latin typeface="Calibri"/>
              </a:rPr>
              <a:t>6.65%</a:t>
            </a:r>
          </a:p>
          <a:p>
            <a:pPr algn="ctr"/>
            <a:r>
              <a:rPr lang="en-US" sz="950">
                <a:solidFill>
                  <a:srgbClr val="1F2933"/>
                </a:solidFill>
                <a:latin typeface="Calibri"/>
              </a:rPr>
              <a:t>MoM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▲ +18 bps</a:t>
            </a:r>
            <a:r>
              <a:rPr lang="en-US" sz="950">
                <a:solidFill>
                  <a:srgbClr val="1F2933"/>
                </a:solidFill>
                <a:latin typeface="Calibri"/>
              </a:rPr>
              <a:t>  YoY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▲ +139 bps</a:t>
            </a:r>
          </a:p>
        </p:txBody>
      </p:sp>
      <p:sp>
        <p:nvSpPr>
          <p:cNvPr id="13" name="card13"/>
          <p:cNvSpPr/>
          <p:nvPr/>
        </p:nvSpPr>
        <p:spPr>
          <a:xfrm>
            <a:off x="2554865" y="1040000"/>
            <a:ext cx="2242174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B7F"/>
            </a:solidFill>
          </a:ln>
        </p:spPr>
        <p:txBody>
          <a:bodyPr wrap="square" anchor="ctr" lIns="60000" rIns="60000" tIns="20000" bIns="2000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Sales</a:t>
            </a:r>
          </a:p>
          <a:p>
            <a:pPr algn="ctr"/>
            <a:r>
              <a:rPr lang="en-US" sz="2000" b="1">
                <a:solidFill>
                  <a:srgbClr val="2D9B7F"/>
                </a:solidFill>
                <a:latin typeface="Calibri"/>
              </a:rPr>
              <a:t>₹ 17.54 Cr</a:t>
            </a:r>
          </a:p>
          <a:p>
            <a:pPr algn="ctr"/>
            <a:r>
              <a:rPr lang="en-US" sz="950">
                <a:solidFill>
                  <a:srgbClr val="1F2933"/>
                </a:solidFill>
                <a:latin typeface="Calibri"/>
              </a:rPr>
              <a:t>MoM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▲ +3.7%</a:t>
            </a:r>
            <a:r>
              <a:rPr lang="en-US" sz="950">
                <a:solidFill>
                  <a:srgbClr val="1F2933"/>
                </a:solidFill>
                <a:latin typeface="Calibri"/>
              </a:rPr>
              <a:t>  YoY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▲ +34.1%</a:t>
            </a:r>
          </a:p>
        </p:txBody>
      </p:sp>
      <p:sp>
        <p:nvSpPr>
          <p:cNvPr id="14" name="card14"/>
          <p:cNvSpPr/>
          <p:nvPr/>
        </p:nvSpPr>
        <p:spPr>
          <a:xfrm>
            <a:off x="4897039" y="1040000"/>
            <a:ext cx="2242174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B7F"/>
            </a:solidFill>
          </a:ln>
        </p:spPr>
        <p:txBody>
          <a:bodyPr wrap="square" anchor="ctr" lIns="60000" rIns="60000" tIns="20000" bIns="2000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Category (Facewash)</a:t>
            </a:r>
          </a:p>
          <a:p>
            <a:pPr algn="ctr"/>
            <a:r>
              <a:rPr lang="en-US" sz="2000" b="1">
                <a:solidFill>
                  <a:srgbClr val="2D9B7F"/>
                </a:solidFill>
                <a:latin typeface="Calibri"/>
              </a:rPr>
              <a:t>₹ 263.6 Cr</a:t>
            </a:r>
          </a:p>
          <a:p>
            <a:pPr algn="ctr"/>
            <a:r>
              <a:rPr lang="en-US" sz="950">
                <a:solidFill>
                  <a:srgbClr val="1F2933"/>
                </a:solidFill>
                <a:latin typeface="Calibri"/>
              </a:rPr>
              <a:t>MoM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▲ +0.9%</a:t>
            </a:r>
            <a:r>
              <a:rPr lang="en-US" sz="950">
                <a:solidFill>
                  <a:srgbClr val="1F2933"/>
                </a:solidFill>
                <a:latin typeface="Calibri"/>
              </a:rPr>
              <a:t>  YoY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▲ +6.1%</a:t>
            </a:r>
          </a:p>
        </p:txBody>
      </p:sp>
      <p:sp>
        <p:nvSpPr>
          <p:cNvPr id="15" name="tb15"/>
          <p:cNvSpPr txBox="1"/>
          <p:nvPr/>
        </p:nvSpPr>
        <p:spPr>
          <a:xfrm>
            <a:off x="212691" y="1800000"/>
            <a:ext cx="6926523" cy="30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150" b="1">
                <a:solidFill>
                  <a:srgbClr val="2D9B7F"/>
                </a:solidFill>
                <a:latin typeface="Calibri"/>
              </a:rPr>
              <a:t>BRAND SHARE — NIELSEN MS VAL % (URBAN, FACEWASH)</a:t>
            </a:r>
          </a:p>
        </p:txBody>
      </p:sp>
      <p:graphicFrame>
        <p:nvGraphicFramePr>
          <p:cNvPr id="16" name="ShampooBrandTable"/>
          <p:cNvGraphicFramePr/>
          <p:nvPr/>
        </p:nvGraphicFramePr>
        <p:xfrm>
          <a:off x="212691" y="2130000"/>
          <a:ext cx="6926523" cy="4230000"/>
        </p:xfrm>
        <a:graphic>
          <a:graphicData uri="http://schemas.openxmlformats.org/drawingml/2006/table">
            <a:tbl>
              <a:tblPr firstRow="1" bandRow="1"/>
              <a:tblGrid>
                <a:gridCol w="2355018"/>
                <a:gridCol w="1038978"/>
                <a:gridCol w="1038978"/>
                <a:gridCol w="1038978"/>
                <a:gridCol w="1454571"/>
              </a:tblGrid>
              <a:tr h="470000">
                <a:tc>
                  <a:txBody>
                    <a:bodyPr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</a:rPr>
                        <a:t>May'25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</a:rPr>
                        <a:t>Apr'26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</a:rPr>
                        <a:t>May'26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</a:rPr>
                        <a:t>YoY bps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Himalaya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21.8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22.5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22.3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1E8E3E"/>
                          </a:solidFill>
                          <a:latin typeface="Calibri"/>
                        </a:rPr>
                        <a:t>▲ +50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Garnier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14.1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13.7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13.3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C0392B"/>
                          </a:solidFill>
                          <a:latin typeface="Calibri"/>
                        </a:rPr>
                        <a:t>▼ -75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Pond's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13.2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13.0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13.1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C0392B"/>
                          </a:solidFill>
                          <a:latin typeface="Calibri"/>
                        </a:rPr>
                        <a:t>▼ -13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Clean &amp; Clear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10.4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9.2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9.3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C0392B"/>
                          </a:solidFill>
                          <a:latin typeface="Calibri"/>
                        </a:rPr>
                        <a:t>▼ -112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 b="1">
                          <a:solidFill>
                            <a:srgbClr val="1F2933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5.3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6.5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1F2933"/>
                          </a:solidFill>
                          <a:latin typeface="Calibri"/>
                        </a:rPr>
                        <a:t>6.7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1E8E3E"/>
                          </a:solidFill>
                          <a:latin typeface="Calibri"/>
                        </a:rPr>
                        <a:t>▲ +139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Joy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3.8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3.9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4.3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1E8E3E"/>
                          </a:solidFill>
                          <a:latin typeface="Calibri"/>
                        </a:rPr>
                        <a:t>▲ +47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Glow &amp; Lovely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3.0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C0392B"/>
                          </a:solidFill>
                          <a:latin typeface="Calibri"/>
                        </a:rPr>
                        <a:t>▼ -66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Patanjali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2.7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2.4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2.2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C0392B"/>
                          </a:solidFill>
                          <a:latin typeface="Calibri"/>
                        </a:rPr>
                        <a:t>▼ -43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7 / 24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ar"/>
          <p:cNvSpPr/>
          <p:nvPr/>
        </p:nvSpPr>
        <p:spPr>
          <a:xfrm>
            <a:off x="0" y="0"/>
            <a:ext cx="7562850" cy="620000"/>
          </a:xfrm>
          <a:prstGeom prst="rect">
            <a:avLst/>
          </a:prstGeom>
          <a:solidFill>
            <a:srgbClr val="2D9B7F"/>
          </a:solidFill>
        </p:spPr>
        <p:txBody>
          <a:bodyPr anchor="ctr" lIns="212691" rIns="0" tIns="0" bIns="0"/>
          <a:p>
            <a:r>
              <a:rPr lang="en-US" sz="1900" b="1">
                <a:solidFill>
                  <a:srgbClr val="FFFFFF"/>
                </a:solidFill>
                <a:latin typeface="Calibri"/>
              </a:rPr>
              <a:t>NIELSEN MARKET SHARE READOUT: SHAMPOO</a:t>
            </a:r>
          </a:p>
        </p:txBody>
      </p:sp>
      <p:sp>
        <p:nvSpPr>
          <p:cNvPr id="11" name="tb11"/>
          <p:cNvSpPr txBox="1"/>
          <p:nvPr/>
        </p:nvSpPr>
        <p:spPr>
          <a:xfrm>
            <a:off x="212691" y="660000"/>
            <a:ext cx="6926523" cy="30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100">
                <a:solidFill>
                  <a:srgbClr val="1F2933"/>
                </a:solidFill>
                <a:latin typeface="Calibri"/>
              </a:rPr>
              <a:t>Category-level external validation (Nielsen MS Val, Urban — Bottles)  |  standalone shampoo read, not linked to other slides</a:t>
            </a:r>
          </a:p>
        </p:txBody>
      </p:sp>
      <p:sp>
        <p:nvSpPr>
          <p:cNvPr id="12" name="card12"/>
          <p:cNvSpPr/>
          <p:nvPr/>
        </p:nvSpPr>
        <p:spPr>
          <a:xfrm>
            <a:off x="212691" y="1040000"/>
            <a:ext cx="2242174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B7F"/>
            </a:solidFill>
          </a:ln>
        </p:spPr>
        <p:txBody>
          <a:bodyPr wrap="square" anchor="ctr" lIns="60000" rIns="60000" tIns="20000" bIns="2000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MS Val</a:t>
            </a:r>
          </a:p>
          <a:p>
            <a:pPr algn="ctr"/>
            <a:r>
              <a:rPr lang="en-US" sz="2000" b="1">
                <a:solidFill>
                  <a:srgbClr val="2D9B7F"/>
                </a:solidFill>
                <a:latin typeface="Calibri"/>
              </a:rPr>
              <a:t>2.52%</a:t>
            </a:r>
          </a:p>
          <a:p>
            <a:pPr algn="ctr"/>
            <a:r>
              <a:rPr lang="en-US" sz="950">
                <a:solidFill>
                  <a:srgbClr val="1F2933"/>
                </a:solidFill>
                <a:latin typeface="Calibri"/>
              </a:rPr>
              <a:t>MoM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▲ +18 bps</a:t>
            </a:r>
            <a:r>
              <a:rPr lang="en-US" sz="950">
                <a:solidFill>
                  <a:srgbClr val="1F2933"/>
                </a:solidFill>
                <a:latin typeface="Calibri"/>
              </a:rPr>
              <a:t>  YoY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▲ +91 bps</a:t>
            </a:r>
          </a:p>
        </p:txBody>
      </p:sp>
      <p:sp>
        <p:nvSpPr>
          <p:cNvPr id="13" name="card13"/>
          <p:cNvSpPr/>
          <p:nvPr/>
        </p:nvSpPr>
        <p:spPr>
          <a:xfrm>
            <a:off x="2554865" y="1040000"/>
            <a:ext cx="2242174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B7F"/>
            </a:solidFill>
          </a:ln>
        </p:spPr>
        <p:txBody>
          <a:bodyPr wrap="square" anchor="ctr" lIns="60000" rIns="60000" tIns="20000" bIns="2000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Sales</a:t>
            </a:r>
          </a:p>
          <a:p>
            <a:pPr algn="ctr"/>
            <a:r>
              <a:rPr lang="en-US" sz="2000" b="1">
                <a:solidFill>
                  <a:srgbClr val="2D9B7F"/>
                </a:solidFill>
                <a:latin typeface="Calibri"/>
              </a:rPr>
              <a:t>₹ 6.94 Cr</a:t>
            </a:r>
          </a:p>
          <a:p>
            <a:pPr algn="ctr"/>
            <a:r>
              <a:rPr lang="en-US" sz="950">
                <a:solidFill>
                  <a:srgbClr val="1F2933"/>
                </a:solidFill>
                <a:latin typeface="Calibri"/>
              </a:rPr>
              <a:t>MoM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▲ +4.0%</a:t>
            </a:r>
            <a:r>
              <a:rPr lang="en-US" sz="950">
                <a:solidFill>
                  <a:srgbClr val="1F2933"/>
                </a:solidFill>
                <a:latin typeface="Calibri"/>
              </a:rPr>
              <a:t>  YoY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▲ +52.2%</a:t>
            </a:r>
          </a:p>
        </p:txBody>
      </p:sp>
      <p:sp>
        <p:nvSpPr>
          <p:cNvPr id="14" name="card14"/>
          <p:cNvSpPr/>
          <p:nvPr/>
        </p:nvSpPr>
        <p:spPr>
          <a:xfrm>
            <a:off x="4897039" y="1040000"/>
            <a:ext cx="2242174" cy="6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D9B7F"/>
            </a:solidFill>
          </a:ln>
        </p:spPr>
        <p:txBody>
          <a:bodyPr wrap="square" anchor="ctr" lIns="60000" rIns="60000" tIns="20000" bIns="2000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Category (Bottles)</a:t>
            </a:r>
          </a:p>
          <a:p>
            <a:pPr algn="ctr"/>
            <a:r>
              <a:rPr lang="en-US" sz="2000" b="1">
                <a:solidFill>
                  <a:srgbClr val="2D9B7F"/>
                </a:solidFill>
                <a:latin typeface="Calibri"/>
              </a:rPr>
              <a:t>₹ 276.0 Cr</a:t>
            </a:r>
          </a:p>
          <a:p>
            <a:pPr algn="ctr"/>
            <a:r>
              <a:rPr lang="en-US" sz="950">
                <a:solidFill>
                  <a:srgbClr val="1F2933"/>
                </a:solidFill>
                <a:latin typeface="Calibri"/>
              </a:rPr>
              <a:t>MoM </a:t>
            </a:r>
            <a:r>
              <a:rPr lang="en-US" sz="1050" b="1">
                <a:solidFill>
                  <a:srgbClr val="C0392B"/>
                </a:solidFill>
                <a:latin typeface="Calibri"/>
              </a:rPr>
              <a:t>▼ -3.3%</a:t>
            </a:r>
            <a:r>
              <a:rPr lang="en-US" sz="950">
                <a:solidFill>
                  <a:srgbClr val="1F2933"/>
                </a:solidFill>
                <a:latin typeface="Calibri"/>
              </a:rPr>
              <a:t>  YoY </a:t>
            </a:r>
            <a:r>
              <a:rPr lang="en-US" sz="1050" b="1">
                <a:solidFill>
                  <a:srgbClr val="C0392B"/>
                </a:solidFill>
                <a:latin typeface="Calibri"/>
              </a:rPr>
              <a:t>▼ -2.8%</a:t>
            </a:r>
          </a:p>
        </p:txBody>
      </p:sp>
      <p:sp>
        <p:nvSpPr>
          <p:cNvPr id="15" name="tb15"/>
          <p:cNvSpPr txBox="1"/>
          <p:nvPr/>
        </p:nvSpPr>
        <p:spPr>
          <a:xfrm>
            <a:off x="212691" y="1800000"/>
            <a:ext cx="6926523" cy="300000"/>
          </a:xfrm>
          <a:prstGeom prst="rect">
            <a:avLst/>
          </a:prstGeom>
          <a:noFill/>
        </p:spPr>
        <p:txBody>
          <a:bodyPr wrap="square" anchor="t" lIns="55000" rIns="55000" tIns="30000" bIns="30000"/>
          <a:p>
            <a:pPr algn="l"/>
            <a:r>
              <a:rPr lang="en-US" sz="1150" b="1">
                <a:solidFill>
                  <a:srgbClr val="2D9B7F"/>
                </a:solidFill>
                <a:latin typeface="Calibri"/>
              </a:rPr>
              <a:t>BRAND SHARE — NIELSEN MS VAL % (URBAN, BOTTLES)</a:t>
            </a:r>
          </a:p>
        </p:txBody>
      </p:sp>
      <p:graphicFrame>
        <p:nvGraphicFramePr>
          <p:cNvPr id="16" name="ShampooBrandTable"/>
          <p:cNvGraphicFramePr/>
          <p:nvPr/>
        </p:nvGraphicFramePr>
        <p:xfrm>
          <a:off x="212691" y="2130000"/>
          <a:ext cx="6926523" cy="4230000"/>
        </p:xfrm>
        <a:graphic>
          <a:graphicData uri="http://schemas.openxmlformats.org/drawingml/2006/table">
            <a:tbl>
              <a:tblPr firstRow="1" bandRow="1"/>
              <a:tblGrid>
                <a:gridCol w="2355018"/>
                <a:gridCol w="1038978"/>
                <a:gridCol w="1038978"/>
                <a:gridCol w="1038978"/>
                <a:gridCol w="1454571"/>
              </a:tblGrid>
              <a:tr h="470000">
                <a:tc>
                  <a:txBody>
                    <a:bodyPr/>
                    <a:p>
                      <a:pPr algn="l"/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</a:rPr>
                        <a:t>May'25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</a:rPr>
                        <a:t>Apr'26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</a:rPr>
                        <a:t>May'26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FFFFFF"/>
                          </a:solidFill>
                          <a:latin typeface="Calibri"/>
                        </a:rPr>
                        <a:t>YoY bps</a:t>
                      </a:r>
                    </a:p>
                  </a:txBody>
                  <a:tcPr marL="46000" marR="46000" marT="12000" marB="12000" anchor="ctr">
                    <a:solidFill>
                      <a:srgbClr val="2D9B7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Dove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14.5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13.1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13.3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C0392B"/>
                          </a:solidFill>
                          <a:latin typeface="Calibri"/>
                        </a:rPr>
                        <a:t>▼ -120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Head &amp; Shoulders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12.6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12.0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11.7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C0392B"/>
                          </a:solidFill>
                          <a:latin typeface="Calibri"/>
                        </a:rPr>
                        <a:t>▼ -89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Clinic Plus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9.7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9.6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9.7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C0392B"/>
                          </a:solidFill>
                          <a:latin typeface="Calibri"/>
                        </a:rPr>
                        <a:t>▼ -3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L'Oreal Paris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8.1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9.4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9.3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1E8E3E"/>
                          </a:solidFill>
                          <a:latin typeface="Calibri"/>
                        </a:rPr>
                        <a:t>▲ +119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Sunsilk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8.4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7.8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7.5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C0392B"/>
                          </a:solidFill>
                          <a:latin typeface="Calibri"/>
                        </a:rPr>
                        <a:t>▼ -91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Tresemme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6.1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6.6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6.8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1E8E3E"/>
                          </a:solidFill>
                          <a:latin typeface="Calibri"/>
                        </a:rPr>
                        <a:t>▲ +66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Pantene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3.9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3.6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3.5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C0392B"/>
                          </a:solidFill>
                          <a:latin typeface="Calibri"/>
                        </a:rPr>
                        <a:t>▼ -42</a:t>
                      </a:r>
                    </a:p>
                  </a:txBody>
                  <a:tcPr marL="46000" marR="46000" marT="12000" marB="12000" anchor="ctr">
                    <a:solidFill>
                      <a:srgbClr val="FFFFFF"/>
                    </a:solidFill>
                  </a:tcPr>
                </a:tc>
              </a:tr>
              <a:tr h="470000">
                <a:tc>
                  <a:txBody>
                    <a:bodyPr/>
                    <a:p>
                      <a:pPr algn="l"/>
                      <a:r>
                        <a:rPr lang="en-US" sz="1050" b="1">
                          <a:solidFill>
                            <a:srgbClr val="1F2933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1.6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>
                          <a:solidFill>
                            <a:srgbClr val="1F2933"/>
                          </a:solidFill>
                          <a:latin typeface="Calibri"/>
                        </a:rPr>
                        <a:t>2.3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1F2933"/>
                          </a:solidFill>
                          <a:latin typeface="Calibri"/>
                        </a:rPr>
                        <a:t>2.5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50" b="1">
                          <a:solidFill>
                            <a:srgbClr val="1E8E3E"/>
                          </a:solidFill>
                          <a:latin typeface="Calibri"/>
                        </a:rPr>
                        <a:t>▲ +91</a:t>
                      </a:r>
                    </a:p>
                  </a:txBody>
                  <a:tcPr marL="46000" marR="46000" marT="12000" marB="12000" anchor="ctr">
                    <a:solidFill>
                      <a:srgbClr val="E3F2EC"/>
                    </a:solidFill>
                  </a:tcPr>
                </a:tc>
              </a:tr>
            </a:tbl>
          </a:graphicData>
        </a:graphic>
      </p:graphicFrame>
      <p:sp>
        <p:nvSpPr>
          <p:cNvPr id="9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8 / 24</a:t>
            </a:r>
          </a:p>
        </p:txBody>
      </p:sp>
    </p:spTree>
  </p:cSld>
</p:sld>
</file>

<file path=ppt/slides/slide9.xml><?xml version="1.0" encoding="utf-8"?>
<p:sld xmlns:a="http://schemas.openxmlformats.org/drawingml/2006/main" xmlns:ns2="http://schemas.microsoft.com/office/drawing/2014/main" xmlns:ns3="http://schemas.openxmlformats.org/drawingml/2006/chart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5246" y="0"/>
            <a:ext cx="6012359" cy="921895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55823" y="176363"/>
            <a:ext cx="5451205" cy="68140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666" b="1">
                <a:solidFill>
                  <a:srgbClr val="FFFFFF"/>
                </a:solidFill>
                <a:latin typeface="Calibri"/>
              </a:rPr>
              <a:t>PACK SIZE DEEP DIVE</a:t>
            </a:r>
          </a:p>
          <a:p>
            <a:pPr>
              <a:spcBef>
                <a:spcPts val="400"/>
              </a:spcBef>
            </a:pPr>
            <a:r>
              <a:rPr sz="921">
                <a:solidFill>
                  <a:srgbClr val="B9C4D4"/>
                </a:solidFill>
                <a:latin typeface="Calibri"/>
              </a:rPr>
              <a:t>Top contributing pack sizes — Honasa internal sales mix, MT chains</a:t>
            </a:r>
          </a:p>
          <a:p>
            <a:pPr>
              <a:spcBef>
                <a:spcPts val="600"/>
              </a:spcBef>
            </a:pPr>
            <a:r>
              <a:rPr sz="789" b="1">
                <a:solidFill>
                  <a:srgbClr val="81B7A9"/>
                </a:solidFill>
                <a:latin typeface="Calibri"/>
              </a:rPr>
              <a:t>MAY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5823" y="1066192"/>
            <a:ext cx="5451205" cy="2084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8" b="1">
                <a:solidFill>
                  <a:srgbClr val="1F4E78"/>
                </a:solidFill>
                <a:latin typeface="Calibri"/>
              </a:rPr>
              <a:t>TOP CONTRIBUTING PACK SIZES (BY MAY'26 SALES)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5823" y="1282637"/>
            <a:ext cx="5451205" cy="13361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55823" y="1344096"/>
          <a:ext cx="5451205" cy="219206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2142">
                  <a:extLst>
                    <a:ext uri="{9D8B030D-6E8A-4147-A177-3AD203B41FA5}">
                      <ns2:colId val="20000"/>
                    </a:ext>
                  </a:extLst>
                </a:gridCol>
                <a:gridCol w="1122307">
                  <a:extLst>
                    <a:ext uri="{9D8B030D-6E8A-4147-A177-3AD203B41FA5}">
                      <ns2:colId val="20001"/>
                    </a:ext>
                  </a:extLst>
                </a:gridCol>
                <a:gridCol w="1122307">
                  <a:extLst>
                    <a:ext uri="{9D8B030D-6E8A-4147-A177-3AD203B41FA5}">
                      <ns2:colId val="20002"/>
                    </a:ext>
                  </a:extLst>
                </a:gridCol>
                <a:gridCol w="1122307">
                  <a:extLst>
                    <a:ext uri="{9D8B030D-6E8A-4147-A177-3AD203B41FA5}">
                      <ns2:colId val="20003"/>
                    </a:ext>
                  </a:extLst>
                </a:gridCol>
                <a:gridCol w="1042142">
                  <a:extLst>
                    <a:ext uri="{9D8B030D-6E8A-4147-A177-3AD203B41FA5}">
                      <ns2:colId val="20004"/>
                    </a:ext>
                  </a:extLst>
                </a:gridCol>
              </a:tblGrid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FFFFFF"/>
                          </a:solidFill>
                          <a:latin typeface="Calibri"/>
                        </a:rPr>
                        <a:t>Pack Size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1">
                          <a:solidFill>
                            <a:srgbClr val="FFFFFF"/>
                          </a:solidFill>
                          <a:latin typeface="Calibri"/>
                        </a:rPr>
                        <a:t>May'26 (Lacs)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1">
                          <a:solidFill>
                            <a:srgbClr val="FFFFFF"/>
                          </a:solidFill>
                          <a:latin typeface="Calibri"/>
                        </a:rPr>
                        <a:t>Contribution %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1">
                          <a:solidFill>
                            <a:srgbClr val="FFFFFF"/>
                          </a:solidFill>
                          <a:latin typeface="Calibri"/>
                        </a:rPr>
                        <a:t>MoM Growth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150 g/ml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37.2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20.2%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299761"/>
                          </a:solidFill>
                          <a:latin typeface="Calibri"/>
                        </a:rPr>
                        <a:t>▲ +46.0%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▲ Gaining Share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50 g/ml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35.1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19.0%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299761"/>
                          </a:solidFill>
                          <a:latin typeface="Calibri"/>
                        </a:rPr>
                        <a:t>▲ +11.9%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Needs Promo Support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100 g/ml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24.7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13.4%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299761"/>
                          </a:solidFill>
                          <a:latin typeface="Calibri"/>
                        </a:rPr>
                        <a:t>▲ +6.2%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Needs Promo Support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30 g/ml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14.7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8.0%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299761"/>
                          </a:solidFill>
                          <a:latin typeface="Calibri"/>
                        </a:rPr>
                        <a:t>▲ +7.8%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Needs Promo Support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200 g/ml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13.0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7.1%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299761"/>
                          </a:solidFill>
                          <a:latin typeface="Calibri"/>
                        </a:rPr>
                        <a:t>▲ +27.8%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▲ Gaining Share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250 g/ml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11.4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6.2%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299761"/>
                          </a:solidFill>
                          <a:latin typeface="Calibri"/>
                        </a:rPr>
                        <a:t>▲ +41.2%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▲ Gaining Share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125 g/ml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11.4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6.2%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299761"/>
                          </a:solidFill>
                          <a:latin typeface="Calibri"/>
                        </a:rPr>
                        <a:t>▲ +18.1%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Needs Promo Support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7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80 g/ml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9.7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299761"/>
                          </a:solidFill>
                          <a:latin typeface="Calibri"/>
                        </a:rPr>
                        <a:t>▲ +1.7%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Needs Promo Support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5823" y="3348216"/>
            <a:ext cx="5451205" cy="2084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8" b="1">
                <a:solidFill>
                  <a:srgbClr val="1F4E78"/>
                </a:solidFill>
                <a:latin typeface="Calibri"/>
              </a:rPr>
              <a:t>CATEGORY &amp; BRAND DRIVING EACH PACK SIZE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5823" y="3564661"/>
            <a:ext cx="5451205" cy="13361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055823" y="3626120"/>
          <a:ext cx="5451205" cy="18758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2142">
                  <a:extLst>
                    <a:ext uri="{9D8B030D-6E8A-4147-A177-3AD203B41FA5}">
                      <ns2:colId val="20000"/>
                    </a:ext>
                  </a:extLst>
                </a:gridCol>
                <a:gridCol w="1202472">
                  <a:extLst>
                    <a:ext uri="{9D8B030D-6E8A-4147-A177-3AD203B41FA5}">
                      <ns2:colId val="20001"/>
                    </a:ext>
                  </a:extLst>
                </a:gridCol>
                <a:gridCol w="1042142">
                  <a:extLst>
                    <a:ext uri="{9D8B030D-6E8A-4147-A177-3AD203B41FA5}">
                      <ns2:colId val="20002"/>
                    </a:ext>
                  </a:extLst>
                </a:gridCol>
                <a:gridCol w="1202472">
                  <a:extLst>
                    <a:ext uri="{9D8B030D-6E8A-4147-A177-3AD203B41FA5}">
                      <ns2:colId val="20003"/>
                    </a:ext>
                  </a:extLst>
                </a:gridCol>
                <a:gridCol w="961977">
                  <a:extLst>
                    <a:ext uri="{9D8B030D-6E8A-4147-A177-3AD203B41FA5}">
                      <ns2:colId val="20004"/>
                    </a:ext>
                  </a:extLst>
                </a:gridCol>
              </a:tblGrid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FFFFFF"/>
                          </a:solidFill>
                          <a:latin typeface="Calibri"/>
                        </a:rPr>
                        <a:t>Pack Size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1">
                          <a:solidFill>
                            <a:srgbClr val="FFFFFF"/>
                          </a:solidFill>
                          <a:latin typeface="Calibri"/>
                        </a:rPr>
                        <a:t>Top Category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1">
                          <a:solidFill>
                            <a:srgbClr val="FFFFFF"/>
                          </a:solidFill>
                          <a:latin typeface="Calibri"/>
                        </a:rPr>
                        <a:t>Cat. Sales (Lacs)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1">
                          <a:solidFill>
                            <a:srgbClr val="FFFFFF"/>
                          </a:solidFill>
                          <a:latin typeface="Calibri"/>
                        </a:rPr>
                        <a:t>Top Brand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1">
                          <a:solidFill>
                            <a:srgbClr val="FFFFFF"/>
                          </a:solidFill>
                          <a:latin typeface="Calibri"/>
                        </a:rPr>
                        <a:t>Brand Sales (Lacs)</a:t>
                      </a:r>
                    </a:p>
                  </a:txBody>
                  <a:tcPr marL="63500" marR="63500" marT="25400" marB="25400" anchor="ctr">
                    <a:solidFill>
                      <a:srgbClr val="0F1F34"/>
                    </a:solidFill>
                  </a:tcPr>
                </a:tc>
                <a:extLst>
                  <a:ext uri="{0D108BD9-81ED-4DB2-BD59-A6C34878D82A}">
                    <ns2:rowId val="10000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150 g/ml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31.0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The Derma Co.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19.1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1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50 g/ml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32.1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The Derma Co.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17.0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2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100 g/ml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24.2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16.1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3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30 g/ml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14.7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The Derma Co.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14.5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4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200 g/ml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10.0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12.4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5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250 g/ml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Hair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11.0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11.3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6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125 g/ml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9.9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The Derma Co.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9.6</a:t>
                      </a:r>
                    </a:p>
                  </a:txBody>
                  <a:tcPr marL="63500" marR="63500" marT="25400" marB="254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ns2:rowId val="10007"/>
                  </a:ext>
                </a:extLst>
              </a:tr>
              <a:tr h="208428">
                <a:tc>
                  <a:txBody>
                    <a:bodyPr/>
                    <a:lstStyle/>
                    <a:p>
                      <a:pPr algn="l"/>
                      <a:r>
                        <a:rPr sz="745" b="1">
                          <a:solidFill>
                            <a:srgbClr val="1A1F29"/>
                          </a:solidFill>
                          <a:latin typeface="Calibri"/>
                        </a:rPr>
                        <a:t>80 g/ml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Face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9.7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45" b="0">
                          <a:solidFill>
                            <a:srgbClr val="1A1F29"/>
                          </a:solidFill>
                          <a:latin typeface="Calibri"/>
                        </a:rPr>
                        <a:t>7.3</a:t>
                      </a:r>
                    </a:p>
                  </a:txBody>
                  <a:tcPr marL="63500" marR="63500" marT="25400" marB="25400"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ns2:rowId val="10008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55823" y="5646273"/>
            <a:ext cx="5451205" cy="2084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8" b="1">
                <a:solidFill>
                  <a:srgbClr val="1F4E78"/>
                </a:solidFill>
                <a:latin typeface="Calibri"/>
              </a:rPr>
              <a:t>PACK-WISE SALES: APR'26 VS MAY'26 (TOP 8 PACKS)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5823" y="5862718"/>
            <a:ext cx="5451205" cy="13361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1055823" y="5924178"/>
          <a:ext cx="5451205" cy="1523131"/>
        </p:xfrm>
        <a:graphic>
          <a:graphicData uri="http://schemas.openxmlformats.org/drawingml/2006/chart">
            <ns3:chart r:id="rId2"/>
          </a:graphicData>
        </a:graphic>
      </p:graphicFrame>
      <p:sp>
        <p:nvSpPr>
          <p:cNvPr id="13" name="Rectangle 12"/>
          <p:cNvSpPr/>
          <p:nvPr/>
        </p:nvSpPr>
        <p:spPr>
          <a:xfrm>
            <a:off x="1055823" y="7575572"/>
            <a:ext cx="5451205" cy="1242554"/>
          </a:xfrm>
          <a:prstGeom prst="rect">
            <a:avLst/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55823" y="7575572"/>
            <a:ext cx="35629" cy="1242554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68053" y="7639704"/>
            <a:ext cx="5226744" cy="1114291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77" b="1">
                <a:solidFill>
                  <a:srgbClr val="1F4E78"/>
                </a:solidFill>
                <a:latin typeface="Calibri"/>
              </a:rPr>
              <a:t>Packs Gaining, Losing &amp; Needing Promo Support</a:t>
            </a:r>
          </a:p>
          <a:p>
            <a:pPr>
              <a:spcBef>
                <a:spcPts val="200"/>
              </a:spcBef>
            </a:pPr>
            <a:r>
              <a:rPr sz="833">
                <a:solidFill>
                  <a:srgbClr val="3C4453"/>
                </a:solidFill>
                <a:latin typeface="Calibri"/>
              </a:rPr>
              <a:t>150g/ml and 250g/ml are the fastest-growing packs (+46.0% and +41.2% MoM) and, together with 600g/ml (+34.3%) and 200g/ml (+27.8%), are clear gainers — worth prioritising for visibility and shelf space. 400g/ml is the only top-8 pack in decline (−5.7% MoM) and needs a root-cause check. 50g/ml, 100g/ml, 30g/ml and 125g/ml are flat-to-modest growers (+6% to +19%) despite being large, established packs — these need visibility/promo support to re-accelerate rather than rely on organic pull.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5823" y="8914324"/>
            <a:ext cx="5451205" cy="681401"/>
          </a:xfrm>
          <a:prstGeom prst="rect">
            <a:avLst/>
          </a:prstGeom>
          <a:solidFill>
            <a:srgbClr val="FC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055823" y="8914324"/>
            <a:ext cx="35629" cy="681401"/>
          </a:xfrm>
          <a:prstGeom prst="rect">
            <a:avLst/>
          </a:prstGeom>
          <a:solidFill>
            <a:srgbClr val="D97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168053" y="8978456"/>
            <a:ext cx="5226744" cy="55313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77" b="1">
                <a:solidFill>
                  <a:srgbClr val="D9772E"/>
                </a:solidFill>
                <a:latin typeface="Calibri"/>
              </a:rPr>
              <a:t>Basis Note</a:t>
            </a:r>
          </a:p>
          <a:p>
            <a:pPr>
              <a:spcBef>
                <a:spcPts val="200"/>
              </a:spcBef>
            </a:pPr>
            <a:r>
              <a:rPr sz="833">
                <a:solidFill>
                  <a:srgbClr val="3C4453"/>
                </a:solidFill>
                <a:latin typeface="Calibri"/>
              </a:rPr>
              <a:t>Pack-size (UOM) cuts are from Honasa's internal Realised Sales within the MT chain extract (MRL + Lulu + Wellness); UOM values are the numeric pack size only (unit g or ml depends on product/category) as captured in the source extract.</a:t>
            </a:r>
          </a:p>
        </p:txBody>
      </p:sp>
      <p:sp>
        <p:nvSpPr>
          <p:cNvPr id="9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Bar"/>
          <p:cNvSpPr/>
          <p:nvPr/>
        </p:nvSpPr>
        <p:spPr>
          <a:xfrm>
            <a:off x="0" y="0"/>
            <a:ext cx="7562850" cy="620000"/>
          </a:xfrm>
          <a:prstGeom prst="rect">
            <a:avLst/>
          </a:prstGeom>
          <a:solidFill>
            <a:srgbClr val="2D9B7F"/>
          </a:solidFill>
        </p:spPr>
        <p:txBody>
          <a:bodyPr anchor="ctr" lIns="212691" tIns="0" bIns="0" rIns="0"/>
          <a:p>
            <a:r>
              <a:rPr lang="en-US" sz="1900" b="1">
                <a:solidFill>
                  <a:srgbClr val="FFFFFF"/>
                </a:solidFill>
                <a:latin typeface="Calibri"/>
              </a:rPr>
              <a:t>SHAMPOO DEEP DIVE</a:t>
            </a:r>
          </a:p>
        </p:txBody>
      </p:sp>
      <p:sp>
        <p:nvSpPr>
          <p:cNvPr id="11" name="lbl11"/>
          <p:cNvSpPr txBox="1"/>
          <p:nvPr/>
        </p:nvSpPr>
        <p:spPr>
          <a:xfrm>
            <a:off x="212691" y="660000"/>
            <a:ext cx="6926523" cy="260000"/>
          </a:xfrm>
          <a:prstGeom prst="rect">
            <a:avLst/>
          </a:prstGeom>
          <a:noFill/>
        </p:spPr>
        <p:txBody>
          <a:bodyPr anchor="ctr" lIns="0" tIns="0" bIns="0" rIns="0"/>
          <a:p>
            <a:r>
              <a:rPr lang="en-US" sz="1100" b="1">
                <a:solidFill>
                  <a:srgbClr val="1F2933"/>
                </a:solidFill>
                <a:latin typeface="Calibri"/>
              </a:rPr>
              <a:t>Top brands by sales &amp; share — Nielsen MS Val, Urban (Bottles)  |  May 2026</a:t>
            </a:r>
          </a:p>
        </p:txBody>
      </p:sp>
      <p:sp>
        <p:nvSpPr>
          <p:cNvPr id="12" name="lbl12"/>
          <p:cNvSpPr txBox="1"/>
          <p:nvPr/>
        </p:nvSpPr>
        <p:spPr>
          <a:xfrm>
            <a:off x="212691" y="980000"/>
            <a:ext cx="6926523" cy="250000"/>
          </a:xfrm>
          <a:prstGeom prst="rect">
            <a:avLst/>
          </a:prstGeom>
          <a:noFill/>
        </p:spPr>
        <p:txBody>
          <a:bodyPr anchor="ctr" lIns="0" tIns="0" bIns="0" rIns="0"/>
          <a:p>
            <a:r>
              <a:rPr lang="en-US" sz="1150" b="1">
                <a:solidFill>
                  <a:srgbClr val="2D9B7F"/>
                </a:solidFill>
                <a:latin typeface="Calibri"/>
              </a:rPr>
              <a:t>TOP CONTRIBUTING BRANDS (BY MAY'26 SALES)</a:t>
            </a:r>
          </a:p>
        </p:txBody>
      </p:sp>
      <p:graphicFrame>
        <p:nvGraphicFramePr>
          <p:cNvPr id="13" name="t13"/>
          <p:cNvGraphicFramePr/>
          <p:nvPr/>
        </p:nvGraphicFramePr>
        <p:xfrm>
          <a:off x="212691" y="1260000"/>
          <a:ext cx="6926523" cy="2970000"/>
        </p:xfrm>
        <a:graphic>
          <a:graphicData uri="http://schemas.openxmlformats.org/drawingml/2006/table">
            <a:tbl>
              <a:tblPr firstRow="1" bandRow="1"/>
              <a:tblGrid>
                <a:gridCol w="2077957"/>
                <a:gridCol w="1038978"/>
                <a:gridCol w="1038978"/>
                <a:gridCol w="1108244"/>
                <a:gridCol w="900448"/>
                <a:gridCol w="761918"/>
              </a:tblGrid>
              <a:tr h="330000">
                <a:tc>
                  <a:txBody>
                    <a:bodyPr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40000" marR="40000" marT="8000" marB="8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Apr'26 (Cr)</a:t>
                      </a:r>
                    </a:p>
                  </a:txBody>
                  <a:tcPr marL="40000" marR="40000" marT="8000" marB="8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May'26 (Cr)</a:t>
                      </a:r>
                    </a:p>
                  </a:txBody>
                  <a:tcPr marL="40000" marR="40000" marT="8000" marB="8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Contribution %</a:t>
                      </a:r>
                    </a:p>
                  </a:txBody>
                  <a:tcPr marL="40000" marR="40000" marT="8000" marB="8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MoM Growth</a:t>
                      </a:r>
                    </a:p>
                  </a:txBody>
                  <a:tcPr marL="40000" marR="40000" marT="8000" marB="8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marL="40000" marR="40000" marT="8000" marB="8000" anchor="ctr">
                    <a:solidFill>
                      <a:srgbClr val="2D9B7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Dove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37.5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36.7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13.3%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2.0%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Needs Promo Support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Head &amp; Shoulders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34.2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32.4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11.7%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5.4%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Needs Promo Support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Clinic Plus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27.3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26.7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9.7%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2.1%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Needs Promo Support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L'Oreal Paris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26.8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25.6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9.3%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4.5%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Gaining Share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Sunsilk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22.3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20.7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7.5%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7.4%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F2933"/>
                          </a:solidFill>
                          <a:latin typeface="Calibri"/>
                        </a:rPr>
                        <a:t>Needs Promo Support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Tresemme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18.7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18.7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6.8%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+0.0%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Gaining Share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Himalaya Baby Care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9.9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10.4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+5.0%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Gaining Share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6.7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6.9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+4.0%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Gaining Share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lbl14"/>
          <p:cNvSpPr txBox="1"/>
          <p:nvPr/>
        </p:nvSpPr>
        <p:spPr>
          <a:xfrm>
            <a:off x="212691" y="4380000"/>
            <a:ext cx="6926523" cy="250000"/>
          </a:xfrm>
          <a:prstGeom prst="rect">
            <a:avLst/>
          </a:prstGeom>
          <a:noFill/>
        </p:spPr>
        <p:txBody>
          <a:bodyPr anchor="ctr" lIns="0" tIns="0" bIns="0" rIns="0"/>
          <a:p>
            <a:r>
              <a:rPr lang="en-US" sz="1150" b="1">
                <a:solidFill>
                  <a:srgbClr val="2D9B7F"/>
                </a:solidFill>
                <a:latin typeface="Calibri"/>
              </a:rPr>
              <a:t>BRAND SHARE &amp; GROWTH (NIELSEN MS VAL %)</a:t>
            </a:r>
          </a:p>
        </p:txBody>
      </p:sp>
      <p:graphicFrame>
        <p:nvGraphicFramePr>
          <p:cNvPr id="15" name="t15"/>
          <p:cNvGraphicFramePr/>
          <p:nvPr/>
        </p:nvGraphicFramePr>
        <p:xfrm>
          <a:off x="212691" y="4660000"/>
          <a:ext cx="6926523" cy="2970000"/>
        </p:xfrm>
        <a:graphic>
          <a:graphicData uri="http://schemas.openxmlformats.org/drawingml/2006/table">
            <a:tbl>
              <a:tblPr firstRow="1" bandRow="1"/>
              <a:tblGrid>
                <a:gridCol w="2770609"/>
                <a:gridCol w="1385305"/>
                <a:gridCol w="1385305"/>
                <a:gridCol w="1385304"/>
              </a:tblGrid>
              <a:tr h="330000">
                <a:tc>
                  <a:txBody>
                    <a:bodyPr/>
                    <a:p>
                      <a:pPr algn="l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Brand</a:t>
                      </a:r>
                    </a:p>
                  </a:txBody>
                  <a:tcPr marL="40000" marR="40000" marT="8000" marB="8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May'26 MS %</a:t>
                      </a:r>
                    </a:p>
                  </a:txBody>
                  <a:tcPr marL="40000" marR="40000" marT="8000" marB="8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YoY (bps)</a:t>
                      </a:r>
                    </a:p>
                  </a:txBody>
                  <a:tcPr marL="40000" marR="40000" marT="8000" marB="8000" anchor="ctr">
                    <a:solidFill>
                      <a:srgbClr val="2D9B7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Calibri"/>
                        </a:rPr>
                        <a:t>Sales YoY %</a:t>
                      </a:r>
                    </a:p>
                  </a:txBody>
                  <a:tcPr marL="40000" marR="40000" marT="8000" marB="8000" anchor="ctr">
                    <a:solidFill>
                      <a:srgbClr val="2D9B7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Dove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13.3%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120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10.8%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Head &amp; Shoulders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11.7%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89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9.6%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Clinic Plus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9.7%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3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3.1%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L'Oreal Paris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9.3%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+119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+11.5%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Sunsilk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7.5%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91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C0392B"/>
                          </a:solidFill>
                          <a:latin typeface="Calibri"/>
                        </a:rPr>
                        <a:t>▼ 13.3%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Tresemme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6.8%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+66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+7.7%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Himalaya Baby Care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3.8%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+41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+9.0%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p>
                      <a:pPr algn="l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Mamaearth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>
                          <a:solidFill>
                            <a:srgbClr val="1F2933"/>
                          </a:solidFill>
                          <a:latin typeface="Calibri"/>
                        </a:rPr>
                        <a:t>2.5%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+91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algn="ctr"/>
                      <a:r>
                        <a:rPr lang="en-US" sz="1000" b="1">
                          <a:solidFill>
                            <a:srgbClr val="1E8E3E"/>
                          </a:solidFill>
                          <a:latin typeface="Calibri"/>
                        </a:rPr>
                        <a:t>▲ +52.2%</a:t>
                      </a:r>
                    </a:p>
                  </a:txBody>
                  <a:tcPr marL="40000" marR="40000" marT="8000" marB="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Insight"/>
          <p:cNvSpPr txBox="1"/>
          <p:nvPr/>
        </p:nvSpPr>
        <p:spPr>
          <a:xfrm>
            <a:off x="212691" y="7830000"/>
            <a:ext cx="6926523" cy="1500000"/>
          </a:xfrm>
          <a:prstGeom prst="rect">
            <a:avLst/>
          </a:prstGeom>
          <a:solidFill>
            <a:srgbClr val="E3F2EC"/>
          </a:solidFill>
          <a:ln w="9525">
            <a:solidFill>
              <a:srgbClr val="2D9B7F"/>
            </a:solidFill>
          </a:ln>
        </p:spPr>
        <p:txBody>
          <a:bodyPr wrap="square" anchor="t" lIns="90000" rIns="90000" tIns="60000" bIns="60000"/>
          <a:p>
            <a:r>
              <a:rPr lang="en-US" sz="1100" b="1">
                <a:solidFill>
                  <a:srgbClr val="2D9B7F"/>
                </a:solidFill>
                <a:latin typeface="Calibri"/>
              </a:rPr>
              <a:t>Why it matters:  </a:t>
            </a:r>
            <a:r>
              <a:rPr lang="en-US" sz="1050">
                <a:solidFill>
                  <a:srgbClr val="1F2933"/>
                </a:solidFill>
                <a:latin typeface="Calibri"/>
              </a:rPr>
              <a:t>The shampoo category (Bottles) softened to ₹276 Cr (</a:t>
            </a:r>
            <a:r>
              <a:rPr lang="en-US" sz="1050" b="1">
                <a:solidFill>
                  <a:srgbClr val="C0392B"/>
                </a:solidFill>
                <a:latin typeface="Calibri"/>
              </a:rPr>
              <a:t>▼ -3.3% MoM</a:t>
            </a:r>
            <a:r>
              <a:rPr lang="en-US" sz="1050">
                <a:solidFill>
                  <a:srgbClr val="1F2933"/>
                </a:solidFill>
                <a:latin typeface="Calibri"/>
              </a:rPr>
              <a:t>, </a:t>
            </a:r>
            <a:r>
              <a:rPr lang="en-US" sz="1050" b="1">
                <a:solidFill>
                  <a:srgbClr val="C0392B"/>
                </a:solidFill>
                <a:latin typeface="Calibri"/>
              </a:rPr>
              <a:t>▼ -2.8% YoY</a:t>
            </a:r>
            <a:r>
              <a:rPr lang="en-US" sz="1050">
                <a:solidFill>
                  <a:srgbClr val="1F2933"/>
                </a:solidFill>
                <a:latin typeface="Calibri"/>
              </a:rPr>
              <a:t>). Against that,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Mamaearth grew sales +52% YoY</a:t>
            </a:r>
            <a:r>
              <a:rPr lang="en-US" sz="1050">
                <a:solidFill>
                  <a:srgbClr val="1F2933"/>
                </a:solidFill>
                <a:latin typeface="Calibri"/>
              </a:rPr>
              <a:t> to ₹6.94 Cr and added </a:t>
            </a:r>
            <a:r>
              <a:rPr lang="en-US" sz="1050" b="1">
                <a:solidFill>
                  <a:srgbClr val="1E8E3E"/>
                </a:solidFill>
                <a:latin typeface="Calibri"/>
              </a:rPr>
              <a:t>+91 bps share</a:t>
            </a:r>
            <a:r>
              <a:rPr lang="en-US" sz="1050">
                <a:solidFill>
                  <a:srgbClr val="1F2933"/>
                </a:solidFill>
                <a:latin typeface="Calibri"/>
              </a:rPr>
              <a:t> — the standout riser, with L’Oreal Paris (▲ +119 bps) and Tresemme (▲ +66 bps) also gaining; Dove (▼ -120) and Head &amp; Shoulders (▼ -89) ceded share.</a:t>
            </a:r>
          </a:p>
          <a:p>
            <a:pPr>
              <a:spcBef>
                <a:spcPts val="600"/>
              </a:spcBef>
            </a:pPr>
            <a:r>
              <a:rPr lang="en-US" sz="1100" b="1">
                <a:solidFill>
                  <a:srgbClr val="2D9B7F"/>
                </a:solidFill>
                <a:latin typeface="Calibri"/>
              </a:rPr>
              <a:t>Action:  </a:t>
            </a:r>
            <a:r>
              <a:rPr lang="en-US" sz="1050">
                <a:solidFill>
                  <a:srgbClr val="1F2933"/>
                </a:solidFill>
                <a:latin typeface="Calibri"/>
              </a:rPr>
              <a:t>Keep pressing MT-chain distribution depth and shelf visibility to convert Mamaearth's momentum into a higher rung on the brand ladder.</a:t>
            </a:r>
          </a:p>
          <a:p>
            <a:pPr>
              <a:spcBef>
                <a:spcPts val="600"/>
              </a:spcBef>
            </a:pPr>
            <a:r>
              <a:rPr lang="en-US" sz="900">
                <a:solidFill>
                  <a:srgbClr val="595959"/>
                </a:solidFill>
                <a:latin typeface="Calibri"/>
              </a:rPr>
              <a:t>Source: Nielsen MS Val, Urban, Bottles — Apr’26 vs May’26; YoY vs May’25.</a:t>
            </a:r>
          </a:p>
        </p:txBody>
      </p:sp>
      <p:sp>
        <p:nvSpPr>
          <p:cNvPr id="99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10 / 24</a:t>
            </a:r>
          </a:p>
        </p:txBody>
      </p:sp>
    </p:spTree>
  </p:cSld>
</p:sld>
</file>

<file path=ppt/slides/slide11.xml><?xml version="1.0" encoding="utf-8"?>
<p:sld xmlns:a="http://schemas.openxmlformats.org/drawingml/2006/main" xmlns:ns2="http://schemas.microsoft.com/office/drawing/2014/main" xmlns:ns3="http://schemas.microsoft.com/office/powerpoint/2010/main" xmlns:ns4="http://schemas.microsoft.com/office/drawing/2010/main" xmlns:ns5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ns2:creationId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486017874"/>
              </p:ext>
            </p:extLst>
          </p:nvPr>
        </p:nvGraphicFramePr>
        <p:xfrm>
          <a:off x="212691" y="82627"/>
          <a:ext cx="6926523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6926523">
                  <a:extLst>
                    <a:ext uri="{9D8B030D-6E8A-4147-A177-3AD203B41FA5}">
                      <ns2:colId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EAST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ns2:creationId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ns2:creationId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ns2:creationId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ns2:creationId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411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ns2:creationId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ns2:creationId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ns2:creationId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ns2:creationId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10.3%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ns2:creationId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ns2:creationId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ns2:creationId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ns2:creationId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322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ns2:creationId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ns2:creationId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ns2:creationId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ns2:creationId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55%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ns2:creationId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ns2:creationId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5433702"/>
            <a:ext cx="6926523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ns2:creationId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5912670"/>
            <a:ext cx="79419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ns2:creationId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ns2:creationId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6867859"/>
            <a:ext cx="79419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ns2:creationId id="{1A2636FF-FA83-BDD9-A967-753B47792769}"/>
              </a:ext>
            </a:extLst>
          </p:cNvPr>
          <p:cNvSpPr txBox="1"/>
          <p:nvPr/>
        </p:nvSpPr>
        <p:spPr>
          <a:xfrm>
            <a:off x="212691" y="888000"/>
            <a:ext cx="6926523" cy="104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effectLst/>
                <a:latin typeface="+mj-lt"/>
                <a:ea typeface="Calibri"/>
                <a:cs typeface="Calibri"/>
              </a:rPr>
              <a:t>Key Performance </a:t>
            </a:r>
            <a:r>
              <a:rPr lang="en-US" sz="1000" b="1" spc="-10" dirty="0">
                <a:effectLst/>
                <a:latin typeface="+mj-lt"/>
                <a:ea typeface="Calibri"/>
                <a:cs typeface="Calibri"/>
              </a:rPr>
              <a:t>Highlights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000" b="1" dirty="0">
                <a:effectLst/>
                <a:latin typeface="+mj-lt"/>
                <a:ea typeface="Calibri"/>
                <a:cs typeface="Calibri"/>
              </a:rPr>
              <a:t> 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Zone</a:t>
            </a:r>
            <a:r>
              <a:rPr lang="en-US" sz="90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Record:</a:t>
            </a:r>
            <a:r>
              <a:rPr lang="en-US" sz="90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May-26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delivered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the</a:t>
            </a:r>
            <a:r>
              <a:rPr lang="en-US" sz="90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highest</a:t>
            </a:r>
            <a:r>
              <a:rPr lang="en-US" sz="90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month</a:t>
            </a:r>
            <a:r>
              <a:rPr lang="en-US" sz="90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for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East</a:t>
            </a:r>
            <a:r>
              <a:rPr lang="en-US" sz="90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at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411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,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contributing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10.3%</a:t>
            </a:r>
            <a:r>
              <a:rPr lang="en-US" sz="900" b="1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to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total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channel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spc="-10" dirty="0">
                <a:effectLst/>
                <a:latin typeface="+mj-lt"/>
                <a:ea typeface="Calibri"/>
                <a:cs typeface="Calibri"/>
              </a:rPr>
              <a:t>sales.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900" b="1" dirty="0">
                <a:latin typeface="+mj-lt"/>
              </a:rPr>
              <a:t>Growth View: May-26 performance was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28%</a:t>
            </a:r>
            <a:r>
              <a:rPr sz="90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900" b="1" dirty="0">
                <a:latin typeface="+mj-lt"/>
              </a:rPr>
              <a:t>vs L3M and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55%</a:t>
            </a:r>
            <a:r>
              <a:rPr sz="90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900" b="1" dirty="0">
                <a:latin typeface="+mj-lt"/>
              </a:rPr>
              <a:t>vs May-25, confirming Consistent strong month momentum.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tabLst>
                <a:tab pos="184150" algn="l"/>
              </a:tabLst>
            </a:pPr>
            <a:r>
              <a:rPr sz="1050" dirty="0" b="1">
                <a:latin typeface="+mj-lt"/>
              </a:rPr>
              <a:t>Zone Insight:</a:t>
            </a:r>
            <a:r>
              <a:rPr sz="1050" dirty="0">
                <a:latin typeface="+mj-lt"/>
              </a:rPr>
              <a:t> Mamaearth anchors the East mix; The Derma Co. is the fastest-growing brand YoY.</a:t>
            </a:r>
          </a:p>
        </p:txBody>
      </p:sp>
      <p:sp>
        <p:nvSpPr>
          <p:cNvPr id="149" name="Shape 3">
            <a:extLst>
              <a:ext uri="{FF2B5EF4-FFF2-40B4-BE49-F238E27FC236}">
                <ns2:creationId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72158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ns2:creationId id="{E090B056-5AAD-CC5C-BB09-77FB607FB2B4}"/>
              </a:ext>
            </a:extLst>
          </p:cNvPr>
          <p:cNvSpPr/>
          <p:nvPr/>
        </p:nvSpPr>
        <p:spPr>
          <a:xfrm>
            <a:off x="212691" y="3440324"/>
            <a:ext cx="6926523" cy="277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+mj-lt"/>
              </a:rPr>
              <a:t>East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ns2:creationId id="{8DC1552C-E149-4A10-28F5-0A4785E39F2D}"/>
              </a:ext>
            </a:extLst>
          </p:cNvPr>
          <p:cNvSpPr/>
          <p:nvPr/>
        </p:nvSpPr>
        <p:spPr>
          <a:xfrm>
            <a:off x="383712" y="379310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ns2:creationId id="{68B7E644-F756-EB08-51D0-E4BBD2584EB3}"/>
              </a:ext>
            </a:extLst>
          </p:cNvPr>
          <p:cNvSpPr/>
          <p:nvPr/>
        </p:nvSpPr>
        <p:spPr>
          <a:xfrm>
            <a:off x="835642" y="3885403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 43%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ns2:creationId id="{E90F34B8-D653-A710-F866-1BC3E6964F9D}"/>
              </a:ext>
            </a:extLst>
          </p:cNvPr>
          <p:cNvSpPr/>
          <p:nvPr/>
        </p:nvSpPr>
        <p:spPr>
          <a:xfrm>
            <a:off x="1309888" y="389728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10%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ns2:creationId id="{3CB5B5FD-F962-33DF-877C-0AE18D2CE328}"/>
              </a:ext>
            </a:extLst>
          </p:cNvPr>
          <p:cNvSpPr/>
          <p:nvPr/>
        </p:nvSpPr>
        <p:spPr>
          <a:xfrm>
            <a:off x="1690778" y="3885404"/>
            <a:ext cx="441824" cy="265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May’26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132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ns2:creationId id="{C3EABDE2-E03A-721E-0AE3-C104F928F4F3}"/>
              </a:ext>
            </a:extLst>
          </p:cNvPr>
          <p:cNvGraphicFramePr/>
          <p:nvPr>
            <p:extLst>
              <p:ext uri="{D42A27DB-BD31-4B8C-83A1-F6EECF244321}">
                <ns3:modId val="1076839812"/>
              </p:ext>
            </p:extLst>
          </p:nvPr>
        </p:nvGraphicFramePr>
        <p:xfrm>
          <a:off x="176686" y="3792519"/>
          <a:ext cx="2261355" cy="1557318"/>
        </p:xfrm>
        <a:graphic>
          <a:graphicData uri="http://schemas.openxmlformats.org/drawingml/2006/chart">
            <ns5:chart r:id="rId2"/>
          </a:graphicData>
        </a:graphic>
      </p:graphicFrame>
      <p:sp>
        <p:nvSpPr>
          <p:cNvPr id="156" name="Text 9">
            <a:extLst>
              <a:ext uri="{FF2B5EF4-FFF2-40B4-BE49-F238E27FC236}">
                <ns2:creationId id="{5BEBD7FD-7A2C-AC1D-76B9-D5B4A0E4DD0C}"/>
              </a:ext>
            </a:extLst>
          </p:cNvPr>
          <p:cNvSpPr/>
          <p:nvPr/>
        </p:nvSpPr>
        <p:spPr>
          <a:xfrm>
            <a:off x="2618118" y="3885404"/>
            <a:ext cx="666595" cy="1753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ns2:creationId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 77%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ns2:creationId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13%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ns2:creationId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May'26 122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ns2:creationId id="{498335C8-87FE-1BF3-E55D-7F3682FE88D1}"/>
              </a:ext>
            </a:extLst>
          </p:cNvPr>
          <p:cNvGraphicFramePr/>
          <p:nvPr>
            <p:extLst>
              <p:ext uri="{D42A27DB-BD31-4B8C-83A1-F6EECF244321}">
                <ns3:modId val="1566920728"/>
              </p:ext>
            </p:extLst>
          </p:nvPr>
        </p:nvGraphicFramePr>
        <p:xfrm>
          <a:off x="2508399" y="3803422"/>
          <a:ext cx="2261355" cy="1567868"/>
        </p:xfrm>
        <a:graphic>
          <a:graphicData uri="http://schemas.openxmlformats.org/drawingml/2006/chart">
            <ns5:chart r:id="rId3"/>
          </a:graphicData>
        </a:graphic>
      </p:graphicFrame>
      <p:sp>
        <p:nvSpPr>
          <p:cNvPr id="161" name="Text 13">
            <a:extLst>
              <a:ext uri="{FF2B5EF4-FFF2-40B4-BE49-F238E27FC236}">
                <ns2:creationId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ns2:creationId id="{27F9A9D8-519D-AC19-D616-44CAE0D43FD1}"/>
              </a:ext>
            </a:extLst>
          </p:cNvPr>
          <p:cNvSpPr/>
          <p:nvPr/>
        </p:nvSpPr>
        <p:spPr>
          <a:xfrm>
            <a:off x="5522642" y="385608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▲157%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ns2:creationId id="{25E789B0-F22E-6189-F81D-C18A4F30CC76}"/>
              </a:ext>
            </a:extLst>
          </p:cNvPr>
          <p:cNvSpPr/>
          <p:nvPr/>
        </p:nvSpPr>
        <p:spPr>
          <a:xfrm>
            <a:off x="5989229" y="3836826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20%</a:t>
            </a:r>
            <a:endParaRPr lang="en-US" sz="900" dirty="0"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ns2:creationId id="{B7F3446D-2E00-77C7-5921-C34968E8F7B7}"/>
              </a:ext>
            </a:extLst>
          </p:cNvPr>
          <p:cNvSpPr/>
          <p:nvPr/>
        </p:nvSpPr>
        <p:spPr>
          <a:xfrm>
            <a:off x="6417697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May’26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36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ns2:creationId id="{E29320C6-4ABC-47AD-CAC6-8C1A6CA6E8C5}"/>
              </a:ext>
            </a:extLst>
          </p:cNvPr>
          <p:cNvGraphicFramePr/>
          <p:nvPr>
            <p:extLst>
              <p:ext uri="{D42A27DB-BD31-4B8C-83A1-F6EECF244321}">
                <ns3:modId val="2742247040"/>
              </p:ext>
            </p:extLst>
          </p:nvPr>
        </p:nvGraphicFramePr>
        <p:xfrm>
          <a:off x="4830879" y="3790132"/>
          <a:ext cx="2337147" cy="1562570"/>
        </p:xfrm>
        <a:graphic>
          <a:graphicData uri="http://schemas.openxmlformats.org/drawingml/2006/chart">
            <ns5:chart r:id="rId4"/>
          </a:graphicData>
        </a:graphic>
      </p:graphicFrame>
      <p:sp>
        <p:nvSpPr>
          <p:cNvPr id="166" name="Shape 17">
            <a:extLst>
              <a:ext uri="{FF2B5EF4-FFF2-40B4-BE49-F238E27FC236}">
                <ns2:creationId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ns2:creationId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</a:rPr>
              <a:t>East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ns2:creationId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ns2:creationId id="{CC6466FF-9DFE-712B-2E6C-63C9594ED3C1}"/>
              </a:ext>
            </a:extLst>
          </p:cNvPr>
          <p:cNvSpPr/>
          <p:nvPr/>
        </p:nvSpPr>
        <p:spPr>
          <a:xfrm>
            <a:off x="607560" y="5957217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</a:t>
            </a:r>
          </a:p>
          <a:p>
            <a:pPr marL="0" indent="0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 </a:t>
            </a:r>
            <a:r>
              <a:rPr sz="900" b="1">
                <a:solidFill>
                  <a:srgbClr val="008A3D"/>
                </a:solidFill>
                <a:latin typeface="+mj-lt"/>
              </a:rPr>
              <a:t>▲500%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ns2:creationId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6%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ns2:creationId id="{21E44F12-56F2-0F79-99BF-12D5FEBEA9AE}"/>
              </a:ext>
            </a:extLst>
          </p:cNvPr>
          <p:cNvSpPr/>
          <p:nvPr/>
        </p:nvSpPr>
        <p:spPr>
          <a:xfrm>
            <a:off x="1555785" y="5933594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ns2:creationId id="{A04A165C-0A2C-703B-D787-4F0EA0143E90}"/>
              </a:ext>
            </a:extLst>
          </p:cNvPr>
          <p:cNvGraphicFramePr/>
          <p:nvPr>
            <p:extLst>
              <p:ext uri="{D42A27DB-BD31-4B8C-83A1-F6EECF244321}">
                <ns3:modId val="783071956"/>
              </p:ext>
            </p:extLst>
          </p:nvPr>
        </p:nvGraphicFramePr>
        <p:xfrm>
          <a:off x="196505" y="5838726"/>
          <a:ext cx="2256553" cy="1541398"/>
        </p:xfrm>
        <a:graphic>
          <a:graphicData uri="http://schemas.openxmlformats.org/drawingml/2006/chart">
            <ns5:chart r:id="rId5"/>
          </a:graphicData>
        </a:graphic>
      </p:graphicFrame>
      <p:sp>
        <p:nvSpPr>
          <p:cNvPr id="173" name="Text 23">
            <a:extLst>
              <a:ext uri="{FF2B5EF4-FFF2-40B4-BE49-F238E27FC236}">
                <ns2:creationId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ns2:creationId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▲125%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ns2:creationId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20%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ns2:creationId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ns2:creationId id="{CBBF5C82-1DBC-BF6C-CAEA-410BB465C0A3}"/>
              </a:ext>
            </a:extLst>
          </p:cNvPr>
          <p:cNvGraphicFramePr/>
          <p:nvPr>
            <p:extLst>
              <p:ext uri="{D42A27DB-BD31-4B8C-83A1-F6EECF244321}">
                <ns3:modId val="3641061360"/>
              </p:ext>
            </p:extLst>
          </p:nvPr>
        </p:nvGraphicFramePr>
        <p:xfrm>
          <a:off x="2518289" y="5857060"/>
          <a:ext cx="2256553" cy="1564730"/>
        </p:xfrm>
        <a:graphic>
          <a:graphicData uri="http://schemas.openxmlformats.org/drawingml/2006/chart">
            <ns5:chart r:id="rId6"/>
          </a:graphicData>
        </a:graphic>
      </p:graphicFrame>
      <p:sp>
        <p:nvSpPr>
          <p:cNvPr id="178" name="Text 27">
            <a:extLst>
              <a:ext uri="{FF2B5EF4-FFF2-40B4-BE49-F238E27FC236}">
                <ns2:creationId id="{038BADD0-EAC6-F8D6-7B12-BE177A9DAD4D}"/>
              </a:ext>
            </a:extLst>
          </p:cNvPr>
          <p:cNvSpPr/>
          <p:nvPr/>
        </p:nvSpPr>
        <p:spPr>
          <a:xfrm>
            <a:off x="5022988" y="5906220"/>
            <a:ext cx="68214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Face 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ns2:creationId id="{024D5F40-BAD0-9683-DBAB-2A9FEAA024FA}"/>
              </a:ext>
            </a:extLst>
          </p:cNvPr>
          <p:cNvSpPr/>
          <p:nvPr/>
        </p:nvSpPr>
        <p:spPr>
          <a:xfrm>
            <a:off x="5764184" y="5927180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D03A3A"/>
                </a:solidFill>
                <a:latin typeface="+mj-lt"/>
              </a:rPr>
              <a:t>GOLY</a:t>
            </a:r>
          </a:p>
          <a:p>
            <a:pPr marL="0" indent="0">
              <a:buNone/>
            </a:pPr>
            <a:r>
              <a:rPr sz="900" b="1">
                <a:solidFill>
                  <a:srgbClr val="C00000"/>
                </a:solidFill>
                <a:latin typeface="+mj-lt"/>
              </a:rPr>
              <a:t>▼ 22%</a:t>
            </a:r>
            <a:endParaRPr lang="en-US" sz="900" dirty="0"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ns2:creationId id="{631DEBF0-39A6-7D0F-BA14-F1B18161FDD2}"/>
              </a:ext>
            </a:extLst>
          </p:cNvPr>
          <p:cNvSpPr/>
          <p:nvPr/>
        </p:nvSpPr>
        <p:spPr>
          <a:xfrm>
            <a:off x="6182625" y="5937681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0%</a:t>
            </a:r>
            <a:endParaRPr lang="en-US" sz="900" dirty="0"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ns2:creationId id="{F69669F6-2C5B-9CCF-FC00-E39EBA2DF5E4}"/>
              </a:ext>
            </a:extLst>
          </p:cNvPr>
          <p:cNvSpPr/>
          <p:nvPr/>
        </p:nvSpPr>
        <p:spPr>
          <a:xfrm>
            <a:off x="6569415" y="592718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May’26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7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ns2:creationId id="{39E95149-09DC-244B-A1A2-AB5A022BF0EF}"/>
              </a:ext>
            </a:extLst>
          </p:cNvPr>
          <p:cNvGraphicFramePr/>
          <p:nvPr>
            <p:extLst>
              <p:ext uri="{D42A27DB-BD31-4B8C-83A1-F6EECF244321}">
                <ns3:modId val="3160465747"/>
              </p:ext>
            </p:extLst>
          </p:nvPr>
        </p:nvGraphicFramePr>
        <p:xfrm>
          <a:off x="4897710" y="5881143"/>
          <a:ext cx="2263078" cy="1490921"/>
        </p:xfrm>
        <a:graphic>
          <a:graphicData uri="http://schemas.openxmlformats.org/drawingml/2006/chart">
            <ns5:chart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ns2:creationId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684496956"/>
              </p:ext>
            </p:extLst>
          </p:nvPr>
        </p:nvGraphicFramePr>
        <p:xfrm>
          <a:off x="212691" y="1934878"/>
          <a:ext cx="6926523" cy="1504009"/>
        </p:xfrm>
        <a:graphic>
          <a:graphicData uri="http://schemas.openxmlformats.org/drawingml/2006/table">
            <a:tbl>
              <a:tblPr firstRow="1" firstCol="1" bandRow="1"/>
              <a:tblGrid>
                <a:gridCol w="1177244">
                  <a:extLst>
                    <a:ext uri="{9D8B030D-6E8A-4147-A177-3AD203B41FA5}">
                      <ns2:colId val="1720933068"/>
                    </a:ext>
                  </a:extLst>
                </a:gridCol>
                <a:gridCol w="471072">
                  <a:extLst>
                    <a:ext uri="{9D8B030D-6E8A-4147-A177-3AD203B41FA5}">
                      <ns2:colId val="2630805108"/>
                    </a:ext>
                  </a:extLst>
                </a:gridCol>
                <a:gridCol w="810410">
                  <a:extLst>
                    <a:ext uri="{9D8B030D-6E8A-4147-A177-3AD203B41FA5}">
                      <ns2:colId val="1295913063"/>
                    </a:ext>
                  </a:extLst>
                </a:gridCol>
                <a:gridCol w="893559">
                  <a:extLst>
                    <a:ext uri="{9D8B030D-6E8A-4147-A177-3AD203B41FA5}">
                      <ns2:colId val="4130086957"/>
                    </a:ext>
                  </a:extLst>
                </a:gridCol>
                <a:gridCol w="893559">
                  <a:extLst>
                    <a:ext uri="{9D8B030D-6E8A-4147-A177-3AD203B41FA5}">
                      <ns2:colId val="3066276741"/>
                    </a:ext>
                  </a:extLst>
                </a:gridCol>
                <a:gridCol w="893559">
                  <a:extLst>
                    <a:ext uri="{9D8B030D-6E8A-4147-A177-3AD203B41FA5}">
                      <ns2:colId val="2870282349"/>
                    </a:ext>
                  </a:extLst>
                </a:gridCol>
                <a:gridCol w="893559">
                  <a:extLst>
                    <a:ext uri="{9D8B030D-6E8A-4147-A177-3AD203B41FA5}">
                      <ns2:colId val="1716647770"/>
                    </a:ext>
                  </a:extLst>
                </a:gridCol>
                <a:gridCol w="893561">
                  <a:extLst>
                    <a:ext uri="{9D8B030D-6E8A-4147-A177-3AD203B41FA5}">
                      <ns2:colId val="2912854798"/>
                    </a:ext>
                  </a:extLst>
                </a:gridCol>
              </a:tblGrid>
              <a:tr h="373347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ns2:rowId val="1095355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235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322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360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87.6%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283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2839593741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18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40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44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10.7%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144%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744782322"/>
                  </a:ext>
                </a:extLst>
              </a:tr>
              <a:tr h="28199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1.7%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22%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267599869"/>
                  </a:ext>
                </a:extLst>
              </a:tr>
              <a:tr h="281992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0.2%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ns2:creationId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712533802"/>
              </p:ext>
            </p:extLst>
          </p:nvPr>
        </p:nvGraphicFramePr>
        <p:xfrm>
          <a:off x="212691" y="7863614"/>
          <a:ext cx="6926523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680699">
                  <a:extLst>
                    <a:ext uri="{9D8B030D-6E8A-4147-A177-3AD203B41FA5}">
                      <ns2:colId val="1999662838"/>
                    </a:ext>
                  </a:extLst>
                </a:gridCol>
                <a:gridCol w="763955">
                  <a:extLst>
                    <a:ext uri="{9D8B030D-6E8A-4147-A177-3AD203B41FA5}">
                      <ns2:colId val="1604924111"/>
                    </a:ext>
                  </a:extLst>
                </a:gridCol>
                <a:gridCol w="713024">
                  <a:extLst>
                    <a:ext uri="{9D8B030D-6E8A-4147-A177-3AD203B41FA5}">
                      <ns2:colId val="3900343723"/>
                    </a:ext>
                  </a:extLst>
                </a:gridCol>
                <a:gridCol w="763955">
                  <a:extLst>
                    <a:ext uri="{9D8B030D-6E8A-4147-A177-3AD203B41FA5}">
                      <ns2:colId val="2453469686"/>
                    </a:ext>
                  </a:extLst>
                </a:gridCol>
                <a:gridCol w="763955">
                  <a:extLst>
                    <a:ext uri="{9D8B030D-6E8A-4147-A177-3AD203B41FA5}">
                      <ns2:colId val="531817117"/>
                    </a:ext>
                  </a:extLst>
                </a:gridCol>
                <a:gridCol w="475349">
                  <a:extLst>
                    <a:ext uri="{9D8B030D-6E8A-4147-A177-3AD203B41FA5}">
                      <ns2:colId val="1269342238"/>
                    </a:ext>
                  </a:extLst>
                </a:gridCol>
                <a:gridCol w="882793">
                  <a:extLst>
                    <a:ext uri="{9D8B030D-6E8A-4147-A177-3AD203B41FA5}">
                      <ns2:colId val="1250320746"/>
                    </a:ext>
                  </a:extLst>
                </a:gridCol>
                <a:gridCol w="882793">
                  <a:extLst>
                    <a:ext uri="{9D8B030D-6E8A-4147-A177-3AD203B41FA5}">
                      <ns2:colId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64.20%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27%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40%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19.50%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33%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167%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VMM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4.00%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45%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108%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2.70%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18%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120%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Frankros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2.40%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200%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900%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Spencer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1.90%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14%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65%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5.16%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5%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103%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ns2:creationId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6274" y="15742"/>
            <a:ext cx="79352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ns2:creationId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203272"/>
            <a:chOff x="-20552" y="3870"/>
            <a:chExt cx="6977611" cy="2032500"/>
          </a:xfrm>
        </p:grpSpPr>
        <p:sp>
          <p:nvSpPr>
            <p:cNvPr id="197" name="Graphic 278">
              <a:extLst>
                <a:ext uri="{FF2B5EF4-FFF2-40B4-BE49-F238E27FC236}">
                  <ns2:creationId id="{09562CA0-9705-0A03-47F3-5D39BF8835E5}"/>
                </a:ext>
              </a:extLst>
            </p:cNvPr>
            <p:cNvSpPr/>
            <p:nvPr/>
          </p:nvSpPr>
          <p:spPr>
            <a:xfrm>
              <a:off x="-20552" y="124955"/>
              <a:ext cx="6917094" cy="1911415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000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ns2:creationId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ns2:creationId id="{786D0DB1-927E-CDBA-AE82-7E1B1BB65AF0}"/>
                </a:ext>
              </a:extLst>
            </p:cNvPr>
            <p:cNvSpPr/>
            <p:nvPr/>
          </p:nvSpPr>
          <p:spPr>
            <a:xfrm>
              <a:off x="139662" y="1160579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ns2:creationId id="{1EE2520B-B499-D8A6-9F61-FEDF24208690}"/>
                </a:ext>
              </a:extLst>
            </p:cNvPr>
            <p:cNvSpPr/>
            <p:nvPr/>
          </p:nvSpPr>
          <p:spPr>
            <a:xfrm>
              <a:off x="156520" y="115928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ns2:creationId id="{CC1D8F9B-ACDE-52DF-23D6-7FEDF2C5895A}"/>
                </a:ext>
              </a:extLst>
            </p:cNvPr>
            <p:cNvSpPr/>
            <p:nvPr/>
          </p:nvSpPr>
          <p:spPr>
            <a:xfrm>
              <a:off x="1818276" y="1173474"/>
              <a:ext cx="1624852" cy="501735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ns2:creationId id="{78E6F5B7-D8F6-E3DA-2211-639E0006CDFC}"/>
                </a:ext>
              </a:extLst>
            </p:cNvPr>
            <p:cNvSpPr/>
            <p:nvPr/>
          </p:nvSpPr>
          <p:spPr>
            <a:xfrm>
              <a:off x="1828092" y="1101478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000" dirty="0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ns2:creationId id="{E2A44793-D301-9552-99EC-90EC13154CAA}"/>
                </a:ext>
              </a:extLst>
            </p:cNvPr>
            <p:cNvSpPr/>
            <p:nvPr/>
          </p:nvSpPr>
          <p:spPr>
            <a:xfrm>
              <a:off x="3523661" y="124881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ns2:creationId id="{5C0F2A52-1C1D-D1A6-05EA-4ACCDB5127EF}"/>
                </a:ext>
              </a:extLst>
            </p:cNvPr>
            <p:cNvSpPr/>
            <p:nvPr/>
          </p:nvSpPr>
          <p:spPr>
            <a:xfrm>
              <a:off x="3493229" y="1124742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ns2:creationId id="{97A32B53-FBD3-57B6-D1A2-97E533939E78}"/>
                </a:ext>
              </a:extLst>
            </p:cNvPr>
            <p:cNvSpPr/>
            <p:nvPr/>
          </p:nvSpPr>
          <p:spPr>
            <a:xfrm>
              <a:off x="5235859" y="111997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ns2:creationId id="{7A282D42-C8EF-02F8-6401-E33E4651DA3A}"/>
                </a:ext>
              </a:extLst>
            </p:cNvPr>
            <p:cNvSpPr/>
            <p:nvPr/>
          </p:nvSpPr>
          <p:spPr>
            <a:xfrm>
              <a:off x="5205600" y="1209710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ns2:creationId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ns2:creationId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66780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1000" b="1" dirty="0">
                  <a:solidFill>
                    <a:srgbClr val="055E46"/>
                  </a:solidFill>
                  <a:latin typeface="+mj-lt"/>
                </a:rPr>
                <a:t>Zone Record: East delivered its highest month in Apr-26 at 372. Growth stood at 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▲ 18%</a:t>
              </a:r>
              <a:r>
                <a:rPr sz="1000" b="1" dirty="0">
                  <a:solidFill>
                    <a:srgbClr val="055E46"/>
                  </a:solidFill>
                  <a:latin typeface="+mj-lt"/>
                </a:rPr>
                <a:t> vs L3M and 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▲ 68%</a:t>
              </a:r>
              <a:r>
                <a:rPr sz="1000" b="1" dirty="0">
                  <a:solidFill>
                    <a:srgbClr val="055E46"/>
                  </a:solidFill>
                  <a:latin typeface="+mj-lt"/>
                </a:rPr>
                <a:t> vs Apr-25.</a:t>
              </a:r>
              <a:endParaRPr lang="en-IN" sz="1600" spc="0" dirty="0">
                <a:effectLst/>
                <a:latin typeface="+mj-lt"/>
                <a:ea typeface="Calibri"/>
                <a:cs typeface="Calibri"/>
              </a:endParaRPr>
            </a:p>
            <a:p>
              <a:pPr marL="342900" marR="11430" indent="-342900">
                <a:lnSpc>
                  <a:spcPct val="107000"/>
                </a:lnSpc>
                <a:spcBef>
                  <a:spcPts val="160"/>
                </a:spcBef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1000" b="1" dirty="0">
                  <a:solidFill>
                    <a:srgbClr val="055E46"/>
                  </a:solidFill>
                  <a:latin typeface="+mj-lt"/>
                </a:rPr>
                <a:t>Chain Highlights Reliance at 264 Lacs; fastest YoY chain: Apollo 80 Lacs Gr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▲ 33%</a:t>
              </a:r>
              <a:r>
                <a:rPr sz="1000" b="1" dirty="0">
                  <a:solidFill>
                    <a:srgbClr val="055E46"/>
                  </a:solidFill>
                  <a:latin typeface="+mj-lt"/>
                </a:rPr>
                <a:t>.</a:t>
              </a:r>
              <a:endParaRPr lang="en-IN" sz="1000" dirty="0">
                <a:solidFill>
                  <a:srgbClr val="15803D"/>
                </a:solidFill>
                <a:latin typeface="+mj-lt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ns2:creationId id="{696AC7C6-3FED-0B1D-4CD4-FA589378E90D}"/>
                </a:ext>
              </a:extLst>
            </p:cNvPr>
            <p:cNvSpPr txBox="1"/>
            <p:nvPr/>
          </p:nvSpPr>
          <p:spPr>
            <a:xfrm>
              <a:off x="208826" y="1290444"/>
              <a:ext cx="793772" cy="366266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9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Lead</a:t>
              </a:r>
              <a:r>
                <a:rPr lang="en-US" sz="900" b="1" spc="-2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90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4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ns2:creationId id="{D2CB78A9-052C-7918-9B59-3C05E6224543}"/>
                </a:ext>
              </a:extLst>
            </p:cNvPr>
            <p:cNvSpPr txBox="1"/>
            <p:nvPr/>
          </p:nvSpPr>
          <p:spPr>
            <a:xfrm>
              <a:off x="1882000" y="1343191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Fastest</a:t>
              </a:r>
              <a:r>
                <a:rPr lang="en-US" sz="800" b="1" spc="-25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8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YoY</a:t>
              </a:r>
              <a:r>
                <a:rPr lang="en-US" sz="800" b="1" spc="-2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80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2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ns2:creationId id="{1002BC0E-27DD-532F-2DE7-BB1F581AC8FE}"/>
                </a:ext>
              </a:extLst>
            </p:cNvPr>
            <p:cNvSpPr txBox="1"/>
            <p:nvPr/>
          </p:nvSpPr>
          <p:spPr>
            <a:xfrm>
              <a:off x="3595835" y="1101478"/>
              <a:ext cx="1450088" cy="5428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r>
                <a:rPr lang="en-US" sz="800" b="1" spc="-25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8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800" b="1" spc="-25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80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ines2</a:t>
              </a:r>
              <a:endParaRPr lang="en-IN" sz="1200" dirty="0">
                <a:effectLst/>
                <a:latin typeface="+mj-lt"/>
                <a:ea typeface="Calibri"/>
                <a:cs typeface="Calibri"/>
              </a:endParaRPr>
            </a:p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Reliance, VMM,</a:t>
              </a:r>
              <a:r>
                <a:rPr lang="en-US" sz="800" b="1" spc="-4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Apollo, </a:t>
              </a:r>
              <a:r>
                <a:rPr lang="en-US" sz="8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More</a:t>
              </a:r>
              <a:r>
                <a:rPr lang="en-US" sz="800" b="1" spc="-4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8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Retail,</a:t>
              </a:r>
              <a:r>
                <a:rPr lang="en-US" sz="8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   </a:t>
              </a:r>
              <a:endParaRPr lang="en-IN" sz="12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ns2:creationId id="{1393482F-11D6-D6FE-2753-A47D0B48114B}"/>
                </a:ext>
              </a:extLst>
            </p:cNvPr>
            <p:cNvSpPr txBox="1"/>
            <p:nvPr/>
          </p:nvSpPr>
          <p:spPr>
            <a:xfrm>
              <a:off x="5321014" y="1216290"/>
              <a:ext cx="1056474" cy="298827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8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Zone</a:t>
              </a:r>
              <a:r>
                <a:rPr lang="en-US" sz="800" b="1" spc="-2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ns2:creationId id="{9D505091-C1B3-4643-3757-11527DD029ED}"/>
                </a:ext>
              </a:extLst>
            </p:cNvPr>
            <p:cNvSpPr txBox="1"/>
            <p:nvPr/>
          </p:nvSpPr>
          <p:spPr>
            <a:xfrm>
              <a:off x="804280" y="1367557"/>
              <a:ext cx="771797" cy="25826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Reliance</a:t>
              </a:r>
              <a:r>
                <a:rPr lang="en-US" sz="90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9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-</a:t>
              </a:r>
              <a:r>
                <a:rPr lang="en-US" sz="90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90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264</a:t>
              </a:r>
              <a:endParaRPr lang="en-IN" sz="14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ns2:creationId id="{D4A13F3F-01DA-EED4-B30C-053A438475D3}"/>
                </a:ext>
              </a:extLst>
            </p:cNvPr>
            <p:cNvSpPr txBox="1"/>
            <p:nvPr/>
          </p:nvSpPr>
          <p:spPr>
            <a:xfrm>
              <a:off x="2701317" y="1373977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800" b="1" dirty="0">
                  <a:solidFill>
                    <a:srgbClr val="0F162A"/>
                  </a:solidFill>
                  <a:latin typeface="+mj-lt"/>
                </a:rPr>
                <a:t>Apollo  - </a:t>
              </a:r>
              <a:r>
                <a:rPr sz="800" b="1" dirty="0">
                  <a:solidFill>
                    <a:srgbClr val="008A3D"/>
                  </a:solidFill>
                  <a:latin typeface="+mj-lt"/>
                </a:rPr>
                <a:t>▲ 33%</a:t>
              </a:r>
              <a:endParaRPr lang="en-IN" sz="12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ns2:creationId id="{823DC972-676F-BB3F-DF78-E528EBCA63EA}"/>
                </a:ext>
              </a:extLst>
            </p:cNvPr>
            <p:cNvSpPr txBox="1"/>
            <p:nvPr/>
          </p:nvSpPr>
          <p:spPr>
            <a:xfrm>
              <a:off x="3523316" y="1145938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ns2:creationId id="{1109BA7C-796E-3D4D-65A2-95AB774BD170}"/>
                </a:ext>
              </a:extLst>
            </p:cNvPr>
            <p:cNvSpPr txBox="1"/>
            <p:nvPr/>
          </p:nvSpPr>
          <p:spPr>
            <a:xfrm>
              <a:off x="6044531" y="1279512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May-26</a:t>
              </a:r>
              <a:r>
                <a:rPr lang="en-US" sz="900" b="1" spc="-3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900" b="1" spc="-30" dirty="0">
                  <a:solidFill>
                    <a:srgbClr val="0F162A"/>
                  </a:solidFill>
                  <a:latin typeface="+mj-lt"/>
                  <a:ea typeface="Calibri"/>
                  <a:cs typeface="Calibri"/>
                </a:rPr>
                <a:t>- </a:t>
              </a:r>
              <a:r>
                <a:rPr lang="en-US" sz="9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411</a:t>
              </a:r>
              <a:r>
                <a:rPr lang="en-US" sz="90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ns2:creationId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276274" y="112827"/>
            <a:ext cx="793520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ns2:creationId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+mj-lt"/>
              </a:rPr>
              <a:t>East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ns2:creationId id="{5D280CFA-196A-3384-28EB-93A0BA900D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ns4:useLocalDpi val="0"/>
              </a:ext>
            </a:extLst>
          </a:blip>
          <a:srcRect l="24448" r="23559"/>
          <a:stretch/>
        </p:blipFill>
        <p:spPr bwMode="auto">
          <a:xfrm>
            <a:off x="2622730" y="6150053"/>
            <a:ext cx="212290" cy="408312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3" name="Picture 4">
            <a:extLst>
              <a:ext uri="{FF2B5EF4-FFF2-40B4-BE49-F238E27FC236}">
                <ns2:creationId id="{3BE51A77-E98C-BDE1-B461-8EF8CA191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312901" y="6165990"/>
            <a:ext cx="210106" cy="445801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4" name="Picture 3" descr="A bottle of rice face wash&#10;&#10;Description automatically generated">
            <a:extLst>
              <a:ext uri="{FF2B5EF4-FFF2-40B4-BE49-F238E27FC236}">
                <ns2:creationId id="{4F8FFE7C-A843-B300-DFB8-A8926A046F05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94033" y="4006453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&#10;&#10;Description automatically generated">
            <a:extLst>
              <a:ext uri="{FF2B5EF4-FFF2-40B4-BE49-F238E27FC236}">
                <ns2:creationId id="{1D587756-29C5-809E-CF12-295DC55BCF8B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020284" y="4069590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&#10;&#10;AI-generated content may be incorrect.">
            <a:extLst>
              <a:ext uri="{FF2B5EF4-FFF2-40B4-BE49-F238E27FC236}">
                <ns2:creationId id="{8A9AAA02-2587-3BB3-DAF9-87AFAEE22844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74797" y="6074350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&#10;&#10;Description automatically generated">
            <a:extLst>
              <a:ext uri="{FF2B5EF4-FFF2-40B4-BE49-F238E27FC236}">
                <ns2:creationId id="{B12E3AF0-7D3C-DD22-4BD1-3C667E370C4E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676897" y="4023931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11 / 24</a:t>
            </a:r>
          </a:p>
        </p:txBody>
      </p:sp>
    </p:spTree>
    <p:extLst>
      <p:ext uri="{BB962C8B-B14F-4D97-AF65-F5344CB8AC3E}">
        <ns3:creationId val="3277474413"/>
      </p:ext>
    </p:extLst>
  </p:cSld>
  <p:clrMapOvr>
    <a:masterClrMapping/>
  </p:clrMapOvr>
</p:sld>
</file>

<file path=ppt/slides/slide12.xml><?xml version="1.0" encoding="utf-8"?>
<p:sld xmlns:a="http://schemas.openxmlformats.org/drawingml/2006/main" xmlns:ns2="http://schemas.microsoft.com/office/drawing/2014/main" xmlns:ns3="http://schemas.microsoft.com/office/powerpoint/2010/main" xmlns:ns4="http://schemas.microsoft.com/office/drawing/2010/main" xmlns:ns5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ns2:creationId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663439487"/>
              </p:ext>
            </p:extLst>
          </p:nvPr>
        </p:nvGraphicFramePr>
        <p:xfrm>
          <a:off x="212691" y="82627"/>
          <a:ext cx="6926523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6926523">
                  <a:extLst>
                    <a:ext uri="{9D8B030D-6E8A-4147-A177-3AD203B41FA5}">
                      <ns2:colId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NORTH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ns2:creationId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ns2:creationId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ns2:creationId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ns2:creationId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934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ns2:creationId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ns2:creationId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ns2:creationId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ns2:creationId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23.2%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ns2:creationId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ns2:creationId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ns2:creationId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ns2:creationId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746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ns2:creationId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ns2:creationId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ns2:creationId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ns2:creationId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65%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ns2:creationId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ns2:creationId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5442770"/>
            <a:ext cx="79419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ns2:creationId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ns2:creationId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6867859"/>
            <a:ext cx="79419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ns2:creationId id="{1A2636FF-FA83-BDD9-A967-753B47792769}"/>
              </a:ext>
            </a:extLst>
          </p:cNvPr>
          <p:cNvSpPr txBox="1"/>
          <p:nvPr/>
        </p:nvSpPr>
        <p:spPr>
          <a:xfrm>
            <a:off x="212691" y="888000"/>
            <a:ext cx="6926523" cy="104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+mj-lt"/>
                <a:ea typeface="Calibri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+mj-lt"/>
                <a:ea typeface="Calibri"/>
                <a:cs typeface="Calibri"/>
              </a:rPr>
              <a:t>Highlights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+mj-lt"/>
                <a:ea typeface="Calibri"/>
                <a:cs typeface="Calibri"/>
              </a:rPr>
              <a:t> 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Zone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Record: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May-26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delivered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the</a:t>
            </a:r>
            <a:r>
              <a:rPr lang="en-US" sz="105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solidFill>
                  <a:srgbClr val="0F162A"/>
                </a:solidFill>
                <a:effectLst/>
                <a:latin typeface="+mj-lt"/>
                <a:ea typeface="Calibri"/>
                <a:cs typeface="Calibri"/>
              </a:rPr>
              <a:t>highest</a:t>
            </a:r>
            <a:r>
              <a:rPr lang="en-US" sz="1050" b="1" spc="40" dirty="0">
                <a:solidFill>
                  <a:srgbClr val="0F162A"/>
                </a:solidFill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solidFill>
                  <a:srgbClr val="0F162A"/>
                </a:solidFill>
                <a:effectLst/>
                <a:latin typeface="+mj-lt"/>
                <a:ea typeface="Calibri"/>
                <a:cs typeface="Calibri"/>
              </a:rPr>
              <a:t>month</a:t>
            </a:r>
            <a:r>
              <a:rPr lang="en-US" sz="1050" b="1" spc="40" dirty="0">
                <a:solidFill>
                  <a:srgbClr val="0F162A"/>
                </a:solidFill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for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North</a:t>
            </a:r>
            <a:r>
              <a:rPr lang="en-US" sz="105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at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solidFill>
                  <a:srgbClr val="0F756E"/>
                </a:solidFill>
                <a:effectLst/>
                <a:latin typeface="+mj-lt"/>
                <a:ea typeface="Calibri"/>
                <a:cs typeface="Calibri"/>
              </a:rPr>
              <a:t>934</a:t>
            </a:r>
            <a:r>
              <a:rPr lang="en-US" sz="1050" dirty="0">
                <a:solidFill>
                  <a:srgbClr val="0F162A"/>
                </a:solidFill>
                <a:effectLst/>
                <a:latin typeface="+mj-lt"/>
                <a:ea typeface="Calibri"/>
                <a:cs typeface="Calibri"/>
              </a:rPr>
              <a:t>,</a:t>
            </a:r>
            <a:r>
              <a:rPr lang="en-US" sz="1050" spc="40" dirty="0">
                <a:solidFill>
                  <a:srgbClr val="0F162A"/>
                </a:solidFill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contributing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23.2%</a:t>
            </a:r>
            <a:r>
              <a:rPr lang="en-US" sz="1050" b="1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to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total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channel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spc="-10" dirty="0">
                <a:effectLst/>
                <a:latin typeface="+mj-lt"/>
                <a:ea typeface="Calibri"/>
                <a:cs typeface="Calibri"/>
              </a:rPr>
              <a:t>sales.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+mj-lt"/>
              </a:rPr>
              <a:t>Growth View: May-26 performance was </a:t>
            </a:r>
            <a:r>
              <a:rPr sz="1050" b="1" dirty="0">
                <a:solidFill>
                  <a:srgbClr val="008A3D"/>
                </a:solidFill>
                <a:latin typeface="+mj-lt"/>
              </a:rPr>
              <a:t>▲ 25%</a:t>
            </a:r>
            <a:r>
              <a:rPr sz="1050" b="1" dirty="0">
                <a:latin typeface="+mj-lt"/>
              </a:rPr>
              <a:t> vs L3M and </a:t>
            </a:r>
            <a:r>
              <a:rPr sz="1050" b="1" dirty="0">
                <a:solidFill>
                  <a:srgbClr val="008A3D"/>
                </a:solidFill>
                <a:latin typeface="+mj-lt"/>
              </a:rPr>
              <a:t>▲ 65%</a:t>
            </a:r>
            <a:r>
              <a:rPr sz="105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1050" b="1" dirty="0">
                <a:latin typeface="+mj-lt"/>
              </a:rPr>
              <a:t>vs May-25, confirming Consistent strong month momentum.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tabLst>
                <a:tab pos="184150" algn="l"/>
              </a:tabLst>
            </a:pPr>
            <a:r>
              <a:rPr sz="1050" dirty="0" b="1">
                <a:latin typeface="+mj-lt"/>
              </a:rPr>
              <a:t>Zone Insight:</a:t>
            </a:r>
            <a:r>
              <a:rPr sz="1050" dirty="0">
                <a:latin typeface="+mj-lt"/>
              </a:rPr>
              <a:t> Mamaearth anchors the North mix; The Derma Co. is the fastest-growing brand YoY.</a:t>
            </a:r>
          </a:p>
        </p:txBody>
      </p:sp>
      <p:sp>
        <p:nvSpPr>
          <p:cNvPr id="149" name="Shape 3">
            <a:extLst>
              <a:ext uri="{FF2B5EF4-FFF2-40B4-BE49-F238E27FC236}">
                <ns2:creationId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ns2:creationId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+mj-lt"/>
              </a:rPr>
              <a:t>North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ns2:creationId id="{8DC1552C-E149-4A10-28F5-0A4785E39F2D}"/>
              </a:ext>
            </a:extLst>
          </p:cNvPr>
          <p:cNvSpPr/>
          <p:nvPr/>
        </p:nvSpPr>
        <p:spPr>
          <a:xfrm>
            <a:off x="336150" y="3893837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ns2:creationId id="{68B7E644-F756-EB08-51D0-E4BBD2584EB3}"/>
              </a:ext>
            </a:extLst>
          </p:cNvPr>
          <p:cNvSpPr/>
          <p:nvPr/>
        </p:nvSpPr>
        <p:spPr>
          <a:xfrm>
            <a:off x="679525" y="3893836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 29%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ns2:creationId id="{E90F34B8-D653-A710-F866-1BC3E6964F9D}"/>
              </a:ext>
            </a:extLst>
          </p:cNvPr>
          <p:cNvSpPr/>
          <p:nvPr/>
        </p:nvSpPr>
        <p:spPr>
          <a:xfrm>
            <a:off x="1153771" y="3905713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7%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ns2:creationId id="{3CB5B5FD-F962-33DF-877C-0AE18D2CE328}"/>
              </a:ext>
            </a:extLst>
          </p:cNvPr>
          <p:cNvSpPr/>
          <p:nvPr/>
        </p:nvSpPr>
        <p:spPr>
          <a:xfrm>
            <a:off x="1627936" y="3893837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262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ns2:creationId id="{C3EABDE2-E03A-721E-0AE3-C104F928F4F3}"/>
              </a:ext>
            </a:extLst>
          </p:cNvPr>
          <p:cNvGraphicFramePr/>
          <p:nvPr>
            <p:extLst>
              <p:ext uri="{D42A27DB-BD31-4B8C-83A1-F6EECF244321}">
                <ns3:modId val="2181951180"/>
              </p:ext>
            </p:extLst>
          </p:nvPr>
        </p:nvGraphicFramePr>
        <p:xfrm>
          <a:off x="201072" y="3821157"/>
          <a:ext cx="2222757" cy="1551824"/>
        </p:xfrm>
        <a:graphic>
          <a:graphicData uri="http://schemas.openxmlformats.org/drawingml/2006/chart">
            <ns5:chart r:id="rId2"/>
          </a:graphicData>
        </a:graphic>
      </p:graphicFrame>
      <p:sp>
        <p:nvSpPr>
          <p:cNvPr id="156" name="Text 9">
            <a:extLst>
              <a:ext uri="{FF2B5EF4-FFF2-40B4-BE49-F238E27FC236}">
                <ns2:creationId id="{5BEBD7FD-7A2C-AC1D-76B9-D5B4A0E4DD0C}"/>
              </a:ext>
            </a:extLst>
          </p:cNvPr>
          <p:cNvSpPr/>
          <p:nvPr/>
        </p:nvSpPr>
        <p:spPr>
          <a:xfrm>
            <a:off x="2648050" y="3903537"/>
            <a:ext cx="560284" cy="155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ns2:creationId id="{1E0A7551-8419-9F78-49C5-64130D89CF32}"/>
              </a:ext>
            </a:extLst>
          </p:cNvPr>
          <p:cNvSpPr/>
          <p:nvPr/>
        </p:nvSpPr>
        <p:spPr>
          <a:xfrm>
            <a:off x="3240756" y="3893642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 54%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ns2:creationId id="{A6E4DFA5-8AF1-66E3-AB74-1643CD5B917D}"/>
              </a:ext>
            </a:extLst>
          </p:cNvPr>
          <p:cNvSpPr/>
          <p:nvPr/>
        </p:nvSpPr>
        <p:spPr>
          <a:xfrm>
            <a:off x="3645275" y="3889821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7%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ns2:creationId id="{0002D543-8B74-7800-B3E0-CCAA6D0B22FA}"/>
              </a:ext>
            </a:extLst>
          </p:cNvPr>
          <p:cNvSpPr/>
          <p:nvPr/>
        </p:nvSpPr>
        <p:spPr>
          <a:xfrm>
            <a:off x="4116738" y="3891974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May'26 188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ns2:creationId id="{498335C8-87FE-1BF3-E55D-7F3682FE88D1}"/>
              </a:ext>
            </a:extLst>
          </p:cNvPr>
          <p:cNvGraphicFramePr/>
          <p:nvPr>
            <p:extLst>
              <p:ext uri="{D42A27DB-BD31-4B8C-83A1-F6EECF244321}">
                <ns3:modId val="3813331227"/>
              </p:ext>
            </p:extLst>
          </p:nvPr>
        </p:nvGraphicFramePr>
        <p:xfrm>
          <a:off x="2523196" y="3793964"/>
          <a:ext cx="2246183" cy="1604539"/>
        </p:xfrm>
        <a:graphic>
          <a:graphicData uri="http://schemas.openxmlformats.org/drawingml/2006/chart">
            <ns5:chart r:id="rId3"/>
          </a:graphicData>
        </a:graphic>
      </p:graphicFrame>
      <p:sp>
        <p:nvSpPr>
          <p:cNvPr id="161" name="Text 13">
            <a:extLst>
              <a:ext uri="{FF2B5EF4-FFF2-40B4-BE49-F238E27FC236}">
                <ns2:creationId id="{AE81E6A1-E294-CD2E-3731-74E6402A61FF}"/>
              </a:ext>
            </a:extLst>
          </p:cNvPr>
          <p:cNvSpPr/>
          <p:nvPr/>
        </p:nvSpPr>
        <p:spPr>
          <a:xfrm>
            <a:off x="4973035" y="3855509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ns2:creationId id="{27F9A9D8-519D-AC19-D616-44CAE0D43FD1}"/>
              </a:ext>
            </a:extLst>
          </p:cNvPr>
          <p:cNvSpPr/>
          <p:nvPr/>
        </p:nvSpPr>
        <p:spPr>
          <a:xfrm>
            <a:off x="5552573" y="3874219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 50%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ns2:creationId id="{25E789B0-F22E-6189-F81D-C18A4F30CC76}"/>
              </a:ext>
            </a:extLst>
          </p:cNvPr>
          <p:cNvSpPr/>
          <p:nvPr/>
        </p:nvSpPr>
        <p:spPr>
          <a:xfrm>
            <a:off x="6019160" y="3854959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3%</a:t>
            </a:r>
            <a:endParaRPr lang="en-US" sz="900" dirty="0"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ns2:creationId id="{B7F3446D-2E00-77C7-5921-C34968E8F7B7}"/>
              </a:ext>
            </a:extLst>
          </p:cNvPr>
          <p:cNvSpPr/>
          <p:nvPr/>
        </p:nvSpPr>
        <p:spPr>
          <a:xfrm>
            <a:off x="6447628" y="3903536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89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ns2:creationId id="{E29320C6-4ABC-47AD-CAC6-8C1A6CA6E8C5}"/>
              </a:ext>
            </a:extLst>
          </p:cNvPr>
          <p:cNvGraphicFramePr/>
          <p:nvPr>
            <p:extLst>
              <p:ext uri="{D42A27DB-BD31-4B8C-83A1-F6EECF244321}">
                <ns3:modId val="1183009613"/>
              </p:ext>
            </p:extLst>
          </p:nvPr>
        </p:nvGraphicFramePr>
        <p:xfrm>
          <a:off x="4830879" y="3790131"/>
          <a:ext cx="2313521" cy="1621391"/>
        </p:xfrm>
        <a:graphic>
          <a:graphicData uri="http://schemas.openxmlformats.org/drawingml/2006/chart">
            <ns5:chart r:id="rId4"/>
          </a:graphicData>
        </a:graphic>
      </p:graphicFrame>
      <p:sp>
        <p:nvSpPr>
          <p:cNvPr id="166" name="Shape 17">
            <a:extLst>
              <a:ext uri="{FF2B5EF4-FFF2-40B4-BE49-F238E27FC236}">
                <ns2:creationId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ns2:creationId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</a:rPr>
              <a:t>North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ns2:creationId id="{A8BC9F08-BB7E-07CC-C7BE-53E76EB85511}"/>
              </a:ext>
            </a:extLst>
          </p:cNvPr>
          <p:cNvSpPr/>
          <p:nvPr/>
        </p:nvSpPr>
        <p:spPr>
          <a:xfrm>
            <a:off x="336150" y="5868172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ns2:creationId id="{CC6466FF-9DFE-712B-2E6C-63C9594ED3C1}"/>
              </a:ext>
            </a:extLst>
          </p:cNvPr>
          <p:cNvSpPr/>
          <p:nvPr/>
        </p:nvSpPr>
        <p:spPr>
          <a:xfrm>
            <a:off x="630315" y="5868171"/>
            <a:ext cx="472126" cy="245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▲1806%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ns2:creationId id="{6553EC6E-D91D-B6B7-81E0-5D554EF96509}"/>
              </a:ext>
            </a:extLst>
          </p:cNvPr>
          <p:cNvSpPr/>
          <p:nvPr/>
        </p:nvSpPr>
        <p:spPr>
          <a:xfrm>
            <a:off x="1238663" y="5883530"/>
            <a:ext cx="426367" cy="176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40%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ns2:creationId id="{21E44F12-56F2-0F79-99BF-12D5FEBEA9AE}"/>
              </a:ext>
            </a:extLst>
          </p:cNvPr>
          <p:cNvSpPr/>
          <p:nvPr/>
        </p:nvSpPr>
        <p:spPr>
          <a:xfrm>
            <a:off x="1808405" y="5874585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293B"/>
                </a:solidFill>
                <a:latin typeface="+mj-lt"/>
              </a:rPr>
              <a:t>May'26 132</a:t>
            </a:r>
            <a:endParaRPr lang="en-US" sz="8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ns2:creationId id="{A04A165C-0A2C-703B-D787-4F0EA0143E90}"/>
              </a:ext>
            </a:extLst>
          </p:cNvPr>
          <p:cNvGraphicFramePr/>
          <p:nvPr>
            <p:extLst>
              <p:ext uri="{D42A27DB-BD31-4B8C-83A1-F6EECF244321}">
                <ns3:modId val="1146062141"/>
              </p:ext>
            </p:extLst>
          </p:nvPr>
        </p:nvGraphicFramePr>
        <p:xfrm>
          <a:off x="176687" y="5845570"/>
          <a:ext cx="2239919" cy="1467574"/>
        </p:xfrm>
        <a:graphic>
          <a:graphicData uri="http://schemas.openxmlformats.org/drawingml/2006/chart">
            <ns5:chart r:id="rId5"/>
          </a:graphicData>
        </a:graphic>
      </p:graphicFrame>
      <p:sp>
        <p:nvSpPr>
          <p:cNvPr id="173" name="Text 23">
            <a:extLst>
              <a:ext uri="{FF2B5EF4-FFF2-40B4-BE49-F238E27FC236}">
                <ns2:creationId id="{D7CD4F3F-DA69-AB5C-19FC-40054C6226BA}"/>
              </a:ext>
            </a:extLst>
          </p:cNvPr>
          <p:cNvSpPr/>
          <p:nvPr/>
        </p:nvSpPr>
        <p:spPr>
          <a:xfrm>
            <a:off x="2622149" y="5868171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ns2:creationId id="{1D10C6E1-4BAF-BC01-C799-C47AB1F5027D}"/>
              </a:ext>
            </a:extLst>
          </p:cNvPr>
          <p:cNvSpPr/>
          <p:nvPr/>
        </p:nvSpPr>
        <p:spPr>
          <a:xfrm>
            <a:off x="3191647" y="5935615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 </a:t>
            </a:r>
          </a:p>
          <a:p>
            <a:pPr marL="0" indent="0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▲440%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ns2:creationId id="{7646A250-EE9F-A6C6-49D3-68B6D3DFBFDE}"/>
              </a:ext>
            </a:extLst>
          </p:cNvPr>
          <p:cNvSpPr/>
          <p:nvPr/>
        </p:nvSpPr>
        <p:spPr>
          <a:xfrm>
            <a:off x="3673150" y="5898208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37%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ns2:creationId id="{DB185B2C-DCD9-D290-C330-3A33EAC025C5}"/>
              </a:ext>
            </a:extLst>
          </p:cNvPr>
          <p:cNvSpPr/>
          <p:nvPr/>
        </p:nvSpPr>
        <p:spPr>
          <a:xfrm>
            <a:off x="4092264" y="5888238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May’26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92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ns2:creationId id="{CBBF5C82-1DBC-BF6C-CAEA-410BB465C0A3}"/>
              </a:ext>
            </a:extLst>
          </p:cNvPr>
          <p:cNvGraphicFramePr/>
          <p:nvPr>
            <p:extLst>
              <p:ext uri="{D42A27DB-BD31-4B8C-83A1-F6EECF244321}">
                <ns3:modId val="727147632"/>
              </p:ext>
            </p:extLst>
          </p:nvPr>
        </p:nvGraphicFramePr>
        <p:xfrm>
          <a:off x="2495147" y="5860056"/>
          <a:ext cx="2274232" cy="1482525"/>
        </p:xfrm>
        <a:graphic>
          <a:graphicData uri="http://schemas.openxmlformats.org/drawingml/2006/chart">
            <ns5:chart r:id="rId6"/>
          </a:graphicData>
        </a:graphic>
      </p:graphicFrame>
      <p:sp>
        <p:nvSpPr>
          <p:cNvPr id="178" name="Text 27">
            <a:extLst>
              <a:ext uri="{FF2B5EF4-FFF2-40B4-BE49-F238E27FC236}">
                <ns2:creationId id="{038BADD0-EAC6-F8D6-7B12-BE177A9DAD4D}"/>
              </a:ext>
            </a:extLst>
          </p:cNvPr>
          <p:cNvSpPr/>
          <p:nvPr/>
        </p:nvSpPr>
        <p:spPr>
          <a:xfrm>
            <a:off x="5022359" y="5889642"/>
            <a:ext cx="566347" cy="228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Face </a:t>
            </a:r>
          </a:p>
          <a:p>
            <a:pPr marL="0" indent="0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ns2:creationId id="{024D5F40-BAD0-9683-DBAB-2A9FEAA024FA}"/>
              </a:ext>
            </a:extLst>
          </p:cNvPr>
          <p:cNvSpPr/>
          <p:nvPr/>
        </p:nvSpPr>
        <p:spPr>
          <a:xfrm>
            <a:off x="5538385" y="5902135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900" dirty="0">
                <a:solidFill>
                  <a:srgbClr val="2E8B57"/>
                </a:solidFill>
                <a:latin typeface="+mj-lt"/>
              </a:rPr>
              <a:t>GOLY</a:t>
            </a:r>
          </a:p>
          <a:p>
            <a:pPr algn="ctr"/>
            <a:r>
              <a:rPr sz="900" dirty="0">
                <a:solidFill>
                  <a:srgbClr val="2E8B57"/>
                </a:solidFill>
                <a:latin typeface="+mj-lt"/>
              </a:rPr>
              <a:t>▲ 108</a:t>
            </a:r>
            <a:r>
              <a:rPr sz="900" b="1" dirty="0">
                <a:solidFill>
                  <a:schemeClr val="accent6"/>
                </a:solidFill>
                <a:latin typeface="+mj-lt"/>
              </a:rPr>
              <a:t>%</a:t>
            </a:r>
            <a:endParaRPr lang="en-US" sz="900" dirty="0">
              <a:solidFill>
                <a:schemeClr val="accent6"/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ns2:creationId id="{631DEBF0-39A6-7D0F-BA14-F1B18161FDD2}"/>
              </a:ext>
            </a:extLst>
          </p:cNvPr>
          <p:cNvSpPr/>
          <p:nvPr/>
        </p:nvSpPr>
        <p:spPr>
          <a:xfrm>
            <a:off x="6181996" y="5921103"/>
            <a:ext cx="406179" cy="249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0000"/>
                </a:solidFill>
                <a:latin typeface="+mj-lt"/>
              </a:rPr>
              <a:t>MoM </a:t>
            </a:r>
          </a:p>
          <a:p>
            <a:pPr marL="0" indent="0">
              <a:buNone/>
            </a:pPr>
            <a:r>
              <a:rPr sz="900" b="1" dirty="0">
                <a:solidFill>
                  <a:srgbClr val="FF0000"/>
                </a:solidFill>
                <a:latin typeface="+mj-lt"/>
              </a:rPr>
              <a:t>▼ 1%</a:t>
            </a:r>
            <a:endParaRPr lang="en-US" sz="9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ns2:creationId id="{F69669F6-2C5B-9CCF-FC00-E39EBA2DF5E4}"/>
              </a:ext>
            </a:extLst>
          </p:cNvPr>
          <p:cNvSpPr/>
          <p:nvPr/>
        </p:nvSpPr>
        <p:spPr>
          <a:xfrm>
            <a:off x="6568786" y="5910603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16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ns2:creationId id="{39E95149-09DC-244B-A1A2-AB5A022BF0EF}"/>
              </a:ext>
            </a:extLst>
          </p:cNvPr>
          <p:cNvGraphicFramePr/>
          <p:nvPr>
            <p:extLst>
              <p:ext uri="{D42A27DB-BD31-4B8C-83A1-F6EECF244321}">
                <ns3:modId val="3704314941"/>
              </p:ext>
            </p:extLst>
          </p:nvPr>
        </p:nvGraphicFramePr>
        <p:xfrm>
          <a:off x="4841314" y="5860591"/>
          <a:ext cx="2326712" cy="1481990"/>
        </p:xfrm>
        <a:graphic>
          <a:graphicData uri="http://schemas.openxmlformats.org/drawingml/2006/chart">
            <ns5:chart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ns2:creationId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770910559"/>
              </p:ext>
            </p:extLst>
          </p:nvPr>
        </p:nvGraphicFramePr>
        <p:xfrm>
          <a:off x="212691" y="1934878"/>
          <a:ext cx="6926523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279602">
                  <a:extLst>
                    <a:ext uri="{9D8B030D-6E8A-4147-A177-3AD203B41FA5}">
                      <ns2:colId val="1720933068"/>
                    </a:ext>
                  </a:extLst>
                </a:gridCol>
                <a:gridCol w="711258">
                  <a:extLst>
                    <a:ext uri="{9D8B030D-6E8A-4147-A177-3AD203B41FA5}">
                      <ns2:colId val="2630805108"/>
                    </a:ext>
                  </a:extLst>
                </a:gridCol>
                <a:gridCol w="700641">
                  <a:extLst>
                    <a:ext uri="{9D8B030D-6E8A-4147-A177-3AD203B41FA5}">
                      <ns2:colId val="1295913063"/>
                    </a:ext>
                  </a:extLst>
                </a:gridCol>
                <a:gridCol w="660784">
                  <a:extLst>
                    <a:ext uri="{9D8B030D-6E8A-4147-A177-3AD203B41FA5}">
                      <ns2:colId val="4130086957"/>
                    </a:ext>
                  </a:extLst>
                </a:gridCol>
                <a:gridCol w="893559">
                  <a:extLst>
                    <a:ext uri="{9D8B030D-6E8A-4147-A177-3AD203B41FA5}">
                      <ns2:colId val="3066276741"/>
                    </a:ext>
                  </a:extLst>
                </a:gridCol>
                <a:gridCol w="893559">
                  <a:extLst>
                    <a:ext uri="{9D8B030D-6E8A-4147-A177-3AD203B41FA5}">
                      <ns2:colId val="2870282349"/>
                    </a:ext>
                  </a:extLst>
                </a:gridCol>
                <a:gridCol w="893559">
                  <a:extLst>
                    <a:ext uri="{9D8B030D-6E8A-4147-A177-3AD203B41FA5}">
                      <ns2:colId val="1716647770"/>
                    </a:ext>
                  </a:extLst>
                </a:gridCol>
                <a:gridCol w="893561">
                  <a:extLst>
                    <a:ext uri="{9D8B030D-6E8A-4147-A177-3AD203B41FA5}">
                      <ns2:colId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ns2:rowId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517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649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671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71.8%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586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33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181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243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26.3%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147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635%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2.1%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0.1%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ns2:creationId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892616621"/>
              </p:ext>
            </p:extLst>
          </p:nvPr>
        </p:nvGraphicFramePr>
        <p:xfrm>
          <a:off x="212691" y="7863614"/>
          <a:ext cx="6926523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680699">
                  <a:extLst>
                    <a:ext uri="{9D8B030D-6E8A-4147-A177-3AD203B41FA5}">
                      <ns2:colId val="1999662838"/>
                    </a:ext>
                  </a:extLst>
                </a:gridCol>
                <a:gridCol w="763955">
                  <a:extLst>
                    <a:ext uri="{9D8B030D-6E8A-4147-A177-3AD203B41FA5}">
                      <ns2:colId val="1604924111"/>
                    </a:ext>
                  </a:extLst>
                </a:gridCol>
                <a:gridCol w="713024">
                  <a:extLst>
                    <a:ext uri="{9D8B030D-6E8A-4147-A177-3AD203B41FA5}">
                      <ns2:colId val="3900343723"/>
                    </a:ext>
                  </a:extLst>
                </a:gridCol>
                <a:gridCol w="763955">
                  <a:extLst>
                    <a:ext uri="{9D8B030D-6E8A-4147-A177-3AD203B41FA5}">
                      <ns2:colId val="2453469686"/>
                    </a:ext>
                  </a:extLst>
                </a:gridCol>
                <a:gridCol w="763955">
                  <a:extLst>
                    <a:ext uri="{9D8B030D-6E8A-4147-A177-3AD203B41FA5}">
                      <ns2:colId val="531817117"/>
                    </a:ext>
                  </a:extLst>
                </a:gridCol>
                <a:gridCol w="475349">
                  <a:extLst>
                    <a:ext uri="{9D8B030D-6E8A-4147-A177-3AD203B41FA5}">
                      <ns2:colId val="1269342238"/>
                    </a:ext>
                  </a:extLst>
                </a:gridCol>
                <a:gridCol w="882793">
                  <a:extLst>
                    <a:ext uri="{9D8B030D-6E8A-4147-A177-3AD203B41FA5}">
                      <ns2:colId val="1250320746"/>
                    </a:ext>
                  </a:extLst>
                </a:gridCol>
                <a:gridCol w="882793">
                  <a:extLst>
                    <a:ext uri="{9D8B030D-6E8A-4147-A177-3AD203B41FA5}">
                      <ns2:colId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Cont</a:t>
                      </a: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187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37.6%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37%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88%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293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36.4%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28%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39%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19%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175%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Sancus(Rmt)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8%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13%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32%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283%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14%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4.5%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16%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28%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ns2:creationId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6274" y="15742"/>
            <a:ext cx="79352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ns2:creationId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ns2:creationId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ns2:creationId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ns2:creationId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ns2:creationId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ns2:creationId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ns2:creationId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ns2:creationId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ns2:creationId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ns2:creationId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ns2:creationId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ns2:creationId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ns2:creationId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66780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900" b="1">
                  <a:solidFill>
                    <a:srgbClr val="055E46"/>
                  </a:solidFill>
                  <a:latin typeface="+mj-lt"/>
                </a:rPr>
                <a:t>Zone Record: North delivered its highest month in May-26 at 934. Growth stood at </a:t>
              </a:r>
              <a:r>
                <a:rPr sz="900" b="1">
                  <a:solidFill>
                    <a:srgbClr val="008A3D"/>
                  </a:solidFill>
                  <a:latin typeface="+mj-lt"/>
                </a:rPr>
                <a:t>▲ 25%</a:t>
              </a:r>
              <a:r>
                <a:rPr sz="900" b="1">
                  <a:solidFill>
                    <a:srgbClr val="055E46"/>
                  </a:solidFill>
                  <a:latin typeface="+mj-lt"/>
                </a:rPr>
                <a:t> vs L3M and </a:t>
              </a:r>
              <a:r>
                <a:rPr sz="900" b="1">
                  <a:solidFill>
                    <a:srgbClr val="008A3D"/>
                  </a:solidFill>
                  <a:latin typeface="+mj-lt"/>
                </a:rPr>
                <a:t>▲ 65%</a:t>
              </a:r>
              <a:r>
                <a:rPr sz="900" b="1">
                  <a:solidFill>
                    <a:srgbClr val="055E46"/>
                  </a:solidFill>
                  <a:latin typeface="+mj-lt"/>
                </a:rPr>
                <a:t> vs May-25.</a:t>
              </a:r>
              <a:endParaRPr lang="en-IN" sz="1400" spc="0" dirty="0">
                <a:effectLst/>
                <a:latin typeface="+mj-lt"/>
                <a:ea typeface="Calibri"/>
                <a:cs typeface="Calibri"/>
              </a:endParaRPr>
            </a:p>
            <a:p>
              <a:pPr marL="342900" marR="11430" indent="-342900">
                <a:lnSpc>
                  <a:spcPct val="107000"/>
                </a:lnSpc>
                <a:spcBef>
                  <a:spcPts val="160"/>
                </a:spcBef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900" b="1">
                  <a:solidFill>
                    <a:srgbClr val="055E46"/>
                  </a:solidFill>
                  <a:latin typeface="+mj-lt"/>
                </a:rPr>
                <a:t>Chain Highlights Dmart at 351 Lacs; fastest YoY chain: Lulu 19 Lacs Gr</a:t>
              </a:r>
              <a:r>
                <a:rPr sz="900" b="1">
                  <a:solidFill>
                    <a:srgbClr val="008A3D"/>
                  </a:solidFill>
                  <a:latin typeface="+mj-lt"/>
                </a:rPr>
                <a:t>▲ 283%</a:t>
              </a:r>
              <a:r>
                <a:rPr sz="900" b="1">
                  <a:solidFill>
                    <a:srgbClr val="055E46"/>
                  </a:solidFill>
                  <a:latin typeface="+mj-lt"/>
                </a:rPr>
                <a:t>.</a:t>
              </a:r>
              <a:endParaRPr lang="en-IN" sz="900" dirty="0">
                <a:solidFill>
                  <a:srgbClr val="15803D"/>
                </a:solidFill>
                <a:latin typeface="+mj-lt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ns2:creationId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ns2:creationId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YoY</a:t>
              </a:r>
              <a:r>
                <a:rPr lang="en-US" sz="650" b="1" spc="-2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ns2:creationId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ns2:creationId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Zone</a:t>
              </a:r>
              <a:r>
                <a:rPr lang="en-US" sz="650" b="1" spc="-2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ns2:creationId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351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ns2:creationId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0F162A"/>
                  </a:solidFill>
                  <a:latin typeface="+mj-lt"/>
                </a:rPr>
                <a:t>Lulu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283%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ns2:creationId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Dmart, Reliance, Apollo,</a:t>
              </a:r>
              <a:r>
                <a:rPr lang="en-US" sz="650" b="1" spc="-4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ns2:creationId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0F162A"/>
                  </a:solidFill>
                  <a:latin typeface="+mj-lt"/>
                  <a:ea typeface="Calibri"/>
                  <a:cs typeface="Calibri"/>
                </a:rPr>
                <a:t>- </a:t>
              </a: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934</a:t>
              </a:r>
              <a:r>
                <a:rPr lang="en-US" sz="65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ns2:creationId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276274" y="112827"/>
            <a:ext cx="793520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ns2:creationId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+mj-lt"/>
              </a:rPr>
              <a:t>North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ns2:creationId id="{CC605FCE-57BA-7B47-6E90-8EBD86A166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ns4:useLocalDpi val="0"/>
              </a:ext>
            </a:extLst>
          </a:blip>
          <a:srcRect l="24448" r="23559"/>
          <a:stretch/>
        </p:blipFill>
        <p:spPr bwMode="auto">
          <a:xfrm>
            <a:off x="2622730" y="6150053"/>
            <a:ext cx="212290" cy="408312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3" name="Picture 4">
            <a:extLst>
              <a:ext uri="{FF2B5EF4-FFF2-40B4-BE49-F238E27FC236}">
                <ns2:creationId id="{BA730C5E-E798-81D5-75C0-4C35B3757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312901" y="6165990"/>
            <a:ext cx="210106" cy="445801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4" name="Picture 3" descr="A bottle of rice face wash&#10;&#10;Description automatically generated">
            <a:extLst>
              <a:ext uri="{FF2B5EF4-FFF2-40B4-BE49-F238E27FC236}">
                <ns2:creationId id="{646B54BB-96BF-7217-5F2F-E4051086704F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62229" y="4058927"/>
            <a:ext cx="160778" cy="331576"/>
          </a:xfrm>
          <a:prstGeom prst="rect">
            <a:avLst/>
          </a:prstGeom>
        </p:spPr>
      </p:pic>
      <p:pic>
        <p:nvPicPr>
          <p:cNvPr id="5" name="Picture 4" descr="A yellow bottle of sunscreen&#10;&#10;Description automatically generated">
            <a:extLst>
              <a:ext uri="{FF2B5EF4-FFF2-40B4-BE49-F238E27FC236}">
                <ns2:creationId id="{C57FB264-BADA-5D6D-D810-BA4B7ED19ACC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090937" y="4049439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&#10;&#10;AI-generated content may be incorrect.">
            <a:extLst>
              <a:ext uri="{FF2B5EF4-FFF2-40B4-BE49-F238E27FC236}">
                <ns2:creationId id="{7A701BDC-8A3B-26A0-68C1-222B6656CC57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89134" y="6182848"/>
            <a:ext cx="216398" cy="29881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&#10;&#10;Description automatically generated">
            <a:extLst>
              <a:ext uri="{FF2B5EF4-FFF2-40B4-BE49-F238E27FC236}">
                <ns2:creationId id="{08F50D39-E171-3A04-74AD-B0885657394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676897" y="4023931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12 / 24</a:t>
            </a:r>
          </a:p>
        </p:txBody>
      </p:sp>
    </p:spTree>
    <p:extLst>
      <p:ext uri="{BB962C8B-B14F-4D97-AF65-F5344CB8AC3E}">
        <ns3:creationId val="1378672"/>
      </p:ext>
    </p:extLst>
  </p:cSld>
  <p:clrMapOvr>
    <a:masterClrMapping/>
  </p:clrMapOvr>
</p:sld>
</file>

<file path=ppt/slides/slide13.xml><?xml version="1.0" encoding="utf-8"?>
<p:sld xmlns:a="http://schemas.openxmlformats.org/drawingml/2006/main" xmlns:ns2="http://schemas.microsoft.com/office/drawing/2014/main" xmlns:ns3="http://schemas.microsoft.com/office/powerpoint/2010/main" xmlns:ns4="http://schemas.microsoft.com/office/drawing/2010/main" xmlns:ns5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ns2:creationId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024135073"/>
              </p:ext>
            </p:extLst>
          </p:nvPr>
        </p:nvGraphicFramePr>
        <p:xfrm>
          <a:off x="212691" y="82627"/>
          <a:ext cx="6926523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6926523">
                  <a:extLst>
                    <a:ext uri="{9D8B030D-6E8A-4147-A177-3AD203B41FA5}">
                      <ns2:colId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SOUTH-1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ns2:creationId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ns2:creationId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ns2:creationId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ns2:creationId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894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ns2:creationId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ns2:creationId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ns2:creationId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ns2:creationId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22.3%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ns2:creationId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ns2:creationId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ns2:creationId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ns2:creationId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674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ns2:creationId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ns2:creationId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ns2:creationId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ns2:creationId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84%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ns2:creationId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ns2:creationId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5442770"/>
            <a:ext cx="79419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ns2:creationId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5912670"/>
            <a:ext cx="79419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ns2:creationId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ns2:creationId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6867859"/>
            <a:ext cx="79419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ns2:creationId id="{1A2636FF-FA83-BDD9-A967-753B47792769}"/>
              </a:ext>
            </a:extLst>
          </p:cNvPr>
          <p:cNvSpPr txBox="1"/>
          <p:nvPr/>
        </p:nvSpPr>
        <p:spPr>
          <a:xfrm>
            <a:off x="212691" y="888000"/>
            <a:ext cx="6926523" cy="104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+mj-lt"/>
                <a:ea typeface="Calibri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+mj-lt"/>
                <a:ea typeface="Calibri"/>
                <a:cs typeface="Calibri"/>
              </a:rPr>
              <a:t>Highlights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+mj-lt"/>
                <a:ea typeface="Calibri"/>
                <a:cs typeface="Calibri"/>
              </a:rPr>
              <a:t> 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Zone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Record: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May-26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delivered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the</a:t>
            </a:r>
            <a:r>
              <a:rPr lang="en-US" sz="105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highest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month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for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South-1</a:t>
            </a:r>
            <a:r>
              <a:rPr lang="en-US" sz="105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at</a:t>
            </a:r>
            <a:r>
              <a:rPr lang="en-US" sz="1050" spc="40" dirty="0">
                <a:solidFill>
                  <a:srgbClr val="0F162A"/>
                </a:solidFill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solidFill>
                  <a:srgbClr val="0F756E"/>
                </a:solidFill>
                <a:effectLst/>
                <a:latin typeface="+mj-lt"/>
                <a:ea typeface="Calibri"/>
                <a:cs typeface="Calibri"/>
              </a:rPr>
              <a:t>894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,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contributing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22.3%</a:t>
            </a:r>
            <a:r>
              <a:rPr lang="en-US" sz="1050" b="1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to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total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channel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spc="-10" dirty="0">
                <a:effectLst/>
                <a:latin typeface="+mj-lt"/>
                <a:ea typeface="Calibri"/>
                <a:cs typeface="Calibri"/>
              </a:rPr>
              <a:t>sales.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+mj-lt"/>
              </a:rPr>
              <a:t>Growth View: May-26 performance was</a:t>
            </a:r>
            <a:r>
              <a:rPr sz="105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1050" b="1" dirty="0">
                <a:solidFill>
                  <a:srgbClr val="008A3D"/>
                </a:solidFill>
                <a:latin typeface="+mj-lt"/>
              </a:rPr>
              <a:t>▲ 33%</a:t>
            </a:r>
            <a:r>
              <a:rPr sz="105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1050" b="1" dirty="0">
                <a:latin typeface="+mj-lt"/>
              </a:rPr>
              <a:t>vs L3M and </a:t>
            </a:r>
            <a:r>
              <a:rPr sz="1050" b="1" dirty="0">
                <a:solidFill>
                  <a:srgbClr val="008A3D"/>
                </a:solidFill>
                <a:latin typeface="+mj-lt"/>
              </a:rPr>
              <a:t>▲ 84%</a:t>
            </a:r>
            <a:r>
              <a:rPr sz="105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1050" b="1" dirty="0">
                <a:latin typeface="+mj-lt"/>
              </a:rPr>
              <a:t>vs May-25, confirming Consistent strong month momentum.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tabLst>
                <a:tab pos="184150" algn="l"/>
              </a:tabLst>
            </a:pPr>
            <a:r>
              <a:rPr sz="1050" dirty="0" b="1">
                <a:latin typeface="+mj-lt"/>
              </a:rPr>
              <a:t>Zone Insight:</a:t>
            </a:r>
            <a:r>
              <a:rPr sz="1050" dirty="0">
                <a:latin typeface="+mj-lt"/>
              </a:rPr>
              <a:t> South-1 covers Karnataka, Tamil Nadu &amp; Kerala; Mamaearth leads, The Derma Co. scaling fast.</a:t>
            </a:r>
          </a:p>
        </p:txBody>
      </p:sp>
      <p:sp>
        <p:nvSpPr>
          <p:cNvPr id="149" name="Shape 3">
            <a:extLst>
              <a:ext uri="{FF2B5EF4-FFF2-40B4-BE49-F238E27FC236}">
                <ns2:creationId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ns2:creationId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+mj-lt"/>
              </a:rPr>
              <a:t>South-1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ns2:creationId id="{8DC1552C-E149-4A10-28F5-0A4785E39F2D}"/>
              </a:ext>
            </a:extLst>
          </p:cNvPr>
          <p:cNvSpPr/>
          <p:nvPr/>
        </p:nvSpPr>
        <p:spPr>
          <a:xfrm>
            <a:off x="280785" y="3895964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ns2:creationId id="{68B7E644-F756-EB08-51D0-E4BBD2584EB3}"/>
              </a:ext>
            </a:extLst>
          </p:cNvPr>
          <p:cNvSpPr/>
          <p:nvPr/>
        </p:nvSpPr>
        <p:spPr>
          <a:xfrm>
            <a:off x="624160" y="3895963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 44%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ns2:creationId id="{E90F34B8-D653-A710-F866-1BC3E6964F9D}"/>
              </a:ext>
            </a:extLst>
          </p:cNvPr>
          <p:cNvSpPr/>
          <p:nvPr/>
        </p:nvSpPr>
        <p:spPr>
          <a:xfrm>
            <a:off x="1098406" y="390784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17%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ns2:creationId id="{3CB5B5FD-F962-33DF-877C-0AE18D2CE328}"/>
              </a:ext>
            </a:extLst>
          </p:cNvPr>
          <p:cNvSpPr/>
          <p:nvPr/>
        </p:nvSpPr>
        <p:spPr>
          <a:xfrm>
            <a:off x="1631573" y="389596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189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ns2:creationId id="{C3EABDE2-E03A-721E-0AE3-C104F928F4F3}"/>
              </a:ext>
            </a:extLst>
          </p:cNvPr>
          <p:cNvGraphicFramePr/>
          <p:nvPr>
            <p:extLst>
              <p:ext uri="{D42A27DB-BD31-4B8C-83A1-F6EECF244321}">
                <ns3:modId val="2139213460"/>
              </p:ext>
            </p:extLst>
          </p:nvPr>
        </p:nvGraphicFramePr>
        <p:xfrm>
          <a:off x="157837" y="3808086"/>
          <a:ext cx="2246288" cy="1594061"/>
        </p:xfrm>
        <a:graphic>
          <a:graphicData uri="http://schemas.openxmlformats.org/drawingml/2006/chart">
            <ns5:chart r:id="rId2"/>
          </a:graphicData>
        </a:graphic>
      </p:graphicFrame>
      <p:sp>
        <p:nvSpPr>
          <p:cNvPr id="156" name="Text 9">
            <a:extLst>
              <a:ext uri="{FF2B5EF4-FFF2-40B4-BE49-F238E27FC236}">
                <ns2:creationId id="{5BEBD7FD-7A2C-AC1D-76B9-D5B4A0E4DD0C}"/>
              </a:ext>
            </a:extLst>
          </p:cNvPr>
          <p:cNvSpPr/>
          <p:nvPr/>
        </p:nvSpPr>
        <p:spPr>
          <a:xfrm>
            <a:off x="2618119" y="3885404"/>
            <a:ext cx="654206" cy="186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ns2:creationId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 63%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ns2:creationId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23%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ns2:creationId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May'26 170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ns2:creationId id="{498335C8-87FE-1BF3-E55D-7F3682FE88D1}"/>
              </a:ext>
            </a:extLst>
          </p:cNvPr>
          <p:cNvGraphicFramePr/>
          <p:nvPr>
            <p:extLst>
              <p:ext uri="{D42A27DB-BD31-4B8C-83A1-F6EECF244321}">
                <ns3:modId val="485065483"/>
              </p:ext>
            </p:extLst>
          </p:nvPr>
        </p:nvGraphicFramePr>
        <p:xfrm>
          <a:off x="2513908" y="3792892"/>
          <a:ext cx="2251646" cy="1629169"/>
        </p:xfrm>
        <a:graphic>
          <a:graphicData uri="http://schemas.openxmlformats.org/drawingml/2006/chart">
            <ns5:chart r:id="rId3"/>
          </a:graphicData>
        </a:graphic>
      </p:graphicFrame>
      <p:sp>
        <p:nvSpPr>
          <p:cNvPr id="161" name="Text 13">
            <a:extLst>
              <a:ext uri="{FF2B5EF4-FFF2-40B4-BE49-F238E27FC236}">
                <ns2:creationId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ns2:creationId id="{27F9A9D8-519D-AC19-D616-44CAE0D43FD1}"/>
              </a:ext>
            </a:extLst>
          </p:cNvPr>
          <p:cNvSpPr/>
          <p:nvPr/>
        </p:nvSpPr>
        <p:spPr>
          <a:xfrm>
            <a:off x="5410447" y="385608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122%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ns2:creationId id="{25E789B0-F22E-6189-F81D-C18A4F30CC76}"/>
              </a:ext>
            </a:extLst>
          </p:cNvPr>
          <p:cNvSpPr/>
          <p:nvPr/>
        </p:nvSpPr>
        <p:spPr>
          <a:xfrm>
            <a:off x="5997696" y="3845293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0000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FF0000"/>
                </a:solidFill>
                <a:latin typeface="+mj-lt"/>
              </a:rPr>
              <a:t>▼ 0%</a:t>
            </a:r>
            <a:endParaRPr lang="en-US" sz="9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ns2:creationId id="{B7F3446D-2E00-77C7-5921-C34968E8F7B7}"/>
              </a:ext>
            </a:extLst>
          </p:cNvPr>
          <p:cNvSpPr/>
          <p:nvPr/>
        </p:nvSpPr>
        <p:spPr>
          <a:xfrm>
            <a:off x="6417697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70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ns2:creationId id="{E29320C6-4ABC-47AD-CAC6-8C1A6CA6E8C5}"/>
              </a:ext>
            </a:extLst>
          </p:cNvPr>
          <p:cNvGraphicFramePr/>
          <p:nvPr>
            <p:extLst>
              <p:ext uri="{D42A27DB-BD31-4B8C-83A1-F6EECF244321}">
                <ns3:modId val="383948232"/>
              </p:ext>
            </p:extLst>
          </p:nvPr>
        </p:nvGraphicFramePr>
        <p:xfrm>
          <a:off x="4862830" y="3792360"/>
          <a:ext cx="2337147" cy="1614375"/>
        </p:xfrm>
        <a:graphic>
          <a:graphicData uri="http://schemas.openxmlformats.org/drawingml/2006/chart">
            <ns5:chart r:id="rId4"/>
          </a:graphicData>
        </a:graphic>
      </p:graphicFrame>
      <p:sp>
        <p:nvSpPr>
          <p:cNvPr id="166" name="Shape 17">
            <a:extLst>
              <a:ext uri="{FF2B5EF4-FFF2-40B4-BE49-F238E27FC236}">
                <ns2:creationId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ns2:creationId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</a:rPr>
              <a:t>South-1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ns2:creationId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ns2:creationId id="{CC6466FF-9DFE-712B-2E6C-63C9594ED3C1}"/>
              </a:ext>
            </a:extLst>
          </p:cNvPr>
          <p:cNvSpPr/>
          <p:nvPr/>
        </p:nvSpPr>
        <p:spPr>
          <a:xfrm>
            <a:off x="607560" y="5957217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</a:t>
            </a:r>
          </a:p>
          <a:p>
            <a:pPr marL="0" indent="0" algn="ctr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 </a:t>
            </a:r>
            <a:r>
              <a:rPr sz="900" b="1">
                <a:solidFill>
                  <a:srgbClr val="008A3D"/>
                </a:solidFill>
                <a:latin typeface="+mj-lt"/>
              </a:rPr>
              <a:t>▲772%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ns2:creationId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36%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ns2:creationId id="{21E44F12-56F2-0F79-99BF-12D5FEBEA9AE}"/>
              </a:ext>
            </a:extLst>
          </p:cNvPr>
          <p:cNvSpPr/>
          <p:nvPr/>
        </p:nvSpPr>
        <p:spPr>
          <a:xfrm>
            <a:off x="1700065" y="5933594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May'26 116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ns2:creationId id="{A04A165C-0A2C-703B-D787-4F0EA0143E90}"/>
              </a:ext>
            </a:extLst>
          </p:cNvPr>
          <p:cNvGraphicFramePr/>
          <p:nvPr>
            <p:extLst>
              <p:ext uri="{D42A27DB-BD31-4B8C-83A1-F6EECF244321}">
                <ns3:modId val="2590069807"/>
              </p:ext>
            </p:extLst>
          </p:nvPr>
        </p:nvGraphicFramePr>
        <p:xfrm>
          <a:off x="169808" y="5838529"/>
          <a:ext cx="2256553" cy="1541398"/>
        </p:xfrm>
        <a:graphic>
          <a:graphicData uri="http://schemas.openxmlformats.org/drawingml/2006/chart">
            <ns5:chart r:id="rId5"/>
          </a:graphicData>
        </a:graphic>
      </p:graphicFrame>
      <p:sp>
        <p:nvSpPr>
          <p:cNvPr id="173" name="Text 23">
            <a:extLst>
              <a:ext uri="{FF2B5EF4-FFF2-40B4-BE49-F238E27FC236}">
                <ns2:creationId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ns2:creationId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▲351%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ns2:creationId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14%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ns2:creationId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May'26 131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ns2:creationId id="{CBBF5C82-1DBC-BF6C-CAEA-410BB465C0A3}"/>
              </a:ext>
            </a:extLst>
          </p:cNvPr>
          <p:cNvGraphicFramePr/>
          <p:nvPr>
            <p:extLst>
              <p:ext uri="{D42A27DB-BD31-4B8C-83A1-F6EECF244321}">
                <ns3:modId val="590141323"/>
              </p:ext>
            </p:extLst>
          </p:nvPr>
        </p:nvGraphicFramePr>
        <p:xfrm>
          <a:off x="2518289" y="5857060"/>
          <a:ext cx="2256553" cy="1541398"/>
        </p:xfrm>
        <a:graphic>
          <a:graphicData uri="http://schemas.openxmlformats.org/drawingml/2006/chart">
            <ns5:chart r:id="rId6"/>
          </a:graphicData>
        </a:graphic>
      </p:graphicFrame>
      <p:sp>
        <p:nvSpPr>
          <p:cNvPr id="178" name="Text 27">
            <a:extLst>
              <a:ext uri="{FF2B5EF4-FFF2-40B4-BE49-F238E27FC236}">
                <ns2:creationId id="{038BADD0-EAC6-F8D6-7B12-BE177A9DAD4D}"/>
              </a:ext>
            </a:extLst>
          </p:cNvPr>
          <p:cNvSpPr/>
          <p:nvPr/>
        </p:nvSpPr>
        <p:spPr>
          <a:xfrm>
            <a:off x="4840966" y="5906220"/>
            <a:ext cx="68214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ns2:creationId id="{024D5F40-BAD0-9683-DBAB-2A9FEAA024FA}"/>
              </a:ext>
            </a:extLst>
          </p:cNvPr>
          <p:cNvSpPr/>
          <p:nvPr/>
        </p:nvSpPr>
        <p:spPr>
          <a:xfrm>
            <a:off x="5519368" y="5910762"/>
            <a:ext cx="439416" cy="24949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▲ 94%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ns2:creationId id="{631DEBF0-39A6-7D0F-BA14-F1B18161FDD2}"/>
              </a:ext>
            </a:extLst>
          </p:cNvPr>
          <p:cNvSpPr/>
          <p:nvPr/>
        </p:nvSpPr>
        <p:spPr>
          <a:xfrm>
            <a:off x="6031403" y="5887711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9%</a:t>
            </a:r>
            <a:endParaRPr lang="en-US" sz="900" dirty="0"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ns2:creationId id="{F69669F6-2C5B-9CCF-FC00-E39EBA2DF5E4}"/>
              </a:ext>
            </a:extLst>
          </p:cNvPr>
          <p:cNvSpPr/>
          <p:nvPr/>
        </p:nvSpPr>
        <p:spPr>
          <a:xfrm>
            <a:off x="6639313" y="591063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30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ns2:creationId id="{39E95149-09DC-244B-A1A2-AB5A022BF0EF}"/>
              </a:ext>
            </a:extLst>
          </p:cNvPr>
          <p:cNvGraphicFramePr/>
          <p:nvPr>
            <p:extLst>
              <p:ext uri="{D42A27DB-BD31-4B8C-83A1-F6EECF244321}">
                <ns3:modId val="2100511334"/>
              </p:ext>
            </p:extLst>
          </p:nvPr>
        </p:nvGraphicFramePr>
        <p:xfrm>
          <a:off x="4887847" y="5856915"/>
          <a:ext cx="2256553" cy="1541398"/>
        </p:xfrm>
        <a:graphic>
          <a:graphicData uri="http://schemas.openxmlformats.org/drawingml/2006/chart">
            <ns5:chart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ns2:creationId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3226765832"/>
              </p:ext>
            </p:extLst>
          </p:nvPr>
        </p:nvGraphicFramePr>
        <p:xfrm>
          <a:off x="212691" y="1934878"/>
          <a:ext cx="6926523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195868">
                  <a:extLst>
                    <a:ext uri="{9D8B030D-6E8A-4147-A177-3AD203B41FA5}">
                      <ns2:colId val="1720933068"/>
                    </a:ext>
                  </a:extLst>
                </a:gridCol>
                <a:gridCol w="611282">
                  <a:extLst>
                    <a:ext uri="{9D8B030D-6E8A-4147-A177-3AD203B41FA5}">
                      <ns2:colId val="2630805108"/>
                    </a:ext>
                  </a:extLst>
                </a:gridCol>
                <a:gridCol w="689384">
                  <a:extLst>
                    <a:ext uri="{9D8B030D-6E8A-4147-A177-3AD203B41FA5}">
                      <ns2:colId val="1295913063"/>
                    </a:ext>
                  </a:extLst>
                </a:gridCol>
                <a:gridCol w="885998">
                  <a:extLst>
                    <a:ext uri="{9D8B030D-6E8A-4147-A177-3AD203B41FA5}">
                      <ns2:colId val="4130086957"/>
                    </a:ext>
                  </a:extLst>
                </a:gridCol>
                <a:gridCol w="885998">
                  <a:extLst>
                    <a:ext uri="{9D8B030D-6E8A-4147-A177-3AD203B41FA5}">
                      <ns2:colId val="3066276741"/>
                    </a:ext>
                  </a:extLst>
                </a:gridCol>
                <a:gridCol w="885998">
                  <a:extLst>
                    <a:ext uri="{9D8B030D-6E8A-4147-A177-3AD203B41FA5}">
                      <ns2:colId val="2870282349"/>
                    </a:ext>
                  </a:extLst>
                </a:gridCol>
                <a:gridCol w="885998">
                  <a:extLst>
                    <a:ext uri="{9D8B030D-6E8A-4147-A177-3AD203B41FA5}">
                      <ns2:colId val="1716647770"/>
                    </a:ext>
                  </a:extLst>
                </a:gridCol>
                <a:gridCol w="885997">
                  <a:extLst>
                    <a:ext uri="{9D8B030D-6E8A-4147-A177-3AD203B41FA5}">
                      <ns2:colId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ns2:rowId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398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511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585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65.5%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475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64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236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286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32.0%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178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348%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2.0%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0.4%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ns2:creationId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967645913"/>
              </p:ext>
            </p:extLst>
          </p:nvPr>
        </p:nvGraphicFramePr>
        <p:xfrm>
          <a:off x="212691" y="7863614"/>
          <a:ext cx="6926523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680699">
                  <a:extLst>
                    <a:ext uri="{9D8B030D-6E8A-4147-A177-3AD203B41FA5}">
                      <ns2:colId val="1999662838"/>
                    </a:ext>
                  </a:extLst>
                </a:gridCol>
                <a:gridCol w="763955">
                  <a:extLst>
                    <a:ext uri="{9D8B030D-6E8A-4147-A177-3AD203B41FA5}">
                      <ns2:colId val="1604924111"/>
                    </a:ext>
                  </a:extLst>
                </a:gridCol>
                <a:gridCol w="713024">
                  <a:extLst>
                    <a:ext uri="{9D8B030D-6E8A-4147-A177-3AD203B41FA5}">
                      <ns2:colId val="3900343723"/>
                    </a:ext>
                  </a:extLst>
                </a:gridCol>
                <a:gridCol w="763955">
                  <a:extLst>
                    <a:ext uri="{9D8B030D-6E8A-4147-A177-3AD203B41FA5}">
                      <ns2:colId val="2453469686"/>
                    </a:ext>
                  </a:extLst>
                </a:gridCol>
                <a:gridCol w="763955">
                  <a:extLst>
                    <a:ext uri="{9D8B030D-6E8A-4147-A177-3AD203B41FA5}">
                      <ns2:colId val="531817117"/>
                    </a:ext>
                  </a:extLst>
                </a:gridCol>
                <a:gridCol w="475349">
                  <a:extLst>
                    <a:ext uri="{9D8B030D-6E8A-4147-A177-3AD203B41FA5}">
                      <ns2:colId val="1269342238"/>
                    </a:ext>
                  </a:extLst>
                </a:gridCol>
                <a:gridCol w="882793">
                  <a:extLst>
                    <a:ext uri="{9D8B030D-6E8A-4147-A177-3AD203B41FA5}">
                      <ns2:colId val="1250320746"/>
                    </a:ext>
                  </a:extLst>
                </a:gridCol>
                <a:gridCol w="882793">
                  <a:extLst>
                    <a:ext uri="{9D8B030D-6E8A-4147-A177-3AD203B41FA5}">
                      <ns2:colId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101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32.6%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32%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189%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267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29.9%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42%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77%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17.0%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19%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29%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84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9.4%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37%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138%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64%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11%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Calibri"/>
                        </a:rPr>
                        <a:t>▼ 3%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2%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6%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Calibri"/>
                        </a:rPr>
                        <a:t>▲ 73%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20609040205080304" pitchFamily="49" charset="-128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ns2:creationId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6274" y="15742"/>
            <a:ext cx="79352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ns2:creationId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ns2:creationId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ns2:creationId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ns2:creationId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ns2:creationId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ns2:creationId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ns2:creationId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ns2:creationId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ns2:creationId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ns2:creationId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ns2:creationId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ns2:creationId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ns2:creationId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66780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900" b="1">
                  <a:solidFill>
                    <a:srgbClr val="055E46"/>
                  </a:solidFill>
                  <a:latin typeface="+mj-lt"/>
                </a:rPr>
                <a:t>Zone Record: South-1 delivered its highest month in May-26 at 894. Growth stood at </a:t>
              </a:r>
              <a:r>
                <a:rPr sz="900" b="1">
                  <a:solidFill>
                    <a:srgbClr val="008A3D"/>
                  </a:solidFill>
                  <a:latin typeface="+mj-lt"/>
                </a:rPr>
                <a:t>▲ 33%</a:t>
              </a:r>
              <a:r>
                <a:rPr sz="900" b="1">
                  <a:solidFill>
                    <a:srgbClr val="055E46"/>
                  </a:solidFill>
                  <a:latin typeface="+mj-lt"/>
                </a:rPr>
                <a:t> vs L3M and </a:t>
              </a:r>
              <a:r>
                <a:rPr sz="900" b="1">
                  <a:solidFill>
                    <a:srgbClr val="008A3D"/>
                  </a:solidFill>
                  <a:latin typeface="+mj-lt"/>
                </a:rPr>
                <a:t>▲ 84%</a:t>
              </a:r>
              <a:r>
                <a:rPr sz="900" b="1">
                  <a:solidFill>
                    <a:srgbClr val="055E46"/>
                  </a:solidFill>
                  <a:latin typeface="+mj-lt"/>
                </a:rPr>
                <a:t> vs May-25.</a:t>
              </a:r>
              <a:endParaRPr lang="en-IN" sz="1400" spc="0" dirty="0">
                <a:effectLst/>
                <a:latin typeface="+mj-lt"/>
                <a:ea typeface="Calibri"/>
                <a:cs typeface="Calibri"/>
              </a:endParaRPr>
            </a:p>
            <a:p>
              <a:pPr marL="342900" marR="11430" indent="-342900">
                <a:lnSpc>
                  <a:spcPct val="107000"/>
                </a:lnSpc>
                <a:spcBef>
                  <a:spcPts val="160"/>
                </a:spcBef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900" b="1">
                  <a:solidFill>
                    <a:srgbClr val="055E46"/>
                  </a:solidFill>
                  <a:latin typeface="+mj-lt"/>
                </a:rPr>
                <a:t>Chain Highlights Apollo at 292 Lacs; fastest YoY chain: Apollo 292 Lacs Gr</a:t>
              </a:r>
              <a:r>
                <a:rPr sz="900" b="1">
                  <a:solidFill>
                    <a:srgbClr val="008A3D"/>
                  </a:solidFill>
                  <a:latin typeface="+mj-lt"/>
                </a:rPr>
                <a:t>▲ 189%</a:t>
              </a:r>
              <a:r>
                <a:rPr sz="900" b="1">
                  <a:solidFill>
                    <a:srgbClr val="055E46"/>
                  </a:solidFill>
                  <a:latin typeface="+mj-lt"/>
                </a:rPr>
                <a:t>.</a:t>
              </a:r>
              <a:endParaRPr lang="en-IN" sz="900" dirty="0">
                <a:solidFill>
                  <a:srgbClr val="15803D"/>
                </a:solidFill>
                <a:latin typeface="+mj-lt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ns2:creationId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ns2:creationId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YoY</a:t>
              </a:r>
              <a:r>
                <a:rPr lang="en-US" sz="650" b="1" spc="-2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ns2:creationId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ns2:creationId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Zone</a:t>
              </a:r>
              <a:r>
                <a:rPr lang="en-US" sz="650" b="1" spc="-2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ns2:creationId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Apollo</a:t>
              </a:r>
              <a:r>
                <a:rPr lang="en-US" sz="65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292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ns2:creationId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0F162A"/>
                  </a:solidFill>
                  <a:latin typeface="+mj-lt"/>
                </a:rPr>
                <a:t>Apollo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189%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ns2:creationId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Apollo, Dmart, Reliance,</a:t>
              </a:r>
              <a:r>
                <a:rPr lang="en-US" sz="650" b="1" spc="-4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ns2:creationId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0F162A"/>
                  </a:solidFill>
                  <a:latin typeface="+mj-lt"/>
                  <a:ea typeface="Calibri"/>
                  <a:cs typeface="Calibri"/>
                </a:rPr>
                <a:t>- </a:t>
              </a: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894</a:t>
              </a:r>
              <a:r>
                <a:rPr lang="en-US" sz="65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ns2:creationId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276274" y="112827"/>
            <a:ext cx="793520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ns2:creationId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+mj-lt"/>
              </a:rPr>
              <a:t>South-1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ns2:creationId id="{B9009A3B-EB3E-6343-D608-A81EA6B34D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ns4:useLocalDpi val="0"/>
              </a:ext>
            </a:extLst>
          </a:blip>
          <a:srcRect l="24448" r="23559"/>
          <a:stretch/>
        </p:blipFill>
        <p:spPr bwMode="auto">
          <a:xfrm>
            <a:off x="2748382" y="6198211"/>
            <a:ext cx="212290" cy="408312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3" name="Picture 4">
            <a:extLst>
              <a:ext uri="{FF2B5EF4-FFF2-40B4-BE49-F238E27FC236}">
                <ns2:creationId id="{89F3E15F-5CB2-DEA2-068B-752C22B928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350345" y="6156575"/>
            <a:ext cx="240883" cy="511103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4" name="Picture 3" descr="A bottle of rice face wash&#10;&#10;Description automatically generated">
            <a:extLst>
              <a:ext uri="{FF2B5EF4-FFF2-40B4-BE49-F238E27FC236}">
                <ns2:creationId id="{E94E6A19-320A-A66F-4669-6DEE7233F7A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193864" y="3919244"/>
            <a:ext cx="177369" cy="365792"/>
          </a:xfrm>
          <a:prstGeom prst="rect">
            <a:avLst/>
          </a:prstGeom>
        </p:spPr>
      </p:pic>
      <p:pic>
        <p:nvPicPr>
          <p:cNvPr id="5" name="Picture 4" descr="A yellow bottle of sunscreen&#10;&#10;Description automatically generated">
            <a:extLst>
              <a:ext uri="{FF2B5EF4-FFF2-40B4-BE49-F238E27FC236}">
                <ns2:creationId id="{DFA487F3-EFDB-3AC1-1F3C-F5EB48156D79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34745" y="4059965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&#10;&#10;AI-generated content may be incorrect.">
            <a:extLst>
              <a:ext uri="{FF2B5EF4-FFF2-40B4-BE49-F238E27FC236}">
                <ns2:creationId id="{FDD0B690-73C1-A54D-0365-B948D81A608F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57082" y="6176980"/>
            <a:ext cx="216398" cy="274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&#10;&#10;Description automatically generated">
            <a:extLst>
              <a:ext uri="{FF2B5EF4-FFF2-40B4-BE49-F238E27FC236}">
                <ns2:creationId id="{64871C3D-C720-F171-B5B1-F79694721CF7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49882" y="3936894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13 / 24</a:t>
            </a:r>
          </a:p>
        </p:txBody>
      </p:sp>
    </p:spTree>
    <p:extLst>
      <p:ext uri="{BB962C8B-B14F-4D97-AF65-F5344CB8AC3E}">
        <ns3:creationId val="2713510418"/>
      </p:ext>
    </p:extLst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3="http://schemas.microsoft.com/office/powerpoint/2010/main" xmlns:ns4="http://schemas.microsoft.com/office/drawing/2010/main" xmlns:ns5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ns2:creationId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270819409"/>
              </p:ext>
            </p:extLst>
          </p:nvPr>
        </p:nvGraphicFramePr>
        <p:xfrm>
          <a:off x="212691" y="82627"/>
          <a:ext cx="6926523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6926523">
                  <a:extLst>
                    <a:ext uri="{9D8B030D-6E8A-4147-A177-3AD203B41FA5}">
                      <ns2:colId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SOUTH-2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ns2:creationId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ns2:creationId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ns2:creationId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ns2:creationId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554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ns2:creationId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ns2:creationId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ns2:creationId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ns2:creationId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13.8%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ns2:creationId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ns2:creationId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ns2:creationId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ns2:creationId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421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ns2:creationId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ns2:creationId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ns2:creationId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ns2:creationId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73%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ns2:creationId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ns2:creationId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5442770"/>
            <a:ext cx="79419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ns2:creationId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5912670"/>
            <a:ext cx="79419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ns2:creationId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ns2:creationId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6867859"/>
            <a:ext cx="79419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ns2:creationId id="{1A2636FF-FA83-BDD9-A967-753B47792769}"/>
              </a:ext>
            </a:extLst>
          </p:cNvPr>
          <p:cNvSpPr txBox="1"/>
          <p:nvPr/>
        </p:nvSpPr>
        <p:spPr>
          <a:xfrm>
            <a:off x="212691" y="888000"/>
            <a:ext cx="6926523" cy="104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+mj-lt"/>
                <a:ea typeface="Calibri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+mj-lt"/>
                <a:ea typeface="Calibri"/>
                <a:cs typeface="Calibri"/>
              </a:rPr>
              <a:t>Highlights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+mj-lt"/>
                <a:ea typeface="Calibri"/>
                <a:cs typeface="Calibri"/>
              </a:rPr>
              <a:t> 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Zone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Record: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May-26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delivered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the</a:t>
            </a:r>
            <a:r>
              <a:rPr lang="en-US" sz="105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highest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month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for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South-2</a:t>
            </a:r>
            <a:r>
              <a:rPr lang="en-US" sz="105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at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solidFill>
                  <a:srgbClr val="0F756E"/>
                </a:solidFill>
                <a:effectLst/>
                <a:latin typeface="+mj-lt"/>
                <a:ea typeface="Calibri"/>
                <a:cs typeface="Calibri"/>
              </a:rPr>
              <a:t>554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,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contributing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13.8%</a:t>
            </a:r>
            <a:r>
              <a:rPr lang="en-US" sz="1050" b="1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to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total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channel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spc="-10" dirty="0">
                <a:effectLst/>
                <a:latin typeface="+mj-lt"/>
                <a:ea typeface="Calibri"/>
                <a:cs typeface="Calibri"/>
              </a:rPr>
              <a:t>sales.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+mj-lt"/>
              </a:rPr>
              <a:t>Growth View: May-26 performance was</a:t>
            </a:r>
            <a:r>
              <a:rPr sz="105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1050" b="1" dirty="0">
                <a:solidFill>
                  <a:srgbClr val="008A3D"/>
                </a:solidFill>
                <a:latin typeface="+mj-lt"/>
              </a:rPr>
              <a:t>▲ 31%</a:t>
            </a:r>
            <a:r>
              <a:rPr sz="105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1050" b="1" dirty="0">
                <a:latin typeface="+mj-lt"/>
              </a:rPr>
              <a:t>vs L3M and</a:t>
            </a:r>
            <a:r>
              <a:rPr sz="105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1050" b="1" dirty="0">
                <a:solidFill>
                  <a:srgbClr val="008A3D"/>
                </a:solidFill>
                <a:latin typeface="+mj-lt"/>
              </a:rPr>
              <a:t>▲ 73%</a:t>
            </a:r>
            <a:r>
              <a:rPr sz="105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1050" b="1" dirty="0">
                <a:latin typeface="+mj-lt"/>
              </a:rPr>
              <a:t>vs May-25, confirming Consistent strong month momentum.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tabLst>
                <a:tab pos="184150" algn="l"/>
              </a:tabLst>
            </a:pPr>
            <a:r>
              <a:rPr sz="1050" dirty="0" b="1">
                <a:latin typeface="+mj-lt"/>
              </a:rPr>
              <a:t>Zone Insight:</a:t>
            </a:r>
            <a:r>
              <a:rPr sz="1050" dirty="0">
                <a:latin typeface="+mj-lt"/>
              </a:rPr>
              <a:t> South-2 covers Andhra Pradesh &amp; Telangana; Mamaearth leads, The Derma Co. scaling fast.</a:t>
            </a:r>
          </a:p>
        </p:txBody>
      </p:sp>
      <p:sp>
        <p:nvSpPr>
          <p:cNvPr id="149" name="Shape 3">
            <a:extLst>
              <a:ext uri="{FF2B5EF4-FFF2-40B4-BE49-F238E27FC236}">
                <ns2:creationId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ns2:creationId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+mj-lt"/>
              </a:rPr>
              <a:t>South-2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ns2:creationId id="{8DC1552C-E149-4A10-28F5-0A4785E39F2D}"/>
              </a:ext>
            </a:extLst>
          </p:cNvPr>
          <p:cNvSpPr/>
          <p:nvPr/>
        </p:nvSpPr>
        <p:spPr>
          <a:xfrm>
            <a:off x="239393" y="3859485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ns2:creationId id="{68B7E644-F756-EB08-51D0-E4BBD2584EB3}"/>
              </a:ext>
            </a:extLst>
          </p:cNvPr>
          <p:cNvSpPr/>
          <p:nvPr/>
        </p:nvSpPr>
        <p:spPr>
          <a:xfrm>
            <a:off x="725701" y="3876966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50%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ns2:creationId id="{E90F34B8-D653-A710-F866-1BC3E6964F9D}"/>
              </a:ext>
            </a:extLst>
          </p:cNvPr>
          <p:cNvSpPr/>
          <p:nvPr/>
        </p:nvSpPr>
        <p:spPr>
          <a:xfrm>
            <a:off x="1309888" y="389728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19%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ns2:creationId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144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ns2:creationId id="{C3EABDE2-E03A-721E-0AE3-C104F928F4F3}"/>
              </a:ext>
            </a:extLst>
          </p:cNvPr>
          <p:cNvGraphicFramePr/>
          <p:nvPr>
            <p:extLst>
              <p:ext uri="{D42A27DB-BD31-4B8C-83A1-F6EECF244321}">
                <ns3:modId val="3546139199"/>
              </p:ext>
            </p:extLst>
          </p:nvPr>
        </p:nvGraphicFramePr>
        <p:xfrm>
          <a:off x="275452" y="3805495"/>
          <a:ext cx="2174502" cy="1577559"/>
        </p:xfrm>
        <a:graphic>
          <a:graphicData uri="http://schemas.openxmlformats.org/drawingml/2006/chart">
            <ns5:chart r:id="rId2"/>
          </a:graphicData>
        </a:graphic>
      </p:graphicFrame>
      <p:sp>
        <p:nvSpPr>
          <p:cNvPr id="156" name="Text 9">
            <a:extLst>
              <a:ext uri="{FF2B5EF4-FFF2-40B4-BE49-F238E27FC236}">
                <ns2:creationId id="{5BEBD7FD-7A2C-AC1D-76B9-D5B4A0E4DD0C}"/>
              </a:ext>
            </a:extLst>
          </p:cNvPr>
          <p:cNvSpPr/>
          <p:nvPr/>
        </p:nvSpPr>
        <p:spPr>
          <a:xfrm>
            <a:off x="2618118" y="3885404"/>
            <a:ext cx="627675" cy="213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ns2:creationId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55%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ns2:creationId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8%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ns2:creationId id="{0002D543-8B74-7800-B3E0-CCAA6D0B22FA}"/>
              </a:ext>
            </a:extLst>
          </p:cNvPr>
          <p:cNvSpPr/>
          <p:nvPr/>
        </p:nvSpPr>
        <p:spPr>
          <a:xfrm>
            <a:off x="4078340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May'26 119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ns2:creationId id="{498335C8-87FE-1BF3-E55D-7F3682FE88D1}"/>
              </a:ext>
            </a:extLst>
          </p:cNvPr>
          <p:cNvGraphicFramePr/>
          <p:nvPr>
            <p:extLst>
              <p:ext uri="{D42A27DB-BD31-4B8C-83A1-F6EECF244321}">
                <ns3:modId val="3532041184"/>
              </p:ext>
            </p:extLst>
          </p:nvPr>
        </p:nvGraphicFramePr>
        <p:xfrm>
          <a:off x="2466165" y="3818106"/>
          <a:ext cx="2262902" cy="1572063"/>
        </p:xfrm>
        <a:graphic>
          <a:graphicData uri="http://schemas.openxmlformats.org/drawingml/2006/chart">
            <ns5:chart r:id="rId3"/>
          </a:graphicData>
        </a:graphic>
      </p:graphicFrame>
      <p:sp>
        <p:nvSpPr>
          <p:cNvPr id="161" name="Text 13">
            <a:extLst>
              <a:ext uri="{FF2B5EF4-FFF2-40B4-BE49-F238E27FC236}">
                <ns2:creationId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ns2:creationId id="{27F9A9D8-519D-AC19-D616-44CAE0D43FD1}"/>
              </a:ext>
            </a:extLst>
          </p:cNvPr>
          <p:cNvSpPr/>
          <p:nvPr/>
        </p:nvSpPr>
        <p:spPr>
          <a:xfrm>
            <a:off x="5522642" y="3856086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 105%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ns2:creationId id="{25E789B0-F22E-6189-F81D-C18A4F30CC76}"/>
              </a:ext>
            </a:extLst>
          </p:cNvPr>
          <p:cNvSpPr/>
          <p:nvPr/>
        </p:nvSpPr>
        <p:spPr>
          <a:xfrm>
            <a:off x="5989229" y="3836826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6%</a:t>
            </a:r>
            <a:endParaRPr lang="en-US" sz="900" dirty="0"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ns2:creationId id="{B7F3446D-2E00-77C7-5921-C34968E8F7B7}"/>
              </a:ext>
            </a:extLst>
          </p:cNvPr>
          <p:cNvSpPr/>
          <p:nvPr/>
        </p:nvSpPr>
        <p:spPr>
          <a:xfrm>
            <a:off x="6417697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40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ns2:creationId id="{E29320C6-4ABC-47AD-CAC6-8C1A6CA6E8C5}"/>
              </a:ext>
            </a:extLst>
          </p:cNvPr>
          <p:cNvGraphicFramePr/>
          <p:nvPr>
            <p:extLst>
              <p:ext uri="{D42A27DB-BD31-4B8C-83A1-F6EECF244321}">
                <ns3:modId val="614364795"/>
              </p:ext>
            </p:extLst>
          </p:nvPr>
        </p:nvGraphicFramePr>
        <p:xfrm>
          <a:off x="4824542" y="3822384"/>
          <a:ext cx="2239704" cy="1592621"/>
        </p:xfrm>
        <a:graphic>
          <a:graphicData uri="http://schemas.openxmlformats.org/drawingml/2006/chart">
            <ns5:chart r:id="rId4"/>
          </a:graphicData>
        </a:graphic>
      </p:graphicFrame>
      <p:sp>
        <p:nvSpPr>
          <p:cNvPr id="166" name="Shape 17">
            <a:extLst>
              <a:ext uri="{FF2B5EF4-FFF2-40B4-BE49-F238E27FC236}">
                <ns2:creationId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ns2:creationId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</a:rPr>
              <a:t>South-2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ns2:creationId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12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ns2:creationId id="{CC6466FF-9DFE-712B-2E6C-63C9594ED3C1}"/>
              </a:ext>
            </a:extLst>
          </p:cNvPr>
          <p:cNvSpPr/>
          <p:nvPr/>
        </p:nvSpPr>
        <p:spPr>
          <a:xfrm>
            <a:off x="700600" y="5940913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▲137%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ns2:creationId id="{6553EC6E-D91D-B6B7-81E0-5D554EF96509}"/>
              </a:ext>
            </a:extLst>
          </p:cNvPr>
          <p:cNvSpPr/>
          <p:nvPr/>
        </p:nvSpPr>
        <p:spPr>
          <a:xfrm>
            <a:off x="1298916" y="5948266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48%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ns2:creationId id="{21E44F12-56F2-0F79-99BF-12D5FEBEA9AE}"/>
              </a:ext>
            </a:extLst>
          </p:cNvPr>
          <p:cNvSpPr/>
          <p:nvPr/>
        </p:nvSpPr>
        <p:spPr>
          <a:xfrm>
            <a:off x="1911918" y="5925157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62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ns2:creationId id="{A04A165C-0A2C-703B-D787-4F0EA0143E90}"/>
              </a:ext>
            </a:extLst>
          </p:cNvPr>
          <p:cNvGraphicFramePr/>
          <p:nvPr>
            <p:extLst>
              <p:ext uri="{D42A27DB-BD31-4B8C-83A1-F6EECF244321}">
                <ns3:modId val="360544965"/>
              </p:ext>
            </p:extLst>
          </p:nvPr>
        </p:nvGraphicFramePr>
        <p:xfrm>
          <a:off x="222457" y="5887849"/>
          <a:ext cx="2269653" cy="1464945"/>
        </p:xfrm>
        <a:graphic>
          <a:graphicData uri="http://schemas.openxmlformats.org/drawingml/2006/chart">
            <ns5:chart r:id="rId5"/>
          </a:graphicData>
        </a:graphic>
      </p:graphicFrame>
      <p:sp>
        <p:nvSpPr>
          <p:cNvPr id="173" name="Text 23">
            <a:extLst>
              <a:ext uri="{FF2B5EF4-FFF2-40B4-BE49-F238E27FC236}">
                <ns2:creationId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10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ns2:creationId id="{1D10C6E1-4BAF-BC01-C799-C47AB1F5027D}"/>
              </a:ext>
            </a:extLst>
          </p:cNvPr>
          <p:cNvSpPr/>
          <p:nvPr/>
        </p:nvSpPr>
        <p:spPr>
          <a:xfrm>
            <a:off x="3176423" y="5977197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▲509%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ns2:creationId id="{7646A250-EE9F-A6C6-49D3-68B6D3DFBFDE}"/>
              </a:ext>
            </a:extLst>
          </p:cNvPr>
          <p:cNvSpPr/>
          <p:nvPr/>
        </p:nvSpPr>
        <p:spPr>
          <a:xfrm>
            <a:off x="3691642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60%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ns2:creationId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May’26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57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ns2:creationId id="{CBBF5C82-1DBC-BF6C-CAEA-410BB465C0A3}"/>
              </a:ext>
            </a:extLst>
          </p:cNvPr>
          <p:cNvGraphicFramePr/>
          <p:nvPr>
            <p:extLst>
              <p:ext uri="{D42A27DB-BD31-4B8C-83A1-F6EECF244321}">
                <ns3:modId val="1939761459"/>
              </p:ext>
            </p:extLst>
          </p:nvPr>
        </p:nvGraphicFramePr>
        <p:xfrm>
          <a:off x="2559720" y="5887161"/>
          <a:ext cx="2269653" cy="1464945"/>
        </p:xfrm>
        <a:graphic>
          <a:graphicData uri="http://schemas.openxmlformats.org/drawingml/2006/chart">
            <ns5:chart r:id="rId6"/>
          </a:graphicData>
        </a:graphic>
      </p:graphicFrame>
      <p:sp>
        <p:nvSpPr>
          <p:cNvPr id="178" name="Text 27">
            <a:extLst>
              <a:ext uri="{FF2B5EF4-FFF2-40B4-BE49-F238E27FC236}">
                <ns2:creationId id="{038BADD0-EAC6-F8D6-7B12-BE177A9DAD4D}"/>
              </a:ext>
            </a:extLst>
          </p:cNvPr>
          <p:cNvSpPr/>
          <p:nvPr/>
        </p:nvSpPr>
        <p:spPr>
          <a:xfrm>
            <a:off x="5022989" y="5906220"/>
            <a:ext cx="482204" cy="264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ns2:creationId id="{024D5F40-BAD0-9683-DBAB-2A9FEAA024FA}"/>
              </a:ext>
            </a:extLst>
          </p:cNvPr>
          <p:cNvSpPr/>
          <p:nvPr/>
        </p:nvSpPr>
        <p:spPr>
          <a:xfrm>
            <a:off x="5573501" y="5927180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124%</a:t>
            </a:r>
            <a:endParaRPr lang="en-US" sz="900" dirty="0"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ns2:creationId id="{631DEBF0-39A6-7D0F-BA14-F1B18161FDD2}"/>
              </a:ext>
            </a:extLst>
          </p:cNvPr>
          <p:cNvSpPr/>
          <p:nvPr/>
        </p:nvSpPr>
        <p:spPr>
          <a:xfrm>
            <a:off x="6088076" y="5937681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 7%</a:t>
            </a:r>
            <a:endParaRPr lang="en-US" sz="900" dirty="0"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ns2:creationId id="{F69669F6-2C5B-9CCF-FC00-E39EBA2DF5E4}"/>
              </a:ext>
            </a:extLst>
          </p:cNvPr>
          <p:cNvSpPr/>
          <p:nvPr/>
        </p:nvSpPr>
        <p:spPr>
          <a:xfrm>
            <a:off x="6569415" y="592718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10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ns2:creationId id="{39E95149-09DC-244B-A1A2-AB5A022BF0EF}"/>
              </a:ext>
            </a:extLst>
          </p:cNvPr>
          <p:cNvGraphicFramePr/>
          <p:nvPr>
            <p:extLst>
              <p:ext uri="{D42A27DB-BD31-4B8C-83A1-F6EECF244321}">
                <ns3:modId val="485197638"/>
              </p:ext>
            </p:extLst>
          </p:nvPr>
        </p:nvGraphicFramePr>
        <p:xfrm>
          <a:off x="4943104" y="5865915"/>
          <a:ext cx="2160299" cy="1485127"/>
        </p:xfrm>
        <a:graphic>
          <a:graphicData uri="http://schemas.openxmlformats.org/drawingml/2006/chart">
            <ns5:chart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ns2:creationId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588214737"/>
              </p:ext>
            </p:extLst>
          </p:nvPr>
        </p:nvGraphicFramePr>
        <p:xfrm>
          <a:off x="212691" y="1934878"/>
          <a:ext cx="6926523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184248">
                  <a:extLst>
                    <a:ext uri="{9D8B030D-6E8A-4147-A177-3AD203B41FA5}">
                      <ns2:colId val="1720933068"/>
                    </a:ext>
                  </a:extLst>
                </a:gridCol>
                <a:gridCol w="600557">
                  <a:extLst>
                    <a:ext uri="{9D8B030D-6E8A-4147-A177-3AD203B41FA5}">
                      <ns2:colId val="2630805108"/>
                    </a:ext>
                  </a:extLst>
                </a:gridCol>
                <a:gridCol w="789454">
                  <a:extLst>
                    <a:ext uri="{9D8B030D-6E8A-4147-A177-3AD203B41FA5}">
                      <ns2:colId val="1295913063"/>
                    </a:ext>
                  </a:extLst>
                </a:gridCol>
                <a:gridCol w="870453">
                  <a:extLst>
                    <a:ext uri="{9D8B030D-6E8A-4147-A177-3AD203B41FA5}">
                      <ns2:colId val="4130086957"/>
                    </a:ext>
                  </a:extLst>
                </a:gridCol>
                <a:gridCol w="870453">
                  <a:extLst>
                    <a:ext uri="{9D8B030D-6E8A-4147-A177-3AD203B41FA5}">
                      <ns2:colId val="3066276741"/>
                    </a:ext>
                  </a:extLst>
                </a:gridCol>
                <a:gridCol w="870453">
                  <a:extLst>
                    <a:ext uri="{9D8B030D-6E8A-4147-A177-3AD203B41FA5}">
                      <ns2:colId val="2870282349"/>
                    </a:ext>
                  </a:extLst>
                </a:gridCol>
                <a:gridCol w="870453">
                  <a:extLst>
                    <a:ext uri="{9D8B030D-6E8A-4147-A177-3AD203B41FA5}">
                      <ns2:colId val="1716647770"/>
                    </a:ext>
                  </a:extLst>
                </a:gridCol>
                <a:gridCol w="870452">
                  <a:extLst>
                    <a:ext uri="{9D8B030D-6E8A-4147-A177-3AD203B41FA5}">
                      <ns2:colId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ns2:rowId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290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371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413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74.6%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347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20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89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131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23.7%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97%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545%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1.4%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44%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0.4%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ns2:creationId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978426863"/>
              </p:ext>
            </p:extLst>
          </p:nvPr>
        </p:nvGraphicFramePr>
        <p:xfrm>
          <a:off x="212691" y="7863614"/>
          <a:ext cx="6926523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680699">
                  <a:extLst>
                    <a:ext uri="{9D8B030D-6E8A-4147-A177-3AD203B41FA5}">
                      <ns2:colId val="1999662838"/>
                    </a:ext>
                  </a:extLst>
                </a:gridCol>
                <a:gridCol w="763955">
                  <a:extLst>
                    <a:ext uri="{9D8B030D-6E8A-4147-A177-3AD203B41FA5}">
                      <ns2:colId val="1604924111"/>
                    </a:ext>
                  </a:extLst>
                </a:gridCol>
                <a:gridCol w="713024">
                  <a:extLst>
                    <a:ext uri="{9D8B030D-6E8A-4147-A177-3AD203B41FA5}">
                      <ns2:colId val="3900343723"/>
                    </a:ext>
                  </a:extLst>
                </a:gridCol>
                <a:gridCol w="763955">
                  <a:extLst>
                    <a:ext uri="{9D8B030D-6E8A-4147-A177-3AD203B41FA5}">
                      <ns2:colId val="2453469686"/>
                    </a:ext>
                  </a:extLst>
                </a:gridCol>
                <a:gridCol w="763955">
                  <a:extLst>
                    <a:ext uri="{9D8B030D-6E8A-4147-A177-3AD203B41FA5}">
                      <ns2:colId val="531817117"/>
                    </a:ext>
                  </a:extLst>
                </a:gridCol>
                <a:gridCol w="475349">
                  <a:extLst>
                    <a:ext uri="{9D8B030D-6E8A-4147-A177-3AD203B41FA5}">
                      <ns2:colId val="1269342238"/>
                    </a:ext>
                  </a:extLst>
                </a:gridCol>
                <a:gridCol w="882793">
                  <a:extLst>
                    <a:ext uri="{9D8B030D-6E8A-4147-A177-3AD203B41FA5}">
                      <ns2:colId val="1250320746"/>
                    </a:ext>
                  </a:extLst>
                </a:gridCol>
                <a:gridCol w="882793">
                  <a:extLst>
                    <a:ext uri="{9D8B030D-6E8A-4147-A177-3AD203B41FA5}">
                      <ns2:colId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131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218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39.3%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41%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66%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163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176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31.7%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144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22%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154%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85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19%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44%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H&amp;G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64%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8%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More Retail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3.6%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44%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106%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Lulu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87%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608%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16%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31%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ns2:creationId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6274" y="15742"/>
            <a:ext cx="79352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ns2:creationId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252692"/>
            <a:chOff x="6350" y="3870"/>
            <a:chExt cx="6966733" cy="2115978"/>
          </a:xfrm>
        </p:grpSpPr>
        <p:sp>
          <p:nvSpPr>
            <p:cNvPr id="197" name="Graphic 278">
              <a:extLst>
                <a:ext uri="{FF2B5EF4-FFF2-40B4-BE49-F238E27FC236}">
                  <ns2:creationId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ns2:creationId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ns2:creationId id="{786D0DB1-927E-CDBA-AE82-7E1B1BB65AF0}"/>
                </a:ext>
              </a:extLst>
            </p:cNvPr>
            <p:cNvSpPr/>
            <p:nvPr/>
          </p:nvSpPr>
          <p:spPr>
            <a:xfrm>
              <a:off x="106892" y="1241157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ns2:creationId id="{1EE2520B-B499-D8A6-9F61-FEDF24208690}"/>
                </a:ext>
              </a:extLst>
            </p:cNvPr>
            <p:cNvSpPr/>
            <p:nvPr/>
          </p:nvSpPr>
          <p:spPr>
            <a:xfrm>
              <a:off x="152796" y="1239245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ns2:creationId id="{CC1D8F9B-ACDE-52DF-23D6-7FEDF2C5895A}"/>
                </a:ext>
              </a:extLst>
            </p:cNvPr>
            <p:cNvSpPr/>
            <p:nvPr/>
          </p:nvSpPr>
          <p:spPr>
            <a:xfrm>
              <a:off x="1863010" y="1180138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ns2:creationId id="{78E6F5B7-D8F6-E3DA-2211-639E0006CDFC}"/>
                </a:ext>
              </a:extLst>
            </p:cNvPr>
            <p:cNvSpPr/>
            <p:nvPr/>
          </p:nvSpPr>
          <p:spPr>
            <a:xfrm>
              <a:off x="1836657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ns2:creationId id="{E2A44793-D301-9552-99EC-90EC13154CAA}"/>
                </a:ext>
              </a:extLst>
            </p:cNvPr>
            <p:cNvSpPr/>
            <p:nvPr/>
          </p:nvSpPr>
          <p:spPr>
            <a:xfrm>
              <a:off x="3513123" y="1216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ns2:creationId id="{5C0F2A52-1C1D-D1A6-05EA-4ACCDB5127EF}"/>
                </a:ext>
              </a:extLst>
            </p:cNvPr>
            <p:cNvSpPr/>
            <p:nvPr/>
          </p:nvSpPr>
          <p:spPr>
            <a:xfrm>
              <a:off x="3520651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ns2:creationId id="{97A32B53-FBD3-57B6-D1A2-97E533939E78}"/>
                </a:ext>
              </a:extLst>
            </p:cNvPr>
            <p:cNvSpPr/>
            <p:nvPr/>
          </p:nvSpPr>
          <p:spPr>
            <a:xfrm>
              <a:off x="5222959" y="118718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ns2:creationId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ns2:creationId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ns2:creationId id="{390ECE72-BE5D-D8E0-F6DB-459027B27CA3}"/>
                </a:ext>
              </a:extLst>
            </p:cNvPr>
            <p:cNvSpPr txBox="1"/>
            <p:nvPr/>
          </p:nvSpPr>
          <p:spPr>
            <a:xfrm>
              <a:off x="152796" y="332578"/>
              <a:ext cx="6697232" cy="71466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endParaRPr lang="en-IN" sz="900" b="1" dirty="0">
                <a:solidFill>
                  <a:srgbClr val="055E46"/>
                </a:solidFill>
                <a:latin typeface="+mj-lt"/>
              </a:endParaRPr>
            </a:p>
            <a:p>
              <a:pPr lvl="0">
                <a:lnSpc>
                  <a:spcPts val="860"/>
                </a:lnSpc>
                <a:buClr>
                  <a:srgbClr val="0F162A"/>
                </a:buClr>
                <a:buSzPts val="700"/>
                <a:tabLst>
                  <a:tab pos="57785" algn="l"/>
                </a:tabLst>
              </a:pPr>
              <a:r>
                <a:rPr sz="900" b="1" dirty="0">
                  <a:solidFill>
                    <a:srgbClr val="055E46"/>
                  </a:solidFill>
                  <a:latin typeface="+mj-lt"/>
                </a:rPr>
                <a:t>Zone Record: South-2 delivered its highest month in May-26 at 554. Growth stood at </a:t>
              </a:r>
              <a:r>
                <a:rPr sz="900" b="1" dirty="0">
                  <a:solidFill>
                    <a:srgbClr val="008A3D"/>
                  </a:solidFill>
                  <a:latin typeface="+mj-lt"/>
                </a:rPr>
                <a:t>▲ 31%</a:t>
              </a:r>
              <a:r>
                <a:rPr sz="900" b="1" dirty="0">
                  <a:solidFill>
                    <a:srgbClr val="055E46"/>
                  </a:solidFill>
                  <a:latin typeface="+mj-lt"/>
                </a:rPr>
                <a:t> vs L3M and </a:t>
              </a:r>
              <a:r>
                <a:rPr sz="900" b="1" dirty="0">
                  <a:solidFill>
                    <a:srgbClr val="008A3D"/>
                  </a:solidFill>
                  <a:latin typeface="+mj-lt"/>
                </a:rPr>
                <a:t>▲ 73%</a:t>
              </a:r>
              <a:r>
                <a:rPr sz="900" b="1" dirty="0">
                  <a:solidFill>
                    <a:srgbClr val="055E46"/>
                  </a:solidFill>
                  <a:latin typeface="+mj-lt"/>
                </a:rPr>
                <a:t> vs May-25.</a:t>
              </a:r>
              <a:endParaRPr lang="en-IN" sz="1400" spc="0" dirty="0">
                <a:effectLst/>
                <a:latin typeface="+mj-lt"/>
                <a:ea typeface="Calibri"/>
                <a:cs typeface="Calibri"/>
              </a:endParaRPr>
            </a:p>
            <a:p>
              <a:pPr marR="11430">
                <a:lnSpc>
                  <a:spcPct val="107000"/>
                </a:lnSpc>
                <a:spcBef>
                  <a:spcPts val="160"/>
                </a:spcBef>
                <a:buClr>
                  <a:srgbClr val="0F162A"/>
                </a:buClr>
                <a:buSzPts val="700"/>
                <a:tabLst>
                  <a:tab pos="57785" algn="l"/>
                </a:tabLst>
              </a:pPr>
              <a:r>
                <a:rPr sz="900" b="1" dirty="0">
                  <a:solidFill>
                    <a:srgbClr val="055E46"/>
                  </a:solidFill>
                  <a:latin typeface="+mj-lt"/>
                </a:rPr>
                <a:t>Chain Highlights </a:t>
              </a:r>
              <a:r>
                <a:rPr sz="900" b="1" dirty="0" err="1">
                  <a:solidFill>
                    <a:srgbClr val="055E46"/>
                  </a:solidFill>
                  <a:latin typeface="+mj-lt"/>
                </a:rPr>
                <a:t>Dmart</a:t>
              </a:r>
              <a:r>
                <a:rPr sz="900" b="1" dirty="0">
                  <a:solidFill>
                    <a:srgbClr val="055E46"/>
                  </a:solidFill>
                  <a:latin typeface="+mj-lt"/>
                </a:rPr>
                <a:t> at 218 Lacs; fastest YoY chain: Lulu 13 Lacs Gr</a:t>
              </a:r>
              <a:r>
                <a:rPr sz="900" b="1" dirty="0">
                  <a:solidFill>
                    <a:srgbClr val="008A3D"/>
                  </a:solidFill>
                  <a:latin typeface="+mj-lt"/>
                </a:rPr>
                <a:t>▲ 608%</a:t>
              </a:r>
              <a:r>
                <a:rPr sz="900" b="1" dirty="0">
                  <a:solidFill>
                    <a:srgbClr val="055E46"/>
                  </a:solidFill>
                  <a:latin typeface="+mj-lt"/>
                </a:rPr>
                <a:t>.</a:t>
              </a:r>
              <a:endParaRPr lang="en-IN" sz="900" dirty="0">
                <a:solidFill>
                  <a:srgbClr val="15803D"/>
                </a:solidFill>
                <a:latin typeface="+mj-lt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ns2:creationId id="{696AC7C6-3FED-0B1D-4CD4-FA589378E90D}"/>
                </a:ext>
              </a:extLst>
            </p:cNvPr>
            <p:cNvSpPr txBox="1"/>
            <p:nvPr/>
          </p:nvSpPr>
          <p:spPr>
            <a:xfrm>
              <a:off x="207009" y="1299505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ns2:creationId id="{D2CB78A9-052C-7918-9B59-3C05E6224543}"/>
                </a:ext>
              </a:extLst>
            </p:cNvPr>
            <p:cNvSpPr txBox="1"/>
            <p:nvPr/>
          </p:nvSpPr>
          <p:spPr>
            <a:xfrm>
              <a:off x="1900158" y="1299505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YoY</a:t>
              </a:r>
              <a:r>
                <a:rPr lang="en-US" sz="650" b="1" spc="-2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ns2:creationId id="{1002BC0E-27DD-532F-2DE7-BB1F581AC8FE}"/>
                </a:ext>
              </a:extLst>
            </p:cNvPr>
            <p:cNvSpPr txBox="1"/>
            <p:nvPr/>
          </p:nvSpPr>
          <p:spPr>
            <a:xfrm>
              <a:off x="3593307" y="1299505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ns2:creationId id="{1393482F-11D6-D6FE-2753-A47D0B48114B}"/>
                </a:ext>
              </a:extLst>
            </p:cNvPr>
            <p:cNvSpPr txBox="1"/>
            <p:nvPr/>
          </p:nvSpPr>
          <p:spPr>
            <a:xfrm>
              <a:off x="5286458" y="1239246"/>
              <a:ext cx="507902" cy="15678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Zone</a:t>
              </a:r>
              <a:r>
                <a:rPr lang="en-US" sz="650" b="1" spc="-2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ns2:creationId id="{9D505091-C1B3-4643-3757-11527DD029ED}"/>
                </a:ext>
              </a:extLst>
            </p:cNvPr>
            <p:cNvSpPr txBox="1"/>
            <p:nvPr/>
          </p:nvSpPr>
          <p:spPr>
            <a:xfrm>
              <a:off x="206736" y="151909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218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ns2:creationId id="{D4A13F3F-01DA-EED4-B30C-053A438475D3}"/>
                </a:ext>
              </a:extLst>
            </p:cNvPr>
            <p:cNvSpPr txBox="1"/>
            <p:nvPr/>
          </p:nvSpPr>
          <p:spPr>
            <a:xfrm>
              <a:off x="1889435" y="1508346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0F162A"/>
                  </a:solidFill>
                  <a:latin typeface="+mj-lt"/>
                </a:rPr>
                <a:t>Lulu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608%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ns2:creationId id="{823DC972-676F-BB3F-DF78-E528EBCA63EA}"/>
                </a:ext>
              </a:extLst>
            </p:cNvPr>
            <p:cNvSpPr txBox="1"/>
            <p:nvPr/>
          </p:nvSpPr>
          <p:spPr>
            <a:xfrm>
              <a:off x="3571128" y="1495157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Dmart, Apollo, Reliance,</a:t>
              </a:r>
              <a:r>
                <a:rPr lang="en-US" sz="650" b="1" spc="-4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ns2:creationId id="{1109BA7C-796E-3D4D-65A2-95AB774BD170}"/>
                </a:ext>
              </a:extLst>
            </p:cNvPr>
            <p:cNvSpPr txBox="1"/>
            <p:nvPr/>
          </p:nvSpPr>
          <p:spPr>
            <a:xfrm>
              <a:off x="5286457" y="1477583"/>
              <a:ext cx="776292" cy="21760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0F162A"/>
                  </a:solidFill>
                  <a:latin typeface="+mj-lt"/>
                  <a:ea typeface="Calibri"/>
                  <a:cs typeface="Calibri"/>
                </a:rPr>
                <a:t>- </a:t>
              </a: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554</a:t>
              </a:r>
              <a:r>
                <a:rPr lang="en-US" sz="65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ns2:creationId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276274" y="112827"/>
            <a:ext cx="793520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ns2:creationId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+mj-lt"/>
              </a:rPr>
              <a:t>South-2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ns2:creationId id="{BE76197D-AD93-4DDB-527A-826CAC8A34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ns4:useLocalDpi val="0"/>
              </a:ext>
            </a:extLst>
          </a:blip>
          <a:srcRect l="24448" r="23559"/>
          <a:stretch/>
        </p:blipFill>
        <p:spPr bwMode="auto">
          <a:xfrm>
            <a:off x="2735703" y="6189696"/>
            <a:ext cx="212290" cy="408312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3" name="Picture 4">
            <a:extLst>
              <a:ext uri="{FF2B5EF4-FFF2-40B4-BE49-F238E27FC236}">
                <ns2:creationId id="{F20B312B-5A1E-869A-616E-4DE5477BD9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368553" y="6195781"/>
            <a:ext cx="210106" cy="445801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4" name="Picture 3" descr="A bottle of rice face wash&#10;&#10;Description automatically generated">
            <a:extLst>
              <a:ext uri="{FF2B5EF4-FFF2-40B4-BE49-F238E27FC236}">
                <ns2:creationId id="{E6B07053-A2FC-8A2A-646C-006FD076BE9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15430" y="4054143"/>
            <a:ext cx="176977" cy="364983"/>
          </a:xfrm>
          <a:prstGeom prst="rect">
            <a:avLst/>
          </a:prstGeom>
        </p:spPr>
      </p:pic>
      <p:pic>
        <p:nvPicPr>
          <p:cNvPr id="5" name="Picture 4" descr="A yellow bottle of sunscreen&#10;&#10;Description automatically generated">
            <a:extLst>
              <a:ext uri="{FF2B5EF4-FFF2-40B4-BE49-F238E27FC236}">
                <ns2:creationId id="{E7063FFB-AF00-4EC3-116F-9FDCBC3737E7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36620" y="4069590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&#10;&#10;AI-generated content may be incorrect.">
            <a:extLst>
              <a:ext uri="{FF2B5EF4-FFF2-40B4-BE49-F238E27FC236}">
                <ns2:creationId id="{2FCF8E9C-AD85-A765-DA2E-933646335E02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26572" y="6257490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&#10;&#10;Description automatically generated">
            <a:extLst>
              <a:ext uri="{FF2B5EF4-FFF2-40B4-BE49-F238E27FC236}">
                <ns2:creationId id="{5DC5B903-423D-700E-B3D3-6618C69CDFEC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831164" y="4023931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14 / 24</a:t>
            </a:r>
          </a:p>
        </p:txBody>
      </p:sp>
    </p:spTree>
    <p:extLst>
      <p:ext uri="{BB962C8B-B14F-4D97-AF65-F5344CB8AC3E}">
        <ns3:creationId val="405748314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3="http://schemas.microsoft.com/office/powerpoint/2010/main" xmlns:ns4="http://schemas.microsoft.com/office/drawing/2010/main" xmlns:ns5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ns2:creationId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3668106685"/>
              </p:ext>
            </p:extLst>
          </p:nvPr>
        </p:nvGraphicFramePr>
        <p:xfrm>
          <a:off x="212691" y="82627"/>
          <a:ext cx="6926523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6926523">
                  <a:extLst>
                    <a:ext uri="{9D8B030D-6E8A-4147-A177-3AD203B41FA5}">
                      <ns2:colId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WEST ZONE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ns2:creationId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ns2:creationId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ns2:creationId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ns2:creationId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1016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ns2:creationId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ns2:creationId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ns2:creationId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ns2:creationId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25.3%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ns2:creationId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ns2:creationId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ns2:creationId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ns2:creationId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840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ns2:creationId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ns2:creationId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ns2:creationId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ns2:creationId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56%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ns2:creationId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ns2:creationId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5442770"/>
            <a:ext cx="79419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ns2:creationId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ns2:creationId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6867859"/>
            <a:ext cx="79419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ns2:creationId id="{1A2636FF-FA83-BDD9-A967-753B47792769}"/>
              </a:ext>
            </a:extLst>
          </p:cNvPr>
          <p:cNvSpPr txBox="1"/>
          <p:nvPr/>
        </p:nvSpPr>
        <p:spPr>
          <a:xfrm>
            <a:off x="212691" y="888000"/>
            <a:ext cx="6926523" cy="104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000" b="1" dirty="0">
                <a:effectLst/>
                <a:latin typeface="+mj-lt"/>
                <a:ea typeface="Calibri"/>
                <a:cs typeface="Calibri"/>
              </a:rPr>
              <a:t>Key Performance </a:t>
            </a:r>
            <a:r>
              <a:rPr lang="en-US" sz="1000" b="1" spc="-10" dirty="0">
                <a:effectLst/>
                <a:latin typeface="+mj-lt"/>
                <a:ea typeface="Calibri"/>
                <a:cs typeface="Calibri"/>
              </a:rPr>
              <a:t>Highlights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000" b="1" dirty="0">
                <a:effectLst/>
                <a:latin typeface="+mj-lt"/>
                <a:ea typeface="Calibri"/>
                <a:cs typeface="Calibri"/>
              </a:rPr>
              <a:t> 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Zone</a:t>
            </a:r>
            <a:r>
              <a:rPr lang="en-US" sz="90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Record:</a:t>
            </a:r>
            <a:r>
              <a:rPr lang="en-US" sz="90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May-26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delivered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the</a:t>
            </a:r>
            <a:r>
              <a:rPr lang="en-US" sz="90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highest</a:t>
            </a:r>
            <a:r>
              <a:rPr lang="en-US" sz="90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month</a:t>
            </a:r>
            <a:r>
              <a:rPr lang="en-US" sz="90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for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West</a:t>
            </a:r>
            <a:r>
              <a:rPr lang="en-US" sz="90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at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b="1" dirty="0">
                <a:solidFill>
                  <a:srgbClr val="0F756E"/>
                </a:solidFill>
                <a:effectLst/>
                <a:latin typeface="+mj-lt"/>
                <a:ea typeface="Calibri"/>
                <a:cs typeface="Calibri"/>
              </a:rPr>
              <a:t>1016</a:t>
            </a:r>
            <a:r>
              <a:rPr lang="en-US" sz="900" dirty="0">
                <a:solidFill>
                  <a:srgbClr val="0F162A"/>
                </a:solidFill>
                <a:effectLst/>
                <a:latin typeface="+mj-lt"/>
                <a:ea typeface="Calibri"/>
                <a:cs typeface="Calibri"/>
              </a:rPr>
              <a:t>,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contributing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b="1" dirty="0">
                <a:effectLst/>
                <a:latin typeface="+mj-lt"/>
                <a:ea typeface="Calibri"/>
                <a:cs typeface="Calibri"/>
              </a:rPr>
              <a:t>25.3%</a:t>
            </a:r>
            <a:r>
              <a:rPr lang="en-US" sz="900" b="1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to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total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dirty="0">
                <a:effectLst/>
                <a:latin typeface="+mj-lt"/>
                <a:ea typeface="Calibri"/>
                <a:cs typeface="Calibri"/>
              </a:rPr>
              <a:t>channel</a:t>
            </a:r>
            <a:r>
              <a:rPr lang="en-US" sz="90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900" spc="-10" dirty="0">
                <a:effectLst/>
                <a:latin typeface="+mj-lt"/>
                <a:ea typeface="Calibri"/>
                <a:cs typeface="Calibri"/>
              </a:rPr>
              <a:t>sales.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900" b="1" dirty="0">
                <a:latin typeface="+mj-lt"/>
              </a:rPr>
              <a:t>Growth View: May-26 performance was</a:t>
            </a:r>
            <a:r>
              <a:rPr sz="90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21%</a:t>
            </a:r>
            <a:r>
              <a:rPr sz="90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900" b="1" dirty="0">
                <a:latin typeface="+mj-lt"/>
              </a:rPr>
              <a:t>vs L3M and</a:t>
            </a:r>
            <a:r>
              <a:rPr sz="90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56%</a:t>
            </a:r>
            <a:r>
              <a:rPr sz="90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900" b="1" dirty="0">
                <a:latin typeface="+mj-lt"/>
              </a:rPr>
              <a:t>vs May-25, confirming Consistent strong month momentum.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tabLst>
                <a:tab pos="184150" algn="l"/>
              </a:tabLst>
            </a:pPr>
            <a:r>
              <a:rPr sz="1050" dirty="0" b="1">
                <a:latin typeface="+mj-lt"/>
              </a:rPr>
              <a:t>Zone Insight:</a:t>
            </a:r>
            <a:r>
              <a:rPr sz="1050" dirty="0">
                <a:latin typeface="+mj-lt"/>
              </a:rPr>
              <a:t> Mamaearth anchors the West mix; The Derma Co. is the fastest-growing brand YoY.</a:t>
            </a:r>
          </a:p>
        </p:txBody>
      </p:sp>
      <p:sp>
        <p:nvSpPr>
          <p:cNvPr id="149" name="Shape 3">
            <a:extLst>
              <a:ext uri="{FF2B5EF4-FFF2-40B4-BE49-F238E27FC236}">
                <ns2:creationId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ns2:creationId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+mj-lt"/>
              </a:rPr>
              <a:t>West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ns2:creationId id="{8DC1552C-E149-4A10-28F5-0A4785E39F2D}"/>
              </a:ext>
            </a:extLst>
          </p:cNvPr>
          <p:cNvSpPr/>
          <p:nvPr/>
        </p:nvSpPr>
        <p:spPr>
          <a:xfrm>
            <a:off x="297088" y="3868329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ns2:creationId id="{68B7E644-F756-EB08-51D0-E4BBD2584EB3}"/>
              </a:ext>
            </a:extLst>
          </p:cNvPr>
          <p:cNvSpPr/>
          <p:nvPr/>
        </p:nvSpPr>
        <p:spPr>
          <a:xfrm>
            <a:off x="835642" y="3885403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 6%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ns2:creationId id="{E90F34B8-D653-A710-F866-1BC3E6964F9D}"/>
              </a:ext>
            </a:extLst>
          </p:cNvPr>
          <p:cNvSpPr/>
          <p:nvPr/>
        </p:nvSpPr>
        <p:spPr>
          <a:xfrm>
            <a:off x="1309888" y="3897280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12%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ns2:creationId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290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ns2:creationId id="{C3EABDE2-E03A-721E-0AE3-C104F928F4F3}"/>
              </a:ext>
            </a:extLst>
          </p:cNvPr>
          <p:cNvGraphicFramePr/>
          <p:nvPr>
            <p:extLst>
              <p:ext uri="{D42A27DB-BD31-4B8C-83A1-F6EECF244321}">
                <ns3:modId val="3274133426"/>
              </p:ext>
            </p:extLst>
          </p:nvPr>
        </p:nvGraphicFramePr>
        <p:xfrm>
          <a:off x="183307" y="3764101"/>
          <a:ext cx="2199629" cy="1665932"/>
        </p:xfrm>
        <a:graphic>
          <a:graphicData uri="http://schemas.openxmlformats.org/drawingml/2006/chart">
            <ns5:chart r:id="rId2"/>
          </a:graphicData>
        </a:graphic>
      </p:graphicFrame>
      <p:sp>
        <p:nvSpPr>
          <p:cNvPr id="156" name="Text 9">
            <a:extLst>
              <a:ext uri="{FF2B5EF4-FFF2-40B4-BE49-F238E27FC236}">
                <ns2:creationId id="{5BEBD7FD-7A2C-AC1D-76B9-D5B4A0E4DD0C}"/>
              </a:ext>
            </a:extLst>
          </p:cNvPr>
          <p:cNvSpPr/>
          <p:nvPr/>
        </p:nvSpPr>
        <p:spPr>
          <a:xfrm>
            <a:off x="2618119" y="3885404"/>
            <a:ext cx="560284" cy="178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ns2:creationId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>
                <a:solidFill>
                  <a:srgbClr val="008A3D"/>
                </a:solidFill>
                <a:latin typeface="+mj-lt"/>
              </a:rPr>
              <a:t>▲ 35%</a:t>
            </a:r>
            <a:endParaRPr lang="en-US" sz="900" dirty="0"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ns2:creationId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3%</a:t>
            </a:r>
            <a:endParaRPr lang="en-US" sz="900" dirty="0"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ns2:creationId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May'26 175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ns2:creationId id="{498335C8-87FE-1BF3-E55D-7F3682FE88D1}"/>
              </a:ext>
            </a:extLst>
          </p:cNvPr>
          <p:cNvGraphicFramePr/>
          <p:nvPr>
            <p:extLst>
              <p:ext uri="{D42A27DB-BD31-4B8C-83A1-F6EECF244321}">
                <ns3:modId val="3461521053"/>
              </p:ext>
            </p:extLst>
          </p:nvPr>
        </p:nvGraphicFramePr>
        <p:xfrm>
          <a:off x="2479234" y="3793296"/>
          <a:ext cx="2340212" cy="1615330"/>
        </p:xfrm>
        <a:graphic>
          <a:graphicData uri="http://schemas.openxmlformats.org/drawingml/2006/chart">
            <ns5:chart r:id="rId3"/>
          </a:graphicData>
        </a:graphic>
      </p:graphicFrame>
      <p:sp>
        <p:nvSpPr>
          <p:cNvPr id="161" name="Text 13">
            <a:extLst>
              <a:ext uri="{FF2B5EF4-FFF2-40B4-BE49-F238E27FC236}">
                <ns2:creationId id="{AE81E6A1-E294-CD2E-3731-74E6402A61FF}"/>
              </a:ext>
            </a:extLst>
          </p:cNvPr>
          <p:cNvSpPr/>
          <p:nvPr/>
        </p:nvSpPr>
        <p:spPr>
          <a:xfrm>
            <a:off x="4943104" y="3837376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ns2:creationId id="{27F9A9D8-519D-AC19-D616-44CAE0D43FD1}"/>
              </a:ext>
            </a:extLst>
          </p:cNvPr>
          <p:cNvSpPr/>
          <p:nvPr/>
        </p:nvSpPr>
        <p:spPr>
          <a:xfrm>
            <a:off x="5413469" y="3814391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sz="900" dirty="0">
                <a:solidFill>
                  <a:srgbClr val="2E8B57"/>
                </a:solidFill>
                <a:latin typeface="+mj-lt"/>
              </a:rPr>
              <a:t>GOLY ▲ 36%</a:t>
            </a:r>
            <a:endParaRPr lang="en-US" sz="900" dirty="0">
              <a:solidFill>
                <a:srgbClr val="2E8B57"/>
              </a:solidFill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ns2:creationId id="{25E789B0-F22E-6189-F81D-C18A4F30CC76}"/>
              </a:ext>
            </a:extLst>
          </p:cNvPr>
          <p:cNvSpPr/>
          <p:nvPr/>
        </p:nvSpPr>
        <p:spPr>
          <a:xfrm>
            <a:off x="6045600" y="3813003"/>
            <a:ext cx="372097" cy="251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0000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FF0000"/>
                </a:solidFill>
                <a:latin typeface="+mj-lt"/>
              </a:rPr>
              <a:t>▼ 15%</a:t>
            </a:r>
            <a:endParaRPr lang="en-US" sz="9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ns2:creationId id="{B7F3446D-2E00-77C7-5921-C34968E8F7B7}"/>
              </a:ext>
            </a:extLst>
          </p:cNvPr>
          <p:cNvSpPr/>
          <p:nvPr/>
        </p:nvSpPr>
        <p:spPr>
          <a:xfrm>
            <a:off x="6607284" y="3835214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88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ns2:creationId id="{E29320C6-4ABC-47AD-CAC6-8C1A6CA6E8C5}"/>
              </a:ext>
            </a:extLst>
          </p:cNvPr>
          <p:cNvGraphicFramePr/>
          <p:nvPr>
            <p:extLst>
              <p:ext uri="{D42A27DB-BD31-4B8C-83A1-F6EECF244321}">
                <ns3:modId val="3390032755"/>
              </p:ext>
            </p:extLst>
          </p:nvPr>
        </p:nvGraphicFramePr>
        <p:xfrm>
          <a:off x="4849544" y="3784478"/>
          <a:ext cx="2318090" cy="1634846"/>
        </p:xfrm>
        <a:graphic>
          <a:graphicData uri="http://schemas.openxmlformats.org/drawingml/2006/chart">
            <ns5:chart r:id="rId4"/>
          </a:graphicData>
        </a:graphic>
      </p:graphicFrame>
      <p:sp>
        <p:nvSpPr>
          <p:cNvPr id="166" name="Shape 17">
            <a:extLst>
              <a:ext uri="{FF2B5EF4-FFF2-40B4-BE49-F238E27FC236}">
                <ns2:creationId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ns2:creationId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</a:rPr>
              <a:t>West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ns2:creationId id="{A8BC9F08-BB7E-07CC-C7BE-53E76EB85511}"/>
              </a:ext>
            </a:extLst>
          </p:cNvPr>
          <p:cNvSpPr/>
          <p:nvPr/>
        </p:nvSpPr>
        <p:spPr>
          <a:xfrm>
            <a:off x="151297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105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ns2:creationId id="{CC6466FF-9DFE-712B-2E6C-63C9594ED3C1}"/>
              </a:ext>
            </a:extLst>
          </p:cNvPr>
          <p:cNvSpPr/>
          <p:nvPr/>
        </p:nvSpPr>
        <p:spPr>
          <a:xfrm>
            <a:off x="607560" y="5965684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▲154%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ns2:creationId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42%</a:t>
            </a:r>
            <a:endParaRPr lang="en-US" sz="900" dirty="0"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ns2:creationId id="{21E44F12-56F2-0F79-99BF-12D5FEBEA9AE}"/>
              </a:ext>
            </a:extLst>
          </p:cNvPr>
          <p:cNvSpPr/>
          <p:nvPr/>
        </p:nvSpPr>
        <p:spPr>
          <a:xfrm>
            <a:off x="1741769" y="5942106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May'26 215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ns2:creationId id="{A04A165C-0A2C-703B-D787-4F0EA0143E90}"/>
              </a:ext>
            </a:extLst>
          </p:cNvPr>
          <p:cNvGraphicFramePr/>
          <p:nvPr>
            <p:extLst>
              <p:ext uri="{D42A27DB-BD31-4B8C-83A1-F6EECF244321}">
                <ns3:modId val="326619304"/>
              </p:ext>
            </p:extLst>
          </p:nvPr>
        </p:nvGraphicFramePr>
        <p:xfrm>
          <a:off x="195474" y="5885531"/>
          <a:ext cx="2256553" cy="1541398"/>
        </p:xfrm>
        <a:graphic>
          <a:graphicData uri="http://schemas.openxmlformats.org/drawingml/2006/chart">
            <ns5:chart r:id="rId5"/>
          </a:graphicData>
        </a:graphic>
      </p:graphicFrame>
      <p:sp>
        <p:nvSpPr>
          <p:cNvPr id="173" name="Text 23">
            <a:extLst>
              <a:ext uri="{FF2B5EF4-FFF2-40B4-BE49-F238E27FC236}">
                <ns2:creationId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ns2:creationId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008A3D"/>
                </a:solidFill>
                <a:latin typeface="+mj-lt"/>
              </a:rPr>
              <a:t>▲438%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ns2:creationId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40%</a:t>
            </a:r>
            <a:endParaRPr lang="en-US" sz="900" dirty="0"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ns2:creationId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May'26 119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ns2:creationId id="{CBBF5C82-1DBC-BF6C-CAEA-410BB465C0A3}"/>
              </a:ext>
            </a:extLst>
          </p:cNvPr>
          <p:cNvGraphicFramePr/>
          <p:nvPr>
            <p:extLst>
              <p:ext uri="{D42A27DB-BD31-4B8C-83A1-F6EECF244321}">
                <ns3:modId val="934559707"/>
              </p:ext>
            </p:extLst>
          </p:nvPr>
        </p:nvGraphicFramePr>
        <p:xfrm>
          <a:off x="2540771" y="5853797"/>
          <a:ext cx="2256553" cy="1541398"/>
        </p:xfrm>
        <a:graphic>
          <a:graphicData uri="http://schemas.openxmlformats.org/drawingml/2006/chart">
            <ns5:chart r:id="rId6"/>
          </a:graphicData>
        </a:graphic>
      </p:graphicFrame>
      <p:sp>
        <p:nvSpPr>
          <p:cNvPr id="178" name="Text 27">
            <a:extLst>
              <a:ext uri="{FF2B5EF4-FFF2-40B4-BE49-F238E27FC236}">
                <ns2:creationId id="{038BADD0-EAC6-F8D6-7B12-BE177A9DAD4D}"/>
              </a:ext>
            </a:extLst>
          </p:cNvPr>
          <p:cNvSpPr/>
          <p:nvPr/>
        </p:nvSpPr>
        <p:spPr>
          <a:xfrm>
            <a:off x="4820896" y="5906220"/>
            <a:ext cx="68214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ns2:creationId id="{024D5F40-BAD0-9683-DBAB-2A9FEAA024FA}"/>
              </a:ext>
            </a:extLst>
          </p:cNvPr>
          <p:cNvSpPr/>
          <p:nvPr/>
        </p:nvSpPr>
        <p:spPr>
          <a:xfrm>
            <a:off x="5494277" y="5902783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▲ 3%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ns2:creationId id="{631DEBF0-39A6-7D0F-BA14-F1B18161FDD2}"/>
              </a:ext>
            </a:extLst>
          </p:cNvPr>
          <p:cNvSpPr/>
          <p:nvPr/>
        </p:nvSpPr>
        <p:spPr>
          <a:xfrm>
            <a:off x="6011518" y="5894702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0000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FF0000"/>
                </a:solidFill>
                <a:latin typeface="+mj-lt"/>
              </a:rPr>
              <a:t>▼ 15%</a:t>
            </a:r>
            <a:endParaRPr lang="en-US" sz="9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ns2:creationId id="{F69669F6-2C5B-9CCF-FC00-E39EBA2DF5E4}"/>
              </a:ext>
            </a:extLst>
          </p:cNvPr>
          <p:cNvSpPr/>
          <p:nvPr/>
        </p:nvSpPr>
        <p:spPr>
          <a:xfrm>
            <a:off x="6569415" y="5893104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19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ns2:creationId id="{39E95149-09DC-244B-A1A2-AB5A022BF0EF}"/>
              </a:ext>
            </a:extLst>
          </p:cNvPr>
          <p:cNvGraphicFramePr/>
          <p:nvPr>
            <p:extLst>
              <p:ext uri="{D42A27DB-BD31-4B8C-83A1-F6EECF244321}">
                <ns3:modId val="3047016938"/>
              </p:ext>
            </p:extLst>
          </p:nvPr>
        </p:nvGraphicFramePr>
        <p:xfrm>
          <a:off x="4930324" y="5845469"/>
          <a:ext cx="2256553" cy="1541398"/>
        </p:xfrm>
        <a:graphic>
          <a:graphicData uri="http://schemas.openxmlformats.org/drawingml/2006/chart">
            <ns5:chart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ns2:creationId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3300023258"/>
              </p:ext>
            </p:extLst>
          </p:nvPr>
        </p:nvGraphicFramePr>
        <p:xfrm>
          <a:off x="212691" y="1934878"/>
          <a:ext cx="6926523" cy="1465101"/>
        </p:xfrm>
        <a:graphic>
          <a:graphicData uri="http://schemas.openxmlformats.org/drawingml/2006/table">
            <a:tbl>
              <a:tblPr firstRow="1" firstCol="1" bandRow="1"/>
              <a:tblGrid>
                <a:gridCol w="1184248">
                  <a:extLst>
                    <a:ext uri="{9D8B030D-6E8A-4147-A177-3AD203B41FA5}">
                      <ns2:colId val="1720933068"/>
                    </a:ext>
                  </a:extLst>
                </a:gridCol>
                <a:gridCol w="600557">
                  <a:extLst>
                    <a:ext uri="{9D8B030D-6E8A-4147-A177-3AD203B41FA5}">
                      <ns2:colId val="2630805108"/>
                    </a:ext>
                  </a:extLst>
                </a:gridCol>
                <a:gridCol w="789454">
                  <a:extLst>
                    <a:ext uri="{9D8B030D-6E8A-4147-A177-3AD203B41FA5}">
                      <ns2:colId val="1295913063"/>
                    </a:ext>
                  </a:extLst>
                </a:gridCol>
                <a:gridCol w="870453">
                  <a:extLst>
                    <a:ext uri="{9D8B030D-6E8A-4147-A177-3AD203B41FA5}">
                      <ns2:colId val="4130086957"/>
                    </a:ext>
                  </a:extLst>
                </a:gridCol>
                <a:gridCol w="870453">
                  <a:extLst>
                    <a:ext uri="{9D8B030D-6E8A-4147-A177-3AD203B41FA5}">
                      <ns2:colId val="3066276741"/>
                    </a:ext>
                  </a:extLst>
                </a:gridCol>
                <a:gridCol w="870453">
                  <a:extLst>
                    <a:ext uri="{9D8B030D-6E8A-4147-A177-3AD203B41FA5}">
                      <ns2:colId val="2870282349"/>
                    </a:ext>
                  </a:extLst>
                </a:gridCol>
                <a:gridCol w="870453">
                  <a:extLst>
                    <a:ext uri="{9D8B030D-6E8A-4147-A177-3AD203B41FA5}">
                      <ns2:colId val="1716647770"/>
                    </a:ext>
                  </a:extLst>
                </a:gridCol>
                <a:gridCol w="870452">
                  <a:extLst>
                    <a:ext uri="{9D8B030D-6E8A-4147-A177-3AD203B41FA5}">
                      <ns2:colId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ns2:rowId val="1095355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584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623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640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63.1%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599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2839593741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59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265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359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35.3%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228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57%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510%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744782322"/>
                  </a:ext>
                </a:extLst>
              </a:tr>
              <a:tr h="31015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9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1.4%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29%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63%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267599869"/>
                  </a:ext>
                </a:extLst>
              </a:tr>
              <a:tr h="310153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0.2%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ns2:creationId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162993563"/>
              </p:ext>
            </p:extLst>
          </p:nvPr>
        </p:nvGraphicFramePr>
        <p:xfrm>
          <a:off x="212691" y="7863614"/>
          <a:ext cx="6926523" cy="1618160"/>
        </p:xfrm>
        <a:graphic>
          <a:graphicData uri="http://schemas.openxmlformats.org/drawingml/2006/table">
            <a:tbl>
              <a:tblPr firstRow="1" firstCol="1" bandRow="1"/>
              <a:tblGrid>
                <a:gridCol w="1680699">
                  <a:extLst>
                    <a:ext uri="{9D8B030D-6E8A-4147-A177-3AD203B41FA5}">
                      <ns2:colId val="1999662838"/>
                    </a:ext>
                  </a:extLst>
                </a:gridCol>
                <a:gridCol w="763955">
                  <a:extLst>
                    <a:ext uri="{9D8B030D-6E8A-4147-A177-3AD203B41FA5}">
                      <ns2:colId val="1604924111"/>
                    </a:ext>
                  </a:extLst>
                </a:gridCol>
                <a:gridCol w="713024">
                  <a:extLst>
                    <a:ext uri="{9D8B030D-6E8A-4147-A177-3AD203B41FA5}">
                      <ns2:colId val="3900343723"/>
                    </a:ext>
                  </a:extLst>
                </a:gridCol>
                <a:gridCol w="763955">
                  <a:extLst>
                    <a:ext uri="{9D8B030D-6E8A-4147-A177-3AD203B41FA5}">
                      <ns2:colId val="2453469686"/>
                    </a:ext>
                  </a:extLst>
                </a:gridCol>
                <a:gridCol w="763955">
                  <a:extLst>
                    <a:ext uri="{9D8B030D-6E8A-4147-A177-3AD203B41FA5}">
                      <ns2:colId val="531817117"/>
                    </a:ext>
                  </a:extLst>
                </a:gridCol>
                <a:gridCol w="475349">
                  <a:extLst>
                    <a:ext uri="{9D8B030D-6E8A-4147-A177-3AD203B41FA5}">
                      <ns2:colId val="1269342238"/>
                    </a:ext>
                  </a:extLst>
                </a:gridCol>
                <a:gridCol w="882793">
                  <a:extLst>
                    <a:ext uri="{9D8B030D-6E8A-4147-A177-3AD203B41FA5}">
                      <ns2:colId val="1250320746"/>
                    </a:ext>
                  </a:extLst>
                </a:gridCol>
                <a:gridCol w="882793">
                  <a:extLst>
                    <a:ext uri="{9D8B030D-6E8A-4147-A177-3AD203B41FA5}">
                      <ns2:colId val="2206225178"/>
                    </a:ext>
                  </a:extLst>
                </a:gridCol>
              </a:tblGrid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97255112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Dmart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428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680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66.9%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537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27%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59%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404039130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Reliance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107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152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15.0%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138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11%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42%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4058264776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Wellness Forever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99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92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9.1%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88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4%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20%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505328105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Apollo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7.8%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23%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190%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1217495259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Metro Cnc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0.5%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10%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27%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920849718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Trent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0.4%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008A3D"/>
                          </a:solidFill>
                          <a:latin typeface="+mn-lt"/>
                        </a:rPr>
                        <a:t>▲ 28%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135%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517893452"/>
                  </a:ext>
                </a:extLst>
              </a:tr>
              <a:tr h="20227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0.3%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>
                          <a:solidFill>
                            <a:srgbClr val="C00000"/>
                          </a:solidFill>
                          <a:latin typeface="+mn-lt"/>
                        </a:rPr>
                        <a:t>▼ 27%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C00000"/>
                          </a:solidFill>
                          <a:latin typeface="+mn-lt"/>
                        </a:rPr>
                        <a:t>▼ 33%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153790100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ns2:creationId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6274" y="15742"/>
            <a:ext cx="79352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ns2:creationId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9493854"/>
            <a:ext cx="6926523" cy="1129056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ns2:creationId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ns2:creationId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ns2:creationId id="{786D0DB1-927E-CDBA-AE82-7E1B1BB65AF0}"/>
                </a:ext>
              </a:extLst>
            </p:cNvPr>
            <p:cNvSpPr/>
            <p:nvPr/>
          </p:nvSpPr>
          <p:spPr>
            <a:xfrm>
              <a:off x="106892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ns2:creationId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ns2:creationId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ns2:creationId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ns2:creationId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ns2:creationId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ns2:creationId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ns2:creationId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ns2:creationId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ns2:creationId id="{390ECE72-BE5D-D8E0-F6DB-459027B27CA3}"/>
                </a:ext>
              </a:extLst>
            </p:cNvPr>
            <p:cNvSpPr txBox="1"/>
            <p:nvPr/>
          </p:nvSpPr>
          <p:spPr>
            <a:xfrm>
              <a:off x="114800" y="422663"/>
              <a:ext cx="6735227" cy="52362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900" b="1" dirty="0">
                  <a:solidFill>
                    <a:srgbClr val="055E46"/>
                  </a:solidFill>
                  <a:latin typeface="+mj-lt"/>
                </a:rPr>
                <a:t>Zone Record: West delivered its highest month in May-26 at 1016. Growth stood at </a:t>
              </a:r>
              <a:r>
                <a:rPr sz="900" b="1" dirty="0">
                  <a:solidFill>
                    <a:srgbClr val="008A3D"/>
                  </a:solidFill>
                  <a:latin typeface="+mj-lt"/>
                </a:rPr>
                <a:t>▲ 21%</a:t>
              </a:r>
              <a:r>
                <a:rPr sz="900" b="1" dirty="0">
                  <a:solidFill>
                    <a:srgbClr val="055E46"/>
                  </a:solidFill>
                  <a:latin typeface="+mj-lt"/>
                </a:rPr>
                <a:t> vs L3M and </a:t>
              </a:r>
              <a:r>
                <a:rPr sz="900" b="1" dirty="0">
                  <a:solidFill>
                    <a:srgbClr val="008A3D"/>
                  </a:solidFill>
                  <a:latin typeface="+mj-lt"/>
                </a:rPr>
                <a:t>▲ 56%</a:t>
              </a:r>
              <a:r>
                <a:rPr sz="900" b="1" dirty="0">
                  <a:solidFill>
                    <a:srgbClr val="055E46"/>
                  </a:solidFill>
                  <a:latin typeface="+mj-lt"/>
                </a:rPr>
                <a:t> vs May-25.</a:t>
              </a:r>
              <a:endParaRPr lang="en-IN" sz="1400" spc="0" dirty="0">
                <a:effectLst/>
                <a:latin typeface="+mj-lt"/>
                <a:ea typeface="Calibri"/>
                <a:cs typeface="Calibri"/>
              </a:endParaRPr>
            </a:p>
            <a:p>
              <a:pPr marL="342900" marR="11430" indent="-342900">
                <a:lnSpc>
                  <a:spcPct val="107000"/>
                </a:lnSpc>
                <a:spcBef>
                  <a:spcPts val="160"/>
                </a:spcBef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sz="900" b="1" dirty="0">
                  <a:solidFill>
                    <a:srgbClr val="055E46"/>
                  </a:solidFill>
                  <a:latin typeface="+mj-lt"/>
                </a:rPr>
                <a:t>Chain Highlights </a:t>
              </a:r>
              <a:r>
                <a:rPr sz="900" b="1" dirty="0" err="1">
                  <a:solidFill>
                    <a:srgbClr val="055E46"/>
                  </a:solidFill>
                  <a:latin typeface="+mj-lt"/>
                </a:rPr>
                <a:t>Dmart</a:t>
              </a:r>
              <a:r>
                <a:rPr sz="900" b="1" dirty="0">
                  <a:solidFill>
                    <a:srgbClr val="055E46"/>
                  </a:solidFill>
                  <a:latin typeface="+mj-lt"/>
                </a:rPr>
                <a:t> at 680 Lacs; fastest YoY chain: Apollo 79 Lacs Gr</a:t>
              </a:r>
              <a:r>
                <a:rPr sz="900" b="1" dirty="0">
                  <a:solidFill>
                    <a:srgbClr val="008A3D"/>
                  </a:solidFill>
                  <a:latin typeface="+mj-lt"/>
                </a:rPr>
                <a:t>▲ 190%</a:t>
              </a:r>
              <a:r>
                <a:rPr sz="900" b="1" dirty="0">
                  <a:solidFill>
                    <a:srgbClr val="055E46"/>
                  </a:solidFill>
                  <a:latin typeface="+mj-lt"/>
                </a:rPr>
                <a:t>.</a:t>
              </a:r>
              <a:endParaRPr lang="en-IN" sz="900" dirty="0">
                <a:solidFill>
                  <a:srgbClr val="15803D"/>
                </a:solidFill>
                <a:latin typeface="+mj-lt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ns2:creationId id="{696AC7C6-3FED-0B1D-4CD4-FA589378E90D}"/>
                </a:ext>
              </a:extLst>
            </p:cNvPr>
            <p:cNvSpPr txBox="1"/>
            <p:nvPr/>
          </p:nvSpPr>
          <p:spPr>
            <a:xfrm>
              <a:off x="188979" y="1090664"/>
              <a:ext cx="478155" cy="31484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Lead</a:t>
              </a:r>
              <a:r>
                <a:rPr lang="en-US" sz="650" b="1" spc="-2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ns2:creationId id="{D2CB78A9-052C-7918-9B59-3C05E6224543}"/>
                </a:ext>
              </a:extLst>
            </p:cNvPr>
            <p:cNvSpPr txBox="1"/>
            <p:nvPr/>
          </p:nvSpPr>
          <p:spPr>
            <a:xfrm>
              <a:off x="1882129" y="1090664"/>
              <a:ext cx="771525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Fastest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YoY</a:t>
              </a:r>
              <a:r>
                <a:rPr lang="en-US" sz="650" b="1" spc="-2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10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ns2:creationId id="{1002BC0E-27DD-532F-2DE7-BB1F581AC8FE}"/>
                </a:ext>
              </a:extLst>
            </p:cNvPr>
            <p:cNvSpPr txBox="1"/>
            <p:nvPr/>
          </p:nvSpPr>
          <p:spPr>
            <a:xfrm>
              <a:off x="3575278" y="1090664"/>
              <a:ext cx="82423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650" b="1" spc="-25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Lines</a:t>
              </a:r>
              <a:endParaRPr lang="en-IN" sz="110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ns2:creationId id="{1393482F-11D6-D6FE-2753-A47D0B48114B}"/>
                </a:ext>
              </a:extLst>
            </p:cNvPr>
            <p:cNvSpPr txBox="1"/>
            <p:nvPr/>
          </p:nvSpPr>
          <p:spPr>
            <a:xfrm>
              <a:off x="5268429" y="1090664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650" b="1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Zone</a:t>
              </a:r>
              <a:r>
                <a:rPr lang="en-US" sz="650" b="1" spc="-2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1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ns2:creationId id="{9D505091-C1B3-4643-3757-11527DD029ED}"/>
                </a:ext>
              </a:extLst>
            </p:cNvPr>
            <p:cNvSpPr txBox="1"/>
            <p:nvPr/>
          </p:nvSpPr>
          <p:spPr>
            <a:xfrm>
              <a:off x="188707" y="1310255"/>
              <a:ext cx="580390" cy="9524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Dmart</a:t>
              </a:r>
              <a:r>
                <a:rPr lang="en-US" sz="65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-</a:t>
              </a:r>
              <a:r>
                <a:rPr lang="en-US" sz="65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680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ns2:creationId id="{D4A13F3F-01DA-EED4-B30C-053A438475D3}"/>
                </a:ext>
              </a:extLst>
            </p:cNvPr>
            <p:cNvSpPr txBox="1"/>
            <p:nvPr/>
          </p:nvSpPr>
          <p:spPr>
            <a:xfrm>
              <a:off x="1871406" y="1299505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650" b="1">
                  <a:solidFill>
                    <a:srgbClr val="0F162A"/>
                  </a:solidFill>
                  <a:latin typeface="+mj-lt"/>
                </a:rPr>
                <a:t>Apollo  - </a:t>
              </a:r>
              <a:r>
                <a:rPr sz="650" b="1">
                  <a:solidFill>
                    <a:srgbClr val="008A3D"/>
                  </a:solidFill>
                  <a:latin typeface="+mj-lt"/>
                </a:rPr>
                <a:t>▲ 190%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ns2:creationId id="{823DC972-676F-BB3F-DF78-E528EBCA63EA}"/>
                </a:ext>
              </a:extLst>
            </p:cNvPr>
            <p:cNvSpPr txBox="1"/>
            <p:nvPr/>
          </p:nvSpPr>
          <p:spPr>
            <a:xfrm>
              <a:off x="3553098" y="1286316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Dmart, Reliance, Wellness Forever,</a:t>
              </a:r>
              <a:r>
                <a:rPr lang="en-US" sz="650" b="1" spc="-4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ns2:creationId id="{1109BA7C-796E-3D4D-65A2-95AB774BD170}"/>
                </a:ext>
              </a:extLst>
            </p:cNvPr>
            <p:cNvSpPr txBox="1"/>
            <p:nvPr/>
          </p:nvSpPr>
          <p:spPr>
            <a:xfrm>
              <a:off x="5268428" y="1310254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May-26</a:t>
              </a:r>
              <a:r>
                <a:rPr lang="en-US" sz="650" b="1" spc="-3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650" b="1" spc="-30" dirty="0">
                  <a:solidFill>
                    <a:srgbClr val="0F162A"/>
                  </a:solidFill>
                  <a:latin typeface="+mj-lt"/>
                  <a:ea typeface="Calibri"/>
                  <a:cs typeface="Calibri"/>
                </a:rPr>
                <a:t>- </a:t>
              </a:r>
              <a:r>
                <a:rPr lang="en-US" sz="65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1016</a:t>
              </a:r>
              <a:r>
                <a:rPr lang="en-US" sz="65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endParaRPr lang="en-IN" sz="1100" dirty="0">
                <a:effectLst/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ns2:creationId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276274" y="112827"/>
            <a:ext cx="793520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ns2:creationId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+mj-lt"/>
              </a:rPr>
              <a:t>West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ns2:creationId id="{E24EC375-466C-1E5E-393B-8C29536D2D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ns4:useLocalDpi val="0"/>
              </a:ext>
            </a:extLst>
          </a:blip>
          <a:srcRect l="24448" r="23559"/>
          <a:stretch/>
        </p:blipFill>
        <p:spPr bwMode="auto">
          <a:xfrm>
            <a:off x="2691822" y="6140803"/>
            <a:ext cx="273352" cy="525756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3" name="Picture 4">
            <a:extLst>
              <a:ext uri="{FF2B5EF4-FFF2-40B4-BE49-F238E27FC236}">
                <ns2:creationId id="{F161C536-80FD-9961-8E04-8082E882D7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225984" y="6127059"/>
            <a:ext cx="258710" cy="548929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4" name="Picture 3" descr="A bottle of rice face wash&#10;&#10;Description automatically generated">
            <a:extLst>
              <a:ext uri="{FF2B5EF4-FFF2-40B4-BE49-F238E27FC236}">
                <ns2:creationId id="{2A96077C-6535-1BA6-1932-080A080D14E8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595728" y="3978098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&#10;&#10;Description automatically generated">
            <a:extLst>
              <a:ext uri="{FF2B5EF4-FFF2-40B4-BE49-F238E27FC236}">
                <ns2:creationId id="{5F184DD5-9108-696F-E933-1BFB2A3EC688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49833" y="4108504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&#10;&#10;AI-generated content may be incorrect.">
            <a:extLst>
              <a:ext uri="{FF2B5EF4-FFF2-40B4-BE49-F238E27FC236}">
                <ns2:creationId id="{89B376C6-8357-1D4B-54F0-C817E2645CE5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874797" y="5998691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&#10;&#10;Description automatically generated">
            <a:extLst>
              <a:ext uri="{FF2B5EF4-FFF2-40B4-BE49-F238E27FC236}">
                <ns2:creationId id="{323C633E-FBC6-BA2C-6E89-D6F1CF8790D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03372" y="3879702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15 / 24</a:t>
            </a:r>
          </a:p>
        </p:txBody>
      </p:sp>
    </p:spTree>
    <p:extLst>
      <p:ext uri="{BB962C8B-B14F-4D97-AF65-F5344CB8AC3E}">
        <ns3:creationId val="979347135"/>
      </p:ext>
    </p:extLst>
  </p:cSld>
  <p:clrMapOvr>
    <a:masterClrMapping/>
  </p:clrMapOvr>
</p:sld>
</file>

<file path=ppt/slides/slide16.xml><?xml version="1.0" encoding="utf-8"?>
<p:sld xmlns:a="http://schemas.openxmlformats.org/drawingml/2006/main" xmlns:ns2="http://schemas.microsoft.com/office/drawing/2014/main" xmlns:ns3="http://schemas.microsoft.com/office/powerpoint/2010/main" xmlns:ns4="http://schemas.microsoft.com/office/drawing/2010/main" xmlns:ns5="http://schemas.openxmlformats.org/drawingml/2006/chart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able 34">
            <a:extLst>
              <a:ext uri="{FF2B5EF4-FFF2-40B4-BE49-F238E27FC236}">
                <ns2:creationId id="{1B051920-9B91-BB7D-0B2E-EB0664244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1849827143"/>
              </p:ext>
            </p:extLst>
          </p:nvPr>
        </p:nvGraphicFramePr>
        <p:xfrm>
          <a:off x="212691" y="82627"/>
          <a:ext cx="6926523" cy="254257"/>
        </p:xfrm>
        <a:graphic>
          <a:graphicData uri="http://schemas.openxmlformats.org/drawingml/2006/table">
            <a:tbl>
              <a:tblPr firstRow="1" firstCol="1" bandRow="1"/>
              <a:tblGrid>
                <a:gridCol w="6926523">
                  <a:extLst>
                    <a:ext uri="{9D8B030D-6E8A-4147-A177-3AD203B41FA5}">
                      <ns2:colId val="2201429027"/>
                    </a:ext>
                  </a:extLst>
                </a:gridCol>
              </a:tblGrid>
              <a:tr h="25425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Bef>
                          <a:spcPts val="300"/>
                        </a:spcBef>
                        <a:spcAft>
                          <a:spcPts val="3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PAN INDIA PERFORMANCE</a:t>
                      </a:r>
                      <a:endParaRPr lang="en-IN" sz="8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30" marR="6583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4265016972"/>
                  </a:ext>
                </a:extLst>
              </a:tr>
            </a:tbl>
          </a:graphicData>
        </a:graphic>
      </p:graphicFrame>
      <p:grpSp>
        <p:nvGrpSpPr>
          <p:cNvPr id="59" name="Group 58">
            <a:extLst>
              <a:ext uri="{FF2B5EF4-FFF2-40B4-BE49-F238E27FC236}">
                <ns2:creationId id="{DD68EAEE-F80C-F3EC-109E-BA117E71D016}"/>
              </a:ext>
            </a:extLst>
          </p:cNvPr>
          <p:cNvGrpSpPr>
            <a:grpSpLocks/>
          </p:cNvGrpSpPr>
          <p:nvPr/>
        </p:nvGrpSpPr>
        <p:grpSpPr>
          <a:xfrm>
            <a:off x="212691" y="410876"/>
            <a:ext cx="1600200" cy="469900"/>
            <a:chOff x="0" y="0"/>
            <a:chExt cx="1600200" cy="469900"/>
          </a:xfrm>
        </p:grpSpPr>
        <p:sp>
          <p:nvSpPr>
            <p:cNvPr id="60" name="Graphic 251">
              <a:extLst>
                <a:ext uri="{FF2B5EF4-FFF2-40B4-BE49-F238E27FC236}">
                  <ns2:creationId id="{AE04FE27-F37C-FB01-7FB2-B2D33688B0BC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1" name="Graphic 252">
              <a:extLst>
                <a:ext uri="{FF2B5EF4-FFF2-40B4-BE49-F238E27FC236}">
                  <ns2:creationId id="{87A3E814-7336-FA22-3836-09A27F3A3FA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2" name="Textbox 253">
              <a:extLst>
                <a:ext uri="{FF2B5EF4-FFF2-40B4-BE49-F238E27FC236}">
                  <ns2:creationId id="{327D0D1E-52B7-0544-69AC-D27F67860192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May-26 Sales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208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ns2:creationId id="{6CF0896D-3C02-C329-D4D8-571E7F485B4D}"/>
              </a:ext>
            </a:extLst>
          </p:cNvPr>
          <p:cNvGrpSpPr>
            <a:grpSpLocks/>
          </p:cNvGrpSpPr>
          <p:nvPr/>
        </p:nvGrpSpPr>
        <p:grpSpPr>
          <a:xfrm>
            <a:off x="1988068" y="410876"/>
            <a:ext cx="1600200" cy="469900"/>
            <a:chOff x="0" y="0"/>
            <a:chExt cx="1600200" cy="469900"/>
          </a:xfrm>
        </p:grpSpPr>
        <p:sp>
          <p:nvSpPr>
            <p:cNvPr id="64" name="Graphic 255">
              <a:extLst>
                <a:ext uri="{FF2B5EF4-FFF2-40B4-BE49-F238E27FC236}">
                  <ns2:creationId id="{F5CE3C7F-BAA9-CD25-1598-3A30E0D6A453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5" name="Graphic 256">
              <a:extLst>
                <a:ext uri="{FF2B5EF4-FFF2-40B4-BE49-F238E27FC236}">
                  <ns2:creationId id="{35D43F11-7FFC-3438-380C-33F69E72795A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6" name="Textbox 257">
              <a:extLst>
                <a:ext uri="{FF2B5EF4-FFF2-40B4-BE49-F238E27FC236}">
                  <ns2:creationId id="{20C7EE75-3B4F-E74E-A5C0-CFE2D5A3D1CF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Zone Share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5.2%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ns2:creationId id="{A702DE7B-B820-9D9B-3797-7468D7DD4ECA}"/>
              </a:ext>
            </a:extLst>
          </p:cNvPr>
          <p:cNvGrpSpPr>
            <a:grpSpLocks/>
          </p:cNvGrpSpPr>
          <p:nvPr/>
        </p:nvGrpSpPr>
        <p:grpSpPr>
          <a:xfrm>
            <a:off x="3763445" y="409266"/>
            <a:ext cx="1600200" cy="469900"/>
            <a:chOff x="0" y="0"/>
            <a:chExt cx="1600200" cy="469900"/>
          </a:xfrm>
        </p:grpSpPr>
        <p:sp>
          <p:nvSpPr>
            <p:cNvPr id="68" name="Graphic 259">
              <a:extLst>
                <a:ext uri="{FF2B5EF4-FFF2-40B4-BE49-F238E27FC236}">
                  <ns2:creationId id="{4F59F74E-A9A3-A03B-6DF6-E1FC6CF5DCC4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69" name="Graphic 260">
              <a:extLst>
                <a:ext uri="{FF2B5EF4-FFF2-40B4-BE49-F238E27FC236}">
                  <ns2:creationId id="{21D51929-BD0B-81C1-A744-1E863136F4FD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0" name="Textbox 261">
              <a:extLst>
                <a:ext uri="{FF2B5EF4-FFF2-40B4-BE49-F238E27FC236}">
                  <ns2:creationId id="{42FA30A0-A741-6043-88F2-1A90ADD27414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L3M Avg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marR="17780" algn="ctr">
                <a:spcBef>
                  <a:spcPts val="135"/>
                </a:spcBef>
                <a:spcAft>
                  <a:spcPts val="0"/>
                </a:spcAft>
              </a:pPr>
              <a:r>
                <a:rPr lang="en-US" sz="16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190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grpSp>
        <p:nvGrpSpPr>
          <p:cNvPr id="71" name="Group 70">
            <a:extLst>
              <a:ext uri="{FF2B5EF4-FFF2-40B4-BE49-F238E27FC236}">
                <ns2:creationId id="{FF27C9CD-9B21-5E34-0C32-1AB5F84F55FD}"/>
              </a:ext>
            </a:extLst>
          </p:cNvPr>
          <p:cNvGrpSpPr>
            <a:grpSpLocks/>
          </p:cNvGrpSpPr>
          <p:nvPr/>
        </p:nvGrpSpPr>
        <p:grpSpPr>
          <a:xfrm>
            <a:off x="5539014" y="410910"/>
            <a:ext cx="1600200" cy="469900"/>
            <a:chOff x="0" y="0"/>
            <a:chExt cx="1600200" cy="469900"/>
          </a:xfrm>
        </p:grpSpPr>
        <p:sp>
          <p:nvSpPr>
            <p:cNvPr id="72" name="Graphic 263">
              <a:extLst>
                <a:ext uri="{FF2B5EF4-FFF2-40B4-BE49-F238E27FC236}">
                  <ns2:creationId id="{4E793049-DA48-496E-F528-84304A3FB08F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1511300" y="0"/>
                  </a:move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3" name="Graphic 264">
              <a:extLst>
                <a:ext uri="{FF2B5EF4-FFF2-40B4-BE49-F238E27FC236}">
                  <ns2:creationId id="{29227A2B-0582-AE0C-E8D7-1C924EB8D8CE}"/>
                </a:ext>
              </a:extLst>
            </p:cNvPr>
            <p:cNvSpPr/>
            <p:nvPr/>
          </p:nvSpPr>
          <p:spPr>
            <a:xfrm>
              <a:off x="6350" y="6350"/>
              <a:ext cx="1587500" cy="457200"/>
            </a:xfrm>
            <a:custGeom>
              <a:avLst/>
              <a:gdLst/>
              <a:ahLst/>
              <a:cxnLst/>
              <a:rect l="l" t="t" r="r" b="b"/>
              <a:pathLst>
                <a:path w="1587500" h="457200">
                  <a:moveTo>
                    <a:pt x="76200" y="457200"/>
                  </a:moveTo>
                  <a:lnTo>
                    <a:pt x="1511300" y="457200"/>
                  </a:lnTo>
                  <a:lnTo>
                    <a:pt x="1540977" y="451217"/>
                  </a:lnTo>
                  <a:lnTo>
                    <a:pt x="1565196" y="434896"/>
                  </a:lnTo>
                  <a:lnTo>
                    <a:pt x="1581517" y="410677"/>
                  </a:lnTo>
                  <a:lnTo>
                    <a:pt x="1587500" y="381000"/>
                  </a:lnTo>
                  <a:lnTo>
                    <a:pt x="1587500" y="76200"/>
                  </a:lnTo>
                  <a:lnTo>
                    <a:pt x="1581517" y="46522"/>
                  </a:lnTo>
                  <a:lnTo>
                    <a:pt x="1565196" y="22303"/>
                  </a:lnTo>
                  <a:lnTo>
                    <a:pt x="1540977" y="5982"/>
                  </a:lnTo>
                  <a:lnTo>
                    <a:pt x="1511300" y="0"/>
                  </a:lnTo>
                  <a:lnTo>
                    <a:pt x="76200" y="0"/>
                  </a:lnTo>
                  <a:lnTo>
                    <a:pt x="46522" y="5982"/>
                  </a:lnTo>
                  <a:lnTo>
                    <a:pt x="22303" y="22303"/>
                  </a:lnTo>
                  <a:lnTo>
                    <a:pt x="5982" y="46522"/>
                  </a:lnTo>
                  <a:lnTo>
                    <a:pt x="0" y="76200"/>
                  </a:lnTo>
                  <a:lnTo>
                    <a:pt x="0" y="381000"/>
                  </a:lnTo>
                  <a:lnTo>
                    <a:pt x="5982" y="410677"/>
                  </a:lnTo>
                  <a:lnTo>
                    <a:pt x="22303" y="434896"/>
                  </a:lnTo>
                  <a:lnTo>
                    <a:pt x="46522" y="451217"/>
                  </a:lnTo>
                  <a:lnTo>
                    <a:pt x="76200" y="457200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</a:endParaRPr>
            </a:p>
          </p:txBody>
        </p:sp>
        <p:sp>
          <p:nvSpPr>
            <p:cNvPr id="74" name="Textbox 265">
              <a:extLst>
                <a:ext uri="{FF2B5EF4-FFF2-40B4-BE49-F238E27FC236}">
                  <ns2:creationId id="{50672AAD-CBB1-4DA3-E51B-B8B2B09130C0}"/>
                </a:ext>
              </a:extLst>
            </p:cNvPr>
            <p:cNvSpPr txBox="1"/>
            <p:nvPr/>
          </p:nvSpPr>
          <p:spPr>
            <a:xfrm>
              <a:off x="0" y="0"/>
              <a:ext cx="1600200" cy="46990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 marL="17780" marR="17780" algn="ctr">
                <a:spcBef>
                  <a:spcPts val="590"/>
                </a:spcBef>
                <a:spcAft>
                  <a:spcPts val="0"/>
                </a:spcAft>
              </a:pPr>
              <a:r>
                <a:rPr lang="en-US" sz="900" dirty="0">
                  <a:ln w="0"/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+mj-lt"/>
                  <a:ea typeface="Calibri"/>
                  <a:cs typeface="Calibri"/>
                </a:rPr>
                <a:t>GOLY May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  <a:p>
              <a:pPr marL="17780" algn="ctr">
                <a:spcBef>
                  <a:spcPts val="55"/>
                </a:spcBef>
                <a:spcAft>
                  <a:spcPts val="0"/>
                </a:spcAft>
              </a:pPr>
              <a:r>
                <a:rPr sz="1600" b="1">
                  <a:solidFill>
                    <a:srgbClr val="008A3D"/>
                  </a:solidFill>
                  <a:latin typeface="+mj-lt"/>
                </a:rPr>
                <a:t>▲ 19%</a:t>
              </a:r>
              <a:endParaRPr lang="en-IN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75" name="Rectangle 48">
            <a:extLst>
              <a:ext uri="{FF2B5EF4-FFF2-40B4-BE49-F238E27FC236}">
                <ns2:creationId id="{D24FAE0C-145A-C9D7-74A8-D196DE7A8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875" y="4277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 sz="24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</a:endParaRPr>
          </a:p>
        </p:txBody>
      </p:sp>
      <p:sp>
        <p:nvSpPr>
          <p:cNvPr id="76" name="Rectangle 50">
            <a:extLst>
              <a:ext uri="{FF2B5EF4-FFF2-40B4-BE49-F238E27FC236}">
                <ns2:creationId id="{58CE6004-1D26-F9E4-E2B8-A5EF89D49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5442770"/>
            <a:ext cx="79419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7" name="Rectangle 52">
            <a:extLst>
              <a:ext uri="{FF2B5EF4-FFF2-40B4-BE49-F238E27FC236}">
                <ns2:creationId id="{6D038E4A-1677-969E-C704-197AFECF0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5912670"/>
            <a:ext cx="794194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8" name="Rectangle 54">
            <a:extLst>
              <a:ext uri="{FF2B5EF4-FFF2-40B4-BE49-F238E27FC236}">
                <ns2:creationId id="{BE172A64-5EBD-FF10-7C9B-66C88926AF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691" y="7372064"/>
            <a:ext cx="6926523" cy="40011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/>
              <a:cs typeface="Calibri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/>
                <a:cs typeface="Calibri" panose="02020603050405020304" pitchFamily="18" charset="0"/>
              </a:rPr>
              <a:t> 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79" name="Rectangle 56">
            <a:extLst>
              <a:ext uri="{FF2B5EF4-FFF2-40B4-BE49-F238E27FC236}">
                <ns2:creationId id="{E97D74F4-3FCA-35BE-70C0-931264144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67682" y="6867859"/>
            <a:ext cx="794194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sp>
        <p:nvSpPr>
          <p:cNvPr id="80" name="Textbox 268">
            <a:extLst>
              <a:ext uri="{FF2B5EF4-FFF2-40B4-BE49-F238E27FC236}">
                <ns2:creationId id="{1A2636FF-FA83-BDD9-A967-753B47792769}"/>
              </a:ext>
            </a:extLst>
          </p:cNvPr>
          <p:cNvSpPr txBox="1"/>
          <p:nvPr/>
        </p:nvSpPr>
        <p:spPr>
          <a:xfrm>
            <a:off x="212691" y="988226"/>
            <a:ext cx="6926523" cy="848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0" tIns="0" rIns="0" bIns="0" rtlCol="0" anchor="t">
            <a:noAutofit/>
          </a:bodyPr>
          <a:lstStyle/>
          <a:p>
            <a:pPr marL="127000">
              <a:spcBef>
                <a:spcPts val="600"/>
              </a:spcBef>
              <a:spcAft>
                <a:spcPts val="0"/>
              </a:spcAft>
            </a:pPr>
            <a:r>
              <a:rPr lang="en-US" sz="1100" b="1" dirty="0">
                <a:effectLst/>
                <a:latin typeface="+mj-lt"/>
                <a:ea typeface="Calibri"/>
                <a:cs typeface="Calibri"/>
              </a:rPr>
              <a:t>Key Performance </a:t>
            </a:r>
            <a:r>
              <a:rPr lang="en-US" sz="1100" b="1" spc="-10" dirty="0">
                <a:effectLst/>
                <a:latin typeface="+mj-lt"/>
                <a:ea typeface="Calibri"/>
                <a:cs typeface="Calibri"/>
              </a:rPr>
              <a:t>Highlights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>
              <a:spcBef>
                <a:spcPts val="105"/>
              </a:spcBef>
            </a:pPr>
            <a:r>
              <a:rPr lang="en-US" sz="1100" b="1" dirty="0">
                <a:effectLst/>
                <a:latin typeface="+mj-lt"/>
                <a:ea typeface="Calibri"/>
                <a:cs typeface="Calibri"/>
              </a:rPr>
              <a:t> 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tabLst>
                <a:tab pos="184150" algn="l"/>
              </a:tabLst>
            </a:pP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Zone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Record: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May-26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delivered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the</a:t>
            </a:r>
            <a:r>
              <a:rPr lang="en-US" sz="105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highest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month</a:t>
            </a:r>
            <a:r>
              <a:rPr lang="en-US" sz="1050" b="1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for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FSN</a:t>
            </a:r>
            <a:r>
              <a:rPr lang="en-US" sz="1050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at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solidFill>
                  <a:srgbClr val="0F756E"/>
                </a:solidFill>
                <a:effectLst/>
                <a:latin typeface="+mj-lt"/>
                <a:ea typeface="Calibri"/>
                <a:cs typeface="Calibri"/>
              </a:rPr>
              <a:t>208</a:t>
            </a:r>
            <a:r>
              <a:rPr lang="en-US" sz="1050" dirty="0">
                <a:solidFill>
                  <a:srgbClr val="0F162A"/>
                </a:solidFill>
                <a:effectLst/>
                <a:latin typeface="+mj-lt"/>
                <a:ea typeface="Calibri"/>
                <a:cs typeface="Calibri"/>
              </a:rPr>
              <a:t>,</a:t>
            </a:r>
            <a:r>
              <a:rPr lang="en-US" sz="1050" spc="40" dirty="0">
                <a:solidFill>
                  <a:srgbClr val="0F162A"/>
                </a:solidFill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contributing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b="1" dirty="0">
                <a:effectLst/>
                <a:latin typeface="+mj-lt"/>
                <a:ea typeface="Calibri"/>
                <a:cs typeface="Calibri"/>
              </a:rPr>
              <a:t>5.2%</a:t>
            </a:r>
            <a:r>
              <a:rPr lang="en-US" sz="1050" b="1" spc="45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to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total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dirty="0">
                <a:effectLst/>
                <a:latin typeface="+mj-lt"/>
                <a:ea typeface="Calibri"/>
                <a:cs typeface="Calibri"/>
              </a:rPr>
              <a:t>channel</a:t>
            </a:r>
            <a:r>
              <a:rPr lang="en-US" sz="1050" spc="40" dirty="0">
                <a:effectLst/>
                <a:latin typeface="+mj-lt"/>
                <a:ea typeface="Calibri"/>
                <a:cs typeface="Calibri"/>
              </a:rPr>
              <a:t> </a:t>
            </a:r>
            <a:r>
              <a:rPr lang="en-US" sz="1050" spc="-10" dirty="0">
                <a:effectLst/>
                <a:latin typeface="+mj-lt"/>
                <a:ea typeface="Calibri"/>
                <a:cs typeface="Calibri"/>
              </a:rPr>
              <a:t>sales.</a:t>
            </a:r>
            <a:endParaRPr lang="en-IN" dirty="0">
              <a:effectLst/>
              <a:latin typeface="+mj-lt"/>
              <a:ea typeface="Calibri"/>
              <a:cs typeface="Calibri"/>
            </a:endParaRPr>
          </a:p>
          <a:p>
            <a:pPr marL="184150" indent="-57150">
              <a:spcBef>
                <a:spcPts val="55"/>
              </a:spcBef>
              <a:spcAft>
                <a:spcPts val="0"/>
              </a:spcAft>
              <a:tabLst>
                <a:tab pos="184150" algn="l"/>
              </a:tabLst>
            </a:pPr>
            <a:r>
              <a:rPr sz="1050" b="1" dirty="0">
                <a:latin typeface="+mj-lt"/>
              </a:rPr>
              <a:t>Growth View: May-26 performance was </a:t>
            </a:r>
            <a:r>
              <a:rPr sz="1050" b="1" dirty="0">
                <a:solidFill>
                  <a:srgbClr val="008A3D"/>
                </a:solidFill>
                <a:latin typeface="+mj-lt"/>
              </a:rPr>
              <a:t>▲ 9%</a:t>
            </a:r>
            <a:r>
              <a:rPr sz="105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1050" b="1" dirty="0">
                <a:latin typeface="+mj-lt"/>
              </a:rPr>
              <a:t>vs L3M and </a:t>
            </a:r>
            <a:r>
              <a:rPr sz="1050" b="1" dirty="0">
                <a:solidFill>
                  <a:srgbClr val="008A3D"/>
                </a:solidFill>
                <a:latin typeface="+mj-lt"/>
              </a:rPr>
              <a:t>▲ 19%</a:t>
            </a:r>
            <a:r>
              <a:rPr sz="1050" b="1" dirty="0">
                <a:solidFill>
                  <a:srgbClr val="1C4DD8"/>
                </a:solidFill>
                <a:latin typeface="+mj-lt"/>
              </a:rPr>
              <a:t> </a:t>
            </a:r>
            <a:r>
              <a:rPr sz="1050" b="1" dirty="0">
                <a:latin typeface="+mj-lt"/>
              </a:rPr>
              <a:t>vs May-25, confirming Consistent strong month momentum.</a:t>
            </a:r>
            <a:endParaRPr lang="en-IN" sz="1400" dirty="0">
              <a:effectLst/>
              <a:latin typeface="+mj-lt"/>
              <a:ea typeface="Calibri"/>
              <a:cs typeface="Calibri"/>
            </a:endParaRPr>
          </a:p>
        </p:txBody>
      </p:sp>
      <p:sp>
        <p:nvSpPr>
          <p:cNvPr id="149" name="Shape 3">
            <a:extLst>
              <a:ext uri="{FF2B5EF4-FFF2-40B4-BE49-F238E27FC236}">
                <ns2:creationId id="{E2B15EBD-7C86-86AC-FD83-3C817A35F1E5}"/>
              </a:ext>
            </a:extLst>
          </p:cNvPr>
          <p:cNvSpPr/>
          <p:nvPr/>
        </p:nvSpPr>
        <p:spPr>
          <a:xfrm>
            <a:off x="212691" y="3473924"/>
            <a:ext cx="6926523" cy="256032"/>
          </a:xfrm>
          <a:prstGeom prst="rect">
            <a:avLst/>
          </a:prstGeom>
          <a:solidFill>
            <a:srgbClr val="2D9B7F"/>
          </a:solidFill>
          <a:ln w="12700">
            <a:solidFill>
              <a:srgbClr val="1F5A85"/>
            </a:solidFill>
            <a:prstDash val="solid"/>
          </a:ln>
        </p:spPr>
        <p:txBody>
          <a:bodyPr anchor="t"/>
          <a:lstStyle/>
          <a:p>
            <a:endParaRPr lang="en-IN">
              <a:latin typeface="+mj-lt"/>
            </a:endParaRPr>
          </a:p>
        </p:txBody>
      </p:sp>
      <p:sp>
        <p:nvSpPr>
          <p:cNvPr id="150" name="Text 4">
            <a:extLst>
              <a:ext uri="{FF2B5EF4-FFF2-40B4-BE49-F238E27FC236}">
                <ns2:creationId id="{E090B056-5AAD-CC5C-BB09-77FB607FB2B4}"/>
              </a:ext>
            </a:extLst>
          </p:cNvPr>
          <p:cNvSpPr/>
          <p:nvPr/>
        </p:nvSpPr>
        <p:spPr>
          <a:xfrm>
            <a:off x="212691" y="3537932"/>
            <a:ext cx="6926523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80" b="1" dirty="0">
                <a:solidFill>
                  <a:srgbClr val="FFFFFF"/>
                </a:solidFill>
                <a:latin typeface="+mj-lt"/>
              </a:rPr>
              <a:t>FSN | Mamaearth — Top 3 Sub-category Monthly Trend (NSV)</a:t>
            </a:r>
            <a:endParaRPr lang="en-US" sz="780" dirty="0">
              <a:latin typeface="+mj-lt"/>
            </a:endParaRPr>
          </a:p>
        </p:txBody>
      </p:sp>
      <p:sp>
        <p:nvSpPr>
          <p:cNvPr id="151" name="Text 5">
            <a:extLst>
              <a:ext uri="{FF2B5EF4-FFF2-40B4-BE49-F238E27FC236}">
                <ns2:creationId id="{8DC1552C-E149-4A10-28F5-0A4785E39F2D}"/>
              </a:ext>
            </a:extLst>
          </p:cNvPr>
          <p:cNvSpPr/>
          <p:nvPr/>
        </p:nvSpPr>
        <p:spPr>
          <a:xfrm>
            <a:off x="323599" y="382768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1100" dirty="0">
              <a:latin typeface="+mj-lt"/>
            </a:endParaRPr>
          </a:p>
        </p:txBody>
      </p:sp>
      <p:sp>
        <p:nvSpPr>
          <p:cNvPr id="152" name="Text 6">
            <a:extLst>
              <a:ext uri="{FF2B5EF4-FFF2-40B4-BE49-F238E27FC236}">
                <ns2:creationId id="{68B7E644-F756-EB08-51D0-E4BBD2584EB3}"/>
              </a:ext>
            </a:extLst>
          </p:cNvPr>
          <p:cNvSpPr/>
          <p:nvPr/>
        </p:nvSpPr>
        <p:spPr>
          <a:xfrm>
            <a:off x="733088" y="3852861"/>
            <a:ext cx="372097" cy="242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36%</a:t>
            </a:r>
            <a:endParaRPr lang="en-US" sz="900" dirty="0">
              <a:latin typeface="+mj-lt"/>
            </a:endParaRPr>
          </a:p>
        </p:txBody>
      </p:sp>
      <p:sp>
        <p:nvSpPr>
          <p:cNvPr id="153" name="Text 7">
            <a:extLst>
              <a:ext uri="{FF2B5EF4-FFF2-40B4-BE49-F238E27FC236}">
                <ns2:creationId id="{E90F34B8-D653-A710-F866-1BC3E6964F9D}"/>
              </a:ext>
            </a:extLst>
          </p:cNvPr>
          <p:cNvSpPr/>
          <p:nvPr/>
        </p:nvSpPr>
        <p:spPr>
          <a:xfrm>
            <a:off x="1292031" y="3846546"/>
            <a:ext cx="372097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 3%</a:t>
            </a:r>
            <a:endParaRPr lang="en-US" sz="900" dirty="0">
              <a:latin typeface="+mj-lt"/>
            </a:endParaRPr>
          </a:p>
        </p:txBody>
      </p:sp>
      <p:sp>
        <p:nvSpPr>
          <p:cNvPr id="154" name="Text 8">
            <a:extLst>
              <a:ext uri="{FF2B5EF4-FFF2-40B4-BE49-F238E27FC236}">
                <ns2:creationId id="{3CB5B5FD-F962-33DF-877C-0AE18D2CE328}"/>
              </a:ext>
            </a:extLst>
          </p:cNvPr>
          <p:cNvSpPr/>
          <p:nvPr/>
        </p:nvSpPr>
        <p:spPr>
          <a:xfrm>
            <a:off x="1843055" y="3885404"/>
            <a:ext cx="509783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96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55" name="Chart 0">
            <a:extLst>
              <a:ext uri="{FF2B5EF4-FFF2-40B4-BE49-F238E27FC236}">
                <ns2:creationId id="{C3EABDE2-E03A-721E-0AE3-C104F928F4F3}"/>
              </a:ext>
            </a:extLst>
          </p:cNvPr>
          <p:cNvGraphicFramePr/>
          <p:nvPr>
            <p:extLst>
              <p:ext uri="{D42A27DB-BD31-4B8C-83A1-F6EECF244321}">
                <ns3:modId val="2153945864"/>
              </p:ext>
            </p:extLst>
          </p:nvPr>
        </p:nvGraphicFramePr>
        <p:xfrm>
          <a:off x="206934" y="3823862"/>
          <a:ext cx="2145904" cy="1544487"/>
        </p:xfrm>
        <a:graphic>
          <a:graphicData uri="http://schemas.openxmlformats.org/drawingml/2006/chart">
            <ns5:chart r:id="rId2"/>
          </a:graphicData>
        </a:graphic>
      </p:graphicFrame>
      <p:sp>
        <p:nvSpPr>
          <p:cNvPr id="156" name="Text 9">
            <a:extLst>
              <a:ext uri="{FF2B5EF4-FFF2-40B4-BE49-F238E27FC236}">
                <ns2:creationId id="{5BEBD7FD-7A2C-AC1D-76B9-D5B4A0E4DD0C}"/>
              </a:ext>
            </a:extLst>
          </p:cNvPr>
          <p:cNvSpPr/>
          <p:nvPr/>
        </p:nvSpPr>
        <p:spPr>
          <a:xfrm>
            <a:off x="2618118" y="3885404"/>
            <a:ext cx="578157" cy="2032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Shampoo</a:t>
            </a:r>
            <a:endParaRPr lang="en-US" sz="900" dirty="0">
              <a:latin typeface="+mj-lt"/>
            </a:endParaRPr>
          </a:p>
        </p:txBody>
      </p:sp>
      <p:sp>
        <p:nvSpPr>
          <p:cNvPr id="157" name="Text 10">
            <a:extLst>
              <a:ext uri="{FF2B5EF4-FFF2-40B4-BE49-F238E27FC236}">
                <ns2:creationId id="{1E0A7551-8419-9F78-49C5-64130D89CF32}"/>
              </a:ext>
            </a:extLst>
          </p:cNvPr>
          <p:cNvSpPr/>
          <p:nvPr/>
        </p:nvSpPr>
        <p:spPr>
          <a:xfrm>
            <a:off x="3210825" y="3875509"/>
            <a:ext cx="372097" cy="196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FF0000"/>
                </a:solidFill>
                <a:latin typeface="+mj-lt"/>
              </a:rPr>
              <a:t>GOLY </a:t>
            </a:r>
            <a:r>
              <a:rPr sz="900" b="1" dirty="0">
                <a:solidFill>
                  <a:srgbClr val="FF0000"/>
                </a:solidFill>
                <a:latin typeface="+mj-lt"/>
              </a:rPr>
              <a:t>▼ 3%</a:t>
            </a:r>
            <a:endParaRPr lang="en-US" sz="9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58" name="Text 11">
            <a:extLst>
              <a:ext uri="{FF2B5EF4-FFF2-40B4-BE49-F238E27FC236}">
                <ns2:creationId id="{A6E4DFA5-8AF1-66E3-AB74-1643CD5B917D}"/>
              </a:ext>
            </a:extLst>
          </p:cNvPr>
          <p:cNvSpPr/>
          <p:nvPr/>
        </p:nvSpPr>
        <p:spPr>
          <a:xfrm>
            <a:off x="3615344" y="3871688"/>
            <a:ext cx="372097" cy="2473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0000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FF0000"/>
                </a:solidFill>
                <a:latin typeface="+mj-lt"/>
              </a:rPr>
              <a:t>▼ 1%</a:t>
            </a:r>
            <a:endParaRPr lang="en-US" sz="9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59" name="Text 12">
            <a:extLst>
              <a:ext uri="{FF2B5EF4-FFF2-40B4-BE49-F238E27FC236}">
                <ns2:creationId id="{0002D543-8B74-7800-B3E0-CCAA6D0B22FA}"/>
              </a:ext>
            </a:extLst>
          </p:cNvPr>
          <p:cNvSpPr/>
          <p:nvPr/>
        </p:nvSpPr>
        <p:spPr>
          <a:xfrm>
            <a:off x="4086807" y="3873841"/>
            <a:ext cx="413442" cy="242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14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0" name="Chart 1">
            <a:extLst>
              <a:ext uri="{FF2B5EF4-FFF2-40B4-BE49-F238E27FC236}">
                <ns2:creationId id="{498335C8-87FE-1BF3-E55D-7F3682FE88D1}"/>
              </a:ext>
            </a:extLst>
          </p:cNvPr>
          <p:cNvGraphicFramePr/>
          <p:nvPr>
            <p:extLst>
              <p:ext uri="{D42A27DB-BD31-4B8C-83A1-F6EECF244321}">
                <ns3:modId val="1767063866"/>
              </p:ext>
            </p:extLst>
          </p:nvPr>
        </p:nvGraphicFramePr>
        <p:xfrm>
          <a:off x="2462348" y="3819086"/>
          <a:ext cx="2269291" cy="1555305"/>
        </p:xfrm>
        <a:graphic>
          <a:graphicData uri="http://schemas.openxmlformats.org/drawingml/2006/chart">
            <ns5:chart r:id="rId3"/>
          </a:graphicData>
        </a:graphic>
      </p:graphicFrame>
      <p:sp>
        <p:nvSpPr>
          <p:cNvPr id="161" name="Text 13">
            <a:extLst>
              <a:ext uri="{FF2B5EF4-FFF2-40B4-BE49-F238E27FC236}">
                <ns2:creationId id="{AE81E6A1-E294-CD2E-3731-74E6402A61FF}"/>
              </a:ext>
            </a:extLst>
          </p:cNvPr>
          <p:cNvSpPr/>
          <p:nvPr/>
        </p:nvSpPr>
        <p:spPr>
          <a:xfrm>
            <a:off x="4943104" y="3871688"/>
            <a:ext cx="537475" cy="1872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Care</a:t>
            </a:r>
            <a:endParaRPr lang="en-US" sz="900" dirty="0">
              <a:latin typeface="+mj-lt"/>
            </a:endParaRPr>
          </a:p>
        </p:txBody>
      </p:sp>
      <p:sp>
        <p:nvSpPr>
          <p:cNvPr id="162" name="Text 14">
            <a:extLst>
              <a:ext uri="{FF2B5EF4-FFF2-40B4-BE49-F238E27FC236}">
                <ns2:creationId id="{27F9A9D8-519D-AC19-D616-44CAE0D43FD1}"/>
              </a:ext>
            </a:extLst>
          </p:cNvPr>
          <p:cNvSpPr/>
          <p:nvPr/>
        </p:nvSpPr>
        <p:spPr>
          <a:xfrm>
            <a:off x="5427322" y="3848028"/>
            <a:ext cx="615164" cy="244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sz="900" dirty="0">
                <a:solidFill>
                  <a:srgbClr val="2E8B57"/>
                </a:solidFill>
                <a:latin typeface="+mj-lt"/>
              </a:rPr>
              <a:t>GOLY </a:t>
            </a:r>
            <a:r>
              <a:rPr sz="900" b="1" dirty="0">
                <a:solidFill>
                  <a:srgbClr val="008A3D"/>
                </a:solidFill>
                <a:latin typeface="+mj-lt"/>
              </a:rPr>
              <a:t>▲ 28%</a:t>
            </a:r>
            <a:endParaRPr lang="en-US" sz="900" dirty="0">
              <a:latin typeface="+mj-lt"/>
            </a:endParaRPr>
          </a:p>
        </p:txBody>
      </p:sp>
      <p:sp>
        <p:nvSpPr>
          <p:cNvPr id="163" name="Text 15">
            <a:extLst>
              <a:ext uri="{FF2B5EF4-FFF2-40B4-BE49-F238E27FC236}">
                <ns2:creationId id="{25E789B0-F22E-6189-F81D-C18A4F30CC76}"/>
              </a:ext>
            </a:extLst>
          </p:cNvPr>
          <p:cNvSpPr/>
          <p:nvPr/>
        </p:nvSpPr>
        <p:spPr>
          <a:xfrm>
            <a:off x="6075171" y="3845068"/>
            <a:ext cx="372097" cy="2535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0000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FF0000"/>
                </a:solidFill>
                <a:latin typeface="+mj-lt"/>
              </a:rPr>
              <a:t>▼ 23%</a:t>
            </a:r>
            <a:endParaRPr lang="en-US" sz="9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64" name="Text 16">
            <a:extLst>
              <a:ext uri="{FF2B5EF4-FFF2-40B4-BE49-F238E27FC236}">
                <ns2:creationId id="{B7F3446D-2E00-77C7-5921-C34968E8F7B7}"/>
              </a:ext>
            </a:extLst>
          </p:cNvPr>
          <p:cNvSpPr/>
          <p:nvPr/>
        </p:nvSpPr>
        <p:spPr>
          <a:xfrm>
            <a:off x="6552875" y="3885403"/>
            <a:ext cx="413442" cy="2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29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65" name="Chart 2">
            <a:extLst>
              <a:ext uri="{FF2B5EF4-FFF2-40B4-BE49-F238E27FC236}">
                <ns2:creationId id="{E29320C6-4ABC-47AD-CAC6-8C1A6CA6E8C5}"/>
              </a:ext>
            </a:extLst>
          </p:cNvPr>
          <p:cNvGraphicFramePr/>
          <p:nvPr>
            <p:extLst>
              <p:ext uri="{D42A27DB-BD31-4B8C-83A1-F6EECF244321}">
                <ns3:modId val="2621494362"/>
              </p:ext>
            </p:extLst>
          </p:nvPr>
        </p:nvGraphicFramePr>
        <p:xfrm>
          <a:off x="4846340" y="3822048"/>
          <a:ext cx="2321450" cy="1578218"/>
        </p:xfrm>
        <a:graphic>
          <a:graphicData uri="http://schemas.openxmlformats.org/drawingml/2006/chart">
            <ns5:chart r:id="rId4"/>
          </a:graphicData>
        </a:graphic>
      </p:graphicFrame>
      <p:sp>
        <p:nvSpPr>
          <p:cNvPr id="166" name="Shape 17">
            <a:extLst>
              <a:ext uri="{FF2B5EF4-FFF2-40B4-BE49-F238E27FC236}">
                <ns2:creationId id="{0C37FB05-75B7-65DE-A1B1-F44B76B917B2}"/>
              </a:ext>
            </a:extLst>
          </p:cNvPr>
          <p:cNvSpPr/>
          <p:nvPr/>
        </p:nvSpPr>
        <p:spPr>
          <a:xfrm>
            <a:off x="212691" y="5470073"/>
            <a:ext cx="6926523" cy="323487"/>
          </a:xfrm>
          <a:prstGeom prst="rect">
            <a:avLst/>
          </a:prstGeom>
          <a:solidFill>
            <a:srgbClr val="2D9B7F"/>
          </a:solidFill>
          <a:ln w="12700">
            <a:solidFill>
              <a:srgbClr val="23633A"/>
            </a:solidFill>
            <a:prstDash val="solid"/>
          </a:ln>
        </p:spPr>
        <p:txBody>
          <a:bodyPr anchor="t"/>
          <a:lstStyle/>
          <a:p>
            <a:endParaRPr lang="en-IN" dirty="0">
              <a:latin typeface="+mj-lt"/>
            </a:endParaRPr>
          </a:p>
        </p:txBody>
      </p:sp>
      <p:sp>
        <p:nvSpPr>
          <p:cNvPr id="167" name="Text 18">
            <a:extLst>
              <a:ext uri="{FF2B5EF4-FFF2-40B4-BE49-F238E27FC236}">
                <ns2:creationId id="{606509AD-D1A3-4CFF-7031-2BD01F460E84}"/>
              </a:ext>
            </a:extLst>
          </p:cNvPr>
          <p:cNvSpPr/>
          <p:nvPr/>
        </p:nvSpPr>
        <p:spPr>
          <a:xfrm>
            <a:off x="212691" y="5468644"/>
            <a:ext cx="6926523" cy="318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+mj-lt"/>
              </a:rPr>
              <a:t>FSN | The Derma Co. — Top 3 Sub-category Monthly Trend (NSV)</a:t>
            </a:r>
            <a:endParaRPr lang="en-US" sz="1100" dirty="0">
              <a:latin typeface="+mj-lt"/>
            </a:endParaRPr>
          </a:p>
        </p:txBody>
      </p:sp>
      <p:sp>
        <p:nvSpPr>
          <p:cNvPr id="168" name="Text 19">
            <a:extLst>
              <a:ext uri="{FF2B5EF4-FFF2-40B4-BE49-F238E27FC236}">
                <ns2:creationId id="{A8BC9F08-BB7E-07CC-C7BE-53E76EB85511}"/>
              </a:ext>
            </a:extLst>
          </p:cNvPr>
          <p:cNvSpPr/>
          <p:nvPr/>
        </p:nvSpPr>
        <p:spPr>
          <a:xfrm>
            <a:off x="278344" y="5927181"/>
            <a:ext cx="397538" cy="2438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FW</a:t>
            </a:r>
            <a:endParaRPr lang="en-US" sz="900" dirty="0">
              <a:latin typeface="+mj-lt"/>
            </a:endParaRPr>
          </a:p>
        </p:txBody>
      </p:sp>
      <p:sp>
        <p:nvSpPr>
          <p:cNvPr id="169" name="Text 20">
            <a:extLst>
              <a:ext uri="{FF2B5EF4-FFF2-40B4-BE49-F238E27FC236}">
                <ns2:creationId id="{CC6466FF-9DFE-712B-2E6C-63C9594ED3C1}"/>
              </a:ext>
            </a:extLst>
          </p:cNvPr>
          <p:cNvSpPr/>
          <p:nvPr/>
        </p:nvSpPr>
        <p:spPr>
          <a:xfrm>
            <a:off x="607560" y="5957217"/>
            <a:ext cx="445541" cy="215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</a:t>
            </a:r>
          </a:p>
          <a:p>
            <a:pPr marL="0" indent="0" algn="ctr">
              <a:buNone/>
            </a:pPr>
            <a:r>
              <a:rPr sz="900">
                <a:solidFill>
                  <a:srgbClr val="2E8B57"/>
                </a:solidFill>
                <a:latin typeface="+mj-lt"/>
              </a:rPr>
              <a:t> </a:t>
            </a:r>
            <a:r>
              <a:rPr sz="900" b="1">
                <a:solidFill>
                  <a:srgbClr val="008A3D"/>
                </a:solidFill>
                <a:latin typeface="+mj-lt"/>
              </a:rPr>
              <a:t>▲289%</a:t>
            </a:r>
            <a:endParaRPr lang="en-US" sz="900" dirty="0">
              <a:latin typeface="+mj-lt"/>
            </a:endParaRPr>
          </a:p>
        </p:txBody>
      </p:sp>
      <p:sp>
        <p:nvSpPr>
          <p:cNvPr id="170" name="Text 21">
            <a:extLst>
              <a:ext uri="{FF2B5EF4-FFF2-40B4-BE49-F238E27FC236}">
                <ns2:creationId id="{6553EC6E-D91D-B6B7-81E0-5D554EF96509}"/>
              </a:ext>
            </a:extLst>
          </p:cNvPr>
          <p:cNvSpPr/>
          <p:nvPr/>
        </p:nvSpPr>
        <p:spPr>
          <a:xfrm>
            <a:off x="1180857" y="5933593"/>
            <a:ext cx="406179" cy="243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0000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FF0000"/>
                </a:solidFill>
                <a:latin typeface="+mj-lt"/>
              </a:rPr>
              <a:t>▼ 6%</a:t>
            </a:r>
            <a:endParaRPr lang="en-US" sz="9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71" name="Text 22">
            <a:extLst>
              <a:ext uri="{FF2B5EF4-FFF2-40B4-BE49-F238E27FC236}">
                <ns2:creationId id="{21E44F12-56F2-0F79-99BF-12D5FEBEA9AE}"/>
              </a:ext>
            </a:extLst>
          </p:cNvPr>
          <p:cNvSpPr/>
          <p:nvPr/>
        </p:nvSpPr>
        <p:spPr>
          <a:xfrm>
            <a:off x="1555785" y="5933594"/>
            <a:ext cx="496442" cy="2433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14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2" name="Chart 3">
            <a:extLst>
              <a:ext uri="{FF2B5EF4-FFF2-40B4-BE49-F238E27FC236}">
                <ns2:creationId id="{A04A165C-0A2C-703B-D787-4F0EA0143E90}"/>
              </a:ext>
            </a:extLst>
          </p:cNvPr>
          <p:cNvGraphicFramePr/>
          <p:nvPr>
            <p:extLst>
              <p:ext uri="{D42A27DB-BD31-4B8C-83A1-F6EECF244321}">
                <ns3:modId val="2620544212"/>
              </p:ext>
            </p:extLst>
          </p:nvPr>
        </p:nvGraphicFramePr>
        <p:xfrm>
          <a:off x="202493" y="5866606"/>
          <a:ext cx="2202696" cy="1494401"/>
        </p:xfrm>
        <a:graphic>
          <a:graphicData uri="http://schemas.openxmlformats.org/drawingml/2006/chart">
            <ns5:chart r:id="rId5"/>
          </a:graphicData>
        </a:graphic>
      </p:graphicFrame>
      <p:sp>
        <p:nvSpPr>
          <p:cNvPr id="173" name="Text 23">
            <a:extLst>
              <a:ext uri="{FF2B5EF4-FFF2-40B4-BE49-F238E27FC236}">
                <ns2:creationId id="{D7CD4F3F-DA69-AB5C-19FC-40054C6226BA}"/>
              </a:ext>
            </a:extLst>
          </p:cNvPr>
          <p:cNvSpPr/>
          <p:nvPr/>
        </p:nvSpPr>
        <p:spPr>
          <a:xfrm>
            <a:off x="2564343" y="5927180"/>
            <a:ext cx="541573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Sun Care</a:t>
            </a:r>
            <a:endParaRPr lang="en-US" sz="900" dirty="0">
              <a:latin typeface="+mj-lt"/>
            </a:endParaRPr>
          </a:p>
        </p:txBody>
      </p:sp>
      <p:sp>
        <p:nvSpPr>
          <p:cNvPr id="174" name="Text 24">
            <a:extLst>
              <a:ext uri="{FF2B5EF4-FFF2-40B4-BE49-F238E27FC236}">
                <ns2:creationId id="{1D10C6E1-4BAF-BC01-C799-C47AB1F5027D}"/>
              </a:ext>
            </a:extLst>
          </p:cNvPr>
          <p:cNvSpPr/>
          <p:nvPr/>
        </p:nvSpPr>
        <p:spPr>
          <a:xfrm>
            <a:off x="3133841" y="5994624"/>
            <a:ext cx="447960" cy="20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2E8B57"/>
                </a:solidFill>
                <a:latin typeface="+mj-lt"/>
              </a:rPr>
              <a:t>GOLY </a:t>
            </a:r>
          </a:p>
          <a:p>
            <a:pPr marL="0" indent="0" algn="ctr">
              <a:buNone/>
            </a:pPr>
            <a:r>
              <a:rPr sz="900" b="1">
                <a:solidFill>
                  <a:srgbClr val="008A3D"/>
                </a:solidFill>
                <a:latin typeface="+mj-lt"/>
              </a:rPr>
              <a:t>▲21%</a:t>
            </a:r>
            <a:endParaRPr lang="en-US" sz="900" dirty="0">
              <a:latin typeface="+mj-lt"/>
            </a:endParaRPr>
          </a:p>
        </p:txBody>
      </p:sp>
      <p:sp>
        <p:nvSpPr>
          <p:cNvPr id="175" name="Text 25">
            <a:extLst>
              <a:ext uri="{FF2B5EF4-FFF2-40B4-BE49-F238E27FC236}">
                <ns2:creationId id="{7646A250-EE9F-A6C6-49D3-68B6D3DFBFDE}"/>
              </a:ext>
            </a:extLst>
          </p:cNvPr>
          <p:cNvSpPr/>
          <p:nvPr/>
        </p:nvSpPr>
        <p:spPr>
          <a:xfrm>
            <a:off x="3615344" y="5957217"/>
            <a:ext cx="406179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0000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FF0000"/>
                </a:solidFill>
                <a:latin typeface="+mj-lt"/>
              </a:rPr>
              <a:t>▼ 25%</a:t>
            </a:r>
            <a:endParaRPr lang="en-US" sz="9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76" name="Text 26">
            <a:extLst>
              <a:ext uri="{FF2B5EF4-FFF2-40B4-BE49-F238E27FC236}">
                <ns2:creationId id="{DB185B2C-DCD9-D290-C330-3A33EAC025C5}"/>
              </a:ext>
            </a:extLst>
          </p:cNvPr>
          <p:cNvSpPr/>
          <p:nvPr/>
        </p:nvSpPr>
        <p:spPr>
          <a:xfrm>
            <a:off x="4144390" y="5962804"/>
            <a:ext cx="511364" cy="243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May’26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12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77" name="Chart 4">
            <a:extLst>
              <a:ext uri="{FF2B5EF4-FFF2-40B4-BE49-F238E27FC236}">
                <ns2:creationId id="{CBBF5C82-1DBC-BF6C-CAEA-410BB465C0A3}"/>
              </a:ext>
            </a:extLst>
          </p:cNvPr>
          <p:cNvGraphicFramePr/>
          <p:nvPr>
            <p:extLst>
              <p:ext uri="{D42A27DB-BD31-4B8C-83A1-F6EECF244321}">
                <ns3:modId val="469922085"/>
              </p:ext>
            </p:extLst>
          </p:nvPr>
        </p:nvGraphicFramePr>
        <p:xfrm>
          <a:off x="2481652" y="5883569"/>
          <a:ext cx="2202539" cy="1541398"/>
        </p:xfrm>
        <a:graphic>
          <a:graphicData uri="http://schemas.openxmlformats.org/drawingml/2006/chart">
            <ns5:chart r:id="rId6"/>
          </a:graphicData>
        </a:graphic>
      </p:graphicFrame>
      <p:sp>
        <p:nvSpPr>
          <p:cNvPr id="178" name="Text 27">
            <a:extLst>
              <a:ext uri="{FF2B5EF4-FFF2-40B4-BE49-F238E27FC236}">
                <ns2:creationId id="{038BADD0-EAC6-F8D6-7B12-BE177A9DAD4D}"/>
              </a:ext>
            </a:extLst>
          </p:cNvPr>
          <p:cNvSpPr/>
          <p:nvPr/>
        </p:nvSpPr>
        <p:spPr>
          <a:xfrm>
            <a:off x="5022988" y="5906220"/>
            <a:ext cx="457591" cy="270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Face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11827"/>
                </a:solidFill>
                <a:latin typeface="+mj-lt"/>
              </a:rPr>
              <a:t>Serum</a:t>
            </a:r>
            <a:endParaRPr lang="en-US" sz="900" dirty="0">
              <a:latin typeface="+mj-lt"/>
            </a:endParaRPr>
          </a:p>
        </p:txBody>
      </p:sp>
      <p:sp>
        <p:nvSpPr>
          <p:cNvPr id="179" name="Text 28">
            <a:extLst>
              <a:ext uri="{FF2B5EF4-FFF2-40B4-BE49-F238E27FC236}">
                <ns2:creationId id="{024D5F40-BAD0-9683-DBAB-2A9FEAA024FA}"/>
              </a:ext>
            </a:extLst>
          </p:cNvPr>
          <p:cNvSpPr/>
          <p:nvPr/>
        </p:nvSpPr>
        <p:spPr>
          <a:xfrm>
            <a:off x="5567649" y="5919050"/>
            <a:ext cx="439416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GOLY</a:t>
            </a:r>
          </a:p>
          <a:p>
            <a:pPr marL="0" indent="0" algn="ctr">
              <a:buNone/>
            </a:pPr>
            <a:r>
              <a:rPr sz="9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 </a:t>
            </a:r>
            <a:r>
              <a:rPr sz="900" b="1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▲ 9%</a:t>
            </a:r>
            <a:endParaRPr lang="en-US" sz="9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80" name="Text 29">
            <a:extLst>
              <a:ext uri="{FF2B5EF4-FFF2-40B4-BE49-F238E27FC236}">
                <ns2:creationId id="{631DEBF0-39A6-7D0F-BA14-F1B18161FDD2}"/>
              </a:ext>
            </a:extLst>
          </p:cNvPr>
          <p:cNvSpPr/>
          <p:nvPr/>
        </p:nvSpPr>
        <p:spPr>
          <a:xfrm>
            <a:off x="6085150" y="5920716"/>
            <a:ext cx="406179" cy="249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0000"/>
                </a:solidFill>
                <a:latin typeface="+mj-lt"/>
              </a:rPr>
              <a:t>MoM </a:t>
            </a:r>
          </a:p>
          <a:p>
            <a:pPr marL="0" indent="0" algn="ctr">
              <a:buNone/>
            </a:pPr>
            <a:r>
              <a:rPr sz="900" b="1" dirty="0">
                <a:solidFill>
                  <a:srgbClr val="FF0000"/>
                </a:solidFill>
                <a:latin typeface="+mj-lt"/>
              </a:rPr>
              <a:t>▼ 26%</a:t>
            </a:r>
            <a:endParaRPr lang="en-US" sz="9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181" name="Text 30">
            <a:extLst>
              <a:ext uri="{FF2B5EF4-FFF2-40B4-BE49-F238E27FC236}">
                <ns2:creationId id="{F69669F6-2C5B-9CCF-FC00-E39EBA2DF5E4}"/>
              </a:ext>
            </a:extLst>
          </p:cNvPr>
          <p:cNvSpPr/>
          <p:nvPr/>
        </p:nvSpPr>
        <p:spPr>
          <a:xfrm>
            <a:off x="6569415" y="5927181"/>
            <a:ext cx="451311" cy="243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May'26 </a:t>
            </a:r>
          </a:p>
          <a:p>
            <a:pPr marL="0" indent="0" algn="ctr">
              <a:buNone/>
            </a:pPr>
            <a:r>
              <a:rPr lang="en-US" sz="900" b="1" dirty="0">
                <a:solidFill>
                  <a:srgbClr val="1E293B"/>
                </a:solidFill>
                <a:latin typeface="+mj-lt"/>
              </a:rPr>
              <a:t>10</a:t>
            </a:r>
            <a:endParaRPr lang="en-US" sz="900" dirty="0">
              <a:latin typeface="+mj-lt"/>
            </a:endParaRPr>
          </a:p>
        </p:txBody>
      </p:sp>
      <p:graphicFrame>
        <p:nvGraphicFramePr>
          <p:cNvPr id="182" name="Chart 5">
            <a:extLst>
              <a:ext uri="{FF2B5EF4-FFF2-40B4-BE49-F238E27FC236}">
                <ns2:creationId id="{39E95149-09DC-244B-A1A2-AB5A022BF0EF}"/>
              </a:ext>
            </a:extLst>
          </p:cNvPr>
          <p:cNvGraphicFramePr/>
          <p:nvPr>
            <p:extLst>
              <p:ext uri="{D42A27DB-BD31-4B8C-83A1-F6EECF244321}">
                <ns3:modId val="2336568867"/>
              </p:ext>
            </p:extLst>
          </p:nvPr>
        </p:nvGraphicFramePr>
        <p:xfrm>
          <a:off x="4885674" y="5849534"/>
          <a:ext cx="2202539" cy="1533409"/>
        </p:xfrm>
        <a:graphic>
          <a:graphicData uri="http://schemas.openxmlformats.org/drawingml/2006/chart">
            <ns5:chart r:id="rId7"/>
          </a:graphicData>
        </a:graphic>
      </p:graphicFrame>
      <p:graphicFrame>
        <p:nvGraphicFramePr>
          <p:cNvPr id="191" name="Table 190">
            <a:extLst>
              <a:ext uri="{FF2B5EF4-FFF2-40B4-BE49-F238E27FC236}">
                <ns2:creationId id="{01C4CE9C-7CF2-0375-6C71-4739F8695A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010544273"/>
              </p:ext>
            </p:extLst>
          </p:nvPr>
        </p:nvGraphicFramePr>
        <p:xfrm>
          <a:off x="212691" y="1934878"/>
          <a:ext cx="6926523" cy="1515139"/>
        </p:xfrm>
        <a:graphic>
          <a:graphicData uri="http://schemas.openxmlformats.org/drawingml/2006/table">
            <a:tbl>
              <a:tblPr firstRow="1" firstCol="1" bandRow="1"/>
              <a:tblGrid>
                <a:gridCol w="1176477">
                  <a:extLst>
                    <a:ext uri="{9D8B030D-6E8A-4147-A177-3AD203B41FA5}">
                      <ns2:colId val="1720933068"/>
                    </a:ext>
                  </a:extLst>
                </a:gridCol>
                <a:gridCol w="601370">
                  <a:extLst>
                    <a:ext uri="{9D8B030D-6E8A-4147-A177-3AD203B41FA5}">
                      <ns2:colId val="2630805108"/>
                    </a:ext>
                  </a:extLst>
                </a:gridCol>
                <a:gridCol w="790523">
                  <a:extLst>
                    <a:ext uri="{9D8B030D-6E8A-4147-A177-3AD203B41FA5}">
                      <ns2:colId val="1295913063"/>
                    </a:ext>
                  </a:extLst>
                </a:gridCol>
                <a:gridCol w="871631">
                  <a:extLst>
                    <a:ext uri="{9D8B030D-6E8A-4147-A177-3AD203B41FA5}">
                      <ns2:colId val="4130086957"/>
                    </a:ext>
                  </a:extLst>
                </a:gridCol>
                <a:gridCol w="871631">
                  <a:extLst>
                    <a:ext uri="{9D8B030D-6E8A-4147-A177-3AD203B41FA5}">
                      <ns2:colId val="3066276741"/>
                    </a:ext>
                  </a:extLst>
                </a:gridCol>
                <a:gridCol w="871631">
                  <a:extLst>
                    <a:ext uri="{9D8B030D-6E8A-4147-A177-3AD203B41FA5}">
                      <ns2:colId val="2870282349"/>
                    </a:ext>
                  </a:extLst>
                </a:gridCol>
                <a:gridCol w="871631">
                  <a:extLst>
                    <a:ext uri="{9D8B030D-6E8A-4147-A177-3AD203B41FA5}">
                      <ns2:colId val="1716647770"/>
                    </a:ext>
                  </a:extLst>
                </a:gridCol>
                <a:gridCol w="871629">
                  <a:extLst>
                    <a:ext uri="{9D8B030D-6E8A-4147-A177-3AD203B41FA5}">
                      <ns2:colId val="2912854798"/>
                    </a:ext>
                  </a:extLst>
                </a:gridCol>
              </a:tblGrid>
              <a:tr h="224495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Brand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Apr-26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May-26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Cont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 L3M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b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GOLY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6B4F"/>
                    </a:solidFill>
                  </a:tcPr>
                </a:tc>
                <a:extLst>
                  <a:ext uri="{0D108BD9-81ED-4DB2-BD59-A6C34878D82A}">
                    <ns2:rowId val="1095355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Mamaearth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143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173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164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78.9%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146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12%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15%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2839593741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The Derma Co.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24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45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17.6%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6%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008A3D"/>
                          </a:solidFill>
                          <a:latin typeface="Calibri"/>
                        </a:rPr>
                        <a:t>▲ 54%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2744782322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 err="1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Aqualogica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8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7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5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2.2%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6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24%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sz="1100" b="1">
                          <a:solidFill>
                            <a:srgbClr val="C00000"/>
                          </a:solidFill>
                          <a:latin typeface="Calibri"/>
                        </a:rPr>
                        <a:t>▼ 38%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4267599869"/>
                  </a:ext>
                </a:extLst>
              </a:tr>
              <a:tr h="322661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Emerging Brands</a:t>
                      </a: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1.3%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  <a:ea typeface="Calibri" panose="02020609040205080304" pitchFamily="49" charset="-128"/>
                          <a:cs typeface="Calibri" panose="02020603050405020304" pitchFamily="18" charset="0"/>
                        </a:rPr>
                        <a:t>3</a:t>
                      </a:r>
                      <a:endParaRPr lang="en-IN" sz="140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en-IN" sz="1400" dirty="0">
                        <a:effectLst/>
                        <a:latin typeface="Calibri" panose="020B0004020202020204" pitchFamily="34" charset="0"/>
                        <a:ea typeface="Calibri" panose="02020609040205080304" pitchFamily="49" charset="-128"/>
                        <a:cs typeface="Calibri" panose="02020603050405020304" pitchFamily="18" charset="0"/>
                      </a:endParaRPr>
                    </a:p>
                  </a:txBody>
                  <a:tcPr marL="65849" marR="65849" marT="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3581020566"/>
                  </a:ext>
                </a:extLst>
              </a:tr>
            </a:tbl>
          </a:graphicData>
        </a:graphic>
      </p:graphicFrame>
      <p:graphicFrame>
        <p:nvGraphicFramePr>
          <p:cNvPr id="194" name="Table 193">
            <a:extLst>
              <a:ext uri="{FF2B5EF4-FFF2-40B4-BE49-F238E27FC236}">
                <ns2:creationId id="{8A46149D-11DB-F40E-39B0-E59AE1376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ns3:modId val="22327173"/>
              </p:ext>
            </p:extLst>
          </p:nvPr>
        </p:nvGraphicFramePr>
        <p:xfrm>
          <a:off x="212691" y="7854061"/>
          <a:ext cx="6926523" cy="624135"/>
        </p:xfrm>
        <a:graphic>
          <a:graphicData uri="http://schemas.openxmlformats.org/drawingml/2006/table">
            <a:tbl>
              <a:tblPr firstRow="1" firstCol="1" bandRow="1"/>
              <a:tblGrid>
                <a:gridCol w="1680700">
                  <a:extLst>
                    <a:ext uri="{9D8B030D-6E8A-4147-A177-3AD203B41FA5}">
                      <ns2:colId val="1999662838"/>
                    </a:ext>
                  </a:extLst>
                </a:gridCol>
                <a:gridCol w="763955">
                  <a:extLst>
                    <a:ext uri="{9D8B030D-6E8A-4147-A177-3AD203B41FA5}">
                      <ns2:colId val="1604924111"/>
                    </a:ext>
                  </a:extLst>
                </a:gridCol>
                <a:gridCol w="713025">
                  <a:extLst>
                    <a:ext uri="{9D8B030D-6E8A-4147-A177-3AD203B41FA5}">
                      <ns2:colId val="3900343723"/>
                    </a:ext>
                  </a:extLst>
                </a:gridCol>
                <a:gridCol w="763955">
                  <a:extLst>
                    <a:ext uri="{9D8B030D-6E8A-4147-A177-3AD203B41FA5}">
                      <ns2:colId val="2453469686"/>
                    </a:ext>
                  </a:extLst>
                </a:gridCol>
                <a:gridCol w="763955">
                  <a:extLst>
                    <a:ext uri="{9D8B030D-6E8A-4147-A177-3AD203B41FA5}">
                      <ns2:colId val="531817117"/>
                    </a:ext>
                  </a:extLst>
                </a:gridCol>
                <a:gridCol w="475349">
                  <a:extLst>
                    <a:ext uri="{9D8B030D-6E8A-4147-A177-3AD203B41FA5}">
                      <ns2:colId val="1269342238"/>
                    </a:ext>
                  </a:extLst>
                </a:gridCol>
                <a:gridCol w="882792">
                  <a:extLst>
                    <a:ext uri="{9D8B030D-6E8A-4147-A177-3AD203B41FA5}">
                      <ns2:colId val="1250320746"/>
                    </a:ext>
                  </a:extLst>
                </a:gridCol>
                <a:gridCol w="882792">
                  <a:extLst>
                    <a:ext uri="{9D8B030D-6E8A-4147-A177-3AD203B41FA5}">
                      <ns2:colId val="2206225178"/>
                    </a:ext>
                  </a:extLst>
                </a:gridCol>
              </a:tblGrid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Chain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Apr-26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May-26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Cont</a:t>
                      </a:r>
                      <a:r>
                        <a:rPr lang="en-IN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 L3M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B0004020202020204" pitchFamily="34" charset="0"/>
                        </a:rPr>
                        <a:t>GOLY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9B7F"/>
                    </a:solidFill>
                  </a:tcPr>
                </a:tc>
                <a:extLst>
                  <a:ext uri="{0D108BD9-81ED-4DB2-BD59-A6C34878D82A}">
                    <ns2:rowId val="972551122"/>
                  </a:ext>
                </a:extLst>
              </a:tr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Fsn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175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229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208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100.0%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190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9%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sz="1200" b="0" i="0" u="none" dirty="0">
                          <a:solidFill>
                            <a:srgbClr val="008A3D"/>
                          </a:solidFill>
                          <a:latin typeface="+mn-lt"/>
                        </a:rPr>
                        <a:t>▲ 19%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ns2:rowId val="1404039130"/>
                  </a:ext>
                </a:extLst>
              </a:tr>
              <a:tr h="20804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Others Combined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0.0%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  <a:ea typeface="Calibri" panose="02020609040205080304" pitchFamily="49" charset="-128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8"/>
                    </a:solidFill>
                  </a:tcPr>
                </a:tc>
                <a:extLst>
                  <a:ext uri="{0D108BD9-81ED-4DB2-BD59-A6C34878D82A}">
                    <ns2:rowId val="4058264776"/>
                  </a:ext>
                </a:extLst>
              </a:tr>
            </a:tbl>
          </a:graphicData>
        </a:graphic>
      </p:graphicFrame>
      <p:sp>
        <p:nvSpPr>
          <p:cNvPr id="195" name="Rectangle 81">
            <a:extLst>
              <a:ext uri="{FF2B5EF4-FFF2-40B4-BE49-F238E27FC236}">
                <ns2:creationId id="{715F732A-615F-905D-E4D0-DF7C4264D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6274" y="15742"/>
            <a:ext cx="793520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endParaRPr lang="en-IN">
              <a:latin typeface="+mj-lt"/>
            </a:endParaRPr>
          </a:p>
        </p:txBody>
      </p:sp>
      <p:grpSp>
        <p:nvGrpSpPr>
          <p:cNvPr id="196" name="Group 195">
            <a:extLst>
              <a:ext uri="{FF2B5EF4-FFF2-40B4-BE49-F238E27FC236}">
                <ns2:creationId id="{ECF521A8-93A7-FE83-3ED0-DDCE5D39A6E0}"/>
              </a:ext>
            </a:extLst>
          </p:cNvPr>
          <p:cNvGrpSpPr>
            <a:grpSpLocks/>
          </p:cNvGrpSpPr>
          <p:nvPr/>
        </p:nvGrpSpPr>
        <p:grpSpPr>
          <a:xfrm>
            <a:off x="212691" y="8477611"/>
            <a:ext cx="6926523" cy="1800117"/>
            <a:chOff x="6350" y="3870"/>
            <a:chExt cx="6966733" cy="1907139"/>
          </a:xfrm>
        </p:grpSpPr>
        <p:sp>
          <p:nvSpPr>
            <p:cNvPr id="197" name="Graphic 278">
              <a:extLst>
                <a:ext uri="{FF2B5EF4-FFF2-40B4-BE49-F238E27FC236}">
                  <ns2:creationId id="{09562CA0-9705-0A03-47F3-5D39BF8835E5}"/>
                </a:ext>
              </a:extLst>
            </p:cNvPr>
            <p:cNvSpPr/>
            <p:nvPr/>
          </p:nvSpPr>
          <p:spPr>
            <a:xfrm>
              <a:off x="22374" y="87905"/>
              <a:ext cx="6950709" cy="1823104"/>
            </a:xfrm>
            <a:custGeom>
              <a:avLst/>
              <a:gdLst/>
              <a:ahLst/>
              <a:cxnLst/>
              <a:rect l="l" t="t" r="r" b="b"/>
              <a:pathLst>
                <a:path w="6950709" h="2163445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2074415"/>
                  </a:lnTo>
                  <a:lnTo>
                    <a:pt x="6979" y="2109038"/>
                  </a:lnTo>
                  <a:lnTo>
                    <a:pt x="26021" y="2137294"/>
                  </a:lnTo>
                  <a:lnTo>
                    <a:pt x="54276" y="2156335"/>
                  </a:lnTo>
                  <a:lnTo>
                    <a:pt x="88900" y="2163315"/>
                  </a:lnTo>
                  <a:lnTo>
                    <a:pt x="6861500" y="2163315"/>
                  </a:lnTo>
                  <a:lnTo>
                    <a:pt x="6896123" y="2156335"/>
                  </a:lnTo>
                  <a:lnTo>
                    <a:pt x="6924379" y="2137294"/>
                  </a:lnTo>
                  <a:lnTo>
                    <a:pt x="6943420" y="2109038"/>
                  </a:lnTo>
                  <a:lnTo>
                    <a:pt x="6950400" y="2074415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EFFDF4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dirty="0">
                <a:latin typeface="+mj-lt"/>
              </a:endParaRPr>
            </a:p>
          </p:txBody>
        </p:sp>
        <p:sp>
          <p:nvSpPr>
            <p:cNvPr id="198" name="Graphic 280">
              <a:extLst>
                <a:ext uri="{FF2B5EF4-FFF2-40B4-BE49-F238E27FC236}">
                  <ns2:creationId id="{306ADDBF-E20C-DE47-E920-E870C06A675E}"/>
                </a:ext>
              </a:extLst>
            </p:cNvPr>
            <p:cNvSpPr/>
            <p:nvPr/>
          </p:nvSpPr>
          <p:spPr>
            <a:xfrm>
              <a:off x="6350" y="6348"/>
              <a:ext cx="6950709" cy="351681"/>
            </a:xfrm>
            <a:custGeom>
              <a:avLst/>
              <a:gdLst/>
              <a:ahLst/>
              <a:cxnLst/>
              <a:rect l="l" t="t" r="r" b="b"/>
              <a:pathLst>
                <a:path w="6950709" h="241300">
                  <a:moveTo>
                    <a:pt x="6861500" y="0"/>
                  </a:moveTo>
                  <a:lnTo>
                    <a:pt x="88900" y="0"/>
                  </a:lnTo>
                  <a:lnTo>
                    <a:pt x="54276" y="6979"/>
                  </a:lnTo>
                  <a:lnTo>
                    <a:pt x="26021" y="26021"/>
                  </a:lnTo>
                  <a:lnTo>
                    <a:pt x="6979" y="54276"/>
                  </a:lnTo>
                  <a:lnTo>
                    <a:pt x="0" y="88899"/>
                  </a:lnTo>
                  <a:lnTo>
                    <a:pt x="0" y="152399"/>
                  </a:lnTo>
                  <a:lnTo>
                    <a:pt x="6979" y="187023"/>
                  </a:lnTo>
                  <a:lnTo>
                    <a:pt x="26021" y="215278"/>
                  </a:lnTo>
                  <a:lnTo>
                    <a:pt x="54276" y="234320"/>
                  </a:lnTo>
                  <a:lnTo>
                    <a:pt x="88900" y="241299"/>
                  </a:lnTo>
                  <a:lnTo>
                    <a:pt x="6861500" y="241299"/>
                  </a:lnTo>
                  <a:lnTo>
                    <a:pt x="6896123" y="234320"/>
                  </a:lnTo>
                  <a:lnTo>
                    <a:pt x="6924379" y="215278"/>
                  </a:lnTo>
                  <a:lnTo>
                    <a:pt x="6943420" y="187023"/>
                  </a:lnTo>
                  <a:lnTo>
                    <a:pt x="6950400" y="152399"/>
                  </a:lnTo>
                  <a:lnTo>
                    <a:pt x="6950400" y="88899"/>
                  </a:lnTo>
                  <a:lnTo>
                    <a:pt x="6943420" y="54276"/>
                  </a:lnTo>
                  <a:lnTo>
                    <a:pt x="6924379" y="26021"/>
                  </a:lnTo>
                  <a:lnTo>
                    <a:pt x="6896123" y="6979"/>
                  </a:lnTo>
                  <a:lnTo>
                    <a:pt x="6861500" y="0"/>
                  </a:lnTo>
                  <a:close/>
                </a:path>
              </a:pathLst>
            </a:custGeom>
            <a:solidFill>
              <a:srgbClr val="037756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199" name="Graphic 281">
              <a:extLst>
                <a:ext uri="{FF2B5EF4-FFF2-40B4-BE49-F238E27FC236}">
                  <ns2:creationId id="{786D0DB1-927E-CDBA-AE82-7E1B1BB65AF0}"/>
                </a:ext>
              </a:extLst>
            </p:cNvPr>
            <p:cNvSpPr/>
            <p:nvPr/>
          </p:nvSpPr>
          <p:spPr>
            <a:xfrm>
              <a:off x="117410" y="99945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0" name="Graphic 282">
              <a:extLst>
                <a:ext uri="{FF2B5EF4-FFF2-40B4-BE49-F238E27FC236}">
                  <ns2:creationId id="{1EE2520B-B499-D8A6-9F61-FEDF24208690}"/>
                </a:ext>
              </a:extLst>
            </p:cNvPr>
            <p:cNvSpPr/>
            <p:nvPr/>
          </p:nvSpPr>
          <p:spPr>
            <a:xfrm>
              <a:off x="125480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201" name="Graphic 283">
              <a:extLst>
                <a:ext uri="{FF2B5EF4-FFF2-40B4-BE49-F238E27FC236}">
                  <ns2:creationId id="{CC1D8F9B-ACDE-52DF-23D6-7FEDF2C5895A}"/>
                </a:ext>
              </a:extLst>
            </p:cNvPr>
            <p:cNvSpPr/>
            <p:nvPr/>
          </p:nvSpPr>
          <p:spPr>
            <a:xfrm>
              <a:off x="1826499" y="96780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2" name="Graphic 284">
              <a:extLst>
                <a:ext uri="{FF2B5EF4-FFF2-40B4-BE49-F238E27FC236}">
                  <ns2:creationId id="{78E6F5B7-D8F6-E3DA-2211-639E0006CDFC}"/>
                </a:ext>
              </a:extLst>
            </p:cNvPr>
            <p:cNvSpPr/>
            <p:nvPr/>
          </p:nvSpPr>
          <p:spPr>
            <a:xfrm>
              <a:off x="1818628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>
                <a:latin typeface="+mj-lt"/>
              </a:endParaRPr>
            </a:p>
          </p:txBody>
        </p:sp>
        <p:sp>
          <p:nvSpPr>
            <p:cNvPr id="203" name="Graphic 285">
              <a:extLst>
                <a:ext uri="{FF2B5EF4-FFF2-40B4-BE49-F238E27FC236}">
                  <ns2:creationId id="{E2A44793-D301-9552-99EC-90EC13154CAA}"/>
                </a:ext>
              </a:extLst>
            </p:cNvPr>
            <p:cNvSpPr/>
            <p:nvPr/>
          </p:nvSpPr>
          <p:spPr>
            <a:xfrm>
              <a:off x="3502621" y="962316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4" name="Graphic 286">
              <a:extLst>
                <a:ext uri="{FF2B5EF4-FFF2-40B4-BE49-F238E27FC236}">
                  <ns2:creationId id="{5C0F2A52-1C1D-D1A6-05EA-4ACCDB5127EF}"/>
                </a:ext>
              </a:extLst>
            </p:cNvPr>
            <p:cNvSpPr/>
            <p:nvPr/>
          </p:nvSpPr>
          <p:spPr>
            <a:xfrm>
              <a:off x="3502621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5" name="Graphic 287">
              <a:extLst>
                <a:ext uri="{FF2B5EF4-FFF2-40B4-BE49-F238E27FC236}">
                  <ns2:creationId id="{97A32B53-FBD3-57B6-D1A2-97E533939E78}"/>
                </a:ext>
              </a:extLst>
            </p:cNvPr>
            <p:cNvSpPr/>
            <p:nvPr/>
          </p:nvSpPr>
          <p:spPr>
            <a:xfrm>
              <a:off x="5204929" y="978343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1553450" y="0"/>
                  </a:move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 sz="2400" dirty="0">
                <a:latin typeface="+mj-lt"/>
              </a:endParaRPr>
            </a:p>
          </p:txBody>
        </p:sp>
        <p:sp>
          <p:nvSpPr>
            <p:cNvPr id="206" name="Graphic 288">
              <a:extLst>
                <a:ext uri="{FF2B5EF4-FFF2-40B4-BE49-F238E27FC236}">
                  <ns2:creationId id="{7A282D42-C8EF-02F8-6401-E33E4651DA3A}"/>
                </a:ext>
              </a:extLst>
            </p:cNvPr>
            <p:cNvSpPr/>
            <p:nvPr/>
          </p:nvSpPr>
          <p:spPr>
            <a:xfrm>
              <a:off x="5195537" y="978344"/>
              <a:ext cx="1617345" cy="508000"/>
            </a:xfrm>
            <a:custGeom>
              <a:avLst/>
              <a:gdLst/>
              <a:ahLst/>
              <a:cxnLst/>
              <a:rect l="l" t="t" r="r" b="b"/>
              <a:pathLst>
                <a:path w="1617345" h="508000">
                  <a:moveTo>
                    <a:pt x="63500" y="508000"/>
                  </a:moveTo>
                  <a:lnTo>
                    <a:pt x="1553450" y="508000"/>
                  </a:lnTo>
                  <a:lnTo>
                    <a:pt x="1578180" y="503014"/>
                  </a:lnTo>
                  <a:lnTo>
                    <a:pt x="1598363" y="489413"/>
                  </a:lnTo>
                  <a:lnTo>
                    <a:pt x="1611964" y="469230"/>
                  </a:lnTo>
                  <a:lnTo>
                    <a:pt x="1616950" y="444500"/>
                  </a:lnTo>
                  <a:lnTo>
                    <a:pt x="1616950" y="63500"/>
                  </a:lnTo>
                  <a:lnTo>
                    <a:pt x="1611964" y="38769"/>
                  </a:lnTo>
                  <a:lnTo>
                    <a:pt x="1598363" y="18586"/>
                  </a:lnTo>
                  <a:lnTo>
                    <a:pt x="1578180" y="4985"/>
                  </a:lnTo>
                  <a:lnTo>
                    <a:pt x="1553450" y="0"/>
                  </a:lnTo>
                  <a:lnTo>
                    <a:pt x="63500" y="0"/>
                  </a:lnTo>
                  <a:lnTo>
                    <a:pt x="38769" y="4985"/>
                  </a:lnTo>
                  <a:lnTo>
                    <a:pt x="18586" y="18586"/>
                  </a:lnTo>
                  <a:lnTo>
                    <a:pt x="4985" y="38769"/>
                  </a:lnTo>
                  <a:lnTo>
                    <a:pt x="0" y="63500"/>
                  </a:lnTo>
                  <a:lnTo>
                    <a:pt x="0" y="444500"/>
                  </a:lnTo>
                  <a:lnTo>
                    <a:pt x="4985" y="469230"/>
                  </a:lnTo>
                  <a:lnTo>
                    <a:pt x="18586" y="489413"/>
                  </a:lnTo>
                  <a:lnTo>
                    <a:pt x="38769" y="503014"/>
                  </a:lnTo>
                  <a:lnTo>
                    <a:pt x="63500" y="508000"/>
                  </a:lnTo>
                  <a:close/>
                </a:path>
              </a:pathLst>
            </a:custGeom>
            <a:ln w="12700">
              <a:solidFill>
                <a:srgbClr val="85EFAC"/>
              </a:solidFill>
              <a:prstDash val="solid"/>
            </a:ln>
          </p:spPr>
          <p:txBody>
            <a:bodyPr wrap="square" lIns="0" tIns="0" rIns="0" bIns="0" rtlCol="0" anchor="t">
              <a:prstTxWarp prst="textNoShape">
                <a:avLst/>
              </a:prstTxWarp>
              <a:noAutofit/>
            </a:bodyPr>
            <a:lstStyle/>
            <a:p>
              <a:endParaRPr lang="en-IN">
                <a:latin typeface="+mj-lt"/>
              </a:endParaRPr>
            </a:p>
          </p:txBody>
        </p:sp>
        <p:sp>
          <p:nvSpPr>
            <p:cNvPr id="207" name="Textbox 289">
              <a:extLst>
                <a:ext uri="{FF2B5EF4-FFF2-40B4-BE49-F238E27FC236}">
                  <ns2:creationId id="{00EDBC03-34CC-68A0-0A8A-3EDB1CF8594C}"/>
                </a:ext>
              </a:extLst>
            </p:cNvPr>
            <p:cNvSpPr txBox="1"/>
            <p:nvPr/>
          </p:nvSpPr>
          <p:spPr>
            <a:xfrm>
              <a:off x="133350" y="3870"/>
              <a:ext cx="6716677" cy="418793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KEY</a:t>
              </a:r>
              <a:r>
                <a:rPr lang="en-US" sz="1200" b="1" spc="-45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200" b="1" spc="-10" dirty="0">
                  <a:solidFill>
                    <a:srgbClr val="FFFFFF"/>
                  </a:solidFill>
                  <a:effectLst/>
                  <a:latin typeface="+mj-lt"/>
                  <a:ea typeface="Calibri"/>
                  <a:cs typeface="Calibri"/>
                </a:rPr>
                <a:t>HIGHLIGHTS</a:t>
              </a:r>
              <a:endParaRPr lang="en-IN" sz="20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08" name="Textbox 290">
              <a:extLst>
                <a:ext uri="{FF2B5EF4-FFF2-40B4-BE49-F238E27FC236}">
                  <ns2:creationId id="{390ECE72-BE5D-D8E0-F6DB-459027B27CA3}"/>
                </a:ext>
              </a:extLst>
            </p:cNvPr>
            <p:cNvSpPr txBox="1"/>
            <p:nvPr/>
          </p:nvSpPr>
          <p:spPr>
            <a:xfrm>
              <a:off x="60710" y="422664"/>
              <a:ext cx="6830732" cy="40162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txBody>
            <a:bodyPr wrap="square" lIns="0" tIns="0" rIns="0" bIns="0" rtlCol="0" anchor="t">
              <a:noAutofit/>
            </a:bodyPr>
            <a:lstStyle/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endParaRPr lang="en-US" sz="1000" b="1" dirty="0">
                <a:solidFill>
                  <a:srgbClr val="055E46"/>
                </a:solidFill>
                <a:latin typeface="+mj-lt"/>
              </a:endParaRPr>
            </a:p>
            <a:p>
              <a:pPr marL="342900" lvl="0" indent="-342900">
                <a:lnSpc>
                  <a:spcPts val="860"/>
                </a:lnSpc>
                <a:buClr>
                  <a:srgbClr val="0F162A"/>
                </a:buClr>
                <a:buSzPts val="700"/>
                <a:buFont typeface="Arial MT"/>
                <a:buChar char="•"/>
                <a:tabLst>
                  <a:tab pos="57785" algn="l"/>
                </a:tabLst>
              </a:pPr>
              <a:r>
                <a:rPr lang="en-US" sz="1000" b="1" dirty="0">
                  <a:solidFill>
                    <a:srgbClr val="055E46"/>
                  </a:solidFill>
                  <a:latin typeface="+mj-lt"/>
                </a:rPr>
                <a:t>Chain Highlights:-</a:t>
              </a:r>
              <a:r>
                <a:rPr sz="1000" b="1" dirty="0">
                  <a:solidFill>
                    <a:srgbClr val="055E46"/>
                  </a:solidFill>
                  <a:latin typeface="+mj-lt"/>
                </a:rPr>
                <a:t> </a:t>
              </a:r>
              <a:r>
                <a:rPr lang="en-IN" sz="1000" b="1" dirty="0">
                  <a:solidFill>
                    <a:srgbClr val="055E46"/>
                  </a:solidFill>
                  <a:latin typeface="+mj-lt"/>
                </a:rPr>
                <a:t>FSN</a:t>
              </a:r>
              <a:r>
                <a:rPr sz="1000" b="1" dirty="0">
                  <a:solidFill>
                    <a:srgbClr val="055E46"/>
                  </a:solidFill>
                  <a:latin typeface="+mj-lt"/>
                </a:rPr>
                <a:t> delivered its highest month in May-26 at 208. Growth stood at 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▲ 9%</a:t>
              </a:r>
              <a:r>
                <a:rPr sz="1000" b="1" dirty="0">
                  <a:solidFill>
                    <a:srgbClr val="055E46"/>
                  </a:solidFill>
                  <a:latin typeface="+mj-lt"/>
                </a:rPr>
                <a:t> vs L3M and </a:t>
              </a:r>
              <a:r>
                <a:rPr sz="1000" b="1" dirty="0">
                  <a:solidFill>
                    <a:srgbClr val="008A3D"/>
                  </a:solidFill>
                  <a:latin typeface="+mj-lt"/>
                </a:rPr>
                <a:t>▲ 19%</a:t>
              </a:r>
              <a:r>
                <a:rPr sz="1000" b="1" dirty="0">
                  <a:solidFill>
                    <a:srgbClr val="055E46"/>
                  </a:solidFill>
                  <a:latin typeface="+mj-lt"/>
                </a:rPr>
                <a:t> vs May-25.</a:t>
              </a:r>
              <a:endParaRPr lang="en-IN" sz="1600" spc="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09" name="Textbox 291">
              <a:extLst>
                <a:ext uri="{FF2B5EF4-FFF2-40B4-BE49-F238E27FC236}">
                  <ns2:creationId id="{696AC7C6-3FED-0B1D-4CD4-FA589378E90D}"/>
                </a:ext>
              </a:extLst>
            </p:cNvPr>
            <p:cNvSpPr txBox="1"/>
            <p:nvPr/>
          </p:nvSpPr>
          <p:spPr>
            <a:xfrm>
              <a:off x="536601" y="1090664"/>
              <a:ext cx="726380" cy="343972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5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Lead</a:t>
              </a:r>
              <a:r>
                <a:rPr lang="en-US" sz="1050" b="1" spc="-20" dirty="0">
                  <a:solidFill>
                    <a:srgbClr val="055E46"/>
                  </a:solidFill>
                  <a:latin typeface="+mj-lt"/>
                  <a:ea typeface="Calibri"/>
                  <a:cs typeface="Calibri"/>
                </a:rPr>
                <a:t> </a:t>
              </a:r>
              <a:r>
                <a:rPr lang="en-US" sz="105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0" name="Textbox 292">
              <a:extLst>
                <a:ext uri="{FF2B5EF4-FFF2-40B4-BE49-F238E27FC236}">
                  <ns2:creationId id="{D2CB78A9-052C-7918-9B59-3C05E6224543}"/>
                </a:ext>
              </a:extLst>
            </p:cNvPr>
            <p:cNvSpPr txBox="1"/>
            <p:nvPr/>
          </p:nvSpPr>
          <p:spPr>
            <a:xfrm>
              <a:off x="2143903" y="1099759"/>
              <a:ext cx="1532948" cy="16725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Fastest</a:t>
              </a:r>
              <a:r>
                <a:rPr lang="en-US" sz="1000" b="1" spc="-25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0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YoY</a:t>
              </a:r>
              <a:r>
                <a:rPr lang="en-US" sz="1000" b="1" spc="-2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endParaRPr lang="en-IN" sz="10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1" name="Textbox 293">
              <a:extLst>
                <a:ext uri="{FF2B5EF4-FFF2-40B4-BE49-F238E27FC236}">
                  <ns2:creationId id="{1002BC0E-27DD-532F-2DE7-BB1F581AC8FE}"/>
                </a:ext>
              </a:extLst>
            </p:cNvPr>
            <p:cNvSpPr txBox="1"/>
            <p:nvPr/>
          </p:nvSpPr>
          <p:spPr>
            <a:xfrm>
              <a:off x="3761172" y="1043625"/>
              <a:ext cx="1168712" cy="354674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10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r>
                <a:rPr lang="en-US" sz="1000" b="1" spc="-25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0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Chain</a:t>
              </a:r>
              <a:r>
                <a:rPr lang="en-US" sz="1000" b="1" spc="-25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100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Lines</a:t>
              </a:r>
              <a:endParaRPr lang="en-IN" sz="10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2" name="Textbox 294">
              <a:extLst>
                <a:ext uri="{FF2B5EF4-FFF2-40B4-BE49-F238E27FC236}">
                  <ns2:creationId id="{1393482F-11D6-D6FE-2753-A47D0B48114B}"/>
                </a:ext>
              </a:extLst>
            </p:cNvPr>
            <p:cNvSpPr txBox="1"/>
            <p:nvPr/>
          </p:nvSpPr>
          <p:spPr>
            <a:xfrm>
              <a:off x="5378517" y="1043625"/>
              <a:ext cx="541020" cy="96519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spcBef>
                  <a:spcPts val="5"/>
                </a:spcBef>
              </a:pPr>
              <a:r>
                <a:rPr lang="en-US" sz="900" b="1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Zone</a:t>
              </a:r>
              <a:r>
                <a:rPr lang="en-US" sz="900" b="1" spc="-2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900" b="1" spc="-10" dirty="0">
                  <a:solidFill>
                    <a:srgbClr val="055E46"/>
                  </a:solidFill>
                  <a:effectLst/>
                  <a:latin typeface="+mj-lt"/>
                  <a:ea typeface="Calibri"/>
                  <a:cs typeface="Calibri"/>
                </a:rPr>
                <a:t>Record</a:t>
              </a:r>
              <a:endParaRPr lang="en-IN" sz="14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3" name="Textbox 295">
              <a:extLst>
                <a:ext uri="{FF2B5EF4-FFF2-40B4-BE49-F238E27FC236}">
                  <ns2:creationId id="{9D505091-C1B3-4643-3757-11527DD029ED}"/>
                </a:ext>
              </a:extLst>
            </p:cNvPr>
            <p:cNvSpPr txBox="1"/>
            <p:nvPr/>
          </p:nvSpPr>
          <p:spPr>
            <a:xfrm>
              <a:off x="584951" y="1339470"/>
              <a:ext cx="537105" cy="21832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Fsn</a:t>
              </a:r>
              <a:r>
                <a:rPr lang="en-US" sz="90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9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-</a:t>
              </a:r>
              <a:r>
                <a:rPr lang="en-US" sz="900" b="1" spc="-3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900" b="1" spc="-25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208</a:t>
              </a:r>
              <a:endParaRPr lang="en-IN" sz="14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4" name="Textbox 296">
              <a:extLst>
                <a:ext uri="{FF2B5EF4-FFF2-40B4-BE49-F238E27FC236}">
                  <ns2:creationId id="{D4A13F3F-01DA-EED4-B30C-053A438475D3}"/>
                </a:ext>
              </a:extLst>
            </p:cNvPr>
            <p:cNvSpPr txBox="1"/>
            <p:nvPr/>
          </p:nvSpPr>
          <p:spPr>
            <a:xfrm>
              <a:off x="2198660" y="1310254"/>
              <a:ext cx="1137449" cy="299158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50"/>
                </a:lnSpc>
              </a:pPr>
              <a:r>
                <a:rPr sz="1000" b="1">
                  <a:solidFill>
                    <a:srgbClr val="0F162A"/>
                  </a:solidFill>
                  <a:latin typeface="+mj-lt"/>
                </a:rPr>
                <a:t>Fsn  - </a:t>
              </a:r>
              <a:r>
                <a:rPr sz="1000" b="1">
                  <a:solidFill>
                    <a:srgbClr val="008A3D"/>
                  </a:solidFill>
                  <a:latin typeface="+mj-lt"/>
                </a:rPr>
                <a:t>▲ 19%</a:t>
              </a:r>
              <a:endParaRPr lang="en-IN" sz="10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5" name="Textbox 297">
              <a:extLst>
                <a:ext uri="{FF2B5EF4-FFF2-40B4-BE49-F238E27FC236}">
                  <ns2:creationId id="{823DC972-676F-BB3F-DF78-E528EBCA63EA}"/>
                </a:ext>
              </a:extLst>
            </p:cNvPr>
            <p:cNvSpPr txBox="1"/>
            <p:nvPr/>
          </p:nvSpPr>
          <p:spPr>
            <a:xfrm>
              <a:off x="4098907" y="1273117"/>
              <a:ext cx="1616615" cy="624691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800" b="1" dirty="0" err="1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Fsn</a:t>
              </a:r>
              <a:endParaRPr lang="en-IN" sz="800" dirty="0">
                <a:effectLst/>
                <a:latin typeface="+mj-lt"/>
                <a:ea typeface="Calibri"/>
                <a:cs typeface="Calibri"/>
              </a:endParaRPr>
            </a:p>
          </p:txBody>
        </p:sp>
        <p:sp>
          <p:nvSpPr>
            <p:cNvPr id="216" name="Textbox 298">
              <a:extLst>
                <a:ext uri="{FF2B5EF4-FFF2-40B4-BE49-F238E27FC236}">
                  <ns2:creationId id="{1109BA7C-796E-3D4D-65A2-95AB774BD170}"/>
                </a:ext>
              </a:extLst>
            </p:cNvPr>
            <p:cNvSpPr txBox="1"/>
            <p:nvPr/>
          </p:nvSpPr>
          <p:spPr>
            <a:xfrm>
              <a:off x="5945211" y="1128270"/>
              <a:ext cx="748609" cy="176090"/>
            </a:xfrm>
            <a:prstGeom prst="rect">
              <a:avLst/>
            </a:prstGeom>
          </p:spPr>
          <p:txBody>
            <a:bodyPr wrap="square" lIns="0" tIns="0" rIns="0" bIns="0" rtlCol="0" anchor="t">
              <a:noAutofit/>
            </a:bodyPr>
            <a:lstStyle/>
            <a:p>
              <a:pPr>
                <a:lnSpc>
                  <a:spcPts val="745"/>
                </a:lnSpc>
              </a:pPr>
              <a:r>
                <a:rPr lang="en-US" sz="900" b="1" dirty="0">
                  <a:solidFill>
                    <a:srgbClr val="0F162A"/>
                  </a:solidFill>
                  <a:latin typeface="+mj-lt"/>
                  <a:ea typeface="Calibri"/>
                  <a:cs typeface="Calibri"/>
                </a:rPr>
                <a:t>Apr</a:t>
              </a:r>
              <a:r>
                <a:rPr lang="en-US" sz="9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-26</a:t>
              </a:r>
              <a:r>
                <a:rPr lang="en-US" sz="900" b="1" spc="-30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 </a:t>
              </a:r>
              <a:r>
                <a:rPr lang="en-US" sz="900" b="1" spc="-30" dirty="0">
                  <a:solidFill>
                    <a:srgbClr val="0F162A"/>
                  </a:solidFill>
                  <a:latin typeface="+mj-lt"/>
                  <a:ea typeface="Calibri"/>
                  <a:cs typeface="Calibri"/>
                </a:rPr>
                <a:t>- </a:t>
              </a:r>
              <a:r>
                <a:rPr lang="en-US" sz="900" b="1" dirty="0">
                  <a:solidFill>
                    <a:srgbClr val="0F162A"/>
                  </a:solidFill>
                  <a:effectLst/>
                  <a:latin typeface="+mj-lt"/>
                  <a:ea typeface="Calibri"/>
                  <a:cs typeface="Calibri"/>
                </a:rPr>
                <a:t>229</a:t>
              </a:r>
              <a:endParaRPr lang="en-IN" sz="1400" dirty="0">
                <a:effectLst/>
                <a:latin typeface="+mj-lt"/>
                <a:ea typeface="Calibri"/>
                <a:cs typeface="Calibri"/>
              </a:endParaRPr>
            </a:p>
          </p:txBody>
        </p:sp>
      </p:grpSp>
      <p:sp>
        <p:nvSpPr>
          <p:cNvPr id="217" name="Rectangle 92">
            <a:extLst>
              <a:ext uri="{FF2B5EF4-FFF2-40B4-BE49-F238E27FC236}">
                <ns2:creationId id="{4048E4C8-777E-5962-6F2D-EE7CEED0D22C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-276274" y="112827"/>
            <a:ext cx="7935209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ns4:hiddenFill>
                <a:solidFill>
                  <a:schemeClr val="accent1"/>
                </a:solidFill>
              </ns4:hiddenFill>
            </a:ext>
            <a:ext uri="{91240B29-F687-4F45-9708-019B960494DF}">
              <ns4:hiddenLine w="9525">
                <a:solidFill>
                  <a:schemeClr val="tx1"/>
                </a:solidFill>
                <a:miter lim="800000"/>
                <a:headEnd/>
                <a:tailEnd/>
              </ns4:hiddenLine>
            </a:ext>
            <a:ext uri="{AF507438-7753-43E0-B8FC-AC1667EBCBE1}">
              <ns4:hiddenEffects>
                <a:effectLst>
                  <a:outerShdw dist="35921" dir="2700000" algn="ctr" rotWithShape="0">
                    <a:schemeClr val="bg2"/>
                  </a:outerShdw>
                </a:effectLst>
              </ns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  <a:ea typeface="Calibri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Calibri" panose="020B0604020202020204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19" name="TextBox 218">
            <a:extLst>
              <a:ext uri="{FF2B5EF4-FFF2-40B4-BE49-F238E27FC236}">
                <ns2:creationId id="{6CDFCB9D-D279-7BE1-F23A-91374801A1BD}"/>
              </a:ext>
            </a:extLst>
          </p:cNvPr>
          <p:cNvSpPr txBox="1"/>
          <p:nvPr/>
        </p:nvSpPr>
        <p:spPr>
          <a:xfrm>
            <a:off x="212691" y="7401047"/>
            <a:ext cx="6926523" cy="361574"/>
          </a:xfrm>
          <a:prstGeom prst="rect">
            <a:avLst/>
          </a:prstGeom>
          <a:solidFill>
            <a:srgbClr val="2D9B7F"/>
          </a:solidFill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en-US" sz="1600" b="1" dirty="0">
                <a:solidFill>
                  <a:srgbClr val="FFFFFF"/>
                </a:solidFill>
                <a:latin typeface="+mj-lt"/>
              </a:rPr>
              <a:t>FSN Chain Summary</a:t>
            </a:r>
            <a:endParaRPr lang="en-IN" sz="1600" b="1" dirty="0">
              <a:solidFill>
                <a:srgbClr val="FFFFFF"/>
              </a:solidFill>
              <a:latin typeface="+mj-lt"/>
            </a:endParaRPr>
          </a:p>
        </p:txBody>
      </p:sp>
      <p:pic>
        <p:nvPicPr>
          <p:cNvPr id="2" name="Picture 2" descr="A white and orange tube with white text  AI-generated content may be incorrect.">
            <a:extLst>
              <a:ext uri="{FF2B5EF4-FFF2-40B4-BE49-F238E27FC236}">
                <ns2:creationId id="{E4BE8139-2075-BC6E-0940-50B79B227E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ns4:useLocalDpi val="0"/>
              </a:ext>
            </a:extLst>
          </a:blip>
          <a:srcRect l="24448" r="23559"/>
          <a:stretch/>
        </p:blipFill>
        <p:spPr bwMode="auto">
          <a:xfrm>
            <a:off x="2709582" y="6141344"/>
            <a:ext cx="212290" cy="408312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3" name="Picture 4">
            <a:extLst>
              <a:ext uri="{FF2B5EF4-FFF2-40B4-BE49-F238E27FC236}">
                <ns2:creationId id="{BD881498-56FC-10C0-FDB6-091E08A41A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373490" y="6117127"/>
            <a:ext cx="250009" cy="530467"/>
          </a:xfrm>
          <a:prstGeom prst="rect">
            <a:avLst/>
          </a:prstGeom>
          <a:noFill/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</a:extLst>
        </p:spPr>
      </p:pic>
      <p:pic>
        <p:nvPicPr>
          <p:cNvPr id="4" name="Picture 3" descr="A bottle of rice face wash&#10;&#10;Description automatically generated">
            <a:extLst>
              <a:ext uri="{FF2B5EF4-FFF2-40B4-BE49-F238E27FC236}">
                <ns2:creationId id="{6A5DAAE7-0169-95A1-212F-58E9249A2223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27809" t="6059" r="29332" b="4208"/>
          <a:stretch/>
        </p:blipFill>
        <p:spPr>
          <a:xfrm>
            <a:off x="373490" y="3994891"/>
            <a:ext cx="200232" cy="412943"/>
          </a:xfrm>
          <a:prstGeom prst="rect">
            <a:avLst/>
          </a:prstGeom>
        </p:spPr>
      </p:pic>
      <p:pic>
        <p:nvPicPr>
          <p:cNvPr id="5" name="Picture 4" descr="A yellow bottle of sunscreen&#10;&#10;Description automatically generated">
            <a:extLst>
              <a:ext uri="{FF2B5EF4-FFF2-40B4-BE49-F238E27FC236}">
                <ns2:creationId id="{9DE6E2BB-07EE-B005-FD4B-E99B9E93CC3D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32069" t="9042" r="31762" b="9272"/>
          <a:stretch/>
        </p:blipFill>
        <p:spPr>
          <a:xfrm>
            <a:off x="5140437" y="4098642"/>
            <a:ext cx="196303" cy="443346"/>
          </a:xfrm>
          <a:prstGeom prst="rect">
            <a:avLst/>
          </a:prstGeom>
        </p:spPr>
      </p:pic>
      <p:pic>
        <p:nvPicPr>
          <p:cNvPr id="6" name="Google Shape;1518;p235" descr="A purple bottle with a dropper next to a box&#10;&#10;AI-generated content may be incorrect.">
            <a:extLst>
              <a:ext uri="{FF2B5EF4-FFF2-40B4-BE49-F238E27FC236}">
                <ns2:creationId id="{094DAE43-E77F-2907-9047-54F182B6F843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79482" y="6228467"/>
            <a:ext cx="216398" cy="20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396;p227" descr="A white bottle with a label on it&#10;&#10;Description automatically generated">
            <a:extLst>
              <a:ext uri="{FF2B5EF4-FFF2-40B4-BE49-F238E27FC236}">
                <ns2:creationId id="{866C70B2-E3E3-89B3-E64D-23E1FC171462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l="19608" b="483"/>
          <a:stretch/>
        </p:blipFill>
        <p:spPr>
          <a:xfrm>
            <a:off x="2512414" y="3850152"/>
            <a:ext cx="178723" cy="412609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16 / 24</a:t>
            </a:r>
          </a:p>
        </p:txBody>
      </p:sp>
    </p:spTree>
    <p:extLst>
      <p:ext uri="{BB962C8B-B14F-4D97-AF65-F5344CB8AC3E}">
        <ns3:creationId val="4126664214"/>
      </p:ext>
    </p:extLst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5246" y="0"/>
            <a:ext cx="6012359" cy="841730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" name="Rectangle 2"/>
          <p:cNvSpPr/>
          <p:nvPr/>
        </p:nvSpPr>
        <p:spPr>
          <a:xfrm>
            <a:off x="775246" y="812782"/>
            <a:ext cx="6012359" cy="28948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4" name="TextBox 3"/>
          <p:cNvSpPr txBox="1"/>
          <p:nvPr/>
        </p:nvSpPr>
        <p:spPr>
          <a:xfrm>
            <a:off x="1095905" y="160330"/>
            <a:ext cx="5371040" cy="6148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90" b="1">
                <a:solidFill>
                  <a:srgbClr val="FFFFFF"/>
                </a:solidFill>
                <a:latin typeface="Calibri"/>
              </a:rPr>
              <a:t>Zone-wise Best Execution Images</a:t>
            </a:r>
          </a:p>
          <a:p>
            <a:pPr>
              <a:spcBef>
                <a:spcPts val="263"/>
              </a:spcBef>
            </a:pPr>
            <a:r>
              <a:rPr sz="877">
                <a:solidFill>
                  <a:srgbClr val="CADCFC"/>
                </a:solidFill>
                <a:latin typeface="Calibri"/>
              </a:rPr>
              <a:t>Best available field execution proof, by zone — and where the image bank still needs to be built</a:t>
            </a:r>
          </a:p>
          <a:p>
            <a:pPr>
              <a:spcBef>
                <a:spcPts val="438"/>
              </a:spcBef>
            </a:pPr>
            <a:r>
              <a:rPr sz="745" b="1">
                <a:solidFill>
                  <a:srgbClr val="CADCFC"/>
                </a:solidFill>
                <a:latin typeface="Calibri"/>
              </a:rPr>
              <a:t>FIELD CAPTURES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905" y="986027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SOUTH-1 — HYDERABAD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5905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7" name="TextBox 6"/>
          <p:cNvSpPr txBox="1"/>
          <p:nvPr/>
        </p:nvSpPr>
        <p:spPr>
          <a:xfrm>
            <a:off x="3841548" y="986027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SOUTH-2 — KARNATAKA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1548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9" name="Picture 8" descr="JC_Radhika_s07_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946" y="1258142"/>
            <a:ext cx="2585314" cy="3447086"/>
          </a:xfrm>
          <a:prstGeom prst="rect">
            <a:avLst/>
          </a:prstGeom>
        </p:spPr>
      </p:pic>
      <p:pic>
        <p:nvPicPr>
          <p:cNvPr id="10" name="Picture 9" descr="JC_June2026_s10_p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1590" y="1258142"/>
            <a:ext cx="2585314" cy="344708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1095905" y="4769359"/>
            <a:ext cx="2625397" cy="6012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12" name="TextBox 11"/>
          <p:cNvSpPr txBox="1"/>
          <p:nvPr/>
        </p:nvSpPr>
        <p:spPr>
          <a:xfrm>
            <a:off x="1176070" y="4817458"/>
            <a:ext cx="2465067" cy="117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2" b="1">
                <a:solidFill>
                  <a:srgbClr val="1E2761"/>
                </a:solidFill>
                <a:latin typeface="Calibri"/>
              </a:rPr>
              <a:t>Lulu | Hyderabad* | South-1 | Endcap / Bin-Tower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6070" y="5025886"/>
            <a:ext cx="2465067" cy="22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01">
                <a:solidFill>
                  <a:srgbClr val="404040"/>
                </a:solidFill>
                <a:latin typeface="Calibri"/>
              </a:rPr>
              <a:t>Derma Co. + Mamaearth pyramid bin with 50% off signage at the chain entrance.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1548" y="4769359"/>
            <a:ext cx="2625397" cy="601236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15" name="TextBox 14"/>
          <p:cNvSpPr txBox="1"/>
          <p:nvPr/>
        </p:nvSpPr>
        <p:spPr>
          <a:xfrm>
            <a:off x="3921713" y="4817458"/>
            <a:ext cx="2465067" cy="1172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2" b="1">
                <a:solidFill>
                  <a:srgbClr val="1E2761"/>
                </a:solidFill>
                <a:latin typeface="Calibri"/>
              </a:rPr>
              <a:t>D-Mart | Bengaluru** | South-2 | BOGO Bin Display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1713" y="5025886"/>
            <a:ext cx="2465067" cy="22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01">
                <a:solidFill>
                  <a:srgbClr val="404040"/>
                </a:solidFill>
                <a:latin typeface="Calibri"/>
              </a:rPr>
              <a:t>Mamaearth Sunscreen + Derma Co. Face Wash combo crates, geotagged 4-Jun-2026.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5905" y="10447876"/>
            <a:ext cx="5050381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14">
                <a:solidFill>
                  <a:srgbClr val="595959"/>
                </a:solidFill>
                <a:latin typeface="Calibri"/>
              </a:rPr>
              <a:t>MT Offtake Performance Review  |  May'26  |  Honasa Consumer Limited — Internal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6533" y="10447876"/>
            <a:ext cx="280577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14">
                <a:solidFill>
                  <a:srgbClr val="595959"/>
                </a:solidFill>
                <a:latin typeface="Calibri"/>
              </a:rPr>
              <a:t>21</a:t>
            </a:r>
          </a:p>
        </p:txBody>
      </p:sp>
      <p:sp>
        <p:nvSpPr>
          <p:cNvPr id="83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75246" y="0"/>
            <a:ext cx="6012359" cy="841730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3" name="Rectangle 2"/>
          <p:cNvSpPr/>
          <p:nvPr/>
        </p:nvSpPr>
        <p:spPr>
          <a:xfrm>
            <a:off x="775246" y="812782"/>
            <a:ext cx="6012359" cy="28948"/>
          </a:xfrm>
          <a:prstGeom prst="rect">
            <a:avLst/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4" name="TextBox 3"/>
          <p:cNvSpPr txBox="1"/>
          <p:nvPr/>
        </p:nvSpPr>
        <p:spPr>
          <a:xfrm>
            <a:off x="1095905" y="160330"/>
            <a:ext cx="5371040" cy="614848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1490" b="1">
                <a:solidFill>
                  <a:srgbClr val="FFFFFF"/>
                </a:solidFill>
                <a:latin typeface="Calibri"/>
              </a:rPr>
              <a:t>Chain-wise Execution Showcase</a:t>
            </a:r>
          </a:p>
          <a:p>
            <a:pPr>
              <a:spcBef>
                <a:spcPts val="263"/>
              </a:spcBef>
            </a:pPr>
            <a:r>
              <a:rPr sz="877">
                <a:solidFill>
                  <a:srgbClr val="CADCFC"/>
                </a:solidFill>
                <a:latin typeface="Calibri"/>
              </a:rPr>
              <a:t>One best-in-class execution image per chain — curated to avoid repetition</a:t>
            </a:r>
          </a:p>
          <a:p>
            <a:pPr>
              <a:spcBef>
                <a:spcPts val="438"/>
              </a:spcBef>
            </a:pPr>
            <a:r>
              <a:rPr sz="745" b="1">
                <a:solidFill>
                  <a:srgbClr val="CADCFC"/>
                </a:solidFill>
                <a:latin typeface="Calibri"/>
              </a:rPr>
              <a:t>FIELD CAPTURES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905" y="986027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APOLLO — SOUTH-1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5905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7" name="Picture 6" descr="JC_Radhika_s05_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213" y="1258142"/>
            <a:ext cx="1352781" cy="240494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95905" y="3711184"/>
            <a:ext cx="2625397" cy="49702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9" name="TextBox 8"/>
          <p:cNvSpPr txBox="1"/>
          <p:nvPr/>
        </p:nvSpPr>
        <p:spPr>
          <a:xfrm>
            <a:off x="1176070" y="3759284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Apollo | Hyderabad* | Eye-Level Shelf 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6070" y="3951679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Mamaearth Sun Care range fronted with BOGO talkers on a dedicated shelf strip.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1548" y="986027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LULU — SOUTH-1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41548" y="1186439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13" name="Picture 12" descr="JC_Radhika_s06_p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2393" y="1258142"/>
            <a:ext cx="1803708" cy="240494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841548" y="3711184"/>
            <a:ext cx="2625397" cy="49702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15" name="TextBox 14"/>
          <p:cNvSpPr txBox="1"/>
          <p:nvPr/>
        </p:nvSpPr>
        <p:spPr>
          <a:xfrm>
            <a:off x="3921713" y="3759284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Lulu | Hyderabad* | Shampoo Aisle Block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21713" y="3951679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Three uninterrupted Mamaearth shampoo shelves at eye level, ahead of competitor sets.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5905" y="4344932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RELIANCE — SOUTH-1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5905" y="4545343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19" name="Picture 18" descr="JC_Radhika_s08_p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749" y="4617047"/>
            <a:ext cx="1803708" cy="2404943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1095905" y="7070088"/>
            <a:ext cx="2625397" cy="49702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21" name="TextBox 20"/>
          <p:cNvSpPr txBox="1"/>
          <p:nvPr/>
        </p:nvSpPr>
        <p:spPr>
          <a:xfrm>
            <a:off x="1176070" y="7118188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Reliance | Hyderabad* | Branded Endcap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6070" y="7310583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'Merawala Combo' endcap with Mamaearth Buy-4-Get-1 signage and combo pricing.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1548" y="4344932"/>
            <a:ext cx="2625397" cy="1483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4" b="1">
                <a:solidFill>
                  <a:srgbClr val="1E2761"/>
                </a:solidFill>
                <a:latin typeface="Calibri"/>
              </a:rPr>
              <a:t>D-MART — SOUTH-2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841548" y="4545343"/>
            <a:ext cx="2625397" cy="15588"/>
          </a:xfrm>
          <a:prstGeom prst="rect">
            <a:avLst/>
          </a:prstGeom>
          <a:solidFill>
            <a:srgbClr val="2D9B7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pic>
        <p:nvPicPr>
          <p:cNvPr id="25" name="Picture 24" descr="JC_June2026_s10_p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2393" y="4617047"/>
            <a:ext cx="1803708" cy="2404943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3841548" y="7070088"/>
            <a:ext cx="2625397" cy="497022"/>
          </a:xfrm>
          <a:prstGeom prst="rect">
            <a:avLst/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578"/>
          </a:p>
        </p:txBody>
      </p:sp>
      <p:sp>
        <p:nvSpPr>
          <p:cNvPr id="27" name="TextBox 26"/>
          <p:cNvSpPr txBox="1"/>
          <p:nvPr/>
        </p:nvSpPr>
        <p:spPr>
          <a:xfrm>
            <a:off x="3921713" y="7118188"/>
            <a:ext cx="2465067" cy="1146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5" b="1">
                <a:solidFill>
                  <a:srgbClr val="1E2761"/>
                </a:solidFill>
                <a:latin typeface="Calibri"/>
              </a:rPr>
              <a:t>D-Mart | Bengaluru** | BOGO Bin Display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21713" y="7310583"/>
            <a:ext cx="2465067" cy="2105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4">
                <a:solidFill>
                  <a:srgbClr val="404040"/>
                </a:solidFill>
                <a:latin typeface="Calibri"/>
              </a:rPr>
              <a:t>Derma Co. Hyaluronic Sunscreen bin (geotagged 4-Jun-2026), paired with a Neutrogena combo crate.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5905" y="7727885"/>
            <a:ext cx="5371040" cy="21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58" i="1">
                <a:solidFill>
                  <a:srgbClr val="595959"/>
                </a:solidFill>
                <a:latin typeface="Calibri"/>
              </a:rPr>
              <a:t>Curation note: each chain above is shown once with its strongest available image. Additional angles for Lulu and D-Mart exist in the master image log and can be swapped in on request.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5905" y="10447876"/>
            <a:ext cx="5050381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14">
                <a:solidFill>
                  <a:srgbClr val="595959"/>
                </a:solidFill>
                <a:latin typeface="Calibri"/>
              </a:rPr>
              <a:t>MT Offtake Performance Review  |  May'26  |  Honasa Consumer Limited — Internal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6533" y="10447876"/>
            <a:ext cx="280577" cy="945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614">
                <a:solidFill>
                  <a:srgbClr val="595959"/>
                </a:solidFill>
                <a:latin typeface="Calibri"/>
              </a:rPr>
              <a:t>22</a:t>
            </a:r>
          </a:p>
        </p:txBody>
      </p:sp>
      <p:sp>
        <p:nvSpPr>
          <p:cNvPr id="81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West Bengal &amp; Derma Range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p/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2406796" y="879808"/>
            <a:ext cx="2749257" cy="278530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44320" y="3700111"/>
            <a:ext cx="6874210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Apollo Pharmacy — Skincare aisle, West Bengal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2406796" y="4005111"/>
            <a:ext cx="2749257" cy="278530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44320" y="6825414"/>
            <a:ext cx="6874210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DermaSoft FSU — Apollo, West Bengal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2406796" y="7130414"/>
            <a:ext cx="2749257" cy="278530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44320" y="9950717"/>
            <a:ext cx="6874210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1000">
                <a:solidFill>
                  <a:srgbClr val="1F2933"/>
                </a:solidFill>
                <a:latin typeface="Calibri"/>
              </a:rPr>
              <a:t>Mamaearth DermaSoft counter display — West Bengal</a:t>
            </a:r>
          </a:p>
        </p:txBody>
      </p:sp>
      <p:sp>
        <p:nvSpPr>
          <p:cNvPr id="108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19 / 24</a:t>
            </a:r>
          </a:p>
        </p:txBody>
      </p:sp>
    </p:spTree>
  </p:cSld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Gujarat Region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p/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Gujarat Region Execution May 26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Ganesh Khengre ROM May-26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Ganesh Khengre ROM May-26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Gujarat Region Execution May 26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Gujarat Region Execution May 26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Ganesh Khengre ROM May-26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20 / 24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JC Review Markets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p/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JC Meet June 26 Radhika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JC Meet June 26 Radhika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JC Meet June 26 Radhika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21 / 24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TDC / SIS Delhi NCR – Execution Snapshot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p/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Tdc Sis Delhi Ncr PPT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22 / 24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Stock Depth &amp; Article Range Across Outlets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p/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635147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369427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PPT For Reveiw 05.06.2026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4142252" y="84480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369427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PPT For Reveiw 05.06.2026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635147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682624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PPT For Reveiw 05.06.2026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4142252" y="397677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682624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May 26 JC Review PPT Chakri</a:t>
            </a:r>
          </a:p>
        </p:txBody>
      </p:sp>
      <p:pic>
        <p:nvPicPr>
          <p:cNvPr id="110" name="Pic4"/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635147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1" name="Cap4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12" name="Pic5"/>
          <p:cNvPicPr>
            <a:picLocks noChangeAspect="1"/>
          </p:cNvPicPr>
          <p:nvPr/>
        </p:nvPicPr>
        <p:blipFill>
          <a:blip r:embed="rId105"/>
          <a:stretch>
            <a:fillRect/>
          </a:stretch>
        </p:blipFill>
        <p:spPr>
          <a:xfrm>
            <a:off x="4142252" y="7108748"/>
            <a:ext cx="2785450" cy="2821970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13" name="Cap5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Review May-26</a:t>
            </a:r>
          </a:p>
        </p:txBody>
      </p:sp>
      <p:sp>
        <p:nvSpPr>
          <p:cNvPr id="114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23 / 24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"/>
          <p:cNvSpPr txBox="1"/>
          <p:nvPr/>
        </p:nvSpPr>
        <p:spPr>
          <a:xfrm>
            <a:off x="274320" y="228600"/>
            <a:ext cx="7014210" cy="502920"/>
          </a:xfrm>
          <a:prstGeom prst="rect">
            <a:avLst/>
          </a:prstGeom>
          <a:noFill/>
        </p:spPr>
        <p:txBody>
          <a:bodyPr wrap="square" anchor="ctr"/>
          <a:p>
            <a:r>
              <a:rPr lang="en-US" sz="2000" b="1">
                <a:solidFill>
                  <a:srgbClr val="2D9B7F"/>
                </a:solidFill>
                <a:latin typeface="Calibri"/>
              </a:rPr>
              <a:t>SOS / SOA – Honasa Portfolio Visibility</a:t>
            </a:r>
          </a:p>
        </p:txBody>
      </p:sp>
      <p:sp>
        <p:nvSpPr>
          <p:cNvPr id="101" name="Rule"/>
          <p:cNvSpPr/>
          <p:nvPr/>
        </p:nvSpPr>
        <p:spPr>
          <a:xfrm>
            <a:off x="274320" y="749808"/>
            <a:ext cx="7014210" cy="26000"/>
          </a:xfrm>
          <a:prstGeom prst="rect">
            <a:avLst/>
          </a:prstGeom>
          <a:solidFill>
            <a:srgbClr val="2D9B7F"/>
          </a:solidFill>
        </p:spPr>
        <p:txBody>
          <a:bodyPr/>
          <a:p/>
        </p:txBody>
      </p:sp>
      <p:pic>
        <p:nvPicPr>
          <p:cNvPr id="102" name="Pic0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329320" y="1317964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3" name="Cap0"/>
          <p:cNvSpPr txBox="1"/>
          <p:nvPr/>
        </p:nvSpPr>
        <p:spPr>
          <a:xfrm>
            <a:off x="329320" y="5260263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04" name="Pic1"/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3836425" y="1317964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5" name="Cap1"/>
          <p:cNvSpPr txBox="1"/>
          <p:nvPr/>
        </p:nvSpPr>
        <p:spPr>
          <a:xfrm>
            <a:off x="3836425" y="5260263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06" name="Pic2"/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329320" y="6015919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7" name="Cap2"/>
          <p:cNvSpPr txBox="1"/>
          <p:nvPr/>
        </p:nvSpPr>
        <p:spPr>
          <a:xfrm>
            <a:off x="329320" y="995821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pic>
        <p:nvPicPr>
          <p:cNvPr id="108" name="Pic3"/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3836425" y="6015919"/>
            <a:ext cx="3397105" cy="3441643"/>
          </a:xfrm>
          <a:prstGeom prst="rect">
            <a:avLst/>
          </a:prstGeom>
          <a:ln w="9525">
            <a:solidFill>
              <a:srgbClr val="2D9B7F"/>
            </a:solidFill>
          </a:ln>
        </p:spPr>
      </p:pic>
      <p:sp>
        <p:nvSpPr>
          <p:cNvPr id="109" name="Cap3"/>
          <p:cNvSpPr txBox="1"/>
          <p:nvPr/>
        </p:nvSpPr>
        <p:spPr>
          <a:xfrm>
            <a:off x="3836425" y="9958218"/>
            <a:ext cx="3397105" cy="200000"/>
          </a:xfrm>
          <a:prstGeom prst="rect">
            <a:avLst/>
          </a:prstGeom>
          <a:noFill/>
        </p:spPr>
        <p:txBody>
          <a:bodyPr wrap="square" anchor="ctr" lIns="20000" rIns="20000" tIns="0" bIns="0"/>
          <a:p>
            <a:pPr algn="ctr"/>
            <a:r>
              <a:rPr lang="en-US" sz="900">
                <a:solidFill>
                  <a:srgbClr val="1F2933"/>
                </a:solidFill>
                <a:latin typeface="Calibri"/>
              </a:rPr>
              <a:t>SUMO SAVE DISPLAY</a:t>
            </a:r>
          </a:p>
        </p:txBody>
      </p:sp>
      <p:sp>
        <p:nvSpPr>
          <p:cNvPr id="110" name="PageNum"/>
          <p:cNvSpPr txBox="1"/>
          <p:nvPr/>
        </p:nvSpPr>
        <p:spPr>
          <a:xfrm>
            <a:off x="6282690" y="10414318"/>
            <a:ext cx="1005840" cy="228600"/>
          </a:xfrm>
          <a:prstGeom prst="rect">
            <a:avLst/>
          </a:prstGeom>
          <a:noFill/>
        </p:spPr>
        <p:txBody>
          <a:bodyPr wrap="none" lIns="0" rIns="0" tIns="0" bIns="0"/>
          <a:p>
            <a:pPr algn="r"/>
            <a:r>
              <a:rPr lang="en-US" sz="900">
                <a:solidFill>
                  <a:srgbClr val="1F2933"/>
                </a:solidFill>
                <a:latin typeface="Calibri"/>
              </a:rPr>
              <a:t>24 / 24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286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9B7F"/>
                </a:solidFill>
              </a:defRPr>
            </a:pPr>
            <a:r>
              <a:t>Zone Performance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3"/>
                </a:solidFill>
              </a:defRPr>
            </a:pPr>
            <a:r>
              <a:t>Share trend × Distribution gap analysis by zone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57607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</a:tblGrid>
              <a:tr h="522514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Zone</a:t>
                      </a:r>
                    </a:p>
                  </a:txBody>
                  <a:tcPr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YoY %</a:t>
                      </a:r>
                    </a:p>
                  </a:txBody>
                  <a:tcPr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</a:rPr>
                        <a:t>FY27 Value</a:t>
                      </a:r>
                    </a:p>
                  </a:txBody>
                  <a:tcPr>
                    <a:solidFill>
                      <a:srgbClr val="2D9B7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East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E8E3E"/>
                          </a:solidFill>
                        </a:defRPr>
                      </a:pPr>
                      <a:r>
                        <a:t>53.8%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₹1,173L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North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E8E3E"/>
                          </a:solidFill>
                        </a:defRPr>
                      </a:pPr>
                      <a:r>
                        <a:t>62.4%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₹2,641L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Pan India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E8E3E"/>
                          </a:solidFill>
                        </a:defRPr>
                      </a:pPr>
                      <a:r>
                        <a:t>13.0%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₹653L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South 1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E8E3E"/>
                          </a:solidFill>
                        </a:defRPr>
                      </a:pPr>
                      <a:r>
                        <a:t>56.7%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₹2,489L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South 2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E8E3E"/>
                          </a:solidFill>
                        </a:defRPr>
                      </a:pPr>
                      <a:r>
                        <a:t>26.9%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₹1,576L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West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1E8E3E"/>
                          </a:solidFill>
                        </a:defRPr>
                      </a:pPr>
                      <a:r>
                        <a:t>31.5%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₹2,905L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28600"/>
            <a:ext cx="6400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D9B7F"/>
                </a:solidFill>
              </a:defRPr>
            </a:pPr>
            <a:r>
              <a:t>City-Tier Distribution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777240"/>
            <a:ext cx="6400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1F2933"/>
                </a:solidFill>
              </a:defRPr>
            </a:pPr>
            <a:r>
              <a:t>Distribution points and market reach by city tier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5760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1371600"/>
                <a:gridCol w="137160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Tier</a:t>
                      </a:r>
                    </a:p>
                  </a:txBody>
                  <a:tcPr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Distribution Points</a:t>
                      </a:r>
                    </a:p>
                  </a:txBody>
                  <a:tcPr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Unique Cities</a:t>
                      </a:r>
                    </a:p>
                  </a:txBody>
                  <a:tcPr>
                    <a:solidFill>
                      <a:srgbClr val="2D9B7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Share (₹L)</a:t>
                      </a:r>
                    </a:p>
                  </a:txBody>
                  <a:tcPr>
                    <a:solidFill>
                      <a:srgbClr val="2D9B7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Tier-1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₹0.0L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Tier-2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₹0.0L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Tier-3</a:t>
                      </a:r>
                    </a:p>
                  </a:txBody>
                  <a:tcPr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₹0.4L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43891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i="1">
                <a:solidFill>
                  <a:srgbClr val="1F2933"/>
                </a:solidFill>
              </a:defRPr>
            </a:pPr>
            <a:r>
              <a:t>Key Insight: Tier-1 metros drive majority of volume. Tier-2/3 expansion opportunity: identify high-PDO, low-distribution gaps.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Calibri"/>
        <a:cs typeface="Calibri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Calibri"/>
        <a:cs typeface="Calibri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solidFill>
        <a:schemeClr val="dk1"/>
      </a:solidFill>
      <a:solidFill>
        <a:schemeClr val="accent1"/>
      </a:soli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solidFill>
        <a:schemeClr val="dk1"/>
      </a:solidFill>
      <a:solidFill>
        <a:schemeClr val="accent1"/>
      </a:soli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ChatGPT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Calibri"/>
      <a:ea typeface="Calibri"/>
      <a:cs typeface="Calibri"/>
    </a:majorFont>
    <a:minorFont>
      <a:latin typeface="Calibri"/>
      <a:ea typeface="Calibri"/>
      <a:cs typeface="Calibri"/>
    </a:minorFont>
  </a:fontScheme>
  <a:fmtScheme name="ChatGPT">
    <a:fillStyleLst>
      <a:solidFill>
        <a:schemeClr val="phClr"/>
      </a:solidFill>
      <a:solidFill>
        <a:schemeClr val="dk1"/>
      </a:solidFill>
      <a:solidFill>
        <a:schemeClr val="accent1"/>
      </a:solidFill>
    </a:fillStyleLst>
    <a:lnStyleLst>
      <a:ln w="12700">
        <a:solidFill>
          <a:schemeClr val="phClr"/>
        </a:solidFill>
        <a:prstDash val="solid"/>
      </a:ln>
      <a:ln w="19050">
        <a:solidFill>
          <a:schemeClr val="phClr"/>
        </a:solidFill>
        <a:prstDash val="solid"/>
      </a:ln>
      <a:ln w="25400">
        <a:solidFill>
          <a:schemeClr val="phClr"/>
        </a:solidFill>
        <a:prstDash val="solid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>
        <a:gsLst>
          <a:gs pos="0">
            <a:schemeClr val="phClr">
              <a:tint val="93000"/>
              <a:shade val="98000"/>
              <a:lumMod val="102000"/>
              <a:satMod val="150000"/>
            </a:schemeClr>
          </a:gs>
          <a:gs pos="50000">
            <a:schemeClr val="phClr">
              <a:tint val="98000"/>
              <a:shade val="90000"/>
              <a:lumMod val="103000"/>
              <a:satMod val="130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</a:majorFont>
    <a:minorFont>
      <a:latin typeface="Calibri" panose="020F0502020204030204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lumMod val="110000"/>
              <a:tint val="67000"/>
            </a:schemeClr>
          </a:gs>
          <a:gs pos="50000">
            <a:schemeClr val="phClr">
              <a:lumMod val="105000"/>
              <a:tint val="73000"/>
            </a:schemeClr>
          </a:gs>
          <a:gs pos="100000">
            <a:schemeClr val="phClr">
              <a:lumMod val="105000"/>
              <a:tint val="81000"/>
            </a:schemeClr>
          </a:gs>
        </a:gsLst>
        <a:lin ang="5400000" scaled="0"/>
        <a:tileRect/>
      </a:gradFill>
      <a:gradFill>
        <a:gsLst>
          <a:gs pos="0">
            <a:schemeClr val="phClr">
              <a:lumMod val="102000"/>
              <a:tint val="94000"/>
            </a:schemeClr>
          </a:gs>
          <a:gs pos="50000">
            <a:schemeClr val="phClr">
              <a:lumMod val="100000"/>
              <a:shade val="100000"/>
            </a:schemeClr>
          </a:gs>
          <a:gs pos="100000">
            <a:schemeClr val="phClr">
              <a:lumMod val="99000"/>
              <a:shade val="78000"/>
            </a:schemeClr>
          </a:gs>
        </a:gsLst>
        <a:lin ang="5400000" scaled="0"/>
        <a:tileRect/>
      </a:gradFill>
    </a:fillStyleLst>
    <a:lnStyleLst>
      <a:ln w="6350" cap="flat" cmpd="sng" algn="ctr">
        <a:prstDash val="solid"/>
        <a:miter lim="800000"/>
      </a:ln>
      <a:ln w="12700" cap="flat" cmpd="sng" algn="ctr">
        <a:prstDash val="solid"/>
        <a:miter lim="800000"/>
      </a:ln>
      <a:ln w="19050" cap="flat" cmpd="sng" algn="ctr"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solidFill>
        <a:schemeClr val="phClr">
          <a:tint val="95000"/>
        </a:schemeClr>
      </a:solidFill>
      <a:gradFill>
        <a:gsLst>
          <a:gs pos="0">
            <a:schemeClr val="phClr">
              <a:tint val="93000"/>
              <a:shade val="98000"/>
              <a:lumMod val="102000"/>
            </a:schemeClr>
          </a:gs>
          <a:gs pos="50000">
            <a:schemeClr val="phClr">
              <a:tint val="98000"/>
              <a:shade val="90000"/>
              <a:lumMod val="103000"/>
            </a:schemeClr>
          </a:gs>
          <a:gs pos="100000">
            <a:schemeClr val="phClr">
              <a:shade val="63000"/>
            </a:schemeClr>
          </a:gs>
        </a:gsLst>
        <a:lin ang="5400000" scaled="0"/>
        <a:tileRect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</a:majorFont>
    <a:minorFont>
      <a:latin typeface="Calibri" panose="020F0502020204030204"/>
      <a:ea typeface=""/>
      <a:cs typeface=""/>
    </a:minorFont>
  </a:fontScheme>
  <a:fmtScheme>
    <a:fillStyleLst>
      <a:solidFill>
        <a:schemeClr val="phClr"/>
      </a:solidFill>
      <a:gradFill>
        <a:gsLst>
          <a:gs pos="0">
            <a:schemeClr val="phClr">
              <a:lumMod val="110000"/>
              <a:tint val="67000"/>
            </a:schemeClr>
          </a:gs>
          <a:gs pos="50000">
            <a:schemeClr val="phClr">
              <a:lumMod val="105000"/>
              <a:tint val="73000"/>
            </a:schemeClr>
          </a:gs>
          <a:gs pos="100000">
            <a:schemeClr val="phClr">
              <a:lumMod val="105000"/>
              <a:tint val="81000"/>
            </a:schemeClr>
          </a:gs>
        </a:gsLst>
        <a:lin ang="5400000" scaled="0"/>
        <a:tileRect/>
      </a:gradFill>
      <a:gradFill>
        <a:gsLst>
          <a:gs pos="0">
            <a:schemeClr val="phClr">
              <a:lumMod val="102000"/>
              <a:tint val="94000"/>
            </a:schemeClr>
          </a:gs>
          <a:gs pos="50000">
            <a:schemeClr val="phClr">
              <a:lumMod val="100000"/>
              <a:shade val="100000"/>
            </a:schemeClr>
          </a:gs>
          <a:gs pos="100000">
            <a:schemeClr val="phClr">
              <a:lumMod val="99000"/>
              <a:shade val="78000"/>
            </a:schemeClr>
          </a:gs>
        </a:gsLst>
        <a:lin ang="5400000" scaled="0"/>
        <a:tileRect/>
      </a:gradFill>
    </a:fillStyleLst>
    <a:lnStyleLst>
      <a:ln w="6350" cap="flat" cmpd="sng" algn="ctr">
        <a:prstDash val="solid"/>
        <a:miter lim="800000"/>
      </a:ln>
      <a:ln w="12700" cap="flat" cmpd="sng" algn="ctr">
        <a:prstDash val="solid"/>
        <a:miter lim="800000"/>
      </a:ln>
      <a:ln w="19050" cap="flat" cmpd="sng" algn="ctr"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/>
      </a:effectStyle>
    </a:effectStyleLst>
    <a:bgFillStyleLst>
      <a:solidFill>
        <a:schemeClr val="phClr"/>
      </a:solidFill>
      <a:solidFill>
        <a:schemeClr val="phClr">
          <a:tint val="95000"/>
        </a:schemeClr>
      </a:solidFill>
      <a:gradFill>
        <a:gsLst>
          <a:gs pos="0">
            <a:schemeClr val="phClr">
              <a:tint val="93000"/>
              <a:shade val="98000"/>
              <a:lumMod val="102000"/>
            </a:schemeClr>
          </a:gs>
          <a:gs pos="50000">
            <a:schemeClr val="phClr">
              <a:tint val="98000"/>
              <a:shade val="90000"/>
              <a:lumMod val="103000"/>
            </a:schemeClr>
          </a:gs>
          <a:gs pos="100000">
            <a:schemeClr val="phClr">
              <a:shade val="63000"/>
            </a:schemeClr>
          </a:gs>
        </a:gsLst>
        <a:lin ang="5400000" scaled="0"/>
        <a:tileRect/>
      </a:gradFill>
    </a:bgFillStyleLst>
  </a:fmtScheme>
</a:themeOverrid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250B6C4-5EBD-4264-AAD9-BB7370E2CAF1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9bc1b8ae-cf64-4a9a-a118-f38019ee018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6601</TotalTime>
  <Words>5410</Words>
  <Application>Microsoft Office PowerPoint</Application>
  <PresentationFormat>Custom</PresentationFormat>
  <Paragraphs>1871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MS Mincho</vt:lpstr>
      <vt:lpstr>Aptos</vt:lpstr>
      <vt:lpstr>Aptos Narrow</vt:lpstr>
      <vt:lpstr>Arial</vt:lpstr>
      <vt:lpstr>Arial MT</vt:lpstr>
      <vt:lpstr>Calibri</vt:lpstr>
      <vt:lpstr>Carlito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 Offtake Performance Report - May 2026</dc:title>
  <dc:subject>Corrected arrow colour formatting and PDF export</dc:subject>
  <dc:creator>OpenAI</dc:creator>
  <cp:lastModifiedBy>Sheshant  Singh Aswal</cp:lastModifiedBy>
  <cp:revision>40</cp:revision>
  <dcterms:created xsi:type="dcterms:W3CDTF">2026-06-21T08:36:32Z</dcterms:created>
  <dcterms:modified xsi:type="dcterms:W3CDTF">2026-06-27T09:59:56Z</dcterms:modified>
</cp:coreProperties>
</file>