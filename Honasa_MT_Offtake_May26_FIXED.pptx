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charts/chart36.xml" ContentType="application/vnd.openxmlformats-officedocument.drawingml.chart+xml"/>
  <Override PartName="/ppt/charts/chart37.xml" ContentType="application/vnd.openxmlformats-officedocument.drawingml.chart+xml"/>
  <Override PartName="/ppt/charts/chart38.xml" ContentType="application/vnd.openxmlformats-officedocument.drawingml.chart+xml"/>
  <Override PartName="/ppt/charts/chart39.xml" ContentType="application/vnd.openxmlformats-officedocument.drawingml.chart+xml"/>
  <Override PartName="/ppt/charts/chart4.xml" ContentType="application/vnd.openxmlformats-officedocument.drawingml.chart+xml"/>
  <Override PartName="/ppt/charts/chart40.xml" ContentType="application/vnd.openxmlformats-officedocument.drawingml.chart+xml"/>
  <Override PartName="/ppt/charts/chart41.xml" ContentType="application/vnd.openxmlformats-officedocument.drawingml.chart+xml"/>
  <Override PartName="/ppt/charts/chart42.xml" ContentType="application/vnd.openxmlformats-officedocument.drawingml.chart+xml"/>
  <Override PartName="/ppt/charts/chart43.xml" ContentType="application/vnd.openxmlformats-officedocument.drawingml.chart+xml"/>
  <Override PartName="/ppt/charts/chart44.xml" ContentType="application/vnd.openxmlformats-officedocument.drawingml.chart+xml"/>
  <Override PartName="/ppt/charts/chart45.xml" ContentType="application/vnd.openxmlformats-officedocument.drawingml.chart+xml"/>
  <Override PartName="/ppt/charts/chart46.xml" ContentType="application/vnd.openxmlformats-officedocument.drawingml.chart+xml"/>
  <Override PartName="/ppt/charts/chart47.xml" ContentType="application/vnd.openxmlformats-officedocument.drawingml.chart+xml"/>
  <Override PartName="/ppt/charts/chart48.xml" ContentType="application/vnd.openxmlformats-officedocument.drawingml.chart+xml"/>
  <Override PartName="/ppt/charts/chart49.xml" ContentType="application/vnd.openxmlformats-officedocument.drawingml.chart+xml"/>
  <Override PartName="/ppt/charts/chart5.xml" ContentType="application/vnd.openxmlformats-officedocument.drawingml.chart+xml"/>
  <Override PartName="/ppt/charts/chart50.xml" ContentType="application/vnd.openxmlformats-officedocument.drawingml.chart+xml"/>
  <Override PartName="/ppt/charts/chart51.xml" ContentType="application/vnd.openxmlformats-officedocument.drawingml.chart+xml"/>
  <Override PartName="/ppt/charts/chart52.xml" ContentType="application/vnd.openxmlformats-officedocument.drawingml.chart+xml"/>
  <Override PartName="/ppt/charts/chart53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drawings/drawing1.xml" ContentType="application/vnd.openxmlformats-officedocument.drawingml.chartshapes+xml"/>
  <Override PartName="/ppt/drawings/drawing2.xml" ContentType="application/vnd.openxmlformats-officedocument.drawingml.chartshapes+xml"/>
  <Override PartName="/ppt/drawings/drawing3.xml" ContentType="application/vnd.openxmlformats-officedocument.drawingml.chartshapes+xml"/>
  <Override PartName="/ppt/drawings/drawing4.xml" ContentType="application/vnd.openxmlformats-officedocument.drawingml.chartshapes+xml"/>
  <Override PartName="/ppt/drawings/drawing5.xml" ContentType="application/vnd.openxmlformats-officedocument.drawingml.chartshap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8" r:id="rId3"/>
    <p:sldId id="269" r:id="rId4"/>
    <p:sldId id="276" r:id="rId5"/>
    <p:sldId id="290" r:id="rId6"/>
    <p:sldId id="291" r:id="rId7"/>
    <p:sldId id="292" r:id="rId8"/>
    <p:sldId id="277" r:id="rId9"/>
    <p:sldId id="278" r:id="rId10"/>
    <p:sldId id="270" r:id="rId11"/>
    <p:sldId id="271" r:id="rId12"/>
    <p:sldId id="272" r:id="rId13"/>
    <p:sldId id="273" r:id="rId14"/>
    <p:sldId id="274" r:id="rId15"/>
    <p:sldId id="275" r:id="rId16"/>
    <p:sldId id="279" r:id="rId17"/>
    <p:sldId id="280" r:id="rId18"/>
    <p:sldId id="281" r:id="rId19"/>
    <p:sldId id="282" r:id="rId20"/>
    <p:sldId id="283" r:id="rId21"/>
    <p:sldId id="284" r:id="rId22"/>
    <p:sldId id="285" r:id="rId23"/>
    <p:sldId id="286" r:id="rId24"/>
  </p:sldIdLst>
  <p:sldSz cx="7562850" cy="10688638"/>
  <p:notesSz cx="10688638" cy="75628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6" userDrawn="1">
          <p15:clr>
            <a:srgbClr val="A4A3A4"/>
          </p15:clr>
        </p15:guide>
        <p15:guide id="2" pos="238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6FBF8"/>
    <a:srgbClr val="289C83"/>
    <a:srgbClr val="1E7461"/>
    <a:srgbClr val="70F4BB"/>
    <a:srgbClr val="2DAD92"/>
    <a:srgbClr val="2EB094"/>
    <a:srgbClr val="6DD9C2"/>
    <a:srgbClr val="CC99FF"/>
    <a:srgbClr val="FFFF66"/>
    <a:srgbClr val="CC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532" autoAdjust="0"/>
    <p:restoredTop sz="75446" autoAdjust="0"/>
  </p:normalViewPr>
  <p:slideViewPr>
    <p:cSldViewPr snapToGrid="0" snapToObjects="1">
      <p:cViewPr>
        <p:scale>
          <a:sx n="66" d="100"/>
          <a:sy n="66" d="100"/>
        </p:scale>
        <p:origin x="1312" y="-1556"/>
      </p:cViewPr>
      <p:guideLst>
        <p:guide orient="horz" pos="3366"/>
        <p:guide pos="238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0" d="100"/>
          <a:sy n="60" d="100"/>
        </p:scale>
        <p:origin x="728" y="5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Relationship Id="rId2" Type="http://schemas.openxmlformats.org/officeDocument/2006/relationships/chartUserShapes" Target="../drawings/drawing1.xml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8.xlsx"/><Relationship Id="rId2" Type="http://schemas.openxmlformats.org/officeDocument/2006/relationships/chartUserShapes" Target="../drawings/drawing2.xml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package" Target="../embeddings/Microsoft_Excel_Worksheet11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2.xml"/><Relationship Id="rId2" Type="http://schemas.openxmlformats.org/officeDocument/2006/relationships/package" Target="../embeddings/Microsoft_Excel_Worksheet12.xlsx"/><Relationship Id="rId3" Type="http://schemas.openxmlformats.org/officeDocument/2006/relationships/chartUserShapes" Target="../drawings/drawing3.xml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3.xml"/><Relationship Id="rId2" Type="http://schemas.openxmlformats.org/officeDocument/2006/relationships/package" Target="../embeddings/Microsoft_Excel_Worksheet13.xlsx"/><Relationship Id="rId3" Type="http://schemas.openxmlformats.org/officeDocument/2006/relationships/chartUserShapes" Target="../drawings/drawing4.xml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4.xml"/><Relationship Id="rId2" Type="http://schemas.openxmlformats.org/officeDocument/2006/relationships/package" Target="../embeddings/Microsoft_Excel_Worksheet14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5.xml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6.xml"/><Relationship Id="rId2" Type="http://schemas.openxmlformats.org/officeDocument/2006/relationships/chartUserShapes" Target="../drawings/drawing5.xml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_rels/chart3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7.xlsx"/></Relationships>
</file>

<file path=ppt/charts/_rels/chart3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8.xlsx"/></Relationships>
</file>

<file path=ppt/charts/_rels/chart3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9.xlsx"/></Relationships>
</file>

<file path=ppt/charts/_rels/chart3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0.xlsx"/></Relationships>
</file>

<file path=ppt/charts/_rels/chart3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1.xlsx"/></Relationships>
</file>

<file path=ppt/charts/_rels/chart3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2.xlsx"/></Relationships>
</file>

<file path=ppt/charts/_rels/chart3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3.xlsx"/></Relationships>
</file>

<file path=ppt/charts/_rels/chart3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4.xlsx"/></Relationships>
</file>

<file path=ppt/charts/_rels/chart3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5.xlsx"/></Relationships>
</file>

<file path=ppt/charts/_rels/chart3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6.xlsx"/></Relationships>
</file>

<file path=ppt/charts/_rels/chart4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7.xlsx"/></Relationships>
</file>

<file path=ppt/charts/_rels/chart4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8.xlsx"/></Relationships>
</file>

<file path=ppt/charts/_rels/chart4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9.xlsx"/></Relationships>
</file>

<file path=ppt/charts/_rels/chart4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0.xlsx"/></Relationships>
</file>

<file path=ppt/charts/_rels/chart4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1.xlsx"/></Relationships>
</file>

<file path=ppt/charts/_rels/chart4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2.xlsx"/></Relationships>
</file>

<file path=ppt/charts/_rels/chart4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3.xlsx"/></Relationships>
</file>

<file path=ppt/charts/_rels/chart4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4.xlsx"/></Relationships>
</file>

<file path=ppt/charts/_rels/chart4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5.xlsx"/></Relationships>
</file>

<file path=ppt/charts/_rels/chart4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6.xlsx"/></Relationships>
</file>

<file path=ppt/charts/_rels/chart5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7.xlsx"/></Relationships>
</file>

<file path=ppt/charts/_rels/chart5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8.xlsx"/></Relationships>
</file>

<file path=ppt/charts/_rels/chart5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9.xlsx"/></Relationships>
</file>

<file path=ppt/charts/_rels/chart5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Channel</c:v>
                </c:pt>
              </c:strCache>
            </c:strRef>
          </c:tx>
          <c:spPr>
            <a:ln w="25400" cap="flat">
              <a:solidFill>
                <a:srgbClr val="1F5A85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1F5A85"/>
              </a:solidFill>
              <a:ln w="9525" cap="flat">
                <a:solidFill>
                  <a:srgbClr val="1F5A85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May-25</c:v>
                </c:pt>
                <c:pt idx="1">
                  <c:v>Jan-26</c:v>
                </c:pt>
                <c:pt idx="2">
                  <c:v>Feb-26</c:v>
                </c:pt>
                <c:pt idx="3">
                  <c:v>Mar-26</c:v>
                </c:pt>
                <c:pt idx="4">
                  <c:v>Apr-26</c:v>
                </c:pt>
                <c:pt idx="5">
                  <c:v>May-26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2466</c:v>
                </c:pt>
                <c:pt idx="1">
                  <c:v>3039</c:v>
                </c:pt>
                <c:pt idx="2">
                  <c:v>2761</c:v>
                </c:pt>
                <c:pt idx="3">
                  <c:v>3234</c:v>
                </c:pt>
                <c:pt idx="4">
                  <c:v>3589</c:v>
                </c:pt>
                <c:pt idx="5">
                  <c:v>4019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4DA-4911-B739-110D1015308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D-mart</c:v>
                </c:pt>
              </c:strCache>
            </c:strRef>
          </c:tx>
          <c:spPr>
            <a:ln w="25400" cap="flat">
              <a:solidFill>
                <a:srgbClr val="F39C12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F39C12"/>
              </a:solidFill>
              <a:ln w="9525" cap="flat">
                <a:solidFill>
                  <a:srgbClr val="F39C12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May-25</c:v>
                </c:pt>
                <c:pt idx="1">
                  <c:v>Jan-26</c:v>
                </c:pt>
                <c:pt idx="2">
                  <c:v>Feb-26</c:v>
                </c:pt>
                <c:pt idx="3">
                  <c:v>Mar-26</c:v>
                </c:pt>
                <c:pt idx="4">
                  <c:v>Apr-26</c:v>
                </c:pt>
                <c:pt idx="5">
                  <c:v>May-26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897</c:v>
                </c:pt>
                <c:pt idx="1">
                  <c:v>967</c:v>
                </c:pt>
                <c:pt idx="2">
                  <c:v>928</c:v>
                </c:pt>
                <c:pt idx="3">
                  <c:v>1226</c:v>
                </c:pt>
                <c:pt idx="4">
                  <c:v>1258</c:v>
                </c:pt>
                <c:pt idx="5">
                  <c:v>1518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4DA-4911-B739-110D1015308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Reliance</c:v>
                </c:pt>
              </c:strCache>
            </c:strRef>
          </c:tx>
          <c:spPr>
            <a:ln w="25400" cap="flat">
              <a:solidFill>
                <a:srgbClr val="2E8B57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2E8B57"/>
              </a:solidFill>
              <a:ln w="9525" cap="flat">
                <a:solidFill>
                  <a:srgbClr val="2E8B57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May-25</c:v>
                </c:pt>
                <c:pt idx="1">
                  <c:v>Jan-26</c:v>
                </c:pt>
                <c:pt idx="2">
                  <c:v>Feb-26</c:v>
                </c:pt>
                <c:pt idx="3">
                  <c:v>Mar-26</c:v>
                </c:pt>
                <c:pt idx="4">
                  <c:v>Apr-26</c:v>
                </c:pt>
                <c:pt idx="5">
                  <c:v>May-26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715</c:v>
                </c:pt>
                <c:pt idx="1">
                  <c:v>900</c:v>
                </c:pt>
                <c:pt idx="2">
                  <c:v>757</c:v>
                </c:pt>
                <c:pt idx="3">
                  <c:v>805</c:v>
                </c:pt>
                <c:pt idx="4">
                  <c:v>868</c:v>
                </c:pt>
                <c:pt idx="5">
                  <c:v>990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4DA-4911-B739-110D1015308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Apollo</c:v>
                </c:pt>
              </c:strCache>
            </c:strRef>
          </c:tx>
          <c:spPr>
            <a:ln w="25400" cap="flat">
              <a:solidFill>
                <a:srgbClr val="7E57C2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7E57C2"/>
              </a:solidFill>
              <a:ln w="9525" cap="flat">
                <a:solidFill>
                  <a:srgbClr val="7E57C2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May-25</c:v>
                </c:pt>
                <c:pt idx="1">
                  <c:v>Jan-26</c:v>
                </c:pt>
                <c:pt idx="2">
                  <c:v>Feb-26</c:v>
                </c:pt>
                <c:pt idx="3">
                  <c:v>Mar-26</c:v>
                </c:pt>
                <c:pt idx="4">
                  <c:v>Apr-26</c:v>
                </c:pt>
                <c:pt idx="5">
                  <c:v>May-26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272</c:v>
                </c:pt>
                <c:pt idx="1">
                  <c:v>534</c:v>
                </c:pt>
                <c:pt idx="2">
                  <c:v>511</c:v>
                </c:pt>
                <c:pt idx="3">
                  <c:v>570</c:v>
                </c:pt>
                <c:pt idx="4">
                  <c:v>699</c:v>
                </c:pt>
                <c:pt idx="5">
                  <c:v>751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84DA-4911-B739-110D101530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100000"/>
          <a:lstStyle/>
          <a:p>
            <a:pPr>
              <a:defRPr sz="800" b="1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500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1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600"/>
      </c:valAx>
      <c:spPr>
        <a:noFill/>
        <a:ln>
          <a:solidFill>
            <a:schemeClr val="tx1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1050" b="1"/>
          </a:pPr>
          <a:endParaRPr lang="en-US"/>
        </a:p>
      </c:txPr>
    </c:legend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2915217200568166"/>
          <c:y val="3.4679707782406567E-2"/>
          <c:w val="0.85273961525591291"/>
          <c:h val="0.661229936999691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May-26 NSV</c:v>
                </c:pt>
              </c:strCache>
            </c:strRef>
          </c:tx>
          <c:spPr>
            <a:solidFill>
              <a:srgbClr val="1F5A8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D-mart</c:v>
                </c:pt>
                <c:pt idx="1">
                  <c:v>Reliance</c:v>
                </c:pt>
                <c:pt idx="2">
                  <c:v>Apollo</c:v>
                </c:pt>
                <c:pt idx="3">
                  <c:v>FSN</c:v>
                </c:pt>
                <c:pt idx="4">
                  <c:v>Wellness Forever</c:v>
                </c:pt>
                <c:pt idx="5">
                  <c:v>H&amp;G</c:v>
                </c:pt>
                <c:pt idx="6">
                  <c:v>Lulu</c:v>
                </c:pt>
                <c:pt idx="7">
                  <c:v>Metro CNC</c:v>
                </c:pt>
                <c:pt idx="8">
                  <c:v>Sancus (RMT)</c:v>
                </c:pt>
                <c:pt idx="9">
                  <c:v>More Retail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1518</c:v>
                </c:pt>
                <c:pt idx="1">
                  <c:v>990</c:v>
                </c:pt>
                <c:pt idx="2">
                  <c:v>751</c:v>
                </c:pt>
                <c:pt idx="3">
                  <c:v>208</c:v>
                </c:pt>
                <c:pt idx="4">
                  <c:v>102</c:v>
                </c:pt>
                <c:pt idx="5">
                  <c:v>87</c:v>
                </c:pt>
                <c:pt idx="6">
                  <c:v>116</c:v>
                </c:pt>
                <c:pt idx="7">
                  <c:v>48</c:v>
                </c:pt>
                <c:pt idx="8">
                  <c:v>46</c:v>
                </c:pt>
                <c:pt idx="9">
                  <c:v>55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88D3-4E7A-940E-55667ED1CC3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1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75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/>
          <a:lstStyle/>
          <a:p>
            <a:pPr>
              <a:defRPr sz="520" b="1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6204850073429631"/>
          <c:y val="3.8657366043831007E-2"/>
          <c:w val="0.67892894986336516"/>
          <c:h val="0.9188105267921670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F5A8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5AF-4EE4-884F-89762958C52C}"/>
              </c:ext>
            </c:extLst>
          </c:dPt>
          <c:dPt>
            <c:idx val="1"/>
            <c:invertIfNegative val="0"/>
            <c:bubble3D val="0"/>
            <c:spPr>
              <a:solidFill>
                <a:srgbClr val="F39C1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5AF-4EE4-884F-89762958C52C}"/>
              </c:ext>
            </c:extLst>
          </c:dPt>
          <c:dPt>
            <c:idx val="2"/>
            <c:invertIfNegative val="0"/>
            <c:bubble3D val="0"/>
            <c:spPr>
              <a:solidFill>
                <a:srgbClr val="2E8B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5AF-4EE4-884F-89762958C52C}"/>
              </c:ext>
            </c:extLst>
          </c:dPt>
          <c:dPt>
            <c:idx val="3"/>
            <c:invertIfNegative val="0"/>
            <c:bubble3D val="0"/>
            <c:spPr>
              <a:solidFill>
                <a:srgbClr val="7E57C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5AF-4EE4-884F-89762958C52C}"/>
              </c:ext>
            </c:extLst>
          </c:dPt>
          <c:dPt>
            <c:idx val="4"/>
            <c:invertIfNegative val="0"/>
            <c:bubble3D val="0"/>
            <c:spPr>
              <a:solidFill>
                <a:srgbClr val="8B451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5AF-4EE4-884F-89762958C52C}"/>
              </c:ext>
            </c:extLst>
          </c:dPt>
          <c:dPt>
            <c:idx val="5"/>
            <c:invertIfNegative val="0"/>
            <c:bubble3D val="0"/>
            <c:spPr>
              <a:solidFill>
                <a:srgbClr val="D66B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85AF-4EE4-884F-89762958C52C}"/>
              </c:ext>
            </c:extLst>
          </c:dPt>
          <c:dPt>
            <c:idx val="6"/>
            <c:invertIfNegative val="0"/>
            <c:bubble3D val="0"/>
            <c:spPr>
              <a:solidFill>
                <a:srgbClr val="A0AE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85AF-4EE4-884F-89762958C52C}"/>
              </c:ext>
            </c:extLst>
          </c:dPt>
          <c:dLbls>
            <c:dLbl>
              <c:idx val="0"/>
              <c:layout>
                <c:manualLayout>
                  <c:x val="0"/>
                  <c:y val="-2.3348756093794394E-3"/>
                </c:manualLayout>
              </c:layout>
              <c:tx>
                <c:rich>
                  <a:bodyPr rot="-120000"/>
                  <a:lstStyle/>
                  <a:p>
                    <a:pPr>
                      <a:defRPr sz="1050" b="1"/>
                    </a:pPr>
                    <a:r>
                      <a:rPr lang="en-US" sz="1050" dirty="0"/>
                      <a:t>38</a:t>
                    </a:r>
                  </a:p>
                </c:rich>
              </c:tx>
              <c:numFmt formatCode="General" sourceLinked="0"/>
              <c:spPr>
                <a:noFill/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2181186600728544"/>
                      <c:h val="0.18746540610995055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1-85AF-4EE4-884F-89762958C52C}"/>
                </c:ext>
              </c:extLst>
            </c:dLbl>
            <c:dLbl>
              <c:idx val="1"/>
              <c:tx>
                <c:rich>
                  <a:bodyPr rot="-120000"/>
                  <a:lstStyle/>
                  <a:p>
                    <a:pPr>
                      <a:defRPr sz="1050" b="1"/>
                    </a:pPr>
                    <a:r>
                      <a:rPr lang="en-US" sz="1050" dirty="0"/>
                      <a:t>25</a:t>
                    </a:r>
                  </a:p>
                </c:rich>
              </c:tx>
              <c:numFmt formatCode="General" sourceLinked="0"/>
              <c:spPr>
                <a:noFill/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85AF-4EE4-884F-89762958C52C}"/>
                </c:ext>
              </c:extLst>
            </c:dLbl>
            <c:dLbl>
              <c:idx val="2"/>
              <c:tx>
                <c:rich>
                  <a:bodyPr rot="-120000"/>
                  <a:lstStyle/>
                  <a:p>
                    <a:pPr>
                      <a:defRPr sz="1050" b="1"/>
                    </a:pPr>
                    <a:r>
                      <a:rPr lang="en-US" sz="1050" dirty="0"/>
                      <a:t>19</a:t>
                    </a:r>
                  </a:p>
                </c:rich>
              </c:tx>
              <c:numFmt formatCode="General" sourceLinked="0"/>
              <c:spPr>
                <a:noFill/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85AF-4EE4-884F-89762958C52C}"/>
                </c:ext>
              </c:extLst>
            </c:dLbl>
            <c:dLbl>
              <c:idx val="3"/>
              <c:tx>
                <c:rich>
                  <a:bodyPr rot="-120000"/>
                  <a:lstStyle/>
                  <a:p>
                    <a:pPr>
                      <a:defRPr sz="1050" b="1"/>
                    </a:pPr>
                    <a:r>
                      <a:rPr lang="en-US" sz="1050" dirty="0"/>
                      <a:t>5</a:t>
                    </a:r>
                  </a:p>
                </c:rich>
              </c:tx>
              <c:numFmt formatCode="General" sourceLinked="0"/>
              <c:spPr>
                <a:noFill/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85AF-4EE4-884F-89762958C52C}"/>
                </c:ext>
              </c:extLst>
            </c:dLbl>
            <c:dLbl>
              <c:idx val="4"/>
              <c:tx>
                <c:rich>
                  <a:bodyPr rot="-120000"/>
                  <a:lstStyle/>
                  <a:p>
                    <a:pPr>
                      <a:defRPr sz="1050" b="1"/>
                    </a:pPr>
                    <a:r>
                      <a:rPr lang="en-US" sz="1050" dirty="0"/>
                      <a:t>3</a:t>
                    </a:r>
                  </a:p>
                </c:rich>
              </c:tx>
              <c:numFmt formatCode="General" sourceLinked="0"/>
              <c:spPr>
                <a:noFill/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85AF-4EE4-884F-89762958C52C}"/>
                </c:ext>
              </c:extLst>
            </c:dLbl>
            <c:dLbl>
              <c:idx val="5"/>
              <c:tx>
                <c:rich>
                  <a:bodyPr rot="-120000"/>
                  <a:lstStyle/>
                  <a:p>
                    <a:pPr>
                      <a:defRPr sz="1050" b="1"/>
                    </a:pPr>
                    <a:r>
                      <a:rPr lang="en-US" sz="1050" dirty="0"/>
                      <a:t>3</a:t>
                    </a:r>
                  </a:p>
                </c:rich>
              </c:tx>
              <c:numFmt formatCode="General" sourceLinked="0"/>
              <c:spPr>
                <a:noFill/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85AF-4EE4-884F-89762958C52C}"/>
                </c:ext>
              </c:extLst>
            </c:dLbl>
            <c:dLbl>
              <c:idx val="6"/>
              <c:tx>
                <c:rich>
                  <a:bodyPr rot="-120000"/>
                  <a:lstStyle/>
                  <a:p>
                    <a:pPr>
                      <a:defRPr sz="1050" b="1"/>
                    </a:pPr>
                    <a:r>
                      <a:rPr lang="en-US" sz="1050" dirty="0"/>
                      <a:t>2</a:t>
                    </a:r>
                  </a:p>
                </c:rich>
              </c:tx>
              <c:numFmt formatCode="General" sourceLinked="0"/>
              <c:spPr>
                <a:noFill/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85AF-4EE4-884F-89762958C52C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-120000"/>
              <a:lstStyle/>
              <a:p>
                <a:pPr>
                  <a:defRPr sz="1050" b="1"/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D-mart</c:v>
                </c:pt>
                <c:pt idx="1">
                  <c:v>Reliance</c:v>
                </c:pt>
                <c:pt idx="2">
                  <c:v>Apollo</c:v>
                </c:pt>
                <c:pt idx="3">
                  <c:v>FSN</c:v>
                </c:pt>
                <c:pt idx="4">
                  <c:v>Lulu</c:v>
                </c:pt>
                <c:pt idx="5">
                  <c:v>Wellness</c:v>
                </c:pt>
                <c:pt idx="6">
                  <c:v>H&amp;G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37.9</c:v>
                </c:pt>
                <c:pt idx="1">
                  <c:v>24.7</c:v>
                </c:pt>
                <c:pt idx="2">
                  <c:v>18.7</c:v>
                </c:pt>
                <c:pt idx="3">
                  <c:v>5.2</c:v>
                </c:pt>
                <c:pt idx="4">
                  <c:v>2.9</c:v>
                </c:pt>
                <c:pt idx="5">
                  <c:v>2.5</c:v>
                </c:pt>
                <c:pt idx="6">
                  <c:v>2.2000000000000002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85AF-4EE4-884F-89762958C5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483303023"/>
        <c:axId val="1483303503"/>
      </c:barChart>
      <c:valAx>
        <c:axId val="1483303503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1483303023"/>
        <c:crosses val="autoZero"/>
        <c:crossBetween val="between"/>
      </c:valAx>
      <c:catAx>
        <c:axId val="1483303023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48330350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1.5779382112253881E-2"/>
          <c:y val="0.25109876483050692"/>
          <c:w val="0.95226512081418879"/>
          <c:h val="0.5827213652023138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lumMod val="40000"/>
                <a:lumOff val="60000"/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865</c:v>
                </c:pt>
                <c:pt idx="1">
                  <c:v>836</c:v>
                </c:pt>
                <c:pt idx="2">
                  <c:v>810</c:v>
                </c:pt>
                <c:pt idx="3">
                  <c:v>903</c:v>
                </c:pt>
                <c:pt idx="4">
                  <c:v>756</c:v>
                </c:pt>
                <c:pt idx="5">
                  <c:v>867</c:v>
                </c:pt>
                <c:pt idx="6">
                  <c:v>803</c:v>
                </c:pt>
                <c:pt idx="7">
                  <c:v>768</c:v>
                </c:pt>
                <c:pt idx="8">
                  <c:v>843</c:v>
                </c:pt>
                <c:pt idx="9">
                  <c:v>828</c:v>
                </c:pt>
                <c:pt idx="10">
                  <c:v>935</c:v>
                </c:pt>
                <c:pt idx="11">
                  <c:v>1000</c:v>
                </c:pt>
                <c:pt idx="12">
                  <c:v>1112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FCF4-4797-A596-F345064552A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46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0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0104286522012647E-2"/>
          <c:y val="0.2510982201560491"/>
          <c:w val="0.94901638652967191"/>
          <c:h val="0.5993721962657605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CC0066">
                <a:alpha val="92549"/>
              </a:srgbClr>
            </a:solidFill>
            <a:ln>
              <a:solidFill>
                <a:schemeClr val="tx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516</c:v>
                </c:pt>
                <c:pt idx="1">
                  <c:v>491</c:v>
                </c:pt>
                <c:pt idx="2">
                  <c:v>509</c:v>
                </c:pt>
                <c:pt idx="3">
                  <c:v>635</c:v>
                </c:pt>
                <c:pt idx="4">
                  <c:v>489</c:v>
                </c:pt>
                <c:pt idx="5">
                  <c:v>601</c:v>
                </c:pt>
                <c:pt idx="6">
                  <c:v>534</c:v>
                </c:pt>
                <c:pt idx="7">
                  <c:v>633</c:v>
                </c:pt>
                <c:pt idx="8">
                  <c:v>701</c:v>
                </c:pt>
                <c:pt idx="9">
                  <c:v>570</c:v>
                </c:pt>
                <c:pt idx="10">
                  <c:v>630</c:v>
                </c:pt>
                <c:pt idx="11">
                  <c:v>715</c:v>
                </c:pt>
                <c:pt idx="12">
                  <c:v>787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9721-4F38-B758-5A355A011A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46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2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3.120629355289873E-2"/>
          <c:y val="0.26949285491099939"/>
          <c:w val="0.91851889873353298"/>
          <c:h val="0.461590140404985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FFFF66">
                <a:alpha val="84706"/>
              </a:srgbClr>
            </a:solidFill>
            <a:ln>
              <a:solidFill>
                <a:schemeClr val="tx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211</c:v>
                </c:pt>
                <c:pt idx="1">
                  <c:v>144</c:v>
                </c:pt>
                <c:pt idx="2">
                  <c:v>101</c:v>
                </c:pt>
                <c:pt idx="3">
                  <c:v>94</c:v>
                </c:pt>
                <c:pt idx="4">
                  <c:v>87</c:v>
                </c:pt>
                <c:pt idx="5">
                  <c:v>103</c:v>
                </c:pt>
                <c:pt idx="6">
                  <c:v>91</c:v>
                </c:pt>
                <c:pt idx="7">
                  <c:v>92</c:v>
                </c:pt>
                <c:pt idx="8">
                  <c:v>109</c:v>
                </c:pt>
                <c:pt idx="9">
                  <c:v>166</c:v>
                </c:pt>
                <c:pt idx="10">
                  <c:v>306</c:v>
                </c:pt>
                <c:pt idx="11">
                  <c:v>364</c:v>
                </c:pt>
                <c:pt idx="12">
                  <c:v>352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FEDF-4B4A-BEFA-A31E29BCC0C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/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2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txPr>
    <a:bodyPr/>
    <a:lstStyle/>
    <a:p>
      <a:pPr>
        <a:defRPr sz="750" b="1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6.5011820330969264E-2"/>
          <c:y val="0.21971123666038919"/>
          <c:w val="0.86984838331378789"/>
          <c:h val="0.6307596967045785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1F5A85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44</c:v>
                </c:pt>
                <c:pt idx="1">
                  <c:v>47</c:v>
                </c:pt>
                <c:pt idx="2">
                  <c:v>56</c:v>
                </c:pt>
                <c:pt idx="3">
                  <c:v>70</c:v>
                </c:pt>
                <c:pt idx="4">
                  <c:v>73</c:v>
                </c:pt>
                <c:pt idx="5">
                  <c:v>90</c:v>
                </c:pt>
                <c:pt idx="6">
                  <c:v>106</c:v>
                </c:pt>
                <c:pt idx="7">
                  <c:v>171</c:v>
                </c:pt>
                <c:pt idx="8">
                  <c:v>307</c:v>
                </c:pt>
                <c:pt idx="9">
                  <c:v>281</c:v>
                </c:pt>
                <c:pt idx="10">
                  <c:v>340</c:v>
                </c:pt>
                <c:pt idx="11">
                  <c:v>405</c:v>
                </c:pt>
                <c:pt idx="12">
                  <c:v>557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A396-4471-9054-2499F13A825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5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7.0921985815602842E-2"/>
          <c:y val="0.20401757689893282"/>
          <c:w val="0.86393821782915436"/>
          <c:h val="0.6464533564660350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94</c:v>
                </c:pt>
                <c:pt idx="1">
                  <c:v>85</c:v>
                </c:pt>
                <c:pt idx="2">
                  <c:v>73</c:v>
                </c:pt>
                <c:pt idx="3">
                  <c:v>77</c:v>
                </c:pt>
                <c:pt idx="4">
                  <c:v>76</c:v>
                </c:pt>
                <c:pt idx="5">
                  <c:v>85</c:v>
                </c:pt>
                <c:pt idx="6">
                  <c:v>90</c:v>
                </c:pt>
                <c:pt idx="7">
                  <c:v>104</c:v>
                </c:pt>
                <c:pt idx="8">
                  <c:v>123</c:v>
                </c:pt>
                <c:pt idx="9">
                  <c:v>135</c:v>
                </c:pt>
                <c:pt idx="10">
                  <c:v>245</c:v>
                </c:pt>
                <c:pt idx="11">
                  <c:v>334</c:v>
                </c:pt>
                <c:pt idx="12">
                  <c:v>429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DAB6-4B7C-9B2B-EC9BDF7BA2C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  <c:userShapes r:id="rId2"/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3486625342045011E-2"/>
          <c:y val="0.19617074701820464"/>
          <c:w val="0.93486020364475708"/>
          <c:h val="0.6543001863467631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7030A0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63</c:v>
                </c:pt>
                <c:pt idx="1">
                  <c:v>60</c:v>
                </c:pt>
                <c:pt idx="2">
                  <c:v>64</c:v>
                </c:pt>
                <c:pt idx="3">
                  <c:v>71</c:v>
                </c:pt>
                <c:pt idx="4">
                  <c:v>58</c:v>
                </c:pt>
                <c:pt idx="5">
                  <c:v>69</c:v>
                </c:pt>
                <c:pt idx="6">
                  <c:v>75</c:v>
                </c:pt>
                <c:pt idx="7">
                  <c:v>92</c:v>
                </c:pt>
                <c:pt idx="8">
                  <c:v>92</c:v>
                </c:pt>
                <c:pt idx="9">
                  <c:v>78</c:v>
                </c:pt>
                <c:pt idx="10">
                  <c:v>80</c:v>
                </c:pt>
                <c:pt idx="11">
                  <c:v>96</c:v>
                </c:pt>
                <c:pt idx="12">
                  <c:v>92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6E10-4B2C-9E7C-D3436EF7603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  <c:userShapes r:id="rId2"/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May-26 NSV</c:v>
                </c:pt>
              </c:strCache>
            </c:strRef>
          </c:tx>
          <c:spPr>
            <a:solidFill>
              <a:srgbClr val="1F5A8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East</c:v>
                </c:pt>
                <c:pt idx="1">
                  <c:v>North</c:v>
                </c:pt>
                <c:pt idx="2">
                  <c:v>South-1</c:v>
                </c:pt>
                <c:pt idx="3">
                  <c:v>South-2</c:v>
                </c:pt>
                <c:pt idx="4">
                  <c:v>West</c:v>
                </c:pt>
                <c:pt idx="5">
                  <c:v>Pan India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411</c:v>
                </c:pt>
                <c:pt idx="1">
                  <c:v>934</c:v>
                </c:pt>
                <c:pt idx="2">
                  <c:v>894</c:v>
                </c:pt>
                <c:pt idx="3">
                  <c:v>554</c:v>
                </c:pt>
                <c:pt idx="4">
                  <c:v>1017</c:v>
                </c:pt>
                <c:pt idx="5">
                  <c:v>208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A1E1-4A86-928A-6318F3BF648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/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5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CBD5E1"/>
            </a:solidFill>
            <a:prstDash val="solid"/>
            <a:round/>
          </a:ln>
        </c:sp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578200483091799E-2"/>
          <c:y val="6.2499999999999986E-2"/>
          <c:w val="0.6145229468599035"/>
          <c:h val="0.89739858906525583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Zone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5A8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09F-4732-9B05-022234032F3D}"/>
              </c:ext>
            </c:extLst>
          </c:dPt>
          <c:dPt>
            <c:idx val="1"/>
            <c:bubble3D val="0"/>
            <c:spPr>
              <a:solidFill>
                <a:srgbClr val="2E8B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09F-4732-9B05-022234032F3D}"/>
              </c:ext>
            </c:extLst>
          </c:dPt>
          <c:dPt>
            <c:idx val="2"/>
            <c:bubble3D val="0"/>
            <c:spPr>
              <a:solidFill>
                <a:srgbClr val="F39C1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09F-4732-9B05-022234032F3D}"/>
              </c:ext>
            </c:extLst>
          </c:dPt>
          <c:dPt>
            <c:idx val="3"/>
            <c:bubble3D val="0"/>
            <c:spPr>
              <a:solidFill>
                <a:srgbClr val="7E57C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09F-4732-9B05-022234032F3D}"/>
              </c:ext>
            </c:extLst>
          </c:dPt>
          <c:dPt>
            <c:idx val="4"/>
            <c:bubble3D val="0"/>
            <c:spPr>
              <a:solidFill>
                <a:srgbClr val="D66B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09F-4732-9B05-022234032F3D}"/>
              </c:ext>
            </c:extLst>
          </c:dPt>
          <c:dPt>
            <c:idx val="5"/>
            <c:bubble3D val="0"/>
            <c:spPr>
              <a:solidFill>
                <a:srgbClr val="A0AE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B09F-4732-9B05-022234032F3D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b="1"/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09F-4732-9B05-022234032F3D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b="1"/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09F-4732-9B05-022234032F3D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b="1"/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09F-4732-9B05-022234032F3D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b="1"/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09F-4732-9B05-022234032F3D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b="1"/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B09F-4732-9B05-022234032F3D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b="1"/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B09F-4732-9B05-022234032F3D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East</c:v>
                </c:pt>
                <c:pt idx="1">
                  <c:v>North</c:v>
                </c:pt>
                <c:pt idx="2">
                  <c:v>South-1</c:v>
                </c:pt>
                <c:pt idx="3">
                  <c:v>South-2</c:v>
                </c:pt>
                <c:pt idx="4">
                  <c:v>West</c:v>
                </c:pt>
                <c:pt idx="5">
                  <c:v>Pan India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10.3</c:v>
                </c:pt>
                <c:pt idx="1">
                  <c:v>23.2</c:v>
                </c:pt>
                <c:pt idx="2">
                  <c:v>22.3</c:v>
                </c:pt>
                <c:pt idx="3">
                  <c:v>13.8</c:v>
                </c:pt>
                <c:pt idx="4">
                  <c:v>25.3</c:v>
                </c:pt>
                <c:pt idx="5">
                  <c:v>5.2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B09F-4732-9B05-022234032F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2718297101449281"/>
          <c:y val="4.7062610229276887E-2"/>
          <c:w val="0.24980978260869566"/>
          <c:h val="0.90027513227513223"/>
        </c:manualLayout>
      </c:layout>
      <c:overlay val="0"/>
      <c:txPr>
        <a:bodyPr/>
        <a:lstStyle/>
        <a:p>
          <a:pPr>
            <a:defRPr sz="1400"/>
          </a:pPr>
          <a:endParaRPr lang="en-US"/>
        </a:p>
      </c:txPr>
    </c:legend>
    <c:plotVisOnly val="1"/>
    <c:dispBlanksAs val="span"/>
    <c:showDLblsOverMax val="1"/>
  </c:chart>
  <c:spPr>
    <a:noFill/>
    <a:ln>
      <a:solidFill>
        <a:schemeClr val="tx1"/>
      </a:solidFill>
    </a:ln>
    <a:effectLst/>
  </c:spPr>
  <c:txPr>
    <a:bodyPr/>
    <a:lstStyle/>
    <a:p>
      <a:pPr>
        <a:defRPr sz="16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8.4652229425220965E-2"/>
          <c:y val="5.6173665425582227E-2"/>
          <c:w val="0.69038886511817699"/>
          <c:h val="0.82429428996692233"/>
        </c:manualLayout>
      </c:layout>
      <c:lineChart>
        <c:grouping val="standard"/>
        <c:varyColors val="1"/>
        <c:ser>
          <c:idx val="0"/>
          <c:order val="0"/>
          <c:tx>
            <c:v>Lulu</c:v>
          </c:tx>
          <c:dLbls>
            <c:spPr>
              <a:noFill/>
              <a:ln>
                <a:noFill/>
              </a:ln>
              <a:effectLst/>
            </c:sp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Dashboard!$A$11:$A$13</c:f>
              <c:strCache>
                <c:ptCount val="3"/>
                <c:pt idx="0">
                  <c:v>Mar-26</c:v>
                </c:pt>
                <c:pt idx="1">
                  <c:v>Apr-26</c:v>
                </c:pt>
                <c:pt idx="2">
                  <c:v>May-26</c:v>
                </c:pt>
              </c:strCache>
            </c:strRef>
          </c:cat>
          <c:val>
            <c:numRef>
              <c:f>Dashboard!$B$11:$B$13</c:f>
              <c:numCache>
                <c:formatCode>0%</c:formatCode>
                <c:ptCount val="3"/>
                <c:pt idx="0">
                  <c:v>7.0000000000000007E-2</c:v>
                </c:pt>
                <c:pt idx="1">
                  <c:v>0.08</c:v>
                </c:pt>
                <c:pt idx="2">
                  <c:v>0.08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39F-4B77-9B19-01F911A5DCDF}"/>
            </c:ext>
          </c:extLst>
        </c:ser>
        <c:ser>
          <c:idx val="1"/>
          <c:order val="1"/>
          <c:tx>
            <c:v>MRL</c:v>
          </c:tx>
          <c:dLbls>
            <c:dLbl>
              <c:idx val="0"/>
              <c:layout>
                <c:manualLayout>
                  <c:x val="-0.10655576793393005"/>
                  <c:y val="2.323366548647394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39F-4B77-9B19-01F911A5DCDF}"/>
                </c:ext>
              </c:extLst>
            </c:dLbl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Dashboard!$A$11:$A$13</c:f>
              <c:strCache>
                <c:ptCount val="3"/>
                <c:pt idx="0">
                  <c:v>Mar-26</c:v>
                </c:pt>
                <c:pt idx="1">
                  <c:v>Apr-26</c:v>
                </c:pt>
                <c:pt idx="2">
                  <c:v>May-26</c:v>
                </c:pt>
              </c:strCache>
            </c:strRef>
          </c:cat>
          <c:val>
            <c:numRef>
              <c:f>Dashboard!$C$11:$C$13</c:f>
              <c:numCache>
                <c:formatCode>0%</c:formatCode>
                <c:ptCount val="3"/>
                <c:pt idx="0">
                  <c:v>0.08</c:v>
                </c:pt>
                <c:pt idx="1">
                  <c:v>0.11</c:v>
                </c:pt>
                <c:pt idx="2">
                  <c:v>0.14000000000000001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39F-4B77-9B19-01F911A5DCDF}"/>
            </c:ext>
          </c:extLst>
        </c:ser>
        <c:ser>
          <c:idx val="2"/>
          <c:order val="2"/>
          <c:tx>
            <c:v>Wellness</c:v>
          </c:tx>
          <c:marker>
            <c:spPr>
              <a:gradFill>
                <a:gsLst>
                  <a:gs pos="0">
                    <a:srgbClr val="4472C4">
                      <a:lumMod val="5000"/>
                      <a:lumOff val="95000"/>
                    </a:srgbClr>
                  </a:gs>
                  <a:gs pos="74000">
                    <a:srgbClr val="4472C4">
                      <a:lumMod val="45000"/>
                      <a:lumOff val="55000"/>
                    </a:srgbClr>
                  </a:gs>
                  <a:gs pos="83000">
                    <a:srgbClr val="4472C4">
                      <a:lumMod val="45000"/>
                      <a:lumOff val="55000"/>
                    </a:srgbClr>
                  </a:gs>
                  <a:gs pos="100000">
                    <a:srgbClr val="4472C4">
                      <a:lumMod val="30000"/>
                      <a:lumOff val="70000"/>
                    </a:srgbClr>
                  </a:gs>
                </a:gsLst>
                <a:lin ang="5400000" scaled="1"/>
              </a:gradFill>
            </c:spPr>
          </c:marker>
          <c:dLbls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Dashboard!$A$11:$A$13</c:f>
              <c:strCache>
                <c:ptCount val="3"/>
                <c:pt idx="0">
                  <c:v>Mar-26</c:v>
                </c:pt>
                <c:pt idx="1">
                  <c:v>Apr-26</c:v>
                </c:pt>
                <c:pt idx="2">
                  <c:v>May-26</c:v>
                </c:pt>
              </c:strCache>
            </c:strRef>
          </c:cat>
          <c:val>
            <c:numRef>
              <c:f>Dashboard!$D$11:$D$13</c:f>
              <c:numCache>
                <c:formatCode>0%</c:formatCode>
                <c:ptCount val="3"/>
                <c:pt idx="0">
                  <c:v>0.15</c:v>
                </c:pt>
                <c:pt idx="1">
                  <c:v>0.16</c:v>
                </c:pt>
                <c:pt idx="2">
                  <c:v>0.18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39F-4B77-9B19-01F911A5DCDF}"/>
            </c:ext>
          </c:extLst>
        </c:ser>
        <c:ser>
          <c:idx val="3"/>
          <c:order val="3"/>
          <c:tx>
            <c:v>Reliance</c:v>
          </c:tx>
          <c:dLbls>
            <c:dLbl>
              <c:idx val="0"/>
              <c:layout>
                <c:manualLayout>
                  <c:x val="-6.5825517943514128E-2"/>
                  <c:y val="-3.041714798283735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639F-4B77-9B19-01F911A5DCDF}"/>
                </c:ext>
              </c:extLst>
            </c:dLbl>
            <c:dLbl>
              <c:idx val="1"/>
              <c:layout>
                <c:manualLayout>
                  <c:x val="-4.0962337986315982E-2"/>
                  <c:y val="-6.618435696237824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39F-4B77-9B19-01F911A5DCDF}"/>
                </c:ext>
              </c:extLst>
            </c:dLbl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Dashboard!$A$11:$A$13</c:f>
              <c:strCache>
                <c:ptCount val="3"/>
                <c:pt idx="0">
                  <c:v>Mar-26</c:v>
                </c:pt>
                <c:pt idx="1">
                  <c:v>Apr-26</c:v>
                </c:pt>
                <c:pt idx="2">
                  <c:v>May-26</c:v>
                </c:pt>
              </c:strCache>
            </c:strRef>
          </c:cat>
          <c:val>
            <c:numRef>
              <c:f>Dashboard!$E$11:$E$13</c:f>
              <c:numCache>
                <c:formatCode>0%</c:formatCode>
                <c:ptCount val="3"/>
                <c:pt idx="0">
                  <c:v>0.20718442854754462</c:v>
                </c:pt>
                <c:pt idx="1">
                  <c:v>0.21346265967674624</c:v>
                </c:pt>
                <c:pt idx="2">
                  <c:v>0.22339169185102428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639F-4B77-9B19-01F911A5DCDF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>
            <a:noFill/>
          </a:ln>
        </c:sp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0%" sourceLinked="0"/>
        <c:majorTickMark val="none"/>
        <c:minorTickMark val="none"/>
        <c:tickLblPos val="nextTo"/>
        <c:crossAx val="48650112"/>
        <c:crosses val="autoZero"/>
        <c:crossBetween val="between"/>
      </c:valAx>
      <c:spPr>
        <a:solidFill>
          <a:sysClr val="window" lastClr="FFFFFF"/>
        </a:solidFill>
        <a:ln w="19050">
          <a:noFill/>
          <a:prstDash val="solid"/>
        </a:ln>
        <a:effectLst/>
      </c:spPr>
    </c:plotArea>
    <c:legend>
      <c:legendPos val="tr"/>
      <c:layout>
        <c:manualLayout>
          <c:xMode val="edge"/>
          <c:yMode val="edge"/>
          <c:x val="0.74452294917720518"/>
          <c:y val="7.1534417959081747E-2"/>
          <c:w val="0.23342472603893366"/>
          <c:h val="0.85442886761110248"/>
        </c:manualLayout>
      </c:layout>
      <c:overlay val="1"/>
      <c:txPr>
        <a:bodyPr/>
        <a:lstStyle/>
        <a:p>
          <a:pPr algn="just">
            <a:defRPr/>
          </a:pPr>
          <a:endParaRPr lang="en-US"/>
        </a:p>
      </c:txPr>
    </c:legend>
    <c:plotVisOnly val="1"/>
    <c:dispBlanksAs val="zero"/>
    <c:showDLblsOverMax val="1"/>
  </c:chart>
  <c:spPr>
    <a:solidFill>
      <a:sysClr val="window" lastClr="FFFFFF"/>
    </a:solidFill>
    <a:ln w="19050">
      <a:solidFill>
        <a:sysClr val="windowText" lastClr="000000"/>
      </a:solidFill>
      <a:prstDash val="solid"/>
    </a:ln>
    <a:effectLst/>
  </c:spPr>
  <c:txPr>
    <a:bodyPr/>
    <a:lstStyle/>
    <a:p>
      <a:pPr>
        <a:defRPr>
          <a:solidFill>
            <a:sysClr val="windowText" lastClr="000000"/>
          </a:solidFill>
          <a:latin typeface="+mn-lt"/>
          <a:ea typeface="+mn-ea"/>
          <a:cs typeface="+mn-cs"/>
        </a:defRPr>
      </a:pPr>
      <a:endParaRPr lang="en-US"/>
    </a:p>
  </c:txPr>
  <c:externalData r:id="rId2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30958371378232746"/>
          <c:y val="5.6173665425582227E-2"/>
          <c:w val="0.69041628621767259"/>
          <c:h val="0.53270627501883594"/>
        </c:manualLayout>
      </c:layout>
      <c:lineChart>
        <c:grouping val="standard"/>
        <c:varyColors val="1"/>
        <c:ser>
          <c:idx val="0"/>
          <c:order val="0"/>
          <c:tx>
            <c:strRef>
              <c:f>Dashboard!$B$42</c:f>
              <c:strCache>
                <c:ptCount val="1"/>
                <c:pt idx="0">
                  <c:v>Lulu M/S</c:v>
                </c:pt>
              </c:strCache>
            </c:strRef>
          </c:tx>
          <c:cat>
            <c:strRef>
              <c:f>Dashboard!$A$43:$A$45</c:f>
              <c:strCache>
                <c:ptCount val="3"/>
                <c:pt idx="0">
                  <c:v>Mar-26</c:v>
                </c:pt>
                <c:pt idx="1">
                  <c:v>Apr-26</c:v>
                </c:pt>
                <c:pt idx="2">
                  <c:v>May-26</c:v>
                </c:pt>
              </c:strCache>
            </c:strRef>
          </c:cat>
          <c:val>
            <c:numRef>
              <c:f>Dashboard!$B$43:$B$45</c:f>
              <c:numCache>
                <c:formatCode>0%</c:formatCode>
                <c:ptCount val="3"/>
                <c:pt idx="0">
                  <c:v>4.6311155723487991E-2</c:v>
                </c:pt>
                <c:pt idx="1">
                  <c:v>4.4976938700190712E-2</c:v>
                </c:pt>
                <c:pt idx="2">
                  <c:v>4.7376640891140534E-2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8D7-44C3-8A13-EEEB00F24211}"/>
            </c:ext>
          </c:extLst>
        </c:ser>
        <c:ser>
          <c:idx val="1"/>
          <c:order val="1"/>
          <c:tx>
            <c:strRef>
              <c:f>Dashboard!$C$42</c:f>
              <c:strCache>
                <c:ptCount val="1"/>
                <c:pt idx="0">
                  <c:v>MRL M/S</c:v>
                </c:pt>
              </c:strCache>
            </c:strRef>
          </c:tx>
          <c:cat>
            <c:strRef>
              <c:f>Dashboard!$A$43:$A$45</c:f>
              <c:strCache>
                <c:ptCount val="3"/>
                <c:pt idx="0">
                  <c:v>Mar-26</c:v>
                </c:pt>
                <c:pt idx="1">
                  <c:v>Apr-26</c:v>
                </c:pt>
                <c:pt idx="2">
                  <c:v>May-26</c:v>
                </c:pt>
              </c:strCache>
            </c:strRef>
          </c:cat>
          <c:val>
            <c:numRef>
              <c:f>Dashboard!$C$43:$C$45</c:f>
              <c:numCache>
                <c:formatCode>0%</c:formatCode>
                <c:ptCount val="3"/>
                <c:pt idx="0">
                  <c:v>6.1744745065556897E-2</c:v>
                </c:pt>
                <c:pt idx="1">
                  <c:v>7.2711451374257635E-2</c:v>
                </c:pt>
                <c:pt idx="2">
                  <c:v>7.3387497920415143E-2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8D7-44C3-8A13-EEEB00F24211}"/>
            </c:ext>
          </c:extLst>
        </c:ser>
        <c:ser>
          <c:idx val="2"/>
          <c:order val="2"/>
          <c:tx>
            <c:strRef>
              <c:f>Dashboard!$D$42</c:f>
              <c:strCache>
                <c:ptCount val="1"/>
                <c:pt idx="0">
                  <c:v>Wellness M/S</c:v>
                </c:pt>
              </c:strCache>
            </c:strRef>
          </c:tx>
          <c:cat>
            <c:strRef>
              <c:f>Dashboard!$A$43:$A$45</c:f>
              <c:strCache>
                <c:ptCount val="3"/>
                <c:pt idx="0">
                  <c:v>Mar-26</c:v>
                </c:pt>
                <c:pt idx="1">
                  <c:v>Apr-26</c:v>
                </c:pt>
                <c:pt idx="2">
                  <c:v>May-26</c:v>
                </c:pt>
              </c:strCache>
            </c:strRef>
          </c:cat>
          <c:val>
            <c:numRef>
              <c:f>Dashboard!$D$43:$D$45</c:f>
              <c:numCache>
                <c:formatCode>0%</c:formatCode>
                <c:ptCount val="3"/>
                <c:pt idx="0">
                  <c:v>5.8944655595081497E-2</c:v>
                </c:pt>
                <c:pt idx="1">
                  <c:v>5.7601116285340231E-2</c:v>
                </c:pt>
                <c:pt idx="2">
                  <c:v>5.1344642247961876E-2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8D7-44C3-8A13-EEEB00F24211}"/>
            </c:ext>
          </c:extLst>
        </c:ser>
        <c:ser>
          <c:idx val="3"/>
          <c:order val="3"/>
          <c:tx>
            <c:strRef>
              <c:f>Dashboard!$E$42</c:f>
              <c:strCache>
                <c:ptCount val="1"/>
                <c:pt idx="0">
                  <c:v>Reliance M/S</c:v>
                </c:pt>
              </c:strCache>
            </c:strRef>
          </c:tx>
          <c:cat>
            <c:strRef>
              <c:f>Dashboard!$A$43:$A$45</c:f>
              <c:strCache>
                <c:ptCount val="3"/>
                <c:pt idx="0">
                  <c:v>Mar-26</c:v>
                </c:pt>
                <c:pt idx="1">
                  <c:v>Apr-26</c:v>
                </c:pt>
                <c:pt idx="2">
                  <c:v>May-26</c:v>
                </c:pt>
              </c:strCache>
            </c:strRef>
          </c:cat>
          <c:val>
            <c:numRef>
              <c:f>Dashboard!$E$43:$E$45</c:f>
              <c:numCache>
                <c:formatCode>0%</c:formatCode>
                <c:ptCount val="3"/>
                <c:pt idx="0">
                  <c:v>0.35391615456625536</c:v>
                </c:pt>
                <c:pt idx="1">
                  <c:v>0.43728303003840074</c:v>
                </c:pt>
                <c:pt idx="2">
                  <c:v>0.65795151650330852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A8D7-44C3-8A13-EEEB00F242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in val="-0.2"/>
        </c:scaling>
        <c:delete val="1"/>
        <c:axPos val="l"/>
        <c:numFmt formatCode="0%" sourceLinked="0"/>
        <c:majorTickMark val="out"/>
        <c:minorTickMark val="none"/>
        <c:tickLblPos val="nextTo"/>
        <c:crossAx val="48650112"/>
        <c:crosses val="autoZero"/>
        <c:crossBetween val="between"/>
      </c:valAx>
      <c:dTable>
        <c:showHorzBorder val="1"/>
        <c:showVertBorder val="1"/>
        <c:showOutline val="1"/>
        <c:showKeys val="1"/>
      </c:dTable>
      <c:spPr>
        <a:solidFill>
          <a:sysClr val="window" lastClr="FFFFFF"/>
        </a:solidFill>
        <a:ln w="19050">
          <a:noFill/>
          <a:prstDash val="solid"/>
        </a:ln>
        <a:effectLst/>
      </c:spPr>
    </c:plotArea>
    <c:plotVisOnly val="1"/>
    <c:dispBlanksAs val="zero"/>
    <c:showDLblsOverMax val="1"/>
  </c:chart>
  <c:spPr>
    <a:solidFill>
      <a:sysClr val="window" lastClr="FFFFFF"/>
    </a:solidFill>
    <a:ln w="19050">
      <a:solidFill>
        <a:sysClr val="windowText" lastClr="000000"/>
      </a:solidFill>
      <a:prstDash val="solid"/>
    </a:ln>
    <a:effectLst/>
  </c:spPr>
  <c:txPr>
    <a:bodyPr/>
    <a:lstStyle/>
    <a:p>
      <a:pPr>
        <a:defRPr>
          <a:solidFill>
            <a:sysClr val="windowText" lastClr="000000"/>
          </a:solidFill>
          <a:latin typeface="+mn-lt"/>
          <a:ea typeface="+mn-ea"/>
          <a:cs typeface="+mn-cs"/>
        </a:defRPr>
      </a:pPr>
      <a:endParaRPr lang="en-US"/>
    </a:p>
  </c:txPr>
  <c:externalData r:id="rId2">
    <c:autoUpdate val="0"/>
  </c:externalData>
  <c:userShapes r:id="rId3"/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5846084568085421E-2"/>
          <c:y val="0.12760314498958977"/>
          <c:w val="0.74919495968214544"/>
          <c:h val="0.75260349779893998"/>
        </c:manualLayout>
      </c:layout>
      <c:lineChart>
        <c:grouping val="standard"/>
        <c:varyColors val="1"/>
        <c:ser>
          <c:idx val="0"/>
          <c:order val="0"/>
          <c:tx>
            <c:strRef>
              <c:f>Dashboard!$B$42</c:f>
              <c:strCache>
                <c:ptCount val="1"/>
                <c:pt idx="0">
                  <c:v>Lulu M/S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Dashboard!$A$43:$A$45</c:f>
              <c:strCache>
                <c:ptCount val="3"/>
                <c:pt idx="0">
                  <c:v>Mar-26</c:v>
                </c:pt>
                <c:pt idx="1">
                  <c:v>Apr-26</c:v>
                </c:pt>
                <c:pt idx="2">
                  <c:v>May-26</c:v>
                </c:pt>
              </c:strCache>
            </c:strRef>
          </c:cat>
          <c:val>
            <c:numRef>
              <c:f>Dashboard!$B$43:$B$45</c:f>
              <c:numCache>
                <c:formatCode>0%</c:formatCode>
                <c:ptCount val="3"/>
                <c:pt idx="0">
                  <c:v>7.8940184297406624E-2</c:v>
                </c:pt>
                <c:pt idx="1">
                  <c:v>9.1252676264604593E-2</c:v>
                </c:pt>
                <c:pt idx="2">
                  <c:v>9.2900024160010891E-2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70B-4CDE-BCA3-79E0AAF2B8B6}"/>
            </c:ext>
          </c:extLst>
        </c:ser>
        <c:ser>
          <c:idx val="1"/>
          <c:order val="1"/>
          <c:tx>
            <c:strRef>
              <c:f>Dashboard!$C$42</c:f>
              <c:strCache>
                <c:ptCount val="1"/>
                <c:pt idx="0">
                  <c:v>MRL M/S</c:v>
                </c:pt>
              </c:strCache>
            </c:strRef>
          </c:tx>
          <c:dLbls>
            <c:dLbl>
              <c:idx val="0"/>
              <c:layout>
                <c:manualLayout>
                  <c:x val="-0.10655576793393005"/>
                  <c:y val="2.323366548647394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70B-4CDE-BCA3-79E0AAF2B8B6}"/>
                </c:ext>
              </c:extLst>
            </c:dLbl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Dashboard!$A$43:$A$45</c:f>
              <c:strCache>
                <c:ptCount val="3"/>
                <c:pt idx="0">
                  <c:v>Mar-26</c:v>
                </c:pt>
                <c:pt idx="1">
                  <c:v>Apr-26</c:v>
                </c:pt>
                <c:pt idx="2">
                  <c:v>May-26</c:v>
                </c:pt>
              </c:strCache>
            </c:strRef>
          </c:cat>
          <c:val>
            <c:numRef>
              <c:f>Dashboard!$C$43:$C$45</c:f>
              <c:numCache>
                <c:formatCode>0%</c:formatCode>
                <c:ptCount val="3"/>
                <c:pt idx="0">
                  <c:v>0.21648335126659687</c:v>
                </c:pt>
                <c:pt idx="1">
                  <c:v>0.18565398116611648</c:v>
                </c:pt>
                <c:pt idx="2">
                  <c:v>0.25308976853615012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70B-4CDE-BCA3-79E0AAF2B8B6}"/>
            </c:ext>
          </c:extLst>
        </c:ser>
        <c:ser>
          <c:idx val="2"/>
          <c:order val="2"/>
          <c:tx>
            <c:strRef>
              <c:f>Dashboard!$D$42</c:f>
              <c:strCache>
                <c:ptCount val="1"/>
                <c:pt idx="0">
                  <c:v>Wellness M/S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Dashboard!$A$43:$A$45</c:f>
              <c:strCache>
                <c:ptCount val="3"/>
                <c:pt idx="0">
                  <c:v>Mar-26</c:v>
                </c:pt>
                <c:pt idx="1">
                  <c:v>Apr-26</c:v>
                </c:pt>
                <c:pt idx="2">
                  <c:v>May-26</c:v>
                </c:pt>
              </c:strCache>
            </c:strRef>
          </c:cat>
          <c:val>
            <c:numRef>
              <c:f>Dashboard!$D$43:$D$45</c:f>
              <c:numCache>
                <c:formatCode>0%</c:formatCode>
                <c:ptCount val="3"/>
                <c:pt idx="0">
                  <c:v>0.30105733370847576</c:v>
                </c:pt>
                <c:pt idx="1">
                  <c:v>0.34729910332316388</c:v>
                </c:pt>
                <c:pt idx="2">
                  <c:v>0.33479432523501801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E70B-4CDE-BCA3-79E0AAF2B8B6}"/>
            </c:ext>
          </c:extLst>
        </c:ser>
        <c:ser>
          <c:idx val="3"/>
          <c:order val="3"/>
          <c:tx>
            <c:strRef>
              <c:f>Dashboard!$E$42</c:f>
              <c:strCache>
                <c:ptCount val="1"/>
                <c:pt idx="0">
                  <c:v>Reliance M/S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Dashboard!$A$43:$A$45</c:f>
              <c:strCache>
                <c:ptCount val="3"/>
                <c:pt idx="0">
                  <c:v>Mar-26</c:v>
                </c:pt>
                <c:pt idx="1">
                  <c:v>Apr-26</c:v>
                </c:pt>
                <c:pt idx="2">
                  <c:v>May-26</c:v>
                </c:pt>
              </c:strCache>
            </c:strRef>
          </c:cat>
          <c:val>
            <c:numRef>
              <c:f>Dashboard!$E$43:$E$45</c:f>
              <c:numCache>
                <c:formatCode>0%</c:formatCode>
                <c:ptCount val="3"/>
                <c:pt idx="0">
                  <c:v>0.19217005110269872</c:v>
                </c:pt>
                <c:pt idx="1">
                  <c:v>0.19216297920895509</c:v>
                </c:pt>
                <c:pt idx="2">
                  <c:v>0.22397644885676518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E70B-4CDE-BCA3-79E0AAF2B8B6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>
            <a:noFill/>
          </a:ln>
        </c:sp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0%" sourceLinked="0"/>
        <c:majorTickMark val="none"/>
        <c:minorTickMark val="none"/>
        <c:tickLblPos val="nextTo"/>
        <c:crossAx val="48650112"/>
        <c:crosses val="autoZero"/>
        <c:crossBetween val="between"/>
      </c:valAx>
      <c:spPr>
        <a:solidFill>
          <a:sysClr val="window" lastClr="FFFFFF"/>
        </a:solidFill>
        <a:ln w="19050">
          <a:noFill/>
          <a:prstDash val="solid"/>
        </a:ln>
        <a:effectLst/>
      </c:spPr>
    </c:plotArea>
    <c:legend>
      <c:legendPos val="r"/>
      <c:layout>
        <c:manualLayout>
          <c:xMode val="edge"/>
          <c:yMode val="edge"/>
          <c:x val="0.77928349442671863"/>
          <c:y val="4.3128268354448114E-2"/>
          <c:w val="0.21770029812160491"/>
          <c:h val="0.81325621009339377"/>
        </c:manualLayout>
      </c:layout>
      <c:overlay val="0"/>
      <c:txPr>
        <a:bodyPr/>
        <a:lstStyle/>
        <a:p>
          <a:pPr algn="just">
            <a:defRPr/>
          </a:pPr>
          <a:endParaRPr lang="en-US"/>
        </a:p>
      </c:txPr>
    </c:legend>
    <c:plotVisOnly val="1"/>
    <c:dispBlanksAs val="zero"/>
    <c:showDLblsOverMax val="1"/>
  </c:chart>
  <c:spPr>
    <a:solidFill>
      <a:sysClr val="window" lastClr="FFFFFF"/>
    </a:solidFill>
    <a:ln w="19050">
      <a:solidFill>
        <a:sysClr val="windowText" lastClr="000000"/>
      </a:solidFill>
      <a:prstDash val="solid"/>
    </a:ln>
    <a:effectLst/>
  </c:spPr>
  <c:txPr>
    <a:bodyPr/>
    <a:lstStyle/>
    <a:p>
      <a:pPr>
        <a:defRPr>
          <a:solidFill>
            <a:sysClr val="windowText" lastClr="000000"/>
          </a:solidFill>
          <a:latin typeface="+mn-lt"/>
          <a:ea typeface="+mn-ea"/>
          <a:cs typeface="+mn-cs"/>
        </a:defRPr>
      </a:pPr>
      <a:endParaRPr lang="en-US"/>
    </a:p>
  </c:txPr>
  <c:externalData r:id="rId2">
    <c:autoUpdate val="0"/>
  </c:externalData>
  <c:userShapes r:id="rId3"/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MAMAEARTH</c:v>
                </c:pt>
              </c:strCache>
            </c:strRef>
          </c:tx>
          <c:spPr>
            <a:solidFill>
              <a:schemeClr val="accent6">
                <a:lumMod val="20000"/>
                <a:lumOff val="80000"/>
              </a:schemeClr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650 ml</c:v>
                </c:pt>
                <c:pt idx="1">
                  <c:v>340 ml</c:v>
                </c:pt>
                <c:pt idx="2">
                  <c:v>180 ml</c:v>
                </c:pt>
                <c:pt idx="3">
                  <c:v>1000 ml</c:v>
                </c:pt>
                <c:pt idx="4">
                  <c:v>400 ml</c:v>
                </c:pt>
                <c:pt idx="5">
                  <c:v>580 ml</c:v>
                </c:pt>
                <c:pt idx="6">
                  <c:v>200 ml</c:v>
                </c:pt>
                <c:pt idx="7">
                  <c:v>175 ml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1.53</c:v>
                </c:pt>
                <c:pt idx="2">
                  <c:v>0.45</c:v>
                </c:pt>
                <c:pt idx="4">
                  <c:v>45.86</c:v>
                </c:pt>
                <c:pt idx="6">
                  <c:v>0.63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71B-488A-8575-5BF1DC4FA47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Category Leader</c:v>
                </c:pt>
              </c:strCache>
            </c:strRef>
          </c:tx>
          <c:spPr>
            <a:solidFill>
              <a:schemeClr val="accent1">
                <a:lumMod val="20000"/>
                <a:lumOff val="80000"/>
              </a:schemeClr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650 ml</c:v>
                </c:pt>
                <c:pt idx="1">
                  <c:v>340 ml</c:v>
                </c:pt>
                <c:pt idx="2">
                  <c:v>180 ml</c:v>
                </c:pt>
                <c:pt idx="3">
                  <c:v>1000 ml</c:v>
                </c:pt>
                <c:pt idx="4">
                  <c:v>400 ml</c:v>
                </c:pt>
                <c:pt idx="5">
                  <c:v>580 ml</c:v>
                </c:pt>
                <c:pt idx="6">
                  <c:v>200 ml</c:v>
                </c:pt>
                <c:pt idx="7">
                  <c:v>175 ml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103.48</c:v>
                </c:pt>
                <c:pt idx="1">
                  <c:v>59.59</c:v>
                </c:pt>
                <c:pt idx="2">
                  <c:v>59.4</c:v>
                </c:pt>
                <c:pt idx="3">
                  <c:v>55</c:v>
                </c:pt>
                <c:pt idx="4">
                  <c:v>45.86</c:v>
                </c:pt>
                <c:pt idx="5">
                  <c:v>51.61</c:v>
                </c:pt>
                <c:pt idx="6">
                  <c:v>12.76</c:v>
                </c:pt>
                <c:pt idx="7">
                  <c:v>31.18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71B-488A-8575-5BF1DC4FA47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2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2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solidFill>
        <a:sysClr val="windowText" lastClr="000000"/>
      </a:solidFill>
    </a:ln>
    <a:effectLst/>
  </c:spPr>
  <c:externalData r:id="rId2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Face Wash MS %</c:v>
                </c:pt>
              </c:strCache>
            </c:strRef>
          </c:tx>
          <c:spPr>
            <a:solidFill>
              <a:srgbClr val="1E2761"/>
            </a:solidFill>
            <a:ln w="0">
              <a:noFill/>
            </a:ln>
          </c:spPr>
          <c:invertIfNegative val="0"/>
          <c:dLbls>
            <c:numFmt formatCode="0.0\%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850" b="0" u="none" strike="noStrike">
                    <a:solidFill>
                      <a:srgbClr val="1E2761"/>
                    </a:solidFill>
                    <a:uFillTx/>
                    <a:latin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4"/>
                <c:pt idx="0">
                  <c:v>East</c:v>
                </c:pt>
                <c:pt idx="1">
                  <c:v>North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5.7</c:v>
                </c:pt>
                <c:pt idx="1">
                  <c:v>8.2100000000000009</c:v>
                </c:pt>
                <c:pt idx="2">
                  <c:v>7.32</c:v>
                </c:pt>
                <c:pt idx="3">
                  <c:v>8.1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DB12-4983-9EB2-8FB6651543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121825"/>
        <c:axId val="75681990"/>
      </c:barChart>
      <c:catAx>
        <c:axId val="15121825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900" b="0" u="none" strike="noStrike">
                <a:solidFill>
                  <a:srgbClr val="595959"/>
                </a:solidFill>
                <a:uFillTx/>
                <a:latin typeface="Arial"/>
              </a:defRPr>
            </a:pPr>
            <a:endParaRPr lang="en-US"/>
          </a:p>
        </c:txPr>
        <c:crossAx val="75681990"/>
        <c:crosses val="autoZero"/>
        <c:auto val="1"/>
        <c:lblAlgn val="ctr"/>
        <c:lblOffset val="100"/>
        <c:noMultiLvlLbl val="0"/>
      </c:catAx>
      <c:valAx>
        <c:axId val="75681990"/>
        <c:scaling>
          <c:orientation val="minMax"/>
          <c:max val="9.5"/>
        </c:scaling>
        <c:delete val="1"/>
        <c:axPos val="l"/>
        <c:numFmt formatCode="General" sourceLinked="1"/>
        <c:majorTickMark val="out"/>
        <c:minorTickMark val="none"/>
        <c:tickLblPos val="nextTo"/>
        <c:crossAx val="15121825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  <c:showDLblsOverMax val="1"/>
  </c:chart>
  <c:spPr>
    <a:solidFill>
      <a:srgbClr val="FFFFFF"/>
    </a:solidFill>
    <a:ln w="0">
      <a:solidFill>
        <a:sysClr val="windowText" lastClr="000000"/>
      </a:solidFill>
    </a:ln>
  </c:spPr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Shampoo MS %</c:v>
                </c:pt>
              </c:strCache>
            </c:strRef>
          </c:tx>
          <c:spPr>
            <a:solidFill>
              <a:srgbClr val="4472C4"/>
            </a:solidFill>
            <a:ln w="9360">
              <a:solidFill>
                <a:srgbClr val="F9F9F9"/>
              </a:solidFill>
              <a:round/>
            </a:ln>
          </c:spPr>
          <c:dPt>
            <c:idx val="0"/>
            <c:bubble3D val="0"/>
            <c:spPr>
              <a:solidFill>
                <a:srgbClr val="1E2761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1-5E94-4461-9F6A-C9E07ACD51E8}"/>
              </c:ext>
            </c:extLst>
          </c:dPt>
          <c:dPt>
            <c:idx val="1"/>
            <c:bubble3D val="0"/>
            <c:spPr>
              <a:solidFill>
                <a:srgbClr val="2E5FA3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3-5E94-4461-9F6A-C9E07ACD51E8}"/>
              </c:ext>
            </c:extLst>
          </c:dPt>
          <c:dPt>
            <c:idx val="2"/>
            <c:bubble3D val="0"/>
            <c:spPr>
              <a:solidFill>
                <a:srgbClr val="D9760A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5-5E94-4461-9F6A-C9E07ACD51E8}"/>
              </c:ext>
            </c:extLst>
          </c:dPt>
          <c:dPt>
            <c:idx val="3"/>
            <c:bubble3D val="0"/>
            <c:spPr>
              <a:solidFill>
                <a:srgbClr val="1F7A3D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7-5E94-4461-9F6A-C9E07ACD51E8}"/>
              </c:ext>
            </c:extLst>
          </c:dPt>
          <c:dLbls>
            <c:dLbl>
              <c:idx val="0"/>
              <c:numFmt formatCode="0%" sourceLinked="0"/>
              <c:spPr/>
              <c:txPr>
                <a:bodyPr wrap="square"/>
                <a:lstStyle/>
                <a:p>
                  <a:pPr>
                    <a:defRPr sz="850" b="0" u="none" strike="noStrike">
                      <a:solidFill>
                        <a:srgbClr val="FFFFFF"/>
                      </a:solidFill>
                      <a:uFillTx/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E94-4461-9F6A-C9E07ACD51E8}"/>
                </c:ext>
              </c:extLst>
            </c:dLbl>
            <c:dLbl>
              <c:idx val="1"/>
              <c:numFmt formatCode="0%" sourceLinked="0"/>
              <c:spPr/>
              <c:txPr>
                <a:bodyPr wrap="square"/>
                <a:lstStyle/>
                <a:p>
                  <a:pPr>
                    <a:defRPr sz="850" b="0" u="none" strike="noStrike">
                      <a:solidFill>
                        <a:srgbClr val="FFFFFF"/>
                      </a:solidFill>
                      <a:uFillTx/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E94-4461-9F6A-C9E07ACD51E8}"/>
                </c:ext>
              </c:extLst>
            </c:dLbl>
            <c:dLbl>
              <c:idx val="2"/>
              <c:numFmt formatCode="0%" sourceLinked="0"/>
              <c:spPr/>
              <c:txPr>
                <a:bodyPr wrap="square"/>
                <a:lstStyle/>
                <a:p>
                  <a:pPr>
                    <a:defRPr sz="850" b="0" u="none" strike="noStrike">
                      <a:solidFill>
                        <a:srgbClr val="FFFFFF"/>
                      </a:solidFill>
                      <a:uFillTx/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E94-4461-9F6A-C9E07ACD51E8}"/>
                </c:ext>
              </c:extLst>
            </c:dLbl>
            <c:dLbl>
              <c:idx val="3"/>
              <c:numFmt formatCode="0%" sourceLinked="0"/>
              <c:spPr/>
              <c:txPr>
                <a:bodyPr wrap="square"/>
                <a:lstStyle/>
                <a:p>
                  <a:pPr>
                    <a:defRPr sz="850" b="0" u="none" strike="noStrike">
                      <a:solidFill>
                        <a:srgbClr val="FFFFFF"/>
                      </a:solidFill>
                      <a:uFillTx/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E94-4461-9F6A-C9E07ACD51E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18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1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categories</c:f>
              <c:strCache>
                <c:ptCount val="4"/>
                <c:pt idx="0">
                  <c:v>East</c:v>
                </c:pt>
                <c:pt idx="1">
                  <c:v>North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2.99</c:v>
                </c:pt>
                <c:pt idx="1">
                  <c:v>2.19</c:v>
                </c:pt>
                <c:pt idx="2">
                  <c:v>3.08</c:v>
                </c:pt>
                <c:pt idx="3">
                  <c:v>2.16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E94-4461-9F6A-C9E07ACD51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 w="0">
          <a:noFill/>
        </a:ln>
      </c:spPr>
    </c:plotArea>
    <c:legend>
      <c:legendPos val="r"/>
      <c:overlay val="0"/>
      <c:spPr>
        <a:noFill/>
        <a:ln w="0">
          <a:noFill/>
        </a:ln>
      </c:spPr>
      <c:txPr>
        <a:bodyPr/>
        <a:lstStyle/>
        <a:p>
          <a:pPr>
            <a:defRPr sz="900" b="0" u="none" strike="noStrike">
              <a:solidFill>
                <a:srgbClr val="000000"/>
              </a:solidFill>
              <a:uFillTx/>
              <a:latin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 w="0">
      <a:solidFill>
        <a:sysClr val="windowText" lastClr="000000"/>
      </a:solidFill>
    </a:ln>
  </c:spPr>
  <c:userShapes r:id="rId2"/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5421926234492152E-2"/>
          <c:y val="0.26864134364336634"/>
          <c:w val="0.93170112609475297"/>
          <c:h val="0.5818291447218872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lumMod val="20000"/>
                <a:lumOff val="80000"/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92</c:v>
                </c:pt>
                <c:pt idx="1">
                  <c:v>97</c:v>
                </c:pt>
                <c:pt idx="2">
                  <c:v>102</c:v>
                </c:pt>
                <c:pt idx="3">
                  <c:v>105</c:v>
                </c:pt>
                <c:pt idx="4">
                  <c:v>107</c:v>
                </c:pt>
                <c:pt idx="5">
                  <c:v>106</c:v>
                </c:pt>
                <c:pt idx="6">
                  <c:v>105</c:v>
                </c:pt>
                <c:pt idx="7">
                  <c:v>105</c:v>
                </c:pt>
                <c:pt idx="8">
                  <c:v>106</c:v>
                </c:pt>
                <c:pt idx="9">
                  <c:v>109</c:v>
                </c:pt>
                <c:pt idx="10">
                  <c:v>114</c:v>
                </c:pt>
                <c:pt idx="11">
                  <c:v>120</c:v>
                </c:pt>
                <c:pt idx="12">
                  <c:v>132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91F2-44B5-998A-8A4E5EB210B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7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4.4928814803513822E-2"/>
          <c:y val="0.21060446415131887"/>
          <c:w val="0.90237313469136882"/>
          <c:h val="0.5981957664803415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CC0066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69</c:v>
                </c:pt>
                <c:pt idx="1">
                  <c:v>75</c:v>
                </c:pt>
                <c:pt idx="2">
                  <c:v>80</c:v>
                </c:pt>
                <c:pt idx="3">
                  <c:v>84</c:v>
                </c:pt>
                <c:pt idx="4">
                  <c:v>87</c:v>
                </c:pt>
                <c:pt idx="5">
                  <c:v>88</c:v>
                </c:pt>
                <c:pt idx="6">
                  <c:v>89</c:v>
                </c:pt>
                <c:pt idx="7">
                  <c:v>90</c:v>
                </c:pt>
                <c:pt idx="8">
                  <c:v>92</c:v>
                </c:pt>
                <c:pt idx="9">
                  <c:v>95</c:v>
                </c:pt>
                <c:pt idx="10">
                  <c:v>101</c:v>
                </c:pt>
                <c:pt idx="11">
                  <c:v>108</c:v>
                </c:pt>
                <c:pt idx="12">
                  <c:v>122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8807-449E-A631-74664EA5CA1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853393475036016E-2"/>
          <c:y val="0.20540967764644144"/>
          <c:w val="0.92341816753503314"/>
          <c:h val="0.6256135725119514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FFFF66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14</c:v>
                </c:pt>
                <c:pt idx="1">
                  <c:v>15</c:v>
                </c:pt>
                <c:pt idx="2">
                  <c:v>15</c:v>
                </c:pt>
                <c:pt idx="3">
                  <c:v>16</c:v>
                </c:pt>
                <c:pt idx="4">
                  <c:v>17</c:v>
                </c:pt>
                <c:pt idx="5">
                  <c:v>19</c:v>
                </c:pt>
                <c:pt idx="6">
                  <c:v>20</c:v>
                </c:pt>
                <c:pt idx="7">
                  <c:v>22</c:v>
                </c:pt>
                <c:pt idx="8">
                  <c:v>24</c:v>
                </c:pt>
                <c:pt idx="9">
                  <c:v>27</c:v>
                </c:pt>
                <c:pt idx="10">
                  <c:v>30</c:v>
                </c:pt>
                <c:pt idx="11">
                  <c:v>30</c:v>
                </c:pt>
                <c:pt idx="12">
                  <c:v>36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0733-49EE-8507-6C7F27CAA63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2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7071378336781807E-2"/>
          <c:y val="0.26365675834534624"/>
          <c:w val="0.92972068460169122"/>
          <c:h val="0.547888994276624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1F5A85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3</c:v>
                </c:pt>
                <c:pt idx="1">
                  <c:v>4</c:v>
                </c:pt>
                <c:pt idx="2">
                  <c:v>6</c:v>
                </c:pt>
                <c:pt idx="3">
                  <c:v>7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E00F-4D2A-9584-298BA6A2EA4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7287637383212361E-2"/>
          <c:y val="0.25504911390463525"/>
          <c:w val="0.92958685215902304"/>
          <c:h val="0.5483802317332703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8</c:v>
                </c:pt>
                <c:pt idx="1">
                  <c:v>8</c:v>
                </c:pt>
                <c:pt idx="2">
                  <c:v>8</c:v>
                </c:pt>
                <c:pt idx="3">
                  <c:v>9</c:v>
                </c:pt>
                <c:pt idx="4">
                  <c:v>9</c:v>
                </c:pt>
                <c:pt idx="5">
                  <c:v>10</c:v>
                </c:pt>
                <c:pt idx="6">
                  <c:v>10</c:v>
                </c:pt>
                <c:pt idx="7">
                  <c:v>11</c:v>
                </c:pt>
                <c:pt idx="8">
                  <c:v>12</c:v>
                </c:pt>
                <c:pt idx="9">
                  <c:v>14</c:v>
                </c:pt>
                <c:pt idx="10">
                  <c:v>15</c:v>
                </c:pt>
                <c:pt idx="11">
                  <c:v>15</c:v>
                </c:pt>
                <c:pt idx="12">
                  <c:v>18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0BB4-43C4-9A62-33A49F65557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6896996038139206E-2"/>
          <c:y val="0.22413394136912687"/>
          <c:w val="0.93013806859507275"/>
          <c:h val="0.5874114054332859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7030A0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9</c:v>
                </c:pt>
                <c:pt idx="1">
                  <c:v>9</c:v>
                </c:pt>
                <c:pt idx="2">
                  <c:v>9</c:v>
                </c:pt>
                <c:pt idx="3">
                  <c:v>8</c:v>
                </c:pt>
                <c:pt idx="4">
                  <c:v>8</c:v>
                </c:pt>
                <c:pt idx="5">
                  <c:v>7</c:v>
                </c:pt>
                <c:pt idx="6">
                  <c:v>7</c:v>
                </c:pt>
                <c:pt idx="7">
                  <c:v>7</c:v>
                </c:pt>
                <c:pt idx="8">
                  <c:v>7</c:v>
                </c:pt>
                <c:pt idx="9">
                  <c:v>8</c:v>
                </c:pt>
                <c:pt idx="10">
                  <c:v>7</c:v>
                </c:pt>
                <c:pt idx="11">
                  <c:v>7</c:v>
                </c:pt>
                <c:pt idx="12">
                  <c:v>7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53EC-4B9C-B464-2CB8801B151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3.2738344308678995E-2"/>
          <c:y val="0.25219642803472847"/>
          <c:w val="0.94379813555378289"/>
          <c:h val="0.6064731239316812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lumMod val="20000"/>
                <a:lumOff val="80000"/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202</c:v>
                </c:pt>
                <c:pt idx="1">
                  <c:v>191</c:v>
                </c:pt>
                <c:pt idx="2">
                  <c:v>187</c:v>
                </c:pt>
                <c:pt idx="3">
                  <c:v>227</c:v>
                </c:pt>
                <c:pt idx="4">
                  <c:v>177</c:v>
                </c:pt>
                <c:pt idx="5">
                  <c:v>199</c:v>
                </c:pt>
                <c:pt idx="6">
                  <c:v>182</c:v>
                </c:pt>
                <c:pt idx="7">
                  <c:v>181</c:v>
                </c:pt>
                <c:pt idx="8">
                  <c:v>198</c:v>
                </c:pt>
                <c:pt idx="9">
                  <c:v>195</c:v>
                </c:pt>
                <c:pt idx="10">
                  <c:v>228</c:v>
                </c:pt>
                <c:pt idx="11">
                  <c:v>245</c:v>
                </c:pt>
                <c:pt idx="12">
                  <c:v>262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91F2-44B5-998A-8A4E5EB210B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2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3.8390893228502782E-2"/>
          <c:y val="8.933430277358391E-2"/>
          <c:w val="0.93375367464054193"/>
          <c:h val="0.7477236379076717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lumMod val="75000"/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122</c:v>
                </c:pt>
                <c:pt idx="1">
                  <c:v>102</c:v>
                </c:pt>
                <c:pt idx="2">
                  <c:v>114</c:v>
                </c:pt>
                <c:pt idx="3">
                  <c:v>160</c:v>
                </c:pt>
                <c:pt idx="4">
                  <c:v>109</c:v>
                </c:pt>
                <c:pt idx="5">
                  <c:v>136</c:v>
                </c:pt>
                <c:pt idx="6">
                  <c:v>119</c:v>
                </c:pt>
                <c:pt idx="7">
                  <c:v>146</c:v>
                </c:pt>
                <c:pt idx="8">
                  <c:v>171</c:v>
                </c:pt>
                <c:pt idx="9">
                  <c:v>134</c:v>
                </c:pt>
                <c:pt idx="10">
                  <c:v>146</c:v>
                </c:pt>
                <c:pt idx="11">
                  <c:v>176</c:v>
                </c:pt>
                <c:pt idx="12">
                  <c:v>188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8807-449E-A631-74664EA5CA1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3.0085690813967721E-2"/>
          <c:y val="0.16478363112192507"/>
          <c:w val="0.94842686584444846"/>
          <c:h val="0.6722737815316279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FFFF66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59</c:v>
                </c:pt>
                <c:pt idx="1">
                  <c:v>45</c:v>
                </c:pt>
                <c:pt idx="2">
                  <c:v>26</c:v>
                </c:pt>
                <c:pt idx="3">
                  <c:v>23</c:v>
                </c:pt>
                <c:pt idx="4">
                  <c:v>21</c:v>
                </c:pt>
                <c:pt idx="5">
                  <c:v>23</c:v>
                </c:pt>
                <c:pt idx="6">
                  <c:v>20</c:v>
                </c:pt>
                <c:pt idx="7">
                  <c:v>22</c:v>
                </c:pt>
                <c:pt idx="8">
                  <c:v>22</c:v>
                </c:pt>
                <c:pt idx="9">
                  <c:v>40</c:v>
                </c:pt>
                <c:pt idx="10">
                  <c:v>72</c:v>
                </c:pt>
                <c:pt idx="11">
                  <c:v>86</c:v>
                </c:pt>
                <c:pt idx="12">
                  <c:v>89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0733-49EE-8507-6C7F27CAA63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6.1908583578582026E-2"/>
          <c:y val="0.31309240053509868"/>
          <c:w val="0.86737027670079103"/>
          <c:h val="0.4984533520868718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1F5A85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7</c:v>
                </c:pt>
                <c:pt idx="1">
                  <c:v>9</c:v>
                </c:pt>
                <c:pt idx="2">
                  <c:v>12</c:v>
                </c:pt>
                <c:pt idx="3">
                  <c:v>18</c:v>
                </c:pt>
                <c:pt idx="4">
                  <c:v>21</c:v>
                </c:pt>
                <c:pt idx="5">
                  <c:v>27</c:v>
                </c:pt>
                <c:pt idx="6">
                  <c:v>29</c:v>
                </c:pt>
                <c:pt idx="7">
                  <c:v>43</c:v>
                </c:pt>
                <c:pt idx="8">
                  <c:v>67</c:v>
                </c:pt>
                <c:pt idx="9">
                  <c:v>63</c:v>
                </c:pt>
                <c:pt idx="10">
                  <c:v>84</c:v>
                </c:pt>
                <c:pt idx="11">
                  <c:v>94</c:v>
                </c:pt>
                <c:pt idx="12">
                  <c:v>132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E00F-4D2A-9584-298BA6A2EA4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7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7071378336781804E-2"/>
          <c:y val="0.28013530574193035"/>
          <c:w val="0.92972068460169122"/>
          <c:h val="0.4984533520868718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17</c:v>
                </c:pt>
                <c:pt idx="1">
                  <c:v>18</c:v>
                </c:pt>
                <c:pt idx="2">
                  <c:v>12</c:v>
                </c:pt>
                <c:pt idx="3">
                  <c:v>13</c:v>
                </c:pt>
                <c:pt idx="4">
                  <c:v>11</c:v>
                </c:pt>
                <c:pt idx="5">
                  <c:v>15</c:v>
                </c:pt>
                <c:pt idx="6">
                  <c:v>14</c:v>
                </c:pt>
                <c:pt idx="7">
                  <c:v>17</c:v>
                </c:pt>
                <c:pt idx="8">
                  <c:v>18</c:v>
                </c:pt>
                <c:pt idx="9">
                  <c:v>26</c:v>
                </c:pt>
                <c:pt idx="10">
                  <c:v>54</c:v>
                </c:pt>
                <c:pt idx="11">
                  <c:v>68</c:v>
                </c:pt>
                <c:pt idx="12">
                  <c:v>92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0BB4-43C4-9A62-33A49F65557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7071378336781807E-2"/>
          <c:y val="0.20038461797987842"/>
          <c:w val="0.92972068460169122"/>
          <c:h val="0.6111606691003312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7030A0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8</c:v>
                </c:pt>
                <c:pt idx="1">
                  <c:v>8</c:v>
                </c:pt>
                <c:pt idx="2">
                  <c:v>8</c:v>
                </c:pt>
                <c:pt idx="3">
                  <c:v>10</c:v>
                </c:pt>
                <c:pt idx="4">
                  <c:v>8</c:v>
                </c:pt>
                <c:pt idx="5">
                  <c:v>10</c:v>
                </c:pt>
                <c:pt idx="6">
                  <c:v>10</c:v>
                </c:pt>
                <c:pt idx="7">
                  <c:v>13</c:v>
                </c:pt>
                <c:pt idx="8">
                  <c:v>14</c:v>
                </c:pt>
                <c:pt idx="9">
                  <c:v>12</c:v>
                </c:pt>
                <c:pt idx="10">
                  <c:v>15</c:v>
                </c:pt>
                <c:pt idx="11">
                  <c:v>16</c:v>
                </c:pt>
                <c:pt idx="12">
                  <c:v>16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53EC-4B9C-B464-2CB8801B151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7.0921985815602842E-2"/>
          <c:y val="0.21971123666038919"/>
          <c:w val="0.86393821782915436"/>
          <c:h val="0.6307596967045785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lumMod val="20000"/>
                <a:lumOff val="80000"/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131</c:v>
                </c:pt>
                <c:pt idx="1">
                  <c:v>123</c:v>
                </c:pt>
                <c:pt idx="2">
                  <c:v>119</c:v>
                </c:pt>
                <c:pt idx="3">
                  <c:v>144</c:v>
                </c:pt>
                <c:pt idx="4">
                  <c:v>128</c:v>
                </c:pt>
                <c:pt idx="5">
                  <c:v>137</c:v>
                </c:pt>
                <c:pt idx="6">
                  <c:v>126</c:v>
                </c:pt>
                <c:pt idx="7">
                  <c:v>129</c:v>
                </c:pt>
                <c:pt idx="8">
                  <c:v>138</c:v>
                </c:pt>
                <c:pt idx="9">
                  <c:v>136</c:v>
                </c:pt>
                <c:pt idx="10">
                  <c:v>144</c:v>
                </c:pt>
                <c:pt idx="11">
                  <c:v>162</c:v>
                </c:pt>
                <c:pt idx="12">
                  <c:v>189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91F2-44B5-998A-8A4E5EB210B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3.8390893228502782E-2"/>
          <c:y val="0.18678990579931179"/>
          <c:w val="0.90162823401020409"/>
          <c:h val="0.5727837962794214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lumMod val="75000"/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105</c:v>
                </c:pt>
                <c:pt idx="1">
                  <c:v>104</c:v>
                </c:pt>
                <c:pt idx="2">
                  <c:v>108</c:v>
                </c:pt>
                <c:pt idx="3">
                  <c:v>128</c:v>
                </c:pt>
                <c:pt idx="4">
                  <c:v>108</c:v>
                </c:pt>
                <c:pt idx="5">
                  <c:v>124</c:v>
                </c:pt>
                <c:pt idx="6">
                  <c:v>107</c:v>
                </c:pt>
                <c:pt idx="7">
                  <c:v>125</c:v>
                </c:pt>
                <c:pt idx="8">
                  <c:v>143</c:v>
                </c:pt>
                <c:pt idx="9">
                  <c:v>119</c:v>
                </c:pt>
                <c:pt idx="10">
                  <c:v>130</c:v>
                </c:pt>
                <c:pt idx="11">
                  <c:v>139</c:v>
                </c:pt>
                <c:pt idx="12">
                  <c:v>170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8807-449E-A631-74664EA5CA1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3.0589468483624795E-2"/>
          <c:y val="0.22163312522741269"/>
          <c:w val="0.91737162397150918"/>
          <c:h val="0.5931472764513325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32</c:v>
                </c:pt>
                <c:pt idx="1">
                  <c:v>23</c:v>
                </c:pt>
                <c:pt idx="2">
                  <c:v>20</c:v>
                </c:pt>
                <c:pt idx="3">
                  <c:v>21</c:v>
                </c:pt>
                <c:pt idx="4">
                  <c:v>21</c:v>
                </c:pt>
                <c:pt idx="5">
                  <c:v>22</c:v>
                </c:pt>
                <c:pt idx="6">
                  <c:v>20</c:v>
                </c:pt>
                <c:pt idx="7">
                  <c:v>22</c:v>
                </c:pt>
                <c:pt idx="8">
                  <c:v>28</c:v>
                </c:pt>
                <c:pt idx="9">
                  <c:v>32</c:v>
                </c:pt>
                <c:pt idx="10">
                  <c:v>51</c:v>
                </c:pt>
                <c:pt idx="11">
                  <c:v>70</c:v>
                </c:pt>
                <c:pt idx="12">
                  <c:v>70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0733-49EE-8507-6C7F27CAA63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2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7071378336781807E-2"/>
          <c:y val="0.17302474766413348"/>
          <c:w val="0.92914325522157026"/>
          <c:h val="0.6385210049578370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1F5A85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13</c:v>
                </c:pt>
                <c:pt idx="1">
                  <c:v>14</c:v>
                </c:pt>
                <c:pt idx="2">
                  <c:v>17</c:v>
                </c:pt>
                <c:pt idx="3">
                  <c:v>20</c:v>
                </c:pt>
                <c:pt idx="4">
                  <c:v>20</c:v>
                </c:pt>
                <c:pt idx="5">
                  <c:v>23</c:v>
                </c:pt>
                <c:pt idx="6">
                  <c:v>30</c:v>
                </c:pt>
                <c:pt idx="7">
                  <c:v>45</c:v>
                </c:pt>
                <c:pt idx="8">
                  <c:v>68</c:v>
                </c:pt>
                <c:pt idx="9">
                  <c:v>58</c:v>
                </c:pt>
                <c:pt idx="10">
                  <c:v>65</c:v>
                </c:pt>
                <c:pt idx="11">
                  <c:v>85</c:v>
                </c:pt>
                <c:pt idx="12">
                  <c:v>116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E00F-4D2A-9584-298BA6A2EA4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7071378336781807E-2"/>
          <c:y val="0.23069966355217797"/>
          <c:w val="0.92957621646821498"/>
          <c:h val="0.5808460890697925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29</c:v>
                </c:pt>
                <c:pt idx="1">
                  <c:v>30</c:v>
                </c:pt>
                <c:pt idx="2">
                  <c:v>29</c:v>
                </c:pt>
                <c:pt idx="3">
                  <c:v>31</c:v>
                </c:pt>
                <c:pt idx="4">
                  <c:v>33</c:v>
                </c:pt>
                <c:pt idx="5">
                  <c:v>28</c:v>
                </c:pt>
                <c:pt idx="6">
                  <c:v>31</c:v>
                </c:pt>
                <c:pt idx="7">
                  <c:v>40</c:v>
                </c:pt>
                <c:pt idx="8">
                  <c:v>48</c:v>
                </c:pt>
                <c:pt idx="9">
                  <c:v>40</c:v>
                </c:pt>
                <c:pt idx="10">
                  <c:v>72</c:v>
                </c:pt>
                <c:pt idx="11">
                  <c:v>115</c:v>
                </c:pt>
                <c:pt idx="12">
                  <c:v>131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0BB4-43C4-9A62-33A49F65557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7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7071378336781807E-2"/>
          <c:y val="0.16478547396584139"/>
          <c:w val="0.92957621646821498"/>
          <c:h val="0.6467602786561291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7030A0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16</c:v>
                </c:pt>
                <c:pt idx="1">
                  <c:v>16</c:v>
                </c:pt>
                <c:pt idx="2">
                  <c:v>18</c:v>
                </c:pt>
                <c:pt idx="3">
                  <c:v>20</c:v>
                </c:pt>
                <c:pt idx="4">
                  <c:v>17</c:v>
                </c:pt>
                <c:pt idx="5">
                  <c:v>20</c:v>
                </c:pt>
                <c:pt idx="6">
                  <c:v>21</c:v>
                </c:pt>
                <c:pt idx="7">
                  <c:v>27</c:v>
                </c:pt>
                <c:pt idx="8">
                  <c:v>28</c:v>
                </c:pt>
                <c:pt idx="9">
                  <c:v>24</c:v>
                </c:pt>
                <c:pt idx="10">
                  <c:v>24</c:v>
                </c:pt>
                <c:pt idx="11">
                  <c:v>28</c:v>
                </c:pt>
                <c:pt idx="12">
                  <c:v>30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53EC-4B9C-B464-2CB8801B151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9194841625148085E-2"/>
          <c:y val="0.20309637175823234"/>
          <c:w val="0.92479277329480847"/>
          <c:h val="0.6473743047456201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lumMod val="20000"/>
                <a:lumOff val="80000"/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96</c:v>
                </c:pt>
                <c:pt idx="1">
                  <c:v>108</c:v>
                </c:pt>
                <c:pt idx="2">
                  <c:v>102</c:v>
                </c:pt>
                <c:pt idx="3">
                  <c:v>98</c:v>
                </c:pt>
                <c:pt idx="4">
                  <c:v>87</c:v>
                </c:pt>
                <c:pt idx="5">
                  <c:v>100</c:v>
                </c:pt>
                <c:pt idx="6">
                  <c:v>93</c:v>
                </c:pt>
                <c:pt idx="7">
                  <c:v>91</c:v>
                </c:pt>
                <c:pt idx="8">
                  <c:v>104</c:v>
                </c:pt>
                <c:pt idx="9">
                  <c:v>101</c:v>
                </c:pt>
                <c:pt idx="10">
                  <c:v>115</c:v>
                </c:pt>
                <c:pt idx="11">
                  <c:v>121</c:v>
                </c:pt>
                <c:pt idx="12">
                  <c:v>144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91F2-44B5-998A-8A4E5EB210B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7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3.8390893228502782E-2"/>
          <c:y val="0.21241486149059391"/>
          <c:w val="0.90162823401020409"/>
          <c:h val="0.5796445426378884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lumMod val="75000"/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76</c:v>
                </c:pt>
                <c:pt idx="1">
                  <c:v>81</c:v>
                </c:pt>
                <c:pt idx="2">
                  <c:v>80</c:v>
                </c:pt>
                <c:pt idx="3">
                  <c:v>84</c:v>
                </c:pt>
                <c:pt idx="4">
                  <c:v>74</c:v>
                </c:pt>
                <c:pt idx="5">
                  <c:v>95</c:v>
                </c:pt>
                <c:pt idx="6">
                  <c:v>87</c:v>
                </c:pt>
                <c:pt idx="7">
                  <c:v>104</c:v>
                </c:pt>
                <c:pt idx="8">
                  <c:v>108</c:v>
                </c:pt>
                <c:pt idx="9">
                  <c:v>92</c:v>
                </c:pt>
                <c:pt idx="10">
                  <c:v>103</c:v>
                </c:pt>
                <c:pt idx="11">
                  <c:v>110</c:v>
                </c:pt>
                <c:pt idx="12">
                  <c:v>119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8807-449E-A631-74664EA5CA1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4.7792295246022756E-2"/>
          <c:y val="0.16478363112192507"/>
          <c:w val="0.88706785213551886"/>
          <c:h val="0.6499963546178342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FFFF66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20</c:v>
                </c:pt>
                <c:pt idx="1">
                  <c:v>15</c:v>
                </c:pt>
                <c:pt idx="2">
                  <c:v>12</c:v>
                </c:pt>
                <c:pt idx="3">
                  <c:v>11</c:v>
                </c:pt>
                <c:pt idx="4">
                  <c:v>10</c:v>
                </c:pt>
                <c:pt idx="5">
                  <c:v>11</c:v>
                </c:pt>
                <c:pt idx="6">
                  <c:v>9</c:v>
                </c:pt>
                <c:pt idx="7">
                  <c:v>9</c:v>
                </c:pt>
                <c:pt idx="8">
                  <c:v>12</c:v>
                </c:pt>
                <c:pt idx="9">
                  <c:v>14</c:v>
                </c:pt>
                <c:pt idx="10">
                  <c:v>31</c:v>
                </c:pt>
                <c:pt idx="11">
                  <c:v>38</c:v>
                </c:pt>
                <c:pt idx="12">
                  <c:v>40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0733-49EE-8507-6C7F27CAA63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7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7071378336781807E-2"/>
          <c:y val="0.20598184245730175"/>
          <c:w val="0.92957621646821498"/>
          <c:h val="0.597324636466376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1F5A85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4</c:v>
                </c:pt>
                <c:pt idx="1">
                  <c:v>5</c:v>
                </c:pt>
                <c:pt idx="2">
                  <c:v>6</c:v>
                </c:pt>
                <c:pt idx="3">
                  <c:v>6</c:v>
                </c:pt>
                <c:pt idx="4">
                  <c:v>6</c:v>
                </c:pt>
                <c:pt idx="5">
                  <c:v>5</c:v>
                </c:pt>
                <c:pt idx="6">
                  <c:v>7</c:v>
                </c:pt>
                <c:pt idx="7">
                  <c:v>14</c:v>
                </c:pt>
                <c:pt idx="8">
                  <c:v>28</c:v>
                </c:pt>
                <c:pt idx="9">
                  <c:v>21</c:v>
                </c:pt>
                <c:pt idx="10">
                  <c:v>29</c:v>
                </c:pt>
                <c:pt idx="11">
                  <c:v>42</c:v>
                </c:pt>
                <c:pt idx="12">
                  <c:v>62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E00F-4D2A-9584-298BA6A2EA4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2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6.1908583578582026E-2"/>
          <c:y val="0.22246038985388589"/>
          <c:w val="0.89257420499319096"/>
          <c:h val="0.5890853627680846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9</c:v>
                </c:pt>
                <c:pt idx="1">
                  <c:v>10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  <c:pt idx="5">
                  <c:v>8</c:v>
                </c:pt>
                <c:pt idx="6">
                  <c:v>9</c:v>
                </c:pt>
                <c:pt idx="7">
                  <c:v>13</c:v>
                </c:pt>
                <c:pt idx="8">
                  <c:v>17</c:v>
                </c:pt>
                <c:pt idx="9">
                  <c:v>15</c:v>
                </c:pt>
                <c:pt idx="10">
                  <c:v>25</c:v>
                </c:pt>
                <c:pt idx="11">
                  <c:v>35</c:v>
                </c:pt>
                <c:pt idx="12">
                  <c:v>57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0BB4-43C4-9A62-33A49F65557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7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6.1908583578582026E-2"/>
          <c:y val="0.17302474766413348"/>
          <c:w val="0.86737027670079103"/>
          <c:h val="0.6385210049578370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7030A0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5</c:v>
                </c:pt>
                <c:pt idx="1">
                  <c:v>6</c:v>
                </c:pt>
                <c:pt idx="2">
                  <c:v>6</c:v>
                </c:pt>
                <c:pt idx="3">
                  <c:v>6</c:v>
                </c:pt>
                <c:pt idx="4">
                  <c:v>6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8</c:v>
                </c:pt>
                <c:pt idx="10">
                  <c:v>8</c:v>
                </c:pt>
                <c:pt idx="11">
                  <c:v>10</c:v>
                </c:pt>
                <c:pt idx="12">
                  <c:v>10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53EC-4B9C-B464-2CB8801B151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7.0921985815602842E-2"/>
          <c:y val="0.21971123666038919"/>
          <c:w val="0.86393821782915436"/>
          <c:h val="0.6307596967045785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lumMod val="20000"/>
                <a:lumOff val="80000"/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6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movingAvg"/>
            <c:period val="2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273</c:v>
                </c:pt>
                <c:pt idx="1">
                  <c:v>258</c:v>
                </c:pt>
                <c:pt idx="2">
                  <c:v>229</c:v>
                </c:pt>
                <c:pt idx="3">
                  <c:v>257</c:v>
                </c:pt>
                <c:pt idx="4">
                  <c:v>216</c:v>
                </c:pt>
                <c:pt idx="5">
                  <c:v>287</c:v>
                </c:pt>
                <c:pt idx="6">
                  <c:v>248</c:v>
                </c:pt>
                <c:pt idx="7">
                  <c:v>217</c:v>
                </c:pt>
                <c:pt idx="8">
                  <c:v>225</c:v>
                </c:pt>
                <c:pt idx="9">
                  <c:v>224</c:v>
                </c:pt>
                <c:pt idx="10">
                  <c:v>260</c:v>
                </c:pt>
                <c:pt idx="11">
                  <c:v>259</c:v>
                </c:pt>
                <c:pt idx="12">
                  <c:v>290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91F2-44B5-998A-8A4E5EB210B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5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3.2453133187050578E-2"/>
          <c:y val="0.19954296804295799"/>
          <c:w val="0.91470400990001632"/>
          <c:h val="0.620034993866017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lumMod val="75000"/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name>12</c:nam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130</c:v>
                </c:pt>
                <c:pt idx="1">
                  <c:v>133</c:v>
                </c:pt>
                <c:pt idx="2">
                  <c:v>128</c:v>
                </c:pt>
                <c:pt idx="3">
                  <c:v>149</c:v>
                </c:pt>
                <c:pt idx="4">
                  <c:v>120</c:v>
                </c:pt>
                <c:pt idx="5">
                  <c:v>168</c:v>
                </c:pt>
                <c:pt idx="6">
                  <c:v>140</c:v>
                </c:pt>
                <c:pt idx="7">
                  <c:v>155</c:v>
                </c:pt>
                <c:pt idx="8">
                  <c:v>162</c:v>
                </c:pt>
                <c:pt idx="9">
                  <c:v>142</c:v>
                </c:pt>
                <c:pt idx="10">
                  <c:v>164</c:v>
                </c:pt>
                <c:pt idx="11">
                  <c:v>169</c:v>
                </c:pt>
                <c:pt idx="12">
                  <c:v>175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8807-449E-A631-74664EA5CA1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4.7792295246022756E-2"/>
          <c:y val="0.16478363112192507"/>
          <c:w val="0.88706785213551886"/>
          <c:h val="0.6499963546178342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FFFF66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64</c:v>
                </c:pt>
                <c:pt idx="1">
                  <c:v>34</c:v>
                </c:pt>
                <c:pt idx="2">
                  <c:v>19</c:v>
                </c:pt>
                <c:pt idx="3">
                  <c:v>20</c:v>
                </c:pt>
                <c:pt idx="4">
                  <c:v>18</c:v>
                </c:pt>
                <c:pt idx="5">
                  <c:v>30</c:v>
                </c:pt>
                <c:pt idx="6">
                  <c:v>22</c:v>
                </c:pt>
                <c:pt idx="7">
                  <c:v>20</c:v>
                </c:pt>
                <c:pt idx="8">
                  <c:v>23</c:v>
                </c:pt>
                <c:pt idx="9">
                  <c:v>45</c:v>
                </c:pt>
                <c:pt idx="10">
                  <c:v>107</c:v>
                </c:pt>
                <c:pt idx="11">
                  <c:v>103</c:v>
                </c:pt>
                <c:pt idx="12">
                  <c:v>88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0733-49EE-8507-6C7F27CAA63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7071378336781807E-2"/>
          <c:y val="0.18126402136242553"/>
          <c:w val="0.92914325522157026"/>
          <c:h val="0.6138031838629607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1F5A85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13</c:v>
                </c:pt>
                <c:pt idx="1">
                  <c:v>13</c:v>
                </c:pt>
                <c:pt idx="2">
                  <c:v>14</c:v>
                </c:pt>
                <c:pt idx="3">
                  <c:v>18</c:v>
                </c:pt>
                <c:pt idx="4">
                  <c:v>18</c:v>
                </c:pt>
                <c:pt idx="5">
                  <c:v>24</c:v>
                </c:pt>
                <c:pt idx="6">
                  <c:v>25</c:v>
                </c:pt>
                <c:pt idx="7">
                  <c:v>52</c:v>
                </c:pt>
                <c:pt idx="8">
                  <c:v>124</c:v>
                </c:pt>
                <c:pt idx="9">
                  <c:v>119</c:v>
                </c:pt>
                <c:pt idx="10">
                  <c:v>140</c:v>
                </c:pt>
                <c:pt idx="11">
                  <c:v>152</c:v>
                </c:pt>
                <c:pt idx="12">
                  <c:v>215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E00F-4D2A-9584-298BA6A2EA4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5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6.1908583578582026E-2"/>
          <c:y val="0.23069966355217797"/>
          <c:w val="0.86737027670079103"/>
          <c:h val="0.5808460890697925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22</c:v>
                </c:pt>
                <c:pt idx="1">
                  <c:v>15</c:v>
                </c:pt>
                <c:pt idx="2">
                  <c:v>13</c:v>
                </c:pt>
                <c:pt idx="3">
                  <c:v>14</c:v>
                </c:pt>
                <c:pt idx="4">
                  <c:v>13</c:v>
                </c:pt>
                <c:pt idx="5">
                  <c:v>23</c:v>
                </c:pt>
                <c:pt idx="6">
                  <c:v>23</c:v>
                </c:pt>
                <c:pt idx="7">
                  <c:v>24</c:v>
                </c:pt>
                <c:pt idx="8">
                  <c:v>26</c:v>
                </c:pt>
                <c:pt idx="9">
                  <c:v>38</c:v>
                </c:pt>
                <c:pt idx="10">
                  <c:v>74</c:v>
                </c:pt>
                <c:pt idx="11">
                  <c:v>85</c:v>
                </c:pt>
                <c:pt idx="12">
                  <c:v>119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0BB4-43C4-9A62-33A49F65557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7071378336781807E-2"/>
          <c:y val="0.22246038985388589"/>
          <c:w val="0.92972068460169122"/>
          <c:h val="0.5643675416732084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7030A0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18</c:v>
                </c:pt>
                <c:pt idx="1">
                  <c:v>16</c:v>
                </c:pt>
                <c:pt idx="2">
                  <c:v>17</c:v>
                </c:pt>
                <c:pt idx="3">
                  <c:v>18</c:v>
                </c:pt>
                <c:pt idx="4">
                  <c:v>15</c:v>
                </c:pt>
                <c:pt idx="5">
                  <c:v>19</c:v>
                </c:pt>
                <c:pt idx="6">
                  <c:v>21</c:v>
                </c:pt>
                <c:pt idx="7">
                  <c:v>20</c:v>
                </c:pt>
                <c:pt idx="8">
                  <c:v>20</c:v>
                </c:pt>
                <c:pt idx="9">
                  <c:v>19</c:v>
                </c:pt>
                <c:pt idx="10">
                  <c:v>19</c:v>
                </c:pt>
                <c:pt idx="11">
                  <c:v>22</c:v>
                </c:pt>
                <c:pt idx="12">
                  <c:v>19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53EC-4B9C-B464-2CB8801B151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/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7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txPr>
    <a:bodyPr/>
    <a:lstStyle/>
    <a:p>
      <a:pPr marL="0" algn="ctr" defTabSz="914400" rtl="0" eaLnBrk="1" latinLnBrk="0" hangingPunct="1">
        <a:defRPr lang="en-US" sz="900" kern="1200">
          <a:solidFill>
            <a:srgbClr val="2E8B57"/>
          </a:solidFill>
          <a:latin typeface="+mn-lt"/>
          <a:ea typeface="+mn-ea"/>
          <a:cs typeface="+mn-cs"/>
        </a:defRPr>
      </a:pPr>
      <a:endParaRPr lang="en-US"/>
    </a:p>
  </c:txPr>
  <c:externalData r:id="rId1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3.3447513047785683E-2"/>
          <c:y val="0.26843902853901647"/>
          <c:w val="0.91533270220863006"/>
          <c:h val="0.582031847007492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2E8B57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70</c:v>
                </c:pt>
                <c:pt idx="1">
                  <c:v>74</c:v>
                </c:pt>
                <c:pt idx="2">
                  <c:v>93</c:v>
                </c:pt>
                <c:pt idx="3">
                  <c:v>73</c:v>
                </c:pt>
                <c:pt idx="4">
                  <c:v>68</c:v>
                </c:pt>
                <c:pt idx="5">
                  <c:v>64</c:v>
                </c:pt>
                <c:pt idx="6">
                  <c:v>74</c:v>
                </c:pt>
                <c:pt idx="7">
                  <c:v>68</c:v>
                </c:pt>
                <c:pt idx="8">
                  <c:v>71</c:v>
                </c:pt>
                <c:pt idx="9">
                  <c:v>74</c:v>
                </c:pt>
                <c:pt idx="10">
                  <c:v>73</c:v>
                </c:pt>
                <c:pt idx="11">
                  <c:v>93</c:v>
                </c:pt>
                <c:pt idx="12">
                  <c:v>96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91F2-44B5-998A-8A4E5EB210B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9031813811643551E-2"/>
          <c:y val="0.23254205288042903"/>
          <c:w val="0.92098159106617783"/>
          <c:h val="0.5469356531929264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FF0000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14</c:v>
                </c:pt>
                <c:pt idx="1">
                  <c:v>15</c:v>
                </c:pt>
                <c:pt idx="2">
                  <c:v>18</c:v>
                </c:pt>
                <c:pt idx="3">
                  <c:v>16</c:v>
                </c:pt>
                <c:pt idx="4">
                  <c:v>14</c:v>
                </c:pt>
                <c:pt idx="5">
                  <c:v>13</c:v>
                </c:pt>
                <c:pt idx="6">
                  <c:v>14</c:v>
                </c:pt>
                <c:pt idx="7">
                  <c:v>14</c:v>
                </c:pt>
                <c:pt idx="8">
                  <c:v>12</c:v>
                </c:pt>
                <c:pt idx="9">
                  <c:v>12</c:v>
                </c:pt>
                <c:pt idx="10">
                  <c:v>11</c:v>
                </c:pt>
                <c:pt idx="11">
                  <c:v>14</c:v>
                </c:pt>
                <c:pt idx="12">
                  <c:v>14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8807-449E-A631-74664EA5CA1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4.7792295246022756E-2"/>
          <c:y val="0.25367281326153923"/>
          <c:w val="0.88706785213551886"/>
          <c:h val="0.5611075276039179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22</c:v>
                </c:pt>
                <c:pt idx="1">
                  <c:v>16</c:v>
                </c:pt>
                <c:pt idx="2">
                  <c:v>14</c:v>
                </c:pt>
                <c:pt idx="3">
                  <c:v>10</c:v>
                </c:pt>
                <c:pt idx="4">
                  <c:v>9</c:v>
                </c:pt>
                <c:pt idx="5">
                  <c:v>9</c:v>
                </c:pt>
                <c:pt idx="6">
                  <c:v>10</c:v>
                </c:pt>
                <c:pt idx="7">
                  <c:v>10</c:v>
                </c:pt>
                <c:pt idx="8">
                  <c:v>12</c:v>
                </c:pt>
                <c:pt idx="9">
                  <c:v>19</c:v>
                </c:pt>
                <c:pt idx="10">
                  <c:v>26</c:v>
                </c:pt>
                <c:pt idx="11">
                  <c:v>37</c:v>
                </c:pt>
                <c:pt idx="12">
                  <c:v>29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0733-49EE-8507-6C7F27CAA63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6.1908583578582026E-2"/>
          <c:y val="0.23997508031646125"/>
          <c:w val="0.89064537276137967"/>
          <c:h val="0.5715701475039162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1F5A85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4</c:v>
                </c:pt>
                <c:pt idx="1">
                  <c:v>3</c:v>
                </c:pt>
                <c:pt idx="2">
                  <c:v>5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8</c:v>
                </c:pt>
                <c:pt idx="8">
                  <c:v>10</c:v>
                </c:pt>
                <c:pt idx="9">
                  <c:v>10</c:v>
                </c:pt>
                <c:pt idx="10">
                  <c:v>10</c:v>
                </c:pt>
                <c:pt idx="11">
                  <c:v>15</c:v>
                </c:pt>
                <c:pt idx="12">
                  <c:v>14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E00F-4D2A-9584-298BA6A2EA4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7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5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6.1908583578582026E-2"/>
          <c:y val="0.27189603204363832"/>
          <c:w val="0.89257420499319096"/>
          <c:h val="0.5396497205783321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10</c:v>
                </c:pt>
                <c:pt idx="1">
                  <c:v>7</c:v>
                </c:pt>
                <c:pt idx="2">
                  <c:v>6</c:v>
                </c:pt>
                <c:pt idx="3">
                  <c:v>6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4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16</c:v>
                </c:pt>
                <c:pt idx="12">
                  <c:v>12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0BB4-43C4-9A62-33A49F65557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5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7071378336781807E-2"/>
          <c:y val="0.28871814369160476"/>
          <c:w val="0.92741141023499118"/>
          <c:h val="0.5228278952321265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7030A0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9</c:v>
                </c:pt>
                <c:pt idx="1">
                  <c:v>9</c:v>
                </c:pt>
                <c:pt idx="2">
                  <c:v>10</c:v>
                </c:pt>
                <c:pt idx="3">
                  <c:v>10</c:v>
                </c:pt>
                <c:pt idx="4">
                  <c:v>8</c:v>
                </c:pt>
                <c:pt idx="5">
                  <c:v>10</c:v>
                </c:pt>
                <c:pt idx="6">
                  <c:v>11</c:v>
                </c:pt>
                <c:pt idx="7">
                  <c:v>17</c:v>
                </c:pt>
                <c:pt idx="8">
                  <c:v>11</c:v>
                </c:pt>
                <c:pt idx="9">
                  <c:v>10</c:v>
                </c:pt>
                <c:pt idx="10">
                  <c:v>9</c:v>
                </c:pt>
                <c:pt idx="11">
                  <c:v>13</c:v>
                </c:pt>
                <c:pt idx="12">
                  <c:v>10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53EC-4B9C-B464-2CB8801B151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003459C-1D66-4710-89D5-D5F5E14A9374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A88D4F16-44A7-42A3-A434-61A9821A57FD}">
      <dgm:prSet custT="1"/>
      <dgm:spPr/>
      <dgm:t>
        <a:bodyPr/>
        <a:lstStyle/>
        <a:p>
          <a:pPr algn="ctr"/>
          <a:r>
            <a:rPr lang="en-US" sz="1400" b="1" dirty="0"/>
            <a:t>Key Insights:</a:t>
          </a:r>
          <a:endParaRPr lang="en-IN" sz="1400" dirty="0"/>
        </a:p>
      </dgm:t>
    </dgm:pt>
    <dgm:pt modelId="{3D3F4EF9-76F6-4B1F-97CA-6F48CF3FFB05}" type="parTrans" cxnId="{572A3D41-00D1-4A3C-B823-6ADD7A809769}">
      <dgm:prSet/>
      <dgm:spPr/>
      <dgm:t>
        <a:bodyPr/>
        <a:lstStyle/>
        <a:p>
          <a:endParaRPr lang="en-IN"/>
        </a:p>
      </dgm:t>
    </dgm:pt>
    <dgm:pt modelId="{C2DECF14-2383-4C37-863A-EC0093DB8623}" type="sibTrans" cxnId="{572A3D41-00D1-4A3C-B823-6ADD7A809769}">
      <dgm:prSet/>
      <dgm:spPr/>
      <dgm:t>
        <a:bodyPr/>
        <a:lstStyle/>
        <a:p>
          <a:endParaRPr lang="en-IN"/>
        </a:p>
      </dgm:t>
    </dgm:pt>
    <dgm:pt modelId="{87E49969-AFF0-4C2D-9F91-2EC054FCCAAC}">
      <dgm:prSet custT="1"/>
      <dgm:spPr/>
      <dgm:t>
        <a:bodyPr/>
        <a:lstStyle/>
        <a:p>
          <a:r>
            <a:rPr lang="en-US" sz="900" dirty="0"/>
            <a:t>Category ₹83 Cr (+13% YoY). Himalaya leads (21.6%) but down 3.3 pt. </a:t>
          </a:r>
          <a:r>
            <a:rPr lang="en-US" sz="900" dirty="0" err="1"/>
            <a:t>Mamaearth</a:t>
          </a:r>
          <a:r>
            <a:rPr lang="en-US" sz="900" dirty="0"/>
            <a:t> (#4, +3.1 pt) is the biggest gainer. ★ = </a:t>
          </a:r>
          <a:r>
            <a:rPr lang="en-US" sz="900" dirty="0" err="1"/>
            <a:t>Honasa</a:t>
          </a:r>
          <a:r>
            <a:rPr lang="en-US" sz="900" dirty="0"/>
            <a:t>.</a:t>
          </a:r>
          <a:endParaRPr lang="en-IN" sz="900" dirty="0"/>
        </a:p>
      </dgm:t>
    </dgm:pt>
    <dgm:pt modelId="{23B6B4E8-52F4-41E9-8194-EE8E10CCC699}" type="parTrans" cxnId="{23D46F68-A7F7-4404-A94E-F38E272054DC}">
      <dgm:prSet/>
      <dgm:spPr/>
      <dgm:t>
        <a:bodyPr/>
        <a:lstStyle/>
        <a:p>
          <a:endParaRPr lang="en-IN"/>
        </a:p>
      </dgm:t>
    </dgm:pt>
    <dgm:pt modelId="{7C6C15CF-A8AA-4F3A-A95E-741E99069EA8}" type="sibTrans" cxnId="{23D46F68-A7F7-4404-A94E-F38E272054DC}">
      <dgm:prSet/>
      <dgm:spPr/>
      <dgm:t>
        <a:bodyPr/>
        <a:lstStyle/>
        <a:p>
          <a:endParaRPr lang="en-IN"/>
        </a:p>
      </dgm:t>
    </dgm:pt>
    <dgm:pt modelId="{52572700-72E5-413D-8805-1A6E3F05A616}">
      <dgm:prSet custT="1"/>
      <dgm:spPr/>
      <dgm:t>
        <a:bodyPr/>
        <a:lstStyle/>
        <a:p>
          <a:r>
            <a:rPr lang="en-US" sz="900" dirty="0" err="1"/>
            <a:t>Mamaearth</a:t>
          </a:r>
          <a:r>
            <a:rPr lang="en-US" sz="900" dirty="0"/>
            <a:t> is the #4 Face Wash brand in MT at 11.6% (+3.1 pt YoY). The legacy leader Himalaya is down 3.3 pt. </a:t>
          </a:r>
          <a:endParaRPr lang="en-IN" sz="900" dirty="0"/>
        </a:p>
      </dgm:t>
    </dgm:pt>
    <dgm:pt modelId="{F3131F66-5DCF-4146-B5F6-E087F2CC272C}" type="parTrans" cxnId="{CA3757B4-7A7C-4D89-A07E-66695AE9B75F}">
      <dgm:prSet/>
      <dgm:spPr/>
      <dgm:t>
        <a:bodyPr/>
        <a:lstStyle/>
        <a:p>
          <a:endParaRPr lang="en-IN"/>
        </a:p>
      </dgm:t>
    </dgm:pt>
    <dgm:pt modelId="{F9B6203A-2301-47AF-BC08-ACA759654F02}" type="sibTrans" cxnId="{CA3757B4-7A7C-4D89-A07E-66695AE9B75F}">
      <dgm:prSet/>
      <dgm:spPr/>
      <dgm:t>
        <a:bodyPr/>
        <a:lstStyle/>
        <a:p>
          <a:endParaRPr lang="en-IN"/>
        </a:p>
      </dgm:t>
    </dgm:pt>
    <dgm:pt modelId="{9DCCF6CA-4A10-4ADA-A146-221BE34A7A05}">
      <dgm:prSet custT="1"/>
      <dgm:spPr/>
      <dgm:t>
        <a:bodyPr/>
        <a:lstStyle/>
        <a:p>
          <a:r>
            <a:rPr lang="en-US" sz="900" dirty="0"/>
            <a:t>The gains are distribution-led: ME weighted handling moved 81→87% &amp; The Derma Co weighted handling moved .6 →14.2%. </a:t>
          </a:r>
          <a:endParaRPr lang="en-IN" sz="900" dirty="0"/>
        </a:p>
      </dgm:t>
    </dgm:pt>
    <dgm:pt modelId="{B809DD88-988F-4B43-BDBB-86BD549B2261}" type="parTrans" cxnId="{AE91A830-5A56-4E87-AEBA-165B309E8088}">
      <dgm:prSet/>
      <dgm:spPr/>
      <dgm:t>
        <a:bodyPr/>
        <a:lstStyle/>
        <a:p>
          <a:endParaRPr lang="en-IN"/>
        </a:p>
      </dgm:t>
    </dgm:pt>
    <dgm:pt modelId="{CF485B60-5D6C-40EC-9C6F-20E352480155}" type="sibTrans" cxnId="{AE91A830-5A56-4E87-AEBA-165B309E8088}">
      <dgm:prSet/>
      <dgm:spPr/>
      <dgm:t>
        <a:bodyPr/>
        <a:lstStyle/>
        <a:p>
          <a:endParaRPr lang="en-IN"/>
        </a:p>
      </dgm:t>
    </dgm:pt>
    <dgm:pt modelId="{AD6E3193-4514-4A2B-BE9C-39882F9A2686}" type="pres">
      <dgm:prSet presAssocID="{B003459C-1D66-4710-89D5-D5F5E14A9374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D8A5A1A7-49EE-4743-A08D-67E6CADAFD57}" type="pres">
      <dgm:prSet presAssocID="{A88D4F16-44A7-42A3-A434-61A9821A57FD}" presName="horFlow" presStyleCnt="0"/>
      <dgm:spPr/>
    </dgm:pt>
    <dgm:pt modelId="{AC9DFAA5-85F2-4063-83FE-0003ECDF3129}" type="pres">
      <dgm:prSet presAssocID="{A88D4F16-44A7-42A3-A434-61A9821A57FD}" presName="bigChev" presStyleLbl="node1" presStyleIdx="0" presStyleCnt="1" custScaleX="73148" custScaleY="104764"/>
      <dgm:spPr/>
    </dgm:pt>
    <dgm:pt modelId="{6359CE99-CB1F-4F08-8C17-30AFE0A4C310}" type="pres">
      <dgm:prSet presAssocID="{23B6B4E8-52F4-41E9-8194-EE8E10CCC699}" presName="parTrans" presStyleCnt="0"/>
      <dgm:spPr/>
    </dgm:pt>
    <dgm:pt modelId="{B45F4E3A-F28A-4933-AFD2-26B673249C7F}" type="pres">
      <dgm:prSet presAssocID="{87E49969-AFF0-4C2D-9F91-2EC054FCCAAC}" presName="node" presStyleLbl="alignAccFollowNode1" presStyleIdx="0" presStyleCnt="3" custScaleX="97781" custScaleY="114375">
        <dgm:presLayoutVars>
          <dgm:bulletEnabled val="1"/>
        </dgm:presLayoutVars>
      </dgm:prSet>
      <dgm:spPr/>
    </dgm:pt>
    <dgm:pt modelId="{58DA012F-2DF5-4CF8-A157-C603A031B9A5}" type="pres">
      <dgm:prSet presAssocID="{7C6C15CF-A8AA-4F3A-A95E-741E99069EA8}" presName="sibTrans" presStyleCnt="0"/>
      <dgm:spPr/>
    </dgm:pt>
    <dgm:pt modelId="{EABA3E1B-A6F8-4933-8515-1587A22C6B11}" type="pres">
      <dgm:prSet presAssocID="{52572700-72E5-413D-8805-1A6E3F05A616}" presName="node" presStyleLbl="alignAccFollowNode1" presStyleIdx="1" presStyleCnt="3" custScaleX="100512" custScaleY="114215">
        <dgm:presLayoutVars>
          <dgm:bulletEnabled val="1"/>
        </dgm:presLayoutVars>
      </dgm:prSet>
      <dgm:spPr/>
    </dgm:pt>
    <dgm:pt modelId="{C1047C29-2B73-45AA-8FF9-A3C9ACEA117E}" type="pres">
      <dgm:prSet presAssocID="{F9B6203A-2301-47AF-BC08-ACA759654F02}" presName="sibTrans" presStyleCnt="0"/>
      <dgm:spPr/>
    </dgm:pt>
    <dgm:pt modelId="{F4933751-6B04-458B-9157-85E9F085117B}" type="pres">
      <dgm:prSet presAssocID="{9DCCF6CA-4A10-4ADA-A146-221BE34A7A05}" presName="node" presStyleLbl="alignAccFollowNode1" presStyleIdx="2" presStyleCnt="3" custScaleX="99566" custScaleY="114375">
        <dgm:presLayoutVars>
          <dgm:bulletEnabled val="1"/>
        </dgm:presLayoutVars>
      </dgm:prSet>
      <dgm:spPr/>
    </dgm:pt>
  </dgm:ptLst>
  <dgm:cxnLst>
    <dgm:cxn modelId="{AE91A830-5A56-4E87-AEBA-165B309E8088}" srcId="{A88D4F16-44A7-42A3-A434-61A9821A57FD}" destId="{9DCCF6CA-4A10-4ADA-A146-221BE34A7A05}" srcOrd="2" destOrd="0" parTransId="{B809DD88-988F-4B43-BDBB-86BD549B2261}" sibTransId="{CF485B60-5D6C-40EC-9C6F-20E352480155}"/>
    <dgm:cxn modelId="{D9783132-0E6A-4D76-B3F2-376F77AA9E0A}" type="presOf" srcId="{A88D4F16-44A7-42A3-A434-61A9821A57FD}" destId="{AC9DFAA5-85F2-4063-83FE-0003ECDF3129}" srcOrd="0" destOrd="0" presId="urn:microsoft.com/office/officeart/2005/8/layout/lProcess3"/>
    <dgm:cxn modelId="{C1E7D736-BF55-4E3B-B76E-1D22C51B6BC9}" type="presOf" srcId="{9DCCF6CA-4A10-4ADA-A146-221BE34A7A05}" destId="{F4933751-6B04-458B-9157-85E9F085117B}" srcOrd="0" destOrd="0" presId="urn:microsoft.com/office/officeart/2005/8/layout/lProcess3"/>
    <dgm:cxn modelId="{04F9853A-B687-4C18-A36A-471DE764BB4A}" type="presOf" srcId="{52572700-72E5-413D-8805-1A6E3F05A616}" destId="{EABA3E1B-A6F8-4933-8515-1587A22C6B11}" srcOrd="0" destOrd="0" presId="urn:microsoft.com/office/officeart/2005/8/layout/lProcess3"/>
    <dgm:cxn modelId="{572A3D41-00D1-4A3C-B823-6ADD7A809769}" srcId="{B003459C-1D66-4710-89D5-D5F5E14A9374}" destId="{A88D4F16-44A7-42A3-A434-61A9821A57FD}" srcOrd="0" destOrd="0" parTransId="{3D3F4EF9-76F6-4B1F-97CA-6F48CF3FFB05}" sibTransId="{C2DECF14-2383-4C37-863A-EC0093DB8623}"/>
    <dgm:cxn modelId="{23D46F68-A7F7-4404-A94E-F38E272054DC}" srcId="{A88D4F16-44A7-42A3-A434-61A9821A57FD}" destId="{87E49969-AFF0-4C2D-9F91-2EC054FCCAAC}" srcOrd="0" destOrd="0" parTransId="{23B6B4E8-52F4-41E9-8194-EE8E10CCC699}" sibTransId="{7C6C15CF-A8AA-4F3A-A95E-741E99069EA8}"/>
    <dgm:cxn modelId="{29DDA381-7530-48E7-AEE3-7253EEA10B96}" type="presOf" srcId="{87E49969-AFF0-4C2D-9F91-2EC054FCCAAC}" destId="{B45F4E3A-F28A-4933-AFD2-26B673249C7F}" srcOrd="0" destOrd="0" presId="urn:microsoft.com/office/officeart/2005/8/layout/lProcess3"/>
    <dgm:cxn modelId="{CA3757B4-7A7C-4D89-A07E-66695AE9B75F}" srcId="{A88D4F16-44A7-42A3-A434-61A9821A57FD}" destId="{52572700-72E5-413D-8805-1A6E3F05A616}" srcOrd="1" destOrd="0" parTransId="{F3131F66-5DCF-4146-B5F6-E087F2CC272C}" sibTransId="{F9B6203A-2301-47AF-BC08-ACA759654F02}"/>
    <dgm:cxn modelId="{76732CF6-396B-4DFA-AB5C-36D67923B029}" type="presOf" srcId="{B003459C-1D66-4710-89D5-D5F5E14A9374}" destId="{AD6E3193-4514-4A2B-BE9C-39882F9A2686}" srcOrd="0" destOrd="0" presId="urn:microsoft.com/office/officeart/2005/8/layout/lProcess3"/>
    <dgm:cxn modelId="{533D6C61-C347-4617-B058-A19377F9F06F}" type="presParOf" srcId="{AD6E3193-4514-4A2B-BE9C-39882F9A2686}" destId="{D8A5A1A7-49EE-4743-A08D-67E6CADAFD57}" srcOrd="0" destOrd="0" presId="urn:microsoft.com/office/officeart/2005/8/layout/lProcess3"/>
    <dgm:cxn modelId="{1F7715B7-ABED-4585-AA96-F284C1795814}" type="presParOf" srcId="{D8A5A1A7-49EE-4743-A08D-67E6CADAFD57}" destId="{AC9DFAA5-85F2-4063-83FE-0003ECDF3129}" srcOrd="0" destOrd="0" presId="urn:microsoft.com/office/officeart/2005/8/layout/lProcess3"/>
    <dgm:cxn modelId="{79F7A6DD-D3BD-4B48-ADA3-F83C536E8D56}" type="presParOf" srcId="{D8A5A1A7-49EE-4743-A08D-67E6CADAFD57}" destId="{6359CE99-CB1F-4F08-8C17-30AFE0A4C310}" srcOrd="1" destOrd="0" presId="urn:microsoft.com/office/officeart/2005/8/layout/lProcess3"/>
    <dgm:cxn modelId="{EF8CED7C-93EC-4ED1-BD7F-2D6CD748B053}" type="presParOf" srcId="{D8A5A1A7-49EE-4743-A08D-67E6CADAFD57}" destId="{B45F4E3A-F28A-4933-AFD2-26B673249C7F}" srcOrd="2" destOrd="0" presId="urn:microsoft.com/office/officeart/2005/8/layout/lProcess3"/>
    <dgm:cxn modelId="{ADEA485C-7B33-4A45-93DF-637749C51B67}" type="presParOf" srcId="{D8A5A1A7-49EE-4743-A08D-67E6CADAFD57}" destId="{58DA012F-2DF5-4CF8-A157-C603A031B9A5}" srcOrd="3" destOrd="0" presId="urn:microsoft.com/office/officeart/2005/8/layout/lProcess3"/>
    <dgm:cxn modelId="{33165E48-9C02-4A3A-8A09-02E1CF59F59D}" type="presParOf" srcId="{D8A5A1A7-49EE-4743-A08D-67E6CADAFD57}" destId="{EABA3E1B-A6F8-4933-8515-1587A22C6B11}" srcOrd="4" destOrd="0" presId="urn:microsoft.com/office/officeart/2005/8/layout/lProcess3"/>
    <dgm:cxn modelId="{9D273AF1-8D07-4980-8BB4-4CB3131BA62A}" type="presParOf" srcId="{D8A5A1A7-49EE-4743-A08D-67E6CADAFD57}" destId="{C1047C29-2B73-45AA-8FF9-A3C9ACEA117E}" srcOrd="5" destOrd="0" presId="urn:microsoft.com/office/officeart/2005/8/layout/lProcess3"/>
    <dgm:cxn modelId="{76D999B4-34D5-496D-885D-186AADEC1AAA}" type="presParOf" srcId="{D8A5A1A7-49EE-4743-A08D-67E6CADAFD57}" destId="{F4933751-6B04-458B-9157-85E9F085117B}" srcOrd="6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5EB36DA-30FD-429E-B9A4-51B560F482B3}" type="doc">
      <dgm:prSet loTypeId="urn:microsoft.com/office/officeart/2008/layout/LinedLis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C32710A2-009A-4113-971E-D380B36D09E6}">
      <dgm:prSet/>
      <dgm:spPr>
        <a:ln>
          <a:solidFill>
            <a:schemeClr val="tx1"/>
          </a:solidFill>
        </a:ln>
      </dgm:spPr>
      <dgm:t>
        <a:bodyPr anchor="ctr"/>
        <a:lstStyle/>
        <a:p>
          <a:pPr algn="ctr"/>
          <a:r>
            <a:rPr lang="en-US" b="1" dirty="0"/>
            <a:t>HONASA IS GAINING MODERN TRADE SHARE, LED BY STRONGER DISTRIBUTION</a:t>
          </a:r>
          <a:endParaRPr lang="en-IN" b="1" dirty="0"/>
        </a:p>
      </dgm:t>
    </dgm:pt>
    <dgm:pt modelId="{77A8BBB5-2042-49F7-863A-76353FCFE8F7}" type="parTrans" cxnId="{BC8A70D3-BF2B-4A5F-8773-9FC967FF8CC9}">
      <dgm:prSet/>
      <dgm:spPr/>
      <dgm:t>
        <a:bodyPr/>
        <a:lstStyle/>
        <a:p>
          <a:endParaRPr lang="en-IN"/>
        </a:p>
      </dgm:t>
    </dgm:pt>
    <dgm:pt modelId="{7143A624-5FB9-45AF-BF01-CF0F3C8992E9}" type="sibTrans" cxnId="{BC8A70D3-BF2B-4A5F-8773-9FC967FF8CC9}">
      <dgm:prSet/>
      <dgm:spPr/>
      <dgm:t>
        <a:bodyPr/>
        <a:lstStyle/>
        <a:p>
          <a:endParaRPr lang="en-IN"/>
        </a:p>
      </dgm:t>
    </dgm:pt>
    <dgm:pt modelId="{65062155-B76B-4E17-B234-C42AA233000B}">
      <dgm:prSet/>
      <dgm:spPr/>
      <dgm:t>
        <a:bodyPr anchor="ctr"/>
        <a:lstStyle/>
        <a:p>
          <a:r>
            <a:rPr lang="en-US" b="1" dirty="0"/>
            <a:t>What happened —</a:t>
          </a:r>
          <a:r>
            <a:rPr lang="en-US" dirty="0"/>
            <a:t> </a:t>
          </a:r>
          <a:r>
            <a:rPr lang="en-US" dirty="0" err="1"/>
            <a:t>Mamaearth</a:t>
          </a:r>
          <a:r>
            <a:rPr lang="en-US" dirty="0"/>
            <a:t> is the </a:t>
          </a:r>
          <a:r>
            <a:rPr lang="en-IN" dirty="0"/>
            <a:t>★</a:t>
          </a:r>
          <a:r>
            <a:rPr lang="en-US" dirty="0"/>
            <a:t>#4 Face Wash brand in MT at 11.6% (+3.1 pt YoY) and is gaining in Shampoo at 3.9% (+1.3 pt). The legacy leader Himalaya is down 3.3 pt.</a:t>
          </a:r>
          <a:endParaRPr lang="en-IN" dirty="0"/>
        </a:p>
      </dgm:t>
    </dgm:pt>
    <dgm:pt modelId="{8EBADEEC-D99C-40E2-9C3E-97ED7271DAF0}" type="parTrans" cxnId="{557630BE-3F3C-4E2C-9CF4-4F2EA7032795}">
      <dgm:prSet/>
      <dgm:spPr/>
      <dgm:t>
        <a:bodyPr/>
        <a:lstStyle/>
        <a:p>
          <a:endParaRPr lang="en-IN"/>
        </a:p>
      </dgm:t>
    </dgm:pt>
    <dgm:pt modelId="{CAE335FC-6799-4C68-A04B-8F4C99A3522A}" type="sibTrans" cxnId="{557630BE-3F3C-4E2C-9CF4-4F2EA7032795}">
      <dgm:prSet/>
      <dgm:spPr/>
      <dgm:t>
        <a:bodyPr/>
        <a:lstStyle/>
        <a:p>
          <a:endParaRPr lang="en-IN"/>
        </a:p>
      </dgm:t>
    </dgm:pt>
    <dgm:pt modelId="{AD2F7022-A92B-4326-809D-8C15496F8AF5}">
      <dgm:prSet/>
      <dgm:spPr/>
      <dgm:t>
        <a:bodyPr anchor="ctr"/>
        <a:lstStyle/>
        <a:p>
          <a:r>
            <a:rPr lang="en-US" b="1" dirty="0"/>
            <a:t>Why — </a:t>
          </a:r>
          <a:r>
            <a:rPr lang="en-US" dirty="0"/>
            <a:t>The gains are distribution-led: </a:t>
          </a:r>
          <a:r>
            <a:rPr lang="en-US" dirty="0" err="1"/>
            <a:t>Mamaearth</a:t>
          </a:r>
          <a:r>
            <a:rPr lang="en-US" dirty="0"/>
            <a:t> weighted handling moved 81→87% (FW) and 76→81% (Shampoo). The Derma Co is building MT from near-zero (0.6→14.2% handling).</a:t>
          </a:r>
          <a:endParaRPr lang="en-IN" dirty="0"/>
        </a:p>
      </dgm:t>
    </dgm:pt>
    <dgm:pt modelId="{ECE58BA4-3994-49E3-92E3-13878623A988}" type="parTrans" cxnId="{0DBC56BB-FABC-40C2-A142-B5B12F9F6A28}">
      <dgm:prSet/>
      <dgm:spPr/>
      <dgm:t>
        <a:bodyPr/>
        <a:lstStyle/>
        <a:p>
          <a:endParaRPr lang="en-IN"/>
        </a:p>
      </dgm:t>
    </dgm:pt>
    <dgm:pt modelId="{20D77FC4-020E-4F7C-894A-6AADA65B8F59}" type="sibTrans" cxnId="{0DBC56BB-FABC-40C2-A142-B5B12F9F6A28}">
      <dgm:prSet/>
      <dgm:spPr/>
      <dgm:t>
        <a:bodyPr/>
        <a:lstStyle/>
        <a:p>
          <a:endParaRPr lang="en-IN"/>
        </a:p>
      </dgm:t>
    </dgm:pt>
    <dgm:pt modelId="{C95A7DCC-3215-4427-A522-A9DB460B3818}">
      <dgm:prSet/>
      <dgm:spPr/>
      <dgm:t>
        <a:bodyPr anchor="ctr"/>
        <a:lstStyle/>
        <a:p>
          <a:r>
            <a:rPr lang="en-US" b="1" dirty="0"/>
            <a:t>Impact — </a:t>
          </a:r>
          <a:r>
            <a:rPr lang="en-US" dirty="0" err="1"/>
            <a:t>Honasa</a:t>
          </a:r>
          <a:r>
            <a:rPr lang="en-US" dirty="0"/>
            <a:t> is converting MT shelf into share in the two largest cleansing categories, worth ₹9.6 Cr + ₹6.5 Cr monthly RR and rising.</a:t>
          </a:r>
          <a:endParaRPr lang="en-IN" dirty="0"/>
        </a:p>
      </dgm:t>
    </dgm:pt>
    <dgm:pt modelId="{EA264769-8ED4-4932-98D6-FD482E0D63DB}" type="parTrans" cxnId="{4144644D-09D3-40B0-BF02-B5C18B638B52}">
      <dgm:prSet/>
      <dgm:spPr/>
      <dgm:t>
        <a:bodyPr/>
        <a:lstStyle/>
        <a:p>
          <a:endParaRPr lang="en-IN"/>
        </a:p>
      </dgm:t>
    </dgm:pt>
    <dgm:pt modelId="{23ACEAC4-F078-47AD-9EC3-923BAD8E42AE}" type="sibTrans" cxnId="{4144644D-09D3-40B0-BF02-B5C18B638B52}">
      <dgm:prSet/>
      <dgm:spPr/>
      <dgm:t>
        <a:bodyPr/>
        <a:lstStyle/>
        <a:p>
          <a:endParaRPr lang="en-IN"/>
        </a:p>
      </dgm:t>
    </dgm:pt>
    <dgm:pt modelId="{0231D5BF-FF2C-47A3-9220-CA1B4AB7CB93}">
      <dgm:prSet/>
      <dgm:spPr/>
      <dgm:t>
        <a:bodyPr anchor="ctr"/>
        <a:lstStyle/>
        <a:p>
          <a:r>
            <a:rPr lang="en-US" b="1" dirty="0"/>
            <a:t>Action — </a:t>
          </a:r>
          <a:r>
            <a:rPr lang="en-US" dirty="0"/>
            <a:t>Need to protect the FW Distribution gain and checked for Shampoo assortment gaps in chains to identify further growth opportunities.</a:t>
          </a:r>
          <a:endParaRPr lang="en-IN" dirty="0"/>
        </a:p>
      </dgm:t>
    </dgm:pt>
    <dgm:pt modelId="{79B768AB-A91E-4780-81A9-835F5D174731}" type="parTrans" cxnId="{F2A07B7C-864A-40D5-B4C3-1F4858D9A574}">
      <dgm:prSet/>
      <dgm:spPr/>
      <dgm:t>
        <a:bodyPr/>
        <a:lstStyle/>
        <a:p>
          <a:endParaRPr lang="en-IN"/>
        </a:p>
      </dgm:t>
    </dgm:pt>
    <dgm:pt modelId="{E361D35A-9D18-4D8D-BF61-FDC36DD7A871}" type="sibTrans" cxnId="{F2A07B7C-864A-40D5-B4C3-1F4858D9A574}">
      <dgm:prSet/>
      <dgm:spPr/>
      <dgm:t>
        <a:bodyPr/>
        <a:lstStyle/>
        <a:p>
          <a:endParaRPr lang="en-IN"/>
        </a:p>
      </dgm:t>
    </dgm:pt>
    <dgm:pt modelId="{4458F8B2-7309-4B79-B1ED-66772D733DE5}" type="pres">
      <dgm:prSet presAssocID="{75EB36DA-30FD-429E-B9A4-51B560F482B3}" presName="vert0" presStyleCnt="0">
        <dgm:presLayoutVars>
          <dgm:dir/>
          <dgm:animOne val="branch"/>
          <dgm:animLvl val="lvl"/>
        </dgm:presLayoutVars>
      </dgm:prSet>
      <dgm:spPr/>
    </dgm:pt>
    <dgm:pt modelId="{E1A54491-AF60-4F4A-8502-1EC3307DAD88}" type="pres">
      <dgm:prSet presAssocID="{C32710A2-009A-4113-971E-D380B36D09E6}" presName="thickLine" presStyleLbl="alignNode1" presStyleIdx="0" presStyleCnt="1"/>
      <dgm:spPr/>
    </dgm:pt>
    <dgm:pt modelId="{CB6BA72A-8EE0-4FC8-8FA4-54E4E6C5ED45}" type="pres">
      <dgm:prSet presAssocID="{C32710A2-009A-4113-971E-D380B36D09E6}" presName="horz1" presStyleCnt="0"/>
      <dgm:spPr/>
    </dgm:pt>
    <dgm:pt modelId="{3B507AF8-74BE-4443-B823-02C4F7422963}" type="pres">
      <dgm:prSet presAssocID="{C32710A2-009A-4113-971E-D380B36D09E6}" presName="tx1" presStyleLbl="revTx" presStyleIdx="0" presStyleCnt="5"/>
      <dgm:spPr/>
    </dgm:pt>
    <dgm:pt modelId="{1C525586-FFAD-4571-8EBA-CC0DC154B7EA}" type="pres">
      <dgm:prSet presAssocID="{C32710A2-009A-4113-971E-D380B36D09E6}" presName="vert1" presStyleCnt="0"/>
      <dgm:spPr/>
    </dgm:pt>
    <dgm:pt modelId="{63B59168-D6A9-41C1-B52C-0CD7F2EDF0B0}" type="pres">
      <dgm:prSet presAssocID="{65062155-B76B-4E17-B234-C42AA233000B}" presName="vertSpace2a" presStyleCnt="0"/>
      <dgm:spPr/>
    </dgm:pt>
    <dgm:pt modelId="{C8B4FAEE-E7A3-4EBE-88EB-8866AB80EE67}" type="pres">
      <dgm:prSet presAssocID="{65062155-B76B-4E17-B234-C42AA233000B}" presName="horz2" presStyleCnt="0"/>
      <dgm:spPr/>
    </dgm:pt>
    <dgm:pt modelId="{84322DDF-A8D5-49B8-B460-A4052A9E28E1}" type="pres">
      <dgm:prSet presAssocID="{65062155-B76B-4E17-B234-C42AA233000B}" presName="horzSpace2" presStyleCnt="0"/>
      <dgm:spPr/>
    </dgm:pt>
    <dgm:pt modelId="{5E9C23F4-222C-484A-A108-B17963B330E8}" type="pres">
      <dgm:prSet presAssocID="{65062155-B76B-4E17-B234-C42AA233000B}" presName="tx2" presStyleLbl="revTx" presStyleIdx="1" presStyleCnt="5"/>
      <dgm:spPr/>
    </dgm:pt>
    <dgm:pt modelId="{FAF4E696-6F7F-475B-93ED-5E188493B912}" type="pres">
      <dgm:prSet presAssocID="{65062155-B76B-4E17-B234-C42AA233000B}" presName="vert2" presStyleCnt="0"/>
      <dgm:spPr/>
    </dgm:pt>
    <dgm:pt modelId="{3014EFA0-5169-4D60-A5D7-934DE2186031}" type="pres">
      <dgm:prSet presAssocID="{65062155-B76B-4E17-B234-C42AA233000B}" presName="thinLine2b" presStyleLbl="callout" presStyleIdx="0" presStyleCnt="4"/>
      <dgm:spPr/>
    </dgm:pt>
    <dgm:pt modelId="{39C494F3-19B0-4FB7-90E5-F670D3B4B257}" type="pres">
      <dgm:prSet presAssocID="{65062155-B76B-4E17-B234-C42AA233000B}" presName="vertSpace2b" presStyleCnt="0"/>
      <dgm:spPr/>
    </dgm:pt>
    <dgm:pt modelId="{5498A288-DDD5-4853-9327-3F6A151FAE97}" type="pres">
      <dgm:prSet presAssocID="{AD2F7022-A92B-4326-809D-8C15496F8AF5}" presName="horz2" presStyleCnt="0"/>
      <dgm:spPr/>
    </dgm:pt>
    <dgm:pt modelId="{3F6E9E9D-FE16-4198-9FB1-0AF8A68AB476}" type="pres">
      <dgm:prSet presAssocID="{AD2F7022-A92B-4326-809D-8C15496F8AF5}" presName="horzSpace2" presStyleCnt="0"/>
      <dgm:spPr/>
    </dgm:pt>
    <dgm:pt modelId="{E45FC06D-6131-4C7B-A993-903F08057C44}" type="pres">
      <dgm:prSet presAssocID="{AD2F7022-A92B-4326-809D-8C15496F8AF5}" presName="tx2" presStyleLbl="revTx" presStyleIdx="2" presStyleCnt="5"/>
      <dgm:spPr/>
    </dgm:pt>
    <dgm:pt modelId="{5956D816-3A2A-4FF7-8EA9-1EDAAF1FB6FE}" type="pres">
      <dgm:prSet presAssocID="{AD2F7022-A92B-4326-809D-8C15496F8AF5}" presName="vert2" presStyleCnt="0"/>
      <dgm:spPr/>
    </dgm:pt>
    <dgm:pt modelId="{F922B264-6F20-4425-AC71-9BADBD8A3A38}" type="pres">
      <dgm:prSet presAssocID="{AD2F7022-A92B-4326-809D-8C15496F8AF5}" presName="thinLine2b" presStyleLbl="callout" presStyleIdx="1" presStyleCnt="4"/>
      <dgm:spPr/>
    </dgm:pt>
    <dgm:pt modelId="{5DA1D6C3-C866-47C8-B04A-EA15568887FE}" type="pres">
      <dgm:prSet presAssocID="{AD2F7022-A92B-4326-809D-8C15496F8AF5}" presName="vertSpace2b" presStyleCnt="0"/>
      <dgm:spPr/>
    </dgm:pt>
    <dgm:pt modelId="{2E8A8921-BE3D-4F50-AC22-6C0B922A5820}" type="pres">
      <dgm:prSet presAssocID="{C95A7DCC-3215-4427-A522-A9DB460B3818}" presName="horz2" presStyleCnt="0"/>
      <dgm:spPr/>
    </dgm:pt>
    <dgm:pt modelId="{747D342F-7564-44FB-A10F-D2A845DCB75E}" type="pres">
      <dgm:prSet presAssocID="{C95A7DCC-3215-4427-A522-A9DB460B3818}" presName="horzSpace2" presStyleCnt="0"/>
      <dgm:spPr/>
    </dgm:pt>
    <dgm:pt modelId="{62D7282F-3AA8-4F87-A566-78073F7C75EA}" type="pres">
      <dgm:prSet presAssocID="{C95A7DCC-3215-4427-A522-A9DB460B3818}" presName="tx2" presStyleLbl="revTx" presStyleIdx="3" presStyleCnt="5"/>
      <dgm:spPr/>
    </dgm:pt>
    <dgm:pt modelId="{1DBCDDB6-6592-4860-9B19-39ADE4DB973A}" type="pres">
      <dgm:prSet presAssocID="{C95A7DCC-3215-4427-A522-A9DB460B3818}" presName="vert2" presStyleCnt="0"/>
      <dgm:spPr/>
    </dgm:pt>
    <dgm:pt modelId="{8DC5D532-BBE1-460A-89C0-ACB6DAE14AE6}" type="pres">
      <dgm:prSet presAssocID="{C95A7DCC-3215-4427-A522-A9DB460B3818}" presName="thinLine2b" presStyleLbl="callout" presStyleIdx="2" presStyleCnt="4"/>
      <dgm:spPr/>
    </dgm:pt>
    <dgm:pt modelId="{22A50117-8D7B-4228-A30A-E75B7155CE8F}" type="pres">
      <dgm:prSet presAssocID="{C95A7DCC-3215-4427-A522-A9DB460B3818}" presName="vertSpace2b" presStyleCnt="0"/>
      <dgm:spPr/>
    </dgm:pt>
    <dgm:pt modelId="{64471B8F-F3FB-4176-B9E4-FEFEA83F20F6}" type="pres">
      <dgm:prSet presAssocID="{0231D5BF-FF2C-47A3-9220-CA1B4AB7CB93}" presName="horz2" presStyleCnt="0"/>
      <dgm:spPr/>
    </dgm:pt>
    <dgm:pt modelId="{579E74B1-70B1-4C7D-8FE6-1489450309D8}" type="pres">
      <dgm:prSet presAssocID="{0231D5BF-FF2C-47A3-9220-CA1B4AB7CB93}" presName="horzSpace2" presStyleCnt="0"/>
      <dgm:spPr/>
    </dgm:pt>
    <dgm:pt modelId="{E42BC4FB-B2B9-457A-B6B4-FE95B4CFE12C}" type="pres">
      <dgm:prSet presAssocID="{0231D5BF-FF2C-47A3-9220-CA1B4AB7CB93}" presName="tx2" presStyleLbl="revTx" presStyleIdx="4" presStyleCnt="5"/>
      <dgm:spPr/>
    </dgm:pt>
    <dgm:pt modelId="{842F7F69-C9FB-4612-A5F7-A25F5B9258C3}" type="pres">
      <dgm:prSet presAssocID="{0231D5BF-FF2C-47A3-9220-CA1B4AB7CB93}" presName="vert2" presStyleCnt="0"/>
      <dgm:spPr/>
    </dgm:pt>
    <dgm:pt modelId="{092B1DD1-FC62-4791-879B-64E5524300D7}" type="pres">
      <dgm:prSet presAssocID="{0231D5BF-FF2C-47A3-9220-CA1B4AB7CB93}" presName="thinLine2b" presStyleLbl="callout" presStyleIdx="3" presStyleCnt="4"/>
      <dgm:spPr/>
    </dgm:pt>
    <dgm:pt modelId="{20B40DFB-F8CA-4BAF-AFF6-27C7BB5E08E9}" type="pres">
      <dgm:prSet presAssocID="{0231D5BF-FF2C-47A3-9220-CA1B4AB7CB93}" presName="vertSpace2b" presStyleCnt="0"/>
      <dgm:spPr/>
    </dgm:pt>
  </dgm:ptLst>
  <dgm:cxnLst>
    <dgm:cxn modelId="{C2FCC767-0288-47FD-9624-EF8ADA1B5CDD}" type="presOf" srcId="{75EB36DA-30FD-429E-B9A4-51B560F482B3}" destId="{4458F8B2-7309-4B79-B1ED-66772D733DE5}" srcOrd="0" destOrd="0" presId="urn:microsoft.com/office/officeart/2008/layout/LinedList"/>
    <dgm:cxn modelId="{4144644D-09D3-40B0-BF02-B5C18B638B52}" srcId="{C32710A2-009A-4113-971E-D380B36D09E6}" destId="{C95A7DCC-3215-4427-A522-A9DB460B3818}" srcOrd="2" destOrd="0" parTransId="{EA264769-8ED4-4932-98D6-FD482E0D63DB}" sibTransId="{23ACEAC4-F078-47AD-9EC3-923BAD8E42AE}"/>
    <dgm:cxn modelId="{F2A07B7C-864A-40D5-B4C3-1F4858D9A574}" srcId="{C32710A2-009A-4113-971E-D380B36D09E6}" destId="{0231D5BF-FF2C-47A3-9220-CA1B4AB7CB93}" srcOrd="3" destOrd="0" parTransId="{79B768AB-A91E-4780-81A9-835F5D174731}" sibTransId="{E361D35A-9D18-4D8D-BF61-FDC36DD7A871}"/>
    <dgm:cxn modelId="{9F224C98-A5BF-46A2-A540-055DABFFA67A}" type="presOf" srcId="{65062155-B76B-4E17-B234-C42AA233000B}" destId="{5E9C23F4-222C-484A-A108-B17963B330E8}" srcOrd="0" destOrd="0" presId="urn:microsoft.com/office/officeart/2008/layout/LinedList"/>
    <dgm:cxn modelId="{DDCE4F99-D085-46B9-BA80-CD977D309E88}" type="presOf" srcId="{C95A7DCC-3215-4427-A522-A9DB460B3818}" destId="{62D7282F-3AA8-4F87-A566-78073F7C75EA}" srcOrd="0" destOrd="0" presId="urn:microsoft.com/office/officeart/2008/layout/LinedList"/>
    <dgm:cxn modelId="{0DC6DB9F-D289-45DC-A118-BC7240D24651}" type="presOf" srcId="{AD2F7022-A92B-4326-809D-8C15496F8AF5}" destId="{E45FC06D-6131-4C7B-A993-903F08057C44}" srcOrd="0" destOrd="0" presId="urn:microsoft.com/office/officeart/2008/layout/LinedList"/>
    <dgm:cxn modelId="{C6138AA3-EE38-485D-897E-8B85585F309B}" type="presOf" srcId="{C32710A2-009A-4113-971E-D380B36D09E6}" destId="{3B507AF8-74BE-4443-B823-02C4F7422963}" srcOrd="0" destOrd="0" presId="urn:microsoft.com/office/officeart/2008/layout/LinedList"/>
    <dgm:cxn modelId="{0DBC56BB-FABC-40C2-A142-B5B12F9F6A28}" srcId="{C32710A2-009A-4113-971E-D380B36D09E6}" destId="{AD2F7022-A92B-4326-809D-8C15496F8AF5}" srcOrd="1" destOrd="0" parTransId="{ECE58BA4-3994-49E3-92E3-13878623A988}" sibTransId="{20D77FC4-020E-4F7C-894A-6AADA65B8F59}"/>
    <dgm:cxn modelId="{557630BE-3F3C-4E2C-9CF4-4F2EA7032795}" srcId="{C32710A2-009A-4113-971E-D380B36D09E6}" destId="{65062155-B76B-4E17-B234-C42AA233000B}" srcOrd="0" destOrd="0" parTransId="{8EBADEEC-D99C-40E2-9C3E-97ED7271DAF0}" sibTransId="{CAE335FC-6799-4C68-A04B-8F4C99A3522A}"/>
    <dgm:cxn modelId="{BC8A70D3-BF2B-4A5F-8773-9FC967FF8CC9}" srcId="{75EB36DA-30FD-429E-B9A4-51B560F482B3}" destId="{C32710A2-009A-4113-971E-D380B36D09E6}" srcOrd="0" destOrd="0" parTransId="{77A8BBB5-2042-49F7-863A-76353FCFE8F7}" sibTransId="{7143A624-5FB9-45AF-BF01-CF0F3C8992E9}"/>
    <dgm:cxn modelId="{A31D49D4-1DB4-4CA5-8DFE-26D02212E6E6}" type="presOf" srcId="{0231D5BF-FF2C-47A3-9220-CA1B4AB7CB93}" destId="{E42BC4FB-B2B9-457A-B6B4-FE95B4CFE12C}" srcOrd="0" destOrd="0" presId="urn:microsoft.com/office/officeart/2008/layout/LinedList"/>
    <dgm:cxn modelId="{3AB21902-67C7-401B-B15F-A1DA86DBEC47}" type="presParOf" srcId="{4458F8B2-7309-4B79-B1ED-66772D733DE5}" destId="{E1A54491-AF60-4F4A-8502-1EC3307DAD88}" srcOrd="0" destOrd="0" presId="urn:microsoft.com/office/officeart/2008/layout/LinedList"/>
    <dgm:cxn modelId="{D78A1E92-3096-4E60-98BB-084C2B005E02}" type="presParOf" srcId="{4458F8B2-7309-4B79-B1ED-66772D733DE5}" destId="{CB6BA72A-8EE0-4FC8-8FA4-54E4E6C5ED45}" srcOrd="1" destOrd="0" presId="urn:microsoft.com/office/officeart/2008/layout/LinedList"/>
    <dgm:cxn modelId="{8955D87E-5A4D-40F9-A7C5-6B3958627CE0}" type="presParOf" srcId="{CB6BA72A-8EE0-4FC8-8FA4-54E4E6C5ED45}" destId="{3B507AF8-74BE-4443-B823-02C4F7422963}" srcOrd="0" destOrd="0" presId="urn:microsoft.com/office/officeart/2008/layout/LinedList"/>
    <dgm:cxn modelId="{BCBB8ECB-22B9-4212-BE7F-E07239677EB0}" type="presParOf" srcId="{CB6BA72A-8EE0-4FC8-8FA4-54E4E6C5ED45}" destId="{1C525586-FFAD-4571-8EBA-CC0DC154B7EA}" srcOrd="1" destOrd="0" presId="urn:microsoft.com/office/officeart/2008/layout/LinedList"/>
    <dgm:cxn modelId="{23E79147-D1FB-4BAF-A3ED-52286EEA67A5}" type="presParOf" srcId="{1C525586-FFAD-4571-8EBA-CC0DC154B7EA}" destId="{63B59168-D6A9-41C1-B52C-0CD7F2EDF0B0}" srcOrd="0" destOrd="0" presId="urn:microsoft.com/office/officeart/2008/layout/LinedList"/>
    <dgm:cxn modelId="{5F1CAAAC-7956-4F5E-9C90-EDE723CA080A}" type="presParOf" srcId="{1C525586-FFAD-4571-8EBA-CC0DC154B7EA}" destId="{C8B4FAEE-E7A3-4EBE-88EB-8866AB80EE67}" srcOrd="1" destOrd="0" presId="urn:microsoft.com/office/officeart/2008/layout/LinedList"/>
    <dgm:cxn modelId="{31834F5C-EDA1-4F2A-9F99-DFA5FAE96C2A}" type="presParOf" srcId="{C8B4FAEE-E7A3-4EBE-88EB-8866AB80EE67}" destId="{84322DDF-A8D5-49B8-B460-A4052A9E28E1}" srcOrd="0" destOrd="0" presId="urn:microsoft.com/office/officeart/2008/layout/LinedList"/>
    <dgm:cxn modelId="{D9A26043-D95D-4D28-B75A-EEB4D4C18696}" type="presParOf" srcId="{C8B4FAEE-E7A3-4EBE-88EB-8866AB80EE67}" destId="{5E9C23F4-222C-484A-A108-B17963B330E8}" srcOrd="1" destOrd="0" presId="urn:microsoft.com/office/officeart/2008/layout/LinedList"/>
    <dgm:cxn modelId="{D396140F-C327-4B9E-81B9-519219CEF1C4}" type="presParOf" srcId="{C8B4FAEE-E7A3-4EBE-88EB-8866AB80EE67}" destId="{FAF4E696-6F7F-475B-93ED-5E188493B912}" srcOrd="2" destOrd="0" presId="urn:microsoft.com/office/officeart/2008/layout/LinedList"/>
    <dgm:cxn modelId="{EE8B8F39-E981-420C-BBC8-1F4254DF65A8}" type="presParOf" srcId="{1C525586-FFAD-4571-8EBA-CC0DC154B7EA}" destId="{3014EFA0-5169-4D60-A5D7-934DE2186031}" srcOrd="2" destOrd="0" presId="urn:microsoft.com/office/officeart/2008/layout/LinedList"/>
    <dgm:cxn modelId="{D6D54DA1-B28F-46CB-9325-5A88D8948B17}" type="presParOf" srcId="{1C525586-FFAD-4571-8EBA-CC0DC154B7EA}" destId="{39C494F3-19B0-4FB7-90E5-F670D3B4B257}" srcOrd="3" destOrd="0" presId="urn:microsoft.com/office/officeart/2008/layout/LinedList"/>
    <dgm:cxn modelId="{572D55D7-6C07-474F-BD58-2F4E7BAA3808}" type="presParOf" srcId="{1C525586-FFAD-4571-8EBA-CC0DC154B7EA}" destId="{5498A288-DDD5-4853-9327-3F6A151FAE97}" srcOrd="4" destOrd="0" presId="urn:microsoft.com/office/officeart/2008/layout/LinedList"/>
    <dgm:cxn modelId="{F218E96C-3CF3-4DFB-960C-0883FD9E7B41}" type="presParOf" srcId="{5498A288-DDD5-4853-9327-3F6A151FAE97}" destId="{3F6E9E9D-FE16-4198-9FB1-0AF8A68AB476}" srcOrd="0" destOrd="0" presId="urn:microsoft.com/office/officeart/2008/layout/LinedList"/>
    <dgm:cxn modelId="{3251F834-C988-4C95-92D0-7D59F0478919}" type="presParOf" srcId="{5498A288-DDD5-4853-9327-3F6A151FAE97}" destId="{E45FC06D-6131-4C7B-A993-903F08057C44}" srcOrd="1" destOrd="0" presId="urn:microsoft.com/office/officeart/2008/layout/LinedList"/>
    <dgm:cxn modelId="{B470ECA7-A5F3-4861-8E18-2677E2F4A467}" type="presParOf" srcId="{5498A288-DDD5-4853-9327-3F6A151FAE97}" destId="{5956D816-3A2A-4FF7-8EA9-1EDAAF1FB6FE}" srcOrd="2" destOrd="0" presId="urn:microsoft.com/office/officeart/2008/layout/LinedList"/>
    <dgm:cxn modelId="{CD33BF6E-A8C8-4F27-96EB-156C27371EEB}" type="presParOf" srcId="{1C525586-FFAD-4571-8EBA-CC0DC154B7EA}" destId="{F922B264-6F20-4425-AC71-9BADBD8A3A38}" srcOrd="5" destOrd="0" presId="urn:microsoft.com/office/officeart/2008/layout/LinedList"/>
    <dgm:cxn modelId="{C8E64ABA-F452-40A6-A4AC-F5E23E681436}" type="presParOf" srcId="{1C525586-FFAD-4571-8EBA-CC0DC154B7EA}" destId="{5DA1D6C3-C866-47C8-B04A-EA15568887FE}" srcOrd="6" destOrd="0" presId="urn:microsoft.com/office/officeart/2008/layout/LinedList"/>
    <dgm:cxn modelId="{BADDD9CB-1AA6-4F73-A1E3-FE1680BA1A68}" type="presParOf" srcId="{1C525586-FFAD-4571-8EBA-CC0DC154B7EA}" destId="{2E8A8921-BE3D-4F50-AC22-6C0B922A5820}" srcOrd="7" destOrd="0" presId="urn:microsoft.com/office/officeart/2008/layout/LinedList"/>
    <dgm:cxn modelId="{EABD49A0-DAA5-43A7-8FA3-E786316B34C7}" type="presParOf" srcId="{2E8A8921-BE3D-4F50-AC22-6C0B922A5820}" destId="{747D342F-7564-44FB-A10F-D2A845DCB75E}" srcOrd="0" destOrd="0" presId="urn:microsoft.com/office/officeart/2008/layout/LinedList"/>
    <dgm:cxn modelId="{0EECFB8E-F6E1-4D23-B648-D80BFD7B8F9B}" type="presParOf" srcId="{2E8A8921-BE3D-4F50-AC22-6C0B922A5820}" destId="{62D7282F-3AA8-4F87-A566-78073F7C75EA}" srcOrd="1" destOrd="0" presId="urn:microsoft.com/office/officeart/2008/layout/LinedList"/>
    <dgm:cxn modelId="{B2046D31-882E-4168-9B6F-7D43FD1F5666}" type="presParOf" srcId="{2E8A8921-BE3D-4F50-AC22-6C0B922A5820}" destId="{1DBCDDB6-6592-4860-9B19-39ADE4DB973A}" srcOrd="2" destOrd="0" presId="urn:microsoft.com/office/officeart/2008/layout/LinedList"/>
    <dgm:cxn modelId="{C0F349F0-D130-40B3-856F-3BA37EE65F0F}" type="presParOf" srcId="{1C525586-FFAD-4571-8EBA-CC0DC154B7EA}" destId="{8DC5D532-BBE1-460A-89C0-ACB6DAE14AE6}" srcOrd="8" destOrd="0" presId="urn:microsoft.com/office/officeart/2008/layout/LinedList"/>
    <dgm:cxn modelId="{B56FC561-24A3-480C-AB59-125A4F481241}" type="presParOf" srcId="{1C525586-FFAD-4571-8EBA-CC0DC154B7EA}" destId="{22A50117-8D7B-4228-A30A-E75B7155CE8F}" srcOrd="9" destOrd="0" presId="urn:microsoft.com/office/officeart/2008/layout/LinedList"/>
    <dgm:cxn modelId="{6318A558-CE03-435F-9350-145906589A84}" type="presParOf" srcId="{1C525586-FFAD-4571-8EBA-CC0DC154B7EA}" destId="{64471B8F-F3FB-4176-B9E4-FEFEA83F20F6}" srcOrd="10" destOrd="0" presId="urn:microsoft.com/office/officeart/2008/layout/LinedList"/>
    <dgm:cxn modelId="{BABAAC55-A042-43AB-AE25-6CF1ED3F9F04}" type="presParOf" srcId="{64471B8F-F3FB-4176-B9E4-FEFEA83F20F6}" destId="{579E74B1-70B1-4C7D-8FE6-1489450309D8}" srcOrd="0" destOrd="0" presId="urn:microsoft.com/office/officeart/2008/layout/LinedList"/>
    <dgm:cxn modelId="{8D4A277A-0F05-4CB0-9BC4-61B5E56F9ED5}" type="presParOf" srcId="{64471B8F-F3FB-4176-B9E4-FEFEA83F20F6}" destId="{E42BC4FB-B2B9-457A-B6B4-FE95B4CFE12C}" srcOrd="1" destOrd="0" presId="urn:microsoft.com/office/officeart/2008/layout/LinedList"/>
    <dgm:cxn modelId="{0FADBEEB-B71D-4884-ACA5-4F8A4E30DD5A}" type="presParOf" srcId="{64471B8F-F3FB-4176-B9E4-FEFEA83F20F6}" destId="{842F7F69-C9FB-4612-A5F7-A25F5B9258C3}" srcOrd="2" destOrd="0" presId="urn:microsoft.com/office/officeart/2008/layout/LinedList"/>
    <dgm:cxn modelId="{54DFCB68-F7C7-4AF7-A8AB-70354883EC73}" type="presParOf" srcId="{1C525586-FFAD-4571-8EBA-CC0DC154B7EA}" destId="{092B1DD1-FC62-4791-879B-64E5524300D7}" srcOrd="11" destOrd="0" presId="urn:microsoft.com/office/officeart/2008/layout/LinedList"/>
    <dgm:cxn modelId="{89CFDCA0-76ED-41B9-9126-8BDE11AE9C6C}" type="presParOf" srcId="{1C525586-FFAD-4571-8EBA-CC0DC154B7EA}" destId="{20B40DFB-F8CA-4BAF-AFF6-27C7BB5E08E9}" srcOrd="12" destOrd="0" presId="urn:microsoft.com/office/officeart/2008/layout/LinedList"/>
  </dgm:cxnLst>
  <dgm:bg/>
  <dgm:whole>
    <a:ln>
      <a:solidFill>
        <a:schemeClr val="tx1"/>
      </a:solidFill>
    </a:ln>
  </dgm:whole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16750C4-ABC0-4C9D-9091-09703C9AC4E2}" type="doc">
      <dgm:prSet loTypeId="urn:microsoft.com/office/officeart/2005/8/layout/lProcess3" loCatId="process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08FC8273-F82C-49C1-88D0-B81F65EF0EC5}">
      <dgm:prSet custT="1"/>
      <dgm:spPr/>
      <dgm:t>
        <a:bodyPr/>
        <a:lstStyle/>
        <a:p>
          <a:r>
            <a:rPr lang="en-US" sz="900" b="1" dirty="0"/>
            <a:t>Key Insights</a:t>
          </a:r>
          <a:endParaRPr lang="en-IN" sz="900" dirty="0"/>
        </a:p>
      </dgm:t>
    </dgm:pt>
    <dgm:pt modelId="{2B970594-08CF-4850-8EDD-3D076ABC06DC}" type="parTrans" cxnId="{E20E84E8-2813-41F9-B80C-0EB767889401}">
      <dgm:prSet/>
      <dgm:spPr/>
      <dgm:t>
        <a:bodyPr/>
        <a:lstStyle/>
        <a:p>
          <a:endParaRPr lang="en-IN"/>
        </a:p>
      </dgm:t>
    </dgm:pt>
    <dgm:pt modelId="{804D3B1E-43B5-45F8-8FD7-FAA5EF8EB8A0}" type="sibTrans" cxnId="{E20E84E8-2813-41F9-B80C-0EB767889401}">
      <dgm:prSet/>
      <dgm:spPr/>
      <dgm:t>
        <a:bodyPr/>
        <a:lstStyle/>
        <a:p>
          <a:endParaRPr lang="en-IN"/>
        </a:p>
      </dgm:t>
    </dgm:pt>
    <dgm:pt modelId="{5F04684C-213A-40A4-BF75-9BB00EE192A9}">
      <dgm:prSet custT="1"/>
      <dgm:spPr/>
      <dgm:t>
        <a:bodyPr/>
        <a:lstStyle/>
        <a:p>
          <a:r>
            <a:rPr lang="en-US" sz="900" dirty="0"/>
            <a:t>Face Wash category size is ₹166 Cr.</a:t>
          </a:r>
          <a:endParaRPr lang="en-IN" sz="900" dirty="0"/>
        </a:p>
      </dgm:t>
    </dgm:pt>
    <dgm:pt modelId="{33EB2E9C-66A1-45FB-A163-F23B23D5B7F0}" type="parTrans" cxnId="{5699E2B3-50D0-45FF-9538-EB734158738D}">
      <dgm:prSet/>
      <dgm:spPr/>
      <dgm:t>
        <a:bodyPr/>
        <a:lstStyle/>
        <a:p>
          <a:endParaRPr lang="en-IN"/>
        </a:p>
      </dgm:t>
    </dgm:pt>
    <dgm:pt modelId="{D3B6A091-3B71-4808-85FE-2C3481B60BB9}" type="sibTrans" cxnId="{5699E2B3-50D0-45FF-9538-EB734158738D}">
      <dgm:prSet/>
      <dgm:spPr/>
      <dgm:t>
        <a:bodyPr/>
        <a:lstStyle/>
        <a:p>
          <a:endParaRPr lang="en-IN"/>
        </a:p>
      </dgm:t>
    </dgm:pt>
    <dgm:pt modelId="{68C2ABE7-7329-4D88-88C6-19E80AC3C835}">
      <dgm:prSet custT="1"/>
      <dgm:spPr/>
      <dgm:t>
        <a:bodyPr/>
        <a:lstStyle/>
        <a:p>
          <a:r>
            <a:rPr lang="en-US" sz="900" dirty="0"/>
            <a:t>Dove leads the category with 17.8% share.</a:t>
          </a:r>
          <a:endParaRPr lang="en-IN" sz="900" dirty="0"/>
        </a:p>
      </dgm:t>
    </dgm:pt>
    <dgm:pt modelId="{206BCBA7-8397-4724-A10C-4FD9D6B57C7B}" type="parTrans" cxnId="{40BDD8FD-AEF7-45AE-BCED-0D1A6C5D729F}">
      <dgm:prSet/>
      <dgm:spPr/>
      <dgm:t>
        <a:bodyPr/>
        <a:lstStyle/>
        <a:p>
          <a:endParaRPr lang="en-IN"/>
        </a:p>
      </dgm:t>
    </dgm:pt>
    <dgm:pt modelId="{505CDC2C-0D28-47B8-B3E5-4E97CA2B5074}" type="sibTrans" cxnId="{40BDD8FD-AEF7-45AE-BCED-0D1A6C5D729F}">
      <dgm:prSet/>
      <dgm:spPr/>
      <dgm:t>
        <a:bodyPr/>
        <a:lstStyle/>
        <a:p>
          <a:endParaRPr lang="en-IN"/>
        </a:p>
      </dgm:t>
    </dgm:pt>
    <dgm:pt modelId="{1C633E28-23F6-43C7-A9A9-3DC09B7C93A1}">
      <dgm:prSet custT="1"/>
      <dgm:spPr/>
      <dgm:t>
        <a:bodyPr/>
        <a:lstStyle/>
        <a:p>
          <a:r>
            <a:rPr lang="en-US" sz="900" dirty="0" err="1"/>
            <a:t>Mamaearth</a:t>
          </a:r>
          <a:r>
            <a:rPr lang="en-US" sz="900" dirty="0"/>
            <a:t> ranks #7 with 3.9% share.</a:t>
          </a:r>
          <a:endParaRPr lang="en-IN" sz="900" dirty="0"/>
        </a:p>
      </dgm:t>
    </dgm:pt>
    <dgm:pt modelId="{161488AA-B640-4A37-9CF9-87C218033D75}" type="parTrans" cxnId="{DDE8710E-5770-447C-A682-B68A2A932409}">
      <dgm:prSet/>
      <dgm:spPr/>
      <dgm:t>
        <a:bodyPr/>
        <a:lstStyle/>
        <a:p>
          <a:endParaRPr lang="en-IN"/>
        </a:p>
      </dgm:t>
    </dgm:pt>
    <dgm:pt modelId="{2757AEA1-EA51-42EB-B4D5-9B7D02309E8A}" type="sibTrans" cxnId="{DDE8710E-5770-447C-A682-B68A2A932409}">
      <dgm:prSet/>
      <dgm:spPr/>
      <dgm:t>
        <a:bodyPr/>
        <a:lstStyle/>
        <a:p>
          <a:endParaRPr lang="en-IN"/>
        </a:p>
      </dgm:t>
    </dgm:pt>
    <dgm:pt modelId="{A497CF4D-07CE-4489-A252-2F82C2339DB3}">
      <dgm:prSet custT="1"/>
      <dgm:spPr/>
      <dgm:t>
        <a:bodyPr/>
        <a:lstStyle/>
        <a:p>
          <a:r>
            <a:rPr lang="en-US" sz="900" dirty="0" err="1"/>
            <a:t>Mamaearth</a:t>
          </a:r>
          <a:r>
            <a:rPr lang="en-US" sz="900" dirty="0"/>
            <a:t> has gained </a:t>
          </a:r>
          <a:r>
            <a:rPr lang="en-IN" sz="900" b="0" i="0" dirty="0"/>
            <a:t>▲ +134 Bps YOY.</a:t>
          </a:r>
          <a:endParaRPr lang="en-IN" sz="900" dirty="0"/>
        </a:p>
      </dgm:t>
    </dgm:pt>
    <dgm:pt modelId="{D91B9C50-805A-4DFB-A3DA-617BF09A859D}" type="parTrans" cxnId="{2AC6ED87-00DB-4AA2-99EA-C5D9CD56DF5C}">
      <dgm:prSet/>
      <dgm:spPr/>
      <dgm:t>
        <a:bodyPr/>
        <a:lstStyle/>
        <a:p>
          <a:endParaRPr lang="en-IN"/>
        </a:p>
      </dgm:t>
    </dgm:pt>
    <dgm:pt modelId="{F9BCB82A-09F6-457B-B41C-73A6BA6ED05D}" type="sibTrans" cxnId="{2AC6ED87-00DB-4AA2-99EA-C5D9CD56DF5C}">
      <dgm:prSet/>
      <dgm:spPr/>
      <dgm:t>
        <a:bodyPr/>
        <a:lstStyle/>
        <a:p>
          <a:endParaRPr lang="en-IN"/>
        </a:p>
      </dgm:t>
    </dgm:pt>
    <dgm:pt modelId="{0FDB900C-170F-4DD4-878D-53CA40FFC88C}">
      <dgm:prSet custT="1"/>
      <dgm:spPr/>
      <dgm:t>
        <a:bodyPr/>
        <a:lstStyle/>
        <a:p>
          <a:pPr algn="ctr"/>
          <a:r>
            <a:rPr lang="en-US" sz="900" dirty="0"/>
            <a:t>Shampoo distribution remains under-indexed vs Face Wash Dist.</a:t>
          </a:r>
          <a:endParaRPr lang="en-IN" sz="900" dirty="0"/>
        </a:p>
      </dgm:t>
    </dgm:pt>
    <dgm:pt modelId="{466A949E-8297-47C4-ADA8-CF39B0BE8C14}" type="parTrans" cxnId="{4A6087EC-DC6D-4F3A-94A4-27EA2EBBAE78}">
      <dgm:prSet/>
      <dgm:spPr/>
      <dgm:t>
        <a:bodyPr/>
        <a:lstStyle/>
        <a:p>
          <a:endParaRPr lang="en-IN"/>
        </a:p>
      </dgm:t>
    </dgm:pt>
    <dgm:pt modelId="{8593A00F-7F6D-49E6-BAF2-7D2BDF26A4D8}" type="sibTrans" cxnId="{4A6087EC-DC6D-4F3A-94A4-27EA2EBBAE78}">
      <dgm:prSet/>
      <dgm:spPr/>
      <dgm:t>
        <a:bodyPr/>
        <a:lstStyle/>
        <a:p>
          <a:endParaRPr lang="en-IN"/>
        </a:p>
      </dgm:t>
    </dgm:pt>
    <dgm:pt modelId="{B6B5BCF5-9087-401A-873A-EC079ECFC9F0}" type="pres">
      <dgm:prSet presAssocID="{216750C4-ABC0-4C9D-9091-09703C9AC4E2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CA76498F-E9C0-4631-8EEA-8821E72E4AA4}" type="pres">
      <dgm:prSet presAssocID="{08FC8273-F82C-49C1-88D0-B81F65EF0EC5}" presName="horFlow" presStyleCnt="0"/>
      <dgm:spPr/>
    </dgm:pt>
    <dgm:pt modelId="{78C14A7B-3B65-4C70-B03D-5F0637CE3B5E}" type="pres">
      <dgm:prSet presAssocID="{08FC8273-F82C-49C1-88D0-B81F65EF0EC5}" presName="bigChev" presStyleLbl="node1" presStyleIdx="0" presStyleCnt="1" custScaleX="101974" custScaleY="159029"/>
      <dgm:spPr/>
    </dgm:pt>
    <dgm:pt modelId="{16B3E8AD-D598-499D-A28C-AEF6B836E47A}" type="pres">
      <dgm:prSet presAssocID="{33EB2E9C-66A1-45FB-A163-F23B23D5B7F0}" presName="parTrans" presStyleCnt="0"/>
      <dgm:spPr/>
    </dgm:pt>
    <dgm:pt modelId="{5973C509-4AB8-4735-966D-2D967081E106}" type="pres">
      <dgm:prSet presAssocID="{5F04684C-213A-40A4-BF75-9BB00EE192A9}" presName="node" presStyleLbl="alignAccFollowNode1" presStyleIdx="0" presStyleCnt="5" custScaleX="124427" custScaleY="168055">
        <dgm:presLayoutVars>
          <dgm:bulletEnabled val="1"/>
        </dgm:presLayoutVars>
      </dgm:prSet>
      <dgm:spPr/>
    </dgm:pt>
    <dgm:pt modelId="{A465F7EE-5826-4E91-8049-F2A9A480CA57}" type="pres">
      <dgm:prSet presAssocID="{D3B6A091-3B71-4808-85FE-2C3481B60BB9}" presName="sibTrans" presStyleCnt="0"/>
      <dgm:spPr/>
    </dgm:pt>
    <dgm:pt modelId="{E9687380-6A82-460F-8F04-ADD58EE968CC}" type="pres">
      <dgm:prSet presAssocID="{68C2ABE7-7329-4D88-88C6-19E80AC3C835}" presName="node" presStyleLbl="alignAccFollowNode1" presStyleIdx="1" presStyleCnt="5" custScaleX="130455" custScaleY="142315">
        <dgm:presLayoutVars>
          <dgm:bulletEnabled val="1"/>
        </dgm:presLayoutVars>
      </dgm:prSet>
      <dgm:spPr/>
    </dgm:pt>
    <dgm:pt modelId="{72E4ABD4-D89D-4E78-970A-E01D7C1F75CD}" type="pres">
      <dgm:prSet presAssocID="{505CDC2C-0D28-47B8-B3E5-4E97CA2B5074}" presName="sibTrans" presStyleCnt="0"/>
      <dgm:spPr/>
    </dgm:pt>
    <dgm:pt modelId="{2F73885B-CDC5-433F-94F0-1740FB0BA9A6}" type="pres">
      <dgm:prSet presAssocID="{1C633E28-23F6-43C7-A9A9-3DC09B7C93A1}" presName="node" presStyleLbl="alignAccFollowNode1" presStyleIdx="2" presStyleCnt="5" custScaleX="125586" custScaleY="168055">
        <dgm:presLayoutVars>
          <dgm:bulletEnabled val="1"/>
        </dgm:presLayoutVars>
      </dgm:prSet>
      <dgm:spPr/>
    </dgm:pt>
    <dgm:pt modelId="{B401AD46-3C31-42B6-8879-1972A925F20B}" type="pres">
      <dgm:prSet presAssocID="{2757AEA1-EA51-42EB-B4D5-9B7D02309E8A}" presName="sibTrans" presStyleCnt="0"/>
      <dgm:spPr/>
    </dgm:pt>
    <dgm:pt modelId="{396E9B92-0D71-4E89-AEFC-311FEFF5F3F1}" type="pres">
      <dgm:prSet presAssocID="{A497CF4D-07CE-4489-A252-2F82C2339DB3}" presName="node" presStyleLbl="alignAccFollowNode1" presStyleIdx="3" presStyleCnt="5" custScaleX="144592" custScaleY="200648">
        <dgm:presLayoutVars>
          <dgm:bulletEnabled val="1"/>
        </dgm:presLayoutVars>
      </dgm:prSet>
      <dgm:spPr/>
    </dgm:pt>
    <dgm:pt modelId="{BA19C750-A68F-4118-99F8-EF22DAEAEF6A}" type="pres">
      <dgm:prSet presAssocID="{F9BCB82A-09F6-457B-B41C-73A6BA6ED05D}" presName="sibTrans" presStyleCnt="0"/>
      <dgm:spPr/>
    </dgm:pt>
    <dgm:pt modelId="{D1A1E34E-0E15-4817-855B-5BE12623273D}" type="pres">
      <dgm:prSet presAssocID="{0FDB900C-170F-4DD4-878D-53CA40FFC88C}" presName="node" presStyleLbl="alignAccFollowNode1" presStyleIdx="4" presStyleCnt="5" custScaleX="168534" custScaleY="242471" custLinFactNeighborX="-24812" custLinFactNeighborY="3899">
        <dgm:presLayoutVars>
          <dgm:bulletEnabled val="1"/>
        </dgm:presLayoutVars>
      </dgm:prSet>
      <dgm:spPr/>
    </dgm:pt>
  </dgm:ptLst>
  <dgm:cxnLst>
    <dgm:cxn modelId="{DDE8710E-5770-447C-A682-B68A2A932409}" srcId="{08FC8273-F82C-49C1-88D0-B81F65EF0EC5}" destId="{1C633E28-23F6-43C7-A9A9-3DC09B7C93A1}" srcOrd="2" destOrd="0" parTransId="{161488AA-B640-4A37-9CF9-87C218033D75}" sibTransId="{2757AEA1-EA51-42EB-B4D5-9B7D02309E8A}"/>
    <dgm:cxn modelId="{09E68717-2B7C-4986-9199-9E7A4CAD2133}" type="presOf" srcId="{08FC8273-F82C-49C1-88D0-B81F65EF0EC5}" destId="{78C14A7B-3B65-4C70-B03D-5F0637CE3B5E}" srcOrd="0" destOrd="0" presId="urn:microsoft.com/office/officeart/2005/8/layout/lProcess3"/>
    <dgm:cxn modelId="{C558DB42-B569-4009-A08D-B352C390C8B2}" type="presOf" srcId="{5F04684C-213A-40A4-BF75-9BB00EE192A9}" destId="{5973C509-4AB8-4735-966D-2D967081E106}" srcOrd="0" destOrd="0" presId="urn:microsoft.com/office/officeart/2005/8/layout/lProcess3"/>
    <dgm:cxn modelId="{5C5BA947-3F26-4FEF-984A-1BB3849C6B5D}" type="presOf" srcId="{216750C4-ABC0-4C9D-9091-09703C9AC4E2}" destId="{B6B5BCF5-9087-401A-873A-EC079ECFC9F0}" srcOrd="0" destOrd="0" presId="urn:microsoft.com/office/officeart/2005/8/layout/lProcess3"/>
    <dgm:cxn modelId="{11EFCE7C-F4DC-42CC-872E-DC0A30708279}" type="presOf" srcId="{1C633E28-23F6-43C7-A9A9-3DC09B7C93A1}" destId="{2F73885B-CDC5-433F-94F0-1740FB0BA9A6}" srcOrd="0" destOrd="0" presId="urn:microsoft.com/office/officeart/2005/8/layout/lProcess3"/>
    <dgm:cxn modelId="{2AC6ED87-00DB-4AA2-99EA-C5D9CD56DF5C}" srcId="{08FC8273-F82C-49C1-88D0-B81F65EF0EC5}" destId="{A497CF4D-07CE-4489-A252-2F82C2339DB3}" srcOrd="3" destOrd="0" parTransId="{D91B9C50-805A-4DFB-A3DA-617BF09A859D}" sibTransId="{F9BCB82A-09F6-457B-B41C-73A6BA6ED05D}"/>
    <dgm:cxn modelId="{5699E2B3-50D0-45FF-9538-EB734158738D}" srcId="{08FC8273-F82C-49C1-88D0-B81F65EF0EC5}" destId="{5F04684C-213A-40A4-BF75-9BB00EE192A9}" srcOrd="0" destOrd="0" parTransId="{33EB2E9C-66A1-45FB-A163-F23B23D5B7F0}" sibTransId="{D3B6A091-3B71-4808-85FE-2C3481B60BB9}"/>
    <dgm:cxn modelId="{A70BAEC2-A695-428D-8ADA-C7CF89F3A02F}" type="presOf" srcId="{0FDB900C-170F-4DD4-878D-53CA40FFC88C}" destId="{D1A1E34E-0E15-4817-855B-5BE12623273D}" srcOrd="0" destOrd="0" presId="urn:microsoft.com/office/officeart/2005/8/layout/lProcess3"/>
    <dgm:cxn modelId="{2E2AF8C5-94A1-420F-A888-64EBF5EB1D79}" type="presOf" srcId="{68C2ABE7-7329-4D88-88C6-19E80AC3C835}" destId="{E9687380-6A82-460F-8F04-ADD58EE968CC}" srcOrd="0" destOrd="0" presId="urn:microsoft.com/office/officeart/2005/8/layout/lProcess3"/>
    <dgm:cxn modelId="{CF58A8CE-1852-44E8-A106-DD41EDE3B5F8}" type="presOf" srcId="{A497CF4D-07CE-4489-A252-2F82C2339DB3}" destId="{396E9B92-0D71-4E89-AEFC-311FEFF5F3F1}" srcOrd="0" destOrd="0" presId="urn:microsoft.com/office/officeart/2005/8/layout/lProcess3"/>
    <dgm:cxn modelId="{E20E84E8-2813-41F9-B80C-0EB767889401}" srcId="{216750C4-ABC0-4C9D-9091-09703C9AC4E2}" destId="{08FC8273-F82C-49C1-88D0-B81F65EF0EC5}" srcOrd="0" destOrd="0" parTransId="{2B970594-08CF-4850-8EDD-3D076ABC06DC}" sibTransId="{804D3B1E-43B5-45F8-8FD7-FAA5EF8EB8A0}"/>
    <dgm:cxn modelId="{4A6087EC-DC6D-4F3A-94A4-27EA2EBBAE78}" srcId="{08FC8273-F82C-49C1-88D0-B81F65EF0EC5}" destId="{0FDB900C-170F-4DD4-878D-53CA40FFC88C}" srcOrd="4" destOrd="0" parTransId="{466A949E-8297-47C4-ADA8-CF39B0BE8C14}" sibTransId="{8593A00F-7F6D-49E6-BAF2-7D2BDF26A4D8}"/>
    <dgm:cxn modelId="{40BDD8FD-AEF7-45AE-BCED-0D1A6C5D729F}" srcId="{08FC8273-F82C-49C1-88D0-B81F65EF0EC5}" destId="{68C2ABE7-7329-4D88-88C6-19E80AC3C835}" srcOrd="1" destOrd="0" parTransId="{206BCBA7-8397-4724-A10C-4FD9D6B57C7B}" sibTransId="{505CDC2C-0D28-47B8-B3E5-4E97CA2B5074}"/>
    <dgm:cxn modelId="{AD415EDF-65FA-42B3-B6EE-7A8A1E5DE7D7}" type="presParOf" srcId="{B6B5BCF5-9087-401A-873A-EC079ECFC9F0}" destId="{CA76498F-E9C0-4631-8EEA-8821E72E4AA4}" srcOrd="0" destOrd="0" presId="urn:microsoft.com/office/officeart/2005/8/layout/lProcess3"/>
    <dgm:cxn modelId="{4C126FD4-A3E7-4121-B64E-7DC4C5B459F7}" type="presParOf" srcId="{CA76498F-E9C0-4631-8EEA-8821E72E4AA4}" destId="{78C14A7B-3B65-4C70-B03D-5F0637CE3B5E}" srcOrd="0" destOrd="0" presId="urn:microsoft.com/office/officeart/2005/8/layout/lProcess3"/>
    <dgm:cxn modelId="{ADBE2A6F-5FD9-402D-8F0F-A96C83AD6944}" type="presParOf" srcId="{CA76498F-E9C0-4631-8EEA-8821E72E4AA4}" destId="{16B3E8AD-D598-499D-A28C-AEF6B836E47A}" srcOrd="1" destOrd="0" presId="urn:microsoft.com/office/officeart/2005/8/layout/lProcess3"/>
    <dgm:cxn modelId="{EE4EFAE2-F642-4E74-AD84-6364F2AE9BAD}" type="presParOf" srcId="{CA76498F-E9C0-4631-8EEA-8821E72E4AA4}" destId="{5973C509-4AB8-4735-966D-2D967081E106}" srcOrd="2" destOrd="0" presId="urn:microsoft.com/office/officeart/2005/8/layout/lProcess3"/>
    <dgm:cxn modelId="{889887D3-4AB5-4E02-B626-5DCB1EBD6194}" type="presParOf" srcId="{CA76498F-E9C0-4631-8EEA-8821E72E4AA4}" destId="{A465F7EE-5826-4E91-8049-F2A9A480CA57}" srcOrd="3" destOrd="0" presId="urn:microsoft.com/office/officeart/2005/8/layout/lProcess3"/>
    <dgm:cxn modelId="{6069F2D3-2F0E-4EF5-B23B-A4CB789F562A}" type="presParOf" srcId="{CA76498F-E9C0-4631-8EEA-8821E72E4AA4}" destId="{E9687380-6A82-460F-8F04-ADD58EE968CC}" srcOrd="4" destOrd="0" presId="urn:microsoft.com/office/officeart/2005/8/layout/lProcess3"/>
    <dgm:cxn modelId="{85830F1A-C580-4D9C-BC83-297231640ED1}" type="presParOf" srcId="{CA76498F-E9C0-4631-8EEA-8821E72E4AA4}" destId="{72E4ABD4-D89D-4E78-970A-E01D7C1F75CD}" srcOrd="5" destOrd="0" presId="urn:microsoft.com/office/officeart/2005/8/layout/lProcess3"/>
    <dgm:cxn modelId="{CB9A9B38-61D8-4D68-AC60-01823EEAF62D}" type="presParOf" srcId="{CA76498F-E9C0-4631-8EEA-8821E72E4AA4}" destId="{2F73885B-CDC5-433F-94F0-1740FB0BA9A6}" srcOrd="6" destOrd="0" presId="urn:microsoft.com/office/officeart/2005/8/layout/lProcess3"/>
    <dgm:cxn modelId="{8841B721-1966-4D0C-B6A7-9EACA10ECD8E}" type="presParOf" srcId="{CA76498F-E9C0-4631-8EEA-8821E72E4AA4}" destId="{B401AD46-3C31-42B6-8879-1972A925F20B}" srcOrd="7" destOrd="0" presId="urn:microsoft.com/office/officeart/2005/8/layout/lProcess3"/>
    <dgm:cxn modelId="{ABB9A776-5958-455A-9C41-59DEA47445D6}" type="presParOf" srcId="{CA76498F-E9C0-4631-8EEA-8821E72E4AA4}" destId="{396E9B92-0D71-4E89-AEFC-311FEFF5F3F1}" srcOrd="8" destOrd="0" presId="urn:microsoft.com/office/officeart/2005/8/layout/lProcess3"/>
    <dgm:cxn modelId="{7202D997-CECF-4818-A944-37A4F47DBEF7}" type="presParOf" srcId="{CA76498F-E9C0-4631-8EEA-8821E72E4AA4}" destId="{BA19C750-A68F-4118-99F8-EF22DAEAEF6A}" srcOrd="9" destOrd="0" presId="urn:microsoft.com/office/officeart/2005/8/layout/lProcess3"/>
    <dgm:cxn modelId="{DBA51DBF-1945-4595-BFDE-6DBF27368842}" type="presParOf" srcId="{CA76498F-E9C0-4631-8EEA-8821E72E4AA4}" destId="{D1A1E34E-0E15-4817-855B-5BE12623273D}" srcOrd="1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9DFAA5-85F2-4063-83FE-0003ECDF3129}">
      <dsp:nvSpPr>
        <dsp:cNvPr id="0" name=""/>
        <dsp:cNvSpPr/>
      </dsp:nvSpPr>
      <dsp:spPr>
        <a:xfrm>
          <a:off x="3894" y="34348"/>
          <a:ext cx="1817681" cy="104132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Key Insights:</a:t>
          </a:r>
          <a:endParaRPr lang="en-IN" sz="1400" kern="1200" dirty="0"/>
        </a:p>
      </dsp:txBody>
      <dsp:txXfrm>
        <a:off x="524558" y="34348"/>
        <a:ext cx="776354" cy="1041327"/>
      </dsp:txXfrm>
    </dsp:sp>
    <dsp:sp modelId="{B45F4E3A-F28A-4933-AFD2-26B673249C7F}">
      <dsp:nvSpPr>
        <dsp:cNvPr id="0" name=""/>
        <dsp:cNvSpPr/>
      </dsp:nvSpPr>
      <dsp:spPr>
        <a:xfrm>
          <a:off x="1498534" y="83215"/>
          <a:ext cx="2016731" cy="943592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Category ₹83 Cr (+13% YoY). Himalaya leads (21.6%) but down 3.3 pt. </a:t>
          </a:r>
          <a:r>
            <a:rPr lang="en-US" sz="900" kern="1200" dirty="0" err="1"/>
            <a:t>Mamaearth</a:t>
          </a:r>
          <a:r>
            <a:rPr lang="en-US" sz="900" kern="1200" dirty="0"/>
            <a:t> (#4, +3.1 pt) is the biggest gainer. ★ = </a:t>
          </a:r>
          <a:r>
            <a:rPr lang="en-US" sz="900" kern="1200" dirty="0" err="1"/>
            <a:t>Honasa</a:t>
          </a:r>
          <a:r>
            <a:rPr lang="en-US" sz="900" kern="1200" dirty="0"/>
            <a:t>.</a:t>
          </a:r>
          <a:endParaRPr lang="en-IN" sz="900" kern="1200" dirty="0"/>
        </a:p>
      </dsp:txBody>
      <dsp:txXfrm>
        <a:off x="1970330" y="83215"/>
        <a:ext cx="1073139" cy="943592"/>
      </dsp:txXfrm>
    </dsp:sp>
    <dsp:sp modelId="{EABA3E1B-A6F8-4933-8515-1587A22C6B11}">
      <dsp:nvSpPr>
        <dsp:cNvPr id="0" name=""/>
        <dsp:cNvSpPr/>
      </dsp:nvSpPr>
      <dsp:spPr>
        <a:xfrm>
          <a:off x="3226516" y="83875"/>
          <a:ext cx="2073057" cy="942272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 err="1"/>
            <a:t>Mamaearth</a:t>
          </a:r>
          <a:r>
            <a:rPr lang="en-US" sz="900" kern="1200" dirty="0"/>
            <a:t> is the #4 Face Wash brand in MT at 11.6% (+3.1 pt YoY). The legacy leader Himalaya is down 3.3 pt. </a:t>
          </a:r>
          <a:endParaRPr lang="en-IN" sz="900" kern="1200" dirty="0"/>
        </a:p>
      </dsp:txBody>
      <dsp:txXfrm>
        <a:off x="3697652" y="83875"/>
        <a:ext cx="1130785" cy="942272"/>
      </dsp:txXfrm>
    </dsp:sp>
    <dsp:sp modelId="{F4933751-6B04-458B-9157-85E9F085117B}">
      <dsp:nvSpPr>
        <dsp:cNvPr id="0" name=""/>
        <dsp:cNvSpPr/>
      </dsp:nvSpPr>
      <dsp:spPr>
        <a:xfrm>
          <a:off x="5010824" y="83215"/>
          <a:ext cx="2053546" cy="943592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The gains are distribution-led: ME weighted handling moved 81→87% &amp; The Derma Co weighted handling moved .6 →14.2%. </a:t>
          </a:r>
          <a:endParaRPr lang="en-IN" sz="900" kern="1200" dirty="0"/>
        </a:p>
      </dsp:txBody>
      <dsp:txXfrm>
        <a:off x="5482620" y="83215"/>
        <a:ext cx="1109954" cy="94359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A54491-AF60-4F4A-8502-1EC3307DAD88}">
      <dsp:nvSpPr>
        <dsp:cNvPr id="0" name=""/>
        <dsp:cNvSpPr/>
      </dsp:nvSpPr>
      <dsp:spPr>
        <a:xfrm>
          <a:off x="0" y="0"/>
          <a:ext cx="711594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507AF8-74BE-4443-B823-02C4F7422963}">
      <dsp:nvSpPr>
        <dsp:cNvPr id="0" name=""/>
        <dsp:cNvSpPr/>
      </dsp:nvSpPr>
      <dsp:spPr>
        <a:xfrm>
          <a:off x="0" y="0"/>
          <a:ext cx="1423189" cy="1876036"/>
        </a:xfrm>
        <a:prstGeom prst="rect">
          <a:avLst/>
        </a:prstGeom>
        <a:noFill/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HONASA IS GAINING MODERN TRADE SHARE, LED BY STRONGER DISTRIBUTION</a:t>
          </a:r>
          <a:endParaRPr lang="en-IN" sz="1600" b="1" kern="1200" dirty="0"/>
        </a:p>
      </dsp:txBody>
      <dsp:txXfrm>
        <a:off x="0" y="0"/>
        <a:ext cx="1423189" cy="1876036"/>
      </dsp:txXfrm>
    </dsp:sp>
    <dsp:sp modelId="{5E9C23F4-222C-484A-A108-B17963B330E8}">
      <dsp:nvSpPr>
        <dsp:cNvPr id="0" name=""/>
        <dsp:cNvSpPr/>
      </dsp:nvSpPr>
      <dsp:spPr>
        <a:xfrm>
          <a:off x="1529928" y="22053"/>
          <a:ext cx="5586019" cy="441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What happened —</a:t>
          </a:r>
          <a:r>
            <a:rPr lang="en-US" sz="1100" kern="1200" dirty="0"/>
            <a:t> </a:t>
          </a:r>
          <a:r>
            <a:rPr lang="en-US" sz="1100" kern="1200" dirty="0" err="1"/>
            <a:t>Mamaearth</a:t>
          </a:r>
          <a:r>
            <a:rPr lang="en-US" sz="1100" kern="1200" dirty="0"/>
            <a:t> is the </a:t>
          </a:r>
          <a:r>
            <a:rPr lang="en-IN" sz="1100" kern="1200" dirty="0"/>
            <a:t>★</a:t>
          </a:r>
          <a:r>
            <a:rPr lang="en-US" sz="1100" kern="1200" dirty="0"/>
            <a:t>#4 Face Wash brand in MT at 11.6% (+3.1 pt YoY) and is gaining in Shampoo at 3.9% (+1.3 pt). The legacy leader Himalaya is down 3.3 pt.</a:t>
          </a:r>
          <a:endParaRPr lang="en-IN" sz="1100" kern="1200" dirty="0"/>
        </a:p>
      </dsp:txBody>
      <dsp:txXfrm>
        <a:off x="1529928" y="22053"/>
        <a:ext cx="5586019" cy="441069"/>
      </dsp:txXfrm>
    </dsp:sp>
    <dsp:sp modelId="{3014EFA0-5169-4D60-A5D7-934DE2186031}">
      <dsp:nvSpPr>
        <dsp:cNvPr id="0" name=""/>
        <dsp:cNvSpPr/>
      </dsp:nvSpPr>
      <dsp:spPr>
        <a:xfrm>
          <a:off x="1423189" y="463123"/>
          <a:ext cx="569275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5FC06D-6131-4C7B-A993-903F08057C44}">
      <dsp:nvSpPr>
        <dsp:cNvPr id="0" name=""/>
        <dsp:cNvSpPr/>
      </dsp:nvSpPr>
      <dsp:spPr>
        <a:xfrm>
          <a:off x="1529928" y="485176"/>
          <a:ext cx="5586019" cy="441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Why — </a:t>
          </a:r>
          <a:r>
            <a:rPr lang="en-US" sz="1100" kern="1200" dirty="0"/>
            <a:t>The gains are distribution-led: </a:t>
          </a:r>
          <a:r>
            <a:rPr lang="en-US" sz="1100" kern="1200" dirty="0" err="1"/>
            <a:t>Mamaearth</a:t>
          </a:r>
          <a:r>
            <a:rPr lang="en-US" sz="1100" kern="1200" dirty="0"/>
            <a:t> weighted handling moved 81→87% (FW) and 76→81% (Shampoo). The Derma Co is building MT from near-zero (0.6→14.2% handling).</a:t>
          </a:r>
          <a:endParaRPr lang="en-IN" sz="1100" kern="1200" dirty="0"/>
        </a:p>
      </dsp:txBody>
      <dsp:txXfrm>
        <a:off x="1529928" y="485176"/>
        <a:ext cx="5586019" cy="441069"/>
      </dsp:txXfrm>
    </dsp:sp>
    <dsp:sp modelId="{F922B264-6F20-4425-AC71-9BADBD8A3A38}">
      <dsp:nvSpPr>
        <dsp:cNvPr id="0" name=""/>
        <dsp:cNvSpPr/>
      </dsp:nvSpPr>
      <dsp:spPr>
        <a:xfrm>
          <a:off x="1423189" y="926246"/>
          <a:ext cx="569275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D7282F-3AA8-4F87-A566-78073F7C75EA}">
      <dsp:nvSpPr>
        <dsp:cNvPr id="0" name=""/>
        <dsp:cNvSpPr/>
      </dsp:nvSpPr>
      <dsp:spPr>
        <a:xfrm>
          <a:off x="1529928" y="948300"/>
          <a:ext cx="5586019" cy="441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Impact — </a:t>
          </a:r>
          <a:r>
            <a:rPr lang="en-US" sz="1100" kern="1200" dirty="0" err="1"/>
            <a:t>Honasa</a:t>
          </a:r>
          <a:r>
            <a:rPr lang="en-US" sz="1100" kern="1200" dirty="0"/>
            <a:t> is converting MT shelf into share in the two largest cleansing categories, worth ₹9.6 Cr + ₹6.5 Cr monthly RR and rising.</a:t>
          </a:r>
          <a:endParaRPr lang="en-IN" sz="1100" kern="1200" dirty="0"/>
        </a:p>
      </dsp:txBody>
      <dsp:txXfrm>
        <a:off x="1529928" y="948300"/>
        <a:ext cx="5586019" cy="441069"/>
      </dsp:txXfrm>
    </dsp:sp>
    <dsp:sp modelId="{8DC5D532-BBE1-460A-89C0-ACB6DAE14AE6}">
      <dsp:nvSpPr>
        <dsp:cNvPr id="0" name=""/>
        <dsp:cNvSpPr/>
      </dsp:nvSpPr>
      <dsp:spPr>
        <a:xfrm>
          <a:off x="1423189" y="1389370"/>
          <a:ext cx="569275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2BC4FB-B2B9-457A-B6B4-FE95B4CFE12C}">
      <dsp:nvSpPr>
        <dsp:cNvPr id="0" name=""/>
        <dsp:cNvSpPr/>
      </dsp:nvSpPr>
      <dsp:spPr>
        <a:xfrm>
          <a:off x="1529928" y="1411423"/>
          <a:ext cx="5586019" cy="441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Action — </a:t>
          </a:r>
          <a:r>
            <a:rPr lang="en-US" sz="1100" kern="1200" dirty="0"/>
            <a:t>Need to protect the FW Distribution gain and checked for Shampoo assortment gaps in chains to identify further growth opportunities.</a:t>
          </a:r>
          <a:endParaRPr lang="en-IN" sz="1100" kern="1200" dirty="0"/>
        </a:p>
      </dsp:txBody>
      <dsp:txXfrm>
        <a:off x="1529928" y="1411423"/>
        <a:ext cx="5586019" cy="441069"/>
      </dsp:txXfrm>
    </dsp:sp>
    <dsp:sp modelId="{092B1DD1-FC62-4791-879B-64E5524300D7}">
      <dsp:nvSpPr>
        <dsp:cNvPr id="0" name=""/>
        <dsp:cNvSpPr/>
      </dsp:nvSpPr>
      <dsp:spPr>
        <a:xfrm>
          <a:off x="1423189" y="1852493"/>
          <a:ext cx="569275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C14A7B-3B65-4C70-B03D-5F0637CE3B5E}">
      <dsp:nvSpPr>
        <dsp:cNvPr id="0" name=""/>
        <dsp:cNvSpPr/>
      </dsp:nvSpPr>
      <dsp:spPr>
        <a:xfrm>
          <a:off x="3215" y="173331"/>
          <a:ext cx="1183516" cy="738280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/>
            <a:t>Key Insights</a:t>
          </a:r>
          <a:endParaRPr lang="en-IN" sz="900" kern="1200" dirty="0"/>
        </a:p>
      </dsp:txBody>
      <dsp:txXfrm>
        <a:off x="372355" y="173331"/>
        <a:ext cx="445236" cy="738280"/>
      </dsp:txXfrm>
    </dsp:sp>
    <dsp:sp modelId="{5973C509-4AB8-4735-966D-2D967081E106}">
      <dsp:nvSpPr>
        <dsp:cNvPr id="0" name=""/>
        <dsp:cNvSpPr/>
      </dsp:nvSpPr>
      <dsp:spPr>
        <a:xfrm>
          <a:off x="1035853" y="218695"/>
          <a:ext cx="1198609" cy="647551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Face Wash category size is ₹166 Cr.</a:t>
          </a:r>
          <a:endParaRPr lang="en-IN" sz="900" kern="1200" dirty="0"/>
        </a:p>
      </dsp:txBody>
      <dsp:txXfrm>
        <a:off x="1359629" y="218695"/>
        <a:ext cx="551058" cy="647551"/>
      </dsp:txXfrm>
    </dsp:sp>
    <dsp:sp modelId="{E9687380-6A82-460F-8F04-ADD58EE968CC}">
      <dsp:nvSpPr>
        <dsp:cNvPr id="0" name=""/>
        <dsp:cNvSpPr/>
      </dsp:nvSpPr>
      <dsp:spPr>
        <a:xfrm>
          <a:off x="2099600" y="268286"/>
          <a:ext cx="1256677" cy="548369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Dove leads the category with 17.8% share.</a:t>
          </a:r>
          <a:endParaRPr lang="en-IN" sz="900" kern="1200" dirty="0"/>
        </a:p>
      </dsp:txBody>
      <dsp:txXfrm>
        <a:off x="2373785" y="268286"/>
        <a:ext cx="708308" cy="548369"/>
      </dsp:txXfrm>
    </dsp:sp>
    <dsp:sp modelId="{2F73885B-CDC5-433F-94F0-1740FB0BA9A6}">
      <dsp:nvSpPr>
        <dsp:cNvPr id="0" name=""/>
        <dsp:cNvSpPr/>
      </dsp:nvSpPr>
      <dsp:spPr>
        <a:xfrm>
          <a:off x="3221414" y="218695"/>
          <a:ext cx="1209773" cy="647551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 err="1"/>
            <a:t>Mamaearth</a:t>
          </a:r>
          <a:r>
            <a:rPr lang="en-US" sz="900" kern="1200" dirty="0"/>
            <a:t> ranks #7 with 3.9% share.</a:t>
          </a:r>
          <a:endParaRPr lang="en-IN" sz="900" kern="1200" dirty="0"/>
        </a:p>
      </dsp:txBody>
      <dsp:txXfrm>
        <a:off x="3545190" y="218695"/>
        <a:ext cx="562222" cy="647551"/>
      </dsp:txXfrm>
    </dsp:sp>
    <dsp:sp modelId="{396E9B92-0D71-4E89-AEFC-311FEFF5F3F1}">
      <dsp:nvSpPr>
        <dsp:cNvPr id="0" name=""/>
        <dsp:cNvSpPr/>
      </dsp:nvSpPr>
      <dsp:spPr>
        <a:xfrm>
          <a:off x="4296326" y="155901"/>
          <a:ext cx="1392859" cy="773139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 err="1"/>
            <a:t>Mamaearth</a:t>
          </a:r>
          <a:r>
            <a:rPr lang="en-US" sz="900" kern="1200" dirty="0"/>
            <a:t> has gained </a:t>
          </a:r>
          <a:r>
            <a:rPr lang="en-IN" sz="900" b="0" i="0" kern="1200" dirty="0"/>
            <a:t>▲ +134 Bps YOY.</a:t>
          </a:r>
          <a:endParaRPr lang="en-IN" sz="900" kern="1200" dirty="0"/>
        </a:p>
      </dsp:txBody>
      <dsp:txXfrm>
        <a:off x="4682896" y="155901"/>
        <a:ext cx="619720" cy="773139"/>
      </dsp:txXfrm>
    </dsp:sp>
    <dsp:sp modelId="{D1A1E34E-0E15-4817-855B-5BE12623273D}">
      <dsp:nvSpPr>
        <dsp:cNvPr id="0" name=""/>
        <dsp:cNvSpPr/>
      </dsp:nvSpPr>
      <dsp:spPr>
        <a:xfrm>
          <a:off x="5520861" y="90349"/>
          <a:ext cx="1623493" cy="934292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Shampoo distribution remains under-indexed vs Face Wash Dist.</a:t>
          </a:r>
          <a:endParaRPr lang="en-IN" sz="900" kern="1200" dirty="0"/>
        </a:p>
      </dsp:txBody>
      <dsp:txXfrm>
        <a:off x="5988007" y="90349"/>
        <a:ext cx="689201" cy="9342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0.13544</cdr:x>
      <cdr:y>0.03437</cdr:y>
    </cdr:from>
    <cdr:to>
      <cdr:x>0.4784</cdr:x>
      <cdr:y>0.20956</cdr:y>
    </cdr:to>
    <cdr:sp macro="" textlink="">
      <cdr:nvSpPr>
        <cdr:cNvPr id="2" name="Text 5">
          <a:extLst xmlns:a="http://schemas.openxmlformats.org/drawingml/2006/main">
            <a:ext uri="{FF2B5EF4-FFF2-40B4-BE49-F238E27FC236}">
              <a16:creationId xmlns:a16="http://schemas.microsoft.com/office/drawing/2014/main" id="{573815EF-2900-A007-314E-40A00F1BF0E4}"/>
            </a:ext>
          </a:extLst>
        </cdr:cNvPr>
        <cdr:cNvSpPr/>
      </cdr:nvSpPr>
      <cdr:spPr>
        <a:xfrm xmlns:a="http://schemas.openxmlformats.org/drawingml/2006/main">
          <a:off x="318896" y="47036"/>
          <a:ext cx="807483" cy="239748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style>
        <a:lnRef xmlns:a="http://schemas.openxmlformats.org/drawingml/2006/main" idx="0">
          <a:scrgbClr r="0" g="0" b="0"/>
        </a:lnRef>
        <a:fillRef xmlns:a="http://schemas.openxmlformats.org/drawingml/2006/main" idx="0">
          <a:scrgbClr r="0" g="0" b="0"/>
        </a:fillRef>
        <a:effectRef xmlns:a="http://schemas.openxmlformats.org/drawingml/2006/main" idx="0">
          <a:scrgbClr r="0" g="0" b="0"/>
        </a:effectRef>
        <a:fontRef xmlns:a="http://schemas.openxmlformats.org/drawingml/2006/main" idx="minor">
          <a:schemeClr val="accent1"/>
        </a:fontRef>
      </cdr:style>
      <cdr:txBody>
        <a:bodyPr xmlns:a="http://schemas.openxmlformats.org/drawingml/2006/main" wrap="square" lIns="0" tIns="0" rIns="0" bIns="0" rtlCol="0" anchor="t"/>
        <a:lstStyle xmlns:a="http://schemas.openxmlformats.org/drawingml/2006/main">
          <a:lvl1pPr marL="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sz="1400" b="1" kern="1200" dirty="0">
              <a:solidFill>
                <a:schemeClr val="tx1"/>
              </a:solidFill>
              <a:effectLst/>
            </a:rPr>
            <a:t>Sun Care</a:t>
          </a:r>
          <a:endParaRPr lang="en-IN" sz="1400" dirty="0">
            <a:solidFill>
              <a:schemeClr val="tx1"/>
            </a:solidFill>
            <a:effectLst/>
          </a:endParaRPr>
        </a:p>
      </cdr:txBody>
    </cdr:sp>
  </cdr:relSizeAnchor>
  <cdr:relSizeAnchor xmlns:cdr="http://schemas.openxmlformats.org/drawingml/2006/chartDrawing">
    <cdr:from>
      <cdr:x>0.51536</cdr:x>
      <cdr:y>0.03243</cdr:y>
    </cdr:from>
    <cdr:to>
      <cdr:x>0.66517</cdr:x>
      <cdr:y>0.223</cdr:y>
    </cdr:to>
    <cdr:sp macro="" textlink="">
      <cdr:nvSpPr>
        <cdr:cNvPr id="3" name="Text 6">
          <a:extLst xmlns:a="http://schemas.openxmlformats.org/drawingml/2006/main">
            <a:ext uri="{FF2B5EF4-FFF2-40B4-BE49-F238E27FC236}">
              <a16:creationId xmlns:a16="http://schemas.microsoft.com/office/drawing/2014/main" id="{B8CC834D-A1C0-16B8-D31E-8DF1A466C48C}"/>
            </a:ext>
          </a:extLst>
        </cdr:cNvPr>
        <cdr:cNvSpPr/>
      </cdr:nvSpPr>
      <cdr:spPr>
        <a:xfrm xmlns:a="http://schemas.openxmlformats.org/drawingml/2006/main">
          <a:off x="1213397" y="44374"/>
          <a:ext cx="352719" cy="260798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style>
        <a:lnRef xmlns:a="http://schemas.openxmlformats.org/drawingml/2006/main" idx="0">
          <a:scrgbClr r="0" g="0" b="0"/>
        </a:lnRef>
        <a:fillRef xmlns:a="http://schemas.openxmlformats.org/drawingml/2006/main" idx="0">
          <a:scrgbClr r="0" g="0" b="0"/>
        </a:fillRef>
        <a:effectRef xmlns:a="http://schemas.openxmlformats.org/drawingml/2006/main" idx="0">
          <a:scrgbClr r="0" g="0" b="0"/>
        </a:effectRef>
        <a:fontRef xmlns:a="http://schemas.openxmlformats.org/drawingml/2006/main" idx="minor">
          <a:schemeClr val="accent1"/>
        </a:fontRef>
      </cdr:style>
      <cdr:txBody>
        <a:bodyPr xmlns:a="http://schemas.openxmlformats.org/drawingml/2006/main" wrap="square" lIns="0" tIns="0" rIns="0" bIns="0" rtlCol="0" anchor="t"/>
        <a:lstStyle xmlns:a="http://schemas.openxmlformats.org/drawingml/2006/main">
          <a:lvl1pPr marL="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indent="0" algn="l" defTabSz="914400" rtl="0" eaLnBrk="1" latinLnBrk="0" hangingPunct="1">
            <a:buNone/>
          </a:pPr>
          <a:r>
            <a:rPr lang="en-US" sz="800" b="1" kern="1200" dirty="0">
              <a:solidFill>
                <a:srgbClr val="2E8B57"/>
              </a:solidFill>
              <a:latin typeface="Calibri"/>
              <a:ea typeface="+mn-ea"/>
              <a:cs typeface="+mn-cs"/>
            </a:rPr>
            <a:t>GOLY </a:t>
          </a:r>
          <a:endParaRPr lang="en-IN" sz="800" b="1" kern="1200" dirty="0">
            <a:solidFill>
              <a:srgbClr val="2E8B57"/>
            </a:solidFill>
            <a:latin typeface="Calibri"/>
            <a:ea typeface="+mn-ea"/>
            <a:cs typeface="+mn-cs"/>
          </a:endParaRPr>
        </a:p>
        <a:p xmlns:a="http://schemas.openxmlformats.org/drawingml/2006/main">
          <a:pPr marL="0" indent="0" algn="l" defTabSz="914400" rtl="0" eaLnBrk="1" latinLnBrk="0" hangingPunct="1">
            <a:buNone/>
          </a:pPr>
          <a:r>
            <a:rPr lang="en-IN" sz="800" b="1" kern="1200" dirty="0">
              <a:solidFill>
                <a:srgbClr val="2E8B57"/>
              </a:solidFill>
              <a:latin typeface="Calibri"/>
              <a:ea typeface="+mn-ea"/>
              <a:cs typeface="+mn-cs"/>
            </a:rPr>
            <a:t>▲ 356</a:t>
          </a:r>
          <a:endParaRPr lang="en-US" sz="800" b="1" kern="1200" dirty="0">
            <a:solidFill>
              <a:srgbClr val="2E8B57"/>
            </a:solidFill>
            <a:latin typeface="Calibri"/>
            <a:ea typeface="+mn-ea"/>
            <a:cs typeface="+mn-cs"/>
          </a:endParaRPr>
        </a:p>
      </cdr:txBody>
    </cdr:sp>
  </cdr:relSizeAnchor>
  <cdr:relSizeAnchor xmlns:cdr="http://schemas.openxmlformats.org/drawingml/2006/chartDrawing">
    <cdr:from>
      <cdr:x>0.74517</cdr:x>
      <cdr:y>0.04669</cdr:y>
    </cdr:from>
    <cdr:to>
      <cdr:x>0.97788</cdr:x>
      <cdr:y>0.185</cdr:y>
    </cdr:to>
    <cdr:sp macro="" textlink="">
      <cdr:nvSpPr>
        <cdr:cNvPr id="4" name="Text 7">
          <a:extLst xmlns:a="http://schemas.openxmlformats.org/drawingml/2006/main">
            <a:ext uri="{FF2B5EF4-FFF2-40B4-BE49-F238E27FC236}">
              <a16:creationId xmlns:a16="http://schemas.microsoft.com/office/drawing/2014/main" id="{4ED6EDAE-5A2F-8C7E-D267-522D20C6C37E}"/>
            </a:ext>
          </a:extLst>
        </cdr:cNvPr>
        <cdr:cNvSpPr/>
      </cdr:nvSpPr>
      <cdr:spPr>
        <a:xfrm xmlns:a="http://schemas.openxmlformats.org/drawingml/2006/main">
          <a:off x="1754487" y="63894"/>
          <a:ext cx="547895" cy="189276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style>
        <a:lnRef xmlns:a="http://schemas.openxmlformats.org/drawingml/2006/main" idx="0">
          <a:scrgbClr r="0" g="0" b="0"/>
        </a:lnRef>
        <a:fillRef xmlns:a="http://schemas.openxmlformats.org/drawingml/2006/main" idx="0">
          <a:scrgbClr r="0" g="0" b="0"/>
        </a:fillRef>
        <a:effectRef xmlns:a="http://schemas.openxmlformats.org/drawingml/2006/main" idx="0">
          <a:scrgbClr r="0" g="0" b="0"/>
        </a:effectRef>
        <a:fontRef xmlns:a="http://schemas.openxmlformats.org/drawingml/2006/main" idx="minor">
          <a:schemeClr val="accent1"/>
        </a:fontRef>
      </cdr:style>
      <cdr:txBody>
        <a:bodyPr xmlns:a="http://schemas.openxmlformats.org/drawingml/2006/main" wrap="square" lIns="0" tIns="0" rIns="0" bIns="0" rtlCol="0" anchor="t"/>
        <a:lstStyle xmlns:a="http://schemas.openxmlformats.org/drawingml/2006/main">
          <a:lvl1pPr marL="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indent="0">
            <a:buNone/>
          </a:pPr>
          <a:r>
            <a:rPr sz="800" b="1">
              <a:solidFill>
                <a:srgbClr val="2E8B57"/>
              </a:solidFill>
              <a:latin typeface="Calibri"/>
            </a:rPr>
            <a:t>MoM </a:t>
          </a:r>
          <a:r>
            <a:rPr sz="800" b="1">
              <a:solidFill>
                <a:srgbClr val="008A3D"/>
              </a:solidFill>
              <a:latin typeface="Calibri"/>
            </a:rPr>
            <a:t>▲ </a:t>
          </a:r>
          <a:r>
            <a:rPr lang="en-IN" sz="800" b="1">
              <a:solidFill>
                <a:srgbClr val="008A3D"/>
              </a:solidFill>
              <a:latin typeface="Calibri"/>
            </a:rPr>
            <a:t>2</a:t>
          </a:r>
          <a:r>
            <a:rPr sz="800" b="1">
              <a:solidFill>
                <a:srgbClr val="008A3D"/>
              </a:solidFill>
              <a:latin typeface="Calibri"/>
            </a:rPr>
            <a:t>8%</a:t>
          </a:r>
          <a:endParaRPr lang="en-US" sz="800" b="1">
            <a:latin typeface="+mj-lt"/>
          </a:endParaRPr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0.14434</cdr:x>
      <cdr:y>0.02919</cdr:y>
    </cdr:from>
    <cdr:to>
      <cdr:x>0.60225</cdr:x>
      <cdr:y>0.21399</cdr:y>
    </cdr:to>
    <cdr:sp macro="" textlink="">
      <cdr:nvSpPr>
        <cdr:cNvPr id="2" name="Text 13">
          <a:extLst xmlns:a="http://schemas.openxmlformats.org/drawingml/2006/main">
            <a:ext uri="{FF2B5EF4-FFF2-40B4-BE49-F238E27FC236}">
              <a16:creationId xmlns:a16="http://schemas.microsoft.com/office/drawing/2014/main" id="{23EF3F87-F6D1-78AB-3C0F-B06F73797DE8}"/>
            </a:ext>
          </a:extLst>
        </cdr:cNvPr>
        <cdr:cNvSpPr/>
      </cdr:nvSpPr>
      <cdr:spPr>
        <a:xfrm xmlns:a="http://schemas.openxmlformats.org/drawingml/2006/main">
          <a:off x="320271" y="39940"/>
          <a:ext cx="1016000" cy="252908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style>
        <a:lnRef xmlns:a="http://schemas.openxmlformats.org/drawingml/2006/main" idx="2">
          <a:schemeClr val="dk1"/>
        </a:lnRef>
        <a:fillRef xmlns:a="http://schemas.openxmlformats.org/drawingml/2006/main" idx="1">
          <a:schemeClr val="lt1"/>
        </a:fillRef>
        <a:effectRef xmlns:a="http://schemas.openxmlformats.org/drawingml/2006/main" idx="0">
          <a:schemeClr val="dk1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wrap="square" lIns="0" tIns="0" rIns="0" bIns="0" rtlCol="0" anchor="t"/>
        <a:lstStyle xmlns:a="http://schemas.openxmlformats.org/drawingml/2006/main">
          <a:lvl1pPr marL="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indent="0">
            <a:buNone/>
          </a:pPr>
          <a:r>
            <a:rPr lang="en-US" sz="1400" b="1" dirty="0">
              <a:solidFill>
                <a:srgbClr val="111827"/>
              </a:solidFill>
              <a:latin typeface="Calibri"/>
            </a:rPr>
            <a:t>Face Serum</a:t>
          </a:r>
          <a:endParaRPr lang="en-US" sz="1400" b="1" dirty="0">
            <a:latin typeface="+mj-lt"/>
          </a:endParaRPr>
        </a:p>
      </cdr:txBody>
    </cdr:sp>
  </cdr:relSizeAnchor>
  <cdr:relSizeAnchor xmlns:cdr="http://schemas.openxmlformats.org/drawingml/2006/chartDrawing">
    <cdr:from>
      <cdr:x>0.58556</cdr:x>
      <cdr:y>0.00022</cdr:y>
    </cdr:from>
    <cdr:to>
      <cdr:x>0.75841</cdr:x>
      <cdr:y>0.20438</cdr:y>
    </cdr:to>
    <cdr:sp macro="" textlink="">
      <cdr:nvSpPr>
        <cdr:cNvPr id="3" name="Text 14">
          <a:extLst xmlns:a="http://schemas.openxmlformats.org/drawingml/2006/main">
            <a:ext uri="{FF2B5EF4-FFF2-40B4-BE49-F238E27FC236}">
              <a16:creationId xmlns:a16="http://schemas.microsoft.com/office/drawing/2014/main" id="{CAEB6D30-513C-DF28-759F-EF186C248833}"/>
            </a:ext>
          </a:extLst>
        </cdr:cNvPr>
        <cdr:cNvSpPr/>
      </cdr:nvSpPr>
      <cdr:spPr>
        <a:xfrm xmlns:a="http://schemas.openxmlformats.org/drawingml/2006/main">
          <a:off x="1299229" y="299"/>
          <a:ext cx="383521" cy="279400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style>
        <a:lnRef xmlns:a="http://schemas.openxmlformats.org/drawingml/2006/main" idx="2">
          <a:schemeClr val="dk1"/>
        </a:lnRef>
        <a:fillRef xmlns:a="http://schemas.openxmlformats.org/drawingml/2006/main" idx="1">
          <a:schemeClr val="lt1"/>
        </a:fillRef>
        <a:effectRef xmlns:a="http://schemas.openxmlformats.org/drawingml/2006/main" idx="0">
          <a:schemeClr val="dk1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wrap="square" lIns="0" tIns="0" rIns="0" bIns="0" rtlCol="0" anchor="t"/>
        <a:lstStyle xmlns:a="http://schemas.openxmlformats.org/drawingml/2006/main">
          <a:lvl1pPr marL="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indent="0">
            <a:buNone/>
          </a:pPr>
          <a:r>
            <a:rPr lang="en-US" sz="900" b="1">
              <a:solidFill>
                <a:srgbClr val="2E8B57"/>
              </a:solidFill>
              <a:latin typeface="Calibri"/>
            </a:rPr>
            <a:t>GOLY </a:t>
          </a:r>
        </a:p>
        <a:p xmlns:a="http://schemas.openxmlformats.org/drawingml/2006/main">
          <a:pPr marL="0" indent="0">
            <a:buNone/>
          </a:pPr>
          <a:r>
            <a:rPr sz="900" b="1">
              <a:solidFill>
                <a:srgbClr val="008A3D"/>
              </a:solidFill>
              <a:latin typeface="Calibri"/>
            </a:rPr>
            <a:t>▲ 46%</a:t>
          </a:r>
          <a:endParaRPr lang="en-US" sz="900" b="1">
            <a:latin typeface="+mj-lt"/>
          </a:endParaRPr>
        </a:p>
      </cdr:txBody>
    </cdr:sp>
  </cdr:relSizeAnchor>
  <cdr:relSizeAnchor xmlns:cdr="http://schemas.openxmlformats.org/drawingml/2006/chartDrawing">
    <cdr:from>
      <cdr:x>0.81281</cdr:x>
      <cdr:y>0.0095</cdr:y>
    </cdr:from>
    <cdr:to>
      <cdr:x>0.9771</cdr:x>
      <cdr:y>0.18698</cdr:y>
    </cdr:to>
    <cdr:sp macro="" textlink="">
      <cdr:nvSpPr>
        <cdr:cNvPr id="4" name="Text 15">
          <a:extLst xmlns:a="http://schemas.openxmlformats.org/drawingml/2006/main">
            <a:ext uri="{FF2B5EF4-FFF2-40B4-BE49-F238E27FC236}">
              <a16:creationId xmlns:a16="http://schemas.microsoft.com/office/drawing/2014/main" id="{38043CDA-B4CC-0A63-1373-A029921B3813}"/>
            </a:ext>
          </a:extLst>
        </cdr:cNvPr>
        <cdr:cNvSpPr/>
      </cdr:nvSpPr>
      <cdr:spPr>
        <a:xfrm xmlns:a="http://schemas.openxmlformats.org/drawingml/2006/main">
          <a:off x="1803456" y="12999"/>
          <a:ext cx="364535" cy="242876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style>
        <a:lnRef xmlns:a="http://schemas.openxmlformats.org/drawingml/2006/main" idx="2">
          <a:schemeClr val="dk1"/>
        </a:lnRef>
        <a:fillRef xmlns:a="http://schemas.openxmlformats.org/drawingml/2006/main" idx="1">
          <a:schemeClr val="lt1"/>
        </a:fillRef>
        <a:effectRef xmlns:a="http://schemas.openxmlformats.org/drawingml/2006/main" idx="0">
          <a:schemeClr val="dk1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wrap="square" lIns="0" tIns="0" rIns="0" bIns="0" rtlCol="0" anchor="t"/>
        <a:lstStyle xmlns:a="http://schemas.openxmlformats.org/drawingml/2006/main">
          <a:lvl1pPr marL="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indent="0">
            <a:buNone/>
          </a:pPr>
          <a:r>
            <a:rPr lang="en-US" sz="900" b="1">
              <a:solidFill>
                <a:srgbClr val="D03A3A"/>
              </a:solidFill>
              <a:latin typeface="Calibri"/>
            </a:rPr>
            <a:t>MoM </a:t>
          </a:r>
        </a:p>
        <a:p xmlns:a="http://schemas.openxmlformats.org/drawingml/2006/main">
          <a:pPr marL="0" indent="0">
            <a:buNone/>
          </a:pPr>
          <a:r>
            <a:rPr sz="900" b="1">
              <a:solidFill>
                <a:srgbClr val="C00000"/>
              </a:solidFill>
              <a:latin typeface="Calibri"/>
            </a:rPr>
            <a:t>▼ 4%</a:t>
          </a:r>
          <a:endParaRPr lang="en-US" sz="900" b="1">
            <a:latin typeface="+mj-lt"/>
          </a:endParaRPr>
        </a:p>
      </cdr:txBody>
    </cdr: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</cdr:x>
      <cdr:y>0.00077</cdr:y>
    </cdr:from>
    <cdr:to>
      <cdr:x>0.473</cdr:x>
      <cdr:y>0.10927</cdr:y>
    </cdr:to>
    <cdr:sp macro="" textlink="">
      <cdr:nvSpPr>
        <cdr:cNvPr id="2" name="Rectangle 1">
          <a:extLst xmlns:a="http://schemas.openxmlformats.org/drawingml/2006/main">
            <a:ext uri="{FF2B5EF4-FFF2-40B4-BE49-F238E27FC236}">
              <a16:creationId xmlns:a16="http://schemas.microsoft.com/office/drawing/2014/main" id="{6D948830-5875-429E-B2E8-06A2446FF79B}"/>
            </a:ext>
          </a:extLst>
        </cdr:cNvPr>
        <cdr:cNvSpPr/>
      </cdr:nvSpPr>
      <cdr:spPr>
        <a:xfrm xmlns:a="http://schemas.openxmlformats.org/drawingml/2006/main">
          <a:off x="0" y="1635"/>
          <a:ext cx="1455089" cy="229108"/>
        </a:xfrm>
        <a:prstGeom xmlns:a="http://schemas.openxmlformats.org/drawingml/2006/main" prst="rect">
          <a:avLst/>
        </a:prstGeom>
        <a:solidFill xmlns:a="http://schemas.openxmlformats.org/drawingml/2006/main">
          <a:srgbClr val="CC99FF"/>
        </a:solidFill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lvl1pPr marL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IN" dirty="0"/>
            <a:t>Shampoo M/S</a:t>
          </a:r>
        </a:p>
      </cdr:txBody>
    </cdr:sp>
  </cdr:relSizeAnchor>
</c:userShapes>
</file>

<file path=ppt/drawings/drawing4.xml><?xml version="1.0" encoding="utf-8"?>
<c:userShapes xmlns:c="http://schemas.openxmlformats.org/drawingml/2006/chart">
  <cdr:relSizeAnchor xmlns:cdr="http://schemas.openxmlformats.org/drawingml/2006/chartDrawing">
    <cdr:from>
      <cdr:x>5.78801E-7</cdr:x>
      <cdr:y>0</cdr:y>
    </cdr:from>
    <cdr:to>
      <cdr:x>0.39837</cdr:x>
      <cdr:y>0.10323</cdr:y>
    </cdr:to>
    <cdr:sp macro="" textlink="">
      <cdr:nvSpPr>
        <cdr:cNvPr id="2" name="Rectangle 1">
          <a:extLst xmlns:a="http://schemas.openxmlformats.org/drawingml/2006/main">
            <a:ext uri="{FF2B5EF4-FFF2-40B4-BE49-F238E27FC236}">
              <a16:creationId xmlns:a16="http://schemas.microsoft.com/office/drawing/2014/main" id="{6D948830-5875-429E-B2E8-06A2446FF79B}"/>
            </a:ext>
          </a:extLst>
        </cdr:cNvPr>
        <cdr:cNvSpPr/>
      </cdr:nvSpPr>
      <cdr:spPr>
        <a:xfrm xmlns:a="http://schemas.openxmlformats.org/drawingml/2006/main">
          <a:off x="2" y="0"/>
          <a:ext cx="1376542" cy="219456"/>
        </a:xfrm>
        <a:prstGeom xmlns:a="http://schemas.openxmlformats.org/drawingml/2006/main" prst="rect">
          <a:avLst/>
        </a:prstGeom>
        <a:solidFill xmlns:a="http://schemas.openxmlformats.org/drawingml/2006/main">
          <a:srgbClr val="FFC000"/>
        </a:solidFill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lvl1pPr marL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IN" dirty="0">
              <a:solidFill>
                <a:schemeClr val="bg1"/>
              </a:solidFill>
            </a:rPr>
            <a:t>Suncare M/S</a:t>
          </a:r>
        </a:p>
      </cdr:txBody>
    </cdr:sp>
  </cdr:relSizeAnchor>
</c:userShapes>
</file>

<file path=ppt/drawings/drawing5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0.11347</cdr:y>
    </cdr:to>
    <cdr:sp macro="" textlink="">
      <cdr:nvSpPr>
        <cdr:cNvPr id="2" name="TextBox 9">
          <a:extLst xmlns:a="http://schemas.openxmlformats.org/drawingml/2006/main">
            <a:ext uri="{FF2B5EF4-FFF2-40B4-BE49-F238E27FC236}">
              <a16:creationId xmlns:a16="http://schemas.microsoft.com/office/drawing/2014/main" id="{50E9FDCF-2A4B-7AB8-CDCD-392E6C187C28}"/>
            </a:ext>
          </a:extLst>
        </cdr:cNvPr>
        <cdr:cNvSpPr txBox="1"/>
      </cdr:nvSpPr>
      <cdr:spPr>
        <a:xfrm xmlns:a="http://schemas.openxmlformats.org/drawingml/2006/main">
          <a:off x="0" y="0"/>
          <a:ext cx="3335193" cy="276999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sz="1200" b="1" dirty="0">
              <a:solidFill>
                <a:srgbClr val="1E2761"/>
              </a:solidFill>
              <a:ea typeface="Calibri"/>
            </a:rPr>
            <a:t>Shampoo Market Share by Zone (%)</a:t>
          </a:r>
          <a:endParaRPr lang="en-IN" sz="1200" dirty="0"/>
        </a:p>
      </cdr:txBody>
    </cdr:sp>
  </cdr:relSizeAnchor>
</c:userShape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8786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08998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Relationship Id="rId5" Type="http://schemas.openxmlformats.org/officeDocument/2006/relationships/chart" Target="../charts/char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4.xml"/><Relationship Id="rId4" Type="http://schemas.openxmlformats.org/officeDocument/2006/relationships/chart" Target="../charts/chart5.xml"/><Relationship Id="rId5" Type="http://schemas.openxmlformats.org/officeDocument/2006/relationships/chart" Target="../charts/chart6.xml"/><Relationship Id="rId6" Type="http://schemas.openxmlformats.org/officeDocument/2006/relationships/chart" Target="../charts/chart7.xml"/><Relationship Id="rId7" Type="http://schemas.openxmlformats.org/officeDocument/2006/relationships/chart" Target="../charts/chart8.xml"/><Relationship Id="rId8" Type="http://schemas.openxmlformats.org/officeDocument/2006/relationships/chart" Target="../charts/chart9.xml"/><Relationship Id="rId9" Type="http://schemas.openxmlformats.org/officeDocument/2006/relationships/image" Target="../media/image1.png"/><Relationship Id="rId10" Type="http://schemas.openxmlformats.org/officeDocument/2006/relationships/image" Target="../media/image2.png"/><Relationship Id="rId11" Type="http://schemas.openxmlformats.org/officeDocument/2006/relationships/image" Target="../media/image3.jpeg"/><Relationship Id="rId12" Type="http://schemas.openxmlformats.org/officeDocument/2006/relationships/image" Target="../media/image4.jpg"/><Relationship Id="rId13" Type="http://schemas.openxmlformats.org/officeDocument/2006/relationships/image" Target="../media/image5.png"/><Relationship Id="rId14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0.xml"/><Relationship Id="rId3" Type="http://schemas.openxmlformats.org/officeDocument/2006/relationships/chart" Target="../charts/chart1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2.xml"/><Relationship Id="rId3" Type="http://schemas.openxmlformats.org/officeDocument/2006/relationships/chart" Target="../charts/chart13.xml"/><Relationship Id="rId4" Type="http://schemas.openxmlformats.org/officeDocument/2006/relationships/chart" Target="../charts/chart1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Relationship Id="rId7" Type="http://schemas.openxmlformats.org/officeDocument/2006/relationships/diagramData" Target="../diagrams/data2.xml"/><Relationship Id="rId8" Type="http://schemas.openxmlformats.org/officeDocument/2006/relationships/diagramLayout" Target="../diagrams/layout2.xml"/><Relationship Id="rId9" Type="http://schemas.openxmlformats.org/officeDocument/2006/relationships/diagramQuickStyle" Target="../diagrams/quickStyle2.xml"/><Relationship Id="rId10" Type="http://schemas.openxmlformats.org/officeDocument/2006/relationships/diagramColors" Target="../diagrams/colors2.xml"/><Relationship Id="rId11" Type="http://schemas.microsoft.com/office/2007/relationships/diagramDrawing" Target="../diagrams/drawing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diagramData" Target="../diagrams/data3.xml"/><Relationship Id="rId3" Type="http://schemas.openxmlformats.org/officeDocument/2006/relationships/diagramLayout" Target="../diagrams/layout3.xml"/><Relationship Id="rId4" Type="http://schemas.openxmlformats.org/officeDocument/2006/relationships/diagramQuickStyle" Target="../diagrams/quickStyle3.xml"/><Relationship Id="rId5" Type="http://schemas.openxmlformats.org/officeDocument/2006/relationships/diagramColors" Target="../diagrams/colors3.xml"/><Relationship Id="rId6" Type="http://schemas.microsoft.com/office/2007/relationships/diagramDrawing" Target="../diagrams/drawing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6.xml"/><Relationship Id="rId3" Type="http://schemas.openxmlformats.org/officeDocument/2006/relationships/chart" Target="../charts/chart1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8.xml"/><Relationship Id="rId3" Type="http://schemas.openxmlformats.org/officeDocument/2006/relationships/chart" Target="../charts/chart19.xml"/><Relationship Id="rId4" Type="http://schemas.openxmlformats.org/officeDocument/2006/relationships/chart" Target="../charts/chart20.xml"/><Relationship Id="rId5" Type="http://schemas.openxmlformats.org/officeDocument/2006/relationships/chart" Target="../charts/chart21.xml"/><Relationship Id="rId6" Type="http://schemas.openxmlformats.org/officeDocument/2006/relationships/chart" Target="../charts/chart22.xml"/><Relationship Id="rId7" Type="http://schemas.openxmlformats.org/officeDocument/2006/relationships/chart" Target="../charts/chart23.xml"/><Relationship Id="rId8" Type="http://schemas.openxmlformats.org/officeDocument/2006/relationships/image" Target="../media/image1.png"/><Relationship Id="rId9" Type="http://schemas.openxmlformats.org/officeDocument/2006/relationships/image" Target="../media/image2.png"/><Relationship Id="rId10" Type="http://schemas.openxmlformats.org/officeDocument/2006/relationships/image" Target="../media/image3.jpeg"/><Relationship Id="rId11" Type="http://schemas.openxmlformats.org/officeDocument/2006/relationships/image" Target="../media/image4.jpg"/><Relationship Id="rId12" Type="http://schemas.openxmlformats.org/officeDocument/2006/relationships/image" Target="../media/image5.png"/><Relationship Id="rId1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4.xml"/><Relationship Id="rId3" Type="http://schemas.openxmlformats.org/officeDocument/2006/relationships/chart" Target="../charts/chart25.xml"/><Relationship Id="rId4" Type="http://schemas.openxmlformats.org/officeDocument/2006/relationships/chart" Target="../charts/chart26.xml"/><Relationship Id="rId5" Type="http://schemas.openxmlformats.org/officeDocument/2006/relationships/chart" Target="../charts/chart27.xml"/><Relationship Id="rId6" Type="http://schemas.openxmlformats.org/officeDocument/2006/relationships/chart" Target="../charts/chart28.xml"/><Relationship Id="rId7" Type="http://schemas.openxmlformats.org/officeDocument/2006/relationships/chart" Target="../charts/chart29.xml"/><Relationship Id="rId8" Type="http://schemas.openxmlformats.org/officeDocument/2006/relationships/image" Target="../media/image1.png"/><Relationship Id="rId9" Type="http://schemas.openxmlformats.org/officeDocument/2006/relationships/image" Target="../media/image2.png"/><Relationship Id="rId10" Type="http://schemas.openxmlformats.org/officeDocument/2006/relationships/image" Target="../media/image3.jpeg"/><Relationship Id="rId11" Type="http://schemas.openxmlformats.org/officeDocument/2006/relationships/image" Target="../media/image4.jpg"/><Relationship Id="rId12" Type="http://schemas.openxmlformats.org/officeDocument/2006/relationships/image" Target="../media/image5.png"/><Relationship Id="rId13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30.xml"/><Relationship Id="rId3" Type="http://schemas.openxmlformats.org/officeDocument/2006/relationships/chart" Target="../charts/chart31.xml"/><Relationship Id="rId4" Type="http://schemas.openxmlformats.org/officeDocument/2006/relationships/chart" Target="../charts/chart32.xml"/><Relationship Id="rId5" Type="http://schemas.openxmlformats.org/officeDocument/2006/relationships/chart" Target="../charts/chart33.xml"/><Relationship Id="rId6" Type="http://schemas.openxmlformats.org/officeDocument/2006/relationships/chart" Target="../charts/chart34.xml"/><Relationship Id="rId7" Type="http://schemas.openxmlformats.org/officeDocument/2006/relationships/chart" Target="../charts/chart35.xml"/><Relationship Id="rId8" Type="http://schemas.openxmlformats.org/officeDocument/2006/relationships/image" Target="../media/image1.png"/><Relationship Id="rId9" Type="http://schemas.openxmlformats.org/officeDocument/2006/relationships/image" Target="../media/image2.png"/><Relationship Id="rId10" Type="http://schemas.openxmlformats.org/officeDocument/2006/relationships/image" Target="../media/image3.jpeg"/><Relationship Id="rId11" Type="http://schemas.openxmlformats.org/officeDocument/2006/relationships/image" Target="../media/image4.jpg"/><Relationship Id="rId12" Type="http://schemas.openxmlformats.org/officeDocument/2006/relationships/image" Target="../media/image5.png"/><Relationship Id="rId13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36.xml"/><Relationship Id="rId3" Type="http://schemas.openxmlformats.org/officeDocument/2006/relationships/chart" Target="../charts/chart37.xml"/><Relationship Id="rId4" Type="http://schemas.openxmlformats.org/officeDocument/2006/relationships/chart" Target="../charts/chart38.xml"/><Relationship Id="rId5" Type="http://schemas.openxmlformats.org/officeDocument/2006/relationships/chart" Target="../charts/chart39.xml"/><Relationship Id="rId6" Type="http://schemas.openxmlformats.org/officeDocument/2006/relationships/chart" Target="../charts/chart40.xml"/><Relationship Id="rId7" Type="http://schemas.openxmlformats.org/officeDocument/2006/relationships/chart" Target="../charts/chart41.xml"/><Relationship Id="rId8" Type="http://schemas.openxmlformats.org/officeDocument/2006/relationships/image" Target="../media/image1.png"/><Relationship Id="rId9" Type="http://schemas.openxmlformats.org/officeDocument/2006/relationships/image" Target="../media/image2.png"/><Relationship Id="rId10" Type="http://schemas.openxmlformats.org/officeDocument/2006/relationships/image" Target="../media/image3.jpeg"/><Relationship Id="rId11" Type="http://schemas.openxmlformats.org/officeDocument/2006/relationships/image" Target="../media/image4.jpg"/><Relationship Id="rId12" Type="http://schemas.openxmlformats.org/officeDocument/2006/relationships/image" Target="../media/image5.png"/><Relationship Id="rId13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42.xml"/><Relationship Id="rId3" Type="http://schemas.openxmlformats.org/officeDocument/2006/relationships/chart" Target="../charts/chart43.xml"/><Relationship Id="rId4" Type="http://schemas.openxmlformats.org/officeDocument/2006/relationships/chart" Target="../charts/chart44.xml"/><Relationship Id="rId5" Type="http://schemas.openxmlformats.org/officeDocument/2006/relationships/chart" Target="../charts/chart45.xml"/><Relationship Id="rId6" Type="http://schemas.openxmlformats.org/officeDocument/2006/relationships/chart" Target="../charts/chart46.xml"/><Relationship Id="rId7" Type="http://schemas.openxmlformats.org/officeDocument/2006/relationships/chart" Target="../charts/chart47.xml"/><Relationship Id="rId8" Type="http://schemas.openxmlformats.org/officeDocument/2006/relationships/image" Target="../media/image1.png"/><Relationship Id="rId9" Type="http://schemas.openxmlformats.org/officeDocument/2006/relationships/image" Target="../media/image2.png"/><Relationship Id="rId10" Type="http://schemas.openxmlformats.org/officeDocument/2006/relationships/image" Target="../media/image3.jpeg"/><Relationship Id="rId11" Type="http://schemas.openxmlformats.org/officeDocument/2006/relationships/image" Target="../media/image4.jpg"/><Relationship Id="rId12" Type="http://schemas.openxmlformats.org/officeDocument/2006/relationships/image" Target="../media/image5.png"/><Relationship Id="rId13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48.xml"/><Relationship Id="rId3" Type="http://schemas.openxmlformats.org/officeDocument/2006/relationships/chart" Target="../charts/chart49.xml"/><Relationship Id="rId4" Type="http://schemas.openxmlformats.org/officeDocument/2006/relationships/chart" Target="../charts/chart50.xml"/><Relationship Id="rId5" Type="http://schemas.openxmlformats.org/officeDocument/2006/relationships/chart" Target="../charts/chart51.xml"/><Relationship Id="rId6" Type="http://schemas.openxmlformats.org/officeDocument/2006/relationships/chart" Target="../charts/chart52.xml"/><Relationship Id="rId7" Type="http://schemas.openxmlformats.org/officeDocument/2006/relationships/chart" Target="../charts/chart53.xml"/><Relationship Id="rId8" Type="http://schemas.openxmlformats.org/officeDocument/2006/relationships/image" Target="../media/image1.png"/><Relationship Id="rId9" Type="http://schemas.openxmlformats.org/officeDocument/2006/relationships/image" Target="../media/image2.png"/><Relationship Id="rId10" Type="http://schemas.openxmlformats.org/officeDocument/2006/relationships/image" Target="../media/image3.jpeg"/><Relationship Id="rId11" Type="http://schemas.openxmlformats.org/officeDocument/2006/relationships/image" Target="../media/image4.jpg"/><Relationship Id="rId12" Type="http://schemas.openxmlformats.org/officeDocument/2006/relationships/image" Target="../media/image5.png"/><Relationship Id="rId13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9.jpg"/><Relationship Id="rId5" Type="http://schemas.openxmlformats.org/officeDocument/2006/relationships/image" Target="../media/image10.jpg"/><Relationship Id="rId6" Type="http://schemas.openxmlformats.org/officeDocument/2006/relationships/image" Target="../media/image11.jpg"/><Relationship Id="rId7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Relationship Id="rId4" Type="http://schemas.openxmlformats.org/officeDocument/2006/relationships/image" Target="../media/image15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Relationship Id="rId4" Type="http://schemas.openxmlformats.org/officeDocument/2006/relationships/image" Target="../media/image18.jpg"/><Relationship Id="rId5" Type="http://schemas.openxmlformats.org/officeDocument/2006/relationships/image" Target="../media/image19.jpg"/><Relationship Id="rId6" Type="http://schemas.openxmlformats.org/officeDocument/2006/relationships/image" Target="../media/image20.jpg"/><Relationship Id="rId7" Type="http://schemas.openxmlformats.org/officeDocument/2006/relationships/image" Target="../media/image2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jpg"/><Relationship Id="rId3" Type="http://schemas.openxmlformats.org/officeDocument/2006/relationships/image" Target="../media/image23.jpg"/><Relationship Id="rId4" Type="http://schemas.openxmlformats.org/officeDocument/2006/relationships/image" Target="../media/image24.jpg"/><Relationship Id="rId5" Type="http://schemas.openxmlformats.org/officeDocument/2006/relationships/image" Target="../media/image25.jpg"/><Relationship Id="rId6" Type="http://schemas.openxmlformats.org/officeDocument/2006/relationships/image" Target="../media/image26.jpg"/><Relationship Id="rId7" Type="http://schemas.openxmlformats.org/officeDocument/2006/relationships/image" Target="../media/image27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jpg"/><Relationship Id="rId3" Type="http://schemas.openxmlformats.org/officeDocument/2006/relationships/image" Target="../media/image29.jpg"/><Relationship Id="rId4" Type="http://schemas.openxmlformats.org/officeDocument/2006/relationships/image" Target="../media/image30.jpg"/><Relationship Id="rId5" Type="http://schemas.openxmlformats.org/officeDocument/2006/relationships/image" Target="../media/image31.jpg"/><Relationship Id="rId6" Type="http://schemas.openxmlformats.org/officeDocument/2006/relationships/image" Target="../media/image32.jpg"/><Relationship Id="rId7" Type="http://schemas.openxmlformats.org/officeDocument/2006/relationships/image" Target="../media/image33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jpg"/><Relationship Id="rId3" Type="http://schemas.openxmlformats.org/officeDocument/2006/relationships/image" Target="../media/image35.jpg"/><Relationship Id="rId4" Type="http://schemas.openxmlformats.org/officeDocument/2006/relationships/image" Target="../media/image36.jpg"/><Relationship Id="rId5" Type="http://schemas.openxmlformats.org/officeDocument/2006/relationships/image" Target="../media/image37.jpg"/><Relationship Id="rId6" Type="http://schemas.openxmlformats.org/officeDocument/2006/relationships/image" Target="../media/image38.jpg"/><Relationship Id="rId7" Type="http://schemas.openxmlformats.org/officeDocument/2006/relationships/image" Target="../media/image39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jpg"/><Relationship Id="rId3" Type="http://schemas.openxmlformats.org/officeDocument/2006/relationships/image" Target="../media/image41.jpg"/><Relationship Id="rId4" Type="http://schemas.openxmlformats.org/officeDocument/2006/relationships/image" Target="../media/image42.jpg"/><Relationship Id="rId5" Type="http://schemas.openxmlformats.org/officeDocument/2006/relationships/image" Target="../media/image4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7844" y="-14471"/>
            <a:ext cx="7580694" cy="454996"/>
          </a:xfrm>
          <a:prstGeom prst="rect">
            <a:avLst/>
          </a:prstGeom>
          <a:solidFill>
            <a:srgbClr val="2D9B7F"/>
          </a:solidFill>
          <a:ln/>
        </p:spPr>
        <p:txBody>
          <a:bodyPr wrap="square" lIns="0" tIns="0" rIns="0" bIns="0" rtlCol="0" anchor="t"/>
          <a:lstStyle/>
          <a:p>
            <a:pPr algn="ctr"/>
            <a:r>
              <a:rPr lang="en-US" sz="24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OFFTAKE PERFORMANCE REPORT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-17844" y="417740"/>
            <a:ext cx="7580694" cy="3077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5A85"/>
                </a:solidFill>
                <a:latin typeface="Calibri"/>
              </a:rPr>
              <a:t>SUMMARY &amp; KEY INSIGHTS MAY’26</a:t>
            </a:r>
            <a:endParaRPr lang="en-US" sz="1600" b="1" dirty="0">
              <a:latin typeface="+mj-lt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34673" y="727947"/>
            <a:ext cx="6903720" cy="0"/>
          </a:xfrm>
          <a:prstGeom prst="line">
            <a:avLst/>
          </a:prstGeom>
          <a:noFill/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30480" y="831732"/>
            <a:ext cx="1650113" cy="648205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  <p:txBody>
          <a:bodyPr anchor="t"/>
          <a:lstStyle/>
          <a:p>
            <a:endParaRPr lang="en-IN" sz="2400" b="1">
              <a:latin typeface="+mj-lt"/>
            </a:endParaRPr>
          </a:p>
        </p:txBody>
      </p:sp>
      <p:sp>
        <p:nvSpPr>
          <p:cNvPr id="7" name="Text 5"/>
          <p:cNvSpPr/>
          <p:nvPr/>
        </p:nvSpPr>
        <p:spPr>
          <a:xfrm>
            <a:off x="517553" y="955993"/>
            <a:ext cx="1499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75569"/>
                </a:solidFill>
                <a:latin typeface="Calibri"/>
              </a:rPr>
              <a:t>May'26 NSV</a:t>
            </a:r>
            <a:endParaRPr lang="en-US" sz="800" b="1" dirty="0">
              <a:latin typeface="+mj-lt"/>
            </a:endParaRPr>
          </a:p>
        </p:txBody>
      </p:sp>
      <p:sp>
        <p:nvSpPr>
          <p:cNvPr id="8" name="Text 6"/>
          <p:cNvSpPr/>
          <p:nvPr/>
        </p:nvSpPr>
        <p:spPr>
          <a:xfrm>
            <a:off x="462689" y="1072345"/>
            <a:ext cx="14996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800" b="1" u="none" strike="noStrike" dirty="0">
                <a:solidFill>
                  <a:srgbClr val="176C5D"/>
                </a:solidFill>
                <a:effectLst/>
                <a:uFillTx/>
                <a:latin typeface="Calibri"/>
                <a:ea typeface="Aptos Display"/>
              </a:rPr>
              <a:t>₹ 40.19 Cr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+mj-lt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099465" y="831733"/>
            <a:ext cx="1645920" cy="648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  <p:txBody>
          <a:bodyPr anchor="t"/>
          <a:lstStyle/>
          <a:p>
            <a:endParaRPr lang="en-IN" sz="2400" b="1">
              <a:latin typeface="+mj-lt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190905" y="904885"/>
            <a:ext cx="1499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75569"/>
                </a:solidFill>
                <a:latin typeface="Calibri"/>
              </a:rPr>
              <a:t>Apr'26 NSV</a:t>
            </a:r>
            <a:endParaRPr lang="en-US" sz="800" b="1" dirty="0">
              <a:latin typeface="+mj-lt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190905" y="1060333"/>
            <a:ext cx="14996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800" b="1" u="none" strike="noStrike" dirty="0">
                <a:solidFill>
                  <a:srgbClr val="176C5D"/>
                </a:solidFill>
                <a:effectLst/>
                <a:uFillTx/>
                <a:latin typeface="Calibri"/>
                <a:ea typeface="Aptos Display"/>
              </a:rPr>
              <a:t>₹ 35.89 Cr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+mj-lt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190905" y="1307221"/>
            <a:ext cx="1499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MoM ▲ </a:t>
            </a:r>
            <a:r>
              <a:rPr lang="en-IN" sz="900" b="1" dirty="0">
                <a:solidFill>
                  <a:srgbClr val="008A3D"/>
                </a:solidFill>
                <a:latin typeface="Calibri"/>
              </a:rPr>
              <a:t>12</a:t>
            </a:r>
            <a:r>
              <a:rPr sz="900" b="1" dirty="0">
                <a:solidFill>
                  <a:srgbClr val="008A3D"/>
                </a:solidFill>
                <a:latin typeface="Calibri"/>
              </a:rPr>
              <a:t>%</a:t>
            </a:r>
            <a:endParaRPr lang="en-US" sz="900" b="1" dirty="0">
              <a:latin typeface="+mj-lt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855113" y="831733"/>
            <a:ext cx="1645920" cy="63107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  <p:txBody>
          <a:bodyPr anchor="t"/>
          <a:lstStyle/>
          <a:p>
            <a:endParaRPr lang="en-IN" sz="2400" b="1">
              <a:latin typeface="+mj-lt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928265" y="904885"/>
            <a:ext cx="1499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75569"/>
                </a:solidFill>
                <a:latin typeface="Calibri"/>
              </a:rPr>
              <a:t>L3M Avg</a:t>
            </a:r>
            <a:endParaRPr lang="en-US" sz="800" b="1" dirty="0">
              <a:latin typeface="+mj-lt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928265" y="1060333"/>
            <a:ext cx="14996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u="none" strike="noStrike" dirty="0">
                <a:solidFill>
                  <a:srgbClr val="176C5D"/>
                </a:solidFill>
                <a:effectLst/>
                <a:uFillTx/>
                <a:latin typeface="Calibri"/>
                <a:ea typeface="Aptos Display"/>
              </a:rPr>
              <a:t>₹ 31.95 Cr</a:t>
            </a:r>
            <a:endParaRPr lang="en-US" b="1" dirty="0">
              <a:latin typeface="+mj-lt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928265" y="1307221"/>
            <a:ext cx="1499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GO L3M ▲ </a:t>
            </a:r>
            <a:r>
              <a:rPr lang="en-IN" sz="900" b="1" dirty="0">
                <a:solidFill>
                  <a:srgbClr val="008A3D"/>
                </a:solidFill>
                <a:latin typeface="Calibri"/>
              </a:rPr>
              <a:t>26</a:t>
            </a:r>
            <a:r>
              <a:rPr sz="900" b="1" dirty="0">
                <a:solidFill>
                  <a:srgbClr val="008A3D"/>
                </a:solidFill>
                <a:latin typeface="Calibri"/>
              </a:rPr>
              <a:t>%</a:t>
            </a:r>
            <a:endParaRPr lang="en-US" sz="900" b="1" dirty="0">
              <a:latin typeface="+mj-lt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638193" y="848317"/>
            <a:ext cx="1645920" cy="63162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  <p:txBody>
          <a:bodyPr anchor="t"/>
          <a:lstStyle/>
          <a:p>
            <a:endParaRPr lang="en-IN" sz="2400" b="1">
              <a:latin typeface="+mj-lt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665625" y="904885"/>
            <a:ext cx="1453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75569"/>
                </a:solidFill>
                <a:latin typeface="Calibri"/>
              </a:rPr>
              <a:t>YoY Growth</a:t>
            </a:r>
            <a:endParaRPr lang="en-US" sz="800" b="1" dirty="0">
              <a:latin typeface="+mj-lt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665625" y="1060333"/>
            <a:ext cx="1453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1F5A85"/>
                </a:solidFill>
                <a:latin typeface="Calibri"/>
              </a:rPr>
              <a:t>63.0%</a:t>
            </a:r>
            <a:endParaRPr lang="en-US" b="1" dirty="0">
              <a:latin typeface="+mj-lt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665625" y="1307221"/>
            <a:ext cx="1453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 </a:t>
            </a:r>
            <a:r>
              <a:rPr lang="en-US" sz="900" b="1" u="none" strike="noStrike" dirty="0">
                <a:solidFill>
                  <a:srgbClr val="176C5D"/>
                </a:solidFill>
                <a:effectLst/>
                <a:uFillTx/>
                <a:latin typeface="Calibri"/>
                <a:ea typeface="Aptos Display"/>
              </a:rPr>
              <a:t>₹ 15.54 Cr</a:t>
            </a:r>
            <a:endParaRPr lang="en-US" sz="900" b="1" dirty="0">
              <a:latin typeface="+mj-lt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20039" y="1576925"/>
            <a:ext cx="3886201" cy="30776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5A85"/>
                </a:solidFill>
                <a:latin typeface="Calibri"/>
              </a:rPr>
              <a:t>Monthly and Top-3 Chain NSV Sales Trend </a:t>
            </a:r>
          </a:p>
        </p:txBody>
      </p:sp>
      <p:sp>
        <p:nvSpPr>
          <p:cNvPr id="23" name="Shape 21"/>
          <p:cNvSpPr/>
          <p:nvPr/>
        </p:nvSpPr>
        <p:spPr>
          <a:xfrm flipV="1">
            <a:off x="329564" y="1863590"/>
            <a:ext cx="6908829" cy="9894"/>
          </a:xfrm>
          <a:prstGeom prst="line">
            <a:avLst/>
          </a:prstGeom>
          <a:noFill/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 dirty="0">
              <a:latin typeface="+mj-lt"/>
            </a:endParaRPr>
          </a:p>
        </p:txBody>
      </p:sp>
      <p:graphicFrame>
        <p:nvGraphicFramePr>
          <p:cNvPr id="24" name="Chart 0"/>
          <p:cNvGraphicFramePr/>
          <p:nvPr>
            <p:extLst>
              <p:ext uri="{D42A27DB-BD31-4B8C-83A1-F6EECF244321}">
                <p14:modId xmlns:p14="http://schemas.microsoft.com/office/powerpoint/2010/main" val="2065221601"/>
              </p:ext>
            </p:extLst>
          </p:nvPr>
        </p:nvGraphicFramePr>
        <p:xfrm>
          <a:off x="320040" y="1969505"/>
          <a:ext cx="3886200" cy="34427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8" name="Text 24"/>
          <p:cNvSpPr/>
          <p:nvPr/>
        </p:nvSpPr>
        <p:spPr>
          <a:xfrm>
            <a:off x="316865" y="5494159"/>
            <a:ext cx="6893433" cy="1336807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txBody>
          <a:bodyPr wrap="square" lIns="254" tIns="254" rIns="254" bIns="254" rtlCol="0" anchor="t">
            <a:normAutofit/>
          </a:bodyPr>
          <a:lstStyle/>
          <a:p>
            <a:pPr marL="171450" indent="-17145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May'26 Highest ever NSV offtake &amp; closed at Rs. </a:t>
            </a:r>
            <a:r>
              <a:rPr lang="en-US" sz="12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40.19 Cr </a:t>
            </a: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</a:t>
            </a:r>
            <a:r>
              <a:rPr lang="en-US" sz="12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63% YoY</a:t>
            </a: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2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25.8%</a:t>
            </a: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 L3M Avg, adding +1,554 Lacs YoY. </a:t>
            </a:r>
          </a:p>
          <a:p>
            <a:pPr marL="171450" indent="-17145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is broad based </a:t>
            </a:r>
            <a:r>
              <a:rPr lang="en-US" sz="12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</a:t>
            </a:r>
            <a:r>
              <a:rPr lang="en-US" sz="1200" b="1" dirty="0" err="1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</a:t>
            </a:r>
            <a:r>
              <a:rPr lang="en-US" sz="12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CAGR of 46.5% </a:t>
            </a: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this is not a low base artifact as </a:t>
            </a:r>
            <a:r>
              <a:rPr lang="en-US" sz="12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May'25 itself grew +31.7% YoY</a:t>
            </a: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12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171450" indent="-17145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200" b="1" dirty="0" err="1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</a:t>
            </a:r>
            <a:r>
              <a:rPr lang="en-US" sz="12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Reliance and Apollo delivered 81.1% of May'26 offtake</a:t>
            </a: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up from 77% 6 months ago. </a:t>
            </a:r>
          </a:p>
          <a:p>
            <a:pPr marL="171450" indent="-17145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remain the growth engines &amp; </a:t>
            </a:r>
            <a:r>
              <a:rPr lang="en-US" sz="120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</a:t>
            </a: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holds 70.6% portfolio share.</a:t>
            </a:r>
            <a:endParaRPr lang="en-US" sz="1200" dirty="0"/>
          </a:p>
        </p:txBody>
      </p:sp>
      <p:sp>
        <p:nvSpPr>
          <p:cNvPr id="34" name="Text 3"/>
          <p:cNvSpPr/>
          <p:nvPr/>
        </p:nvSpPr>
        <p:spPr>
          <a:xfrm>
            <a:off x="320037" y="6853636"/>
            <a:ext cx="6879816" cy="2242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5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/>
              </a:rPr>
              <a:t>Chain-wise Monthly Performance Snapshot</a:t>
            </a:r>
            <a:endParaRPr lang="en-US" sz="1080" b="1" dirty="0"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j-lt"/>
            </a:endParaRPr>
          </a:p>
        </p:txBody>
      </p:sp>
      <p:sp>
        <p:nvSpPr>
          <p:cNvPr id="35" name="Shape 4"/>
          <p:cNvSpPr/>
          <p:nvPr/>
        </p:nvSpPr>
        <p:spPr>
          <a:xfrm>
            <a:off x="3785686" y="9278795"/>
            <a:ext cx="2232000" cy="0"/>
          </a:xfrm>
          <a:prstGeom prst="line">
            <a:avLst/>
          </a:prstGeom>
          <a:ln w="12700">
            <a:solidFill>
              <a:schemeClr val="bg1"/>
            </a:solidFill>
            <a:prstDash val="solid"/>
          </a:ln>
        </p:spPr>
        <p:txBody>
          <a:bodyPr wrap="square" anchor="t">
            <a:normAutofit fontScale="25000" lnSpcReduction="20000"/>
          </a:bodyPr>
          <a:lstStyle/>
          <a:p>
            <a:endParaRPr lang="en-IN">
              <a:solidFill>
                <a:schemeClr val="bg1"/>
              </a:solidFill>
              <a:latin typeface="+mj-lt"/>
            </a:endParaRPr>
          </a:p>
        </p:txBody>
      </p:sp>
      <p:graphicFrame>
        <p:nvGraphicFramePr>
          <p:cNvPr id="162" name="Chart 0"/>
          <p:cNvGraphicFramePr/>
          <p:nvPr>
            <p:extLst>
              <p:ext uri="{D42A27DB-BD31-4B8C-83A1-F6EECF244321}">
                <p14:modId xmlns:p14="http://schemas.microsoft.com/office/powerpoint/2010/main" val="1419950149"/>
              </p:ext>
            </p:extLst>
          </p:nvPr>
        </p:nvGraphicFramePr>
        <p:xfrm>
          <a:off x="4343400" y="3888147"/>
          <a:ext cx="2820571" cy="15241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6B156FE4-172B-BA3D-9CDC-FAB8090CC183}"/>
              </a:ext>
            </a:extLst>
          </p:cNvPr>
          <p:cNvSpPr txBox="1"/>
          <p:nvPr/>
        </p:nvSpPr>
        <p:spPr>
          <a:xfrm>
            <a:off x="4315306" y="1576925"/>
            <a:ext cx="2894992" cy="29655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>
              <a:defRPr sz="1200" b="1">
                <a:solidFill>
                  <a:srgbClr val="1F5A85"/>
                </a:solidFill>
                <a:latin typeface="Calibri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algn="ctr"/>
            <a:r>
              <a:rPr lang="en-US" dirty="0"/>
              <a:t>May’26 Chain Sales Contribution % &amp; Sales</a:t>
            </a:r>
            <a:endParaRPr lang="en-IN" dirty="0"/>
          </a:p>
        </p:txBody>
      </p:sp>
      <p:graphicFrame>
        <p:nvGraphicFramePr>
          <p:cNvPr id="27" name="Chart 1">
            <a:extLst>
              <a:ext uri="{FF2B5EF4-FFF2-40B4-BE49-F238E27FC236}">
                <a16:creationId xmlns:a16="http://schemas.microsoft.com/office/drawing/2014/main" id="{4D338C2C-F060-A690-F2A5-A0B1ADED798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7664542"/>
              </p:ext>
            </p:extLst>
          </p:nvPr>
        </p:nvGraphicFramePr>
        <p:xfrm>
          <a:off x="4343400" y="1955311"/>
          <a:ext cx="2820571" cy="18689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1" name="Text 5">
            <a:extLst>
              <a:ext uri="{FF2B5EF4-FFF2-40B4-BE49-F238E27FC236}">
                <a16:creationId xmlns:a16="http://schemas.microsoft.com/office/drawing/2014/main" id="{6EEBAD4D-E994-6642-BFEF-9B00F3852BDA}"/>
              </a:ext>
            </a:extLst>
          </p:cNvPr>
          <p:cNvSpPr/>
          <p:nvPr/>
        </p:nvSpPr>
        <p:spPr>
          <a:xfrm>
            <a:off x="490121" y="1338679"/>
            <a:ext cx="1499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algn="ctr">
              <a:buNone/>
            </a:pPr>
            <a:r>
              <a:rPr lang="en-IN" sz="900" b="1" dirty="0">
                <a:solidFill>
                  <a:srgbClr val="176C5D"/>
                </a:solidFill>
                <a:latin typeface="Calibri"/>
              </a:rPr>
              <a:t>Highest-ever</a:t>
            </a:r>
            <a:r>
              <a:rPr lang="en-IN" sz="1100" b="1" dirty="0">
                <a:solidFill>
                  <a:srgbClr val="176C5D"/>
                </a:solidFill>
                <a:latin typeface="Calibri"/>
              </a:rPr>
              <a:t> NSV</a:t>
            </a:r>
            <a:endParaRPr lang="en-US" sz="1100" b="1" dirty="0">
              <a:solidFill>
                <a:srgbClr val="176C5D"/>
              </a:solidFill>
              <a:latin typeface="+mj-lt"/>
            </a:endParaRPr>
          </a:p>
        </p:txBody>
      </p:sp>
      <p:sp>
        <p:nvSpPr>
          <p:cNvPr id="157" name="Text 29">
            <a:extLst>
              <a:ext uri="{FF2B5EF4-FFF2-40B4-BE49-F238E27FC236}">
                <a16:creationId xmlns:a16="http://schemas.microsoft.com/office/drawing/2014/main" id="{98442E13-B18C-754F-25D8-06BBAE4BA342}"/>
              </a:ext>
            </a:extLst>
          </p:cNvPr>
          <p:cNvSpPr/>
          <p:nvPr/>
        </p:nvSpPr>
        <p:spPr>
          <a:xfrm>
            <a:off x="11982318" y="8910803"/>
            <a:ext cx="411120" cy="109440"/>
          </a:xfrm>
          <a:prstGeom prst="rect">
            <a:avLst/>
          </a:prstGeom>
          <a:noFill/>
          <a:ln w="0">
            <a:noFill/>
          </a:ln>
          <a:effectLst/>
        </p:spPr>
        <p:txBody>
          <a:bodyPr lIns="0" tIns="0" rIns="0" bIns="0" anchor="t">
            <a:no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680" b="0" i="0" u="none" strike="noStrike" kern="0" cap="none" spc="0" normalizeH="0" baseline="0" noProof="0">
                <a:ln>
                  <a:noFill/>
                </a:ln>
                <a:solidFill>
                  <a:srgbClr val="8C8C86"/>
                </a:solidFill>
                <a:effectLst/>
                <a:uLnTx/>
                <a:uFillTx/>
                <a:latin typeface="Calibri"/>
                <a:ea typeface="Aptos"/>
                <a:cs typeface="+mn-cs"/>
              </a:rPr>
              <a:t>04</a:t>
            </a:r>
            <a:endParaRPr kumimoji="0" lang="en-US" sz="680" b="0" i="0" u="none" strike="noStrike" kern="0" cap="none" spc="0" normalizeH="0" baseline="0" noProof="0">
              <a:ln>
                <a:noFill/>
              </a:ln>
              <a:solidFill>
                <a:srgbClr val="1A1F2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59E58AC1-33D2-CB7D-1A58-5B3335E7ED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4318543"/>
              </p:ext>
            </p:extLst>
          </p:nvPr>
        </p:nvGraphicFramePr>
        <p:xfrm>
          <a:off x="320040" y="7127525"/>
          <a:ext cx="6879813" cy="3453320"/>
        </p:xfrm>
        <a:graphic>
          <a:graphicData uri="http://schemas.openxmlformats.org/drawingml/2006/table">
            <a:tbl>
              <a:tblPr/>
              <a:tblGrid>
                <a:gridCol w="803482">
                  <a:extLst>
                    <a:ext uri="{9D8B030D-6E8A-4147-A177-3AD203B41FA5}">
                      <a16:colId xmlns:a16="http://schemas.microsoft.com/office/drawing/2014/main" val="1838313960"/>
                    </a:ext>
                  </a:extLst>
                </a:gridCol>
                <a:gridCol w="602611">
                  <a:extLst>
                    <a:ext uri="{9D8B030D-6E8A-4147-A177-3AD203B41FA5}">
                      <a16:colId xmlns:a16="http://schemas.microsoft.com/office/drawing/2014/main" val="250666695"/>
                    </a:ext>
                  </a:extLst>
                </a:gridCol>
                <a:gridCol w="535654">
                  <a:extLst>
                    <a:ext uri="{9D8B030D-6E8A-4147-A177-3AD203B41FA5}">
                      <a16:colId xmlns:a16="http://schemas.microsoft.com/office/drawing/2014/main" val="3063166510"/>
                    </a:ext>
                  </a:extLst>
                </a:gridCol>
                <a:gridCol w="552394">
                  <a:extLst>
                    <a:ext uri="{9D8B030D-6E8A-4147-A177-3AD203B41FA5}">
                      <a16:colId xmlns:a16="http://schemas.microsoft.com/office/drawing/2014/main" val="2768301204"/>
                    </a:ext>
                  </a:extLst>
                </a:gridCol>
                <a:gridCol w="585873">
                  <a:extLst>
                    <a:ext uri="{9D8B030D-6E8A-4147-A177-3AD203B41FA5}">
                      <a16:colId xmlns:a16="http://schemas.microsoft.com/office/drawing/2014/main" val="3413074066"/>
                    </a:ext>
                  </a:extLst>
                </a:gridCol>
                <a:gridCol w="552394">
                  <a:extLst>
                    <a:ext uri="{9D8B030D-6E8A-4147-A177-3AD203B41FA5}">
                      <a16:colId xmlns:a16="http://schemas.microsoft.com/office/drawing/2014/main" val="672052579"/>
                    </a:ext>
                  </a:extLst>
                </a:gridCol>
                <a:gridCol w="602611">
                  <a:extLst>
                    <a:ext uri="{9D8B030D-6E8A-4147-A177-3AD203B41FA5}">
                      <a16:colId xmlns:a16="http://schemas.microsoft.com/office/drawing/2014/main" val="2277892322"/>
                    </a:ext>
                  </a:extLst>
                </a:gridCol>
                <a:gridCol w="636090">
                  <a:extLst>
                    <a:ext uri="{9D8B030D-6E8A-4147-A177-3AD203B41FA5}">
                      <a16:colId xmlns:a16="http://schemas.microsoft.com/office/drawing/2014/main" val="1105121212"/>
                    </a:ext>
                  </a:extLst>
                </a:gridCol>
                <a:gridCol w="669568">
                  <a:extLst>
                    <a:ext uri="{9D8B030D-6E8A-4147-A177-3AD203B41FA5}">
                      <a16:colId xmlns:a16="http://schemas.microsoft.com/office/drawing/2014/main" val="1902174447"/>
                    </a:ext>
                  </a:extLst>
                </a:gridCol>
                <a:gridCol w="719786">
                  <a:extLst>
                    <a:ext uri="{9D8B030D-6E8A-4147-A177-3AD203B41FA5}">
                      <a16:colId xmlns:a16="http://schemas.microsoft.com/office/drawing/2014/main" val="1849337359"/>
                    </a:ext>
                  </a:extLst>
                </a:gridCol>
                <a:gridCol w="619350">
                  <a:extLst>
                    <a:ext uri="{9D8B030D-6E8A-4147-A177-3AD203B41FA5}">
                      <a16:colId xmlns:a16="http://schemas.microsoft.com/office/drawing/2014/main" val="2525690762"/>
                    </a:ext>
                  </a:extLst>
                </a:gridCol>
              </a:tblGrid>
              <a:tr h="144662">
                <a:tc rowSpan="2">
                  <a:txBody>
                    <a:bodyPr/>
                    <a:lstStyle/>
                    <a:p>
                      <a:pPr algn="l" rtl="0" fontAlgn="ctr"/>
                      <a:r>
                        <a:rPr lang="en-IN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Chain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May-25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Jan-26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Feb-26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Mar-26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Apr-26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May-26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Cont</a:t>
                      </a:r>
                      <a:r>
                        <a:rPr lang="en-IN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L3M </a:t>
                      </a:r>
                      <a:b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Avg(FMA)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GOLY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MOM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868616"/>
                  </a:ext>
                </a:extLst>
              </a:tr>
              <a:tr h="21205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4259251"/>
                  </a:ext>
                </a:extLst>
              </a:tr>
              <a:tr h="76668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Dmart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897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967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928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1,226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1,258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1,518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1,137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69%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21%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6645161"/>
                  </a:ext>
                </a:extLst>
              </a:tr>
              <a:tr h="16770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Reliance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715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757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805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868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990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810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39%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14%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5771512"/>
                  </a:ext>
                </a:extLst>
              </a:tr>
              <a:tr h="16770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Apollo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272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534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511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570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699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751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593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176%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7535608"/>
                  </a:ext>
                </a:extLst>
              </a:tr>
              <a:tr h="16770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Fsn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175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168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173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229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208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190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19%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00" b="1" kern="1200">
                          <a:solidFill>
                            <a:srgbClr val="D03A3A"/>
                          </a:solidFill>
                          <a:latin typeface="+mj-lt"/>
                          <a:ea typeface="+mn-ea"/>
                          <a:cs typeface="+mn-cs"/>
                        </a:rPr>
                        <a:t>▼ 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8465649"/>
                  </a:ext>
                </a:extLst>
              </a:tr>
              <a:tr h="16770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Wellness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86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86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110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102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19%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00" b="1" kern="1200" dirty="0">
                          <a:solidFill>
                            <a:srgbClr val="D03A3A"/>
                          </a:solidFill>
                          <a:latin typeface="+mj-lt"/>
                          <a:ea typeface="+mn-ea"/>
                          <a:cs typeface="+mn-cs"/>
                        </a:rPr>
                        <a:t>▼ 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0048331"/>
                  </a:ext>
                </a:extLst>
              </a:tr>
              <a:tr h="16770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H&amp;G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80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80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62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87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41%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5560831"/>
                  </a:ext>
                </a:extLst>
              </a:tr>
              <a:tr h="16770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Lulu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103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78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116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176%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15%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5815765"/>
                  </a:ext>
                </a:extLst>
              </a:tr>
              <a:tr h="16770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Metro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636295"/>
                  </a:ext>
                </a:extLst>
              </a:tr>
              <a:tr h="38037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Delhi RMT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IN" sz="1200" b="1" kern="1200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13%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00" b="1" kern="1200" dirty="0">
                          <a:solidFill>
                            <a:srgbClr val="D03A3A"/>
                          </a:solidFill>
                          <a:latin typeface="+mj-lt"/>
                          <a:ea typeface="+mn-ea"/>
                          <a:cs typeface="+mn-cs"/>
                        </a:rPr>
                        <a:t>▼ 20%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6748315"/>
                  </a:ext>
                </a:extLst>
              </a:tr>
              <a:tr h="250616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More Retail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IN" sz="1200" b="1" kern="1200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117%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IN" sz="1200" b="1" kern="1200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24%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3244793"/>
                  </a:ext>
                </a:extLst>
              </a:tr>
              <a:tr h="25244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Walmart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00" b="1" kern="1200" dirty="0">
                          <a:solidFill>
                            <a:srgbClr val="D03A3A"/>
                          </a:solidFill>
                          <a:latin typeface="+mj-lt"/>
                          <a:ea typeface="+mn-ea"/>
                          <a:cs typeface="+mn-cs"/>
                        </a:rPr>
                        <a:t>▼ 37%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00" b="1" kern="1200" dirty="0">
                          <a:solidFill>
                            <a:srgbClr val="D03A3A"/>
                          </a:solidFill>
                          <a:latin typeface="+mj-lt"/>
                          <a:ea typeface="+mn-ea"/>
                          <a:cs typeface="+mn-cs"/>
                        </a:rPr>
                        <a:t>▼ 56%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2912943"/>
                  </a:ext>
                </a:extLst>
              </a:tr>
              <a:tr h="16770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Spencer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00" b="1" kern="1200" dirty="0">
                          <a:solidFill>
                            <a:srgbClr val="D03A3A"/>
                          </a:solidFill>
                          <a:latin typeface="+mj-lt"/>
                          <a:ea typeface="+mn-ea"/>
                          <a:cs typeface="+mn-cs"/>
                        </a:rPr>
                        <a:t>▼ 63%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00" b="1" kern="1200" dirty="0">
                          <a:solidFill>
                            <a:srgbClr val="D03A3A"/>
                          </a:solidFill>
                          <a:latin typeface="+mj-lt"/>
                          <a:ea typeface="+mn-ea"/>
                          <a:cs typeface="+mn-cs"/>
                        </a:rPr>
                        <a:t>▼ 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6556967"/>
                  </a:ext>
                </a:extLst>
              </a:tr>
              <a:tr h="16770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Vmm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IN" sz="1200" b="1" kern="1200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138%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IN" sz="1200" b="1" kern="1200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13%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9715363"/>
                  </a:ext>
                </a:extLst>
              </a:tr>
              <a:tr h="282922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Others Combined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IN" sz="1200" b="1" kern="120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97%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00" b="1" kern="1200" dirty="0">
                          <a:solidFill>
                            <a:srgbClr val="D03A3A"/>
                          </a:solidFill>
                          <a:latin typeface="+mj-lt"/>
                          <a:ea typeface="+mn-ea"/>
                          <a:cs typeface="+mn-cs"/>
                        </a:rPr>
                        <a:t>▼ 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4421406"/>
                  </a:ext>
                </a:extLst>
              </a:tr>
              <a:tr h="250616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 Channel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2488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3075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2795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3273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3589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4019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3195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▲ 62%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▲ 12%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2042144"/>
                  </a:ext>
                </a:extLst>
              </a:tr>
            </a:tbl>
          </a:graphicData>
        </a:graphic>
      </p:graphicFrame>
      <p:sp>
        <p:nvSpPr>
          <p:cNvPr id="212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1 / 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20040" y="329184"/>
            <a:ext cx="6903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dirty="0">
                <a:solidFill>
                  <a:srgbClr val="D8E6F2"/>
                </a:solidFill>
                <a:latin typeface="Calibri"/>
              </a:rPr>
              <a:t>Portfolio growth drivers and contribution view</a:t>
            </a:r>
            <a:endParaRPr lang="en-US" sz="650" dirty="0">
              <a:latin typeface="+mj-lt"/>
            </a:endParaRPr>
          </a:p>
        </p:txBody>
      </p:sp>
      <p:sp>
        <p:nvSpPr>
          <p:cNvPr id="121" name="Shape 3"/>
          <p:cNvSpPr/>
          <p:nvPr/>
        </p:nvSpPr>
        <p:spPr>
          <a:xfrm>
            <a:off x="222330" y="3344609"/>
            <a:ext cx="7134838" cy="291392"/>
          </a:xfrm>
          <a:prstGeom prst="rect">
            <a:avLst/>
          </a:prstGeom>
          <a:solidFill>
            <a:srgbClr val="2D9B7F"/>
          </a:solidFill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sp>
        <p:nvSpPr>
          <p:cNvPr id="122" name="Text 4"/>
          <p:cNvSpPr/>
          <p:nvPr/>
        </p:nvSpPr>
        <p:spPr>
          <a:xfrm>
            <a:off x="358354" y="3447979"/>
            <a:ext cx="671971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/>
              </a:rPr>
              <a:t>Overall | Mamaearth — Top 3 Sub-category Monthly Trend (NSV)</a:t>
            </a:r>
            <a:endParaRPr lang="en-US" sz="1600" dirty="0">
              <a:latin typeface="+mj-lt"/>
            </a:endParaRPr>
          </a:p>
        </p:txBody>
      </p:sp>
      <p:sp>
        <p:nvSpPr>
          <p:cNvPr id="123" name="Text 5"/>
          <p:cNvSpPr/>
          <p:nvPr/>
        </p:nvSpPr>
        <p:spPr>
          <a:xfrm>
            <a:off x="746952" y="3757079"/>
            <a:ext cx="563590" cy="19771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1100" b="1" dirty="0">
              <a:latin typeface="+mj-lt"/>
            </a:endParaRPr>
          </a:p>
        </p:txBody>
      </p:sp>
      <p:sp>
        <p:nvSpPr>
          <p:cNvPr id="124" name="Text 6"/>
          <p:cNvSpPr/>
          <p:nvPr/>
        </p:nvSpPr>
        <p:spPr>
          <a:xfrm>
            <a:off x="1310541" y="3737538"/>
            <a:ext cx="584737" cy="21725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08A3D"/>
                </a:solidFill>
                <a:latin typeface="Calibri"/>
              </a:rPr>
              <a:t>GOLY </a:t>
            </a:r>
          </a:p>
          <a:p>
            <a:pPr marL="0" indent="0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▲29%</a:t>
            </a:r>
            <a:endParaRPr lang="en-US" sz="900" b="1" dirty="0">
              <a:latin typeface="+mj-lt"/>
            </a:endParaRPr>
          </a:p>
        </p:txBody>
      </p:sp>
      <p:sp>
        <p:nvSpPr>
          <p:cNvPr id="125" name="Text 7"/>
          <p:cNvSpPr/>
          <p:nvPr/>
        </p:nvSpPr>
        <p:spPr>
          <a:xfrm>
            <a:off x="1793618" y="3741302"/>
            <a:ext cx="429221" cy="20361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 11%</a:t>
            </a:r>
            <a:endParaRPr lang="en-US" sz="900" b="1" dirty="0">
              <a:latin typeface="+mj-lt"/>
            </a:endParaRPr>
          </a:p>
        </p:txBody>
      </p:sp>
      <p:graphicFrame>
        <p:nvGraphicFramePr>
          <p:cNvPr id="127" name="Chart 0"/>
          <p:cNvGraphicFramePr/>
          <p:nvPr>
            <p:extLst>
              <p:ext uri="{D42A27DB-BD31-4B8C-83A1-F6EECF244321}">
                <p14:modId xmlns:p14="http://schemas.microsoft.com/office/powerpoint/2010/main" val="2150354223"/>
              </p:ext>
            </p:extLst>
          </p:nvPr>
        </p:nvGraphicFramePr>
        <p:xfrm>
          <a:off x="210851" y="3703011"/>
          <a:ext cx="2323982" cy="13651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8" name="Text 9"/>
          <p:cNvSpPr/>
          <p:nvPr/>
        </p:nvSpPr>
        <p:spPr>
          <a:xfrm>
            <a:off x="2893646" y="3749587"/>
            <a:ext cx="781916" cy="1976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Shampoo</a:t>
            </a:r>
            <a:endParaRPr lang="en-US" sz="900" b="1" dirty="0">
              <a:latin typeface="+mj-lt"/>
            </a:endParaRPr>
          </a:p>
        </p:txBody>
      </p:sp>
      <p:sp>
        <p:nvSpPr>
          <p:cNvPr id="129" name="Text 10"/>
          <p:cNvSpPr/>
          <p:nvPr/>
        </p:nvSpPr>
        <p:spPr>
          <a:xfrm>
            <a:off x="3517968" y="3757079"/>
            <a:ext cx="631660" cy="1921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GOLY ▲ 53%</a:t>
            </a:r>
            <a:endParaRPr lang="en-US" sz="900" b="1" dirty="0">
              <a:latin typeface="+mj-lt"/>
            </a:endParaRPr>
          </a:p>
        </p:txBody>
      </p:sp>
      <p:sp>
        <p:nvSpPr>
          <p:cNvPr id="130" name="Text 11"/>
          <p:cNvSpPr/>
          <p:nvPr/>
        </p:nvSpPr>
        <p:spPr>
          <a:xfrm>
            <a:off x="4305437" y="3741022"/>
            <a:ext cx="429635" cy="230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 10%</a:t>
            </a:r>
            <a:endParaRPr lang="en-US" sz="900" b="1" dirty="0">
              <a:latin typeface="+mj-lt"/>
            </a:endParaRPr>
          </a:p>
        </p:txBody>
      </p:sp>
      <p:graphicFrame>
        <p:nvGraphicFramePr>
          <p:cNvPr id="132" name="Chart 1"/>
          <p:cNvGraphicFramePr/>
          <p:nvPr>
            <p:extLst>
              <p:ext uri="{D42A27DB-BD31-4B8C-83A1-F6EECF244321}">
                <p14:modId xmlns:p14="http://schemas.microsoft.com/office/powerpoint/2010/main" val="2651253694"/>
              </p:ext>
            </p:extLst>
          </p:nvPr>
        </p:nvGraphicFramePr>
        <p:xfrm>
          <a:off x="2672857" y="3707938"/>
          <a:ext cx="2323982" cy="13749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3" name="Text 13"/>
          <p:cNvSpPr/>
          <p:nvPr/>
        </p:nvSpPr>
        <p:spPr>
          <a:xfrm>
            <a:off x="5486475" y="3767568"/>
            <a:ext cx="727073" cy="237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Sun Care</a:t>
            </a:r>
            <a:endParaRPr lang="en-US" sz="900" b="1" dirty="0">
              <a:latin typeface="+mj-lt"/>
            </a:endParaRPr>
          </a:p>
        </p:txBody>
      </p:sp>
      <p:sp>
        <p:nvSpPr>
          <p:cNvPr id="134" name="Text 14"/>
          <p:cNvSpPr/>
          <p:nvPr/>
        </p:nvSpPr>
        <p:spPr>
          <a:xfrm>
            <a:off x="6076907" y="3771849"/>
            <a:ext cx="727073" cy="2115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08A3D"/>
                </a:solidFill>
                <a:latin typeface="Calibri"/>
              </a:rPr>
              <a:t>GOLY </a:t>
            </a:r>
          </a:p>
          <a:p>
            <a:pPr marL="0" indent="0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 67%</a:t>
            </a:r>
            <a:endParaRPr lang="en-US" sz="900" b="1" dirty="0">
              <a:latin typeface="+mj-lt"/>
            </a:endParaRPr>
          </a:p>
        </p:txBody>
      </p:sp>
      <p:sp>
        <p:nvSpPr>
          <p:cNvPr id="135" name="Text 15"/>
          <p:cNvSpPr/>
          <p:nvPr/>
        </p:nvSpPr>
        <p:spPr>
          <a:xfrm>
            <a:off x="6571329" y="3778708"/>
            <a:ext cx="727073" cy="2115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D03A3A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 dirty="0">
                <a:solidFill>
                  <a:srgbClr val="C00000"/>
                </a:solidFill>
                <a:latin typeface="Calibri"/>
              </a:rPr>
              <a:t>▼ 3%</a:t>
            </a:r>
            <a:endParaRPr lang="en-US" sz="900" b="1" dirty="0">
              <a:latin typeface="+mj-lt"/>
            </a:endParaRPr>
          </a:p>
        </p:txBody>
      </p:sp>
      <p:graphicFrame>
        <p:nvGraphicFramePr>
          <p:cNvPr id="137" name="Chart 2"/>
          <p:cNvGraphicFramePr/>
          <p:nvPr>
            <p:extLst>
              <p:ext uri="{D42A27DB-BD31-4B8C-83A1-F6EECF244321}">
                <p14:modId xmlns:p14="http://schemas.microsoft.com/office/powerpoint/2010/main" val="1233770975"/>
              </p:ext>
            </p:extLst>
          </p:nvPr>
        </p:nvGraphicFramePr>
        <p:xfrm>
          <a:off x="5118084" y="3683583"/>
          <a:ext cx="2268449" cy="13857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8" name="Shape 17"/>
          <p:cNvSpPr/>
          <p:nvPr/>
        </p:nvSpPr>
        <p:spPr>
          <a:xfrm>
            <a:off x="201322" y="5760752"/>
            <a:ext cx="7117927" cy="317201"/>
          </a:xfrm>
          <a:prstGeom prst="rect">
            <a:avLst/>
          </a:prstGeom>
          <a:solidFill>
            <a:srgbClr val="2D9B7F"/>
          </a:solidFill>
          <a:ln w="12700">
            <a:solidFill>
              <a:schemeClr val="tx1"/>
            </a:solidFill>
            <a:prstDash val="solid"/>
          </a:ln>
        </p:spPr>
        <p:txBody>
          <a:bodyPr anchor="t"/>
          <a:lstStyle/>
          <a:p>
            <a:r>
              <a:rPr lang="en-US" sz="1600" b="1" dirty="0">
                <a:solidFill>
                  <a:srgbClr val="FFFFFF"/>
                </a:solidFill>
                <a:latin typeface="Calibri"/>
              </a:rPr>
              <a:t>Overall | The Derma Co. — Top 3 Sub-category Monthly Trend (NSV)</a:t>
            </a:r>
            <a:endParaRPr lang="en-IN" sz="1600" dirty="0">
              <a:latin typeface="+mj-lt"/>
            </a:endParaRPr>
          </a:p>
        </p:txBody>
      </p:sp>
      <p:graphicFrame>
        <p:nvGraphicFramePr>
          <p:cNvPr id="144" name="Chart 3"/>
          <p:cNvGraphicFramePr/>
          <p:nvPr>
            <p:extLst>
              <p:ext uri="{D42A27DB-BD31-4B8C-83A1-F6EECF244321}">
                <p14:modId xmlns:p14="http://schemas.microsoft.com/office/powerpoint/2010/main" val="2955252500"/>
              </p:ext>
            </p:extLst>
          </p:nvPr>
        </p:nvGraphicFramePr>
        <p:xfrm>
          <a:off x="215343" y="6089741"/>
          <a:ext cx="2323808" cy="13684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49" name="Chart 4"/>
          <p:cNvGraphicFramePr/>
          <p:nvPr>
            <p:extLst>
              <p:ext uri="{D42A27DB-BD31-4B8C-83A1-F6EECF244321}">
                <p14:modId xmlns:p14="http://schemas.microsoft.com/office/powerpoint/2010/main" val="688849826"/>
              </p:ext>
            </p:extLst>
          </p:nvPr>
        </p:nvGraphicFramePr>
        <p:xfrm>
          <a:off x="2658102" y="6107760"/>
          <a:ext cx="2354473" cy="13684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54" name="Chart 5"/>
          <p:cNvGraphicFramePr/>
          <p:nvPr>
            <p:extLst>
              <p:ext uri="{D42A27DB-BD31-4B8C-83A1-F6EECF244321}">
                <p14:modId xmlns:p14="http://schemas.microsoft.com/office/powerpoint/2010/main" val="3438448836"/>
              </p:ext>
            </p:extLst>
          </p:nvPr>
        </p:nvGraphicFramePr>
        <p:xfrm>
          <a:off x="5110835" y="6112627"/>
          <a:ext cx="2218791" cy="13684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181" name="Text 5">
            <a:extLst>
              <a:ext uri="{FF2B5EF4-FFF2-40B4-BE49-F238E27FC236}">
                <a16:creationId xmlns:a16="http://schemas.microsoft.com/office/drawing/2014/main" id="{573815EF-2900-A007-314E-40A00F1BF0E4}"/>
              </a:ext>
            </a:extLst>
          </p:cNvPr>
          <p:cNvSpPr/>
          <p:nvPr/>
        </p:nvSpPr>
        <p:spPr>
          <a:xfrm>
            <a:off x="547229" y="6193741"/>
            <a:ext cx="638856" cy="25237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1400" b="1" dirty="0">
              <a:latin typeface="+mj-lt"/>
            </a:endParaRPr>
          </a:p>
        </p:txBody>
      </p:sp>
      <p:sp>
        <p:nvSpPr>
          <p:cNvPr id="182" name="Text 6">
            <a:extLst>
              <a:ext uri="{FF2B5EF4-FFF2-40B4-BE49-F238E27FC236}">
                <a16:creationId xmlns:a16="http://schemas.microsoft.com/office/drawing/2014/main" id="{B8CC834D-A1C0-16B8-D31E-8DF1A466C48C}"/>
              </a:ext>
            </a:extLst>
          </p:cNvPr>
          <p:cNvSpPr/>
          <p:nvPr/>
        </p:nvSpPr>
        <p:spPr>
          <a:xfrm>
            <a:off x="1076354" y="6197429"/>
            <a:ext cx="638856" cy="2110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800" b="1" dirty="0">
                <a:solidFill>
                  <a:srgbClr val="008A3D"/>
                </a:solidFill>
                <a:latin typeface="Calibri"/>
              </a:rPr>
              <a:t>GOLY ▲ 1166%</a:t>
            </a:r>
            <a:endParaRPr lang="en-US" sz="800" b="1" dirty="0">
              <a:latin typeface="+mj-lt"/>
            </a:endParaRPr>
          </a:p>
        </p:txBody>
      </p:sp>
      <p:sp>
        <p:nvSpPr>
          <p:cNvPr id="183" name="Text 7">
            <a:extLst>
              <a:ext uri="{FF2B5EF4-FFF2-40B4-BE49-F238E27FC236}">
                <a16:creationId xmlns:a16="http://schemas.microsoft.com/office/drawing/2014/main" id="{4ED6EDAE-5A2F-8C7E-D267-522D20C6C37E}"/>
              </a:ext>
            </a:extLst>
          </p:cNvPr>
          <p:cNvSpPr/>
          <p:nvPr/>
        </p:nvSpPr>
        <p:spPr>
          <a:xfrm>
            <a:off x="1787285" y="6185199"/>
            <a:ext cx="468946" cy="1977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800" b="1" dirty="0">
                <a:solidFill>
                  <a:srgbClr val="008A3D"/>
                </a:solidFill>
                <a:latin typeface="Calibri"/>
              </a:rPr>
              <a:t>MoM ▲ 38%</a:t>
            </a:r>
            <a:endParaRPr lang="en-US" sz="800" b="1" dirty="0">
              <a:latin typeface="+mj-lt"/>
            </a:endParaRPr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1F24257-30D4-F248-BEAF-DBFBE20CBC3A}"/>
              </a:ext>
            </a:extLst>
          </p:cNvPr>
          <p:cNvSpPr/>
          <p:nvPr/>
        </p:nvSpPr>
        <p:spPr>
          <a:xfrm>
            <a:off x="-9525" y="2478"/>
            <a:ext cx="7562849" cy="478448"/>
          </a:xfrm>
          <a:prstGeom prst="rect">
            <a:avLst/>
          </a:prstGeom>
          <a:solidFill>
            <a:srgbClr val="2D9B7F"/>
          </a:solidFill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</a:rPr>
              <a:t>Brand &amp; Category Segment Deep-Dive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D8E6F2"/>
                </a:solidFill>
                <a:latin typeface="Calibri"/>
              </a:rPr>
              <a:t>Portfolio growth drivers and contribution view</a:t>
            </a:r>
            <a:endParaRPr lang="en-US" sz="3600" dirty="0">
              <a:latin typeface="+mj-lt"/>
            </a:endParaRPr>
          </a:p>
        </p:txBody>
      </p:sp>
      <p:pic>
        <p:nvPicPr>
          <p:cNvPr id="1026" name="Picture 2" descr="A white and orange tube with white text  AI-generated content may be incorrect.">
            <a:extLst>
              <a:ext uri="{FF2B5EF4-FFF2-40B4-BE49-F238E27FC236}">
                <a16:creationId xmlns:a16="http://schemas.microsoft.com/office/drawing/2014/main" id="{BEBA9504-2B9F-2470-AAE9-2FFBDC6118C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48" r="23559"/>
          <a:stretch/>
        </p:blipFill>
        <p:spPr bwMode="auto">
          <a:xfrm>
            <a:off x="2705919" y="6160704"/>
            <a:ext cx="212290" cy="408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12530F3C-DA5C-5821-322F-8F9430995E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096" y="6191803"/>
            <a:ext cx="170596" cy="361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hape 21">
            <a:extLst>
              <a:ext uri="{FF2B5EF4-FFF2-40B4-BE49-F238E27FC236}">
                <a16:creationId xmlns:a16="http://schemas.microsoft.com/office/drawing/2014/main" id="{A263EF77-1531-A74F-2720-119E0ADC41D3}"/>
              </a:ext>
            </a:extLst>
          </p:cNvPr>
          <p:cNvSpPr/>
          <p:nvPr/>
        </p:nvSpPr>
        <p:spPr>
          <a:xfrm>
            <a:off x="222330" y="5164954"/>
            <a:ext cx="7091574" cy="531272"/>
          </a:xfrm>
          <a:prstGeom prst="roundRect">
            <a:avLst>
              <a:gd name="adj" fmla="val 3226"/>
            </a:avLst>
          </a:prstGeom>
          <a:solidFill>
            <a:srgbClr val="FFF6E0"/>
          </a:solidFill>
          <a:ln/>
        </p:spPr>
        <p:txBody>
          <a:bodyPr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SKU note: </a:t>
            </a:r>
            <a:r>
              <a:rPr lang="en-US" sz="800" dirty="0">
                <a:latin typeface="Calibri"/>
              </a:rPr>
              <a:t>Rice Dewy Bright Face Wash variants from </a:t>
            </a:r>
            <a:r>
              <a:rPr lang="en-US" sz="800" dirty="0" err="1">
                <a:latin typeface="Calibri"/>
              </a:rPr>
              <a:t>Mamaearth</a:t>
            </a:r>
            <a:r>
              <a:rPr lang="en-US" sz="800" dirty="0">
                <a:latin typeface="Calibri"/>
              </a:rPr>
              <a:t> lead the Face Wash portfolio with NSV of ₹5.40 Cr.</a:t>
            </a:r>
          </a:p>
          <a:p>
            <a:r>
              <a:rPr lang="en-US" sz="800" dirty="0">
                <a:latin typeface="Calibri"/>
              </a:rPr>
              <a:t>Onion Shampoo variants from </a:t>
            </a:r>
            <a:r>
              <a:rPr lang="en-US" sz="800" dirty="0" err="1">
                <a:latin typeface="Calibri"/>
              </a:rPr>
              <a:t>Mamaearth</a:t>
            </a:r>
            <a:r>
              <a:rPr lang="en-US" sz="800" dirty="0">
                <a:latin typeface="Calibri"/>
              </a:rPr>
              <a:t> lead the Shampoo portfolio with NSV of ₹4.56 Cr.</a:t>
            </a:r>
            <a:endParaRPr lang="en-US" sz="800" dirty="0">
              <a:solidFill>
                <a:srgbClr val="2626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15000"/>
              </a:lnSpc>
            </a:pPr>
            <a:r>
              <a:rPr lang="en-US" sz="800" dirty="0">
                <a:latin typeface="Calibri"/>
              </a:rPr>
              <a:t>Ultra Light Sunscreen from </a:t>
            </a:r>
            <a:r>
              <a:rPr lang="en-US" sz="800" dirty="0" err="1">
                <a:latin typeface="Calibri"/>
              </a:rPr>
              <a:t>Mamaearth</a:t>
            </a:r>
            <a:r>
              <a:rPr lang="en-US" sz="800" dirty="0">
                <a:latin typeface="Calibri"/>
              </a:rPr>
              <a:t> leads the Suncare portfolio with NSV of ₹1.62 Cr. 2</a:t>
            </a:r>
          </a:p>
          <a:p>
            <a:endParaRPr lang="en-IN" sz="800" dirty="0"/>
          </a:p>
        </p:txBody>
      </p:sp>
      <p:sp>
        <p:nvSpPr>
          <p:cNvPr id="9" name="Shape 21">
            <a:extLst>
              <a:ext uri="{FF2B5EF4-FFF2-40B4-BE49-F238E27FC236}">
                <a16:creationId xmlns:a16="http://schemas.microsoft.com/office/drawing/2014/main" id="{7D2BC999-FEEF-16FE-42C3-05699746AAC4}"/>
              </a:ext>
            </a:extLst>
          </p:cNvPr>
          <p:cNvSpPr/>
          <p:nvPr/>
        </p:nvSpPr>
        <p:spPr>
          <a:xfrm>
            <a:off x="227675" y="7524842"/>
            <a:ext cx="7101951" cy="490510"/>
          </a:xfrm>
          <a:prstGeom prst="roundRect">
            <a:avLst>
              <a:gd name="adj" fmla="val 3226"/>
            </a:avLst>
          </a:prstGeom>
          <a:solidFill>
            <a:srgbClr val="FFF6E0"/>
          </a:solidFill>
          <a:ln/>
        </p:spPr>
        <p:txBody>
          <a:bodyPr anchor="t"/>
          <a:lstStyle/>
          <a:p>
            <a:endParaRPr lang="en-IN" dirty="0"/>
          </a:p>
        </p:txBody>
      </p:sp>
      <p:sp>
        <p:nvSpPr>
          <p:cNvPr id="10" name="Text 22">
            <a:extLst>
              <a:ext uri="{FF2B5EF4-FFF2-40B4-BE49-F238E27FC236}">
                <a16:creationId xmlns:a16="http://schemas.microsoft.com/office/drawing/2014/main" id="{8B84603B-62AF-1A90-CB4A-FDDD812008BB}"/>
              </a:ext>
            </a:extLst>
          </p:cNvPr>
          <p:cNvSpPr/>
          <p:nvPr/>
        </p:nvSpPr>
        <p:spPr>
          <a:xfrm>
            <a:off x="234663" y="7557942"/>
            <a:ext cx="7101951" cy="534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SKU note: </a:t>
            </a:r>
            <a:r>
              <a:rPr lang="en-US" sz="900" dirty="0">
                <a:latin typeface="Calibri"/>
              </a:rPr>
              <a:t>1% Salicylic FW follows with NSV of ₹285 Lacs., contribute 6.4% of May’26 NSV within 1 year of launch	.</a:t>
            </a:r>
            <a:endParaRPr lang="en-US" sz="900" dirty="0">
              <a:solidFill>
                <a:srgbClr val="2626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15000"/>
              </a:lnSpc>
            </a:pPr>
            <a:r>
              <a:rPr lang="en-US" sz="900" dirty="0">
                <a:latin typeface="Calibri"/>
              </a:rPr>
              <a:t>Hyaluronic Acid leads the pack and contributes 96% of total Suncare sales, with NSV of ₹411 Lacs.</a:t>
            </a:r>
            <a:endParaRPr lang="en-IN" sz="900" dirty="0">
              <a:solidFill>
                <a:srgbClr val="2626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900" dirty="0">
                <a:latin typeface="Calibri"/>
              </a:rPr>
              <a:t>5% Niacinamide Serum leads with NSV of ₹28 Lacs, followed by Vitamin C Serum at ₹23 Lacs.</a:t>
            </a:r>
            <a:r>
              <a:rPr lang="en-US" sz="9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lnSpc>
                <a:spcPct val="115000"/>
              </a:lnSpc>
              <a:buNone/>
            </a:pPr>
            <a:endParaRPr lang="en-US" sz="9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F494E4-7AF4-BACF-7B7D-D4CC530B66A3}"/>
              </a:ext>
            </a:extLst>
          </p:cNvPr>
          <p:cNvSpPr txBox="1"/>
          <p:nvPr/>
        </p:nvSpPr>
        <p:spPr>
          <a:xfrm>
            <a:off x="200735" y="8084035"/>
            <a:ext cx="7097667" cy="215444"/>
          </a:xfrm>
          <a:prstGeom prst="rect">
            <a:avLst/>
          </a:prstGeom>
          <a:solidFill>
            <a:srgbClr val="2D9B7F"/>
          </a:solidFill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chemeClr val="bg1"/>
                </a:solidFill>
                <a:latin typeface="Calibri"/>
              </a:rPr>
              <a:t>VOLUME VS. VALUE DECOMPOSITION — MAY'26 VS MAY'25</a:t>
            </a:r>
            <a:endParaRPr sz="1200" b="1" i="0" dirty="0">
              <a:solidFill>
                <a:schemeClr val="bg1"/>
              </a:solidFill>
              <a:latin typeface="Calibri"/>
            </a:endParaRPr>
          </a:p>
        </p:txBody>
      </p:sp>
      <p:pic>
        <p:nvPicPr>
          <p:cNvPr id="11" name="Picture 10" descr="A bottle of rice face wash  Description automatically generated">
            <a:extLst>
              <a:ext uri="{FF2B5EF4-FFF2-40B4-BE49-F238E27FC236}">
                <a16:creationId xmlns:a16="http://schemas.microsoft.com/office/drawing/2014/main" id="{9C671B61-DB31-0587-EDD3-C43226FF5A35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27809" t="6059" r="29332" b="4208"/>
          <a:stretch/>
        </p:blipFill>
        <p:spPr>
          <a:xfrm>
            <a:off x="320040" y="3777030"/>
            <a:ext cx="172162" cy="355054"/>
          </a:xfrm>
          <a:prstGeom prst="rect">
            <a:avLst/>
          </a:prstGeom>
        </p:spPr>
      </p:pic>
      <p:pic>
        <p:nvPicPr>
          <p:cNvPr id="13" name="Picture 12" descr="A yellow bottle of sunscreen  Description automatically generated">
            <a:extLst>
              <a:ext uri="{FF2B5EF4-FFF2-40B4-BE49-F238E27FC236}">
                <a16:creationId xmlns:a16="http://schemas.microsoft.com/office/drawing/2014/main" id="{428F7BD9-F94D-E689-E889-BB0445012F6E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32069" t="9042" r="31762" b="9272"/>
          <a:stretch/>
        </p:blipFill>
        <p:spPr>
          <a:xfrm>
            <a:off x="5248859" y="3777030"/>
            <a:ext cx="146146" cy="330068"/>
          </a:xfrm>
          <a:prstGeom prst="rect">
            <a:avLst/>
          </a:prstGeom>
        </p:spPr>
      </p:pic>
      <p:pic>
        <p:nvPicPr>
          <p:cNvPr id="14" name="Google Shape;1518;p235" descr="A purple bottle with a dropper next to a box  AI-generated content may be incorrect.">
            <a:extLst>
              <a:ext uri="{FF2B5EF4-FFF2-40B4-BE49-F238E27FC236}">
                <a16:creationId xmlns:a16="http://schemas.microsoft.com/office/drawing/2014/main" id="{69A52EB1-ABE9-6C46-A7E5-35B36BFF983D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5154431" y="6181264"/>
            <a:ext cx="221578" cy="387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396;p227" descr="A white bottle with a label on it  Description automatically generated">
            <a:extLst>
              <a:ext uri="{FF2B5EF4-FFF2-40B4-BE49-F238E27FC236}">
                <a16:creationId xmlns:a16="http://schemas.microsoft.com/office/drawing/2014/main" id="{03495C88-1D2A-861C-04CC-A94B48070B17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 l="19608" b="483"/>
          <a:stretch/>
        </p:blipFill>
        <p:spPr>
          <a:xfrm>
            <a:off x="2705178" y="3764389"/>
            <a:ext cx="181821" cy="38669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748C78F8-7256-D531-06D7-F8E7EEBA1D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6371957"/>
              </p:ext>
            </p:extLst>
          </p:nvPr>
        </p:nvGraphicFramePr>
        <p:xfrm>
          <a:off x="182540" y="8390919"/>
          <a:ext cx="7105485" cy="1093408"/>
        </p:xfrm>
        <a:graphic>
          <a:graphicData uri="http://schemas.openxmlformats.org/drawingml/2006/table">
            <a:tbl>
              <a:tblPr/>
              <a:tblGrid>
                <a:gridCol w="772746">
                  <a:extLst>
                    <a:ext uri="{9D8B030D-6E8A-4147-A177-3AD203B41FA5}">
                      <a16:colId xmlns:a16="http://schemas.microsoft.com/office/drawing/2014/main" val="778345302"/>
                    </a:ext>
                  </a:extLst>
                </a:gridCol>
                <a:gridCol w="904677">
                  <a:extLst>
                    <a:ext uri="{9D8B030D-6E8A-4147-A177-3AD203B41FA5}">
                      <a16:colId xmlns:a16="http://schemas.microsoft.com/office/drawing/2014/main" val="1652700246"/>
                    </a:ext>
                  </a:extLst>
                </a:gridCol>
                <a:gridCol w="904677">
                  <a:extLst>
                    <a:ext uri="{9D8B030D-6E8A-4147-A177-3AD203B41FA5}">
                      <a16:colId xmlns:a16="http://schemas.microsoft.com/office/drawing/2014/main" val="554711202"/>
                    </a:ext>
                  </a:extLst>
                </a:gridCol>
                <a:gridCol w="904677">
                  <a:extLst>
                    <a:ext uri="{9D8B030D-6E8A-4147-A177-3AD203B41FA5}">
                      <a16:colId xmlns:a16="http://schemas.microsoft.com/office/drawing/2014/main" val="464365253"/>
                    </a:ext>
                  </a:extLst>
                </a:gridCol>
                <a:gridCol w="904677">
                  <a:extLst>
                    <a:ext uri="{9D8B030D-6E8A-4147-A177-3AD203B41FA5}">
                      <a16:colId xmlns:a16="http://schemas.microsoft.com/office/drawing/2014/main" val="1348325996"/>
                    </a:ext>
                  </a:extLst>
                </a:gridCol>
                <a:gridCol w="904677">
                  <a:extLst>
                    <a:ext uri="{9D8B030D-6E8A-4147-A177-3AD203B41FA5}">
                      <a16:colId xmlns:a16="http://schemas.microsoft.com/office/drawing/2014/main" val="4191564383"/>
                    </a:ext>
                  </a:extLst>
                </a:gridCol>
                <a:gridCol w="904677">
                  <a:extLst>
                    <a:ext uri="{9D8B030D-6E8A-4147-A177-3AD203B41FA5}">
                      <a16:colId xmlns:a16="http://schemas.microsoft.com/office/drawing/2014/main" val="2820173786"/>
                    </a:ext>
                  </a:extLst>
                </a:gridCol>
                <a:gridCol w="904677">
                  <a:extLst>
                    <a:ext uri="{9D8B030D-6E8A-4147-A177-3AD203B41FA5}">
                      <a16:colId xmlns:a16="http://schemas.microsoft.com/office/drawing/2014/main" val="3633227043"/>
                    </a:ext>
                  </a:extLst>
                </a:gridCol>
              </a:tblGrid>
              <a:tr h="189124"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Mamaearth</a:t>
                      </a:r>
                      <a:endParaRPr lang="en-IN" sz="10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6341585"/>
                  </a:ext>
                </a:extLst>
              </a:tr>
              <a:tr h="313237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Sub Cat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Qty </a:t>
                      </a:r>
                      <a:b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May-25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Qty </a:t>
                      </a:r>
                      <a:b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May-26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Qty </a:t>
                      </a:r>
                      <a:b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GOLY%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NSV </a:t>
                      </a:r>
                      <a:b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May-25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NSV </a:t>
                      </a:r>
                      <a:b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May-26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NSV </a:t>
                      </a:r>
                      <a:b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GOLY%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ASP </a:t>
                      </a:r>
                      <a:b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GOLY%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5346606"/>
                  </a:ext>
                </a:extLst>
              </a:tr>
              <a:tr h="239753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Face Cleanser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6,23,925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7,85,723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▲ 26%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865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1,120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100" b="1" kern="1200" dirty="0">
                          <a:solidFill>
                            <a:srgbClr val="008A3D"/>
                          </a:solidFill>
                          <a:latin typeface="+mj-lt"/>
                          <a:ea typeface="+mn-ea"/>
                          <a:cs typeface="+mn-cs"/>
                        </a:rPr>
                        <a:t>▲ 30%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100" b="1" kern="1200" dirty="0">
                          <a:solidFill>
                            <a:srgbClr val="008A3D"/>
                          </a:solidFill>
                          <a:latin typeface="+mj-lt"/>
                          <a:ea typeface="+mn-ea"/>
                          <a:cs typeface="+mn-cs"/>
                        </a:rPr>
                        <a:t>▲ 3%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4849942"/>
                  </a:ext>
                </a:extLst>
              </a:tr>
              <a:tr h="171394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Shampoo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2,75,067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3,57,736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▲ 30%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516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789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100" b="1" kern="1200" dirty="0">
                          <a:solidFill>
                            <a:srgbClr val="008A3D"/>
                          </a:solidFill>
                          <a:latin typeface="+mj-lt"/>
                          <a:ea typeface="+mn-ea"/>
                          <a:cs typeface="+mn-cs"/>
                        </a:rPr>
                        <a:t>▲ 53%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100" b="1" kern="1200" dirty="0">
                          <a:solidFill>
                            <a:srgbClr val="008A3D"/>
                          </a:solidFill>
                          <a:latin typeface="+mj-lt"/>
                          <a:ea typeface="+mn-ea"/>
                          <a:cs typeface="+mn-cs"/>
                        </a:rPr>
                        <a:t>▲ 18%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8823973"/>
                  </a:ext>
                </a:extLst>
              </a:tr>
              <a:tr h="177304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Sun Care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1,12,028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1,67,158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▲ 49%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211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353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100" b="1" kern="1200" dirty="0">
                          <a:solidFill>
                            <a:srgbClr val="008A3D"/>
                          </a:solidFill>
                          <a:latin typeface="+mj-lt"/>
                          <a:ea typeface="+mn-ea"/>
                          <a:cs typeface="+mn-cs"/>
                        </a:rPr>
                        <a:t>▲ 67%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100" b="1" kern="1200" dirty="0">
                          <a:solidFill>
                            <a:srgbClr val="008A3D"/>
                          </a:solidFill>
                          <a:latin typeface="+mj-lt"/>
                          <a:ea typeface="+mn-ea"/>
                          <a:cs typeface="+mn-cs"/>
                        </a:rPr>
                        <a:t>▲ 12%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3179601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D7581020-ECB9-622E-A63B-C206AEA971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8895920"/>
              </p:ext>
            </p:extLst>
          </p:nvPr>
        </p:nvGraphicFramePr>
        <p:xfrm>
          <a:off x="158540" y="9604799"/>
          <a:ext cx="7162797" cy="984250"/>
        </p:xfrm>
        <a:graphic>
          <a:graphicData uri="http://schemas.openxmlformats.org/drawingml/2006/table">
            <a:tbl>
              <a:tblPr/>
              <a:tblGrid>
                <a:gridCol w="778979">
                  <a:extLst>
                    <a:ext uri="{9D8B030D-6E8A-4147-A177-3AD203B41FA5}">
                      <a16:colId xmlns:a16="http://schemas.microsoft.com/office/drawing/2014/main" val="1879853503"/>
                    </a:ext>
                  </a:extLst>
                </a:gridCol>
                <a:gridCol w="911974">
                  <a:extLst>
                    <a:ext uri="{9D8B030D-6E8A-4147-A177-3AD203B41FA5}">
                      <a16:colId xmlns:a16="http://schemas.microsoft.com/office/drawing/2014/main" val="2316742566"/>
                    </a:ext>
                  </a:extLst>
                </a:gridCol>
                <a:gridCol w="911974">
                  <a:extLst>
                    <a:ext uri="{9D8B030D-6E8A-4147-A177-3AD203B41FA5}">
                      <a16:colId xmlns:a16="http://schemas.microsoft.com/office/drawing/2014/main" val="3208734033"/>
                    </a:ext>
                  </a:extLst>
                </a:gridCol>
                <a:gridCol w="911974">
                  <a:extLst>
                    <a:ext uri="{9D8B030D-6E8A-4147-A177-3AD203B41FA5}">
                      <a16:colId xmlns:a16="http://schemas.microsoft.com/office/drawing/2014/main" val="2367184648"/>
                    </a:ext>
                  </a:extLst>
                </a:gridCol>
                <a:gridCol w="911974">
                  <a:extLst>
                    <a:ext uri="{9D8B030D-6E8A-4147-A177-3AD203B41FA5}">
                      <a16:colId xmlns:a16="http://schemas.microsoft.com/office/drawing/2014/main" val="3296042857"/>
                    </a:ext>
                  </a:extLst>
                </a:gridCol>
                <a:gridCol w="911974">
                  <a:extLst>
                    <a:ext uri="{9D8B030D-6E8A-4147-A177-3AD203B41FA5}">
                      <a16:colId xmlns:a16="http://schemas.microsoft.com/office/drawing/2014/main" val="2794637982"/>
                    </a:ext>
                  </a:extLst>
                </a:gridCol>
                <a:gridCol w="911974">
                  <a:extLst>
                    <a:ext uri="{9D8B030D-6E8A-4147-A177-3AD203B41FA5}">
                      <a16:colId xmlns:a16="http://schemas.microsoft.com/office/drawing/2014/main" val="2151274359"/>
                    </a:ext>
                  </a:extLst>
                </a:gridCol>
                <a:gridCol w="911974">
                  <a:extLst>
                    <a:ext uri="{9D8B030D-6E8A-4147-A177-3AD203B41FA5}">
                      <a16:colId xmlns:a16="http://schemas.microsoft.com/office/drawing/2014/main" val="1193925391"/>
                    </a:ext>
                  </a:extLst>
                </a:gridCol>
              </a:tblGrid>
              <a:tr h="155673"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The Derma co.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0276058"/>
                  </a:ext>
                </a:extLst>
              </a:tr>
              <a:tr h="305118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Sub Cat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Qty </a:t>
                      </a:r>
                      <a:b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May-25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Qty </a:t>
                      </a:r>
                      <a:b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May-26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Qty </a:t>
                      </a:r>
                      <a:b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GOLY%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NSV </a:t>
                      </a:r>
                      <a:b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May-25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NSV </a:t>
                      </a:r>
                      <a:b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May-26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NSV </a:t>
                      </a:r>
                      <a:b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GOLY%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ASP </a:t>
                      </a:r>
                      <a:b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GOLY%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386649"/>
                  </a:ext>
                </a:extLst>
              </a:tr>
              <a:tr h="172258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Face Cleanser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22,592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4,28,182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▲ 1795%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44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557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50" b="1" kern="1200" dirty="0">
                          <a:solidFill>
                            <a:srgbClr val="008A3D"/>
                          </a:solidFill>
                          <a:latin typeface="+mj-lt"/>
                          <a:ea typeface="+mn-ea"/>
                          <a:cs typeface="+mn-cs"/>
                        </a:rPr>
                        <a:t>▲ 1164%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100" b="1" kern="1200" dirty="0">
                          <a:solidFill>
                            <a:srgbClr val="D03A3A"/>
                          </a:solidFill>
                          <a:latin typeface="+mj-lt"/>
                          <a:ea typeface="+mn-ea"/>
                          <a:cs typeface="+mn-cs"/>
                        </a:rPr>
                        <a:t>▼ 33%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0274450"/>
                  </a:ext>
                </a:extLst>
              </a:tr>
              <a:tr h="155673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Sun Care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29,103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1,62,541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▲ 459%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94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429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50" b="1" kern="1200" dirty="0">
                          <a:solidFill>
                            <a:srgbClr val="008A3D"/>
                          </a:solidFill>
                          <a:latin typeface="+mj-lt"/>
                          <a:ea typeface="+mn-ea"/>
                          <a:cs typeface="+mn-cs"/>
                        </a:rPr>
                        <a:t>▲ 357%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100" b="1" kern="1200" dirty="0">
                          <a:solidFill>
                            <a:srgbClr val="D03A3A"/>
                          </a:solidFill>
                          <a:latin typeface="+mj-lt"/>
                          <a:ea typeface="+mn-ea"/>
                          <a:cs typeface="+mn-cs"/>
                        </a:rPr>
                        <a:t>▼ 18%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8851478"/>
                  </a:ext>
                </a:extLst>
              </a:tr>
              <a:tr h="155673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Shampoo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22,124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30,097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▲ 36%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63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92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50" b="1" kern="1200" dirty="0">
                          <a:solidFill>
                            <a:srgbClr val="008A3D"/>
                          </a:solidFill>
                          <a:latin typeface="+mj-lt"/>
                          <a:ea typeface="+mn-ea"/>
                          <a:cs typeface="+mn-cs"/>
                        </a:rPr>
                        <a:t>▲ 46%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50" b="1" kern="1200" dirty="0">
                          <a:solidFill>
                            <a:srgbClr val="008A3D"/>
                          </a:solidFill>
                          <a:latin typeface="+mj-lt"/>
                          <a:ea typeface="+mn-ea"/>
                          <a:cs typeface="+mn-cs"/>
                        </a:rPr>
                        <a:t>▲ 7%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5721357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B79E92E9-62D0-7467-97E8-BE362246B2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5218215"/>
              </p:ext>
            </p:extLst>
          </p:nvPr>
        </p:nvGraphicFramePr>
        <p:xfrm>
          <a:off x="183651" y="572366"/>
          <a:ext cx="7164935" cy="1627184"/>
        </p:xfrm>
        <a:graphic>
          <a:graphicData uri="http://schemas.openxmlformats.org/drawingml/2006/table">
            <a:tbl>
              <a:tblPr/>
              <a:tblGrid>
                <a:gridCol w="1148808">
                  <a:extLst>
                    <a:ext uri="{9D8B030D-6E8A-4147-A177-3AD203B41FA5}">
                      <a16:colId xmlns:a16="http://schemas.microsoft.com/office/drawing/2014/main" val="3848970531"/>
                    </a:ext>
                  </a:extLst>
                </a:gridCol>
                <a:gridCol w="604636">
                  <a:extLst>
                    <a:ext uri="{9D8B030D-6E8A-4147-A177-3AD203B41FA5}">
                      <a16:colId xmlns:a16="http://schemas.microsoft.com/office/drawing/2014/main" val="1522408997"/>
                    </a:ext>
                  </a:extLst>
                </a:gridCol>
                <a:gridCol w="589520">
                  <a:extLst>
                    <a:ext uri="{9D8B030D-6E8A-4147-A177-3AD203B41FA5}">
                      <a16:colId xmlns:a16="http://schemas.microsoft.com/office/drawing/2014/main" val="226368320"/>
                    </a:ext>
                  </a:extLst>
                </a:gridCol>
                <a:gridCol w="589520">
                  <a:extLst>
                    <a:ext uri="{9D8B030D-6E8A-4147-A177-3AD203B41FA5}">
                      <a16:colId xmlns:a16="http://schemas.microsoft.com/office/drawing/2014/main" val="828023372"/>
                    </a:ext>
                  </a:extLst>
                </a:gridCol>
                <a:gridCol w="589520">
                  <a:extLst>
                    <a:ext uri="{9D8B030D-6E8A-4147-A177-3AD203B41FA5}">
                      <a16:colId xmlns:a16="http://schemas.microsoft.com/office/drawing/2014/main" val="3845673820"/>
                    </a:ext>
                  </a:extLst>
                </a:gridCol>
                <a:gridCol w="574404">
                  <a:extLst>
                    <a:ext uri="{9D8B030D-6E8A-4147-A177-3AD203B41FA5}">
                      <a16:colId xmlns:a16="http://schemas.microsoft.com/office/drawing/2014/main" val="4180414308"/>
                    </a:ext>
                  </a:extLst>
                </a:gridCol>
                <a:gridCol w="604636">
                  <a:extLst>
                    <a:ext uri="{9D8B030D-6E8A-4147-A177-3AD203B41FA5}">
                      <a16:colId xmlns:a16="http://schemas.microsoft.com/office/drawing/2014/main" val="3702109773"/>
                    </a:ext>
                  </a:extLst>
                </a:gridCol>
                <a:gridCol w="695331">
                  <a:extLst>
                    <a:ext uri="{9D8B030D-6E8A-4147-A177-3AD203B41FA5}">
                      <a16:colId xmlns:a16="http://schemas.microsoft.com/office/drawing/2014/main" val="3174125610"/>
                    </a:ext>
                  </a:extLst>
                </a:gridCol>
                <a:gridCol w="483709">
                  <a:extLst>
                    <a:ext uri="{9D8B030D-6E8A-4147-A177-3AD203B41FA5}">
                      <a16:colId xmlns:a16="http://schemas.microsoft.com/office/drawing/2014/main" val="3399407347"/>
                    </a:ext>
                  </a:extLst>
                </a:gridCol>
                <a:gridCol w="604636">
                  <a:extLst>
                    <a:ext uri="{9D8B030D-6E8A-4147-A177-3AD203B41FA5}">
                      <a16:colId xmlns:a16="http://schemas.microsoft.com/office/drawing/2014/main" val="443509617"/>
                    </a:ext>
                  </a:extLst>
                </a:gridCol>
                <a:gridCol w="680215">
                  <a:extLst>
                    <a:ext uri="{9D8B030D-6E8A-4147-A177-3AD203B41FA5}">
                      <a16:colId xmlns:a16="http://schemas.microsoft.com/office/drawing/2014/main" val="2768538990"/>
                    </a:ext>
                  </a:extLst>
                </a:gridCol>
              </a:tblGrid>
              <a:tr h="4447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Brand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May-25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Jan-26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Feb-26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Mar-26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Apr-26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May-26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Cont%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L3M </a:t>
                      </a:r>
                      <a:b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</a:br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Avg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GO </a:t>
                      </a:r>
                      <a:br>
                        <a:rPr lang="en-IN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</a:br>
                      <a:r>
                        <a:rPr lang="en-IN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L3M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GOLY </a:t>
                      </a:r>
                      <a:b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</a:br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May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96166"/>
                  </a:ext>
                </a:extLst>
              </a:tr>
              <a:tr h="226982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Mamaearth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2,168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2,438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2,188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2,477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2,653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2,836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71%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2,436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B0604020202020204" pitchFamily="34" charset="0"/>
                        </a:rPr>
                        <a:t>▲ 16%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B0604020202020204" pitchFamily="34" charset="0"/>
                        </a:rPr>
                        <a:t>▲ 30%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1819567"/>
                  </a:ext>
                </a:extLst>
              </a:tr>
              <a:tr h="238858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The Derma Co.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218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543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513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686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856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1,100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27%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685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B0604020202020204" pitchFamily="34" charset="0"/>
                        </a:rPr>
                        <a:t>▲ 61%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B0604020202020204" pitchFamily="34" charset="0"/>
                        </a:rPr>
                        <a:t>▲ 405%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9768965"/>
                  </a:ext>
                </a:extLst>
              </a:tr>
              <a:tr h="238858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Aqualogica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63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46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45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59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66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71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57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B0604020202020204" pitchFamily="34" charset="0"/>
                        </a:rPr>
                        <a:t>▲ 25%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B0604020202020204" pitchFamily="34" charset="0"/>
                        </a:rPr>
                        <a:t>▲ 13%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5411830"/>
                  </a:ext>
                </a:extLst>
              </a:tr>
              <a:tr h="238858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Emerging Brands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 14%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 33%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9677323"/>
                  </a:ext>
                </a:extLst>
              </a:tr>
              <a:tr h="238858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Portfolio Total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2,466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3,039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2,761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3,234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3,589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4,019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100%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3,195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▲ 26%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▲ 63%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5860741"/>
                  </a:ext>
                </a:extLst>
              </a:tr>
            </a:tbl>
          </a:graphicData>
        </a:graphic>
      </p:graphicFrame>
      <p:sp>
        <p:nvSpPr>
          <p:cNvPr id="20" name="Shape 21">
            <a:extLst>
              <a:ext uri="{FF2B5EF4-FFF2-40B4-BE49-F238E27FC236}">
                <a16:creationId xmlns:a16="http://schemas.microsoft.com/office/drawing/2014/main" id="{5B7DF914-149A-FC9E-7E02-630EAAC9B064}"/>
              </a:ext>
            </a:extLst>
          </p:cNvPr>
          <p:cNvSpPr/>
          <p:nvPr/>
        </p:nvSpPr>
        <p:spPr>
          <a:xfrm>
            <a:off x="208385" y="2216475"/>
            <a:ext cx="7140201" cy="1031161"/>
          </a:xfrm>
          <a:prstGeom prst="roundRect">
            <a:avLst>
              <a:gd name="adj" fmla="val 3226"/>
            </a:avLst>
          </a:prstGeom>
          <a:solidFill>
            <a:srgbClr val="FFF6E0"/>
          </a:solidFill>
          <a:ln/>
        </p:spPr>
        <p:txBody>
          <a:bodyPr anchor="t"/>
          <a:lstStyle/>
          <a:p>
            <a:r>
              <a:rPr lang="en-US" sz="1200" b="1" dirty="0">
                <a:effectLst/>
                <a:latin typeface="Calibri"/>
                <a:ea typeface="Arial MT"/>
                <a:cs typeface="Calibri"/>
              </a:rPr>
              <a:t>Strategic</a:t>
            </a:r>
            <a:r>
              <a:rPr lang="en-US" sz="1200" b="1" spc="-25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1200" b="1" dirty="0">
                <a:effectLst/>
                <a:latin typeface="Calibri"/>
                <a:ea typeface="Arial MT"/>
                <a:cs typeface="Calibri"/>
              </a:rPr>
              <a:t>Brand</a:t>
            </a:r>
            <a:r>
              <a:rPr lang="en-US" sz="1200" b="1" spc="-25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1200" b="1" dirty="0">
                <a:effectLst/>
                <a:latin typeface="Calibri"/>
                <a:ea typeface="Arial MT"/>
                <a:cs typeface="Calibri"/>
              </a:rPr>
              <a:t>Portfolio</a:t>
            </a:r>
          </a:p>
          <a:p>
            <a:endParaRPr lang="en-US" sz="1000" b="1" dirty="0">
              <a:solidFill>
                <a:srgbClr val="1F7A3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000" b="1" dirty="0" err="1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</a:t>
            </a:r>
            <a:r>
              <a:rPr lang="en-US" sz="10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remains the portfolio Leader at 70.6% share, growing a steady +30% YoY. </a:t>
            </a:r>
          </a:p>
          <a:p>
            <a:r>
              <a:rPr lang="en-US" sz="10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</a:t>
            </a: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fastest scaling brand now 27.4% of NSV vs single digits a </a:t>
            </a:r>
            <a:r>
              <a:rPr lang="en-US" sz="1000" dirty="0" err="1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</a:t>
            </a: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ago, on a genuinely low FY25 base.</a:t>
            </a:r>
          </a:p>
          <a:p>
            <a:r>
              <a:rPr lang="en-US" sz="1000" b="1" dirty="0" err="1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Aqualogica</a:t>
            </a:r>
            <a:r>
              <a:rPr lang="en-US" sz="10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continues to show positive structural growth, with ▲13% YoY, ▲7% MoM, and ▲25% vs L3M average. However, its current contribution remains relatively small, so it is not yet materially influencing the overall portfolio trajectory.</a:t>
            </a:r>
            <a:endParaRPr lang="en-IN" sz="1000" dirty="0">
              <a:effectLst/>
              <a:latin typeface="+mj-lt"/>
              <a:ea typeface="Arial MT"/>
              <a:cs typeface="Calibri"/>
            </a:endParaRPr>
          </a:p>
        </p:txBody>
      </p:sp>
      <p:sp>
        <p:nvSpPr>
          <p:cNvPr id="1078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2 /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502920"/>
          </a:xfrm>
          <a:prstGeom prst="rect">
            <a:avLst/>
          </a:prstGeom>
          <a:solidFill>
            <a:srgbClr val="2D9B7F"/>
          </a:solidFill>
          <a:ln w="12700">
            <a:solidFill>
              <a:srgbClr val="0B1F3A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6903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</a:rPr>
              <a:t>Zone Performance Summary</a:t>
            </a:r>
            <a:endParaRPr lang="en-US" sz="1300" dirty="0">
              <a:latin typeface="+mj-lt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0040" y="329184"/>
            <a:ext cx="6903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dirty="0">
                <a:solidFill>
                  <a:srgbClr val="D8E6F2"/>
                </a:solidFill>
                <a:latin typeface="Calibri"/>
              </a:rPr>
              <a:t>Zone share, May’26 NSV and growth view</a:t>
            </a:r>
            <a:endParaRPr lang="en-US" sz="650" dirty="0">
              <a:latin typeface="+mj-lt"/>
            </a:endParaRPr>
          </a:p>
        </p:txBody>
      </p:sp>
      <p:sp>
        <p:nvSpPr>
          <p:cNvPr id="5" name="Text 3"/>
          <p:cNvSpPr/>
          <p:nvPr/>
        </p:nvSpPr>
        <p:spPr>
          <a:xfrm>
            <a:off x="320040" y="536126"/>
            <a:ext cx="6903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5A85"/>
                </a:solidFill>
                <a:latin typeface="Calibri"/>
              </a:rPr>
              <a:t>Zone May’26 NSV and Share</a:t>
            </a:r>
            <a:endParaRPr lang="en-US" sz="1600" dirty="0">
              <a:latin typeface="+mj-lt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20040" y="758951"/>
            <a:ext cx="6903720" cy="0"/>
          </a:xfrm>
          <a:prstGeom prst="line">
            <a:avLst/>
          </a:prstGeom>
          <a:noFill/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1276853806"/>
              </p:ext>
            </p:extLst>
          </p:nvPr>
        </p:nvGraphicFramePr>
        <p:xfrm>
          <a:off x="320040" y="823920"/>
          <a:ext cx="34560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1"/>
          <p:cNvGraphicFramePr/>
          <p:nvPr>
            <p:extLst>
              <p:ext uri="{D42A27DB-BD31-4B8C-83A1-F6EECF244321}">
                <p14:modId xmlns:p14="http://schemas.microsoft.com/office/powerpoint/2010/main" val="282652588"/>
              </p:ext>
            </p:extLst>
          </p:nvPr>
        </p:nvGraphicFramePr>
        <p:xfrm>
          <a:off x="3911760" y="850392"/>
          <a:ext cx="3312000" cy="226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5"/>
          <p:cNvSpPr/>
          <p:nvPr/>
        </p:nvSpPr>
        <p:spPr>
          <a:xfrm>
            <a:off x="320040" y="3144576"/>
            <a:ext cx="6922770" cy="256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F5A85"/>
                </a:solidFill>
                <a:latin typeface="Calibri"/>
              </a:rPr>
              <a:t>Zone Summary</a:t>
            </a:r>
            <a:endParaRPr lang="en-US" dirty="0">
              <a:latin typeface="+mj-lt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320040" y="3418895"/>
            <a:ext cx="6903720" cy="0"/>
          </a:xfrm>
          <a:prstGeom prst="line">
            <a:avLst/>
          </a:prstGeom>
          <a:noFill/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sp>
        <p:nvSpPr>
          <p:cNvPr id="69" name="Text 65"/>
          <p:cNvSpPr/>
          <p:nvPr/>
        </p:nvSpPr>
        <p:spPr>
          <a:xfrm>
            <a:off x="329184" y="5389561"/>
            <a:ext cx="6903719" cy="516379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254" tIns="254" rIns="254" bIns="254" numCol="1" spcCol="720000" rtlCol="0" anchor="t">
            <a:noAutofit/>
          </a:bodyPr>
          <a:lstStyle/>
          <a:p>
            <a:r>
              <a:rPr lang="en-US" sz="1600" b="1" dirty="0">
                <a:solidFill>
                  <a:srgbClr val="1E7461"/>
                </a:solidFill>
                <a:latin typeface="Calibri"/>
              </a:rPr>
              <a:t>Zone Insights | May’26</a:t>
            </a:r>
            <a:endParaRPr lang="en-US" dirty="0">
              <a:solidFill>
                <a:srgbClr val="1E746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>
                <a:latin typeface="Calibri"/>
              </a:rPr>
              <a:t>West remained the largest zone</a:t>
            </a:r>
            <a:r>
              <a:rPr lang="en-US" sz="1400" dirty="0">
                <a:latin typeface="Calibri"/>
              </a:rPr>
              <a:t> with NSV of </a:t>
            </a:r>
            <a:r>
              <a:rPr lang="en-US" sz="1400" b="1" dirty="0">
                <a:latin typeface="Calibri"/>
              </a:rPr>
              <a:t>₹1,017 Lacs</a:t>
            </a:r>
            <a:r>
              <a:rPr lang="en-US" sz="1400" dirty="0">
                <a:latin typeface="Calibri"/>
              </a:rPr>
              <a:t>, contributing </a:t>
            </a:r>
            <a:r>
              <a:rPr lang="en-US" sz="1400" b="1" dirty="0">
                <a:latin typeface="Calibri"/>
              </a:rPr>
              <a:t>25.3%</a:t>
            </a:r>
            <a:r>
              <a:rPr lang="en-US" sz="1400" dirty="0">
                <a:latin typeface="Calibri"/>
              </a:rPr>
              <a:t> to overall MT offtake.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>
                <a:latin typeface="Calibri"/>
              </a:rPr>
              <a:t>North and South-1 emerged as the next key growth bases</a:t>
            </a:r>
            <a:r>
              <a:rPr lang="en-US" sz="1400" dirty="0">
                <a:latin typeface="Calibri"/>
              </a:rPr>
              <a:t>, strengthening the national growth mix beyond West.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>
                <a:latin typeface="Calibri"/>
              </a:rPr>
              <a:t>South-1 delivered the strongest YoY growth at </a:t>
            </a:r>
            <a:r>
              <a:rPr lang="en-US" sz="1400" dirty="0">
                <a:solidFill>
                  <a:srgbClr val="008A3D"/>
                </a:solidFill>
                <a:latin typeface="Calibri"/>
              </a:rPr>
              <a:t>▲84%, </a:t>
            </a:r>
            <a:r>
              <a:rPr lang="en-US" sz="1400" dirty="0">
                <a:latin typeface="Calibri"/>
              </a:rPr>
              <a:t>indicating strong scale-up momentum in the region.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 err="1">
                <a:latin typeface="Calibri"/>
              </a:rPr>
              <a:t>Dmart</a:t>
            </a:r>
            <a:r>
              <a:rPr lang="en-US" sz="1400" b="1" dirty="0">
                <a:latin typeface="Calibri"/>
              </a:rPr>
              <a:t> is the #1 chain in 3 out of 5 zones</a:t>
            </a:r>
            <a:r>
              <a:rPr lang="en-US" sz="1400" dirty="0">
                <a:latin typeface="Calibri"/>
              </a:rPr>
              <a:t>: North, South-2 and West. This confirms </a:t>
            </a:r>
            <a:r>
              <a:rPr lang="en-US" sz="1400" dirty="0" err="1">
                <a:latin typeface="Calibri"/>
              </a:rPr>
              <a:t>Dmart</a:t>
            </a:r>
            <a:r>
              <a:rPr lang="en-US" sz="1400" dirty="0">
                <a:latin typeface="Calibri"/>
              </a:rPr>
              <a:t> as a national growth engine, not limited to one zone.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>
                <a:latin typeface="Calibri"/>
              </a:rPr>
              <a:t>Apollo leads South-1 and ranks #2/#3 in three other zones</a:t>
            </a:r>
            <a:r>
              <a:rPr lang="en-US" sz="1400" dirty="0">
                <a:latin typeface="Calibri"/>
              </a:rPr>
              <a:t>, showing repeatable pharmacy-channel momentum across regions, largely driven by </a:t>
            </a:r>
            <a:r>
              <a:rPr lang="en-US" sz="1400" b="1" dirty="0">
                <a:latin typeface="Calibri"/>
              </a:rPr>
              <a:t>The Derma Co.</a:t>
            </a:r>
            <a:endParaRPr lang="en-US" sz="1400" dirty="0"/>
          </a:p>
          <a:p>
            <a:endParaRPr lang="en-US" sz="1400" b="1" dirty="0"/>
          </a:p>
          <a:p>
            <a:endParaRPr lang="en-US" sz="1400" b="1" dirty="0"/>
          </a:p>
          <a:p>
            <a:r>
              <a:rPr lang="en-US" sz="1600" b="1" dirty="0">
                <a:solidFill>
                  <a:srgbClr val="1E7461"/>
                </a:solidFill>
                <a:latin typeface="Calibri"/>
              </a:rPr>
              <a:t>Brand &amp; Category Repeats Across </a:t>
            </a:r>
            <a:r>
              <a:rPr lang="en-US" b="1" dirty="0">
                <a:solidFill>
                  <a:schemeClr val="bg1"/>
                </a:solidFill>
                <a:latin typeface="Calibri"/>
              </a:rPr>
              <a:t>Zones</a:t>
            </a:r>
            <a:endParaRPr lang="en-US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>
                <a:latin typeface="Calibri"/>
              </a:rPr>
              <a:t>The Derma Co. achieved its highest-ever monthly NSV of ₹1,100 Lacs</a:t>
            </a:r>
            <a:r>
              <a:rPr lang="en-US" sz="1400" dirty="0">
                <a:latin typeface="Calibri"/>
              </a:rPr>
              <a:t>, contributing </a:t>
            </a:r>
            <a:r>
              <a:rPr lang="en-US" sz="1400" b="1" dirty="0">
                <a:latin typeface="Calibri"/>
              </a:rPr>
              <a:t>27.4%</a:t>
            </a:r>
            <a:r>
              <a:rPr lang="en-US" sz="1400" dirty="0">
                <a:latin typeface="Calibri"/>
              </a:rPr>
              <a:t> to the portfolio. The brand grew </a:t>
            </a:r>
            <a:r>
              <a:rPr lang="en-US" sz="1400" dirty="0">
                <a:solidFill>
                  <a:srgbClr val="008A3D"/>
                </a:solidFill>
                <a:latin typeface="Calibri"/>
              </a:rPr>
              <a:t>▲404% </a:t>
            </a:r>
            <a:r>
              <a:rPr lang="en-US" sz="1400" b="1" dirty="0">
                <a:latin typeface="Calibri"/>
              </a:rPr>
              <a:t>YoY</a:t>
            </a:r>
            <a:r>
              <a:rPr lang="en-US" sz="1400" dirty="0">
                <a:latin typeface="Calibri"/>
              </a:rPr>
              <a:t>, making it the fastest-scaling growth engine in the portfolio.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>
                <a:latin typeface="Calibri"/>
              </a:rPr>
              <a:t>Face Cleanser and Sun Care remained the top 2 growth drivers for The Derma Co. in 5 out of 6 zones</a:t>
            </a:r>
            <a:r>
              <a:rPr lang="en-US" sz="1400" dirty="0">
                <a:latin typeface="Calibri"/>
              </a:rPr>
              <a:t>, making them the clearest scale-up levers. </a:t>
            </a:r>
            <a:r>
              <a:rPr lang="en-US" sz="1400" dirty="0">
                <a:solidFill>
                  <a:srgbClr val="404040"/>
                </a:solidFill>
                <a:latin typeface="Calibri"/>
              </a:rPr>
              <a:t>FSN is the only chain growing materially slower than the network (+18.9% YoY).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 err="1">
                <a:latin typeface="Calibri"/>
              </a:rPr>
              <a:t>Mamaearth</a:t>
            </a:r>
            <a:r>
              <a:rPr lang="en-US" sz="1400" b="1" dirty="0">
                <a:latin typeface="Calibri"/>
              </a:rPr>
              <a:t> Face Cleanser and Shampoo ranked as the #1/#2 sub-categories by value across every zone</a:t>
            </a:r>
            <a:r>
              <a:rPr lang="en-US" sz="1400" dirty="0">
                <a:latin typeface="Calibri"/>
              </a:rPr>
              <a:t>, confirming their role as stable national anchors.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>
                <a:latin typeface="Calibri"/>
              </a:rPr>
              <a:t>Sun Care emerged as the fastest seasonal mover across zones</a:t>
            </a:r>
            <a:r>
              <a:rPr lang="en-US" sz="1400" dirty="0">
                <a:latin typeface="Calibri"/>
              </a:rPr>
              <a:t>, supported by strong summer-led demand and visibility execution.</a:t>
            </a:r>
          </a:p>
        </p:txBody>
      </p:sp>
      <p:sp>
        <p:nvSpPr>
          <p:cNvPr id="68" name="Shape 64"/>
          <p:cNvSpPr/>
          <p:nvPr/>
        </p:nvSpPr>
        <p:spPr>
          <a:xfrm>
            <a:off x="320039" y="5591911"/>
            <a:ext cx="6903720" cy="0"/>
          </a:xfrm>
          <a:prstGeom prst="line">
            <a:avLst/>
          </a:prstGeom>
          <a:noFill/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 sz="3600">
              <a:latin typeface="+mj-lt"/>
            </a:endParaRPr>
          </a:p>
        </p:txBody>
      </p:sp>
      <p:graphicFrame>
        <p:nvGraphicFramePr>
          <p:cNvPr id="240" name="Table 239">
            <a:extLst>
              <a:ext uri="{FF2B5EF4-FFF2-40B4-BE49-F238E27FC236}">
                <a16:creationId xmlns:a16="http://schemas.microsoft.com/office/drawing/2014/main" id="{22C0EF99-FAAB-CACA-AEC1-CA5D7B9E08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2543092"/>
              </p:ext>
            </p:extLst>
          </p:nvPr>
        </p:nvGraphicFramePr>
        <p:xfrm>
          <a:off x="320040" y="3510335"/>
          <a:ext cx="6903719" cy="1854608"/>
        </p:xfrm>
        <a:graphic>
          <a:graphicData uri="http://schemas.openxmlformats.org/drawingml/2006/table">
            <a:tbl>
              <a:tblPr/>
              <a:tblGrid>
                <a:gridCol w="867302">
                  <a:extLst>
                    <a:ext uri="{9D8B030D-6E8A-4147-A177-3AD203B41FA5}">
                      <a16:colId xmlns:a16="http://schemas.microsoft.com/office/drawing/2014/main" val="1796692111"/>
                    </a:ext>
                  </a:extLst>
                </a:gridCol>
                <a:gridCol w="693841">
                  <a:extLst>
                    <a:ext uri="{9D8B030D-6E8A-4147-A177-3AD203B41FA5}">
                      <a16:colId xmlns:a16="http://schemas.microsoft.com/office/drawing/2014/main" val="4130509951"/>
                    </a:ext>
                  </a:extLst>
                </a:gridCol>
                <a:gridCol w="676495">
                  <a:extLst>
                    <a:ext uri="{9D8B030D-6E8A-4147-A177-3AD203B41FA5}">
                      <a16:colId xmlns:a16="http://schemas.microsoft.com/office/drawing/2014/main" val="3826358126"/>
                    </a:ext>
                  </a:extLst>
                </a:gridCol>
                <a:gridCol w="676495">
                  <a:extLst>
                    <a:ext uri="{9D8B030D-6E8A-4147-A177-3AD203B41FA5}">
                      <a16:colId xmlns:a16="http://schemas.microsoft.com/office/drawing/2014/main" val="354505304"/>
                    </a:ext>
                  </a:extLst>
                </a:gridCol>
                <a:gridCol w="659149">
                  <a:extLst>
                    <a:ext uri="{9D8B030D-6E8A-4147-A177-3AD203B41FA5}">
                      <a16:colId xmlns:a16="http://schemas.microsoft.com/office/drawing/2014/main" val="816571884"/>
                    </a:ext>
                  </a:extLst>
                </a:gridCol>
                <a:gridCol w="693841">
                  <a:extLst>
                    <a:ext uri="{9D8B030D-6E8A-4147-A177-3AD203B41FA5}">
                      <a16:colId xmlns:a16="http://schemas.microsoft.com/office/drawing/2014/main" val="555739565"/>
                    </a:ext>
                  </a:extLst>
                </a:gridCol>
                <a:gridCol w="624457">
                  <a:extLst>
                    <a:ext uri="{9D8B030D-6E8A-4147-A177-3AD203B41FA5}">
                      <a16:colId xmlns:a16="http://schemas.microsoft.com/office/drawing/2014/main" val="2296702728"/>
                    </a:ext>
                  </a:extLst>
                </a:gridCol>
                <a:gridCol w="503035">
                  <a:extLst>
                    <a:ext uri="{9D8B030D-6E8A-4147-A177-3AD203B41FA5}">
                      <a16:colId xmlns:a16="http://schemas.microsoft.com/office/drawing/2014/main" val="3831480518"/>
                    </a:ext>
                  </a:extLst>
                </a:gridCol>
                <a:gridCol w="797917">
                  <a:extLst>
                    <a:ext uri="{9D8B030D-6E8A-4147-A177-3AD203B41FA5}">
                      <a16:colId xmlns:a16="http://schemas.microsoft.com/office/drawing/2014/main" val="1086156123"/>
                    </a:ext>
                  </a:extLst>
                </a:gridCol>
                <a:gridCol w="711187">
                  <a:extLst>
                    <a:ext uri="{9D8B030D-6E8A-4147-A177-3AD203B41FA5}">
                      <a16:colId xmlns:a16="http://schemas.microsoft.com/office/drawing/2014/main" val="859510602"/>
                    </a:ext>
                  </a:extLst>
                </a:gridCol>
              </a:tblGrid>
              <a:tr h="451556"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Zone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May-25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Feb-26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Mar-26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Apr-26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May-26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Zone Share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L3M </a:t>
                      </a:r>
                      <a:r>
                        <a:rPr lang="en-IN" sz="14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Avg</a:t>
                      </a:r>
                      <a:endParaRPr lang="en-IN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GO 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GOLY May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6333050"/>
                  </a:ext>
                </a:extLst>
              </a:tr>
              <a:tr h="233842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East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266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284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311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370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411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10%</a:t>
                      </a:r>
                      <a:endParaRPr lang="en-IN" sz="1400" b="0" i="0" u="none" strike="noStrike" dirty="0">
                        <a:solidFill>
                          <a:srgbClr val="1A1F29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322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28%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55%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876577"/>
                  </a:ext>
                </a:extLst>
              </a:tr>
              <a:tr h="233842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North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566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630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764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845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934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23%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746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25%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65%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023069"/>
                  </a:ext>
                </a:extLst>
              </a:tr>
              <a:tr h="233842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South-1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487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591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660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770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894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22%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674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 dirty="0">
                          <a:solidFill>
                            <a:srgbClr val="008A3D"/>
                          </a:solidFill>
                          <a:latin typeface="Calibri"/>
                        </a:rPr>
                        <a:t>▲ 33%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84%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1997152"/>
                  </a:ext>
                </a:extLst>
              </a:tr>
              <a:tr h="233842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South-2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320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367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429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468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554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14%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421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31%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73%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6224738"/>
                  </a:ext>
                </a:extLst>
              </a:tr>
              <a:tr h="233842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West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652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722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896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903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1,017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25%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840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 dirty="0">
                          <a:solidFill>
                            <a:srgbClr val="008A3D"/>
                          </a:solidFill>
                          <a:latin typeface="Calibri"/>
                        </a:rPr>
                        <a:t>▲ 21%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56%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4018670"/>
                  </a:ext>
                </a:extLst>
              </a:tr>
              <a:tr h="233842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FSN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175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168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173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229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208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5%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190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9%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 dirty="0">
                          <a:solidFill>
                            <a:srgbClr val="008A3D"/>
                          </a:solidFill>
                          <a:latin typeface="Calibri"/>
                        </a:rPr>
                        <a:t>▲ 19%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1348988"/>
                  </a:ext>
                </a:extLst>
              </a:tr>
            </a:tbl>
          </a:graphicData>
        </a:graphic>
      </p:graphicFrame>
      <p:sp>
        <p:nvSpPr>
          <p:cNvPr id="15" name="Shape 64">
            <a:extLst>
              <a:ext uri="{FF2B5EF4-FFF2-40B4-BE49-F238E27FC236}">
                <a16:creationId xmlns:a16="http://schemas.microsoft.com/office/drawing/2014/main" id="{E7CD4EB2-142A-8EFA-51E0-5F02C7C991AA}"/>
              </a:ext>
            </a:extLst>
          </p:cNvPr>
          <p:cNvSpPr/>
          <p:nvPr/>
        </p:nvSpPr>
        <p:spPr>
          <a:xfrm>
            <a:off x="320039" y="8411471"/>
            <a:ext cx="6903720" cy="0"/>
          </a:xfrm>
          <a:prstGeom prst="line">
            <a:avLst/>
          </a:prstGeom>
          <a:noFill/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 sz="3600">
              <a:latin typeface="+mj-lt"/>
            </a:endParaRPr>
          </a:p>
        </p:txBody>
      </p:sp>
      <p:sp>
        <p:nvSpPr>
          <p:cNvPr id="16" name="Shape 64">
            <a:extLst>
              <a:ext uri="{FF2B5EF4-FFF2-40B4-BE49-F238E27FC236}">
                <a16:creationId xmlns:a16="http://schemas.microsoft.com/office/drawing/2014/main" id="{E050BDAA-C913-441A-CD85-620B427F4BF7}"/>
              </a:ext>
            </a:extLst>
          </p:cNvPr>
          <p:cNvSpPr/>
          <p:nvPr/>
        </p:nvSpPr>
        <p:spPr>
          <a:xfrm>
            <a:off x="320039" y="8183192"/>
            <a:ext cx="6903720" cy="0"/>
          </a:xfrm>
          <a:prstGeom prst="line">
            <a:avLst/>
          </a:prstGeom>
          <a:noFill/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 sz="3600">
              <a:latin typeface="+mj-lt"/>
            </a:endParaRPr>
          </a:p>
        </p:txBody>
      </p:sp>
      <p:sp>
        <p:nvSpPr>
          <p:cNvPr id="290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3 / 21</a:t>
            </a:r>
          </a:p>
        </p:txBody>
      </p:sp>
    </p:spTree>
    <p:extLst>
      <p:ext uri="{BB962C8B-B14F-4D97-AF65-F5344CB8AC3E}">
        <p14:creationId xmlns:p14="http://schemas.microsoft.com/office/powerpoint/2010/main" val="2707407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820" cy="566928"/>
          </a:xfrm>
          <a:prstGeom prst="rect">
            <a:avLst/>
          </a:prstGeom>
          <a:solidFill>
            <a:srgbClr val="2D9B7F"/>
          </a:solidFill>
          <a:ln w="12700">
            <a:solidFill>
              <a:srgbClr val="0B1F3A"/>
            </a:solidFill>
            <a:prstDash val="solid"/>
          </a:ln>
        </p:spPr>
        <p:txBody>
          <a:bodyPr anchor="t"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92608" y="54864"/>
            <a:ext cx="69776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CHAIN-WISE MARKET SHARE — GROSS SALES BASIS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292608" y="329184"/>
            <a:ext cx="69776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D8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May'26 Honasa share of category Gross Sales, by chain  |  NEW — basis differs from NSV elsewhere in this deck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64592" y="2361257"/>
            <a:ext cx="69776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F5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Required by Chain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64592" y="4585723"/>
            <a:ext cx="6886166" cy="222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F5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Check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33180" y="8675557"/>
            <a:ext cx="69776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F5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60D2A8-F9F0-8CC1-6209-E2DDBA6CAB94}"/>
              </a:ext>
            </a:extLst>
          </p:cNvPr>
          <p:cNvSpPr txBox="1"/>
          <p:nvPr/>
        </p:nvSpPr>
        <p:spPr>
          <a:xfrm>
            <a:off x="164592" y="607972"/>
            <a:ext cx="6977605" cy="174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dirty="0">
                <a:solidFill>
                  <a:srgbClr val="1E2761"/>
                </a:solidFill>
                <a:latin typeface="Calibri"/>
              </a:rPr>
              <a:t>MARKET SHARE SUMMARY — MAY'26 VS APR'26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D3C9184-40E8-0278-FABE-3E85AC7B3074}"/>
              </a:ext>
            </a:extLst>
          </p:cNvPr>
          <p:cNvSpPr/>
          <p:nvPr/>
        </p:nvSpPr>
        <p:spPr>
          <a:xfrm flipV="1">
            <a:off x="164593" y="2561602"/>
            <a:ext cx="6977604" cy="48626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C5167BE8-2365-C47D-7FC4-FF853320F9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8524392"/>
              </p:ext>
            </p:extLst>
          </p:nvPr>
        </p:nvGraphicFramePr>
        <p:xfrm>
          <a:off x="164593" y="873780"/>
          <a:ext cx="6977605" cy="162137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40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66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66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4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92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6823">
                <a:tc>
                  <a:txBody>
                    <a:bodyPr/>
                    <a:lstStyle/>
                    <a:p>
                      <a:pPr algn="l"/>
                      <a:r>
                        <a:rPr lang="en-IN"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Chain</a:t>
                      </a:r>
                      <a:endParaRPr sz="12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38100" marR="38100" marT="19050" marB="19050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Honasa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 GS</a:t>
                      </a:r>
                      <a:endParaRPr lang="en-IN" sz="12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 (Lacs)</a:t>
                      </a:r>
                    </a:p>
                  </a:txBody>
                  <a:tcPr marL="38100" marR="38100" marT="19050" marB="19050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Total Mkt </a:t>
                      </a:r>
                      <a:endParaRPr lang="en-IN" sz="12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(Lacs)</a:t>
                      </a:r>
                    </a:p>
                  </a:txBody>
                  <a:tcPr marL="38100" marR="38100" marT="19050" marB="19050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Mkt Share %</a:t>
                      </a:r>
                    </a:p>
                  </a:txBody>
                  <a:tcPr marL="38100" marR="38100" marT="19050" marB="19050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MoM (bps)</a:t>
                      </a:r>
                    </a:p>
                  </a:txBody>
                  <a:tcPr marL="38100" marR="38100" marT="19050" marB="19050" anchor="ctr"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637">
                <a:tc>
                  <a:txBody>
                    <a:bodyPr/>
                    <a:lstStyle/>
                    <a:p>
                      <a:pPr algn="l"/>
                      <a:r>
                        <a:rPr sz="1200" b="1" dirty="0">
                          <a:solidFill>
                            <a:srgbClr val="262626"/>
                          </a:solidFill>
                          <a:latin typeface="Calibri"/>
                        </a:rPr>
                        <a:t>MRL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59.7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2,128.7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>
                          <a:solidFill>
                            <a:srgbClr val="262626"/>
                          </a:solidFill>
                          <a:latin typeface="Calibri"/>
                        </a:rPr>
                        <a:t>3%</a:t>
                      </a:r>
                      <a:endParaRPr sz="1200" b="0">
                        <a:solidFill>
                          <a:srgbClr val="262626"/>
                        </a:solidFill>
                        <a:latin typeface="Calibri"/>
                      </a:endParaRP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7A3D"/>
                          </a:solidFill>
                          <a:latin typeface="Calibri"/>
                        </a:rPr>
                        <a:t>▲ +31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637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62626"/>
                          </a:solidFill>
                          <a:latin typeface="Calibri"/>
                        </a:rPr>
                        <a:t>Lulu</a:t>
                      </a:r>
                    </a:p>
                  </a:txBody>
                  <a:tcPr marL="38100" marR="38100" marT="19050" marB="1905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111.5</a:t>
                      </a:r>
                    </a:p>
                  </a:txBody>
                  <a:tcPr marL="38100" marR="38100" marT="19050" marB="1905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2,848.0</a:t>
                      </a:r>
                    </a:p>
                  </a:txBody>
                  <a:tcPr marL="38100" marR="38100" marT="19050" marB="1905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>
                          <a:solidFill>
                            <a:srgbClr val="262626"/>
                          </a:solidFill>
                          <a:latin typeface="Calibri"/>
                        </a:rPr>
                        <a:t>4%</a:t>
                      </a:r>
                      <a:endParaRPr sz="1200" b="0">
                        <a:solidFill>
                          <a:srgbClr val="262626"/>
                        </a:solidFill>
                        <a:latin typeface="Calibri"/>
                      </a:endParaRPr>
                    </a:p>
                  </a:txBody>
                  <a:tcPr marL="38100" marR="38100" marT="19050" marB="1905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392B"/>
                          </a:solidFill>
                          <a:latin typeface="Calibri"/>
                        </a:rPr>
                        <a:t>▼ -21</a:t>
                      </a:r>
                    </a:p>
                  </a:txBody>
                  <a:tcPr marL="38100" marR="38100" marT="19050" marB="1905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637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62626"/>
                          </a:solidFill>
                          <a:latin typeface="Calibri"/>
                        </a:rPr>
                        <a:t>Wellness Forever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137.4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977.6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>
                          <a:solidFill>
                            <a:srgbClr val="262626"/>
                          </a:solidFill>
                          <a:latin typeface="Calibri"/>
                        </a:rPr>
                        <a:t>14%</a:t>
                      </a:r>
                      <a:endParaRPr sz="1200" b="0">
                        <a:solidFill>
                          <a:srgbClr val="262626"/>
                        </a:solidFill>
                        <a:latin typeface="Calibri"/>
                      </a:endParaRP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392B"/>
                          </a:solidFill>
                          <a:latin typeface="Calibri"/>
                        </a:rPr>
                        <a:t>▼ -35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637">
                <a:tc>
                  <a:txBody>
                    <a:bodyPr/>
                    <a:lstStyle/>
                    <a:p>
                      <a:pPr algn="l"/>
                      <a:r>
                        <a:rPr sz="1200" b="1" dirty="0">
                          <a:solidFill>
                            <a:srgbClr val="262626"/>
                          </a:solidFill>
                          <a:latin typeface="Calibri"/>
                        </a:rPr>
                        <a:t>Reliance Retail</a:t>
                      </a:r>
                    </a:p>
                  </a:txBody>
                  <a:tcPr marL="38100" marR="38100" marT="19050" marB="1905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262626"/>
                          </a:solidFill>
                          <a:latin typeface="Calibri"/>
                        </a:rPr>
                        <a:t>2,052.0</a:t>
                      </a:r>
                    </a:p>
                  </a:txBody>
                  <a:tcPr marL="38100" marR="38100" marT="19050" marB="1905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262626"/>
                          </a:solidFill>
                          <a:latin typeface="Calibri"/>
                        </a:rPr>
                        <a:t>19,298.6</a:t>
                      </a:r>
                    </a:p>
                  </a:txBody>
                  <a:tcPr marL="38100" marR="38100" marT="19050" marB="1905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>
                          <a:solidFill>
                            <a:srgbClr val="262626"/>
                          </a:solidFill>
                          <a:latin typeface="Calibri"/>
                        </a:rPr>
                        <a:t>11%</a:t>
                      </a:r>
                      <a:endParaRPr sz="1200" b="0">
                        <a:solidFill>
                          <a:srgbClr val="262626"/>
                        </a:solidFill>
                        <a:latin typeface="Calibri"/>
                      </a:endParaRPr>
                    </a:p>
                  </a:txBody>
                  <a:tcPr marL="38100" marR="38100" marT="19050" marB="1905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C0392B"/>
                          </a:solidFill>
                          <a:latin typeface="Calibri"/>
                        </a:rPr>
                        <a:t>▼ -38</a:t>
                      </a:r>
                    </a:p>
                  </a:txBody>
                  <a:tcPr marL="38100" marR="38100" marT="19050" marB="1905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Rectangle 21">
            <a:extLst>
              <a:ext uri="{FF2B5EF4-FFF2-40B4-BE49-F238E27FC236}">
                <a16:creationId xmlns:a16="http://schemas.microsoft.com/office/drawing/2014/main" id="{53536467-987E-B510-CB4B-2C7C6DD045C7}"/>
              </a:ext>
            </a:extLst>
          </p:cNvPr>
          <p:cNvSpPr/>
          <p:nvPr/>
        </p:nvSpPr>
        <p:spPr>
          <a:xfrm>
            <a:off x="179208" y="2650057"/>
            <a:ext cx="3416132" cy="890192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9D9D9"/>
            </a:solidFill>
            <a:prstDash val="solid"/>
          </a:ln>
          <a:effectLst/>
        </p:spPr>
        <p:txBody>
          <a:bodyPr rtlCol="0" anchor="t"/>
          <a:lstStyle/>
          <a:p>
            <a:pPr defTabSz="457200"/>
            <a:r>
              <a:rPr lang="en-US" sz="2000" b="1" dirty="0">
                <a:solidFill>
                  <a:srgbClr val="1E2761"/>
                </a:solidFill>
                <a:latin typeface="Calibri"/>
              </a:rPr>
              <a:t>MRL</a:t>
            </a:r>
          </a:p>
          <a:p>
            <a:pPr defTabSz="457200">
              <a:lnSpc>
                <a:spcPct val="104000"/>
              </a:lnSpc>
              <a:spcAft>
                <a:spcPts val="200"/>
              </a:spcAft>
            </a:pPr>
            <a:r>
              <a:rPr lang="en-US" sz="1100" dirty="0">
                <a:solidFill>
                  <a:srgbClr val="404040"/>
                </a:solidFill>
                <a:latin typeface="Calibri"/>
              </a:rPr>
              <a:t>•  Mkt Share 2.80% | MoM ▲ +31 bps</a:t>
            </a:r>
          </a:p>
          <a:p>
            <a:pPr defTabSz="457200">
              <a:lnSpc>
                <a:spcPct val="104000"/>
              </a:lnSpc>
              <a:spcAft>
                <a:spcPts val="200"/>
              </a:spcAft>
            </a:pPr>
            <a:r>
              <a:rPr lang="en-US" sz="1100" dirty="0">
                <a:solidFill>
                  <a:srgbClr val="404040"/>
                </a:solidFill>
                <a:latin typeface="Calibri"/>
              </a:rPr>
              <a:t>•  Build — low share, large market; expand assortment &amp; visibility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F8584D2-B47F-A543-EB0A-0CEDB933EAC8}"/>
              </a:ext>
            </a:extLst>
          </p:cNvPr>
          <p:cNvSpPr/>
          <p:nvPr/>
        </p:nvSpPr>
        <p:spPr>
          <a:xfrm>
            <a:off x="164592" y="2650057"/>
            <a:ext cx="3378594" cy="53243"/>
          </a:xfrm>
          <a:prstGeom prst="rect">
            <a:avLst/>
          </a:prstGeom>
          <a:solidFill>
            <a:srgbClr val="1F6F78"/>
          </a:solidFill>
          <a:ln w="9525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959EF4B-A544-FAA5-F705-C806019D0BF6}"/>
              </a:ext>
            </a:extLst>
          </p:cNvPr>
          <p:cNvSpPr/>
          <p:nvPr/>
        </p:nvSpPr>
        <p:spPr>
          <a:xfrm>
            <a:off x="3672164" y="2729068"/>
            <a:ext cx="3470032" cy="811182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9D9D9"/>
            </a:solidFill>
            <a:prstDash val="solid"/>
          </a:ln>
          <a:effectLst/>
        </p:spPr>
        <p:txBody>
          <a:bodyPr rtlCol="0" anchor="t"/>
          <a:lstStyle/>
          <a:p>
            <a:pPr defTabSz="457200"/>
            <a:r>
              <a:rPr lang="en-IN" sz="1800" b="1" dirty="0">
                <a:solidFill>
                  <a:srgbClr val="1E2761"/>
                </a:solidFill>
                <a:latin typeface="Calibri"/>
              </a:rPr>
              <a:t>Lulu</a:t>
            </a:r>
          </a:p>
          <a:p>
            <a:pPr defTabSz="457200">
              <a:lnSpc>
                <a:spcPct val="104000"/>
              </a:lnSpc>
              <a:spcAft>
                <a:spcPts val="200"/>
              </a:spcAft>
            </a:pPr>
            <a:r>
              <a:rPr lang="en-IN" sz="1100" dirty="0">
                <a:solidFill>
                  <a:srgbClr val="404040"/>
                </a:solidFill>
                <a:latin typeface="Calibri"/>
              </a:rPr>
              <a:t>•  Mkt Share 3.91% | MoM ▼ -21 bps</a:t>
            </a:r>
          </a:p>
          <a:p>
            <a:pPr defTabSz="457200">
              <a:lnSpc>
                <a:spcPct val="104000"/>
              </a:lnSpc>
              <a:spcAft>
                <a:spcPts val="200"/>
              </a:spcAft>
            </a:pPr>
            <a:r>
              <a:rPr lang="en-IN" sz="1100" dirty="0">
                <a:solidFill>
                  <a:srgbClr val="404040"/>
                </a:solidFill>
                <a:latin typeface="Calibri"/>
              </a:rPr>
              <a:t>•  Fix — review listing gaps in declining sub-categories</a:t>
            </a:r>
            <a:endParaRPr lang="en-IN" sz="1100" b="1" dirty="0">
              <a:solidFill>
                <a:srgbClr val="1E2761"/>
              </a:solidFill>
              <a:latin typeface="Calibri"/>
            </a:endParaRPr>
          </a:p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4BCBC16-D9D2-6F52-42EA-4D388C92C606}"/>
              </a:ext>
            </a:extLst>
          </p:cNvPr>
          <p:cNvSpPr/>
          <p:nvPr/>
        </p:nvSpPr>
        <p:spPr>
          <a:xfrm>
            <a:off x="3634626" y="2650057"/>
            <a:ext cx="3416132" cy="61096"/>
          </a:xfrm>
          <a:prstGeom prst="rect">
            <a:avLst/>
          </a:prstGeom>
          <a:solidFill>
            <a:srgbClr val="B8860B"/>
          </a:solidFill>
          <a:ln w="9525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1EA8BD1-964A-81EB-77A1-2CB85F9D64C9}"/>
              </a:ext>
            </a:extLst>
          </p:cNvPr>
          <p:cNvSpPr/>
          <p:nvPr/>
        </p:nvSpPr>
        <p:spPr>
          <a:xfrm>
            <a:off x="101510" y="3659185"/>
            <a:ext cx="3507571" cy="1074054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9D9D9"/>
            </a:solidFill>
            <a:prstDash val="solid"/>
          </a:ln>
          <a:effectLst/>
        </p:spPr>
        <p:txBody>
          <a:bodyPr rtlCol="0" anchor="t"/>
          <a:lstStyle/>
          <a:p>
            <a:pPr defTabSz="457200"/>
            <a:r>
              <a:rPr lang="en-IN" sz="2000" b="1" dirty="0">
                <a:solidFill>
                  <a:srgbClr val="1E2761"/>
                </a:solidFill>
                <a:latin typeface="Calibri"/>
              </a:rPr>
              <a:t>Wellness Forever</a:t>
            </a:r>
          </a:p>
          <a:p>
            <a:pPr defTabSz="457200">
              <a:lnSpc>
                <a:spcPct val="104000"/>
              </a:lnSpc>
              <a:spcAft>
                <a:spcPts val="200"/>
              </a:spcAft>
            </a:pPr>
            <a:r>
              <a:rPr lang="en-IN" sz="1100" dirty="0">
                <a:solidFill>
                  <a:srgbClr val="404040"/>
                </a:solidFill>
                <a:latin typeface="Calibri"/>
              </a:rPr>
              <a:t>•  Mkt Share 14.06% | MoM ▼ -35 bps</a:t>
            </a:r>
          </a:p>
          <a:p>
            <a:pPr defTabSz="457200">
              <a:lnSpc>
                <a:spcPct val="104000"/>
              </a:lnSpc>
              <a:spcAft>
                <a:spcPts val="200"/>
              </a:spcAft>
            </a:pPr>
            <a:r>
              <a:rPr lang="en-IN" sz="1100" dirty="0">
                <a:solidFill>
                  <a:srgbClr val="404040"/>
                </a:solidFill>
                <a:latin typeface="Calibri"/>
              </a:rPr>
              <a:t>•  Protect — stronghold chain; monitor pharmacy-channel pressure</a:t>
            </a:r>
          </a:p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5C24ECE-A21F-F843-BDC6-DFEBE708BE3F}"/>
              </a:ext>
            </a:extLst>
          </p:cNvPr>
          <p:cNvSpPr/>
          <p:nvPr/>
        </p:nvSpPr>
        <p:spPr>
          <a:xfrm>
            <a:off x="179207" y="3619111"/>
            <a:ext cx="3378594" cy="53243"/>
          </a:xfrm>
          <a:prstGeom prst="rect">
            <a:avLst/>
          </a:prstGeom>
          <a:solidFill>
            <a:srgbClr val="2D9B7F"/>
          </a:solidFill>
          <a:ln w="9525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DC8FA77-A565-0C4B-CE2C-963525AC41C8}"/>
              </a:ext>
            </a:extLst>
          </p:cNvPr>
          <p:cNvSpPr/>
          <p:nvPr/>
        </p:nvSpPr>
        <p:spPr>
          <a:xfrm>
            <a:off x="3672163" y="3640123"/>
            <a:ext cx="3441677" cy="1074054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9D9D9"/>
            </a:solidFill>
            <a:prstDash val="solid"/>
          </a:ln>
          <a:effectLst/>
        </p:spPr>
        <p:txBody>
          <a:bodyPr rtlCol="0" anchor="t"/>
          <a:lstStyle/>
          <a:p>
            <a:pPr defTabSz="457200"/>
            <a:r>
              <a:rPr lang="en-US" sz="2400" b="1" dirty="0">
                <a:solidFill>
                  <a:srgbClr val="1E2761"/>
                </a:solidFill>
                <a:latin typeface="Calibri"/>
              </a:rPr>
              <a:t>Reliance Retail</a:t>
            </a:r>
          </a:p>
          <a:p>
            <a:pPr defTabSz="457200">
              <a:lnSpc>
                <a:spcPct val="104000"/>
              </a:lnSpc>
              <a:spcAft>
                <a:spcPts val="200"/>
              </a:spcAft>
            </a:pPr>
            <a:r>
              <a:rPr lang="en-US" sz="1100" dirty="0">
                <a:solidFill>
                  <a:srgbClr val="404040"/>
                </a:solidFill>
                <a:latin typeface="Calibri"/>
              </a:rPr>
              <a:t>•  Mkt Share 10.63% | MoM ▼ -38 bps</a:t>
            </a:r>
          </a:p>
          <a:p>
            <a:pPr defTabSz="457200">
              <a:lnSpc>
                <a:spcPct val="104000"/>
              </a:lnSpc>
              <a:spcAft>
                <a:spcPts val="200"/>
              </a:spcAft>
            </a:pPr>
            <a:r>
              <a:rPr lang="en-US" sz="1100" dirty="0">
                <a:solidFill>
                  <a:srgbClr val="404040"/>
                </a:solidFill>
                <a:latin typeface="Calibri"/>
              </a:rPr>
              <a:t>•  Protect &amp; Accelerate — largest base; review category mix shift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E6DEA8D-9D8B-9353-0CF4-90A3E4ABE2FF}"/>
              </a:ext>
            </a:extLst>
          </p:cNvPr>
          <p:cNvSpPr/>
          <p:nvPr/>
        </p:nvSpPr>
        <p:spPr>
          <a:xfrm>
            <a:off x="3649241" y="3619111"/>
            <a:ext cx="3416132" cy="61096"/>
          </a:xfrm>
          <a:prstGeom prst="rect">
            <a:avLst/>
          </a:prstGeom>
          <a:solidFill>
            <a:srgbClr val="1F7A3D"/>
          </a:solidFill>
          <a:ln w="9525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47" name="Chart">
            <a:extLst>
              <a:ext uri="{FF2B5EF4-FFF2-40B4-BE49-F238E27FC236}">
                <a16:creationId xmlns:a16="http://schemas.microsoft.com/office/drawing/2014/main" id="{00000000-0008-0000-01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16093315"/>
              </p:ext>
            </p:extLst>
          </p:nvPr>
        </p:nvGraphicFramePr>
        <p:xfrm>
          <a:off x="166564" y="4793176"/>
          <a:ext cx="3455418" cy="21304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8" name="Rectangle 47">
            <a:extLst>
              <a:ext uri="{FF2B5EF4-FFF2-40B4-BE49-F238E27FC236}">
                <a16:creationId xmlns:a16="http://schemas.microsoft.com/office/drawing/2014/main" id="{6D948830-5875-429E-B2E8-06A2446FF79B}"/>
              </a:ext>
            </a:extLst>
          </p:cNvPr>
          <p:cNvSpPr/>
          <p:nvPr/>
        </p:nvSpPr>
        <p:spPr>
          <a:xfrm>
            <a:off x="179207" y="4785237"/>
            <a:ext cx="875845" cy="3109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IN" sz="1600" dirty="0">
                <a:solidFill>
                  <a:schemeClr val="bg1"/>
                </a:solidFill>
                <a:latin typeface="Calibri"/>
              </a:rPr>
              <a:t>FW M/S</a:t>
            </a:r>
          </a:p>
        </p:txBody>
      </p:sp>
      <p:graphicFrame>
        <p:nvGraphicFramePr>
          <p:cNvPr id="49" name="Chart">
            <a:extLst>
              <a:ext uri="{FF2B5EF4-FFF2-40B4-BE49-F238E27FC236}">
                <a16:creationId xmlns:a16="http://schemas.microsoft.com/office/drawing/2014/main" id="{3FFAD1AD-462A-48E2-8AFA-503AE095D6C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40448606"/>
              </p:ext>
            </p:extLst>
          </p:nvPr>
        </p:nvGraphicFramePr>
        <p:xfrm>
          <a:off x="3677591" y="4803073"/>
          <a:ext cx="3455418" cy="21480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0" name="Chart">
            <a:extLst>
              <a:ext uri="{FF2B5EF4-FFF2-40B4-BE49-F238E27FC236}">
                <a16:creationId xmlns:a16="http://schemas.microsoft.com/office/drawing/2014/main" id="{00000000-0008-0000-01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23489623"/>
              </p:ext>
            </p:extLst>
          </p:nvPr>
        </p:nvGraphicFramePr>
        <p:xfrm>
          <a:off x="193824" y="7032150"/>
          <a:ext cx="3455417" cy="21257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2" name="TextBox 51">
            <a:extLst>
              <a:ext uri="{FF2B5EF4-FFF2-40B4-BE49-F238E27FC236}">
                <a16:creationId xmlns:a16="http://schemas.microsoft.com/office/drawing/2014/main" id="{700BEB62-5218-93B2-569B-61E16123FB26}"/>
              </a:ext>
            </a:extLst>
          </p:cNvPr>
          <p:cNvSpPr txBox="1"/>
          <p:nvPr/>
        </p:nvSpPr>
        <p:spPr>
          <a:xfrm>
            <a:off x="3693221" y="7032150"/>
            <a:ext cx="3420619" cy="208500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anchor="t">
            <a:spAutoFit/>
          </a:bodyPr>
          <a:lstStyle/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 dirty="0">
                <a:solidFill>
                  <a:sysClr val="windowText" lastClr="000000"/>
                </a:solidFill>
                <a:latin typeface="Calibri"/>
              </a:rPr>
              <a:t>•  MRL's </a:t>
            </a:r>
            <a:r>
              <a:rPr sz="1200" dirty="0" err="1">
                <a:solidFill>
                  <a:sysClr val="windowText" lastClr="000000"/>
                </a:solidFill>
                <a:latin typeface="Calibri"/>
              </a:rPr>
              <a:t>Honasa</a:t>
            </a:r>
            <a:r>
              <a:rPr sz="1200" dirty="0">
                <a:solidFill>
                  <a:sysClr val="windowText" lastClr="000000"/>
                </a:solidFill>
                <a:latin typeface="Calibri"/>
              </a:rPr>
              <a:t> share nearly doubled over the period, 8% to 14% — the fastest-improving chain in this view.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 dirty="0">
                <a:solidFill>
                  <a:sysClr val="windowText" lastClr="000000"/>
                </a:solidFill>
                <a:latin typeface="Calibri"/>
              </a:rPr>
              <a:t>•  Wellness Forever holds the strongest relative position across all three months (15% to 18%), consistent with the stronghold-chain read on the previous page even though the absolute share level differs.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 dirty="0">
                <a:solidFill>
                  <a:sysClr val="windowText" lastClr="000000"/>
                </a:solidFill>
                <a:latin typeface="Calibri"/>
              </a:rPr>
              <a:t>•  Lulu and Reliance are comparatively flat over the period (Lulu 7% to 8%; Reliance 10% to 11%).</a:t>
            </a:r>
          </a:p>
        </p:txBody>
      </p:sp>
      <p:sp>
        <p:nvSpPr>
          <p:cNvPr id="102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4 /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Flowchart: Alternate Process 98">
            <a:extLst>
              <a:ext uri="{FF2B5EF4-FFF2-40B4-BE49-F238E27FC236}">
                <a16:creationId xmlns:a16="http://schemas.microsoft.com/office/drawing/2014/main" id="{379C9D4B-2F0C-E811-B5BC-4C5923256D3C}"/>
              </a:ext>
            </a:extLst>
          </p:cNvPr>
          <p:cNvSpPr/>
          <p:nvPr/>
        </p:nvSpPr>
        <p:spPr>
          <a:xfrm>
            <a:off x="232255" y="4956952"/>
            <a:ext cx="3812166" cy="781486"/>
          </a:xfrm>
          <a:prstGeom prst="flowChartAlternateProcess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b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7562820" cy="566928"/>
          </a:xfrm>
          <a:prstGeom prst="rect">
            <a:avLst/>
          </a:prstGeom>
          <a:solidFill>
            <a:srgbClr val="2D9B7F"/>
          </a:solidFill>
          <a:ln w="12700">
            <a:solidFill>
              <a:srgbClr val="0B1F3A"/>
            </a:solidFill>
            <a:prstDash val="solid"/>
          </a:ln>
        </p:spPr>
        <p:txBody>
          <a:bodyPr anchor="t"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-7713" y="0"/>
            <a:ext cx="7570563" cy="56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NIELSEN MARKET SHARE INSIGHTS| BRAND (MAMAEARTH &amp; THE DERMA CO.| CATEGORY (FACEWASH  &amp; SHAMPOO)</a:t>
            </a:r>
            <a:endParaRPr lang="en-US" sz="2000" b="1" dirty="0"/>
          </a:p>
        </p:txBody>
      </p:sp>
      <p:graphicFrame>
        <p:nvGraphicFramePr>
          <p:cNvPr id="111" name="Diagram 110">
            <a:extLst>
              <a:ext uri="{FF2B5EF4-FFF2-40B4-BE49-F238E27FC236}">
                <a16:creationId xmlns:a16="http://schemas.microsoft.com/office/drawing/2014/main" id="{B9142154-E71F-1D64-C69C-BEDD14795E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51802719"/>
              </p:ext>
            </p:extLst>
          </p:nvPr>
        </p:nvGraphicFramePr>
        <p:xfrm>
          <a:off x="280013" y="5797984"/>
          <a:ext cx="7068266" cy="11100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9" name="Text 14">
            <a:extLst>
              <a:ext uri="{FF2B5EF4-FFF2-40B4-BE49-F238E27FC236}">
                <a16:creationId xmlns:a16="http://schemas.microsoft.com/office/drawing/2014/main" id="{44292181-E87A-FAFC-E853-8E63053EE850}"/>
              </a:ext>
            </a:extLst>
          </p:cNvPr>
          <p:cNvSpPr/>
          <p:nvPr/>
        </p:nvSpPr>
        <p:spPr>
          <a:xfrm>
            <a:off x="8301150" y="76449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dirty="0"/>
          </a:p>
        </p:txBody>
      </p:sp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A3578703-5602-E615-6449-0FE82BA386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5509311"/>
              </p:ext>
            </p:extLst>
          </p:nvPr>
        </p:nvGraphicFramePr>
        <p:xfrm>
          <a:off x="234347" y="599313"/>
          <a:ext cx="7126505" cy="1709206"/>
        </p:xfrm>
        <a:graphic>
          <a:graphicData uri="http://schemas.openxmlformats.org/drawingml/2006/table">
            <a:tbl>
              <a:tblPr/>
              <a:tblGrid>
                <a:gridCol w="1638971">
                  <a:extLst>
                    <a:ext uri="{9D8B030D-6E8A-4147-A177-3AD203B41FA5}">
                      <a16:colId xmlns:a16="http://schemas.microsoft.com/office/drawing/2014/main" val="1040054215"/>
                    </a:ext>
                  </a:extLst>
                </a:gridCol>
                <a:gridCol w="759047">
                  <a:extLst>
                    <a:ext uri="{9D8B030D-6E8A-4147-A177-3AD203B41FA5}">
                      <a16:colId xmlns:a16="http://schemas.microsoft.com/office/drawing/2014/main" val="2448826045"/>
                    </a:ext>
                  </a:extLst>
                </a:gridCol>
                <a:gridCol w="775045">
                  <a:extLst>
                    <a:ext uri="{9D8B030D-6E8A-4147-A177-3AD203B41FA5}">
                      <a16:colId xmlns:a16="http://schemas.microsoft.com/office/drawing/2014/main" val="2451325949"/>
                    </a:ext>
                  </a:extLst>
                </a:gridCol>
                <a:gridCol w="901257">
                  <a:extLst>
                    <a:ext uri="{9D8B030D-6E8A-4147-A177-3AD203B41FA5}">
                      <a16:colId xmlns:a16="http://schemas.microsoft.com/office/drawing/2014/main" val="1241636394"/>
                    </a:ext>
                  </a:extLst>
                </a:gridCol>
                <a:gridCol w="718161">
                  <a:extLst>
                    <a:ext uri="{9D8B030D-6E8A-4147-A177-3AD203B41FA5}">
                      <a16:colId xmlns:a16="http://schemas.microsoft.com/office/drawing/2014/main" val="1072936001"/>
                    </a:ext>
                  </a:extLst>
                </a:gridCol>
                <a:gridCol w="785711">
                  <a:extLst>
                    <a:ext uri="{9D8B030D-6E8A-4147-A177-3AD203B41FA5}">
                      <a16:colId xmlns:a16="http://schemas.microsoft.com/office/drawing/2014/main" val="4003672162"/>
                    </a:ext>
                  </a:extLst>
                </a:gridCol>
                <a:gridCol w="673721">
                  <a:extLst>
                    <a:ext uri="{9D8B030D-6E8A-4147-A177-3AD203B41FA5}">
                      <a16:colId xmlns:a16="http://schemas.microsoft.com/office/drawing/2014/main" val="3060532485"/>
                    </a:ext>
                  </a:extLst>
                </a:gridCol>
                <a:gridCol w="874592">
                  <a:extLst>
                    <a:ext uri="{9D8B030D-6E8A-4147-A177-3AD203B41FA5}">
                      <a16:colId xmlns:a16="http://schemas.microsoft.com/office/drawing/2014/main" val="1825462759"/>
                    </a:ext>
                  </a:extLst>
                </a:gridCol>
              </a:tblGrid>
              <a:tr h="509746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Brand (Category)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MS Val % </a:t>
                      </a:r>
                      <a:b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</a:b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May'26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MoM </a:t>
                      </a:r>
                      <a:b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</a:b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YoY</a:t>
                      </a:r>
                      <a:b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</a:b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MAT </a:t>
                      </a:r>
                      <a:b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</a:b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MS Val 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Value ₹Cr </a:t>
                      </a:r>
                      <a:b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</a:b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(May'26)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Value </a:t>
                      </a:r>
                      <a:b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</a:b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YoY 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Wtd</a:t>
                      </a: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 </a:t>
                      </a:r>
                      <a:r>
                        <a:rPr lang="en-IN" sz="11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Dist</a:t>
                      </a: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 % </a:t>
                      </a:r>
                    </a:p>
                    <a:p>
                      <a:pPr algn="ctr" rtl="0" fontAlgn="ctr"/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(May'26)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7885786"/>
                  </a:ext>
                </a:extLst>
              </a:tr>
              <a:tr h="399820"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Mamaearth FW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12%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Flat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289C83"/>
                          </a:solidFill>
                          <a:effectLst/>
                          <a:latin typeface="Calibri" panose="020B0604020202020204" pitchFamily="34" charset="0"/>
                        </a:rPr>
                        <a:t>▲ +311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9.6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54%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87%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9094831"/>
                  </a:ext>
                </a:extLst>
              </a:tr>
              <a:tr h="399820"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The Derma Co FW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289C83"/>
                          </a:solidFill>
                          <a:effectLst/>
                          <a:latin typeface="Calibri" panose="020B0604020202020204" pitchFamily="34" charset="0"/>
                        </a:rPr>
                        <a:t>▲ +6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289C83"/>
                          </a:solidFill>
                          <a:effectLst/>
                          <a:latin typeface="Calibri" panose="020B0604020202020204" pitchFamily="34" charset="0"/>
                        </a:rPr>
                        <a:t>▲ +71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3940%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14%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5232997"/>
                  </a:ext>
                </a:extLst>
              </a:tr>
              <a:tr h="399820"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Mamaearth Shampoo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4%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 -31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289C83"/>
                          </a:solidFill>
                          <a:effectLst/>
                          <a:latin typeface="Calibri" panose="020B0604020202020204" pitchFamily="34" charset="0"/>
                        </a:rPr>
                        <a:t>▲ +134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4%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6.5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64%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81%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663541"/>
                  </a:ext>
                </a:extLst>
              </a:tr>
            </a:tbl>
          </a:graphicData>
        </a:graphic>
      </p:graphicFrame>
      <p:graphicFrame>
        <p:nvGraphicFramePr>
          <p:cNvPr id="56" name="Diagram 55">
            <a:extLst>
              <a:ext uri="{FF2B5EF4-FFF2-40B4-BE49-F238E27FC236}">
                <a16:creationId xmlns:a16="http://schemas.microsoft.com/office/drawing/2014/main" id="{010D717D-B200-F9C1-F0E0-9B6C4374F3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43627803"/>
              </p:ext>
            </p:extLst>
          </p:nvPr>
        </p:nvGraphicFramePr>
        <p:xfrm>
          <a:off x="234347" y="2661016"/>
          <a:ext cx="7115948" cy="18760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43" name="Rectangle 42">
            <a:extLst>
              <a:ext uri="{FF2B5EF4-FFF2-40B4-BE49-F238E27FC236}">
                <a16:creationId xmlns:a16="http://schemas.microsoft.com/office/drawing/2014/main" id="{4F619751-52E2-97A6-50D1-C8D2040E4488}"/>
              </a:ext>
            </a:extLst>
          </p:cNvPr>
          <p:cNvSpPr/>
          <p:nvPr/>
        </p:nvSpPr>
        <p:spPr>
          <a:xfrm>
            <a:off x="232256" y="5803321"/>
            <a:ext cx="45719" cy="1126007"/>
          </a:xfrm>
          <a:prstGeom prst="rect">
            <a:avLst/>
          </a:prstGeom>
          <a:solidFill>
            <a:srgbClr val="2D9B7F"/>
          </a:solidFill>
          <a:ln w="9525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6A08DE1-78F5-E319-DC0C-43F567ADC4D5}"/>
              </a:ext>
            </a:extLst>
          </p:cNvPr>
          <p:cNvSpPr/>
          <p:nvPr/>
        </p:nvSpPr>
        <p:spPr>
          <a:xfrm>
            <a:off x="232255" y="5770936"/>
            <a:ext cx="7090303" cy="58146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sp>
        <p:nvSpPr>
          <p:cNvPr id="46" name="Text 6">
            <a:extLst>
              <a:ext uri="{FF2B5EF4-FFF2-40B4-BE49-F238E27FC236}">
                <a16:creationId xmlns:a16="http://schemas.microsoft.com/office/drawing/2014/main" id="{1B45652C-03FE-342E-DAD9-AFC958C3B610}"/>
              </a:ext>
            </a:extLst>
          </p:cNvPr>
          <p:cNvSpPr/>
          <p:nvPr/>
        </p:nvSpPr>
        <p:spPr>
          <a:xfrm>
            <a:off x="251039" y="5797985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FEBD2F1-506F-0C36-C7C0-69DD818A90A8}"/>
              </a:ext>
            </a:extLst>
          </p:cNvPr>
          <p:cNvSpPr/>
          <p:nvPr/>
        </p:nvSpPr>
        <p:spPr>
          <a:xfrm flipH="1">
            <a:off x="7304576" y="5804460"/>
            <a:ext cx="45719" cy="1111940"/>
          </a:xfrm>
          <a:prstGeom prst="rect">
            <a:avLst/>
          </a:prstGeom>
          <a:solidFill>
            <a:srgbClr val="2D9B7F"/>
          </a:solidFill>
          <a:ln w="9525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3B9DB11-20E5-31CE-3C2B-9867D46644EF}"/>
              </a:ext>
            </a:extLst>
          </p:cNvPr>
          <p:cNvSpPr txBox="1"/>
          <p:nvPr/>
        </p:nvSpPr>
        <p:spPr>
          <a:xfrm>
            <a:off x="244828" y="2273076"/>
            <a:ext cx="7116024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b="1" kern="0" spc="100" dirty="0">
                <a:solidFill>
                  <a:srgbClr val="C9A227"/>
                </a:solidFill>
                <a:ea typeface="Calibri" pitchFamily="34" charset="-122"/>
                <a:cs typeface="Calibri" pitchFamily="34" charset="-120"/>
              </a:rPr>
              <a:t>Key Insights for Facewash &amp; Shampoo M/s</a:t>
            </a:r>
            <a:endParaRPr lang="en-US" sz="24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F520BF0-7E50-AF2D-E0AF-738051766144}"/>
              </a:ext>
            </a:extLst>
          </p:cNvPr>
          <p:cNvSpPr txBox="1"/>
          <p:nvPr/>
        </p:nvSpPr>
        <p:spPr>
          <a:xfrm>
            <a:off x="239785" y="4562649"/>
            <a:ext cx="7135678" cy="369332"/>
          </a:xfrm>
          <a:prstGeom prst="rect">
            <a:avLst/>
          </a:prstGeom>
          <a:solidFill>
            <a:srgbClr val="289C83"/>
          </a:solidFill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mbria" pitchFamily="34" charset="-122"/>
                <a:cs typeface="Calibri" pitchFamily="34" charset="-120"/>
              </a:rPr>
              <a:t>FACE WASH | BRAND |MARKET SHARE </a:t>
            </a:r>
            <a:endParaRPr lang="en-US" sz="1800" dirty="0">
              <a:solidFill>
                <a:schemeClr val="bg1"/>
              </a:solidFill>
            </a:endParaRPr>
          </a:p>
        </p:txBody>
      </p:sp>
      <p:graphicFrame>
        <p:nvGraphicFramePr>
          <p:cNvPr id="77" name="Table 76">
            <a:extLst>
              <a:ext uri="{FF2B5EF4-FFF2-40B4-BE49-F238E27FC236}">
                <a16:creationId xmlns:a16="http://schemas.microsoft.com/office/drawing/2014/main" id="{9F7B7DEB-7D5B-EB9E-53AE-4EBB23EA84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2213159"/>
              </p:ext>
            </p:extLst>
          </p:nvPr>
        </p:nvGraphicFramePr>
        <p:xfrm>
          <a:off x="239785" y="6984067"/>
          <a:ext cx="7108313" cy="3593910"/>
        </p:xfrm>
        <a:graphic>
          <a:graphicData uri="http://schemas.openxmlformats.org/drawingml/2006/table">
            <a:tbl>
              <a:tblPr/>
              <a:tblGrid>
                <a:gridCol w="577498">
                  <a:extLst>
                    <a:ext uri="{9D8B030D-6E8A-4147-A177-3AD203B41FA5}">
                      <a16:colId xmlns:a16="http://schemas.microsoft.com/office/drawing/2014/main" val="2077510050"/>
                    </a:ext>
                  </a:extLst>
                </a:gridCol>
                <a:gridCol w="1501493">
                  <a:extLst>
                    <a:ext uri="{9D8B030D-6E8A-4147-A177-3AD203B41FA5}">
                      <a16:colId xmlns:a16="http://schemas.microsoft.com/office/drawing/2014/main" val="1905439698"/>
                    </a:ext>
                  </a:extLst>
                </a:gridCol>
                <a:gridCol w="635988">
                  <a:extLst>
                    <a:ext uri="{9D8B030D-6E8A-4147-A177-3AD203B41FA5}">
                      <a16:colId xmlns:a16="http://schemas.microsoft.com/office/drawing/2014/main" val="228860760"/>
                    </a:ext>
                  </a:extLst>
                </a:gridCol>
                <a:gridCol w="592751">
                  <a:extLst>
                    <a:ext uri="{9D8B030D-6E8A-4147-A177-3AD203B41FA5}">
                      <a16:colId xmlns:a16="http://schemas.microsoft.com/office/drawing/2014/main" val="285040429"/>
                    </a:ext>
                  </a:extLst>
                </a:gridCol>
                <a:gridCol w="645054">
                  <a:extLst>
                    <a:ext uri="{9D8B030D-6E8A-4147-A177-3AD203B41FA5}">
                      <a16:colId xmlns:a16="http://schemas.microsoft.com/office/drawing/2014/main" val="3185290885"/>
                    </a:ext>
                  </a:extLst>
                </a:gridCol>
                <a:gridCol w="965401">
                  <a:extLst>
                    <a:ext uri="{9D8B030D-6E8A-4147-A177-3AD203B41FA5}">
                      <a16:colId xmlns:a16="http://schemas.microsoft.com/office/drawing/2014/main" val="2971838831"/>
                    </a:ext>
                  </a:extLst>
                </a:gridCol>
                <a:gridCol w="1008985">
                  <a:extLst>
                    <a:ext uri="{9D8B030D-6E8A-4147-A177-3AD203B41FA5}">
                      <a16:colId xmlns:a16="http://schemas.microsoft.com/office/drawing/2014/main" val="1677353121"/>
                    </a:ext>
                  </a:extLst>
                </a:gridCol>
                <a:gridCol w="534435">
                  <a:extLst>
                    <a:ext uri="{9D8B030D-6E8A-4147-A177-3AD203B41FA5}">
                      <a16:colId xmlns:a16="http://schemas.microsoft.com/office/drawing/2014/main" val="4225824249"/>
                    </a:ext>
                  </a:extLst>
                </a:gridCol>
                <a:gridCol w="646708">
                  <a:extLst>
                    <a:ext uri="{9D8B030D-6E8A-4147-A177-3AD203B41FA5}">
                      <a16:colId xmlns:a16="http://schemas.microsoft.com/office/drawing/2014/main" val="3515784118"/>
                    </a:ext>
                  </a:extLst>
                </a:gridCol>
              </a:tblGrid>
              <a:tr h="44273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Rank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Brand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Value</a:t>
                      </a:r>
                      <a:b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₹Cr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</a:t>
                      </a:r>
                      <a:b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YoY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MS </a:t>
                      </a:r>
                      <a:b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MoM</a:t>
                      </a:r>
                      <a:b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YoY</a:t>
                      </a:r>
                      <a:b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MAT</a:t>
                      </a:r>
                      <a:b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Wtd</a:t>
                      </a: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b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4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Dist</a:t>
                      </a: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582666"/>
                  </a:ext>
                </a:extLst>
              </a:tr>
              <a:tr h="18881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Himalaya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17.9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−2%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22%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+20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▼ -328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4157698"/>
                  </a:ext>
                </a:extLst>
              </a:tr>
              <a:tr h="18881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Garnier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11.8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17%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14%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+43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+55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4790051"/>
                  </a:ext>
                </a:extLst>
              </a:tr>
              <a:tr h="18881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Pond's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11.4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14%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▼ -114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▼ -61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9074434"/>
                  </a:ext>
                </a:extLst>
              </a:tr>
              <a:tr h="18881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1" i="0" u="none" strike="noStrike" dirty="0" err="1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Mamaearth</a:t>
                      </a:r>
                      <a:r>
                        <a:rPr lang="en-IN" sz="1100" b="1" i="0" u="none" strike="noStrike" dirty="0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 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54%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12%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 dirty="0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Flat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+311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87%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6133876"/>
                  </a:ext>
                </a:extLst>
              </a:tr>
              <a:tr h="18881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Clean &amp; clear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6.3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16%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▲ +3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+22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878675"/>
                  </a:ext>
                </a:extLst>
              </a:tr>
              <a:tr h="18881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Joy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+7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▼ -30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76%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976944"/>
                  </a:ext>
                </a:extLst>
              </a:tr>
              <a:tr h="18881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Lakme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23%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 dirty="0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+60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+31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79%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018163"/>
                  </a:ext>
                </a:extLst>
              </a:tr>
              <a:tr h="18881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Nivea men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−2%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▼ -7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▼ -54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86%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2568438"/>
                  </a:ext>
                </a:extLst>
              </a:tr>
              <a:tr h="18881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Simple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+36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+223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1547601"/>
                  </a:ext>
                </a:extLst>
              </a:tr>
              <a:tr h="18881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Biotique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0.9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−22%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▼ -13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▼ -49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4939208"/>
                  </a:ext>
                </a:extLst>
              </a:tr>
              <a:tr h="18881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Patanjali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0.9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−3%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▼ -6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▼ -17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8962692"/>
                  </a:ext>
                </a:extLst>
              </a:tr>
              <a:tr h="18881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Everyuth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0.9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▼ -16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▼ -6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69%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1387041"/>
                  </a:ext>
                </a:extLst>
              </a:tr>
              <a:tr h="22136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VLCC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0.736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-22%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89%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▼ -5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▼ -40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112%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3117633"/>
                  </a:ext>
                </a:extLst>
              </a:tr>
              <a:tr h="22136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GLOW &amp; LOVELY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0.665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80%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▼ -4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▼ -5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71%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5146126"/>
                  </a:ext>
                </a:extLst>
              </a:tr>
              <a:tr h="22136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LOTUS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0.615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35%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74%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▼ -10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+12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76%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58%</a:t>
                      </a:r>
                      <a:endParaRPr lang="en-IN" sz="11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52227"/>
                  </a:ext>
                </a:extLst>
              </a:tr>
              <a:tr h="22136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1" i="0" u="none" strike="noStrike" dirty="0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THE DERMA CO 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0.606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3940%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73%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▲ +6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 dirty="0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+71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14%</a:t>
                      </a:r>
                      <a:endParaRPr lang="en-IN" sz="11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3848442"/>
                  </a:ext>
                </a:extLst>
              </a:tr>
            </a:tbl>
          </a:graphicData>
        </a:graphic>
      </p:graphicFrame>
      <p:sp>
        <p:nvSpPr>
          <p:cNvPr id="78" name="Rectangle 77">
            <a:extLst>
              <a:ext uri="{FF2B5EF4-FFF2-40B4-BE49-F238E27FC236}">
                <a16:creationId xmlns:a16="http://schemas.microsoft.com/office/drawing/2014/main" id="{9E03E78B-5ED6-90AA-121F-87E044E83A2C}"/>
              </a:ext>
            </a:extLst>
          </p:cNvPr>
          <p:cNvSpPr/>
          <p:nvPr/>
        </p:nvSpPr>
        <p:spPr>
          <a:xfrm>
            <a:off x="257976" y="6868804"/>
            <a:ext cx="7090303" cy="58146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graphicFrame>
        <p:nvGraphicFramePr>
          <p:cNvPr id="79" name="Table 78">
            <a:extLst>
              <a:ext uri="{FF2B5EF4-FFF2-40B4-BE49-F238E27FC236}">
                <a16:creationId xmlns:a16="http://schemas.microsoft.com/office/drawing/2014/main" id="{F9F466B6-FE5F-DA4E-34A0-AA74121404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47168"/>
              </p:ext>
            </p:extLst>
          </p:nvPr>
        </p:nvGraphicFramePr>
        <p:xfrm>
          <a:off x="4128740" y="4957440"/>
          <a:ext cx="3229084" cy="785521"/>
        </p:xfrm>
        <a:graphic>
          <a:graphicData uri="http://schemas.openxmlformats.org/drawingml/2006/table">
            <a:tbl>
              <a:tblPr/>
              <a:tblGrid>
                <a:gridCol w="635647">
                  <a:extLst>
                    <a:ext uri="{9D8B030D-6E8A-4147-A177-3AD203B41FA5}">
                      <a16:colId xmlns:a16="http://schemas.microsoft.com/office/drawing/2014/main" val="4192271008"/>
                    </a:ext>
                  </a:extLst>
                </a:gridCol>
                <a:gridCol w="114416">
                  <a:extLst>
                    <a:ext uri="{9D8B030D-6E8A-4147-A177-3AD203B41FA5}">
                      <a16:colId xmlns:a16="http://schemas.microsoft.com/office/drawing/2014/main" val="526558863"/>
                    </a:ext>
                  </a:extLst>
                </a:gridCol>
                <a:gridCol w="114416">
                  <a:extLst>
                    <a:ext uri="{9D8B030D-6E8A-4147-A177-3AD203B41FA5}">
                      <a16:colId xmlns:a16="http://schemas.microsoft.com/office/drawing/2014/main" val="627186890"/>
                    </a:ext>
                  </a:extLst>
                </a:gridCol>
                <a:gridCol w="635647">
                  <a:extLst>
                    <a:ext uri="{9D8B030D-6E8A-4147-A177-3AD203B41FA5}">
                      <a16:colId xmlns:a16="http://schemas.microsoft.com/office/drawing/2014/main" val="4072241119"/>
                    </a:ext>
                  </a:extLst>
                </a:gridCol>
                <a:gridCol w="114416">
                  <a:extLst>
                    <a:ext uri="{9D8B030D-6E8A-4147-A177-3AD203B41FA5}">
                      <a16:colId xmlns:a16="http://schemas.microsoft.com/office/drawing/2014/main" val="188857945"/>
                    </a:ext>
                  </a:extLst>
                </a:gridCol>
                <a:gridCol w="114416">
                  <a:extLst>
                    <a:ext uri="{9D8B030D-6E8A-4147-A177-3AD203B41FA5}">
                      <a16:colId xmlns:a16="http://schemas.microsoft.com/office/drawing/2014/main" val="965029248"/>
                    </a:ext>
                  </a:extLst>
                </a:gridCol>
                <a:gridCol w="635647">
                  <a:extLst>
                    <a:ext uri="{9D8B030D-6E8A-4147-A177-3AD203B41FA5}">
                      <a16:colId xmlns:a16="http://schemas.microsoft.com/office/drawing/2014/main" val="2970150461"/>
                    </a:ext>
                  </a:extLst>
                </a:gridCol>
                <a:gridCol w="114416">
                  <a:extLst>
                    <a:ext uri="{9D8B030D-6E8A-4147-A177-3AD203B41FA5}">
                      <a16:colId xmlns:a16="http://schemas.microsoft.com/office/drawing/2014/main" val="388586537"/>
                    </a:ext>
                  </a:extLst>
                </a:gridCol>
                <a:gridCol w="114416">
                  <a:extLst>
                    <a:ext uri="{9D8B030D-6E8A-4147-A177-3AD203B41FA5}">
                      <a16:colId xmlns:a16="http://schemas.microsoft.com/office/drawing/2014/main" val="766113091"/>
                    </a:ext>
                  </a:extLst>
                </a:gridCol>
                <a:gridCol w="635647">
                  <a:extLst>
                    <a:ext uri="{9D8B030D-6E8A-4147-A177-3AD203B41FA5}">
                      <a16:colId xmlns:a16="http://schemas.microsoft.com/office/drawing/2014/main" val="499297180"/>
                    </a:ext>
                  </a:extLst>
                </a:gridCol>
              </a:tblGrid>
              <a:tr h="232846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The</a:t>
                      </a:r>
                      <a:b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Derma Co</a:t>
                      </a:r>
                      <a:b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FACE</a:t>
                      </a:r>
                      <a:b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</a:br>
                      <a:r>
                        <a:rPr lang="en-U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WASHz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B0004020202020204" pitchFamily="34" charset="0"/>
                      </a:endParaRPr>
                    </a:p>
                  </a:txBody>
                  <a:tcPr marL="4606" marR="4606" marT="4606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A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A6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4606" marR="4606" marT="4606" marB="0" anchor="b">
                    <a:lnL w="6350" cap="flat" cmpd="sng" algn="ctr">
                      <a:solidFill>
                        <a:srgbClr val="1AA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4606" marR="4606" marT="4606" marB="0" anchor="b">
                    <a:lnL>
                      <a:noFill/>
                    </a:lnL>
                    <a:lnR w="6350" cap="flat" cmpd="sng" algn="ctr">
                      <a:solidFill>
                        <a:srgbClr val="356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7F9FB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May’26</a:t>
                      </a:r>
                      <a:b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</a:b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Value .60</a:t>
                      </a:r>
                      <a:b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</a:b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Lakhs</a:t>
                      </a:r>
                    </a:p>
                  </a:txBody>
                  <a:tcPr marL="4606" marR="4606" marT="4606" marB="0" anchor="ctr">
                    <a:lnL w="6350" cap="flat" cmpd="sng" algn="ctr">
                      <a:solidFill>
                        <a:srgbClr val="356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56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F9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4606" marR="4606" marT="4606" marB="0" anchor="b">
                    <a:lnL w="6350" cap="flat" cmpd="sng" algn="ctr">
                      <a:solidFill>
                        <a:srgbClr val="356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4606" marR="4606" marT="4606" marB="0" anchor="b">
                    <a:lnL>
                      <a:noFill/>
                    </a:lnL>
                    <a:lnR w="6350" cap="flat" cmpd="sng" algn="ctr">
                      <a:solidFill>
                        <a:srgbClr val="6851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7F9FB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M/S 0.7%</a:t>
                      </a:r>
                      <a:b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</a:b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▲ +71 bps</a:t>
                      </a:r>
                    </a:p>
                  </a:txBody>
                  <a:tcPr marL="4606" marR="4606" marT="4606" marB="0" anchor="ctr">
                    <a:lnL w="6350" cap="flat" cmpd="sng" algn="ctr">
                      <a:solidFill>
                        <a:srgbClr val="6851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851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8519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4606" marR="4606" marT="4606" marB="0" anchor="b">
                    <a:lnL w="6350" cap="flat" cmpd="sng" algn="ctr">
                      <a:solidFill>
                        <a:srgbClr val="6851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4606" marR="4606" marT="4606" marB="0" anchor="b">
                    <a:lnL>
                      <a:noFill/>
                    </a:lnL>
                    <a:lnR w="6350" cap="flat" cmpd="sng" algn="ctr">
                      <a:solidFill>
                        <a:srgbClr val="873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7F9FB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Dist</a:t>
                      </a: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 </a:t>
                      </a:r>
                    </a:p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0.6%→14.2%</a:t>
                      </a:r>
                    </a:p>
                  </a:txBody>
                  <a:tcPr marL="4606" marR="4606" marT="4606" marB="0" anchor="ctr">
                    <a:lnL w="6350" cap="flat" cmpd="sng" algn="ctr">
                      <a:solidFill>
                        <a:srgbClr val="873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35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438582"/>
                  </a:ext>
                </a:extLst>
              </a:tr>
              <a:tr h="31982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C9D1EA"/>
                          </a:solidFill>
                          <a:effectLst/>
                          <a:latin typeface="Calibri" panose="020B0004020202020204" pitchFamily="34" charset="0"/>
                        </a:rPr>
                        <a:t>▶</a:t>
                      </a:r>
                    </a:p>
                  </a:txBody>
                  <a:tcPr marL="4606" marR="4606" marT="4606" marB="0" anchor="ctr">
                    <a:lnL w="6350" cap="flat" cmpd="sng" algn="ctr">
                      <a:solidFill>
                        <a:srgbClr val="1AA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56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C9D1EA"/>
                          </a:solidFill>
                          <a:effectLst/>
                          <a:latin typeface="Calibri" panose="020B0004020202020204" pitchFamily="34" charset="0"/>
                        </a:rPr>
                        <a:t>▶</a:t>
                      </a:r>
                    </a:p>
                  </a:txBody>
                  <a:tcPr marL="4606" marR="4606" marT="4606" marB="0" anchor="ctr">
                    <a:lnL w="6350" cap="flat" cmpd="sng" algn="ctr">
                      <a:solidFill>
                        <a:srgbClr val="356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851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rgbClr val="C9D1EA"/>
                          </a:solidFill>
                          <a:effectLst/>
                          <a:latin typeface="Calibri" panose="020B0004020202020204" pitchFamily="34" charset="0"/>
                        </a:rPr>
                        <a:t>▶</a:t>
                      </a:r>
                    </a:p>
                  </a:txBody>
                  <a:tcPr marL="4606" marR="4606" marT="4606" marB="0" anchor="ctr">
                    <a:lnL w="6350" cap="flat" cmpd="sng" algn="ctr">
                      <a:solidFill>
                        <a:srgbClr val="6851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73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2107009"/>
                  </a:ext>
                </a:extLst>
              </a:tr>
              <a:tr h="23284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4606" marR="4606" marT="4606" marB="0" anchor="b">
                    <a:lnL w="6350" cap="flat" cmpd="sng" algn="ctr">
                      <a:solidFill>
                        <a:srgbClr val="1AA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4606" marR="4606" marT="4606" marB="0" anchor="b">
                    <a:lnL>
                      <a:noFill/>
                    </a:lnL>
                    <a:lnR w="6350" cap="flat" cmpd="sng" algn="ctr">
                      <a:solidFill>
                        <a:srgbClr val="356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4606" marR="4606" marT="4606" marB="0" anchor="b">
                    <a:lnL w="6350" cap="flat" cmpd="sng" algn="ctr">
                      <a:solidFill>
                        <a:srgbClr val="356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4606" marR="4606" marT="4606" marB="0" anchor="b">
                    <a:lnL>
                      <a:noFill/>
                    </a:lnL>
                    <a:lnR w="6350" cap="flat" cmpd="sng" algn="ctr">
                      <a:solidFill>
                        <a:srgbClr val="6851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4606" marR="4606" marT="4606" marB="0" anchor="b">
                    <a:lnL w="6350" cap="flat" cmpd="sng" algn="ctr">
                      <a:solidFill>
                        <a:srgbClr val="6851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 dirty="0"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4606" marR="4606" marT="4606" marB="0" anchor="b">
                    <a:lnL>
                      <a:noFill/>
                    </a:lnL>
                    <a:lnR w="6350" cap="flat" cmpd="sng" algn="ctr">
                      <a:solidFill>
                        <a:srgbClr val="873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565598"/>
                  </a:ext>
                </a:extLst>
              </a:tr>
            </a:tbl>
          </a:graphicData>
        </a:graphic>
      </p:graphicFrame>
      <p:grpSp>
        <p:nvGrpSpPr>
          <p:cNvPr id="100" name="Group 99">
            <a:extLst>
              <a:ext uri="{FF2B5EF4-FFF2-40B4-BE49-F238E27FC236}">
                <a16:creationId xmlns:a16="http://schemas.microsoft.com/office/drawing/2014/main" id="{BF1ADC7B-6C75-7E99-ADFA-E1880C2AE6B7}"/>
              </a:ext>
            </a:extLst>
          </p:cNvPr>
          <p:cNvGrpSpPr/>
          <p:nvPr/>
        </p:nvGrpSpPr>
        <p:grpSpPr>
          <a:xfrm>
            <a:off x="1026608" y="5171487"/>
            <a:ext cx="179276" cy="253520"/>
            <a:chOff x="995555" y="5177897"/>
            <a:chExt cx="177228" cy="241007"/>
          </a:xfrm>
        </p:grpSpPr>
        <p:sp>
          <p:nvSpPr>
            <p:cNvPr id="94" name="Arrow: Right 93">
              <a:extLst>
                <a:ext uri="{FF2B5EF4-FFF2-40B4-BE49-F238E27FC236}">
                  <a16:creationId xmlns:a16="http://schemas.microsoft.com/office/drawing/2014/main" id="{B5511F54-B5BA-4318-3DD3-EF580B187775}"/>
                </a:ext>
              </a:extLst>
            </p:cNvPr>
            <p:cNvSpPr/>
            <p:nvPr/>
          </p:nvSpPr>
          <p:spPr>
            <a:xfrm>
              <a:off x="1000989" y="5177897"/>
              <a:ext cx="171794" cy="241007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156082"/>
            </a:solidFill>
            <a:ln>
              <a:solidFill>
                <a:schemeClr val="tx1"/>
              </a:solidFill>
            </a:ln>
            <a:effectLst>
              <a:outerShdw blurRad="57150" dist="19050" dir="5400000">
                <a:srgbClr val="000000">
                  <a:alpha val="63000"/>
                </a:srgbClr>
              </a:outerShdw>
            </a:effec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IN"/>
            </a:p>
          </p:txBody>
        </p:sp>
        <p:sp>
          <p:nvSpPr>
            <p:cNvPr id="95" name="Arrow: Right 4">
              <a:extLst>
                <a:ext uri="{FF2B5EF4-FFF2-40B4-BE49-F238E27FC236}">
                  <a16:creationId xmlns:a16="http://schemas.microsoft.com/office/drawing/2014/main" id="{DF3C1ACD-D9CF-6F94-3D37-F0B86EEA1D04}"/>
                </a:ext>
              </a:extLst>
            </p:cNvPr>
            <p:cNvSpPr txBox="1"/>
            <p:nvPr/>
          </p:nvSpPr>
          <p:spPr>
            <a:xfrm>
              <a:off x="995555" y="5226099"/>
              <a:ext cx="106683" cy="14460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txBody>
            <a:bodyPr spcFirstLastPara="0" vert="horz" wrap="square" lIns="0" tIns="0" rIns="0" bIns="0" numCol="1" spcCol="1270" anchor="ctr" anchorCtr="0"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3556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lang="en-IN"/>
            </a:p>
          </p:txBody>
        </p:sp>
      </p:grpSp>
      <p:sp>
        <p:nvSpPr>
          <p:cNvPr id="88" name="Flow Box 1">
            <a:extLst>
              <a:ext uri="{FF2B5EF4-FFF2-40B4-BE49-F238E27FC236}">
                <a16:creationId xmlns:a16="http://schemas.microsoft.com/office/drawing/2014/main" id="{65FFDF55-186E-4F70-B848-01B98474871B}"/>
              </a:ext>
            </a:extLst>
          </p:cNvPr>
          <p:cNvSpPr>
            <a:spLocks noGrp="1"/>
          </p:cNvSpPr>
          <p:nvPr/>
        </p:nvSpPr>
        <p:spPr>
          <a:xfrm>
            <a:off x="257975" y="4968416"/>
            <a:ext cx="720197" cy="748609"/>
          </a:xfrm>
          <a:prstGeom prst="roundRect">
            <a:avLst/>
          </a:prstGeom>
          <a:solidFill>
            <a:srgbClr val="08A5E1"/>
          </a:solidFill>
          <a:ln w="9525">
            <a:solidFill>
              <a:schemeClr val="tx1"/>
            </a:solidFill>
            <a:prstDash val="solid"/>
          </a:ln>
        </p:spPr>
        <p:txBody>
          <a:bodyPr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000" b="1" dirty="0">
                <a:solidFill>
                  <a:schemeClr val="bg1"/>
                </a:solidFill>
              </a:rPr>
              <a:t>ME</a:t>
            </a:r>
            <a:endParaRPr sz="1000" b="1" dirty="0">
              <a:solidFill>
                <a:schemeClr val="bg1"/>
              </a:solidFill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00" b="1" dirty="0">
                <a:solidFill>
                  <a:schemeClr val="bg1"/>
                </a:solidFill>
              </a:rPr>
              <a:t>FACE</a:t>
            </a:r>
            <a:r>
              <a:rPr lang="en-IN" sz="1000" b="1" dirty="0">
                <a:solidFill>
                  <a:schemeClr val="bg1"/>
                </a:solidFill>
              </a:rPr>
              <a:t> </a:t>
            </a:r>
            <a:r>
              <a:rPr sz="1000" b="1" dirty="0">
                <a:solidFill>
                  <a:schemeClr val="bg1"/>
                </a:solidFill>
              </a:rPr>
              <a:t>WASH</a:t>
            </a:r>
            <a:r>
              <a:rPr lang="en-IN" sz="1000" b="1" dirty="0">
                <a:solidFill>
                  <a:schemeClr val="bg1"/>
                </a:solidFill>
              </a:rPr>
              <a:t> Rank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000" b="1" dirty="0">
                <a:solidFill>
                  <a:schemeClr val="bg1"/>
                </a:solidFill>
              </a:rPr>
              <a:t>#4 </a:t>
            </a:r>
            <a:endParaRPr sz="1000" b="1" dirty="0">
              <a:solidFill>
                <a:schemeClr val="bg1"/>
              </a:solidFill>
            </a:endParaRPr>
          </a:p>
        </p:txBody>
      </p:sp>
      <p:sp>
        <p:nvSpPr>
          <p:cNvPr id="89" name="Flow Box 2">
            <a:extLst>
              <a:ext uri="{FF2B5EF4-FFF2-40B4-BE49-F238E27FC236}">
                <a16:creationId xmlns:a16="http://schemas.microsoft.com/office/drawing/2014/main" id="{DFAB2D56-689D-4CBB-B28E-14DA7BAB8D4B}"/>
              </a:ext>
            </a:extLst>
          </p:cNvPr>
          <p:cNvSpPr>
            <a:spLocks noGrp="1"/>
          </p:cNvSpPr>
          <p:nvPr/>
        </p:nvSpPr>
        <p:spPr>
          <a:xfrm>
            <a:off x="1254320" y="4974438"/>
            <a:ext cx="674997" cy="742230"/>
          </a:xfrm>
          <a:prstGeom prst="roundRect">
            <a:avLst/>
          </a:prstGeom>
          <a:solidFill>
            <a:srgbClr val="4EB693"/>
          </a:solidFill>
          <a:ln w="9525">
            <a:solidFill>
              <a:schemeClr val="tx1"/>
            </a:solidFill>
            <a:prstDash val="solid"/>
          </a:ln>
        </p:spPr>
        <p:txBody>
          <a:bodyPr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00" b="1" dirty="0">
                <a:solidFill>
                  <a:schemeClr val="bg1"/>
                </a:solidFill>
              </a:rPr>
              <a:t>May'26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00" b="1" dirty="0">
                <a:solidFill>
                  <a:schemeClr val="bg1"/>
                </a:solidFill>
              </a:rPr>
              <a:t>Value ₹9.6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00" b="1" dirty="0">
                <a:solidFill>
                  <a:schemeClr val="bg1"/>
                </a:solidFill>
              </a:rPr>
              <a:t>Cr</a:t>
            </a:r>
          </a:p>
        </p:txBody>
      </p:sp>
      <p:sp>
        <p:nvSpPr>
          <p:cNvPr id="90" name="Arrow: Right 89">
            <a:extLst>
              <a:ext uri="{FF2B5EF4-FFF2-40B4-BE49-F238E27FC236}">
                <a16:creationId xmlns:a16="http://schemas.microsoft.com/office/drawing/2014/main" id="{51B990B2-3BDA-4993-8961-8793336DBAB2}"/>
              </a:ext>
            </a:extLst>
          </p:cNvPr>
          <p:cNvSpPr/>
          <p:nvPr/>
        </p:nvSpPr>
        <p:spPr>
          <a:xfrm>
            <a:off x="1988245" y="5165711"/>
            <a:ext cx="193005" cy="253520"/>
          </a:xfrm>
          <a:prstGeom prst="rightArrow">
            <a:avLst>
              <a:gd name="adj1" fmla="val 60000"/>
              <a:gd name="adj2" fmla="val 50000"/>
            </a:avLst>
          </a:prstGeom>
          <a:solidFill>
            <a:srgbClr val="156082"/>
          </a:solidFill>
          <a:ln>
            <a:solidFill>
              <a:schemeClr val="tx1"/>
            </a:solidFill>
          </a:ln>
          <a:effectLst>
            <a:outerShdw blurRad="57150" dist="19050" dir="5400000">
              <a:srgbClr val="000000">
                <a:alpha val="63000"/>
              </a:srgbClr>
            </a:outerShdw>
          </a:effec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/>
          </a:p>
        </p:txBody>
      </p:sp>
      <p:sp>
        <p:nvSpPr>
          <p:cNvPr id="91" name="Flow Box 3">
            <a:extLst>
              <a:ext uri="{FF2B5EF4-FFF2-40B4-BE49-F238E27FC236}">
                <a16:creationId xmlns:a16="http://schemas.microsoft.com/office/drawing/2014/main" id="{12223511-186F-4E38-A6C9-D4AD296C1461}"/>
              </a:ext>
            </a:extLst>
          </p:cNvPr>
          <p:cNvSpPr>
            <a:spLocks noGrp="1"/>
          </p:cNvSpPr>
          <p:nvPr/>
        </p:nvSpPr>
        <p:spPr>
          <a:xfrm>
            <a:off x="2219007" y="4968792"/>
            <a:ext cx="760205" cy="733733"/>
          </a:xfrm>
          <a:prstGeom prst="roundRect">
            <a:avLst/>
          </a:prstGeom>
          <a:solidFill>
            <a:srgbClr val="95C645"/>
          </a:solidFill>
          <a:ln w="9525">
            <a:solidFill>
              <a:schemeClr val="tx1"/>
            </a:solidFill>
            <a:prstDash val="solid"/>
          </a:ln>
        </p:spPr>
        <p:txBody>
          <a:bodyPr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00" b="1" dirty="0">
                <a:solidFill>
                  <a:schemeClr val="bg1"/>
                </a:solidFill>
              </a:rPr>
              <a:t>M/S</a:t>
            </a:r>
            <a:r>
              <a:rPr lang="en-IN" sz="1000" b="1" dirty="0">
                <a:solidFill>
                  <a:schemeClr val="bg1"/>
                </a:solidFill>
              </a:rPr>
              <a:t> </a:t>
            </a:r>
            <a:r>
              <a:rPr sz="1000" b="1" dirty="0">
                <a:solidFill>
                  <a:schemeClr val="bg1"/>
                </a:solidFill>
              </a:rPr>
              <a:t>11.6%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1" dirty="0">
                <a:solidFill>
                  <a:schemeClr val="bg1"/>
                </a:solidFill>
              </a:rPr>
              <a:t>▲</a:t>
            </a:r>
            <a:r>
              <a:rPr sz="1000" b="1" dirty="0">
                <a:solidFill>
                  <a:schemeClr val="bg1"/>
                </a:solidFill>
              </a:rPr>
              <a:t>+311</a:t>
            </a:r>
            <a:endParaRPr lang="en-IN" sz="1000" b="1" dirty="0">
              <a:solidFill>
                <a:schemeClr val="bg1"/>
              </a:solidFill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000" b="1" dirty="0">
                <a:solidFill>
                  <a:schemeClr val="bg1"/>
                </a:solidFill>
              </a:rPr>
              <a:t>B</a:t>
            </a:r>
            <a:r>
              <a:rPr sz="1000" b="1" dirty="0" err="1">
                <a:solidFill>
                  <a:schemeClr val="bg1"/>
                </a:solidFill>
              </a:rPr>
              <a:t>ps</a:t>
            </a:r>
            <a:r>
              <a:rPr lang="en-IN" sz="1000" b="1" dirty="0">
                <a:solidFill>
                  <a:schemeClr val="bg1"/>
                </a:solidFill>
              </a:rPr>
              <a:t> </a:t>
            </a:r>
            <a:r>
              <a:rPr sz="1000" b="1" dirty="0">
                <a:solidFill>
                  <a:schemeClr val="bg1"/>
                </a:solidFill>
              </a:rPr>
              <a:t>YOY</a:t>
            </a:r>
          </a:p>
        </p:txBody>
      </p:sp>
      <p:sp>
        <p:nvSpPr>
          <p:cNvPr id="92" name="Flow Box 4">
            <a:extLst>
              <a:ext uri="{FF2B5EF4-FFF2-40B4-BE49-F238E27FC236}">
                <a16:creationId xmlns:a16="http://schemas.microsoft.com/office/drawing/2014/main" id="{6809C1E7-C082-4A53-A6C8-628BC455BEFC}"/>
              </a:ext>
            </a:extLst>
          </p:cNvPr>
          <p:cNvSpPr>
            <a:spLocks noGrp="1"/>
          </p:cNvSpPr>
          <p:nvPr/>
        </p:nvSpPr>
        <p:spPr>
          <a:xfrm>
            <a:off x="3289550" y="4957440"/>
            <a:ext cx="735764" cy="762185"/>
          </a:xfrm>
          <a:prstGeom prst="roundRect">
            <a:avLst/>
          </a:prstGeom>
          <a:solidFill>
            <a:srgbClr val="4EB693"/>
          </a:solidFill>
          <a:ln w="9525">
            <a:solidFill>
              <a:schemeClr val="tx1"/>
            </a:solidFill>
            <a:prstDash val="solid"/>
          </a:ln>
        </p:spPr>
        <p:txBody>
          <a:bodyPr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00" b="1" dirty="0" err="1">
                <a:solidFill>
                  <a:schemeClr val="bg1"/>
                </a:solidFill>
              </a:rPr>
              <a:t>Dist</a:t>
            </a:r>
            <a:r>
              <a:rPr lang="en-IN" sz="1000" b="1" dirty="0">
                <a:solidFill>
                  <a:schemeClr val="bg1"/>
                </a:solidFill>
              </a:rPr>
              <a:t> </a:t>
            </a:r>
            <a:r>
              <a:rPr sz="1000" b="1" dirty="0">
                <a:solidFill>
                  <a:schemeClr val="bg1"/>
                </a:solidFill>
              </a:rPr>
              <a:t>81→8</a:t>
            </a:r>
            <a:r>
              <a:rPr lang="en-IN" sz="1000" b="1" dirty="0">
                <a:solidFill>
                  <a:schemeClr val="bg1"/>
                </a:solidFill>
              </a:rPr>
              <a:t>7</a:t>
            </a:r>
            <a:r>
              <a:rPr sz="1000" b="1" dirty="0">
                <a:solidFill>
                  <a:schemeClr val="bg1"/>
                </a:solidFill>
              </a:rPr>
              <a:t>%</a:t>
            </a:r>
          </a:p>
        </p:txBody>
      </p:sp>
      <p:sp>
        <p:nvSpPr>
          <p:cNvPr id="93" name="Arrow: Right 92">
            <a:extLst>
              <a:ext uri="{FF2B5EF4-FFF2-40B4-BE49-F238E27FC236}">
                <a16:creationId xmlns:a16="http://schemas.microsoft.com/office/drawing/2014/main" id="{675A98A8-0D5E-4B24-B51C-30292EA1AC26}"/>
              </a:ext>
            </a:extLst>
          </p:cNvPr>
          <p:cNvSpPr/>
          <p:nvPr/>
        </p:nvSpPr>
        <p:spPr>
          <a:xfrm>
            <a:off x="3048108" y="5174959"/>
            <a:ext cx="193005" cy="253520"/>
          </a:xfrm>
          <a:prstGeom prst="rightArrow">
            <a:avLst>
              <a:gd name="adj1" fmla="val 60000"/>
              <a:gd name="adj2" fmla="val 50000"/>
            </a:avLst>
          </a:prstGeom>
          <a:solidFill>
            <a:srgbClr val="156082"/>
          </a:solidFill>
          <a:ln>
            <a:solidFill>
              <a:schemeClr val="tx1"/>
            </a:solidFill>
          </a:ln>
          <a:effectLst>
            <a:outerShdw blurRad="57150" dist="19050" dir="5400000">
              <a:srgbClr val="000000">
                <a:alpha val="63000"/>
              </a:srgbClr>
            </a:outerShdw>
          </a:effec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3419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" y="3934882"/>
            <a:ext cx="7562820" cy="424953"/>
          </a:xfrm>
          <a:prstGeom prst="rect">
            <a:avLst/>
          </a:prstGeom>
          <a:solidFill>
            <a:srgbClr val="2D9B7F"/>
          </a:solidFill>
          <a:ln w="12700">
            <a:solidFill>
              <a:srgbClr val="0B1F3A"/>
            </a:solidFill>
            <a:prstDash val="solid"/>
          </a:ln>
        </p:spPr>
        <p:txBody>
          <a:bodyPr anchor="t"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0" y="3980166"/>
            <a:ext cx="7562850" cy="366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NIELSEN MARKET SHARE READOUT: SHAMPOO</a:t>
            </a:r>
            <a:endParaRPr lang="en-US" sz="1350" dirty="0"/>
          </a:p>
        </p:txBody>
      </p:sp>
      <p:graphicFrame>
        <p:nvGraphicFramePr>
          <p:cNvPr id="46" name="Diagram 45">
            <a:extLst>
              <a:ext uri="{FF2B5EF4-FFF2-40B4-BE49-F238E27FC236}">
                <a16:creationId xmlns:a16="http://schemas.microsoft.com/office/drawing/2014/main" id="{1B6D1794-1D66-C673-96EC-A6D1FC7345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58290860"/>
              </p:ext>
            </p:extLst>
          </p:nvPr>
        </p:nvGraphicFramePr>
        <p:xfrm>
          <a:off x="154235" y="5368581"/>
          <a:ext cx="7181032" cy="10849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636B1AAB-4748-7CC0-BEE7-26A29602347A}"/>
              </a:ext>
            </a:extLst>
          </p:cNvPr>
          <p:cNvSpPr/>
          <p:nvPr/>
        </p:nvSpPr>
        <p:spPr>
          <a:xfrm>
            <a:off x="109269" y="5319982"/>
            <a:ext cx="60910" cy="1192189"/>
          </a:xfrm>
          <a:prstGeom prst="rect">
            <a:avLst/>
          </a:prstGeom>
          <a:solidFill>
            <a:srgbClr val="2D9B7F"/>
          </a:solidFill>
          <a:ln w="9525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B8656B2-8BE9-1A4B-D34B-2D4E8094CDD4}"/>
              </a:ext>
            </a:extLst>
          </p:cNvPr>
          <p:cNvSpPr/>
          <p:nvPr/>
        </p:nvSpPr>
        <p:spPr>
          <a:xfrm>
            <a:off x="109268" y="6472949"/>
            <a:ext cx="7271718" cy="57553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12A20D-23EB-A36C-2630-4AC1414949C0}"/>
              </a:ext>
            </a:extLst>
          </p:cNvPr>
          <p:cNvSpPr/>
          <p:nvPr/>
        </p:nvSpPr>
        <p:spPr>
          <a:xfrm flipV="1">
            <a:off x="124458" y="5308057"/>
            <a:ext cx="7271718" cy="45719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780BEB92-7A66-ADCE-38EA-A15EE053485B}"/>
              </a:ext>
            </a:extLst>
          </p:cNvPr>
          <p:cNvSpPr/>
          <p:nvPr/>
        </p:nvSpPr>
        <p:spPr>
          <a:xfrm>
            <a:off x="143242" y="538082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908C298-A068-367C-958B-89B223497564}"/>
              </a:ext>
            </a:extLst>
          </p:cNvPr>
          <p:cNvSpPr/>
          <p:nvPr/>
        </p:nvSpPr>
        <p:spPr>
          <a:xfrm flipH="1">
            <a:off x="7335267" y="5308060"/>
            <a:ext cx="45719" cy="1191183"/>
          </a:xfrm>
          <a:prstGeom prst="rect">
            <a:avLst/>
          </a:prstGeom>
          <a:solidFill>
            <a:srgbClr val="2D9B7F"/>
          </a:solidFill>
          <a:ln w="9525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63E0B81-1D4E-027E-8644-ABE438577D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2384637"/>
              </p:ext>
            </p:extLst>
          </p:nvPr>
        </p:nvGraphicFramePr>
        <p:xfrm>
          <a:off x="158039" y="6586482"/>
          <a:ext cx="7177228" cy="4000409"/>
        </p:xfrm>
        <a:graphic>
          <a:graphicData uri="http://schemas.openxmlformats.org/drawingml/2006/table">
            <a:tbl>
              <a:tblPr/>
              <a:tblGrid>
                <a:gridCol w="460485">
                  <a:extLst>
                    <a:ext uri="{9D8B030D-6E8A-4147-A177-3AD203B41FA5}">
                      <a16:colId xmlns:a16="http://schemas.microsoft.com/office/drawing/2014/main" val="2287102801"/>
                    </a:ext>
                  </a:extLst>
                </a:gridCol>
                <a:gridCol w="1508489">
                  <a:extLst>
                    <a:ext uri="{9D8B030D-6E8A-4147-A177-3AD203B41FA5}">
                      <a16:colId xmlns:a16="http://schemas.microsoft.com/office/drawing/2014/main" val="3967937189"/>
                    </a:ext>
                  </a:extLst>
                </a:gridCol>
                <a:gridCol w="460485">
                  <a:extLst>
                    <a:ext uri="{9D8B030D-6E8A-4147-A177-3AD203B41FA5}">
                      <a16:colId xmlns:a16="http://schemas.microsoft.com/office/drawing/2014/main" val="1876209470"/>
                    </a:ext>
                  </a:extLst>
                </a:gridCol>
                <a:gridCol w="603396">
                  <a:extLst>
                    <a:ext uri="{9D8B030D-6E8A-4147-A177-3AD203B41FA5}">
                      <a16:colId xmlns:a16="http://schemas.microsoft.com/office/drawing/2014/main" val="4020892610"/>
                    </a:ext>
                  </a:extLst>
                </a:gridCol>
                <a:gridCol w="936851">
                  <a:extLst>
                    <a:ext uri="{9D8B030D-6E8A-4147-A177-3AD203B41FA5}">
                      <a16:colId xmlns:a16="http://schemas.microsoft.com/office/drawing/2014/main" val="1655522661"/>
                    </a:ext>
                  </a:extLst>
                </a:gridCol>
                <a:gridCol w="936851">
                  <a:extLst>
                    <a:ext uri="{9D8B030D-6E8A-4147-A177-3AD203B41FA5}">
                      <a16:colId xmlns:a16="http://schemas.microsoft.com/office/drawing/2014/main" val="4020451871"/>
                    </a:ext>
                  </a:extLst>
                </a:gridCol>
                <a:gridCol w="936851">
                  <a:extLst>
                    <a:ext uri="{9D8B030D-6E8A-4147-A177-3AD203B41FA5}">
                      <a16:colId xmlns:a16="http://schemas.microsoft.com/office/drawing/2014/main" val="3277651063"/>
                    </a:ext>
                  </a:extLst>
                </a:gridCol>
                <a:gridCol w="666910">
                  <a:extLst>
                    <a:ext uri="{9D8B030D-6E8A-4147-A177-3AD203B41FA5}">
                      <a16:colId xmlns:a16="http://schemas.microsoft.com/office/drawing/2014/main" val="2945216774"/>
                    </a:ext>
                  </a:extLst>
                </a:gridCol>
                <a:gridCol w="666910">
                  <a:extLst>
                    <a:ext uri="{9D8B030D-6E8A-4147-A177-3AD203B41FA5}">
                      <a16:colId xmlns:a16="http://schemas.microsoft.com/office/drawing/2014/main" val="2232411814"/>
                    </a:ext>
                  </a:extLst>
                </a:gridCol>
              </a:tblGrid>
              <a:tr h="325769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Rank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Brand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Value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MS Val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MoM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YoY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Wtd Dist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89C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7059701"/>
                  </a:ext>
                </a:extLst>
              </a:tr>
              <a:tr h="18379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₹Cr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YoY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5231749"/>
                  </a:ext>
                </a:extLst>
              </a:tr>
              <a:tr h="34098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Dove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29.6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18%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+170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▲ +20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3914778"/>
                  </a:ext>
                </a:extLst>
              </a:tr>
              <a:tr h="34098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L'oreal paris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22.1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20%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13%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+70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+130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5232837"/>
                  </a:ext>
                </a:extLst>
              </a:tr>
              <a:tr h="34098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Head &amp; shoulders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−8%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11%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▲ +130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▲ +200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1714"/>
                  </a:ext>
                </a:extLst>
              </a:tr>
              <a:tr h="34098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Tresemme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17.3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25%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+90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+140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5606104"/>
                  </a:ext>
                </a:extLst>
              </a:tr>
              <a:tr h="21064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Clinic plus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16.7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14%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+30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+50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4610130"/>
                  </a:ext>
                </a:extLst>
              </a:tr>
              <a:tr h="34098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Sunsilk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14.8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−7%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Flat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▲ +150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4994400"/>
                  </a:ext>
                </a:extLst>
              </a:tr>
              <a:tr h="34098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Mamaearth 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6.5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64%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▲ +30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+130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81%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5168150"/>
                  </a:ext>
                </a:extLst>
              </a:tr>
              <a:tr h="21064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Pantene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6.5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−4%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▲ +30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▲ +50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8776089"/>
                  </a:ext>
                </a:extLst>
              </a:tr>
              <a:tr h="21064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Himalaya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5.7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▲ +40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 dirty="0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▲ +20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7885179"/>
                  </a:ext>
                </a:extLst>
              </a:tr>
              <a:tr h="34098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Himalaya baby care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16%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▲ +30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+20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9723359"/>
                  </a:ext>
                </a:extLst>
              </a:tr>
              <a:tr h="21064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Meera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15%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▲ +20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+10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1236189"/>
                  </a:ext>
                </a:extLst>
              </a:tr>
              <a:tr h="21064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Dabur vatika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35%</a:t>
                      </a:r>
                      <a:endParaRPr lang="en-IN" sz="1400" b="1" i="0" u="none" strike="noStrike" dirty="0">
                        <a:solidFill>
                          <a:srgbClr val="008A3D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▲ +10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+30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78%</a:t>
                      </a:r>
                      <a:endParaRPr lang="en-IN" sz="14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5290598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9195988B-2C53-CE52-FE20-615B28D6398F}"/>
              </a:ext>
            </a:extLst>
          </p:cNvPr>
          <p:cNvSpPr/>
          <p:nvPr/>
        </p:nvSpPr>
        <p:spPr>
          <a:xfrm>
            <a:off x="135382" y="152525"/>
            <a:ext cx="7126503" cy="45719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F7C811-7D0E-BE95-1073-42658F76E103}"/>
              </a:ext>
            </a:extLst>
          </p:cNvPr>
          <p:cNvSpPr txBox="1"/>
          <p:nvPr/>
        </p:nvSpPr>
        <p:spPr>
          <a:xfrm>
            <a:off x="136544" y="2388469"/>
            <a:ext cx="7090763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00" b="1" dirty="0"/>
              <a:t>• 150ml is the hero pack: </a:t>
            </a:r>
            <a:r>
              <a:rPr lang="en-US" sz="1000" dirty="0"/>
              <a:t>6.7% MT share, ~58% of </a:t>
            </a:r>
            <a:r>
              <a:rPr lang="en-US" sz="1000" dirty="0" err="1"/>
              <a:t>Mamaearth</a:t>
            </a:r>
            <a:r>
              <a:rPr lang="en-US" sz="1000" dirty="0"/>
              <a:t> Face Wash, growing strongly at +98% YoY.</a:t>
            </a:r>
            <a:endParaRPr lang="en-US" sz="1000" b="1" dirty="0"/>
          </a:p>
          <a:p>
            <a:r>
              <a:rPr lang="en-US" sz="1000" b="1" dirty="0"/>
              <a:t>• 150ml has slight MoM softness at -0.4 bps but remains strong YoY with +2.9 bps gain.</a:t>
            </a:r>
          </a:p>
          <a:p>
            <a:r>
              <a:rPr lang="en-US" sz="1000" b="1" dirty="0"/>
              <a:t>• 100ml is the 2</a:t>
            </a:r>
            <a:r>
              <a:rPr lang="en-US" sz="1000" b="1" baseline="30000" dirty="0"/>
              <a:t>nd</a:t>
            </a:r>
            <a:r>
              <a:rPr lang="en-US" sz="1000" b="1" dirty="0"/>
              <a:t> key pack: </a:t>
            </a:r>
            <a:r>
              <a:rPr lang="en-US" sz="1000" dirty="0"/>
              <a:t>~21% contribution but declining -10.7% YoY with negative share movement. Needs availability and promo check.</a:t>
            </a:r>
            <a:endParaRPr lang="en-US" sz="1000" b="1" dirty="0"/>
          </a:p>
          <a:p>
            <a:r>
              <a:rPr lang="en-US" sz="1000" b="1" dirty="0"/>
              <a:t>• 150ml + 100ml contribute ~78% </a:t>
            </a:r>
            <a:r>
              <a:rPr lang="en-US" sz="1000" dirty="0"/>
              <a:t>of the brand, so shelf depth for both packs must be protected in MT</a:t>
            </a:r>
            <a:r>
              <a:rPr lang="en-US" sz="1000" b="1" dirty="0"/>
              <a:t>.</a:t>
            </a:r>
          </a:p>
          <a:p>
            <a:r>
              <a:rPr lang="en-US" sz="1000" b="1" dirty="0"/>
              <a:t>• 200ml is emerging as a growth builder with ~11% contribution &amp; positive share gain. Track chain-wise for scale-up.</a:t>
            </a:r>
          </a:p>
          <a:p>
            <a:r>
              <a:rPr lang="en-US" sz="1000" b="1" dirty="0"/>
              <a:t>• 50ml is a trial pack with ~10.5% contribution and +80% YoY growth. Use for till-points and entry visibility.</a:t>
            </a:r>
          </a:p>
          <a:p>
            <a:r>
              <a:rPr lang="en-US" sz="1000" b="1" dirty="0"/>
              <a:t>• 250ml </a:t>
            </a:r>
            <a:r>
              <a:rPr lang="en-US" sz="1000" dirty="0"/>
              <a:t>is sharply down at -94% YoY and very low contribution.</a:t>
            </a:r>
            <a:endParaRPr lang="en-US" sz="1000" b="1" dirty="0"/>
          </a:p>
          <a:p>
            <a:r>
              <a:rPr lang="en-US" sz="1000" b="1" dirty="0"/>
              <a:t>• Action: </a:t>
            </a:r>
            <a:r>
              <a:rPr lang="en-US" sz="1000" dirty="0"/>
              <a:t>Use 50ml at till-points, impulse counters and trial-led visibility spots.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D97565-8AF1-E76D-F683-A0CEFEDB138E}"/>
              </a:ext>
            </a:extLst>
          </p:cNvPr>
          <p:cNvSpPr txBox="1"/>
          <p:nvPr/>
        </p:nvSpPr>
        <p:spPr>
          <a:xfrm>
            <a:off x="151375" y="250153"/>
            <a:ext cx="7118040" cy="369332"/>
          </a:xfrm>
          <a:prstGeom prst="rect">
            <a:avLst/>
          </a:prstGeom>
          <a:solidFill>
            <a:srgbClr val="289C83"/>
          </a:solidFill>
        </p:spPr>
        <p:txBody>
          <a:bodyPr wrap="square">
            <a:spAutoFit/>
          </a:bodyPr>
          <a:lstStyle/>
          <a:p>
            <a:pPr algn="ctr"/>
            <a:r>
              <a:rPr lang="en-US" sz="1300" b="1" i="0" u="none" strike="noStrike" dirty="0">
                <a:solidFill>
                  <a:srgbClr val="FFFFFF"/>
                </a:solidFill>
                <a:effectLst/>
                <a:latin typeface="Calibri" panose="020B0604020202020204" pitchFamily="34" charset="0"/>
              </a:rPr>
              <a:t>MAMAEARTH FACE WASH | PACK-SIZE | MAY'26</a:t>
            </a:r>
            <a:r>
              <a:rPr lang="en-US" dirty="0"/>
              <a:t> </a:t>
            </a:r>
            <a:endParaRPr lang="en-IN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3F85A83E-85D5-4311-AB31-CEC3E1510A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4475334"/>
              </p:ext>
            </p:extLst>
          </p:nvPr>
        </p:nvGraphicFramePr>
        <p:xfrm>
          <a:off x="135382" y="678491"/>
          <a:ext cx="7126506" cy="1676986"/>
        </p:xfrm>
        <a:graphic>
          <a:graphicData uri="http://schemas.openxmlformats.org/drawingml/2006/table">
            <a:tbl>
              <a:tblPr/>
              <a:tblGrid>
                <a:gridCol w="801106">
                  <a:extLst>
                    <a:ext uri="{9D8B030D-6E8A-4147-A177-3AD203B41FA5}">
                      <a16:colId xmlns:a16="http://schemas.microsoft.com/office/drawing/2014/main" val="2384875462"/>
                    </a:ext>
                  </a:extLst>
                </a:gridCol>
                <a:gridCol w="517380">
                  <a:extLst>
                    <a:ext uri="{9D8B030D-6E8A-4147-A177-3AD203B41FA5}">
                      <a16:colId xmlns:a16="http://schemas.microsoft.com/office/drawing/2014/main" val="2593112309"/>
                    </a:ext>
                  </a:extLst>
                </a:gridCol>
                <a:gridCol w="801106">
                  <a:extLst>
                    <a:ext uri="{9D8B030D-6E8A-4147-A177-3AD203B41FA5}">
                      <a16:colId xmlns:a16="http://schemas.microsoft.com/office/drawing/2014/main" val="1583407350"/>
                    </a:ext>
                  </a:extLst>
                </a:gridCol>
                <a:gridCol w="901245">
                  <a:extLst>
                    <a:ext uri="{9D8B030D-6E8A-4147-A177-3AD203B41FA5}">
                      <a16:colId xmlns:a16="http://schemas.microsoft.com/office/drawing/2014/main" val="1652040375"/>
                    </a:ext>
                  </a:extLst>
                </a:gridCol>
                <a:gridCol w="901245">
                  <a:extLst>
                    <a:ext uri="{9D8B030D-6E8A-4147-A177-3AD203B41FA5}">
                      <a16:colId xmlns:a16="http://schemas.microsoft.com/office/drawing/2014/main" val="2239736604"/>
                    </a:ext>
                  </a:extLst>
                </a:gridCol>
                <a:gridCol w="901245">
                  <a:extLst>
                    <a:ext uri="{9D8B030D-6E8A-4147-A177-3AD203B41FA5}">
                      <a16:colId xmlns:a16="http://schemas.microsoft.com/office/drawing/2014/main" val="1708960461"/>
                    </a:ext>
                  </a:extLst>
                </a:gridCol>
                <a:gridCol w="834485">
                  <a:extLst>
                    <a:ext uri="{9D8B030D-6E8A-4147-A177-3AD203B41FA5}">
                      <a16:colId xmlns:a16="http://schemas.microsoft.com/office/drawing/2014/main" val="2639501366"/>
                    </a:ext>
                  </a:extLst>
                </a:gridCol>
                <a:gridCol w="834485">
                  <a:extLst>
                    <a:ext uri="{9D8B030D-6E8A-4147-A177-3AD203B41FA5}">
                      <a16:colId xmlns:a16="http://schemas.microsoft.com/office/drawing/2014/main" val="3372754032"/>
                    </a:ext>
                  </a:extLst>
                </a:gridCol>
                <a:gridCol w="634209">
                  <a:extLst>
                    <a:ext uri="{9D8B030D-6E8A-4147-A177-3AD203B41FA5}">
                      <a16:colId xmlns:a16="http://schemas.microsoft.com/office/drawing/2014/main" val="4086455608"/>
                    </a:ext>
                  </a:extLst>
                </a:gridCol>
              </a:tblGrid>
              <a:tr h="177676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Rank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Pack </a:t>
                      </a:r>
                      <a:b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</a:br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size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MS Val 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Pack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MoM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YoY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MAT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Value ₹Cr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Value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89C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8129558"/>
                  </a:ext>
                </a:extLst>
              </a:tr>
              <a:tr h="17767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May'26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Cont</a:t>
                      </a:r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 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MS Val 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May'26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YoY 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7461074"/>
                  </a:ext>
                </a:extLst>
              </a:tr>
              <a:tr h="27080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150 ml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7%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58%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</a:t>
                      </a:r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 -40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289C83"/>
                          </a:solidFill>
                          <a:effectLst/>
                          <a:latin typeface="Calibri" panose="020B0604020202020204" pitchFamily="34" charset="0"/>
                        </a:rPr>
                        <a:t>▲</a:t>
                      </a:r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 +290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6%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5.53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98%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0318464"/>
                  </a:ext>
                </a:extLst>
              </a:tr>
              <a:tr h="17767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100 ml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21%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</a:t>
                      </a:r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 -40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</a:t>
                      </a:r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 -60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1.96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-11%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0460086"/>
                  </a:ext>
                </a:extLst>
              </a:tr>
              <a:tr h="27080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200 ml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11%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289C83"/>
                          </a:solidFill>
                          <a:effectLst/>
                          <a:latin typeface="Calibri" panose="020B0604020202020204" pitchFamily="34" charset="0"/>
                        </a:rPr>
                        <a:t>▲</a:t>
                      </a:r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 +90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289C83"/>
                          </a:solidFill>
                          <a:effectLst/>
                          <a:latin typeface="Calibri" panose="020B0604020202020204" pitchFamily="34" charset="0"/>
                        </a:rPr>
                        <a:t>▲</a:t>
                      </a:r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 +130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1.06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650014"/>
                  </a:ext>
                </a:extLst>
              </a:tr>
              <a:tr h="17767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50 ml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11%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</a:t>
                      </a:r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 -10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289C83"/>
                          </a:solidFill>
                          <a:effectLst/>
                          <a:latin typeface="Calibri" panose="020B0604020202020204" pitchFamily="34" charset="0"/>
                        </a:rPr>
                        <a:t>▲</a:t>
                      </a:r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 +50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1.01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80%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4839366"/>
                  </a:ext>
                </a:extLst>
              </a:tr>
              <a:tr h="17767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250 ml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Flat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</a:t>
                      </a:r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 -80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0.04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-94%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866938"/>
                  </a:ext>
                </a:extLst>
              </a:tr>
              <a:tr h="17767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80 ml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Flat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Flat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-25%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559911"/>
                  </a:ext>
                </a:extLst>
              </a:tr>
            </a:tbl>
          </a:graphicData>
        </a:graphic>
      </p:graphicFrame>
      <p:sp>
        <p:nvSpPr>
          <p:cNvPr id="16" name="Flowchart: Alternate Process 15">
            <a:extLst>
              <a:ext uri="{FF2B5EF4-FFF2-40B4-BE49-F238E27FC236}">
                <a16:creationId xmlns:a16="http://schemas.microsoft.com/office/drawing/2014/main" id="{3C25727F-59E7-04DE-5B50-72F3C442998C}"/>
              </a:ext>
            </a:extLst>
          </p:cNvPr>
          <p:cNvSpPr/>
          <p:nvPr/>
        </p:nvSpPr>
        <p:spPr>
          <a:xfrm>
            <a:off x="138605" y="4437593"/>
            <a:ext cx="7117575" cy="803976"/>
          </a:xfrm>
          <a:prstGeom prst="flowChartAlternateProcess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2800" b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75DA593-DB5E-8DFC-4D3C-965D1A154BA5}"/>
              </a:ext>
            </a:extLst>
          </p:cNvPr>
          <p:cNvGrpSpPr/>
          <p:nvPr/>
        </p:nvGrpSpPr>
        <p:grpSpPr>
          <a:xfrm>
            <a:off x="1677667" y="4715869"/>
            <a:ext cx="368181" cy="277293"/>
            <a:chOff x="996089" y="5177897"/>
            <a:chExt cx="176694" cy="241007"/>
          </a:xfrm>
        </p:grpSpPr>
        <p:sp>
          <p:nvSpPr>
            <p:cNvPr id="18" name="Arrow: Right 17">
              <a:extLst>
                <a:ext uri="{FF2B5EF4-FFF2-40B4-BE49-F238E27FC236}">
                  <a16:creationId xmlns:a16="http://schemas.microsoft.com/office/drawing/2014/main" id="{729D5F5B-A64A-98CE-A5CC-E04BCE306898}"/>
                </a:ext>
              </a:extLst>
            </p:cNvPr>
            <p:cNvSpPr/>
            <p:nvPr/>
          </p:nvSpPr>
          <p:spPr>
            <a:xfrm>
              <a:off x="1000989" y="5177897"/>
              <a:ext cx="171794" cy="241007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156082"/>
            </a:solidFill>
            <a:ln>
              <a:solidFill>
                <a:schemeClr val="tx1"/>
              </a:solidFill>
            </a:ln>
            <a:effectLst>
              <a:outerShdw blurRad="57150" dist="19050" dir="5400000">
                <a:srgbClr val="000000">
                  <a:alpha val="63000"/>
                </a:srgbClr>
              </a:outerShdw>
            </a:effec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IN" sz="2800"/>
            </a:p>
          </p:txBody>
        </p:sp>
        <p:sp>
          <p:nvSpPr>
            <p:cNvPr id="22" name="Arrow: Right 4">
              <a:extLst>
                <a:ext uri="{FF2B5EF4-FFF2-40B4-BE49-F238E27FC236}">
                  <a16:creationId xmlns:a16="http://schemas.microsoft.com/office/drawing/2014/main" id="{01D39A9F-8F17-7FED-EDDA-CA9DEC9A46DF}"/>
                </a:ext>
              </a:extLst>
            </p:cNvPr>
            <p:cNvSpPr txBox="1"/>
            <p:nvPr/>
          </p:nvSpPr>
          <p:spPr>
            <a:xfrm>
              <a:off x="996089" y="5226099"/>
              <a:ext cx="106148" cy="1584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txBody>
            <a:bodyPr spcFirstLastPara="0" vert="horz" wrap="square" lIns="0" tIns="0" rIns="0" bIns="0" numCol="1" spcCol="1270" anchor="ctr" anchorCtr="0"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3556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lang="en-IN" sz="1600"/>
            </a:p>
          </p:txBody>
        </p:sp>
      </p:grpSp>
      <p:sp>
        <p:nvSpPr>
          <p:cNvPr id="24" name="Flow Box 1">
            <a:extLst>
              <a:ext uri="{FF2B5EF4-FFF2-40B4-BE49-F238E27FC236}">
                <a16:creationId xmlns:a16="http://schemas.microsoft.com/office/drawing/2014/main" id="{18AC2083-4AC2-E809-B938-AB7B19D8CA5E}"/>
              </a:ext>
            </a:extLst>
          </p:cNvPr>
          <p:cNvSpPr>
            <a:spLocks noGrp="1"/>
          </p:cNvSpPr>
          <p:nvPr/>
        </p:nvSpPr>
        <p:spPr>
          <a:xfrm>
            <a:off x="178493" y="4486096"/>
            <a:ext cx="1450779" cy="716250"/>
          </a:xfrm>
          <a:prstGeom prst="roundRect">
            <a:avLst/>
          </a:prstGeom>
          <a:solidFill>
            <a:srgbClr val="08A5E1"/>
          </a:solidFill>
          <a:ln w="9525">
            <a:solidFill>
              <a:schemeClr val="tx1"/>
            </a:solidFill>
            <a:prstDash val="solid"/>
          </a:ln>
        </p:spPr>
        <p:txBody>
          <a:bodyPr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200" b="1" dirty="0">
                <a:solidFill>
                  <a:schemeClr val="bg1"/>
                </a:solidFill>
              </a:rPr>
              <a:t>ME</a:t>
            </a:r>
            <a:endParaRPr sz="1200" b="1" dirty="0">
              <a:solidFill>
                <a:schemeClr val="bg1"/>
              </a:solidFill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200" b="1" dirty="0">
                <a:solidFill>
                  <a:schemeClr val="bg1"/>
                </a:solidFill>
              </a:rPr>
              <a:t>Shampoo</a:t>
            </a:r>
            <a:endParaRPr sz="1200" b="1" dirty="0">
              <a:solidFill>
                <a:schemeClr val="bg1"/>
              </a:solidFill>
            </a:endParaRPr>
          </a:p>
        </p:txBody>
      </p:sp>
      <p:sp>
        <p:nvSpPr>
          <p:cNvPr id="25" name="Flow Box 2">
            <a:extLst>
              <a:ext uri="{FF2B5EF4-FFF2-40B4-BE49-F238E27FC236}">
                <a16:creationId xmlns:a16="http://schemas.microsoft.com/office/drawing/2014/main" id="{59232D69-DB1E-30EF-9DAA-2A11554791DC}"/>
              </a:ext>
            </a:extLst>
          </p:cNvPr>
          <p:cNvSpPr>
            <a:spLocks noGrp="1"/>
          </p:cNvSpPr>
          <p:nvPr/>
        </p:nvSpPr>
        <p:spPr>
          <a:xfrm>
            <a:off x="2101560" y="4484585"/>
            <a:ext cx="1450779" cy="709091"/>
          </a:xfrm>
          <a:prstGeom prst="roundRect">
            <a:avLst/>
          </a:prstGeom>
          <a:solidFill>
            <a:srgbClr val="4EB693"/>
          </a:solidFill>
          <a:ln w="9525">
            <a:solidFill>
              <a:schemeClr val="tx1"/>
            </a:solidFill>
            <a:prstDash val="solid"/>
          </a:ln>
        </p:spPr>
        <p:txBody>
          <a:bodyPr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200" b="1" dirty="0">
                <a:solidFill>
                  <a:schemeClr val="bg1"/>
                </a:solidFill>
              </a:rPr>
              <a:t>May'26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200" b="1" dirty="0">
                <a:solidFill>
                  <a:schemeClr val="bg1"/>
                </a:solidFill>
              </a:rPr>
              <a:t>Value ₹</a:t>
            </a:r>
            <a:r>
              <a:rPr lang="en-IN" sz="1200" b="1" dirty="0">
                <a:solidFill>
                  <a:schemeClr val="bg1"/>
                </a:solidFill>
              </a:rPr>
              <a:t>6.5</a:t>
            </a:r>
            <a:endParaRPr sz="1200" b="1" dirty="0">
              <a:solidFill>
                <a:schemeClr val="bg1"/>
              </a:solidFill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200" b="1" dirty="0">
                <a:solidFill>
                  <a:schemeClr val="bg1"/>
                </a:solidFill>
              </a:rPr>
              <a:t>Cr</a:t>
            </a:r>
          </a:p>
        </p:txBody>
      </p:sp>
      <p:sp>
        <p:nvSpPr>
          <p:cNvPr id="27" name="Flow Box 3">
            <a:extLst>
              <a:ext uri="{FF2B5EF4-FFF2-40B4-BE49-F238E27FC236}">
                <a16:creationId xmlns:a16="http://schemas.microsoft.com/office/drawing/2014/main" id="{1C740AFB-CEE7-26A8-407D-CAA911563BC9}"/>
              </a:ext>
            </a:extLst>
          </p:cNvPr>
          <p:cNvSpPr>
            <a:spLocks noGrp="1"/>
          </p:cNvSpPr>
          <p:nvPr/>
        </p:nvSpPr>
        <p:spPr>
          <a:xfrm>
            <a:off x="4059343" y="4493256"/>
            <a:ext cx="1318133" cy="709090"/>
          </a:xfrm>
          <a:prstGeom prst="roundRect">
            <a:avLst/>
          </a:prstGeom>
          <a:solidFill>
            <a:srgbClr val="95C645"/>
          </a:solidFill>
          <a:ln w="9525">
            <a:solidFill>
              <a:schemeClr val="tx1"/>
            </a:solidFill>
            <a:prstDash val="solid"/>
          </a:ln>
        </p:spPr>
        <p:txBody>
          <a:bodyPr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400" b="1" dirty="0">
                <a:solidFill>
                  <a:schemeClr val="bg1"/>
                </a:solidFill>
              </a:rPr>
              <a:t>M/S</a:t>
            </a:r>
            <a:r>
              <a:rPr lang="en-IN" sz="1400" b="1" dirty="0">
                <a:solidFill>
                  <a:schemeClr val="bg1"/>
                </a:solidFill>
              </a:rPr>
              <a:t> 3.9</a:t>
            </a:r>
            <a:r>
              <a:rPr sz="1400" b="1" dirty="0">
                <a:solidFill>
                  <a:schemeClr val="bg1"/>
                </a:solidFill>
              </a:rPr>
              <a:t>%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400" b="0" i="0" u="none" strike="noStrike" dirty="0">
                <a:solidFill>
                  <a:schemeClr val="bg1"/>
                </a:solidFill>
                <a:effectLst/>
              </a:rPr>
              <a:t>▲ +134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400" b="0" i="0" u="none" strike="noStrike" dirty="0">
                <a:solidFill>
                  <a:schemeClr val="bg1"/>
                </a:solidFill>
                <a:effectLst/>
              </a:rPr>
              <a:t>bps </a:t>
            </a:r>
            <a:r>
              <a:rPr sz="1400" b="1" dirty="0">
                <a:solidFill>
                  <a:schemeClr val="bg1"/>
                </a:solidFill>
              </a:rPr>
              <a:t>YOY</a:t>
            </a:r>
          </a:p>
        </p:txBody>
      </p:sp>
      <p:sp>
        <p:nvSpPr>
          <p:cNvPr id="30" name="Flow Box 4">
            <a:extLst>
              <a:ext uri="{FF2B5EF4-FFF2-40B4-BE49-F238E27FC236}">
                <a16:creationId xmlns:a16="http://schemas.microsoft.com/office/drawing/2014/main" id="{338421EB-A654-8DE5-7208-E8DFB1B92A7F}"/>
              </a:ext>
            </a:extLst>
          </p:cNvPr>
          <p:cNvSpPr>
            <a:spLocks noGrp="1"/>
          </p:cNvSpPr>
          <p:nvPr/>
        </p:nvSpPr>
        <p:spPr>
          <a:xfrm>
            <a:off x="5908750" y="4485744"/>
            <a:ext cx="1318557" cy="707932"/>
          </a:xfrm>
          <a:prstGeom prst="roundRect">
            <a:avLst/>
          </a:prstGeom>
          <a:solidFill>
            <a:srgbClr val="4EB693"/>
          </a:solidFill>
          <a:ln w="9525">
            <a:solidFill>
              <a:schemeClr val="tx1"/>
            </a:solidFill>
            <a:prstDash val="solid"/>
          </a:ln>
        </p:spPr>
        <p:txBody>
          <a:bodyPr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400" b="1" dirty="0" err="1">
                <a:solidFill>
                  <a:schemeClr val="bg1"/>
                </a:solidFill>
              </a:rPr>
              <a:t>Dist</a:t>
            </a:r>
            <a:r>
              <a:rPr lang="en-IN" sz="1400" b="1" dirty="0">
                <a:solidFill>
                  <a:schemeClr val="bg1"/>
                </a:solidFill>
              </a:rPr>
              <a:t>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400" b="1" dirty="0">
                <a:solidFill>
                  <a:schemeClr val="bg1"/>
                </a:solidFill>
              </a:rPr>
              <a:t>76%→81%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D17E33A-6CF9-6232-F89B-34A011C2BD4A}"/>
              </a:ext>
            </a:extLst>
          </p:cNvPr>
          <p:cNvGrpSpPr/>
          <p:nvPr/>
        </p:nvGrpSpPr>
        <p:grpSpPr>
          <a:xfrm>
            <a:off x="3634605" y="4738931"/>
            <a:ext cx="376342" cy="267791"/>
            <a:chOff x="992172" y="5177897"/>
            <a:chExt cx="180611" cy="257914"/>
          </a:xfrm>
        </p:grpSpPr>
        <p:sp>
          <p:nvSpPr>
            <p:cNvPr id="41" name="Arrow: Right 40">
              <a:extLst>
                <a:ext uri="{FF2B5EF4-FFF2-40B4-BE49-F238E27FC236}">
                  <a16:creationId xmlns:a16="http://schemas.microsoft.com/office/drawing/2014/main" id="{1824812A-F3F7-7E1D-016C-41D868C6B65C}"/>
                </a:ext>
              </a:extLst>
            </p:cNvPr>
            <p:cNvSpPr/>
            <p:nvPr/>
          </p:nvSpPr>
          <p:spPr>
            <a:xfrm>
              <a:off x="992172" y="5177897"/>
              <a:ext cx="180611" cy="257914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156082"/>
            </a:solidFill>
            <a:ln>
              <a:solidFill>
                <a:schemeClr val="tx1"/>
              </a:solidFill>
            </a:ln>
            <a:effectLst>
              <a:outerShdw blurRad="57150" dist="19050" dir="5400000">
                <a:srgbClr val="000000">
                  <a:alpha val="63000"/>
                </a:srgbClr>
              </a:outerShdw>
            </a:effec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IN" sz="2800"/>
            </a:p>
          </p:txBody>
        </p:sp>
        <p:sp>
          <p:nvSpPr>
            <p:cNvPr id="42" name="Arrow: Right 4">
              <a:extLst>
                <a:ext uri="{FF2B5EF4-FFF2-40B4-BE49-F238E27FC236}">
                  <a16:creationId xmlns:a16="http://schemas.microsoft.com/office/drawing/2014/main" id="{B7604E29-31FC-917B-AB16-0780BF19344C}"/>
                </a:ext>
              </a:extLst>
            </p:cNvPr>
            <p:cNvSpPr txBox="1"/>
            <p:nvPr/>
          </p:nvSpPr>
          <p:spPr>
            <a:xfrm>
              <a:off x="992172" y="5226098"/>
              <a:ext cx="110066" cy="17546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txBody>
            <a:bodyPr spcFirstLastPara="0" vert="horz" wrap="square" lIns="0" tIns="0" rIns="0" bIns="0" numCol="1" spcCol="1270" anchor="ctr" anchorCtr="0"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3556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lang="en-IN" sz="1600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908FC9B9-B996-D283-FE1B-1632F46A1A54}"/>
              </a:ext>
            </a:extLst>
          </p:cNvPr>
          <p:cNvGrpSpPr/>
          <p:nvPr/>
        </p:nvGrpSpPr>
        <p:grpSpPr>
          <a:xfrm>
            <a:off x="5428911" y="4711894"/>
            <a:ext cx="397574" cy="294836"/>
            <a:chOff x="981983" y="5177897"/>
            <a:chExt cx="190800" cy="256254"/>
          </a:xfrm>
        </p:grpSpPr>
        <p:sp>
          <p:nvSpPr>
            <p:cNvPr id="44" name="Arrow: Right 43">
              <a:extLst>
                <a:ext uri="{FF2B5EF4-FFF2-40B4-BE49-F238E27FC236}">
                  <a16:creationId xmlns:a16="http://schemas.microsoft.com/office/drawing/2014/main" id="{A9112158-420F-A389-6461-65534ED407FA}"/>
                </a:ext>
              </a:extLst>
            </p:cNvPr>
            <p:cNvSpPr/>
            <p:nvPr/>
          </p:nvSpPr>
          <p:spPr>
            <a:xfrm>
              <a:off x="981983" y="5177897"/>
              <a:ext cx="190800" cy="256254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156082"/>
            </a:solidFill>
            <a:ln>
              <a:solidFill>
                <a:schemeClr val="tx1"/>
              </a:solidFill>
            </a:ln>
            <a:effectLst>
              <a:outerShdw blurRad="57150" dist="19050" dir="5400000">
                <a:srgbClr val="000000">
                  <a:alpha val="63000"/>
                </a:srgbClr>
              </a:outerShdw>
            </a:effec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IN" sz="2800"/>
            </a:p>
          </p:txBody>
        </p:sp>
        <p:sp>
          <p:nvSpPr>
            <p:cNvPr id="45" name="Arrow: Right 4">
              <a:extLst>
                <a:ext uri="{FF2B5EF4-FFF2-40B4-BE49-F238E27FC236}">
                  <a16:creationId xmlns:a16="http://schemas.microsoft.com/office/drawing/2014/main" id="{65C70857-76D2-4919-84AF-262528A1BC7E}"/>
                </a:ext>
              </a:extLst>
            </p:cNvPr>
            <p:cNvSpPr txBox="1"/>
            <p:nvPr/>
          </p:nvSpPr>
          <p:spPr>
            <a:xfrm>
              <a:off x="981983" y="5226099"/>
              <a:ext cx="120255" cy="14460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txBody>
            <a:bodyPr spcFirstLastPara="0" vert="horz" wrap="square" lIns="0" tIns="0" rIns="0" bIns="0" numCol="1" spcCol="1270" anchor="ctr" anchorCtr="0"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3556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lang="en-IN" sz="1600"/>
            </a:p>
          </p:txBody>
        </p:sp>
      </p:grpSp>
    </p:spTree>
    <p:extLst>
      <p:ext uri="{BB962C8B-B14F-4D97-AF65-F5344CB8AC3E}">
        <p14:creationId xmlns:p14="http://schemas.microsoft.com/office/powerpoint/2010/main" val="969335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195988B-2C53-CE52-FE20-615B28D6398F}"/>
              </a:ext>
            </a:extLst>
          </p:cNvPr>
          <p:cNvSpPr/>
          <p:nvPr/>
        </p:nvSpPr>
        <p:spPr>
          <a:xfrm>
            <a:off x="135382" y="152525"/>
            <a:ext cx="7126503" cy="45719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F7C811-7D0E-BE95-1073-42658F76E103}"/>
              </a:ext>
            </a:extLst>
          </p:cNvPr>
          <p:cNvSpPr txBox="1"/>
          <p:nvPr/>
        </p:nvSpPr>
        <p:spPr>
          <a:xfrm>
            <a:off x="139452" y="2767316"/>
            <a:ext cx="7171238" cy="280076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/>
              <a:t>• </a:t>
            </a:r>
            <a:r>
              <a:rPr lang="en-US" sz="1600" b="1" dirty="0"/>
              <a:t>400ml is the hero pack</a:t>
            </a:r>
            <a:r>
              <a:rPr lang="en-US" sz="1600" dirty="0"/>
              <a:t>: 3.0% MT share, ~76% of </a:t>
            </a:r>
            <a:r>
              <a:rPr lang="en-US" sz="1600" dirty="0" err="1"/>
              <a:t>Mamaearth</a:t>
            </a:r>
            <a:r>
              <a:rPr lang="en-US" sz="1600" dirty="0"/>
              <a:t> Shampoo, growing +71% YoY.</a:t>
            </a:r>
            <a:br>
              <a:rPr lang="en-US" sz="1600" dirty="0"/>
            </a:br>
            <a:r>
              <a:rPr lang="en-US" sz="1600" dirty="0"/>
              <a:t>• </a:t>
            </a:r>
            <a:r>
              <a:rPr lang="en-US" sz="1600" b="1" dirty="0"/>
              <a:t>High concentration risk</a:t>
            </a:r>
            <a:r>
              <a:rPr lang="en-US" sz="1600" dirty="0"/>
              <a:t>: Brand is heavily dependent on one pack, so any chain-level delisting or stock gap can impact overall performance.</a:t>
            </a:r>
            <a:br>
              <a:rPr lang="en-US" sz="1600" dirty="0"/>
            </a:br>
            <a:r>
              <a:rPr lang="en-US" sz="1600" dirty="0"/>
              <a:t>• </a:t>
            </a:r>
            <a:r>
              <a:rPr lang="en-US" sz="1600" b="1" dirty="0"/>
              <a:t>250ml needs recovery</a:t>
            </a:r>
            <a:r>
              <a:rPr lang="en-US" sz="1600" dirty="0"/>
              <a:t>: Second key pack at 12.5% contribution but declining -7% YoY. Listing expansion is required.</a:t>
            </a:r>
            <a:br>
              <a:rPr lang="en-US" sz="1600" dirty="0"/>
            </a:br>
            <a:r>
              <a:rPr lang="en-US" sz="1600" dirty="0"/>
              <a:t>• </a:t>
            </a:r>
            <a:r>
              <a:rPr lang="en-US" sz="1600" b="1" dirty="0"/>
              <a:t>650ml is emerging</a:t>
            </a:r>
            <a:r>
              <a:rPr lang="en-US" sz="1600" dirty="0"/>
              <a:t>: Small base but gaining share MoM. Track existing &amp; Listing chain wise for future scale-up.</a:t>
            </a:r>
            <a:br>
              <a:rPr lang="en-US" sz="1600" dirty="0"/>
            </a:br>
            <a:r>
              <a:rPr lang="en-US" sz="1600" dirty="0"/>
              <a:t>• </a:t>
            </a:r>
            <a:r>
              <a:rPr lang="en-US" sz="1600" b="1" dirty="0"/>
              <a:t>Action:</a:t>
            </a:r>
            <a:r>
              <a:rPr lang="en-US" sz="1600" dirty="0"/>
              <a:t> Need to Protect 400ml availability and increase listing for gaps to secure and increase sales, need to widen 250ml listing for gaining share and to extend the listing  &amp; linking for 650ml as the next opportunity.</a:t>
            </a:r>
            <a:endParaRPr lang="en-US" sz="15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D97565-8AF1-E76D-F683-A0CEFEDB138E}"/>
              </a:ext>
            </a:extLst>
          </p:cNvPr>
          <p:cNvSpPr txBox="1"/>
          <p:nvPr/>
        </p:nvSpPr>
        <p:spPr>
          <a:xfrm>
            <a:off x="151375" y="250153"/>
            <a:ext cx="7118040" cy="369332"/>
          </a:xfrm>
          <a:prstGeom prst="rect">
            <a:avLst/>
          </a:prstGeom>
          <a:solidFill>
            <a:srgbClr val="289C83"/>
          </a:solidFill>
        </p:spPr>
        <p:txBody>
          <a:bodyPr wrap="square">
            <a:spAutoFit/>
          </a:bodyPr>
          <a:lstStyle/>
          <a:p>
            <a:pPr algn="ctr"/>
            <a:r>
              <a:rPr lang="en-US" sz="1300" b="1" i="0" u="none" strike="noStrike" dirty="0">
                <a:solidFill>
                  <a:srgbClr val="FFFFFF"/>
                </a:solidFill>
                <a:effectLst/>
                <a:latin typeface="Calibri" panose="020B0604020202020204" pitchFamily="34" charset="0"/>
              </a:rPr>
              <a:t>MAMAEARTH SHAMPOO | PACK-SIZE | MAY'26</a:t>
            </a:r>
            <a:r>
              <a:rPr lang="en-US" dirty="0"/>
              <a:t> </a:t>
            </a:r>
            <a:endParaRPr lang="en-IN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6BDE3B5-36EE-420F-AF74-A0208CB48B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4429309"/>
              </p:ext>
            </p:extLst>
          </p:nvPr>
        </p:nvGraphicFramePr>
        <p:xfrm>
          <a:off x="151375" y="651667"/>
          <a:ext cx="7118039" cy="2012950"/>
        </p:xfrm>
        <a:graphic>
          <a:graphicData uri="http://schemas.openxmlformats.org/drawingml/2006/table">
            <a:tbl>
              <a:tblPr/>
              <a:tblGrid>
                <a:gridCol w="431396">
                  <a:extLst>
                    <a:ext uri="{9D8B030D-6E8A-4147-A177-3AD203B41FA5}">
                      <a16:colId xmlns:a16="http://schemas.microsoft.com/office/drawing/2014/main" val="2318576066"/>
                    </a:ext>
                  </a:extLst>
                </a:gridCol>
                <a:gridCol w="730055">
                  <a:extLst>
                    <a:ext uri="{9D8B030D-6E8A-4147-A177-3AD203B41FA5}">
                      <a16:colId xmlns:a16="http://schemas.microsoft.com/office/drawing/2014/main" val="2089671565"/>
                    </a:ext>
                  </a:extLst>
                </a:gridCol>
                <a:gridCol w="763240">
                  <a:extLst>
                    <a:ext uri="{9D8B030D-6E8A-4147-A177-3AD203B41FA5}">
                      <a16:colId xmlns:a16="http://schemas.microsoft.com/office/drawing/2014/main" val="479983784"/>
                    </a:ext>
                  </a:extLst>
                </a:gridCol>
                <a:gridCol w="929161">
                  <a:extLst>
                    <a:ext uri="{9D8B030D-6E8A-4147-A177-3AD203B41FA5}">
                      <a16:colId xmlns:a16="http://schemas.microsoft.com/office/drawing/2014/main" val="505997824"/>
                    </a:ext>
                  </a:extLst>
                </a:gridCol>
                <a:gridCol w="1028714">
                  <a:extLst>
                    <a:ext uri="{9D8B030D-6E8A-4147-A177-3AD203B41FA5}">
                      <a16:colId xmlns:a16="http://schemas.microsoft.com/office/drawing/2014/main" val="2872346768"/>
                    </a:ext>
                  </a:extLst>
                </a:gridCol>
                <a:gridCol w="929161">
                  <a:extLst>
                    <a:ext uri="{9D8B030D-6E8A-4147-A177-3AD203B41FA5}">
                      <a16:colId xmlns:a16="http://schemas.microsoft.com/office/drawing/2014/main" val="1067503429"/>
                    </a:ext>
                  </a:extLst>
                </a:gridCol>
                <a:gridCol w="763240">
                  <a:extLst>
                    <a:ext uri="{9D8B030D-6E8A-4147-A177-3AD203B41FA5}">
                      <a16:colId xmlns:a16="http://schemas.microsoft.com/office/drawing/2014/main" val="4096712120"/>
                    </a:ext>
                  </a:extLst>
                </a:gridCol>
                <a:gridCol w="796424">
                  <a:extLst>
                    <a:ext uri="{9D8B030D-6E8A-4147-A177-3AD203B41FA5}">
                      <a16:colId xmlns:a16="http://schemas.microsoft.com/office/drawing/2014/main" val="3718942374"/>
                    </a:ext>
                  </a:extLst>
                </a:gridCol>
                <a:gridCol w="746648">
                  <a:extLst>
                    <a:ext uri="{9D8B030D-6E8A-4147-A177-3AD203B41FA5}">
                      <a16:colId xmlns:a16="http://schemas.microsoft.com/office/drawing/2014/main" val="4195415328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Rank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Pack size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MS Val %</a:t>
                      </a:r>
                      <a:br>
                        <a:rPr lang="en-IN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May'26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Pack</a:t>
                      </a:r>
                    </a:p>
                    <a:p>
                      <a:pPr algn="ctr" rtl="0" fontAlgn="ctr"/>
                      <a:r>
                        <a:rPr lang="en-IN" sz="105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Cont</a:t>
                      </a:r>
                      <a:r>
                        <a:rPr lang="en-IN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MoM</a:t>
                      </a:r>
                      <a:br>
                        <a:rPr lang="en-IN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YoY</a:t>
                      </a:r>
                      <a:br>
                        <a:rPr lang="en-IN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MAT</a:t>
                      </a:r>
                      <a:br>
                        <a:rPr lang="en-IN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MS Val 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Value ₹Cr</a:t>
                      </a:r>
                      <a:br>
                        <a:rPr lang="en-IN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May'26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Value</a:t>
                      </a:r>
                      <a:br>
                        <a:rPr lang="en-IN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YoY 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7306368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400 ml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76%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 -16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+110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4.96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71%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52122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250 ml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 -8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 -8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0.82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-7%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773448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650 ml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+3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+26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0.43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74289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600 ml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 -2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▲ +4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0.12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151%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60330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200 ml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Flat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 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0.08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788910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100 ml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 -1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+2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0.06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0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14431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180 ml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 -4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▲ +2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0.04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0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901809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50 ml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 -5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 -3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0.03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-59%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7975414"/>
                  </a:ext>
                </a:extLst>
              </a:tr>
            </a:tbl>
          </a:graphicData>
        </a:graphic>
      </p:graphicFrame>
      <p:sp>
        <p:nvSpPr>
          <p:cNvPr id="36" name="TextBox 35">
            <a:extLst>
              <a:ext uri="{FF2B5EF4-FFF2-40B4-BE49-F238E27FC236}">
                <a16:creationId xmlns:a16="http://schemas.microsoft.com/office/drawing/2014/main" id="{D42DC590-D1FD-9DD8-5138-6956995F8BF3}"/>
              </a:ext>
            </a:extLst>
          </p:cNvPr>
          <p:cNvSpPr txBox="1"/>
          <p:nvPr/>
        </p:nvSpPr>
        <p:spPr>
          <a:xfrm>
            <a:off x="135382" y="5609898"/>
            <a:ext cx="7179378" cy="369332"/>
          </a:xfrm>
          <a:prstGeom prst="rect">
            <a:avLst/>
          </a:prstGeom>
          <a:solidFill>
            <a:srgbClr val="289C83"/>
          </a:solidFill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</a:rPr>
              <a:t>ME Shampoo Pack Availability vs Opportunity Gap</a:t>
            </a:r>
            <a:endParaRPr lang="en-US" sz="1800" b="1" dirty="0">
              <a:solidFill>
                <a:schemeClr val="bg1"/>
              </a:solidFill>
            </a:endParaRPr>
          </a:p>
        </p:txBody>
      </p:sp>
      <p:graphicFrame>
        <p:nvGraphicFramePr>
          <p:cNvPr id="46" name="Chart 0">
            <a:extLst>
              <a:ext uri="{FF2B5EF4-FFF2-40B4-BE49-F238E27FC236}">
                <a16:creationId xmlns:a16="http://schemas.microsoft.com/office/drawing/2014/main" id="{FD5412DD-62DE-7EE7-D7EC-5F24EA860C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16444566"/>
              </p:ext>
            </p:extLst>
          </p:nvPr>
        </p:nvGraphicFramePr>
        <p:xfrm>
          <a:off x="180727" y="6110950"/>
          <a:ext cx="7134033" cy="26036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7" name="Shape 16">
            <a:extLst>
              <a:ext uri="{FF2B5EF4-FFF2-40B4-BE49-F238E27FC236}">
                <a16:creationId xmlns:a16="http://schemas.microsoft.com/office/drawing/2014/main" id="{78EEF3A1-7740-B1F2-F8CE-770C531074F9}"/>
              </a:ext>
            </a:extLst>
          </p:cNvPr>
          <p:cNvSpPr/>
          <p:nvPr/>
        </p:nvSpPr>
        <p:spPr>
          <a:xfrm>
            <a:off x="183678" y="8748670"/>
            <a:ext cx="3597747" cy="908832"/>
          </a:xfrm>
          <a:prstGeom prst="roundRect">
            <a:avLst>
              <a:gd name="adj" fmla="val 4444"/>
            </a:avLst>
          </a:prstGeom>
          <a:solidFill>
            <a:srgbClr val="E5F4EC"/>
          </a:solidFill>
          <a:ln>
            <a:solidFill>
              <a:schemeClr val="tx1"/>
            </a:solidFill>
          </a:ln>
        </p:spPr>
        <p:txBody>
          <a:bodyPr/>
          <a:lstStyle/>
          <a:p>
            <a:pPr marR="0" lvl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tabLst/>
              <a:defRPr sz="900"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</a:t>
            </a:r>
            <a:r>
              <a:rPr kumimoji="0" lang="en-US" sz="1400" b="1" i="0" u="none" strike="noStrike" kern="1200" cap="none" spc="0" normalizeH="0" baseline="0" noProof="0" dirty="0"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400ml – 45.9 Cr (69% share) #1</a:t>
            </a:r>
          </a:p>
          <a:p>
            <a:pPr marR="0" lvl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 sz="900"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</a:t>
            </a:r>
            <a:r>
              <a:rPr kumimoji="0" lang="en-US" sz="1400" b="1" i="0" u="none" strike="noStrike" kern="1200" cap="none" spc="0" normalizeH="0" baseline="0" noProof="0" dirty="0"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250ml – 9.9 Cr (79% share) #-1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sz="900"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</a:t>
            </a: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 650ml Track chain-wise, plan for scale</a:t>
            </a:r>
          </a:p>
        </p:txBody>
      </p:sp>
      <p:sp>
        <p:nvSpPr>
          <p:cNvPr id="57" name="Shape 22">
            <a:extLst>
              <a:ext uri="{FF2B5EF4-FFF2-40B4-BE49-F238E27FC236}">
                <a16:creationId xmlns:a16="http://schemas.microsoft.com/office/drawing/2014/main" id="{53BD4E85-5535-370B-0B31-C665D95AC02B}"/>
              </a:ext>
            </a:extLst>
          </p:cNvPr>
          <p:cNvSpPr/>
          <p:nvPr/>
        </p:nvSpPr>
        <p:spPr>
          <a:xfrm>
            <a:off x="3842377" y="8836199"/>
            <a:ext cx="3419508" cy="1716064"/>
          </a:xfrm>
          <a:prstGeom prst="roundRect">
            <a:avLst>
              <a:gd name="adj" fmla="val 4138"/>
            </a:avLst>
          </a:prstGeom>
          <a:solidFill>
            <a:srgbClr val="FBEAE9"/>
          </a:solidFill>
          <a:ln>
            <a:solidFill>
              <a:schemeClr val="tx1"/>
            </a:solidFill>
          </a:ln>
        </p:spPr>
        <p:txBody>
          <a:bodyPr anchor="ctr"/>
          <a:lstStyle/>
          <a:p>
            <a:pPr>
              <a:lnSpc>
                <a:spcPct val="150000"/>
              </a:lnSpc>
              <a:spcAft>
                <a:spcPts val="300"/>
              </a:spcAft>
              <a:defRPr sz="1100" b="1">
                <a:solidFill>
                  <a:srgbClr val="8B4513"/>
                </a:solidFill>
              </a:defRPr>
            </a:pPr>
            <a:r>
              <a:rPr lang="en-IN" sz="1600" dirty="0"/>
              <a:t>WHERE WE'RE MISSING</a:t>
            </a:r>
          </a:p>
          <a:p>
            <a:pPr>
              <a:lnSpc>
                <a:spcPct val="150000"/>
              </a:lnSpc>
              <a:defRPr sz="1100">
                <a:solidFill>
                  <a:srgbClr val="192D55"/>
                </a:solidFill>
              </a:defRPr>
            </a:pPr>
            <a:r>
              <a:rPr lang="en-US" sz="1400" dirty="0"/>
              <a:t>340ml – 261 Cr Dove leads | We: 0 Cr</a:t>
            </a:r>
          </a:p>
          <a:p>
            <a:pPr>
              <a:lnSpc>
                <a:spcPct val="150000"/>
              </a:lnSpc>
              <a:defRPr sz="1100">
                <a:solidFill>
                  <a:srgbClr val="192D55"/>
                </a:solidFill>
              </a:defRPr>
            </a:pPr>
            <a:r>
              <a:rPr lang="en-US" sz="1400" dirty="0"/>
              <a:t>1000ml – 216 Cr Dove leads | We: 0 Cr</a:t>
            </a:r>
          </a:p>
          <a:p>
            <a:pPr>
              <a:lnSpc>
                <a:spcPct val="150000"/>
              </a:lnSpc>
              <a:defRPr sz="1100">
                <a:solidFill>
                  <a:srgbClr val="192D55"/>
                </a:solidFill>
              </a:defRPr>
            </a:pPr>
            <a:r>
              <a:rPr lang="en-US" sz="1400" dirty="0"/>
              <a:t>580ml – 64 Cr </a:t>
            </a:r>
            <a:r>
              <a:rPr lang="en-US" sz="1400" dirty="0" err="1"/>
              <a:t>Tresemmé</a:t>
            </a:r>
            <a:r>
              <a:rPr lang="en-US" sz="1400" dirty="0"/>
              <a:t> leads | We: 0 Cr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8EA26C8-6633-76E7-6AFE-132E91B724C2}"/>
              </a:ext>
            </a:extLst>
          </p:cNvPr>
          <p:cNvSpPr txBox="1"/>
          <p:nvPr/>
        </p:nvSpPr>
        <p:spPr>
          <a:xfrm>
            <a:off x="180726" y="9657502"/>
            <a:ext cx="3597747" cy="10130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 sz="1100" b="1">
                <a:solidFill>
                  <a:srgbClr val="800080"/>
                </a:solidFill>
              </a:defRPr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COMPETITORS STRONG: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sz="900"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Dove: 250ml, 340ml, 400ml, 1000ml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sz="900"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H&amp;S: 180ml, 250ml, 400ml, 580ml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Himalaya: 180ml, 1000ml</a:t>
            </a:r>
          </a:p>
        </p:txBody>
      </p:sp>
    </p:spTree>
    <p:extLst>
      <p:ext uri="{BB962C8B-B14F-4D97-AF65-F5344CB8AC3E}">
        <p14:creationId xmlns:p14="http://schemas.microsoft.com/office/powerpoint/2010/main" val="22253270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820" cy="566928"/>
          </a:xfrm>
          <a:prstGeom prst="rect">
            <a:avLst/>
          </a:prstGeom>
          <a:solidFill>
            <a:srgbClr val="2D9B7F"/>
          </a:solidFill>
          <a:ln w="12700">
            <a:solidFill>
              <a:srgbClr val="0B1F3A"/>
            </a:solidFill>
            <a:prstDash val="solid"/>
          </a:ln>
        </p:spPr>
        <p:txBody>
          <a:bodyPr anchor="t"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92608" y="54864"/>
            <a:ext cx="69776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NIELSEN MARKET SHARE READOUT: FACEWASH &amp; SHAMPOO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292608" y="329184"/>
            <a:ext cx="69776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D8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Category-level external validation (Nielsen MS Val, Urban) vs chain-wise performance  |  NEW</a:t>
            </a:r>
            <a:endParaRPr lang="en-US" sz="8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1781890"/>
              </p:ext>
            </p:extLst>
          </p:nvPr>
        </p:nvGraphicFramePr>
        <p:xfrm>
          <a:off x="245668" y="6021604"/>
          <a:ext cx="3520838" cy="1058550"/>
        </p:xfrm>
        <a:graphic>
          <a:graphicData uri="http://schemas.openxmlformats.org/drawingml/2006/table">
            <a:tbl>
              <a:tblPr/>
              <a:tblGrid>
                <a:gridCol w="541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86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5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86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21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44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42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+mn-lt"/>
                        </a:rPr>
                        <a:t>Metric</a:t>
                      </a:r>
                      <a:endParaRPr 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+mn-lt"/>
                        </a:rPr>
                        <a:t>May'25</a:t>
                      </a:r>
                      <a:endParaRPr 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+mn-lt"/>
                        </a:rPr>
                        <a:t>Apr'26</a:t>
                      </a:r>
                      <a:endParaRPr 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+mn-lt"/>
                        </a:rPr>
                        <a:t>May'26</a:t>
                      </a:r>
                      <a:endParaRPr 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+mn-lt"/>
                        </a:rPr>
                        <a:t>MoM</a:t>
                      </a:r>
                      <a:endParaRPr 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+mn-lt"/>
                        </a:rPr>
                        <a:t>YoY</a:t>
                      </a:r>
                      <a:endParaRPr 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31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A1F29"/>
                          </a:solidFill>
                          <a:latin typeface="+mn-lt"/>
                        </a:rPr>
                        <a:t>MS %</a:t>
                      </a:r>
                      <a:endParaRPr 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A1F29"/>
                          </a:solidFill>
                          <a:latin typeface="+mn-lt"/>
                        </a:rPr>
                        <a:t>6%</a:t>
                      </a:r>
                      <a:endParaRPr 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A1F29"/>
                          </a:solidFill>
                          <a:latin typeface="+mn-lt"/>
                        </a:rPr>
                        <a:t>7%</a:t>
                      </a:r>
                      <a:endParaRPr 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A1F29"/>
                          </a:solidFill>
                          <a:latin typeface="+mn-lt"/>
                        </a:rPr>
                        <a:t>7%</a:t>
                      </a:r>
                      <a:endParaRPr 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8A3D"/>
                          </a:solidFill>
                          <a:latin typeface="+mn-lt"/>
                        </a:rPr>
                        <a:t>▲+2bps</a:t>
                      </a:r>
                      <a:endParaRPr 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8A3D"/>
                          </a:solidFill>
                          <a:latin typeface="+mn-lt"/>
                        </a:rPr>
                        <a:t>▲+107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8A3D"/>
                          </a:solidFill>
                          <a:latin typeface="+mn-lt"/>
                        </a:rPr>
                        <a:t>bps</a:t>
                      </a:r>
                      <a:endParaRPr 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9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A1F29"/>
                          </a:solidFill>
                          <a:latin typeface="+mn-lt"/>
                        </a:rPr>
                        <a:t>Sales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A1F29"/>
                          </a:solidFill>
                          <a:latin typeface="+mn-lt"/>
                        </a:rPr>
                        <a:t> (Cr.)</a:t>
                      </a:r>
                      <a:endParaRPr 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F29"/>
                          </a:solidFill>
                          <a:latin typeface="+mn-lt"/>
                        </a:rPr>
                        <a:t>14.98</a:t>
                      </a:r>
                      <a:endParaRPr 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F29"/>
                          </a:solidFill>
                          <a:latin typeface="+mn-lt"/>
                        </a:rPr>
                        <a:t>17.54</a:t>
                      </a:r>
                      <a:endParaRPr 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F29"/>
                          </a:solidFill>
                          <a:latin typeface="+mn-lt"/>
                        </a:rPr>
                        <a:t>18.61</a:t>
                      </a:r>
                      <a:endParaRPr 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8A3D"/>
                          </a:solidFill>
                          <a:latin typeface="+mn-lt"/>
                        </a:rPr>
                        <a:t>▲+6.1%</a:t>
                      </a:r>
                      <a:endParaRPr 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8A3D"/>
                          </a:solidFill>
                          <a:latin typeface="+mn-lt"/>
                        </a:rPr>
                        <a:t>▲+24.2%</a:t>
                      </a:r>
                      <a:endParaRPr 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1693213"/>
              </p:ext>
            </p:extLst>
          </p:nvPr>
        </p:nvGraphicFramePr>
        <p:xfrm>
          <a:off x="3786425" y="5998952"/>
          <a:ext cx="3548271" cy="1033027"/>
        </p:xfrm>
        <a:graphic>
          <a:graphicData uri="http://schemas.openxmlformats.org/drawingml/2006/table">
            <a:tbl>
              <a:tblPr/>
              <a:tblGrid>
                <a:gridCol w="541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13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90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13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24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924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906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May'25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Apr'26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May'26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MoM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YoY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20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A1F29"/>
                          </a:solidFill>
                        </a:rPr>
                        <a:t>MS %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A1F29"/>
                          </a:solidFill>
                        </a:rPr>
                        <a:t>2%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A1F29"/>
                          </a:solidFill>
                        </a:rPr>
                        <a:t>3%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A1F29"/>
                          </a:solidFill>
                        </a:rPr>
                        <a:t>3%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</a:rPr>
                        <a:t>▼-2bps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8A3D"/>
                          </a:solidFill>
                        </a:rPr>
                        <a:t>▲+75bps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20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A1F29"/>
                          </a:solidFill>
                        </a:rPr>
                        <a:t>Sales 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A1F29"/>
                          </a:solidFill>
                        </a:rPr>
                        <a:t>(Cr.)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F29"/>
                          </a:solidFill>
                        </a:rPr>
                        <a:t>5.49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F29"/>
                          </a:solidFill>
                        </a:rPr>
                        <a:t>6.94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F29"/>
                          </a:solidFill>
                        </a:rPr>
                        <a:t>7.75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8A3D"/>
                          </a:solidFill>
                        </a:rPr>
                        <a:t>▲+11.5%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8A3D"/>
                          </a:solidFill>
                        </a:rPr>
                        <a:t>▲+41.1%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3694714"/>
              </p:ext>
            </p:extLst>
          </p:nvPr>
        </p:nvGraphicFramePr>
        <p:xfrm>
          <a:off x="256641" y="7339112"/>
          <a:ext cx="3529782" cy="1505958"/>
        </p:xfrm>
        <a:graphic>
          <a:graphicData uri="http://schemas.openxmlformats.org/drawingml/2006/table">
            <a:tbl>
              <a:tblPr/>
              <a:tblGrid>
                <a:gridCol w="100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32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71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32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53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09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Brand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May'25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Apr'26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May'26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YoY bps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9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F29"/>
                          </a:solidFill>
                        </a:rPr>
                        <a:t>Himalaya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A1F29"/>
                          </a:solidFill>
                        </a:rPr>
                        <a:t>22%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A1F29"/>
                          </a:solidFill>
                        </a:rPr>
                        <a:t>22%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A1F29"/>
                          </a:solidFill>
                        </a:rPr>
                        <a:t>22%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8A3D"/>
                          </a:solidFill>
                        </a:rPr>
                        <a:t>▲ +69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09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F29"/>
                          </a:solidFill>
                        </a:rPr>
                        <a:t>Garnier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A1F29"/>
                          </a:solidFill>
                        </a:rPr>
                        <a:t>15%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A1F29"/>
                          </a:solidFill>
                        </a:rPr>
                        <a:t>13%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A1F29"/>
                          </a:solidFill>
                        </a:rPr>
                        <a:t>13%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C00000"/>
                          </a:solidFill>
                        </a:rPr>
                        <a:t>▼ -112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9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F29"/>
                          </a:solidFill>
                        </a:rPr>
                        <a:t>Pond's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A1F29"/>
                          </a:solidFill>
                        </a:rPr>
                        <a:t>13%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A1F29"/>
                          </a:solidFill>
                        </a:rPr>
                        <a:t>13%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A1F29"/>
                          </a:solidFill>
                        </a:rPr>
                        <a:t>13%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C00000"/>
                          </a:solidFill>
                        </a:rPr>
                        <a:t>▼ -32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9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1F29"/>
                          </a:solidFill>
                        </a:rPr>
                        <a:t>Mamaearth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A1F29"/>
                          </a:solidFill>
                        </a:rPr>
                        <a:t>6%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A1F29"/>
                          </a:solidFill>
                        </a:rPr>
                        <a:t>7%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A1F29"/>
                          </a:solidFill>
                        </a:rPr>
                        <a:t>7%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8A3D"/>
                          </a:solidFill>
                        </a:rPr>
                        <a:t>▲ +107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09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1F29"/>
                          </a:solidFill>
                        </a:rPr>
                        <a:t>The Derma Co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A1F29"/>
                          </a:solidFill>
                        </a:rPr>
                        <a:t>0%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A1F29"/>
                          </a:solidFill>
                        </a:rPr>
                        <a:t>1%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A1F29"/>
                          </a:solidFill>
                        </a:rPr>
                        <a:t>1%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8A3D"/>
                          </a:solidFill>
                        </a:rPr>
                        <a:t>▲ +69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9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2993780"/>
              </p:ext>
            </p:extLst>
          </p:nvPr>
        </p:nvGraphicFramePr>
        <p:xfrm>
          <a:off x="3815653" y="7360861"/>
          <a:ext cx="3538784" cy="1484208"/>
        </p:xfrm>
        <a:graphic>
          <a:graphicData uri="http://schemas.openxmlformats.org/drawingml/2006/table">
            <a:tbl>
              <a:tblPr/>
              <a:tblGrid>
                <a:gridCol w="8607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2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28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28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9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46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10" b="1" dirty="0">
                          <a:solidFill>
                            <a:srgbClr val="FFFFFF"/>
                          </a:solidFill>
                        </a:rPr>
                        <a:t>Brand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b="1" dirty="0">
                          <a:solidFill>
                            <a:srgbClr val="FFFFFF"/>
                          </a:solidFill>
                        </a:rPr>
                        <a:t>May'25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b="1" dirty="0">
                          <a:solidFill>
                            <a:srgbClr val="FFFFFF"/>
                          </a:solidFill>
                        </a:rPr>
                        <a:t>Apr'26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b="1" dirty="0">
                          <a:solidFill>
                            <a:srgbClr val="FFFFFF"/>
                          </a:solidFill>
                        </a:rPr>
                        <a:t>May'26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b="1" dirty="0">
                          <a:solidFill>
                            <a:srgbClr val="FFFFFF"/>
                          </a:solidFill>
                        </a:rPr>
                        <a:t>YoY bps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6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10" dirty="0">
                          <a:solidFill>
                            <a:srgbClr val="1A1F29"/>
                          </a:solidFill>
                        </a:rPr>
                        <a:t>Dove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>
                          <a:solidFill>
                            <a:srgbClr val="1A1F29"/>
                          </a:solidFill>
                        </a:rPr>
                        <a:t>15%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>
                          <a:solidFill>
                            <a:srgbClr val="1A1F29"/>
                          </a:solidFill>
                        </a:rPr>
                        <a:t>13%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>
                          <a:solidFill>
                            <a:srgbClr val="1A1F29"/>
                          </a:solidFill>
                        </a:rPr>
                        <a:t>15%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b="1" dirty="0">
                          <a:solidFill>
                            <a:srgbClr val="C00000"/>
                          </a:solidFill>
                        </a:rPr>
                        <a:t>▼ -28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55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</a:rPr>
                        <a:t>H &amp; S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>
                          <a:solidFill>
                            <a:srgbClr val="1A1F29"/>
                          </a:solidFill>
                        </a:rPr>
                        <a:t>12%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>
                          <a:solidFill>
                            <a:srgbClr val="1A1F29"/>
                          </a:solidFill>
                        </a:rPr>
                        <a:t>12%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>
                          <a:solidFill>
                            <a:srgbClr val="1A1F29"/>
                          </a:solidFill>
                        </a:rPr>
                        <a:t>11%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b="1" dirty="0">
                          <a:solidFill>
                            <a:srgbClr val="C00000"/>
                          </a:solidFill>
                        </a:rPr>
                        <a:t>▼ -106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69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10" dirty="0">
                          <a:solidFill>
                            <a:srgbClr val="1A1F29"/>
                          </a:solidFill>
                        </a:rPr>
                        <a:t>TRESemme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>
                          <a:solidFill>
                            <a:srgbClr val="1A1F29"/>
                          </a:solidFill>
                        </a:rPr>
                        <a:t>6%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>
                          <a:solidFill>
                            <a:srgbClr val="1A1F29"/>
                          </a:solidFill>
                        </a:rPr>
                        <a:t>7%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>
                          <a:solidFill>
                            <a:srgbClr val="1A1F29"/>
                          </a:solidFill>
                        </a:rPr>
                        <a:t>7%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b="1" dirty="0">
                          <a:solidFill>
                            <a:srgbClr val="008A3D"/>
                          </a:solidFill>
                        </a:rPr>
                        <a:t>▲ +99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46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10" b="1" dirty="0">
                          <a:solidFill>
                            <a:srgbClr val="1A1F29"/>
                          </a:solidFill>
                        </a:rPr>
                        <a:t>Mamaearth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>
                          <a:solidFill>
                            <a:srgbClr val="1A1F29"/>
                          </a:solidFill>
                        </a:rPr>
                        <a:t>2%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>
                          <a:solidFill>
                            <a:srgbClr val="1A1F29"/>
                          </a:solidFill>
                        </a:rPr>
                        <a:t>3%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>
                          <a:solidFill>
                            <a:srgbClr val="1A1F29"/>
                          </a:solidFill>
                        </a:rPr>
                        <a:t>3%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b="1" dirty="0">
                          <a:solidFill>
                            <a:srgbClr val="008A3D"/>
                          </a:solidFill>
                        </a:rPr>
                        <a:t>▲ +75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94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10" dirty="0">
                          <a:solidFill>
                            <a:srgbClr val="1A1F29"/>
                          </a:solidFill>
                        </a:rPr>
                        <a:t>Patanjali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>
                          <a:solidFill>
                            <a:srgbClr val="1A1F29"/>
                          </a:solidFill>
                        </a:rPr>
                        <a:t>2%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>
                          <a:solidFill>
                            <a:srgbClr val="1A1F29"/>
                          </a:solidFill>
                        </a:rPr>
                        <a:t>2%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>
                          <a:solidFill>
                            <a:srgbClr val="1A1F29"/>
                          </a:solidFill>
                        </a:rPr>
                        <a:t>2%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b="1" dirty="0">
                          <a:solidFill>
                            <a:srgbClr val="C00000"/>
                          </a:solidFill>
                        </a:rPr>
                        <a:t>▼ -34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6" name="Text 10"/>
          <p:cNvSpPr/>
          <p:nvPr/>
        </p:nvSpPr>
        <p:spPr>
          <a:xfrm>
            <a:off x="256641" y="8859138"/>
            <a:ext cx="6963770" cy="351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5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Reason &amp; Action Required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220456" y="9067384"/>
            <a:ext cx="7049154" cy="1417320"/>
          </a:xfrm>
          <a:prstGeom prst="rect">
            <a:avLst/>
          </a:prstGeom>
          <a:solidFill>
            <a:srgbClr val="F3F6F8"/>
          </a:solidFill>
          <a:ln w="9525">
            <a:solidFill>
              <a:srgbClr val="D9E2EC"/>
            </a:solidFill>
            <a:prstDash val="solid"/>
          </a:ln>
        </p:spPr>
        <p:txBody>
          <a:bodyPr anchor="t"/>
          <a:lstStyle/>
          <a:p>
            <a:endParaRPr lang="en-IN"/>
          </a:p>
        </p:txBody>
      </p:sp>
      <p:sp>
        <p:nvSpPr>
          <p:cNvPr id="18" name="Text 12"/>
          <p:cNvSpPr/>
          <p:nvPr/>
        </p:nvSpPr>
        <p:spPr>
          <a:xfrm>
            <a:off x="393801" y="9216454"/>
            <a:ext cx="6703284" cy="1417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Facewash: </a:t>
            </a: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is broad-based (category value </a:t>
            </a:r>
            <a:r>
              <a:rPr lang="en-US" sz="1100" b="1" dirty="0">
                <a:solidFill>
                  <a:srgbClr val="008A3D"/>
                </a:solidFill>
                <a:latin typeface="Calibri"/>
              </a:rPr>
              <a:t>▲24% YoY</a:t>
            </a:r>
            <a:r>
              <a:rPr lang="en-US" sz="10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consistent with the strong chain-wise Face category growth seen elsewhere in this deck — reads as genuine share gain, not just category tailwind. Protect and continue distribution push.</a:t>
            </a: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Shampoo: </a:t>
            </a: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gain remains strong </a:t>
            </a:r>
            <a:r>
              <a:rPr lang="en-US" sz="1100" b="1" dirty="0">
                <a:solidFill>
                  <a:srgbClr val="008A3D"/>
                </a:solidFill>
                <a:latin typeface="Calibri"/>
              </a:rPr>
              <a:t>(+75 bps) </a:t>
            </a:r>
            <a:r>
              <a:rPr lang="en-US" sz="10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marginal MoM dip (</a:t>
            </a:r>
            <a:r>
              <a:rPr lang="en-US" sz="1000" b="1" dirty="0">
                <a:solidFill>
                  <a:srgbClr val="C00000"/>
                </a:solidFill>
                <a:latin typeface="Calibri"/>
              </a:rPr>
              <a:t>-2 bps</a:t>
            </a:r>
            <a:r>
              <a:rPr lang="en-US" sz="10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against </a:t>
            </a:r>
            <a:r>
              <a:rPr lang="en-US" sz="1100" b="1" dirty="0">
                <a:solidFill>
                  <a:srgbClr val="008A3D"/>
                </a:solidFill>
                <a:latin typeface="Calibri"/>
              </a:rPr>
              <a:t>+11.5% </a:t>
            </a:r>
            <a:r>
              <a:rPr lang="en-US" sz="10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value growth suggests Honasa grew slower than the category this month — flag for next-cycle tracking.</a:t>
            </a:r>
            <a:endParaRPr lang="en-US" sz="105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344F818-C1F3-2C37-6881-13FF35EC5089}"/>
              </a:ext>
            </a:extLst>
          </p:cNvPr>
          <p:cNvSpPr/>
          <p:nvPr/>
        </p:nvSpPr>
        <p:spPr>
          <a:xfrm>
            <a:off x="220456" y="591616"/>
            <a:ext cx="7126502" cy="611752"/>
          </a:xfrm>
          <a:prstGeom prst="rect">
            <a:avLst/>
          </a:prstGeom>
          <a:solidFill>
            <a:srgbClr val="EAF1FA"/>
          </a:solidFill>
          <a:ln w="9525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5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Nielsen confirms the chain-wise growth story: </a:t>
            </a:r>
            <a:r>
              <a:rPr lang="en-US" sz="1150" dirty="0" err="1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</a:t>
            </a:r>
            <a:r>
              <a:rPr lang="en-US" sz="11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gained share YoY in both categories nationally. Facewash share gains held steady MoM; Shampoo share dipped slightly MoM even as category value grew.</a:t>
            </a:r>
            <a:endParaRPr lang="en-US" sz="1000" dirty="0"/>
          </a:p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36B1AAB-4748-7CC0-BEE7-26A29602347A}"/>
              </a:ext>
            </a:extLst>
          </p:cNvPr>
          <p:cNvSpPr/>
          <p:nvPr/>
        </p:nvSpPr>
        <p:spPr>
          <a:xfrm>
            <a:off x="190680" y="605684"/>
            <a:ext cx="45719" cy="611752"/>
          </a:xfrm>
          <a:prstGeom prst="rect">
            <a:avLst/>
          </a:prstGeom>
          <a:solidFill>
            <a:srgbClr val="2D9B7F"/>
          </a:solidFill>
          <a:ln w="9525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B8656B2-8BE9-1A4B-D34B-2D4E8094CDD4}"/>
              </a:ext>
            </a:extLst>
          </p:cNvPr>
          <p:cNvSpPr/>
          <p:nvPr/>
        </p:nvSpPr>
        <p:spPr>
          <a:xfrm>
            <a:off x="190679" y="1217436"/>
            <a:ext cx="7126503" cy="45719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84D32A58-B0BD-972E-2458-5A95BB9C87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3416628"/>
              </p:ext>
            </p:extLst>
          </p:nvPr>
        </p:nvGraphicFramePr>
        <p:xfrm>
          <a:off x="298089" y="4200527"/>
          <a:ext cx="3417545" cy="138091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3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6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71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8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33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5054">
                <a:tc>
                  <a:txBody>
                    <a:bodyPr/>
                    <a:lstStyle/>
                    <a:p>
                      <a:pPr algn="l"/>
                      <a:r>
                        <a:rPr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Zone</a:t>
                      </a:r>
                    </a:p>
                  </a:txBody>
                  <a:tcPr marL="63500" marR="63500" marT="25400" marB="25400" anchor="ctr"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Apr'26</a:t>
                      </a:r>
                    </a:p>
                  </a:txBody>
                  <a:tcPr marL="63500" marR="63500" marT="25400" marB="25400" anchor="ctr"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May'26</a:t>
                      </a:r>
                    </a:p>
                  </a:txBody>
                  <a:tcPr marL="63500" marR="63500" marT="25400" marB="25400" anchor="ctr"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MoM (bps)</a:t>
                      </a:r>
                    </a:p>
                  </a:txBody>
                  <a:tcPr marL="63500" marR="63500" marT="25400" marB="25400" anchor="ctr"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Top Brand in Zone</a:t>
                      </a:r>
                    </a:p>
                  </a:txBody>
                  <a:tcPr marL="63500" marR="63500" marT="25400" marB="25400" anchor="ctr">
                    <a:solidFill>
                      <a:srgbClr val="289C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9657">
                <a:tc>
                  <a:txBody>
                    <a:bodyPr/>
                    <a:lstStyle/>
                    <a:p>
                      <a:pPr algn="l"/>
                      <a:r>
                        <a:rPr sz="900" b="1" dirty="0">
                          <a:solidFill>
                            <a:srgbClr val="1A1F29"/>
                          </a:solidFill>
                          <a:latin typeface="Calibri"/>
                        </a:rPr>
                        <a:t>North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A1F29"/>
                          </a:solidFill>
                          <a:latin typeface="Calibri"/>
                        </a:rPr>
                        <a:t>7%</a:t>
                      </a:r>
                      <a:endParaRPr sz="900" b="0" dirty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A1F29"/>
                          </a:solidFill>
                          <a:latin typeface="Calibri"/>
                        </a:rPr>
                        <a:t>7%</a:t>
                      </a:r>
                      <a:endParaRPr sz="900" b="0" dirty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BF3F3E"/>
                          </a:solidFill>
                          <a:latin typeface="Calibri"/>
                        </a:rPr>
                        <a:t>▼ -33 bps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1A1F29"/>
                          </a:solidFill>
                          <a:latin typeface="Calibri"/>
                        </a:rPr>
                        <a:t>Himalaya (20.1%)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5054">
                <a:tc>
                  <a:txBody>
                    <a:bodyPr/>
                    <a:lstStyle/>
                    <a:p>
                      <a:pPr algn="l"/>
                      <a:r>
                        <a:rPr sz="900" b="1" dirty="0">
                          <a:solidFill>
                            <a:srgbClr val="1A1F29"/>
                          </a:solidFill>
                          <a:latin typeface="Calibri"/>
                        </a:rPr>
                        <a:t>South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A1F29"/>
                          </a:solidFill>
                          <a:latin typeface="Calibri"/>
                        </a:rPr>
                        <a:t>6%</a:t>
                      </a:r>
                      <a:endParaRPr sz="90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A1F29"/>
                          </a:solidFill>
                          <a:latin typeface="Calibri"/>
                        </a:rPr>
                        <a:t>7%</a:t>
                      </a:r>
                      <a:endParaRPr sz="900" b="0" dirty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99761"/>
                          </a:solidFill>
                          <a:latin typeface="Calibri"/>
                        </a:rPr>
                        <a:t>▲ +90 bps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1A1F29"/>
                          </a:solidFill>
                          <a:latin typeface="Calibri"/>
                        </a:rPr>
                        <a:t>Himalaya (28.3%)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5054">
                <a:tc>
                  <a:txBody>
                    <a:bodyPr/>
                    <a:lstStyle/>
                    <a:p>
                      <a:pPr algn="l"/>
                      <a:r>
                        <a:rPr sz="900" b="1" dirty="0">
                          <a:solidFill>
                            <a:srgbClr val="1A1F29"/>
                          </a:solidFill>
                          <a:latin typeface="Calibri"/>
                        </a:rPr>
                        <a:t>East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A1F29"/>
                          </a:solidFill>
                          <a:latin typeface="Calibri"/>
                        </a:rPr>
                        <a:t>5%</a:t>
                      </a:r>
                      <a:endParaRPr sz="90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A1F29"/>
                          </a:solidFill>
                          <a:latin typeface="Calibri"/>
                        </a:rPr>
                        <a:t>5%</a:t>
                      </a:r>
                      <a:endParaRPr sz="90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299761"/>
                          </a:solidFill>
                          <a:latin typeface="Calibri"/>
                        </a:rPr>
                        <a:t>▲ +37 bps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1A1F29"/>
                          </a:solidFill>
                          <a:latin typeface="Calibri"/>
                        </a:rPr>
                        <a:t>Himalaya (23.0%)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6099">
                <a:tc>
                  <a:txBody>
                    <a:bodyPr/>
                    <a:lstStyle/>
                    <a:p>
                      <a:pPr algn="l"/>
                      <a:r>
                        <a:rPr sz="900" b="1" dirty="0">
                          <a:solidFill>
                            <a:srgbClr val="1A1F29"/>
                          </a:solidFill>
                          <a:latin typeface="Calibri"/>
                        </a:rPr>
                        <a:t>West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A1F29"/>
                          </a:solidFill>
                          <a:latin typeface="Calibri"/>
                        </a:rPr>
                        <a:t>7%</a:t>
                      </a:r>
                      <a:endParaRPr sz="900" b="0" dirty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A1F29"/>
                          </a:solidFill>
                          <a:latin typeface="Calibri"/>
                        </a:rPr>
                        <a:t>7%</a:t>
                      </a:r>
                      <a:endParaRPr sz="900" b="0" dirty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BF3F3E"/>
                          </a:solidFill>
                          <a:latin typeface="Calibri"/>
                        </a:rPr>
                        <a:t>▼ -3 bps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1A1F29"/>
                          </a:solidFill>
                          <a:latin typeface="Calibri"/>
                        </a:rPr>
                        <a:t>Himalaya (22.1%)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E04AC7A0-24DA-9401-A043-42304A39A049}"/>
              </a:ext>
            </a:extLst>
          </p:cNvPr>
          <p:cNvSpPr txBox="1"/>
          <p:nvPr/>
        </p:nvSpPr>
        <p:spPr>
          <a:xfrm>
            <a:off x="253291" y="3856638"/>
            <a:ext cx="7049154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dirty="0">
                <a:solidFill>
                  <a:srgbClr val="1F4E78"/>
                </a:solidFill>
                <a:latin typeface="Calibri"/>
              </a:rPr>
              <a:t>ZONE-WISE MARKET SHARE — </a:t>
            </a:r>
            <a:r>
              <a:rPr lang="en-IN" sz="1500" b="1" dirty="0">
                <a:solidFill>
                  <a:srgbClr val="1F4E78"/>
                </a:solidFill>
                <a:latin typeface="Calibri"/>
              </a:rPr>
              <a:t>Facewash &amp; </a:t>
            </a:r>
            <a:r>
              <a:rPr sz="1500" b="1" dirty="0">
                <a:solidFill>
                  <a:srgbClr val="1F4E78"/>
                </a:solidFill>
                <a:latin typeface="Calibri"/>
              </a:rPr>
              <a:t>SHAMPOO (NIELSEN MS VAL)</a:t>
            </a: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D5E60B29-7B97-3BAE-2DF9-5905818B09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951749"/>
              </p:ext>
            </p:extLst>
          </p:nvPr>
        </p:nvGraphicFramePr>
        <p:xfrm>
          <a:off x="3781411" y="4197110"/>
          <a:ext cx="3573029" cy="141936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68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09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51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45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034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8757">
                <a:tc>
                  <a:txBody>
                    <a:bodyPr/>
                    <a:lstStyle/>
                    <a:p>
                      <a:pPr algn="l"/>
                      <a:r>
                        <a:rPr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Zone</a:t>
                      </a:r>
                    </a:p>
                  </a:txBody>
                  <a:tcPr marL="63500" marR="63500" marT="25400" marB="25400" anchor="ctr"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Apr'26</a:t>
                      </a:r>
                    </a:p>
                  </a:txBody>
                  <a:tcPr marL="63500" marR="63500" marT="25400" marB="25400" anchor="ctr"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May'26</a:t>
                      </a:r>
                    </a:p>
                  </a:txBody>
                  <a:tcPr marL="63500" marR="63500" marT="25400" marB="25400" anchor="ctr"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MoM (bps)</a:t>
                      </a:r>
                    </a:p>
                  </a:txBody>
                  <a:tcPr marL="63500" marR="63500" marT="25400" marB="25400" anchor="ctr"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Top Brand </a:t>
                      </a:r>
                      <a:endParaRPr lang="en-IN" sz="9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  <a:p>
                      <a:pPr algn="ctr"/>
                      <a:r>
                        <a:rPr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in Zone</a:t>
                      </a:r>
                    </a:p>
                  </a:txBody>
                  <a:tcPr marL="63500" marR="63500" marT="25400" marB="25400" anchor="ctr">
                    <a:solidFill>
                      <a:srgbClr val="289C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187">
                <a:tc>
                  <a:txBody>
                    <a:bodyPr/>
                    <a:lstStyle/>
                    <a:p>
                      <a:pPr algn="l"/>
                      <a:r>
                        <a:rPr sz="900" b="1" dirty="0">
                          <a:solidFill>
                            <a:srgbClr val="1A1F29"/>
                          </a:solidFill>
                          <a:latin typeface="Calibri"/>
                        </a:rPr>
                        <a:t>North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A1F29"/>
                          </a:solidFill>
                          <a:latin typeface="Calibri"/>
                        </a:rPr>
                        <a:t>2%</a:t>
                      </a:r>
                      <a:endParaRPr sz="90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A1F29"/>
                          </a:solidFill>
                          <a:latin typeface="Calibri"/>
                        </a:rPr>
                        <a:t>2%</a:t>
                      </a:r>
                      <a:endParaRPr sz="90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BF3F3E"/>
                          </a:solidFill>
                          <a:latin typeface="Calibri"/>
                        </a:rPr>
                        <a:t>▼ -26 bps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1A1F29"/>
                          </a:solidFill>
                          <a:latin typeface="Calibri"/>
                        </a:rPr>
                        <a:t>Dove (15.7%)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57">
                <a:tc>
                  <a:txBody>
                    <a:bodyPr/>
                    <a:lstStyle/>
                    <a:p>
                      <a:pPr algn="l"/>
                      <a:r>
                        <a:rPr sz="900" b="1" dirty="0">
                          <a:solidFill>
                            <a:srgbClr val="1A1F29"/>
                          </a:solidFill>
                          <a:latin typeface="Calibri"/>
                        </a:rPr>
                        <a:t>South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A1F29"/>
                          </a:solidFill>
                          <a:latin typeface="Calibri"/>
                        </a:rPr>
                        <a:t>3%</a:t>
                      </a:r>
                      <a:endParaRPr sz="90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A1F29"/>
                          </a:solidFill>
                          <a:latin typeface="Calibri"/>
                        </a:rPr>
                        <a:t>3%</a:t>
                      </a:r>
                      <a:endParaRPr sz="90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299761"/>
                          </a:solidFill>
                          <a:latin typeface="Calibri"/>
                        </a:rPr>
                        <a:t>▲ +8 bps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1A1F29"/>
                          </a:solidFill>
                          <a:latin typeface="Calibri"/>
                        </a:rPr>
                        <a:t>Head &amp; Shoulders (12.5%)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6822">
                <a:tc>
                  <a:txBody>
                    <a:bodyPr/>
                    <a:lstStyle/>
                    <a:p>
                      <a:pPr algn="l"/>
                      <a:r>
                        <a:rPr sz="900" b="1" dirty="0">
                          <a:solidFill>
                            <a:srgbClr val="1A1F29"/>
                          </a:solidFill>
                          <a:latin typeface="Calibri"/>
                        </a:rPr>
                        <a:t>East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A1F29"/>
                          </a:solidFill>
                          <a:latin typeface="Calibri"/>
                        </a:rPr>
                        <a:t>3%</a:t>
                      </a:r>
                      <a:endParaRPr sz="900" b="0" dirty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A1F29"/>
                          </a:solidFill>
                          <a:latin typeface="Calibri"/>
                        </a:rPr>
                        <a:t>3%</a:t>
                      </a:r>
                      <a:endParaRPr sz="900" b="0" dirty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299761"/>
                          </a:solidFill>
                          <a:latin typeface="Calibri"/>
                        </a:rPr>
                        <a:t>▲ +37 bps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1A1F29"/>
                          </a:solidFill>
                          <a:latin typeface="Calibri"/>
                        </a:rPr>
                        <a:t>Dove (13.7%)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5844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A1F29"/>
                          </a:solidFill>
                          <a:latin typeface="Calibri"/>
                        </a:rPr>
                        <a:t>West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A1F29"/>
                          </a:solidFill>
                          <a:latin typeface="Calibri"/>
                        </a:rPr>
                        <a:t>2%</a:t>
                      </a:r>
                      <a:endParaRPr sz="90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A1F29"/>
                          </a:solidFill>
                          <a:latin typeface="Calibri"/>
                        </a:rPr>
                        <a:t>2%</a:t>
                      </a:r>
                      <a:endParaRPr sz="90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99761"/>
                          </a:solidFill>
                          <a:latin typeface="Calibri"/>
                        </a:rPr>
                        <a:t>▲ +5 bps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1A1F29"/>
                          </a:solidFill>
                          <a:latin typeface="Calibri"/>
                        </a:rPr>
                        <a:t>Dove (16.8%)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9" name="Rectangle 28">
            <a:extLst>
              <a:ext uri="{FF2B5EF4-FFF2-40B4-BE49-F238E27FC236}">
                <a16:creationId xmlns:a16="http://schemas.microsoft.com/office/drawing/2014/main" id="{203DA08B-77B6-4C6C-EBB4-86762B7954BD}"/>
              </a:ext>
            </a:extLst>
          </p:cNvPr>
          <p:cNvSpPr/>
          <p:nvPr/>
        </p:nvSpPr>
        <p:spPr>
          <a:xfrm>
            <a:off x="265254" y="5630546"/>
            <a:ext cx="7089185" cy="45719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10E7342-BF61-6D36-5C21-AFF57B37CC07}"/>
              </a:ext>
            </a:extLst>
          </p:cNvPr>
          <p:cNvSpPr/>
          <p:nvPr/>
        </p:nvSpPr>
        <p:spPr>
          <a:xfrm>
            <a:off x="255872" y="5904864"/>
            <a:ext cx="7110751" cy="45719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sp>
        <p:nvSpPr>
          <p:cNvPr id="38" name="Text 6">
            <a:extLst>
              <a:ext uri="{FF2B5EF4-FFF2-40B4-BE49-F238E27FC236}">
                <a16:creationId xmlns:a16="http://schemas.microsoft.com/office/drawing/2014/main" id="{F670B11B-E40D-D128-EB4A-8C821046106A}"/>
              </a:ext>
            </a:extLst>
          </p:cNvPr>
          <p:cNvSpPr/>
          <p:nvPr/>
        </p:nvSpPr>
        <p:spPr>
          <a:xfrm>
            <a:off x="212502" y="5730514"/>
            <a:ext cx="3457007" cy="277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Facewash — Mamaearth (Nielsen MS Val, Urban India)</a:t>
            </a:r>
            <a:endParaRPr lang="en-US" sz="11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Text 7">
            <a:extLst>
              <a:ext uri="{FF2B5EF4-FFF2-40B4-BE49-F238E27FC236}">
                <a16:creationId xmlns:a16="http://schemas.microsoft.com/office/drawing/2014/main" id="{7E9A84A3-492F-BC57-02CD-E50F19908EC9}"/>
              </a:ext>
            </a:extLst>
          </p:cNvPr>
          <p:cNvSpPr/>
          <p:nvPr/>
        </p:nvSpPr>
        <p:spPr>
          <a:xfrm>
            <a:off x="3716928" y="5719742"/>
            <a:ext cx="3439648" cy="224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 — Mamaearth (Nielsen MS Val, Urban India)</a:t>
            </a:r>
            <a:endParaRPr lang="en-US" sz="11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Text 8">
            <a:extLst>
              <a:ext uri="{FF2B5EF4-FFF2-40B4-BE49-F238E27FC236}">
                <a16:creationId xmlns:a16="http://schemas.microsoft.com/office/drawing/2014/main" id="{830CF712-BF9D-3C8D-F8BF-3D43F04FC3B1}"/>
              </a:ext>
            </a:extLst>
          </p:cNvPr>
          <p:cNvSpPr/>
          <p:nvPr/>
        </p:nvSpPr>
        <p:spPr>
          <a:xfrm>
            <a:off x="256642" y="7042360"/>
            <a:ext cx="3529783" cy="306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Category Gainers / Decliners Facewash (Top competitors, MS Val May'26)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Text 8">
            <a:extLst>
              <a:ext uri="{FF2B5EF4-FFF2-40B4-BE49-F238E27FC236}">
                <a16:creationId xmlns:a16="http://schemas.microsoft.com/office/drawing/2014/main" id="{49395683-BBDE-3919-3AA7-3618A368D32B}"/>
              </a:ext>
            </a:extLst>
          </p:cNvPr>
          <p:cNvSpPr/>
          <p:nvPr/>
        </p:nvSpPr>
        <p:spPr>
          <a:xfrm>
            <a:off x="3815654" y="7042360"/>
            <a:ext cx="3501529" cy="263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Category Gainers / Decliners  Shampoo (Top competitors, MS Val May'26)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graphicFrame>
        <p:nvGraphicFramePr>
          <p:cNvPr id="46" name="Chart 0">
            <a:extLst>
              <a:ext uri="{FF2B5EF4-FFF2-40B4-BE49-F238E27FC236}">
                <a16:creationId xmlns:a16="http://schemas.microsoft.com/office/drawing/2014/main" id="{EC256BFB-A312-B510-AFC0-FD1AA1908D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94762620"/>
              </p:ext>
            </p:extLst>
          </p:nvPr>
        </p:nvGraphicFramePr>
        <p:xfrm>
          <a:off x="194931" y="1333172"/>
          <a:ext cx="3502216" cy="24406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7" name="Chart 1">
            <a:extLst>
              <a:ext uri="{FF2B5EF4-FFF2-40B4-BE49-F238E27FC236}">
                <a16:creationId xmlns:a16="http://schemas.microsoft.com/office/drawing/2014/main" id="{BF728E2D-1079-B203-9F9E-E72210FA897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01561294"/>
              </p:ext>
            </p:extLst>
          </p:nvPr>
        </p:nvGraphicFramePr>
        <p:xfrm>
          <a:off x="3800962" y="1335263"/>
          <a:ext cx="3553475" cy="24406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9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5 / 21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89B535-7E46-EFF1-7949-92AFDB3F3028}"/>
              </a:ext>
            </a:extLst>
          </p:cNvPr>
          <p:cNvSpPr/>
          <p:nvPr/>
        </p:nvSpPr>
        <p:spPr>
          <a:xfrm>
            <a:off x="7311205" y="573298"/>
            <a:ext cx="45719" cy="685633"/>
          </a:xfrm>
          <a:prstGeom prst="rect">
            <a:avLst/>
          </a:prstGeom>
          <a:solidFill>
            <a:srgbClr val="2D9B7F"/>
          </a:solidFill>
          <a:ln w="9525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12A20D-23EB-A36C-2630-4AC1414949C0}"/>
              </a:ext>
            </a:extLst>
          </p:cNvPr>
          <p:cNvSpPr/>
          <p:nvPr/>
        </p:nvSpPr>
        <p:spPr>
          <a:xfrm>
            <a:off x="190679" y="573298"/>
            <a:ext cx="7163759" cy="58146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1C2D80-5FC1-B80E-D10C-6A3F267EFABE}"/>
              </a:ext>
            </a:extLst>
          </p:cNvPr>
          <p:cNvSpPr/>
          <p:nvPr/>
        </p:nvSpPr>
        <p:spPr>
          <a:xfrm>
            <a:off x="194931" y="4129117"/>
            <a:ext cx="7171692" cy="45719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E9FDCF-2A4B-7AB8-CDCD-392E6C187C28}"/>
              </a:ext>
            </a:extLst>
          </p:cNvPr>
          <p:cNvSpPr txBox="1"/>
          <p:nvPr/>
        </p:nvSpPr>
        <p:spPr>
          <a:xfrm>
            <a:off x="255873" y="1339402"/>
            <a:ext cx="35060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u="none" strike="noStrike" dirty="0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Face Wash Market Share by Zone (%)</a:t>
            </a:r>
            <a:endParaRPr lang="en-US" sz="1200" b="0" u="none" strike="noStrike" dirty="0">
              <a:solidFill>
                <a:srgbClr val="1A1F29"/>
              </a:solidFill>
              <a:effectLst/>
              <a:uFillTx/>
              <a:latin typeface="Calibri"/>
            </a:endParaRPr>
          </a:p>
          <a:p>
            <a:endParaRPr lang="en-IN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33" y="0"/>
            <a:ext cx="7562820" cy="566928"/>
          </a:xfrm>
          <a:prstGeom prst="rect">
            <a:avLst/>
          </a:prstGeom>
          <a:solidFill>
            <a:srgbClr val="2D9B7F"/>
          </a:solidFill>
          <a:ln w="12700">
            <a:solidFill>
              <a:srgbClr val="0B1F3A"/>
            </a:solidFill>
            <a:prstDash val="solid"/>
          </a:ln>
        </p:spPr>
        <p:txBody>
          <a:bodyPr anchor="t"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92608" y="54864"/>
            <a:ext cx="69776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NIELSEN MARKET SHARE READOUT: FACEWASH &amp; SHAMPOO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292608" y="329184"/>
            <a:ext cx="69776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D8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Category-level external validation (Nielsen MS Val, Urban) vs chain-wise performance  |  NEW</a:t>
            </a:r>
            <a:endParaRPr lang="en-US" sz="8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857D34-0CE0-3333-85DE-AB7073C79907}"/>
              </a:ext>
            </a:extLst>
          </p:cNvPr>
          <p:cNvSpPr txBox="1"/>
          <p:nvPr/>
        </p:nvSpPr>
        <p:spPr>
          <a:xfrm>
            <a:off x="192023" y="638060"/>
            <a:ext cx="7183833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1F4E78"/>
                </a:solidFill>
                <a:latin typeface="Calibri"/>
              </a:rPr>
              <a:t>FACEWASH — TOP CONTRIBUTING STATES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E2B9DE-05A4-660A-7E68-01DBCF744160}"/>
              </a:ext>
            </a:extLst>
          </p:cNvPr>
          <p:cNvSpPr/>
          <p:nvPr/>
        </p:nvSpPr>
        <p:spPr>
          <a:xfrm>
            <a:off x="192023" y="838201"/>
            <a:ext cx="7183833" cy="45719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BD97DBBC-354C-3227-37A3-CEF3B40C89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6975050"/>
              </p:ext>
            </p:extLst>
          </p:nvPr>
        </p:nvGraphicFramePr>
        <p:xfrm>
          <a:off x="192024" y="1085194"/>
          <a:ext cx="7078188" cy="19932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959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4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59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18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State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Contrib. to Category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May'26 Share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MoM (bps)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Uttar Pradesh *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15%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6%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F3F3E"/>
                          </a:solidFill>
                          <a:latin typeface="Calibri"/>
                        </a:rPr>
                        <a:t>▼ -122 bps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Maharashtra *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14%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6%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99761"/>
                          </a:solidFill>
                          <a:latin typeface="Calibri"/>
                        </a:rPr>
                        <a:t>▲ +16 bps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West Bengal *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8%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5%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99761"/>
                          </a:solidFill>
                          <a:latin typeface="Calibri"/>
                        </a:rPr>
                        <a:t>▲ +28 bps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Delhi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8%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9%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F3F3E"/>
                          </a:solidFill>
                          <a:latin typeface="Calibri"/>
                        </a:rPr>
                        <a:t>▼ -42 bps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Haryana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6%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8%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99761"/>
                          </a:solidFill>
                          <a:latin typeface="Calibri"/>
                        </a:rPr>
                        <a:t>▲ +148 bps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Madhya Pradesh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6%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7%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99761"/>
                          </a:solidFill>
                          <a:latin typeface="Calibri"/>
                        </a:rPr>
                        <a:t>▲ +14 bps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Bihar *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6%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5%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F3F3E"/>
                          </a:solidFill>
                          <a:latin typeface="Calibri"/>
                        </a:rPr>
                        <a:t>▼ -15 bps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Gujarat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5%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10%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F3F3E"/>
                          </a:solidFill>
                          <a:latin typeface="Calibri"/>
                        </a:rPr>
                        <a:t>▼ -88 bps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1D792F32-CC22-2A79-831E-4F3CDED65A41}"/>
              </a:ext>
            </a:extLst>
          </p:cNvPr>
          <p:cNvSpPr txBox="1"/>
          <p:nvPr/>
        </p:nvSpPr>
        <p:spPr>
          <a:xfrm>
            <a:off x="192023" y="3144606"/>
            <a:ext cx="7183833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6B7686"/>
                </a:solidFill>
                <a:latin typeface="Calibri"/>
              </a:rPr>
              <a:t>* High contribution to category size but share below the national average — under-penetrated opportunity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2B27280-5074-6293-34D4-296950CAC819}"/>
              </a:ext>
            </a:extLst>
          </p:cNvPr>
          <p:cNvSpPr txBox="1"/>
          <p:nvPr/>
        </p:nvSpPr>
        <p:spPr>
          <a:xfrm>
            <a:off x="192023" y="3350780"/>
            <a:ext cx="7183833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1F4E78"/>
                </a:solidFill>
                <a:latin typeface="Calibri"/>
              </a:rPr>
              <a:t>SHAMPOO — TOP CONTRIBUTING STATES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FBE3F23-3992-F713-9337-DD08117E185D}"/>
              </a:ext>
            </a:extLst>
          </p:cNvPr>
          <p:cNvSpPr/>
          <p:nvPr/>
        </p:nvSpPr>
        <p:spPr>
          <a:xfrm>
            <a:off x="192023" y="3550921"/>
            <a:ext cx="7183833" cy="45719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0D79B10F-6B35-5D44-EF24-0F827403A9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0481965"/>
              </p:ext>
            </p:extLst>
          </p:nvPr>
        </p:nvGraphicFramePr>
        <p:xfrm>
          <a:off x="192024" y="3797914"/>
          <a:ext cx="7078188" cy="19932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959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4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59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18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State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Contrib. to Category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May'26 Share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MoM (bps)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Maharashtra *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15%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1%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99761"/>
                          </a:solidFill>
                          <a:latin typeface="Calibri"/>
                        </a:rPr>
                        <a:t>▲ +11 bps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Gujarat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11%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3%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F3F3E"/>
                          </a:solidFill>
                          <a:latin typeface="Calibri"/>
                        </a:rPr>
                        <a:t>▼ -61 bps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Uttar Pradesh *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10%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2%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F3F3E"/>
                          </a:solidFill>
                          <a:latin typeface="Calibri"/>
                        </a:rPr>
                        <a:t>▼ -67 bps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Delhi *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7%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2%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99761"/>
                          </a:solidFill>
                          <a:latin typeface="Calibri"/>
                        </a:rPr>
                        <a:t>▲ +16 bps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Karnataka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6%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3%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99761"/>
                          </a:solidFill>
                          <a:latin typeface="Calibri"/>
                        </a:rPr>
                        <a:t>▲ +42 bps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West Bengal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6%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3%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99761"/>
                          </a:solidFill>
                          <a:latin typeface="Calibri"/>
                        </a:rPr>
                        <a:t>▲ +53 bps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Haryana *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6%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2%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F3F3E"/>
                          </a:solidFill>
                          <a:latin typeface="Calibri"/>
                        </a:rPr>
                        <a:t>▼ -5 bps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Punjab *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6%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1%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F3F3E"/>
                          </a:solidFill>
                          <a:latin typeface="Calibri"/>
                        </a:rPr>
                        <a:t>▼ -33 bps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45097F38-80FE-65D5-CEEB-23A445100D27}"/>
              </a:ext>
            </a:extLst>
          </p:cNvPr>
          <p:cNvSpPr txBox="1"/>
          <p:nvPr/>
        </p:nvSpPr>
        <p:spPr>
          <a:xfrm>
            <a:off x="192023" y="5857326"/>
            <a:ext cx="7183833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6B7686"/>
                </a:solidFill>
                <a:latin typeface="Calibri"/>
              </a:rPr>
              <a:t>* High contribution to category size but share below the national average — under-penetrated opportunity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5F60EE2-F0FF-441C-34D0-10318CF31257}"/>
              </a:ext>
            </a:extLst>
          </p:cNvPr>
          <p:cNvSpPr/>
          <p:nvPr/>
        </p:nvSpPr>
        <p:spPr>
          <a:xfrm>
            <a:off x="192023" y="6131698"/>
            <a:ext cx="7183833" cy="1149973"/>
          </a:xfrm>
          <a:prstGeom prst="rect">
            <a:avLst/>
          </a:prstGeom>
          <a:solidFill>
            <a:srgbClr val="FC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371F915-AC3C-E886-CEE2-67CA6AE77950}"/>
              </a:ext>
            </a:extLst>
          </p:cNvPr>
          <p:cNvSpPr/>
          <p:nvPr/>
        </p:nvSpPr>
        <p:spPr>
          <a:xfrm>
            <a:off x="192023" y="6131698"/>
            <a:ext cx="46953" cy="1149973"/>
          </a:xfrm>
          <a:prstGeom prst="rect">
            <a:avLst/>
          </a:prstGeom>
          <a:solidFill>
            <a:srgbClr val="D9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1BC9EFA-0433-FF39-3AFB-FCD51C545262}"/>
              </a:ext>
            </a:extLst>
          </p:cNvPr>
          <p:cNvSpPr txBox="1"/>
          <p:nvPr/>
        </p:nvSpPr>
        <p:spPr>
          <a:xfrm>
            <a:off x="320040" y="6194840"/>
            <a:ext cx="6888028" cy="956672"/>
          </a:xfrm>
          <a:prstGeom prst="rect">
            <a:avLst/>
          </a:prstGeom>
          <a:noFill/>
        </p:spPr>
        <p:txBody>
          <a:bodyPr wrap="square" lIns="0" tIns="0" anchor="t">
            <a:spAutoFit/>
          </a:bodyPr>
          <a:lstStyle/>
          <a:p>
            <a:r>
              <a:rPr sz="1000" b="1">
                <a:solidFill>
                  <a:srgbClr val="D9772E"/>
                </a:solidFill>
                <a:latin typeface="Calibri"/>
              </a:rPr>
              <a:t>High Contribution, Low Share States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3C4453"/>
                </a:solidFill>
                <a:latin typeface="Calibri"/>
              </a:rPr>
              <a:t>Facewash: Uttar Pradesh (14.5% contrib, 6.0% share); Maharashtra (13.5% contrib, 6.0% share); West Bengal (8.4% contrib, 5.0% share); Bihar (5.5% contrib, 4.7% share). Shampoo: Maharashtra (14.8% contrib, 1.5% share); Uttar Pradesh (9.7% contrib, 2.5% share); Delhi (7.2% contrib, 1.9% share); Haryana (5.6% contrib, 2.2% share); Punjab (5.5% contrib, 1.4% share). Uttar Pradesh and Maharashtra are the two largest under-penetrated states across both categories — biggest white-space opportunity for distribution and visibility investment.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61E6643-A9A1-4AE4-77E0-64D300ED1ADE}"/>
              </a:ext>
            </a:extLst>
          </p:cNvPr>
          <p:cNvSpPr txBox="1"/>
          <p:nvPr/>
        </p:nvSpPr>
        <p:spPr>
          <a:xfrm>
            <a:off x="192023" y="7425956"/>
            <a:ext cx="7183833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1F4E78"/>
                </a:solidFill>
                <a:latin typeface="Calibri"/>
              </a:rPr>
              <a:t>CATEGORY, BRAND &amp; PACK-SIZE DRIVING HONASA'S STATE-WISE CHAIN SALES (INTERNAL)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B4A5C50-2806-95E8-8A29-7E8C32EC6920}"/>
              </a:ext>
            </a:extLst>
          </p:cNvPr>
          <p:cNvSpPr/>
          <p:nvPr/>
        </p:nvSpPr>
        <p:spPr>
          <a:xfrm>
            <a:off x="192023" y="7626097"/>
            <a:ext cx="7183833" cy="45719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6D18F9E0-4DB4-B760-1816-5B50B0F7E5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0208565"/>
              </p:ext>
            </p:extLst>
          </p:nvPr>
        </p:nvGraphicFramePr>
        <p:xfrm>
          <a:off x="192024" y="7889358"/>
          <a:ext cx="7078187" cy="2214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3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92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374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374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00" b="1" dirty="0">
                          <a:solidFill>
                            <a:srgbClr val="FFFFFF"/>
                          </a:solidFill>
                          <a:latin typeface="Calibri"/>
                        </a:rPr>
                        <a:t>State</a:t>
                      </a:r>
                    </a:p>
                  </a:txBody>
                  <a:tcPr marL="63500" marR="63500" marT="25400" marB="25400" anchor="ctr"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dirty="0">
                          <a:solidFill>
                            <a:srgbClr val="FFFFFF"/>
                          </a:solidFill>
                          <a:latin typeface="Calibri"/>
                        </a:rPr>
                        <a:t>May'26 (Lacs)</a:t>
                      </a:r>
                    </a:p>
                  </a:txBody>
                  <a:tcPr marL="63500" marR="63500" marT="25400" marB="25400" anchor="ctr"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dirty="0">
                          <a:solidFill>
                            <a:srgbClr val="FFFFFF"/>
                          </a:solidFill>
                          <a:latin typeface="Calibri"/>
                        </a:rPr>
                        <a:t>Top Category</a:t>
                      </a:r>
                    </a:p>
                  </a:txBody>
                  <a:tcPr marL="63500" marR="63500" marT="25400" marB="25400" anchor="ctr"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dirty="0">
                          <a:solidFill>
                            <a:srgbClr val="FFFFFF"/>
                          </a:solidFill>
                          <a:latin typeface="Calibri"/>
                        </a:rPr>
                        <a:t>Top Brand</a:t>
                      </a:r>
                    </a:p>
                  </a:txBody>
                  <a:tcPr marL="63500" marR="63500" marT="25400" marB="25400" anchor="ctr"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dirty="0">
                          <a:solidFill>
                            <a:srgbClr val="FFFFFF"/>
                          </a:solidFill>
                          <a:latin typeface="Calibri"/>
                        </a:rPr>
                        <a:t>Top Pack</a:t>
                      </a:r>
                    </a:p>
                  </a:txBody>
                  <a:tcPr marL="63500" marR="63500" marT="25400" marB="25400" anchor="ctr">
                    <a:solidFill>
                      <a:srgbClr val="289C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A1F29"/>
                          </a:solidFill>
                          <a:latin typeface="Calibri"/>
                        </a:rPr>
                        <a:t>Kerala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54.9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Face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Mamaearth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dirty="0">
                          <a:solidFill>
                            <a:srgbClr val="1A1F29"/>
                          </a:solidFill>
                          <a:latin typeface="Calibri"/>
                        </a:rPr>
                        <a:t>150 ml/g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A1F29"/>
                          </a:solidFill>
                          <a:latin typeface="Calibri"/>
                        </a:rPr>
                        <a:t>Telangana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32.4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Face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Mamaearth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150 ml/g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A1F29"/>
                          </a:solidFill>
                          <a:latin typeface="Calibri"/>
                        </a:rPr>
                        <a:t>Karnataka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32.1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Face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Mamaearth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50 ml/g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A1F29"/>
                          </a:solidFill>
                          <a:latin typeface="Calibri"/>
                        </a:rPr>
                        <a:t>Uttar Pradesh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16.3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Face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Mamaearth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150 ml/g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A1F29"/>
                          </a:solidFill>
                          <a:latin typeface="Calibri"/>
                        </a:rPr>
                        <a:t>Tamil Nadu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14.4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Face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Mamaearth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150 ml/g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A1F29"/>
                          </a:solidFill>
                          <a:latin typeface="Calibri"/>
                        </a:rPr>
                        <a:t>West Bengal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14.1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Face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Mamaearth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50 ml/g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A1F29"/>
                          </a:solidFill>
                          <a:latin typeface="Calibri"/>
                        </a:rPr>
                        <a:t>Delhi/Ncr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13.6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Face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The Derma Co.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50 ml/g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A1F29"/>
                          </a:solidFill>
                          <a:latin typeface="Calibri"/>
                        </a:rPr>
                        <a:t>Andhra Pradesh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3.4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Face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Mamaearth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100 ml/g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A1F29"/>
                          </a:solidFill>
                          <a:latin typeface="Calibri"/>
                        </a:rPr>
                        <a:t>Punjab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2.9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Face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Mamaearth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dirty="0">
                          <a:solidFill>
                            <a:srgbClr val="1A1F29"/>
                          </a:solidFill>
                          <a:latin typeface="Calibri"/>
                        </a:rPr>
                        <a:t>100 ml/g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0" name="TextBox 39">
            <a:extLst>
              <a:ext uri="{FF2B5EF4-FFF2-40B4-BE49-F238E27FC236}">
                <a16:creationId xmlns:a16="http://schemas.microsoft.com/office/drawing/2014/main" id="{C53E1D41-A56D-FA35-DCE0-0348A37C0893}"/>
              </a:ext>
            </a:extLst>
          </p:cNvPr>
          <p:cNvSpPr txBox="1"/>
          <p:nvPr/>
        </p:nvSpPr>
        <p:spPr>
          <a:xfrm>
            <a:off x="192023" y="10217458"/>
            <a:ext cx="7183833" cy="264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>
                <a:solidFill>
                  <a:srgbClr val="6B7686"/>
                </a:solidFill>
                <a:latin typeface="Calibri"/>
              </a:rPr>
              <a:t>Basis: MT chain extract (MRL + Lulu + Wellness), Data for=HCL rows only — Honasa's internal sales mix, not a competitive denominator. State names from this source do not map 1:1 to Nielsen's state list above (e.g. Kerala/Andhra Pradesh have no separate Nielsen state cut).</a:t>
            </a:r>
          </a:p>
        </p:txBody>
      </p:sp>
      <p:sp>
        <p:nvSpPr>
          <p:cNvPr id="90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6 / 21</a:t>
            </a:r>
          </a:p>
        </p:txBody>
      </p:sp>
    </p:spTree>
    <p:extLst>
      <p:ext uri="{BB962C8B-B14F-4D97-AF65-F5344CB8AC3E}">
        <p14:creationId xmlns:p14="http://schemas.microsoft.com/office/powerpoint/2010/main" val="23668157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1B051920-9B91-BB7D-0B2E-EB0664244C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6017874"/>
              </p:ext>
            </p:extLst>
          </p:nvPr>
        </p:nvGraphicFramePr>
        <p:xfrm>
          <a:off x="212691" y="82627"/>
          <a:ext cx="7015882" cy="254257"/>
        </p:xfrm>
        <a:graphic>
          <a:graphicData uri="http://schemas.openxmlformats.org/drawingml/2006/table">
            <a:tbl>
              <a:tblPr firstRow="1" firstCol="1" bandRow="1"/>
              <a:tblGrid>
                <a:gridCol w="7015882">
                  <a:extLst>
                    <a:ext uri="{9D8B030D-6E8A-4147-A177-3AD203B41FA5}">
                      <a16:colId xmlns:a16="http://schemas.microsoft.com/office/drawing/2014/main" val="2201429027"/>
                    </a:ext>
                  </a:extLst>
                </a:gridCol>
              </a:tblGrid>
              <a:tr h="2542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EAST ZONE PERFORMANCE</a:t>
                      </a:r>
                      <a:endParaRPr lang="en-IN" sz="8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30" marR="6583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016972"/>
                  </a:ext>
                </a:extLst>
              </a:tr>
            </a:tbl>
          </a:graphicData>
        </a:graphic>
      </p:graphicFrame>
      <p:grpSp>
        <p:nvGrpSpPr>
          <p:cNvPr id="59" name="Group 58">
            <a:extLst>
              <a:ext uri="{FF2B5EF4-FFF2-40B4-BE49-F238E27FC236}">
                <a16:creationId xmlns:a16="http://schemas.microsoft.com/office/drawing/2014/main" id="{DD68EAEE-F80C-F3EC-109E-BA117E71D016}"/>
              </a:ext>
            </a:extLst>
          </p:cNvPr>
          <p:cNvGrpSpPr>
            <a:grpSpLocks/>
          </p:cNvGrpSpPr>
          <p:nvPr/>
        </p:nvGrpSpPr>
        <p:grpSpPr>
          <a:xfrm>
            <a:off x="212691" y="410876"/>
            <a:ext cx="1600200" cy="469900"/>
            <a:chOff x="0" y="0"/>
            <a:chExt cx="1600200" cy="469900"/>
          </a:xfrm>
        </p:grpSpPr>
        <p:sp>
          <p:nvSpPr>
            <p:cNvPr id="60" name="Graphic 251">
              <a:extLst>
                <a:ext uri="{FF2B5EF4-FFF2-40B4-BE49-F238E27FC236}">
                  <a16:creationId xmlns:a16="http://schemas.microsoft.com/office/drawing/2014/main" id="{AE04FE27-F37C-FB01-7FB2-B2D33688B0BC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1" name="Graphic 252">
              <a:extLst>
                <a:ext uri="{FF2B5EF4-FFF2-40B4-BE49-F238E27FC236}">
                  <a16:creationId xmlns:a16="http://schemas.microsoft.com/office/drawing/2014/main" id="{87A3E814-7336-FA22-3836-09A27F3A3FA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2" name="Textbox 253">
              <a:extLst>
                <a:ext uri="{FF2B5EF4-FFF2-40B4-BE49-F238E27FC236}">
                  <a16:creationId xmlns:a16="http://schemas.microsoft.com/office/drawing/2014/main" id="{327D0D1E-52B7-0544-69AC-D27F67860192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May-26 Sales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411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6CF0896D-3C02-C329-D4D8-571E7F485B4D}"/>
              </a:ext>
            </a:extLst>
          </p:cNvPr>
          <p:cNvGrpSpPr>
            <a:grpSpLocks/>
          </p:cNvGrpSpPr>
          <p:nvPr/>
        </p:nvGrpSpPr>
        <p:grpSpPr>
          <a:xfrm>
            <a:off x="1988068" y="410876"/>
            <a:ext cx="1600200" cy="469900"/>
            <a:chOff x="0" y="0"/>
            <a:chExt cx="1600200" cy="469900"/>
          </a:xfrm>
        </p:grpSpPr>
        <p:sp>
          <p:nvSpPr>
            <p:cNvPr id="64" name="Graphic 255">
              <a:extLst>
                <a:ext uri="{FF2B5EF4-FFF2-40B4-BE49-F238E27FC236}">
                  <a16:creationId xmlns:a16="http://schemas.microsoft.com/office/drawing/2014/main" id="{F5CE3C7F-BAA9-CD25-1598-3A30E0D6A453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5" name="Graphic 256">
              <a:extLst>
                <a:ext uri="{FF2B5EF4-FFF2-40B4-BE49-F238E27FC236}">
                  <a16:creationId xmlns:a16="http://schemas.microsoft.com/office/drawing/2014/main" id="{35D43F11-7FFC-3438-380C-33F69E72795A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6" name="Textbox 257">
              <a:extLst>
                <a:ext uri="{FF2B5EF4-FFF2-40B4-BE49-F238E27FC236}">
                  <a16:creationId xmlns:a16="http://schemas.microsoft.com/office/drawing/2014/main" id="{20C7EE75-3B4F-E74E-A5C0-CFE2D5A3D1CF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Zone Share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10.3%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A702DE7B-B820-9D9B-3797-7468D7DD4ECA}"/>
              </a:ext>
            </a:extLst>
          </p:cNvPr>
          <p:cNvGrpSpPr>
            <a:grpSpLocks/>
          </p:cNvGrpSpPr>
          <p:nvPr/>
        </p:nvGrpSpPr>
        <p:grpSpPr>
          <a:xfrm>
            <a:off x="3763445" y="409266"/>
            <a:ext cx="1600200" cy="469900"/>
            <a:chOff x="0" y="0"/>
            <a:chExt cx="1600200" cy="469900"/>
          </a:xfrm>
        </p:grpSpPr>
        <p:sp>
          <p:nvSpPr>
            <p:cNvPr id="68" name="Graphic 259">
              <a:extLst>
                <a:ext uri="{FF2B5EF4-FFF2-40B4-BE49-F238E27FC236}">
                  <a16:creationId xmlns:a16="http://schemas.microsoft.com/office/drawing/2014/main" id="{4F59F74E-A9A3-A03B-6DF6-E1FC6CF5DCC4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9" name="Graphic 260">
              <a:extLst>
                <a:ext uri="{FF2B5EF4-FFF2-40B4-BE49-F238E27FC236}">
                  <a16:creationId xmlns:a16="http://schemas.microsoft.com/office/drawing/2014/main" id="{21D51929-BD0B-81C1-A744-1E863136F4F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0" name="Textbox 261">
              <a:extLst>
                <a:ext uri="{FF2B5EF4-FFF2-40B4-BE49-F238E27FC236}">
                  <a16:creationId xmlns:a16="http://schemas.microsoft.com/office/drawing/2014/main" id="{42FA30A0-A741-6043-88F2-1A90ADD27414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L3M Avg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322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F27C9CD-9B21-5E34-0C32-1AB5F84F55FD}"/>
              </a:ext>
            </a:extLst>
          </p:cNvPr>
          <p:cNvGrpSpPr>
            <a:grpSpLocks/>
          </p:cNvGrpSpPr>
          <p:nvPr/>
        </p:nvGrpSpPr>
        <p:grpSpPr>
          <a:xfrm>
            <a:off x="5539014" y="410910"/>
            <a:ext cx="1600200" cy="469900"/>
            <a:chOff x="0" y="0"/>
            <a:chExt cx="1600200" cy="469900"/>
          </a:xfrm>
        </p:grpSpPr>
        <p:sp>
          <p:nvSpPr>
            <p:cNvPr id="72" name="Graphic 263">
              <a:extLst>
                <a:ext uri="{FF2B5EF4-FFF2-40B4-BE49-F238E27FC236}">
                  <a16:creationId xmlns:a16="http://schemas.microsoft.com/office/drawing/2014/main" id="{4E793049-DA48-496E-F528-84304A3FB08F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3" name="Graphic 264">
              <a:extLst>
                <a:ext uri="{FF2B5EF4-FFF2-40B4-BE49-F238E27FC236}">
                  <a16:creationId xmlns:a16="http://schemas.microsoft.com/office/drawing/2014/main" id="{29227A2B-0582-AE0C-E8D7-1C924EB8D8CE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4" name="Textbox 265">
              <a:extLst>
                <a:ext uri="{FF2B5EF4-FFF2-40B4-BE49-F238E27FC236}">
                  <a16:creationId xmlns:a16="http://schemas.microsoft.com/office/drawing/2014/main" id="{50672AAD-CBB1-4DA3-E51B-B8B2B09130C0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GOLY May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algn="ctr">
                <a:spcBef>
                  <a:spcPts val="55"/>
                </a:spcBef>
                <a:spcAft>
                  <a:spcPts val="0"/>
                </a:spcAft>
              </a:pPr>
              <a:r>
                <a:rPr sz="1600" b="1">
                  <a:solidFill>
                    <a:srgbClr val="008A3D"/>
                  </a:solidFill>
                  <a:latin typeface="+mj-lt"/>
                </a:rPr>
                <a:t>▲ 55%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sp>
        <p:nvSpPr>
          <p:cNvPr id="75" name="Rectangle 48">
            <a:extLst>
              <a:ext uri="{FF2B5EF4-FFF2-40B4-BE49-F238E27FC236}">
                <a16:creationId xmlns:a16="http://schemas.microsoft.com/office/drawing/2014/main" id="{D24FAE0C-145A-C9D7-74A8-D196DE7A8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875" y="42771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 sz="240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76" name="Rectangle 50">
            <a:extLst>
              <a:ext uri="{FF2B5EF4-FFF2-40B4-BE49-F238E27FC236}">
                <a16:creationId xmlns:a16="http://schemas.microsoft.com/office/drawing/2014/main" id="{58CE6004-1D26-F9E4-E2B8-A5EF89D499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5433702"/>
            <a:ext cx="692652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7" name="Rectangle 52">
            <a:extLst>
              <a:ext uri="{FF2B5EF4-FFF2-40B4-BE49-F238E27FC236}">
                <a16:creationId xmlns:a16="http://schemas.microsoft.com/office/drawing/2014/main" id="{6D038E4A-1677-969E-C704-197AFECF0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5912670"/>
            <a:ext cx="692652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8" name="Rectangle 54">
            <a:extLst>
              <a:ext uri="{FF2B5EF4-FFF2-40B4-BE49-F238E27FC236}">
                <a16:creationId xmlns:a16="http://schemas.microsoft.com/office/drawing/2014/main" id="{BE172A64-5EBD-FF10-7C9B-66C88926A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7372064"/>
            <a:ext cx="6926523" cy="40011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9" name="Rectangle 56">
            <a:extLst>
              <a:ext uri="{FF2B5EF4-FFF2-40B4-BE49-F238E27FC236}">
                <a16:creationId xmlns:a16="http://schemas.microsoft.com/office/drawing/2014/main" id="{E97D74F4-3FCA-35BE-70C0-931264144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6867859"/>
            <a:ext cx="692652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sp>
        <p:nvSpPr>
          <p:cNvPr id="80" name="Textbox 268">
            <a:extLst>
              <a:ext uri="{FF2B5EF4-FFF2-40B4-BE49-F238E27FC236}">
                <a16:creationId xmlns:a16="http://schemas.microsoft.com/office/drawing/2014/main" id="{1A2636FF-FA83-BDD9-A967-753B47792769}"/>
              </a:ext>
            </a:extLst>
          </p:cNvPr>
          <p:cNvSpPr txBox="1"/>
          <p:nvPr/>
        </p:nvSpPr>
        <p:spPr>
          <a:xfrm>
            <a:off x="212691" y="988226"/>
            <a:ext cx="6926523" cy="8486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lIns="0" tIns="0" rIns="0" bIns="0" rtlCol="0" anchor="t">
            <a:noAutofit/>
          </a:bodyPr>
          <a:lstStyle/>
          <a:p>
            <a:pPr marL="127000">
              <a:spcBef>
                <a:spcPts val="600"/>
              </a:spcBef>
              <a:spcAft>
                <a:spcPts val="0"/>
              </a:spcAft>
            </a:pPr>
            <a:r>
              <a:rPr lang="en-US" sz="1000" b="1" dirty="0">
                <a:effectLst/>
                <a:latin typeface="Calibri"/>
                <a:ea typeface="Arial MT"/>
                <a:cs typeface="Calibri"/>
              </a:rPr>
              <a:t>Key Performance </a:t>
            </a:r>
            <a:r>
              <a:rPr lang="en-US" sz="1000" b="1" spc="-10" dirty="0">
                <a:effectLst/>
                <a:latin typeface="Calibri"/>
                <a:ea typeface="Arial MT"/>
                <a:cs typeface="Calibri"/>
              </a:rPr>
              <a:t>Highlights</a:t>
            </a:r>
            <a:endParaRPr lang="en-IN" sz="1400" dirty="0">
              <a:effectLst/>
              <a:latin typeface="+mj-lt"/>
              <a:ea typeface="Arial MT"/>
              <a:cs typeface="Calibri"/>
            </a:endParaRPr>
          </a:p>
          <a:p>
            <a:pPr>
              <a:spcBef>
                <a:spcPts val="105"/>
              </a:spcBef>
            </a:pPr>
            <a:r>
              <a:rPr lang="en-US" sz="1000" b="1" dirty="0">
                <a:effectLst/>
                <a:latin typeface="Calibri"/>
                <a:ea typeface="Arial MT"/>
                <a:cs typeface="Calibri"/>
              </a:rPr>
              <a:t> </a:t>
            </a:r>
            <a:endParaRPr lang="en-IN" sz="1400" dirty="0">
              <a:effectLst/>
              <a:latin typeface="+mj-lt"/>
              <a:ea typeface="Arial MT"/>
              <a:cs typeface="Calibri"/>
            </a:endParaRPr>
          </a:p>
          <a:p>
            <a:pPr marL="184150" indent="-57150">
              <a:tabLst>
                <a:tab pos="184150" algn="l"/>
              </a:tabLst>
            </a:pPr>
            <a:r>
              <a:rPr lang="en-US" sz="900" b="1" dirty="0">
                <a:effectLst/>
                <a:latin typeface="Calibri"/>
                <a:ea typeface="Arial MT"/>
                <a:cs typeface="Calibri"/>
              </a:rPr>
              <a:t>Zone</a:t>
            </a:r>
            <a:r>
              <a:rPr lang="en-US" sz="900" b="1" spc="40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900" b="1" dirty="0">
                <a:effectLst/>
                <a:latin typeface="Calibri"/>
                <a:ea typeface="Arial MT"/>
                <a:cs typeface="Calibri"/>
              </a:rPr>
              <a:t>Record:</a:t>
            </a:r>
            <a:r>
              <a:rPr lang="en-US" sz="900" b="1" spc="40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900" dirty="0">
                <a:effectLst/>
                <a:latin typeface="Calibri"/>
                <a:ea typeface="Arial MT"/>
                <a:cs typeface="Calibri"/>
              </a:rPr>
              <a:t>May-26</a:t>
            </a:r>
            <a:r>
              <a:rPr lang="en-US" sz="900" spc="40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900" dirty="0">
                <a:effectLst/>
                <a:latin typeface="Calibri"/>
                <a:ea typeface="Arial MT"/>
                <a:cs typeface="Calibri"/>
              </a:rPr>
              <a:t>delivered</a:t>
            </a:r>
            <a:r>
              <a:rPr lang="en-US" sz="900" spc="40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900" dirty="0">
                <a:effectLst/>
                <a:latin typeface="Calibri"/>
                <a:ea typeface="Arial MT"/>
                <a:cs typeface="Calibri"/>
              </a:rPr>
              <a:t>the</a:t>
            </a:r>
            <a:r>
              <a:rPr lang="en-US" sz="900" spc="45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900" b="1" dirty="0">
                <a:effectLst/>
                <a:latin typeface="Calibri"/>
                <a:ea typeface="Arial MT"/>
                <a:cs typeface="Calibri"/>
              </a:rPr>
              <a:t>highest</a:t>
            </a:r>
            <a:r>
              <a:rPr lang="en-US" sz="900" b="1" spc="40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900" b="1" dirty="0">
                <a:effectLst/>
                <a:latin typeface="Calibri"/>
                <a:ea typeface="Arial MT"/>
                <a:cs typeface="Calibri"/>
              </a:rPr>
              <a:t>month</a:t>
            </a:r>
            <a:r>
              <a:rPr lang="en-US" sz="900" b="1" spc="40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900" dirty="0">
                <a:effectLst/>
                <a:latin typeface="Calibri"/>
                <a:ea typeface="Arial MT"/>
                <a:cs typeface="Calibri"/>
              </a:rPr>
              <a:t>for</a:t>
            </a:r>
            <a:r>
              <a:rPr lang="en-US" sz="900" spc="40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900" dirty="0">
                <a:effectLst/>
                <a:latin typeface="Calibri"/>
                <a:ea typeface="Arial MT"/>
                <a:cs typeface="Calibri"/>
              </a:rPr>
              <a:t>East</a:t>
            </a:r>
            <a:r>
              <a:rPr lang="en-US" sz="900" spc="45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900" dirty="0">
                <a:effectLst/>
                <a:latin typeface="Calibri"/>
                <a:ea typeface="Arial MT"/>
                <a:cs typeface="Calibri"/>
              </a:rPr>
              <a:t>at</a:t>
            </a:r>
            <a:r>
              <a:rPr lang="en-US" sz="900" spc="40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900" b="1" dirty="0">
                <a:effectLst/>
                <a:latin typeface="Calibri"/>
                <a:ea typeface="Arial MT"/>
                <a:cs typeface="Calibri"/>
              </a:rPr>
              <a:t>411</a:t>
            </a:r>
            <a:r>
              <a:rPr lang="en-US" sz="900" dirty="0">
                <a:effectLst/>
                <a:latin typeface="Calibri"/>
                <a:ea typeface="Arial MT"/>
                <a:cs typeface="Calibri"/>
              </a:rPr>
              <a:t>,</a:t>
            </a:r>
            <a:r>
              <a:rPr lang="en-US" sz="900" spc="40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900" dirty="0">
                <a:effectLst/>
                <a:latin typeface="Calibri"/>
                <a:ea typeface="Arial MT"/>
                <a:cs typeface="Calibri"/>
              </a:rPr>
              <a:t>contributing</a:t>
            </a:r>
            <a:r>
              <a:rPr lang="en-US" sz="900" spc="40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900" b="1" dirty="0">
                <a:effectLst/>
                <a:latin typeface="Calibri"/>
                <a:ea typeface="Arial MT"/>
                <a:cs typeface="Calibri"/>
              </a:rPr>
              <a:t>10.3%</a:t>
            </a:r>
            <a:r>
              <a:rPr lang="en-US" sz="900" b="1" spc="45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900" dirty="0">
                <a:effectLst/>
                <a:latin typeface="Calibri"/>
                <a:ea typeface="Arial MT"/>
                <a:cs typeface="Calibri"/>
              </a:rPr>
              <a:t>to</a:t>
            </a:r>
            <a:r>
              <a:rPr lang="en-US" sz="900" spc="40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900" dirty="0">
                <a:effectLst/>
                <a:latin typeface="Calibri"/>
                <a:ea typeface="Arial MT"/>
                <a:cs typeface="Calibri"/>
              </a:rPr>
              <a:t>total</a:t>
            </a:r>
            <a:r>
              <a:rPr lang="en-US" sz="900" spc="40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900" dirty="0">
                <a:effectLst/>
                <a:latin typeface="Calibri"/>
                <a:ea typeface="Arial MT"/>
                <a:cs typeface="Calibri"/>
              </a:rPr>
              <a:t>channel</a:t>
            </a:r>
            <a:r>
              <a:rPr lang="en-US" sz="900" spc="40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900" spc="-10" dirty="0">
                <a:effectLst/>
                <a:latin typeface="Calibri"/>
                <a:ea typeface="Arial MT"/>
                <a:cs typeface="Calibri"/>
              </a:rPr>
              <a:t>sales.</a:t>
            </a:r>
            <a:endParaRPr lang="en-IN" sz="1400" dirty="0">
              <a:effectLst/>
              <a:latin typeface="+mj-lt"/>
              <a:ea typeface="Arial MT"/>
              <a:cs typeface="Calibri"/>
            </a:endParaRPr>
          </a:p>
          <a:p>
            <a:pPr marL="184150" indent="-57150">
              <a:spcBef>
                <a:spcPts val="55"/>
              </a:spcBef>
              <a:spcAft>
                <a:spcPts val="0"/>
              </a:spcAft>
              <a:tabLst>
                <a:tab pos="184150" algn="l"/>
              </a:tabLst>
            </a:pPr>
            <a:r>
              <a:rPr sz="900" b="1" dirty="0">
                <a:latin typeface="Calibri"/>
              </a:rPr>
              <a:t>Growth View: May-26 performance was </a:t>
            </a:r>
            <a:r>
              <a:rPr sz="900" b="1" dirty="0">
                <a:solidFill>
                  <a:srgbClr val="008A3D"/>
                </a:solidFill>
                <a:latin typeface="Calibri"/>
              </a:rPr>
              <a:t>▲ 28%</a:t>
            </a:r>
            <a:r>
              <a:rPr sz="900" b="1" dirty="0">
                <a:solidFill>
                  <a:srgbClr val="1C4DD8"/>
                </a:solidFill>
                <a:latin typeface="Calibri"/>
              </a:rPr>
              <a:t> </a:t>
            </a:r>
            <a:r>
              <a:rPr sz="900" b="1" dirty="0">
                <a:latin typeface="Calibri"/>
              </a:rPr>
              <a:t>vs L3M and </a:t>
            </a:r>
            <a:r>
              <a:rPr sz="900" b="1" dirty="0">
                <a:solidFill>
                  <a:srgbClr val="008A3D"/>
                </a:solidFill>
                <a:latin typeface="Calibri"/>
              </a:rPr>
              <a:t>▲ 55%</a:t>
            </a:r>
            <a:r>
              <a:rPr sz="900" b="1" dirty="0">
                <a:solidFill>
                  <a:srgbClr val="1C4DD8"/>
                </a:solidFill>
                <a:latin typeface="Calibri"/>
              </a:rPr>
              <a:t> </a:t>
            </a:r>
            <a:r>
              <a:rPr sz="900" b="1" dirty="0">
                <a:latin typeface="Calibri"/>
              </a:rPr>
              <a:t>vs May-25, confirming Consistent strong month momentum.</a:t>
            </a:r>
            <a:endParaRPr lang="en-IN" sz="1400" dirty="0">
              <a:effectLst/>
              <a:latin typeface="+mj-lt"/>
              <a:ea typeface="Arial MT"/>
              <a:cs typeface="Calibri"/>
            </a:endParaRPr>
          </a:p>
        </p:txBody>
      </p:sp>
      <p:sp>
        <p:nvSpPr>
          <p:cNvPr id="149" name="Shape 3">
            <a:extLst>
              <a:ext uri="{FF2B5EF4-FFF2-40B4-BE49-F238E27FC236}">
                <a16:creationId xmlns:a16="http://schemas.microsoft.com/office/drawing/2014/main" id="{E2B15EBD-7C86-86AC-FD83-3C817A35F1E5}"/>
              </a:ext>
            </a:extLst>
          </p:cNvPr>
          <p:cNvSpPr/>
          <p:nvPr/>
        </p:nvSpPr>
        <p:spPr>
          <a:xfrm>
            <a:off x="212691" y="3473924"/>
            <a:ext cx="6926523" cy="272158"/>
          </a:xfrm>
          <a:prstGeom prst="rect">
            <a:avLst/>
          </a:prstGeom>
          <a:solidFill>
            <a:srgbClr val="2D9B7F"/>
          </a:solidFill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sp>
        <p:nvSpPr>
          <p:cNvPr id="150" name="Text 4">
            <a:extLst>
              <a:ext uri="{FF2B5EF4-FFF2-40B4-BE49-F238E27FC236}">
                <a16:creationId xmlns:a16="http://schemas.microsoft.com/office/drawing/2014/main" id="{E090B056-5AAD-CC5C-BB09-77FB607FB2B4}"/>
              </a:ext>
            </a:extLst>
          </p:cNvPr>
          <p:cNvSpPr/>
          <p:nvPr/>
        </p:nvSpPr>
        <p:spPr>
          <a:xfrm>
            <a:off x="212691" y="3440324"/>
            <a:ext cx="6926523" cy="277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</a:rPr>
              <a:t>East | Mamaearth — Top 3 Sub-category Monthly Trend (NSV)</a:t>
            </a:r>
            <a:endParaRPr lang="en-US" sz="780" dirty="0">
              <a:latin typeface="+mj-lt"/>
            </a:endParaRPr>
          </a:p>
        </p:txBody>
      </p:sp>
      <p:sp>
        <p:nvSpPr>
          <p:cNvPr id="151" name="Text 5">
            <a:extLst>
              <a:ext uri="{FF2B5EF4-FFF2-40B4-BE49-F238E27FC236}">
                <a16:creationId xmlns:a16="http://schemas.microsoft.com/office/drawing/2014/main" id="{8DC1552C-E149-4A10-28F5-0A4785E39F2D}"/>
              </a:ext>
            </a:extLst>
          </p:cNvPr>
          <p:cNvSpPr/>
          <p:nvPr/>
        </p:nvSpPr>
        <p:spPr>
          <a:xfrm>
            <a:off x="707667" y="3870179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1100" dirty="0">
              <a:latin typeface="+mj-lt"/>
            </a:endParaRPr>
          </a:p>
        </p:txBody>
      </p:sp>
      <p:sp>
        <p:nvSpPr>
          <p:cNvPr id="152" name="Text 6">
            <a:extLst>
              <a:ext uri="{FF2B5EF4-FFF2-40B4-BE49-F238E27FC236}">
                <a16:creationId xmlns:a16="http://schemas.microsoft.com/office/drawing/2014/main" id="{68B7E644-F756-EB08-51D0-E4BBD2584EB3}"/>
              </a:ext>
            </a:extLst>
          </p:cNvPr>
          <p:cNvSpPr/>
          <p:nvPr/>
        </p:nvSpPr>
        <p:spPr>
          <a:xfrm>
            <a:off x="1159597" y="3861039"/>
            <a:ext cx="372097" cy="242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>
                <a:solidFill>
                  <a:srgbClr val="008A3D"/>
                </a:solidFill>
                <a:latin typeface="Calibri"/>
              </a:rPr>
              <a:t>▲ 43%</a:t>
            </a:r>
            <a:endParaRPr lang="en-US" sz="900" dirty="0">
              <a:latin typeface="+mj-lt"/>
            </a:endParaRPr>
          </a:p>
        </p:txBody>
      </p:sp>
      <p:sp>
        <p:nvSpPr>
          <p:cNvPr id="153" name="Text 7">
            <a:extLst>
              <a:ext uri="{FF2B5EF4-FFF2-40B4-BE49-F238E27FC236}">
                <a16:creationId xmlns:a16="http://schemas.microsoft.com/office/drawing/2014/main" id="{E90F34B8-D653-A710-F866-1BC3E6964F9D}"/>
              </a:ext>
            </a:extLst>
          </p:cNvPr>
          <p:cNvSpPr/>
          <p:nvPr/>
        </p:nvSpPr>
        <p:spPr>
          <a:xfrm>
            <a:off x="1633843" y="3872916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10%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55" name="Chart 0">
            <a:extLst>
              <a:ext uri="{FF2B5EF4-FFF2-40B4-BE49-F238E27FC236}">
                <a16:creationId xmlns:a16="http://schemas.microsoft.com/office/drawing/2014/main" id="{C3EABDE2-E03A-721E-0AE3-C104F928F4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58971664"/>
              </p:ext>
            </p:extLst>
          </p:nvPr>
        </p:nvGraphicFramePr>
        <p:xfrm>
          <a:off x="180438" y="3792416"/>
          <a:ext cx="2261355" cy="15573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6" name="Text 9">
            <a:extLst>
              <a:ext uri="{FF2B5EF4-FFF2-40B4-BE49-F238E27FC236}">
                <a16:creationId xmlns:a16="http://schemas.microsoft.com/office/drawing/2014/main" id="{5BEBD7FD-7A2C-AC1D-76B9-D5B4A0E4DD0C}"/>
              </a:ext>
            </a:extLst>
          </p:cNvPr>
          <p:cNvSpPr/>
          <p:nvPr/>
        </p:nvSpPr>
        <p:spPr>
          <a:xfrm>
            <a:off x="2942073" y="3861040"/>
            <a:ext cx="666595" cy="175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Shampoo</a:t>
            </a:r>
            <a:endParaRPr lang="en-US" sz="900" dirty="0">
              <a:latin typeface="+mj-lt"/>
            </a:endParaRPr>
          </a:p>
        </p:txBody>
      </p:sp>
      <p:sp>
        <p:nvSpPr>
          <p:cNvPr id="157" name="Text 10">
            <a:extLst>
              <a:ext uri="{FF2B5EF4-FFF2-40B4-BE49-F238E27FC236}">
                <a16:creationId xmlns:a16="http://schemas.microsoft.com/office/drawing/2014/main" id="{1E0A7551-8419-9F78-49C5-64130D89CF32}"/>
              </a:ext>
            </a:extLst>
          </p:cNvPr>
          <p:cNvSpPr/>
          <p:nvPr/>
        </p:nvSpPr>
        <p:spPr>
          <a:xfrm>
            <a:off x="3651854" y="3914645"/>
            <a:ext cx="372097" cy="196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>
                <a:solidFill>
                  <a:srgbClr val="008A3D"/>
                </a:solidFill>
                <a:latin typeface="Calibri"/>
              </a:rPr>
              <a:t>▲ 77%</a:t>
            </a:r>
            <a:endParaRPr lang="en-US" sz="900" dirty="0">
              <a:latin typeface="+mj-lt"/>
            </a:endParaRPr>
          </a:p>
        </p:txBody>
      </p:sp>
      <p:sp>
        <p:nvSpPr>
          <p:cNvPr id="158" name="Text 11">
            <a:extLst>
              <a:ext uri="{FF2B5EF4-FFF2-40B4-BE49-F238E27FC236}">
                <a16:creationId xmlns:a16="http://schemas.microsoft.com/office/drawing/2014/main" id="{A6E4DFA5-8AF1-66E3-AB74-1643CD5B917D}"/>
              </a:ext>
            </a:extLst>
          </p:cNvPr>
          <p:cNvSpPr/>
          <p:nvPr/>
        </p:nvSpPr>
        <p:spPr>
          <a:xfrm>
            <a:off x="4056373" y="3910824"/>
            <a:ext cx="372097" cy="247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13%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0" name="Chart 1">
            <a:extLst>
              <a:ext uri="{FF2B5EF4-FFF2-40B4-BE49-F238E27FC236}">
                <a16:creationId xmlns:a16="http://schemas.microsoft.com/office/drawing/2014/main" id="{498335C8-87FE-1BF3-E55D-7F3682FE88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66920728"/>
              </p:ext>
            </p:extLst>
          </p:nvPr>
        </p:nvGraphicFramePr>
        <p:xfrm>
          <a:off x="2508399" y="3803422"/>
          <a:ext cx="2261355" cy="15678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1" name="Text 13">
            <a:extLst>
              <a:ext uri="{FF2B5EF4-FFF2-40B4-BE49-F238E27FC236}">
                <a16:creationId xmlns:a16="http://schemas.microsoft.com/office/drawing/2014/main" id="{AE81E6A1-E294-CD2E-3731-74E6402A61FF}"/>
              </a:ext>
            </a:extLst>
          </p:cNvPr>
          <p:cNvSpPr/>
          <p:nvPr/>
        </p:nvSpPr>
        <p:spPr>
          <a:xfrm>
            <a:off x="5306248" y="3888466"/>
            <a:ext cx="537475" cy="187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Sun Care</a:t>
            </a:r>
            <a:endParaRPr lang="en-US" sz="900" dirty="0">
              <a:latin typeface="+mj-lt"/>
            </a:endParaRPr>
          </a:p>
        </p:txBody>
      </p:sp>
      <p:sp>
        <p:nvSpPr>
          <p:cNvPr id="162" name="Text 14">
            <a:extLst>
              <a:ext uri="{FF2B5EF4-FFF2-40B4-BE49-F238E27FC236}">
                <a16:creationId xmlns:a16="http://schemas.microsoft.com/office/drawing/2014/main" id="{27F9A9D8-519D-AC19-D616-44CAE0D43FD1}"/>
              </a:ext>
            </a:extLst>
          </p:cNvPr>
          <p:cNvSpPr/>
          <p:nvPr/>
        </p:nvSpPr>
        <p:spPr>
          <a:xfrm>
            <a:off x="5885786" y="3907176"/>
            <a:ext cx="615164" cy="244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>
                <a:solidFill>
                  <a:srgbClr val="008A3D"/>
                </a:solidFill>
                <a:latin typeface="Calibri"/>
              </a:rPr>
              <a:t>▲157%</a:t>
            </a:r>
            <a:endParaRPr lang="en-US" sz="900" dirty="0">
              <a:latin typeface="+mj-lt"/>
            </a:endParaRPr>
          </a:p>
        </p:txBody>
      </p:sp>
      <p:sp>
        <p:nvSpPr>
          <p:cNvPr id="163" name="Text 15">
            <a:extLst>
              <a:ext uri="{FF2B5EF4-FFF2-40B4-BE49-F238E27FC236}">
                <a16:creationId xmlns:a16="http://schemas.microsoft.com/office/drawing/2014/main" id="{25E789B0-F22E-6189-F81D-C18A4F30CC76}"/>
              </a:ext>
            </a:extLst>
          </p:cNvPr>
          <p:cNvSpPr/>
          <p:nvPr/>
        </p:nvSpPr>
        <p:spPr>
          <a:xfrm>
            <a:off x="6352373" y="3887916"/>
            <a:ext cx="372097" cy="253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20%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5" name="Chart 2">
            <a:extLst>
              <a:ext uri="{FF2B5EF4-FFF2-40B4-BE49-F238E27FC236}">
                <a16:creationId xmlns:a16="http://schemas.microsoft.com/office/drawing/2014/main" id="{E29320C6-4ABC-47AD-CAC6-8C1A6CA6E8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42247040"/>
              </p:ext>
            </p:extLst>
          </p:nvPr>
        </p:nvGraphicFramePr>
        <p:xfrm>
          <a:off x="4830879" y="3790132"/>
          <a:ext cx="2308335" cy="15625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6" name="Shape 17">
            <a:extLst>
              <a:ext uri="{FF2B5EF4-FFF2-40B4-BE49-F238E27FC236}">
                <a16:creationId xmlns:a16="http://schemas.microsoft.com/office/drawing/2014/main" id="{0C37FB05-75B7-65DE-A1B1-F44B76B917B2}"/>
              </a:ext>
            </a:extLst>
          </p:cNvPr>
          <p:cNvSpPr/>
          <p:nvPr/>
        </p:nvSpPr>
        <p:spPr>
          <a:xfrm>
            <a:off x="212691" y="5443690"/>
            <a:ext cx="6926523" cy="323487"/>
          </a:xfrm>
          <a:prstGeom prst="rect">
            <a:avLst/>
          </a:prstGeom>
          <a:solidFill>
            <a:srgbClr val="2D9B7F"/>
          </a:solidFill>
          <a:ln w="12700">
            <a:solidFill>
              <a:srgbClr val="23633A"/>
            </a:solidFill>
            <a:prstDash val="solid"/>
          </a:ln>
        </p:spPr>
        <p:txBody>
          <a:bodyPr anchor="t"/>
          <a:lstStyle/>
          <a:p>
            <a:endParaRPr lang="en-IN" dirty="0">
              <a:latin typeface="+mj-lt"/>
            </a:endParaRPr>
          </a:p>
        </p:txBody>
      </p:sp>
      <p:sp>
        <p:nvSpPr>
          <p:cNvPr id="167" name="Text 18">
            <a:extLst>
              <a:ext uri="{FF2B5EF4-FFF2-40B4-BE49-F238E27FC236}">
                <a16:creationId xmlns:a16="http://schemas.microsoft.com/office/drawing/2014/main" id="{606509AD-D1A3-4CFF-7031-2BD01F460E84}"/>
              </a:ext>
            </a:extLst>
          </p:cNvPr>
          <p:cNvSpPr/>
          <p:nvPr/>
        </p:nvSpPr>
        <p:spPr>
          <a:xfrm>
            <a:off x="329765" y="5532144"/>
            <a:ext cx="6926523" cy="318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East | The Derma Co. — Top 3 Sub-category Monthly Trend (NSV)</a:t>
            </a:r>
            <a:endParaRPr lang="en-US" sz="1100" dirty="0">
              <a:latin typeface="+mj-lt"/>
            </a:endParaRPr>
          </a:p>
        </p:txBody>
      </p:sp>
      <p:sp>
        <p:nvSpPr>
          <p:cNvPr id="168" name="Text 19">
            <a:extLst>
              <a:ext uri="{FF2B5EF4-FFF2-40B4-BE49-F238E27FC236}">
                <a16:creationId xmlns:a16="http://schemas.microsoft.com/office/drawing/2014/main" id="{A8BC9F08-BB7E-07CC-C7BE-53E76EB85511}"/>
              </a:ext>
            </a:extLst>
          </p:cNvPr>
          <p:cNvSpPr/>
          <p:nvPr/>
        </p:nvSpPr>
        <p:spPr>
          <a:xfrm>
            <a:off x="643883" y="5965601"/>
            <a:ext cx="397538" cy="24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1050" dirty="0">
              <a:latin typeface="+mj-lt"/>
            </a:endParaRPr>
          </a:p>
        </p:txBody>
      </p:sp>
      <p:sp>
        <p:nvSpPr>
          <p:cNvPr id="169" name="Text 20">
            <a:extLst>
              <a:ext uri="{FF2B5EF4-FFF2-40B4-BE49-F238E27FC236}">
                <a16:creationId xmlns:a16="http://schemas.microsoft.com/office/drawing/2014/main" id="{CC6466FF-9DFE-712B-2E6C-63C9594ED3C1}"/>
              </a:ext>
            </a:extLst>
          </p:cNvPr>
          <p:cNvSpPr/>
          <p:nvPr/>
        </p:nvSpPr>
        <p:spPr>
          <a:xfrm>
            <a:off x="1203373" y="6004948"/>
            <a:ext cx="445541" cy="215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GOLY</a:t>
            </a:r>
          </a:p>
          <a:p>
            <a:pPr marL="0" indent="0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 </a:t>
            </a:r>
            <a:r>
              <a:rPr sz="900" b="1">
                <a:solidFill>
                  <a:srgbClr val="008A3D"/>
                </a:solidFill>
                <a:latin typeface="Calibri"/>
              </a:rPr>
              <a:t>▲500%</a:t>
            </a:r>
            <a:endParaRPr lang="en-US" sz="900" dirty="0">
              <a:latin typeface="+mj-lt"/>
            </a:endParaRPr>
          </a:p>
        </p:txBody>
      </p:sp>
      <p:sp>
        <p:nvSpPr>
          <p:cNvPr id="170" name="Text 21">
            <a:extLst>
              <a:ext uri="{FF2B5EF4-FFF2-40B4-BE49-F238E27FC236}">
                <a16:creationId xmlns:a16="http://schemas.microsoft.com/office/drawing/2014/main" id="{6553EC6E-D91D-B6B7-81E0-5D554EF96509}"/>
              </a:ext>
            </a:extLst>
          </p:cNvPr>
          <p:cNvSpPr/>
          <p:nvPr/>
        </p:nvSpPr>
        <p:spPr>
          <a:xfrm>
            <a:off x="1776670" y="5981324"/>
            <a:ext cx="406179" cy="243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6%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2" name="Chart 3">
            <a:extLst>
              <a:ext uri="{FF2B5EF4-FFF2-40B4-BE49-F238E27FC236}">
                <a16:creationId xmlns:a16="http://schemas.microsoft.com/office/drawing/2014/main" id="{A04A165C-0A2C-703B-D787-4F0EA0143E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83071956"/>
              </p:ext>
            </p:extLst>
          </p:nvPr>
        </p:nvGraphicFramePr>
        <p:xfrm>
          <a:off x="196505" y="5838726"/>
          <a:ext cx="2256553" cy="15413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73" name="Text 23">
            <a:extLst>
              <a:ext uri="{FF2B5EF4-FFF2-40B4-BE49-F238E27FC236}">
                <a16:creationId xmlns:a16="http://schemas.microsoft.com/office/drawing/2014/main" id="{D7CD4F3F-DA69-AB5C-19FC-40054C6226BA}"/>
              </a:ext>
            </a:extLst>
          </p:cNvPr>
          <p:cNvSpPr/>
          <p:nvPr/>
        </p:nvSpPr>
        <p:spPr>
          <a:xfrm>
            <a:off x="2823294" y="5937701"/>
            <a:ext cx="541573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Sun Care</a:t>
            </a:r>
            <a:endParaRPr lang="en-US" sz="900" dirty="0">
              <a:latin typeface="+mj-lt"/>
            </a:endParaRPr>
          </a:p>
        </p:txBody>
      </p:sp>
      <p:sp>
        <p:nvSpPr>
          <p:cNvPr id="174" name="Text 24">
            <a:extLst>
              <a:ext uri="{FF2B5EF4-FFF2-40B4-BE49-F238E27FC236}">
                <a16:creationId xmlns:a16="http://schemas.microsoft.com/office/drawing/2014/main" id="{1D10C6E1-4BAF-BC01-C799-C47AB1F5027D}"/>
              </a:ext>
            </a:extLst>
          </p:cNvPr>
          <p:cNvSpPr/>
          <p:nvPr/>
        </p:nvSpPr>
        <p:spPr>
          <a:xfrm>
            <a:off x="3412706" y="5946619"/>
            <a:ext cx="447960" cy="205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GOLY </a:t>
            </a:r>
          </a:p>
          <a:p>
            <a:pPr marL="0" indent="0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▲125%</a:t>
            </a:r>
            <a:endParaRPr lang="en-US" sz="900" dirty="0">
              <a:latin typeface="+mj-lt"/>
            </a:endParaRPr>
          </a:p>
        </p:txBody>
      </p:sp>
      <p:sp>
        <p:nvSpPr>
          <p:cNvPr id="175" name="Text 25">
            <a:extLst>
              <a:ext uri="{FF2B5EF4-FFF2-40B4-BE49-F238E27FC236}">
                <a16:creationId xmlns:a16="http://schemas.microsoft.com/office/drawing/2014/main" id="{7646A250-EE9F-A6C6-49D3-68B6D3DFBFDE}"/>
              </a:ext>
            </a:extLst>
          </p:cNvPr>
          <p:cNvSpPr/>
          <p:nvPr/>
        </p:nvSpPr>
        <p:spPr>
          <a:xfrm>
            <a:off x="4140153" y="5928351"/>
            <a:ext cx="406179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 20%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7" name="Chart 4">
            <a:extLst>
              <a:ext uri="{FF2B5EF4-FFF2-40B4-BE49-F238E27FC236}">
                <a16:creationId xmlns:a16="http://schemas.microsoft.com/office/drawing/2014/main" id="{CBBF5C82-1DBC-BF6C-CAEA-410BB465C0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54789875"/>
              </p:ext>
            </p:extLst>
          </p:nvPr>
        </p:nvGraphicFramePr>
        <p:xfrm>
          <a:off x="2487615" y="5833529"/>
          <a:ext cx="2467498" cy="15415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78" name="Text 27">
            <a:extLst>
              <a:ext uri="{FF2B5EF4-FFF2-40B4-BE49-F238E27FC236}">
                <a16:creationId xmlns:a16="http://schemas.microsoft.com/office/drawing/2014/main" id="{038BADD0-EAC6-F8D6-7B12-BE177A9DAD4D}"/>
              </a:ext>
            </a:extLst>
          </p:cNvPr>
          <p:cNvSpPr/>
          <p:nvPr/>
        </p:nvSpPr>
        <p:spPr>
          <a:xfrm>
            <a:off x="5489018" y="5906220"/>
            <a:ext cx="670727" cy="123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Face Serum</a:t>
            </a:r>
            <a:endParaRPr lang="en-US" sz="900" dirty="0">
              <a:latin typeface="+mj-lt"/>
            </a:endParaRPr>
          </a:p>
        </p:txBody>
      </p:sp>
      <p:sp>
        <p:nvSpPr>
          <p:cNvPr id="179" name="Text 28">
            <a:extLst>
              <a:ext uri="{FF2B5EF4-FFF2-40B4-BE49-F238E27FC236}">
                <a16:creationId xmlns:a16="http://schemas.microsoft.com/office/drawing/2014/main" id="{024D5F40-BAD0-9683-DBAB-2A9FEAA024FA}"/>
              </a:ext>
            </a:extLst>
          </p:cNvPr>
          <p:cNvSpPr/>
          <p:nvPr/>
        </p:nvSpPr>
        <p:spPr>
          <a:xfrm>
            <a:off x="6173226" y="5916969"/>
            <a:ext cx="439416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03A3A"/>
                </a:solidFill>
                <a:latin typeface="Calibri"/>
              </a:rPr>
              <a:t>GOLY</a:t>
            </a:r>
          </a:p>
          <a:p>
            <a:pPr marL="0" indent="0">
              <a:buNone/>
            </a:pPr>
            <a:r>
              <a:rPr sz="900" b="1">
                <a:solidFill>
                  <a:srgbClr val="C00000"/>
                </a:solidFill>
                <a:latin typeface="Calibri"/>
              </a:rPr>
              <a:t>▼ 22%</a:t>
            </a:r>
            <a:endParaRPr lang="en-US" sz="900" dirty="0">
              <a:latin typeface="+mj-lt"/>
            </a:endParaRPr>
          </a:p>
        </p:txBody>
      </p:sp>
      <p:sp>
        <p:nvSpPr>
          <p:cNvPr id="180" name="Text 29">
            <a:extLst>
              <a:ext uri="{FF2B5EF4-FFF2-40B4-BE49-F238E27FC236}">
                <a16:creationId xmlns:a16="http://schemas.microsoft.com/office/drawing/2014/main" id="{631DEBF0-39A6-7D0F-BA14-F1B18161FDD2}"/>
              </a:ext>
            </a:extLst>
          </p:cNvPr>
          <p:cNvSpPr/>
          <p:nvPr/>
        </p:nvSpPr>
        <p:spPr>
          <a:xfrm>
            <a:off x="6591667" y="5927470"/>
            <a:ext cx="406179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0%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82" name="Chart 5">
            <a:extLst>
              <a:ext uri="{FF2B5EF4-FFF2-40B4-BE49-F238E27FC236}">
                <a16:creationId xmlns:a16="http://schemas.microsoft.com/office/drawing/2014/main" id="{39E95149-09DC-244B-A1A2-AB5A022BF0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67243054"/>
              </p:ext>
            </p:extLst>
          </p:nvPr>
        </p:nvGraphicFramePr>
        <p:xfrm>
          <a:off x="4886313" y="5890361"/>
          <a:ext cx="2241504" cy="14909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91" name="Table 190">
            <a:extLst>
              <a:ext uri="{FF2B5EF4-FFF2-40B4-BE49-F238E27FC236}">
                <a16:creationId xmlns:a16="http://schemas.microsoft.com/office/drawing/2014/main" id="{01C4CE9C-7CF2-0375-6C71-4739F8695A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1647328"/>
              </p:ext>
            </p:extLst>
          </p:nvPr>
        </p:nvGraphicFramePr>
        <p:xfrm>
          <a:off x="212691" y="1934878"/>
          <a:ext cx="6961092" cy="1502231"/>
        </p:xfrm>
        <a:graphic>
          <a:graphicData uri="http://schemas.openxmlformats.org/drawingml/2006/table">
            <a:tbl>
              <a:tblPr firstRow="1" firstCol="1" bandRow="1"/>
              <a:tblGrid>
                <a:gridCol w="1183119">
                  <a:extLst>
                    <a:ext uri="{9D8B030D-6E8A-4147-A177-3AD203B41FA5}">
                      <a16:colId xmlns:a16="http://schemas.microsoft.com/office/drawing/2014/main" val="1720933068"/>
                    </a:ext>
                  </a:extLst>
                </a:gridCol>
                <a:gridCol w="473423">
                  <a:extLst>
                    <a:ext uri="{9D8B030D-6E8A-4147-A177-3AD203B41FA5}">
                      <a16:colId xmlns:a16="http://schemas.microsoft.com/office/drawing/2014/main" val="2630805108"/>
                    </a:ext>
                  </a:extLst>
                </a:gridCol>
                <a:gridCol w="814455">
                  <a:extLst>
                    <a:ext uri="{9D8B030D-6E8A-4147-A177-3AD203B41FA5}">
                      <a16:colId xmlns:a16="http://schemas.microsoft.com/office/drawing/2014/main" val="1295913063"/>
                    </a:ext>
                  </a:extLst>
                </a:gridCol>
                <a:gridCol w="898019">
                  <a:extLst>
                    <a:ext uri="{9D8B030D-6E8A-4147-A177-3AD203B41FA5}">
                      <a16:colId xmlns:a16="http://schemas.microsoft.com/office/drawing/2014/main" val="4130086957"/>
                    </a:ext>
                  </a:extLst>
                </a:gridCol>
                <a:gridCol w="898019">
                  <a:extLst>
                    <a:ext uri="{9D8B030D-6E8A-4147-A177-3AD203B41FA5}">
                      <a16:colId xmlns:a16="http://schemas.microsoft.com/office/drawing/2014/main" val="3066276741"/>
                    </a:ext>
                  </a:extLst>
                </a:gridCol>
                <a:gridCol w="898019">
                  <a:extLst>
                    <a:ext uri="{9D8B030D-6E8A-4147-A177-3AD203B41FA5}">
                      <a16:colId xmlns:a16="http://schemas.microsoft.com/office/drawing/2014/main" val="2870282349"/>
                    </a:ext>
                  </a:extLst>
                </a:gridCol>
                <a:gridCol w="898019">
                  <a:extLst>
                    <a:ext uri="{9D8B030D-6E8A-4147-A177-3AD203B41FA5}">
                      <a16:colId xmlns:a16="http://schemas.microsoft.com/office/drawing/2014/main" val="1716647770"/>
                    </a:ext>
                  </a:extLst>
                </a:gridCol>
                <a:gridCol w="898019">
                  <a:extLst>
                    <a:ext uri="{9D8B030D-6E8A-4147-A177-3AD203B41FA5}">
                      <a16:colId xmlns:a16="http://schemas.microsoft.com/office/drawing/2014/main" val="2912854798"/>
                    </a:ext>
                  </a:extLst>
                </a:gridCol>
              </a:tblGrid>
              <a:tr h="37334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Brand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May-25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Apr-26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May-26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 err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Cont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GO 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GOLY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355"/>
                  </a:ext>
                </a:extLst>
              </a:tr>
              <a:tr h="28199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Mamaearth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235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322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360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88%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283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27%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53%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9593741"/>
                  </a:ext>
                </a:extLst>
              </a:tr>
              <a:tr h="28199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The Derma Co.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18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40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44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11%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30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45%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144%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4782322"/>
                  </a:ext>
                </a:extLst>
              </a:tr>
              <a:tr h="28199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Aqualogica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9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7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7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7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0%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C00000"/>
                          </a:solidFill>
                          <a:latin typeface="Calibri"/>
                        </a:rPr>
                        <a:t>▼ 22%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7599869"/>
                  </a:ext>
                </a:extLst>
              </a:tr>
              <a:tr h="281992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Emerging Brands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4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0%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1020566"/>
                  </a:ext>
                </a:extLst>
              </a:tr>
            </a:tbl>
          </a:graphicData>
        </a:graphic>
      </p:graphicFrame>
      <p:graphicFrame>
        <p:nvGraphicFramePr>
          <p:cNvPr id="194" name="Table 193">
            <a:extLst>
              <a:ext uri="{FF2B5EF4-FFF2-40B4-BE49-F238E27FC236}">
                <a16:creationId xmlns:a16="http://schemas.microsoft.com/office/drawing/2014/main" id="{8A46149D-11DB-F40E-39B0-E59AE1376D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8596026"/>
              </p:ext>
            </p:extLst>
          </p:nvPr>
        </p:nvGraphicFramePr>
        <p:xfrm>
          <a:off x="212691" y="7863614"/>
          <a:ext cx="7010190" cy="1618160"/>
        </p:xfrm>
        <a:graphic>
          <a:graphicData uri="http://schemas.openxmlformats.org/drawingml/2006/table">
            <a:tbl>
              <a:tblPr firstRow="1" firstCol="1" bandRow="1"/>
              <a:tblGrid>
                <a:gridCol w="1701001">
                  <a:extLst>
                    <a:ext uri="{9D8B030D-6E8A-4147-A177-3AD203B41FA5}">
                      <a16:colId xmlns:a16="http://schemas.microsoft.com/office/drawing/2014/main" val="1999662838"/>
                    </a:ext>
                  </a:extLst>
                </a:gridCol>
                <a:gridCol w="773183">
                  <a:extLst>
                    <a:ext uri="{9D8B030D-6E8A-4147-A177-3AD203B41FA5}">
                      <a16:colId xmlns:a16="http://schemas.microsoft.com/office/drawing/2014/main" val="1604924111"/>
                    </a:ext>
                  </a:extLst>
                </a:gridCol>
                <a:gridCol w="721637">
                  <a:extLst>
                    <a:ext uri="{9D8B030D-6E8A-4147-A177-3AD203B41FA5}">
                      <a16:colId xmlns:a16="http://schemas.microsoft.com/office/drawing/2014/main" val="3900343723"/>
                    </a:ext>
                  </a:extLst>
                </a:gridCol>
                <a:gridCol w="773183">
                  <a:extLst>
                    <a:ext uri="{9D8B030D-6E8A-4147-A177-3AD203B41FA5}">
                      <a16:colId xmlns:a16="http://schemas.microsoft.com/office/drawing/2014/main" val="2453469686"/>
                    </a:ext>
                  </a:extLst>
                </a:gridCol>
                <a:gridCol w="773183">
                  <a:extLst>
                    <a:ext uri="{9D8B030D-6E8A-4147-A177-3AD203B41FA5}">
                      <a16:colId xmlns:a16="http://schemas.microsoft.com/office/drawing/2014/main" val="531817117"/>
                    </a:ext>
                  </a:extLst>
                </a:gridCol>
                <a:gridCol w="481091">
                  <a:extLst>
                    <a:ext uri="{9D8B030D-6E8A-4147-A177-3AD203B41FA5}">
                      <a16:colId xmlns:a16="http://schemas.microsoft.com/office/drawing/2014/main" val="1269342238"/>
                    </a:ext>
                  </a:extLst>
                </a:gridCol>
                <a:gridCol w="893456">
                  <a:extLst>
                    <a:ext uri="{9D8B030D-6E8A-4147-A177-3AD203B41FA5}">
                      <a16:colId xmlns:a16="http://schemas.microsoft.com/office/drawing/2014/main" val="1250320746"/>
                    </a:ext>
                  </a:extLst>
                </a:gridCol>
                <a:gridCol w="893456">
                  <a:extLst>
                    <a:ext uri="{9D8B030D-6E8A-4147-A177-3AD203B41FA5}">
                      <a16:colId xmlns:a16="http://schemas.microsoft.com/office/drawing/2014/main" val="2206225178"/>
                    </a:ext>
                  </a:extLst>
                </a:gridCol>
              </a:tblGrid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Chain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May-25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Apr-26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May-26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Cont%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GO 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GOLY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2551122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Reliance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188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235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264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64%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209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27%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40%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039130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Apollo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30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72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80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60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33%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167%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264776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VMM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4%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45%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108%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328105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More Retail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18%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120%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495259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Frankros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200%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900%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0849718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Spencer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C00000"/>
                          </a:solidFill>
                          <a:latin typeface="+mn-lt"/>
                        </a:rPr>
                        <a:t>▼ 14%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C00000"/>
                          </a:solidFill>
                          <a:latin typeface="+mn-lt"/>
                        </a:rPr>
                        <a:t>▼ 65%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7893452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Others Combined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5%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103%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3790100"/>
                  </a:ext>
                </a:extLst>
              </a:tr>
            </a:tbl>
          </a:graphicData>
        </a:graphic>
      </p:graphicFrame>
      <p:sp>
        <p:nvSpPr>
          <p:cNvPr id="195" name="Rectangle 81">
            <a:extLst>
              <a:ext uri="{FF2B5EF4-FFF2-40B4-BE49-F238E27FC236}">
                <a16:creationId xmlns:a16="http://schemas.microsoft.com/office/drawing/2014/main" id="{715F732A-615F-905D-E4D0-DF7C4264D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742"/>
            <a:ext cx="75628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ECF521A8-93A7-FE83-3ED0-DDCE5D39A6E0}"/>
              </a:ext>
            </a:extLst>
          </p:cNvPr>
          <p:cNvGrpSpPr>
            <a:grpSpLocks/>
          </p:cNvGrpSpPr>
          <p:nvPr/>
        </p:nvGrpSpPr>
        <p:grpSpPr>
          <a:xfrm>
            <a:off x="212691" y="9493854"/>
            <a:ext cx="6926523" cy="1184784"/>
            <a:chOff x="-20552" y="3870"/>
            <a:chExt cx="6977611" cy="2032500"/>
          </a:xfrm>
        </p:grpSpPr>
        <p:sp>
          <p:nvSpPr>
            <p:cNvPr id="197" name="Graphic 278">
              <a:extLst>
                <a:ext uri="{FF2B5EF4-FFF2-40B4-BE49-F238E27FC236}">
                  <a16:creationId xmlns:a16="http://schemas.microsoft.com/office/drawing/2014/main" id="{09562CA0-9705-0A03-47F3-5D39BF8835E5}"/>
                </a:ext>
              </a:extLst>
            </p:cNvPr>
            <p:cNvSpPr/>
            <p:nvPr/>
          </p:nvSpPr>
          <p:spPr>
            <a:xfrm>
              <a:off x="-20552" y="124955"/>
              <a:ext cx="6917094" cy="1911415"/>
            </a:xfrm>
            <a:custGeom>
              <a:avLst/>
              <a:gdLst/>
              <a:ahLst/>
              <a:cxnLst/>
              <a:rect l="l" t="t" r="r" b="b"/>
              <a:pathLst>
                <a:path w="6950709" h="2163445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2074415"/>
                  </a:lnTo>
                  <a:lnTo>
                    <a:pt x="6979" y="2109038"/>
                  </a:lnTo>
                  <a:lnTo>
                    <a:pt x="26021" y="2137294"/>
                  </a:lnTo>
                  <a:lnTo>
                    <a:pt x="54276" y="2156335"/>
                  </a:lnTo>
                  <a:lnTo>
                    <a:pt x="88900" y="2163315"/>
                  </a:lnTo>
                  <a:lnTo>
                    <a:pt x="6861500" y="2163315"/>
                  </a:lnTo>
                  <a:lnTo>
                    <a:pt x="6896123" y="2156335"/>
                  </a:lnTo>
                  <a:lnTo>
                    <a:pt x="6924379" y="2137294"/>
                  </a:lnTo>
                  <a:lnTo>
                    <a:pt x="6943420" y="2109038"/>
                  </a:lnTo>
                  <a:lnTo>
                    <a:pt x="6950400" y="2074415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EFFDF4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000" dirty="0">
                <a:latin typeface="+mj-lt"/>
              </a:endParaRPr>
            </a:p>
          </p:txBody>
        </p:sp>
        <p:sp>
          <p:nvSpPr>
            <p:cNvPr id="198" name="Graphic 280">
              <a:extLst>
                <a:ext uri="{FF2B5EF4-FFF2-40B4-BE49-F238E27FC236}">
                  <a16:creationId xmlns:a16="http://schemas.microsoft.com/office/drawing/2014/main" id="{306ADDBF-E20C-DE47-E920-E870C06A675E}"/>
                </a:ext>
              </a:extLst>
            </p:cNvPr>
            <p:cNvSpPr/>
            <p:nvPr/>
          </p:nvSpPr>
          <p:spPr>
            <a:xfrm>
              <a:off x="6350" y="6348"/>
              <a:ext cx="6950709" cy="351681"/>
            </a:xfrm>
            <a:custGeom>
              <a:avLst/>
              <a:gdLst/>
              <a:ahLst/>
              <a:cxnLst/>
              <a:rect l="l" t="t" r="r" b="b"/>
              <a:pathLst>
                <a:path w="6950709" h="241300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152399"/>
                  </a:lnTo>
                  <a:lnTo>
                    <a:pt x="6979" y="187023"/>
                  </a:lnTo>
                  <a:lnTo>
                    <a:pt x="26021" y="215278"/>
                  </a:lnTo>
                  <a:lnTo>
                    <a:pt x="54276" y="234320"/>
                  </a:lnTo>
                  <a:lnTo>
                    <a:pt x="88900" y="241299"/>
                  </a:lnTo>
                  <a:lnTo>
                    <a:pt x="6861500" y="241299"/>
                  </a:lnTo>
                  <a:lnTo>
                    <a:pt x="6896123" y="234320"/>
                  </a:lnTo>
                  <a:lnTo>
                    <a:pt x="6924379" y="215278"/>
                  </a:lnTo>
                  <a:lnTo>
                    <a:pt x="6943420" y="187023"/>
                  </a:lnTo>
                  <a:lnTo>
                    <a:pt x="6950400" y="152399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037756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199" name="Graphic 281">
              <a:extLst>
                <a:ext uri="{FF2B5EF4-FFF2-40B4-BE49-F238E27FC236}">
                  <a16:creationId xmlns:a16="http://schemas.microsoft.com/office/drawing/2014/main" id="{786D0DB1-927E-CDBA-AE82-7E1B1BB65AF0}"/>
                </a:ext>
              </a:extLst>
            </p:cNvPr>
            <p:cNvSpPr/>
            <p:nvPr/>
          </p:nvSpPr>
          <p:spPr>
            <a:xfrm>
              <a:off x="139662" y="1160579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0" name="Graphic 282">
              <a:extLst>
                <a:ext uri="{FF2B5EF4-FFF2-40B4-BE49-F238E27FC236}">
                  <a16:creationId xmlns:a16="http://schemas.microsoft.com/office/drawing/2014/main" id="{1EE2520B-B499-D8A6-9F61-FEDF24208690}"/>
                </a:ext>
              </a:extLst>
            </p:cNvPr>
            <p:cNvSpPr/>
            <p:nvPr/>
          </p:nvSpPr>
          <p:spPr>
            <a:xfrm>
              <a:off x="156520" y="1159284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1" name="Graphic 283">
              <a:extLst>
                <a:ext uri="{FF2B5EF4-FFF2-40B4-BE49-F238E27FC236}">
                  <a16:creationId xmlns:a16="http://schemas.microsoft.com/office/drawing/2014/main" id="{CC1D8F9B-ACDE-52DF-23D6-7FEDF2C5895A}"/>
                </a:ext>
              </a:extLst>
            </p:cNvPr>
            <p:cNvSpPr/>
            <p:nvPr/>
          </p:nvSpPr>
          <p:spPr>
            <a:xfrm>
              <a:off x="1818276" y="1173474"/>
              <a:ext cx="1624852" cy="501735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2" name="Graphic 284">
              <a:extLst>
                <a:ext uri="{FF2B5EF4-FFF2-40B4-BE49-F238E27FC236}">
                  <a16:creationId xmlns:a16="http://schemas.microsoft.com/office/drawing/2014/main" id="{78E6F5B7-D8F6-E3DA-2211-639E0006CDFC}"/>
                </a:ext>
              </a:extLst>
            </p:cNvPr>
            <p:cNvSpPr/>
            <p:nvPr/>
          </p:nvSpPr>
          <p:spPr>
            <a:xfrm>
              <a:off x="1828092" y="1101478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000" dirty="0">
                <a:latin typeface="+mj-lt"/>
              </a:endParaRPr>
            </a:p>
          </p:txBody>
        </p:sp>
        <p:sp>
          <p:nvSpPr>
            <p:cNvPr id="203" name="Graphic 285">
              <a:extLst>
                <a:ext uri="{FF2B5EF4-FFF2-40B4-BE49-F238E27FC236}">
                  <a16:creationId xmlns:a16="http://schemas.microsoft.com/office/drawing/2014/main" id="{E2A44793-D301-9552-99EC-90EC13154CAA}"/>
                </a:ext>
              </a:extLst>
            </p:cNvPr>
            <p:cNvSpPr/>
            <p:nvPr/>
          </p:nvSpPr>
          <p:spPr>
            <a:xfrm>
              <a:off x="3523661" y="1248817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4" name="Graphic 286">
              <a:extLst>
                <a:ext uri="{FF2B5EF4-FFF2-40B4-BE49-F238E27FC236}">
                  <a16:creationId xmlns:a16="http://schemas.microsoft.com/office/drawing/2014/main" id="{5C0F2A52-1C1D-D1A6-05EA-4ACCDB5127EF}"/>
                </a:ext>
              </a:extLst>
            </p:cNvPr>
            <p:cNvSpPr/>
            <p:nvPr/>
          </p:nvSpPr>
          <p:spPr>
            <a:xfrm>
              <a:off x="3493229" y="1124742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5" name="Graphic 287">
              <a:extLst>
                <a:ext uri="{FF2B5EF4-FFF2-40B4-BE49-F238E27FC236}">
                  <a16:creationId xmlns:a16="http://schemas.microsoft.com/office/drawing/2014/main" id="{97A32B53-FBD3-57B6-D1A2-97E533939E78}"/>
                </a:ext>
              </a:extLst>
            </p:cNvPr>
            <p:cNvSpPr/>
            <p:nvPr/>
          </p:nvSpPr>
          <p:spPr>
            <a:xfrm>
              <a:off x="5235859" y="1119977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6" name="Graphic 288">
              <a:extLst>
                <a:ext uri="{FF2B5EF4-FFF2-40B4-BE49-F238E27FC236}">
                  <a16:creationId xmlns:a16="http://schemas.microsoft.com/office/drawing/2014/main" id="{7A282D42-C8EF-02F8-6401-E33E4651DA3A}"/>
                </a:ext>
              </a:extLst>
            </p:cNvPr>
            <p:cNvSpPr/>
            <p:nvPr/>
          </p:nvSpPr>
          <p:spPr>
            <a:xfrm>
              <a:off x="5205600" y="1209710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7" name="Textbox 289">
              <a:extLst>
                <a:ext uri="{FF2B5EF4-FFF2-40B4-BE49-F238E27FC236}">
                  <a16:creationId xmlns:a16="http://schemas.microsoft.com/office/drawing/2014/main" id="{00EDBC03-34CC-68A0-0A8A-3EDB1CF8594C}"/>
                </a:ext>
              </a:extLst>
            </p:cNvPr>
            <p:cNvSpPr txBox="1"/>
            <p:nvPr/>
          </p:nvSpPr>
          <p:spPr>
            <a:xfrm>
              <a:off x="133350" y="3870"/>
              <a:ext cx="6716677" cy="418793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KEY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200" b="1" spc="-10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HIGHLIGHTS</a:t>
              </a:r>
              <a:endParaRPr lang="en-IN" sz="20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08" name="Textbox 290">
              <a:extLst>
                <a:ext uri="{FF2B5EF4-FFF2-40B4-BE49-F238E27FC236}">
                  <a16:creationId xmlns:a16="http://schemas.microsoft.com/office/drawing/2014/main" id="{390ECE72-BE5D-D8E0-F6DB-459027B27CA3}"/>
                </a:ext>
              </a:extLst>
            </p:cNvPr>
            <p:cNvSpPr txBox="1"/>
            <p:nvPr/>
          </p:nvSpPr>
          <p:spPr>
            <a:xfrm>
              <a:off x="114800" y="422663"/>
              <a:ext cx="6735227" cy="4600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342900" lvl="0" indent="-342900">
                <a:lnSpc>
                  <a:spcPts val="860"/>
                </a:lnSpc>
                <a:buClr>
                  <a:srgbClr val="0F162A"/>
                </a:buClr>
                <a:buSzPts val="700"/>
                <a:buFont typeface="Arial MT"/>
                <a:buChar char="•"/>
                <a:tabLst>
                  <a:tab pos="57785" algn="l"/>
                </a:tabLst>
              </a:pPr>
              <a:r>
                <a:rPr sz="720" b="1">
                  <a:latin typeface="Calibri"/>
                </a:rPr>
                <a:t>Zone Record: East delivered its highest month at 411, ▲28% vs L3M and ▲55% vs May-25.</a:t>
              </a:r>
              <a:br/>
              <a:r>
                <a:rPr sz="720" b="1">
                  <a:latin typeface="Calibri"/>
                </a:rPr>
                <a:t>Chain Highlights: Reliance leads; Apollo is the fastest YoY chain.</a:t>
              </a:r>
              <a:endParaRPr lang="en-IN" sz="1600" spc="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09" name="Textbox 291">
              <a:extLst>
                <a:ext uri="{FF2B5EF4-FFF2-40B4-BE49-F238E27FC236}">
                  <a16:creationId xmlns:a16="http://schemas.microsoft.com/office/drawing/2014/main" id="{696AC7C6-3FED-0B1D-4CD4-FA589378E90D}"/>
                </a:ext>
              </a:extLst>
            </p:cNvPr>
            <p:cNvSpPr txBox="1"/>
            <p:nvPr/>
          </p:nvSpPr>
          <p:spPr>
            <a:xfrm>
              <a:off x="208826" y="1290444"/>
              <a:ext cx="793772" cy="366266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90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Lead</a:t>
              </a:r>
              <a:r>
                <a:rPr lang="en-US" sz="900" b="1" spc="-2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900" b="1" spc="-1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endParaRPr lang="en-IN" sz="14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0" name="Textbox 292">
              <a:extLst>
                <a:ext uri="{FF2B5EF4-FFF2-40B4-BE49-F238E27FC236}">
                  <a16:creationId xmlns:a16="http://schemas.microsoft.com/office/drawing/2014/main" id="{D2CB78A9-052C-7918-9B59-3C05E6224543}"/>
                </a:ext>
              </a:extLst>
            </p:cNvPr>
            <p:cNvSpPr txBox="1"/>
            <p:nvPr/>
          </p:nvSpPr>
          <p:spPr>
            <a:xfrm>
              <a:off x="1882000" y="1343191"/>
              <a:ext cx="771525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80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Fastest</a:t>
              </a:r>
              <a:r>
                <a:rPr lang="en-US" sz="800" b="1" spc="-25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80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YoY</a:t>
              </a:r>
              <a:r>
                <a:rPr lang="en-US" sz="800" b="1" spc="-2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800" b="1" spc="-1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endParaRPr lang="en-IN" sz="12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1" name="Textbox 293">
              <a:extLst>
                <a:ext uri="{FF2B5EF4-FFF2-40B4-BE49-F238E27FC236}">
                  <a16:creationId xmlns:a16="http://schemas.microsoft.com/office/drawing/2014/main" id="{1002BC0E-27DD-532F-2DE7-BB1F581AC8FE}"/>
                </a:ext>
              </a:extLst>
            </p:cNvPr>
            <p:cNvSpPr txBox="1"/>
            <p:nvPr/>
          </p:nvSpPr>
          <p:spPr>
            <a:xfrm>
              <a:off x="3595835" y="1101478"/>
              <a:ext cx="1450088" cy="542893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80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Record</a:t>
              </a:r>
              <a:r>
                <a:rPr lang="en-US" sz="800" b="1" spc="-25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80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r>
                <a:rPr lang="en-US" sz="800" b="1" spc="-25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800" b="1" spc="-1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ines2</a:t>
              </a:r>
              <a:endParaRPr lang="en-IN" sz="1200" dirty="0">
                <a:effectLst/>
                <a:latin typeface="+mj-lt"/>
                <a:ea typeface="Arial MT"/>
                <a:cs typeface="Calibri"/>
              </a:endParaRPr>
            </a:p>
            <a:p>
              <a:pPr>
                <a:spcBef>
                  <a:spcPts val="5"/>
                </a:spcBef>
              </a:pPr>
              <a:r>
                <a:rPr lang="en-US" sz="80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Reliance, VMM,</a:t>
              </a:r>
              <a:r>
                <a:rPr lang="en-US" sz="800" b="1" spc="-40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Apollo, </a:t>
              </a:r>
              <a:r>
                <a:rPr lang="en-US" sz="80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More</a:t>
              </a:r>
              <a:r>
                <a:rPr lang="en-US" sz="800" b="1" spc="-40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80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Retail,</a:t>
              </a:r>
              <a:r>
                <a:rPr lang="en-US" sz="80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   </a:t>
              </a:r>
              <a:endParaRPr lang="en-IN" sz="12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2" name="Textbox 294">
              <a:extLst>
                <a:ext uri="{FF2B5EF4-FFF2-40B4-BE49-F238E27FC236}">
                  <a16:creationId xmlns:a16="http://schemas.microsoft.com/office/drawing/2014/main" id="{1393482F-11D6-D6FE-2753-A47D0B48114B}"/>
                </a:ext>
              </a:extLst>
            </p:cNvPr>
            <p:cNvSpPr txBox="1"/>
            <p:nvPr/>
          </p:nvSpPr>
          <p:spPr>
            <a:xfrm>
              <a:off x="5321014" y="1216290"/>
              <a:ext cx="1056474" cy="298827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80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Zone</a:t>
              </a:r>
              <a:r>
                <a:rPr lang="en-US" sz="800" b="1" spc="-2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000" b="1" spc="-1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Record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3" name="Textbox 295">
              <a:extLst>
                <a:ext uri="{FF2B5EF4-FFF2-40B4-BE49-F238E27FC236}">
                  <a16:creationId xmlns:a16="http://schemas.microsoft.com/office/drawing/2014/main" id="{9D505091-C1B3-4643-3757-11527DD029ED}"/>
                </a:ext>
              </a:extLst>
            </p:cNvPr>
            <p:cNvSpPr txBox="1"/>
            <p:nvPr/>
          </p:nvSpPr>
          <p:spPr>
            <a:xfrm>
              <a:off x="804280" y="1367557"/>
              <a:ext cx="771797" cy="258262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90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Reliance</a:t>
              </a:r>
              <a:r>
                <a:rPr lang="en-US" sz="900" b="1" spc="-3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90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-</a:t>
              </a:r>
              <a:r>
                <a:rPr lang="en-US" sz="900" b="1" spc="-3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900" b="1" spc="-2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264</a:t>
              </a:r>
              <a:endParaRPr lang="en-IN" sz="14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4" name="Textbox 296">
              <a:extLst>
                <a:ext uri="{FF2B5EF4-FFF2-40B4-BE49-F238E27FC236}">
                  <a16:creationId xmlns:a16="http://schemas.microsoft.com/office/drawing/2014/main" id="{D4A13F3F-01DA-EED4-B30C-053A438475D3}"/>
                </a:ext>
              </a:extLst>
            </p:cNvPr>
            <p:cNvSpPr txBox="1"/>
            <p:nvPr/>
          </p:nvSpPr>
          <p:spPr>
            <a:xfrm>
              <a:off x="2701317" y="1373977"/>
              <a:ext cx="1137449" cy="299158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50"/>
                </a:lnSpc>
              </a:pPr>
              <a:r>
                <a:rPr sz="800" b="1" dirty="0">
                  <a:solidFill>
                    <a:srgbClr val="1A1F29"/>
                  </a:solidFill>
                  <a:latin typeface="+mj-lt"/>
                </a:rPr>
                <a:t>Apollo  - </a:t>
              </a:r>
              <a:r>
                <a:rPr sz="800" b="1" dirty="0">
                  <a:solidFill>
                    <a:srgbClr val="008A3D"/>
                  </a:solidFill>
                  <a:latin typeface="+mj-lt"/>
                </a:rPr>
                <a:t>▲ 33%</a:t>
              </a:r>
              <a:endParaRPr lang="en-IN" sz="12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5" name="Textbox 297">
              <a:extLst>
                <a:ext uri="{FF2B5EF4-FFF2-40B4-BE49-F238E27FC236}">
                  <a16:creationId xmlns:a16="http://schemas.microsoft.com/office/drawing/2014/main" id="{823DC972-676F-BB3F-DF78-E528EBCA63EA}"/>
                </a:ext>
              </a:extLst>
            </p:cNvPr>
            <p:cNvSpPr txBox="1"/>
            <p:nvPr/>
          </p:nvSpPr>
          <p:spPr>
            <a:xfrm>
              <a:off x="3523316" y="1145938"/>
              <a:ext cx="1616615" cy="624691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6" name="Textbox 298">
              <a:extLst>
                <a:ext uri="{FF2B5EF4-FFF2-40B4-BE49-F238E27FC236}">
                  <a16:creationId xmlns:a16="http://schemas.microsoft.com/office/drawing/2014/main" id="{1109BA7C-796E-3D4D-65A2-95AB774BD170}"/>
                </a:ext>
              </a:extLst>
            </p:cNvPr>
            <p:cNvSpPr txBox="1"/>
            <p:nvPr/>
          </p:nvSpPr>
          <p:spPr>
            <a:xfrm>
              <a:off x="6044531" y="1279512"/>
              <a:ext cx="748609" cy="17609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90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May-26</a:t>
              </a:r>
              <a:r>
                <a:rPr lang="en-US" sz="900" b="1" spc="-30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900" b="1" spc="-30" dirty="0">
                  <a:solidFill>
                    <a:srgbClr val="1A1F29"/>
                  </a:solidFill>
                  <a:latin typeface="+mj-lt"/>
                  <a:ea typeface="Arial MT"/>
                  <a:cs typeface="Calibri"/>
                </a:rPr>
                <a:t>- </a:t>
              </a:r>
              <a:r>
                <a:rPr lang="en-US" sz="90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411</a:t>
              </a:r>
              <a:r>
                <a:rPr lang="en-US" sz="900" b="1" spc="-2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</p:grpSp>
      <p:sp>
        <p:nvSpPr>
          <p:cNvPr id="217" name="Rectangle 92">
            <a:extLst>
              <a:ext uri="{FF2B5EF4-FFF2-40B4-BE49-F238E27FC236}">
                <a16:creationId xmlns:a16="http://schemas.microsoft.com/office/drawing/2014/main" id="{4048E4C8-777E-5962-6F2D-EE7CEED0D22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0" y="112827"/>
            <a:ext cx="756285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6CDFCB9D-D279-7BE1-F23A-91374801A1BD}"/>
              </a:ext>
            </a:extLst>
          </p:cNvPr>
          <p:cNvSpPr txBox="1"/>
          <p:nvPr/>
        </p:nvSpPr>
        <p:spPr>
          <a:xfrm>
            <a:off x="212691" y="7401047"/>
            <a:ext cx="6926523" cy="361574"/>
          </a:xfrm>
          <a:prstGeom prst="rect">
            <a:avLst/>
          </a:prstGeom>
          <a:solidFill>
            <a:srgbClr val="2D9B7F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lang="en-US" sz="1600" b="1" dirty="0">
                <a:solidFill>
                  <a:srgbClr val="FFFFFF"/>
                </a:solidFill>
                <a:latin typeface="Calibri"/>
              </a:rPr>
              <a:t>East Chain Summary</a:t>
            </a:r>
            <a:endParaRPr lang="en-IN" sz="1600" b="1" dirty="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2" name="Picture 2" descr="A white and orange tube with white text  AI-generated content may be incorrect.">
            <a:extLst>
              <a:ext uri="{FF2B5EF4-FFF2-40B4-BE49-F238E27FC236}">
                <a16:creationId xmlns:a16="http://schemas.microsoft.com/office/drawing/2014/main" id="{5D280CFA-196A-3384-28EB-93A0BA900D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48" r="23559"/>
          <a:stretch/>
        </p:blipFill>
        <p:spPr bwMode="auto">
          <a:xfrm>
            <a:off x="2563955" y="5910322"/>
            <a:ext cx="212290" cy="408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3BE51A77-E98C-BDE1-B461-8EF8CA1910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020" y="5924618"/>
            <a:ext cx="210106" cy="445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bottle of rice face wash  Description automatically generated">
            <a:extLst>
              <a:ext uri="{FF2B5EF4-FFF2-40B4-BE49-F238E27FC236}">
                <a16:creationId xmlns:a16="http://schemas.microsoft.com/office/drawing/2014/main" id="{4F8FFE7C-A843-B300-DFB8-A8926A046F05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27809" t="6059" r="29332" b="4208"/>
          <a:stretch/>
        </p:blipFill>
        <p:spPr>
          <a:xfrm>
            <a:off x="359645" y="3868252"/>
            <a:ext cx="200232" cy="412943"/>
          </a:xfrm>
          <a:prstGeom prst="rect">
            <a:avLst/>
          </a:prstGeom>
        </p:spPr>
      </p:pic>
      <p:pic>
        <p:nvPicPr>
          <p:cNvPr id="5" name="Picture 4" descr="A yellow bottle of sunscreen  Description automatically generated">
            <a:extLst>
              <a:ext uri="{FF2B5EF4-FFF2-40B4-BE49-F238E27FC236}">
                <a16:creationId xmlns:a16="http://schemas.microsoft.com/office/drawing/2014/main" id="{1D587756-29C5-809E-CF12-295DC55BCF8B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32069" t="9042" r="31762" b="9272"/>
          <a:stretch/>
        </p:blipFill>
        <p:spPr>
          <a:xfrm>
            <a:off x="4989647" y="3869829"/>
            <a:ext cx="196303" cy="443346"/>
          </a:xfrm>
          <a:prstGeom prst="rect">
            <a:avLst/>
          </a:prstGeom>
        </p:spPr>
      </p:pic>
      <p:pic>
        <p:nvPicPr>
          <p:cNvPr id="6" name="Google Shape;1518;p235" descr="A purple bottle with a dropper next to a box  AI-generated content may be incorrect.">
            <a:extLst>
              <a:ext uri="{FF2B5EF4-FFF2-40B4-BE49-F238E27FC236}">
                <a16:creationId xmlns:a16="http://schemas.microsoft.com/office/drawing/2014/main" id="{8A9AAA02-2587-3BB3-DAF9-87AFAEE22844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085084" y="5922266"/>
            <a:ext cx="199186" cy="284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396;p227" descr="A white bottle with a label on it  Description automatically generated">
            <a:extLst>
              <a:ext uri="{FF2B5EF4-FFF2-40B4-BE49-F238E27FC236}">
                <a16:creationId xmlns:a16="http://schemas.microsoft.com/office/drawing/2014/main" id="{B12E3AF0-7D3C-DD22-4BD1-3C667E370C4E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 l="19608" b="483"/>
          <a:stretch/>
        </p:blipFill>
        <p:spPr>
          <a:xfrm>
            <a:off x="2684778" y="3872916"/>
            <a:ext cx="178723" cy="412609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PageNum"/>
          <p:cNvSpPr txBox="1"/>
          <p:nvPr/>
        </p:nvSpPr>
        <p:spPr>
          <a:xfrm>
            <a:off x="6282690" y="10414318"/>
            <a:ext cx="856524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8 / 21</a:t>
            </a:r>
          </a:p>
        </p:txBody>
      </p:sp>
    </p:spTree>
    <p:extLst>
      <p:ext uri="{BB962C8B-B14F-4D97-AF65-F5344CB8AC3E}">
        <p14:creationId xmlns:p14="http://schemas.microsoft.com/office/powerpoint/2010/main" val="32774744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1B051920-9B91-BB7D-0B2E-EB0664244C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3439487"/>
              </p:ext>
            </p:extLst>
          </p:nvPr>
        </p:nvGraphicFramePr>
        <p:xfrm>
          <a:off x="212691" y="82627"/>
          <a:ext cx="7015882" cy="254257"/>
        </p:xfrm>
        <a:graphic>
          <a:graphicData uri="http://schemas.openxmlformats.org/drawingml/2006/table">
            <a:tbl>
              <a:tblPr firstRow="1" firstCol="1" bandRow="1"/>
              <a:tblGrid>
                <a:gridCol w="7015882">
                  <a:extLst>
                    <a:ext uri="{9D8B030D-6E8A-4147-A177-3AD203B41FA5}">
                      <a16:colId xmlns:a16="http://schemas.microsoft.com/office/drawing/2014/main" val="2201429027"/>
                    </a:ext>
                  </a:extLst>
                </a:gridCol>
              </a:tblGrid>
              <a:tr h="2542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NORTH ZONE PERFORMANCE</a:t>
                      </a:r>
                      <a:endParaRPr lang="en-IN" sz="8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30" marR="6583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016972"/>
                  </a:ext>
                </a:extLst>
              </a:tr>
            </a:tbl>
          </a:graphicData>
        </a:graphic>
      </p:graphicFrame>
      <p:grpSp>
        <p:nvGrpSpPr>
          <p:cNvPr id="59" name="Group 58">
            <a:extLst>
              <a:ext uri="{FF2B5EF4-FFF2-40B4-BE49-F238E27FC236}">
                <a16:creationId xmlns:a16="http://schemas.microsoft.com/office/drawing/2014/main" id="{DD68EAEE-F80C-F3EC-109E-BA117E71D016}"/>
              </a:ext>
            </a:extLst>
          </p:cNvPr>
          <p:cNvGrpSpPr>
            <a:grpSpLocks/>
          </p:cNvGrpSpPr>
          <p:nvPr/>
        </p:nvGrpSpPr>
        <p:grpSpPr>
          <a:xfrm>
            <a:off x="212691" y="410876"/>
            <a:ext cx="1600200" cy="469900"/>
            <a:chOff x="0" y="0"/>
            <a:chExt cx="1600200" cy="469900"/>
          </a:xfrm>
        </p:grpSpPr>
        <p:sp>
          <p:nvSpPr>
            <p:cNvPr id="60" name="Graphic 251">
              <a:extLst>
                <a:ext uri="{FF2B5EF4-FFF2-40B4-BE49-F238E27FC236}">
                  <a16:creationId xmlns:a16="http://schemas.microsoft.com/office/drawing/2014/main" id="{AE04FE27-F37C-FB01-7FB2-B2D33688B0BC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1" name="Graphic 252">
              <a:extLst>
                <a:ext uri="{FF2B5EF4-FFF2-40B4-BE49-F238E27FC236}">
                  <a16:creationId xmlns:a16="http://schemas.microsoft.com/office/drawing/2014/main" id="{87A3E814-7336-FA22-3836-09A27F3A3FA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2" name="Textbox 253">
              <a:extLst>
                <a:ext uri="{FF2B5EF4-FFF2-40B4-BE49-F238E27FC236}">
                  <a16:creationId xmlns:a16="http://schemas.microsoft.com/office/drawing/2014/main" id="{327D0D1E-52B7-0544-69AC-D27F67860192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May-26 Sales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934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6CF0896D-3C02-C329-D4D8-571E7F485B4D}"/>
              </a:ext>
            </a:extLst>
          </p:cNvPr>
          <p:cNvGrpSpPr>
            <a:grpSpLocks/>
          </p:cNvGrpSpPr>
          <p:nvPr/>
        </p:nvGrpSpPr>
        <p:grpSpPr>
          <a:xfrm>
            <a:off x="1988068" y="410876"/>
            <a:ext cx="1600200" cy="469900"/>
            <a:chOff x="0" y="0"/>
            <a:chExt cx="1600200" cy="469900"/>
          </a:xfrm>
        </p:grpSpPr>
        <p:sp>
          <p:nvSpPr>
            <p:cNvPr id="64" name="Graphic 255">
              <a:extLst>
                <a:ext uri="{FF2B5EF4-FFF2-40B4-BE49-F238E27FC236}">
                  <a16:creationId xmlns:a16="http://schemas.microsoft.com/office/drawing/2014/main" id="{F5CE3C7F-BAA9-CD25-1598-3A30E0D6A453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5" name="Graphic 256">
              <a:extLst>
                <a:ext uri="{FF2B5EF4-FFF2-40B4-BE49-F238E27FC236}">
                  <a16:creationId xmlns:a16="http://schemas.microsoft.com/office/drawing/2014/main" id="{35D43F11-7FFC-3438-380C-33F69E72795A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6" name="Textbox 257">
              <a:extLst>
                <a:ext uri="{FF2B5EF4-FFF2-40B4-BE49-F238E27FC236}">
                  <a16:creationId xmlns:a16="http://schemas.microsoft.com/office/drawing/2014/main" id="{20C7EE75-3B4F-E74E-A5C0-CFE2D5A3D1CF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Zone Share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23.2%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A702DE7B-B820-9D9B-3797-7468D7DD4ECA}"/>
              </a:ext>
            </a:extLst>
          </p:cNvPr>
          <p:cNvGrpSpPr>
            <a:grpSpLocks/>
          </p:cNvGrpSpPr>
          <p:nvPr/>
        </p:nvGrpSpPr>
        <p:grpSpPr>
          <a:xfrm>
            <a:off x="3763445" y="409266"/>
            <a:ext cx="1600200" cy="469900"/>
            <a:chOff x="0" y="0"/>
            <a:chExt cx="1600200" cy="469900"/>
          </a:xfrm>
        </p:grpSpPr>
        <p:sp>
          <p:nvSpPr>
            <p:cNvPr id="68" name="Graphic 259">
              <a:extLst>
                <a:ext uri="{FF2B5EF4-FFF2-40B4-BE49-F238E27FC236}">
                  <a16:creationId xmlns:a16="http://schemas.microsoft.com/office/drawing/2014/main" id="{4F59F74E-A9A3-A03B-6DF6-E1FC6CF5DCC4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9" name="Graphic 260">
              <a:extLst>
                <a:ext uri="{FF2B5EF4-FFF2-40B4-BE49-F238E27FC236}">
                  <a16:creationId xmlns:a16="http://schemas.microsoft.com/office/drawing/2014/main" id="{21D51929-BD0B-81C1-A744-1E863136F4F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0" name="Textbox 261">
              <a:extLst>
                <a:ext uri="{FF2B5EF4-FFF2-40B4-BE49-F238E27FC236}">
                  <a16:creationId xmlns:a16="http://schemas.microsoft.com/office/drawing/2014/main" id="{42FA30A0-A741-6043-88F2-1A90ADD27414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L3M Avg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746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F27C9CD-9B21-5E34-0C32-1AB5F84F55FD}"/>
              </a:ext>
            </a:extLst>
          </p:cNvPr>
          <p:cNvGrpSpPr>
            <a:grpSpLocks/>
          </p:cNvGrpSpPr>
          <p:nvPr/>
        </p:nvGrpSpPr>
        <p:grpSpPr>
          <a:xfrm>
            <a:off x="5539014" y="410910"/>
            <a:ext cx="1600200" cy="469900"/>
            <a:chOff x="0" y="0"/>
            <a:chExt cx="1600200" cy="469900"/>
          </a:xfrm>
        </p:grpSpPr>
        <p:sp>
          <p:nvSpPr>
            <p:cNvPr id="72" name="Graphic 263">
              <a:extLst>
                <a:ext uri="{FF2B5EF4-FFF2-40B4-BE49-F238E27FC236}">
                  <a16:creationId xmlns:a16="http://schemas.microsoft.com/office/drawing/2014/main" id="{4E793049-DA48-496E-F528-84304A3FB08F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3" name="Graphic 264">
              <a:extLst>
                <a:ext uri="{FF2B5EF4-FFF2-40B4-BE49-F238E27FC236}">
                  <a16:creationId xmlns:a16="http://schemas.microsoft.com/office/drawing/2014/main" id="{29227A2B-0582-AE0C-E8D7-1C924EB8D8CE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4" name="Textbox 265">
              <a:extLst>
                <a:ext uri="{FF2B5EF4-FFF2-40B4-BE49-F238E27FC236}">
                  <a16:creationId xmlns:a16="http://schemas.microsoft.com/office/drawing/2014/main" id="{50672AAD-CBB1-4DA3-E51B-B8B2B09130C0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GOLY May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algn="ctr">
                <a:spcBef>
                  <a:spcPts val="55"/>
                </a:spcBef>
                <a:spcAft>
                  <a:spcPts val="0"/>
                </a:spcAft>
              </a:pPr>
              <a:r>
                <a:rPr sz="1600" b="1">
                  <a:solidFill>
                    <a:srgbClr val="008A3D"/>
                  </a:solidFill>
                  <a:latin typeface="+mj-lt"/>
                </a:rPr>
                <a:t>▲ 65%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sp>
        <p:nvSpPr>
          <p:cNvPr id="75" name="Rectangle 48">
            <a:extLst>
              <a:ext uri="{FF2B5EF4-FFF2-40B4-BE49-F238E27FC236}">
                <a16:creationId xmlns:a16="http://schemas.microsoft.com/office/drawing/2014/main" id="{D24FAE0C-145A-C9D7-74A8-D196DE7A8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875" y="42771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 sz="240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76" name="Rectangle 50">
            <a:extLst>
              <a:ext uri="{FF2B5EF4-FFF2-40B4-BE49-F238E27FC236}">
                <a16:creationId xmlns:a16="http://schemas.microsoft.com/office/drawing/2014/main" id="{58CE6004-1D26-F9E4-E2B8-A5EF89D499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5442770"/>
            <a:ext cx="692652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8" name="Rectangle 54">
            <a:extLst>
              <a:ext uri="{FF2B5EF4-FFF2-40B4-BE49-F238E27FC236}">
                <a16:creationId xmlns:a16="http://schemas.microsoft.com/office/drawing/2014/main" id="{BE172A64-5EBD-FF10-7C9B-66C88926A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7372064"/>
            <a:ext cx="6926523" cy="40011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9" name="Rectangle 56">
            <a:extLst>
              <a:ext uri="{FF2B5EF4-FFF2-40B4-BE49-F238E27FC236}">
                <a16:creationId xmlns:a16="http://schemas.microsoft.com/office/drawing/2014/main" id="{E97D74F4-3FCA-35BE-70C0-931264144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6867859"/>
            <a:ext cx="692652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sp>
        <p:nvSpPr>
          <p:cNvPr id="80" name="Textbox 268">
            <a:extLst>
              <a:ext uri="{FF2B5EF4-FFF2-40B4-BE49-F238E27FC236}">
                <a16:creationId xmlns:a16="http://schemas.microsoft.com/office/drawing/2014/main" id="{1A2636FF-FA83-BDD9-A967-753B47792769}"/>
              </a:ext>
            </a:extLst>
          </p:cNvPr>
          <p:cNvSpPr txBox="1"/>
          <p:nvPr/>
        </p:nvSpPr>
        <p:spPr>
          <a:xfrm>
            <a:off x="212691" y="988226"/>
            <a:ext cx="6926523" cy="8486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lIns="0" tIns="0" rIns="0" bIns="0" rtlCol="0" anchor="t">
            <a:noAutofit/>
          </a:bodyPr>
          <a:lstStyle/>
          <a:p>
            <a:pPr marL="127000">
              <a:spcBef>
                <a:spcPts val="600"/>
              </a:spcBef>
              <a:spcAft>
                <a:spcPts val="0"/>
              </a:spcAft>
            </a:pPr>
            <a:r>
              <a:rPr lang="en-US" sz="1100" b="1" dirty="0">
                <a:effectLst/>
                <a:latin typeface="Calibri"/>
                <a:ea typeface="Arial MT"/>
                <a:cs typeface="Calibri"/>
              </a:rPr>
              <a:t>Key Performance </a:t>
            </a:r>
            <a:r>
              <a:rPr lang="en-US" sz="1100" b="1" spc="-10" dirty="0">
                <a:effectLst/>
                <a:latin typeface="Calibri"/>
                <a:ea typeface="Arial MT"/>
                <a:cs typeface="Calibri"/>
              </a:rPr>
              <a:t>Highlights</a:t>
            </a:r>
            <a:endParaRPr lang="en-IN" dirty="0">
              <a:effectLst/>
              <a:latin typeface="+mj-lt"/>
              <a:ea typeface="Arial MT"/>
              <a:cs typeface="Calibri"/>
            </a:endParaRPr>
          </a:p>
          <a:p>
            <a:pPr>
              <a:spcBef>
                <a:spcPts val="105"/>
              </a:spcBef>
            </a:pPr>
            <a:r>
              <a:rPr lang="en-US" sz="1100" b="1" dirty="0">
                <a:effectLst/>
                <a:latin typeface="Calibri"/>
                <a:ea typeface="Arial MT"/>
                <a:cs typeface="Calibri"/>
              </a:rPr>
              <a:t> </a:t>
            </a:r>
            <a:endParaRPr lang="en-IN" dirty="0">
              <a:effectLst/>
              <a:latin typeface="+mj-lt"/>
              <a:ea typeface="Arial MT"/>
              <a:cs typeface="Calibri"/>
            </a:endParaRPr>
          </a:p>
          <a:p>
            <a:pPr marL="184150" indent="-57150">
              <a:tabLst>
                <a:tab pos="184150" algn="l"/>
              </a:tabLst>
            </a:pPr>
            <a:r>
              <a:rPr lang="en-US" sz="1050" b="1" dirty="0">
                <a:effectLst/>
                <a:latin typeface="Calibri"/>
                <a:ea typeface="Arial MT"/>
                <a:cs typeface="Calibri"/>
              </a:rPr>
              <a:t>Zone</a:t>
            </a:r>
            <a:r>
              <a:rPr lang="en-US" sz="1050" b="1" spc="40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1050" b="1" dirty="0">
                <a:effectLst/>
                <a:latin typeface="Calibri"/>
                <a:ea typeface="Arial MT"/>
                <a:cs typeface="Calibri"/>
              </a:rPr>
              <a:t>Record:</a:t>
            </a:r>
            <a:r>
              <a:rPr lang="en-US" sz="1050" b="1" spc="40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1050" dirty="0">
                <a:effectLst/>
                <a:latin typeface="Calibri"/>
                <a:ea typeface="Arial MT"/>
                <a:cs typeface="Calibri"/>
              </a:rPr>
              <a:t>May-26</a:t>
            </a:r>
            <a:r>
              <a:rPr lang="en-US" sz="1050" spc="40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1050" dirty="0">
                <a:effectLst/>
                <a:latin typeface="Calibri"/>
                <a:ea typeface="Arial MT"/>
                <a:cs typeface="Calibri"/>
              </a:rPr>
              <a:t>delivered</a:t>
            </a:r>
            <a:r>
              <a:rPr lang="en-US" sz="1050" spc="40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1050" dirty="0">
                <a:effectLst/>
                <a:latin typeface="Calibri"/>
                <a:ea typeface="Arial MT"/>
                <a:cs typeface="Calibri"/>
              </a:rPr>
              <a:t>the</a:t>
            </a:r>
            <a:r>
              <a:rPr lang="en-US" sz="1050" spc="45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1050" b="1" dirty="0">
                <a:solidFill>
                  <a:srgbClr val="1A1F29"/>
                </a:solidFill>
                <a:effectLst/>
                <a:latin typeface="Calibri"/>
                <a:ea typeface="Arial MT"/>
                <a:cs typeface="Calibri"/>
              </a:rPr>
              <a:t>highest</a:t>
            </a:r>
            <a:r>
              <a:rPr lang="en-US" sz="1050" b="1" spc="40" dirty="0">
                <a:solidFill>
                  <a:srgbClr val="1A1F29"/>
                </a:solidFill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1050" b="1" dirty="0">
                <a:solidFill>
                  <a:srgbClr val="1A1F29"/>
                </a:solidFill>
                <a:effectLst/>
                <a:latin typeface="Calibri"/>
                <a:ea typeface="Arial MT"/>
                <a:cs typeface="Calibri"/>
              </a:rPr>
              <a:t>month</a:t>
            </a:r>
            <a:r>
              <a:rPr lang="en-US" sz="1050" b="1" spc="40" dirty="0">
                <a:solidFill>
                  <a:srgbClr val="1A1F29"/>
                </a:solidFill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1050" dirty="0">
                <a:effectLst/>
                <a:latin typeface="Calibri"/>
                <a:ea typeface="Arial MT"/>
                <a:cs typeface="Calibri"/>
              </a:rPr>
              <a:t>for</a:t>
            </a:r>
            <a:r>
              <a:rPr lang="en-US" sz="1050" spc="40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1050" dirty="0">
                <a:effectLst/>
                <a:latin typeface="Calibri"/>
                <a:ea typeface="Arial MT"/>
                <a:cs typeface="Calibri"/>
              </a:rPr>
              <a:t>North</a:t>
            </a:r>
            <a:r>
              <a:rPr lang="en-US" sz="1050" spc="45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1050" dirty="0">
                <a:effectLst/>
                <a:latin typeface="Calibri"/>
                <a:ea typeface="Arial MT"/>
                <a:cs typeface="Calibri"/>
              </a:rPr>
              <a:t>at</a:t>
            </a:r>
            <a:r>
              <a:rPr lang="en-US" sz="1050" spc="40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1050" b="1" dirty="0">
                <a:solidFill>
                  <a:srgbClr val="0F756E"/>
                </a:solidFill>
                <a:effectLst/>
                <a:latin typeface="Calibri"/>
                <a:ea typeface="Arial MT"/>
                <a:cs typeface="Calibri"/>
              </a:rPr>
              <a:t>934</a:t>
            </a:r>
            <a:r>
              <a:rPr lang="en-US" sz="1050" dirty="0">
                <a:solidFill>
                  <a:srgbClr val="1A1F29"/>
                </a:solidFill>
                <a:effectLst/>
                <a:latin typeface="Calibri"/>
                <a:ea typeface="Arial MT"/>
                <a:cs typeface="Calibri"/>
              </a:rPr>
              <a:t>,</a:t>
            </a:r>
            <a:r>
              <a:rPr lang="en-US" sz="1050" spc="40" dirty="0">
                <a:solidFill>
                  <a:srgbClr val="1A1F29"/>
                </a:solidFill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1050" dirty="0">
                <a:effectLst/>
                <a:latin typeface="Calibri"/>
                <a:ea typeface="Arial MT"/>
                <a:cs typeface="Calibri"/>
              </a:rPr>
              <a:t>contributing</a:t>
            </a:r>
            <a:r>
              <a:rPr lang="en-US" sz="1050" spc="40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1050" b="1" dirty="0">
                <a:effectLst/>
                <a:latin typeface="Calibri"/>
                <a:ea typeface="Arial MT"/>
                <a:cs typeface="Calibri"/>
              </a:rPr>
              <a:t>23.2%</a:t>
            </a:r>
            <a:r>
              <a:rPr lang="en-US" sz="1050" b="1" spc="45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1050" dirty="0">
                <a:effectLst/>
                <a:latin typeface="Calibri"/>
                <a:ea typeface="Arial MT"/>
                <a:cs typeface="Calibri"/>
              </a:rPr>
              <a:t>to</a:t>
            </a:r>
            <a:r>
              <a:rPr lang="en-US" sz="1050" spc="40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1050" dirty="0">
                <a:effectLst/>
                <a:latin typeface="Calibri"/>
                <a:ea typeface="Arial MT"/>
                <a:cs typeface="Calibri"/>
              </a:rPr>
              <a:t>total</a:t>
            </a:r>
            <a:r>
              <a:rPr lang="en-US" sz="1050" spc="40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1050" dirty="0">
                <a:effectLst/>
                <a:latin typeface="Calibri"/>
                <a:ea typeface="Arial MT"/>
                <a:cs typeface="Calibri"/>
              </a:rPr>
              <a:t>channel</a:t>
            </a:r>
            <a:r>
              <a:rPr lang="en-US" sz="1050" spc="40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1050" spc="-10" dirty="0">
                <a:effectLst/>
                <a:latin typeface="Calibri"/>
                <a:ea typeface="Arial MT"/>
                <a:cs typeface="Calibri"/>
              </a:rPr>
              <a:t>sales.</a:t>
            </a:r>
            <a:endParaRPr lang="en-IN" dirty="0">
              <a:effectLst/>
              <a:latin typeface="+mj-lt"/>
              <a:ea typeface="Arial MT"/>
              <a:cs typeface="Calibri"/>
            </a:endParaRPr>
          </a:p>
          <a:p>
            <a:pPr marL="184150" indent="-57150">
              <a:spcBef>
                <a:spcPts val="55"/>
              </a:spcBef>
              <a:spcAft>
                <a:spcPts val="0"/>
              </a:spcAft>
              <a:tabLst>
                <a:tab pos="184150" algn="l"/>
              </a:tabLst>
            </a:pPr>
            <a:r>
              <a:rPr sz="1050" b="1" dirty="0">
                <a:latin typeface="Calibri"/>
              </a:rPr>
              <a:t>Growth View: May-26 performance was </a:t>
            </a:r>
            <a:r>
              <a:rPr sz="1050" b="1" dirty="0">
                <a:solidFill>
                  <a:srgbClr val="008A3D"/>
                </a:solidFill>
                <a:latin typeface="Calibri"/>
              </a:rPr>
              <a:t>▲ 25%</a:t>
            </a:r>
            <a:r>
              <a:rPr sz="1050" b="1" dirty="0">
                <a:latin typeface="Calibri"/>
              </a:rPr>
              <a:t> vs L3M and </a:t>
            </a:r>
            <a:r>
              <a:rPr sz="1050" b="1" dirty="0">
                <a:solidFill>
                  <a:srgbClr val="008A3D"/>
                </a:solidFill>
                <a:latin typeface="Calibri"/>
              </a:rPr>
              <a:t>▲ 65%</a:t>
            </a:r>
            <a:r>
              <a:rPr sz="1050" b="1" dirty="0">
                <a:solidFill>
                  <a:srgbClr val="1C4DD8"/>
                </a:solidFill>
                <a:latin typeface="Calibri"/>
              </a:rPr>
              <a:t> </a:t>
            </a:r>
            <a:r>
              <a:rPr sz="1050" b="1" dirty="0">
                <a:latin typeface="Calibri"/>
              </a:rPr>
              <a:t>vs May-25, confirming Consistent strong month momentum.</a:t>
            </a:r>
            <a:endParaRPr lang="en-IN" dirty="0">
              <a:effectLst/>
              <a:latin typeface="+mj-lt"/>
              <a:ea typeface="Arial MT"/>
              <a:cs typeface="Calibri"/>
            </a:endParaRPr>
          </a:p>
        </p:txBody>
      </p:sp>
      <p:sp>
        <p:nvSpPr>
          <p:cNvPr id="149" name="Shape 3">
            <a:extLst>
              <a:ext uri="{FF2B5EF4-FFF2-40B4-BE49-F238E27FC236}">
                <a16:creationId xmlns:a16="http://schemas.microsoft.com/office/drawing/2014/main" id="{E2B15EBD-7C86-86AC-FD83-3C817A35F1E5}"/>
              </a:ext>
            </a:extLst>
          </p:cNvPr>
          <p:cNvSpPr/>
          <p:nvPr/>
        </p:nvSpPr>
        <p:spPr>
          <a:xfrm>
            <a:off x="212691" y="3473924"/>
            <a:ext cx="6926523" cy="256032"/>
          </a:xfrm>
          <a:prstGeom prst="rect">
            <a:avLst/>
          </a:prstGeom>
          <a:solidFill>
            <a:srgbClr val="2D9B7F"/>
          </a:solidFill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sp>
        <p:nvSpPr>
          <p:cNvPr id="150" name="Text 4">
            <a:extLst>
              <a:ext uri="{FF2B5EF4-FFF2-40B4-BE49-F238E27FC236}">
                <a16:creationId xmlns:a16="http://schemas.microsoft.com/office/drawing/2014/main" id="{E090B056-5AAD-CC5C-BB09-77FB607FB2B4}"/>
              </a:ext>
            </a:extLst>
          </p:cNvPr>
          <p:cNvSpPr/>
          <p:nvPr/>
        </p:nvSpPr>
        <p:spPr>
          <a:xfrm>
            <a:off x="212691" y="3537932"/>
            <a:ext cx="692652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North | Mamaearth — Top 3 Sub-category Monthly Trend (NSV)</a:t>
            </a:r>
            <a:endParaRPr lang="en-US" sz="780" dirty="0">
              <a:latin typeface="+mj-lt"/>
            </a:endParaRPr>
          </a:p>
        </p:txBody>
      </p:sp>
      <p:sp>
        <p:nvSpPr>
          <p:cNvPr id="151" name="Text 5">
            <a:extLst>
              <a:ext uri="{FF2B5EF4-FFF2-40B4-BE49-F238E27FC236}">
                <a16:creationId xmlns:a16="http://schemas.microsoft.com/office/drawing/2014/main" id="{8DC1552C-E149-4A10-28F5-0A4785E39F2D}"/>
              </a:ext>
            </a:extLst>
          </p:cNvPr>
          <p:cNvSpPr/>
          <p:nvPr/>
        </p:nvSpPr>
        <p:spPr>
          <a:xfrm>
            <a:off x="336150" y="3893837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1100" dirty="0">
              <a:latin typeface="+mj-lt"/>
            </a:endParaRPr>
          </a:p>
        </p:txBody>
      </p:sp>
      <p:sp>
        <p:nvSpPr>
          <p:cNvPr id="152" name="Text 6">
            <a:extLst>
              <a:ext uri="{FF2B5EF4-FFF2-40B4-BE49-F238E27FC236}">
                <a16:creationId xmlns:a16="http://schemas.microsoft.com/office/drawing/2014/main" id="{68B7E644-F756-EB08-51D0-E4BBD2584EB3}"/>
              </a:ext>
            </a:extLst>
          </p:cNvPr>
          <p:cNvSpPr/>
          <p:nvPr/>
        </p:nvSpPr>
        <p:spPr>
          <a:xfrm>
            <a:off x="679525" y="3893836"/>
            <a:ext cx="372097" cy="242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>
                <a:solidFill>
                  <a:srgbClr val="008A3D"/>
                </a:solidFill>
                <a:latin typeface="Calibri"/>
              </a:rPr>
              <a:t>▲ 29%</a:t>
            </a:r>
            <a:endParaRPr lang="en-US" sz="900" dirty="0">
              <a:latin typeface="+mj-lt"/>
            </a:endParaRPr>
          </a:p>
        </p:txBody>
      </p:sp>
      <p:sp>
        <p:nvSpPr>
          <p:cNvPr id="153" name="Text 7">
            <a:extLst>
              <a:ext uri="{FF2B5EF4-FFF2-40B4-BE49-F238E27FC236}">
                <a16:creationId xmlns:a16="http://schemas.microsoft.com/office/drawing/2014/main" id="{E90F34B8-D653-A710-F866-1BC3E6964F9D}"/>
              </a:ext>
            </a:extLst>
          </p:cNvPr>
          <p:cNvSpPr/>
          <p:nvPr/>
        </p:nvSpPr>
        <p:spPr>
          <a:xfrm>
            <a:off x="1153771" y="3905713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7%</a:t>
            </a:r>
            <a:endParaRPr lang="en-US" sz="900" dirty="0">
              <a:latin typeface="+mj-lt"/>
            </a:endParaRPr>
          </a:p>
        </p:txBody>
      </p:sp>
      <p:sp>
        <p:nvSpPr>
          <p:cNvPr id="154" name="Text 8">
            <a:extLst>
              <a:ext uri="{FF2B5EF4-FFF2-40B4-BE49-F238E27FC236}">
                <a16:creationId xmlns:a16="http://schemas.microsoft.com/office/drawing/2014/main" id="{3CB5B5FD-F962-33DF-877C-0AE18D2CE328}"/>
              </a:ext>
            </a:extLst>
          </p:cNvPr>
          <p:cNvSpPr/>
          <p:nvPr/>
        </p:nvSpPr>
        <p:spPr>
          <a:xfrm>
            <a:off x="1627936" y="3893837"/>
            <a:ext cx="509783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May'26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262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55" name="Chart 0">
            <a:extLst>
              <a:ext uri="{FF2B5EF4-FFF2-40B4-BE49-F238E27FC236}">
                <a16:creationId xmlns:a16="http://schemas.microsoft.com/office/drawing/2014/main" id="{C3EABDE2-E03A-721E-0AE3-C104F928F4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81951180"/>
              </p:ext>
            </p:extLst>
          </p:nvPr>
        </p:nvGraphicFramePr>
        <p:xfrm>
          <a:off x="201072" y="3821157"/>
          <a:ext cx="2222757" cy="15518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6" name="Text 9">
            <a:extLst>
              <a:ext uri="{FF2B5EF4-FFF2-40B4-BE49-F238E27FC236}">
                <a16:creationId xmlns:a16="http://schemas.microsoft.com/office/drawing/2014/main" id="{5BEBD7FD-7A2C-AC1D-76B9-D5B4A0E4DD0C}"/>
              </a:ext>
            </a:extLst>
          </p:cNvPr>
          <p:cNvSpPr/>
          <p:nvPr/>
        </p:nvSpPr>
        <p:spPr>
          <a:xfrm>
            <a:off x="2648050" y="3903537"/>
            <a:ext cx="560284" cy="155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Shampoo</a:t>
            </a:r>
            <a:endParaRPr lang="en-US" sz="900" dirty="0">
              <a:latin typeface="+mj-lt"/>
            </a:endParaRPr>
          </a:p>
        </p:txBody>
      </p:sp>
      <p:sp>
        <p:nvSpPr>
          <p:cNvPr id="157" name="Text 10">
            <a:extLst>
              <a:ext uri="{FF2B5EF4-FFF2-40B4-BE49-F238E27FC236}">
                <a16:creationId xmlns:a16="http://schemas.microsoft.com/office/drawing/2014/main" id="{1E0A7551-8419-9F78-49C5-64130D89CF32}"/>
              </a:ext>
            </a:extLst>
          </p:cNvPr>
          <p:cNvSpPr/>
          <p:nvPr/>
        </p:nvSpPr>
        <p:spPr>
          <a:xfrm>
            <a:off x="3240756" y="3893642"/>
            <a:ext cx="372097" cy="196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>
                <a:solidFill>
                  <a:srgbClr val="008A3D"/>
                </a:solidFill>
                <a:latin typeface="Calibri"/>
              </a:rPr>
              <a:t>▲ 54%</a:t>
            </a:r>
            <a:endParaRPr lang="en-US" sz="900" dirty="0">
              <a:latin typeface="+mj-lt"/>
            </a:endParaRPr>
          </a:p>
        </p:txBody>
      </p:sp>
      <p:sp>
        <p:nvSpPr>
          <p:cNvPr id="158" name="Text 11">
            <a:extLst>
              <a:ext uri="{FF2B5EF4-FFF2-40B4-BE49-F238E27FC236}">
                <a16:creationId xmlns:a16="http://schemas.microsoft.com/office/drawing/2014/main" id="{A6E4DFA5-8AF1-66E3-AB74-1643CD5B917D}"/>
              </a:ext>
            </a:extLst>
          </p:cNvPr>
          <p:cNvSpPr/>
          <p:nvPr/>
        </p:nvSpPr>
        <p:spPr>
          <a:xfrm>
            <a:off x="3645275" y="3889821"/>
            <a:ext cx="372097" cy="247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7%</a:t>
            </a:r>
            <a:endParaRPr lang="en-US" sz="900" dirty="0">
              <a:latin typeface="+mj-lt"/>
            </a:endParaRPr>
          </a:p>
        </p:txBody>
      </p:sp>
      <p:sp>
        <p:nvSpPr>
          <p:cNvPr id="159" name="Text 12">
            <a:extLst>
              <a:ext uri="{FF2B5EF4-FFF2-40B4-BE49-F238E27FC236}">
                <a16:creationId xmlns:a16="http://schemas.microsoft.com/office/drawing/2014/main" id="{0002D543-8B74-7800-B3E0-CCAA6D0B22FA}"/>
              </a:ext>
            </a:extLst>
          </p:cNvPr>
          <p:cNvSpPr/>
          <p:nvPr/>
        </p:nvSpPr>
        <p:spPr>
          <a:xfrm>
            <a:off x="4116738" y="3891974"/>
            <a:ext cx="413442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May'26 188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0" name="Chart 1">
            <a:extLst>
              <a:ext uri="{FF2B5EF4-FFF2-40B4-BE49-F238E27FC236}">
                <a16:creationId xmlns:a16="http://schemas.microsoft.com/office/drawing/2014/main" id="{498335C8-87FE-1BF3-E55D-7F3682FE88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3331227"/>
              </p:ext>
            </p:extLst>
          </p:nvPr>
        </p:nvGraphicFramePr>
        <p:xfrm>
          <a:off x="2523196" y="3793964"/>
          <a:ext cx="2246183" cy="16045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1" name="Text 13">
            <a:extLst>
              <a:ext uri="{FF2B5EF4-FFF2-40B4-BE49-F238E27FC236}">
                <a16:creationId xmlns:a16="http://schemas.microsoft.com/office/drawing/2014/main" id="{AE81E6A1-E294-CD2E-3731-74E6402A61FF}"/>
              </a:ext>
            </a:extLst>
          </p:cNvPr>
          <p:cNvSpPr/>
          <p:nvPr/>
        </p:nvSpPr>
        <p:spPr>
          <a:xfrm>
            <a:off x="4973035" y="3855509"/>
            <a:ext cx="537475" cy="187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Sun Care</a:t>
            </a:r>
            <a:endParaRPr lang="en-US" sz="900" dirty="0">
              <a:latin typeface="+mj-lt"/>
            </a:endParaRPr>
          </a:p>
        </p:txBody>
      </p:sp>
      <p:sp>
        <p:nvSpPr>
          <p:cNvPr id="162" name="Text 14">
            <a:extLst>
              <a:ext uri="{FF2B5EF4-FFF2-40B4-BE49-F238E27FC236}">
                <a16:creationId xmlns:a16="http://schemas.microsoft.com/office/drawing/2014/main" id="{27F9A9D8-519D-AC19-D616-44CAE0D43FD1}"/>
              </a:ext>
            </a:extLst>
          </p:cNvPr>
          <p:cNvSpPr/>
          <p:nvPr/>
        </p:nvSpPr>
        <p:spPr>
          <a:xfrm>
            <a:off x="5552573" y="3874219"/>
            <a:ext cx="615164" cy="244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>
                <a:solidFill>
                  <a:srgbClr val="008A3D"/>
                </a:solidFill>
                <a:latin typeface="Calibri"/>
              </a:rPr>
              <a:t>▲ 50%</a:t>
            </a:r>
            <a:endParaRPr lang="en-US" sz="900" dirty="0">
              <a:latin typeface="+mj-lt"/>
            </a:endParaRPr>
          </a:p>
        </p:txBody>
      </p:sp>
      <p:sp>
        <p:nvSpPr>
          <p:cNvPr id="163" name="Text 15">
            <a:extLst>
              <a:ext uri="{FF2B5EF4-FFF2-40B4-BE49-F238E27FC236}">
                <a16:creationId xmlns:a16="http://schemas.microsoft.com/office/drawing/2014/main" id="{25E789B0-F22E-6189-F81D-C18A4F30CC76}"/>
              </a:ext>
            </a:extLst>
          </p:cNvPr>
          <p:cNvSpPr/>
          <p:nvPr/>
        </p:nvSpPr>
        <p:spPr>
          <a:xfrm>
            <a:off x="6019160" y="3854959"/>
            <a:ext cx="372097" cy="253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3%</a:t>
            </a:r>
            <a:endParaRPr lang="en-US" sz="900" dirty="0">
              <a:latin typeface="+mj-lt"/>
            </a:endParaRPr>
          </a:p>
        </p:txBody>
      </p:sp>
      <p:sp>
        <p:nvSpPr>
          <p:cNvPr id="164" name="Text 16">
            <a:extLst>
              <a:ext uri="{FF2B5EF4-FFF2-40B4-BE49-F238E27FC236}">
                <a16:creationId xmlns:a16="http://schemas.microsoft.com/office/drawing/2014/main" id="{B7F3446D-2E00-77C7-5921-C34968E8F7B7}"/>
              </a:ext>
            </a:extLst>
          </p:cNvPr>
          <p:cNvSpPr/>
          <p:nvPr/>
        </p:nvSpPr>
        <p:spPr>
          <a:xfrm>
            <a:off x="6447628" y="3903536"/>
            <a:ext cx="413442" cy="206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May'26 </a:t>
            </a:r>
          </a:p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89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5" name="Chart 2">
            <a:extLst>
              <a:ext uri="{FF2B5EF4-FFF2-40B4-BE49-F238E27FC236}">
                <a16:creationId xmlns:a16="http://schemas.microsoft.com/office/drawing/2014/main" id="{E29320C6-4ABC-47AD-CAC6-8C1A6CA6E8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83009613"/>
              </p:ext>
            </p:extLst>
          </p:nvPr>
        </p:nvGraphicFramePr>
        <p:xfrm>
          <a:off x="4830879" y="3790131"/>
          <a:ext cx="2308335" cy="16213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6" name="Shape 17">
            <a:extLst>
              <a:ext uri="{FF2B5EF4-FFF2-40B4-BE49-F238E27FC236}">
                <a16:creationId xmlns:a16="http://schemas.microsoft.com/office/drawing/2014/main" id="{0C37FB05-75B7-65DE-A1B1-F44B76B917B2}"/>
              </a:ext>
            </a:extLst>
          </p:cNvPr>
          <p:cNvSpPr/>
          <p:nvPr/>
        </p:nvSpPr>
        <p:spPr>
          <a:xfrm>
            <a:off x="212691" y="5470073"/>
            <a:ext cx="6926523" cy="323487"/>
          </a:xfrm>
          <a:prstGeom prst="rect">
            <a:avLst/>
          </a:prstGeom>
          <a:solidFill>
            <a:srgbClr val="2D9B7F"/>
          </a:solidFill>
          <a:ln w="12700">
            <a:solidFill>
              <a:srgbClr val="23633A"/>
            </a:solidFill>
            <a:prstDash val="solid"/>
          </a:ln>
        </p:spPr>
        <p:txBody>
          <a:bodyPr anchor="t"/>
          <a:lstStyle/>
          <a:p>
            <a:endParaRPr lang="en-IN" dirty="0">
              <a:latin typeface="+mj-lt"/>
            </a:endParaRPr>
          </a:p>
        </p:txBody>
      </p:sp>
      <p:sp>
        <p:nvSpPr>
          <p:cNvPr id="167" name="Text 18">
            <a:extLst>
              <a:ext uri="{FF2B5EF4-FFF2-40B4-BE49-F238E27FC236}">
                <a16:creationId xmlns:a16="http://schemas.microsoft.com/office/drawing/2014/main" id="{606509AD-D1A3-4CFF-7031-2BD01F460E84}"/>
              </a:ext>
            </a:extLst>
          </p:cNvPr>
          <p:cNvSpPr/>
          <p:nvPr/>
        </p:nvSpPr>
        <p:spPr>
          <a:xfrm>
            <a:off x="212691" y="5468644"/>
            <a:ext cx="6926523" cy="318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North | The Derma Co. — Top 3 Sub-category Monthly Trend (NSV)</a:t>
            </a:r>
            <a:endParaRPr lang="en-US" sz="1100" dirty="0">
              <a:latin typeface="+mj-lt"/>
            </a:endParaRPr>
          </a:p>
        </p:txBody>
      </p:sp>
      <p:sp>
        <p:nvSpPr>
          <p:cNvPr id="168" name="Text 19">
            <a:extLst>
              <a:ext uri="{FF2B5EF4-FFF2-40B4-BE49-F238E27FC236}">
                <a16:creationId xmlns:a16="http://schemas.microsoft.com/office/drawing/2014/main" id="{A8BC9F08-BB7E-07CC-C7BE-53E76EB85511}"/>
              </a:ext>
            </a:extLst>
          </p:cNvPr>
          <p:cNvSpPr/>
          <p:nvPr/>
        </p:nvSpPr>
        <p:spPr>
          <a:xfrm>
            <a:off x="336150" y="5868172"/>
            <a:ext cx="397538" cy="24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900" dirty="0">
              <a:latin typeface="+mj-lt"/>
            </a:endParaRPr>
          </a:p>
        </p:txBody>
      </p:sp>
      <p:sp>
        <p:nvSpPr>
          <p:cNvPr id="169" name="Text 20">
            <a:extLst>
              <a:ext uri="{FF2B5EF4-FFF2-40B4-BE49-F238E27FC236}">
                <a16:creationId xmlns:a16="http://schemas.microsoft.com/office/drawing/2014/main" id="{CC6466FF-9DFE-712B-2E6C-63C9594ED3C1}"/>
              </a:ext>
            </a:extLst>
          </p:cNvPr>
          <p:cNvSpPr/>
          <p:nvPr/>
        </p:nvSpPr>
        <p:spPr>
          <a:xfrm>
            <a:off x="630315" y="5868171"/>
            <a:ext cx="472126" cy="245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GOLY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▲1806%</a:t>
            </a:r>
            <a:endParaRPr lang="en-US" sz="900" dirty="0">
              <a:latin typeface="+mj-lt"/>
            </a:endParaRPr>
          </a:p>
        </p:txBody>
      </p:sp>
      <p:sp>
        <p:nvSpPr>
          <p:cNvPr id="170" name="Text 21">
            <a:extLst>
              <a:ext uri="{FF2B5EF4-FFF2-40B4-BE49-F238E27FC236}">
                <a16:creationId xmlns:a16="http://schemas.microsoft.com/office/drawing/2014/main" id="{6553EC6E-D91D-B6B7-81E0-5D554EF96509}"/>
              </a:ext>
            </a:extLst>
          </p:cNvPr>
          <p:cNvSpPr/>
          <p:nvPr/>
        </p:nvSpPr>
        <p:spPr>
          <a:xfrm>
            <a:off x="1238663" y="5883530"/>
            <a:ext cx="426367" cy="176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 40%</a:t>
            </a:r>
            <a:endParaRPr lang="en-US" sz="900" dirty="0">
              <a:latin typeface="+mj-lt"/>
            </a:endParaRPr>
          </a:p>
        </p:txBody>
      </p:sp>
      <p:sp>
        <p:nvSpPr>
          <p:cNvPr id="171" name="Text 22">
            <a:extLst>
              <a:ext uri="{FF2B5EF4-FFF2-40B4-BE49-F238E27FC236}">
                <a16:creationId xmlns:a16="http://schemas.microsoft.com/office/drawing/2014/main" id="{21E44F12-56F2-0F79-99BF-12D5FEBEA9AE}"/>
              </a:ext>
            </a:extLst>
          </p:cNvPr>
          <p:cNvSpPr/>
          <p:nvPr/>
        </p:nvSpPr>
        <p:spPr>
          <a:xfrm>
            <a:off x="1808405" y="5874585"/>
            <a:ext cx="496442" cy="243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1F29"/>
                </a:solidFill>
                <a:latin typeface="Calibri"/>
              </a:rPr>
              <a:t>May'26 132</a:t>
            </a:r>
            <a:endParaRPr lang="en-US" sz="800" dirty="0">
              <a:latin typeface="+mj-lt"/>
            </a:endParaRPr>
          </a:p>
        </p:txBody>
      </p:sp>
      <p:graphicFrame>
        <p:nvGraphicFramePr>
          <p:cNvPr id="172" name="Chart 3">
            <a:extLst>
              <a:ext uri="{FF2B5EF4-FFF2-40B4-BE49-F238E27FC236}">
                <a16:creationId xmlns:a16="http://schemas.microsoft.com/office/drawing/2014/main" id="{A04A165C-0A2C-703B-D787-4F0EA0143E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46062141"/>
              </p:ext>
            </p:extLst>
          </p:nvPr>
        </p:nvGraphicFramePr>
        <p:xfrm>
          <a:off x="176687" y="5845570"/>
          <a:ext cx="2239919" cy="14675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73" name="Text 23">
            <a:extLst>
              <a:ext uri="{FF2B5EF4-FFF2-40B4-BE49-F238E27FC236}">
                <a16:creationId xmlns:a16="http://schemas.microsoft.com/office/drawing/2014/main" id="{D7CD4F3F-DA69-AB5C-19FC-40054C6226BA}"/>
              </a:ext>
            </a:extLst>
          </p:cNvPr>
          <p:cNvSpPr/>
          <p:nvPr/>
        </p:nvSpPr>
        <p:spPr>
          <a:xfrm>
            <a:off x="2622149" y="5868171"/>
            <a:ext cx="541573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Sun Care</a:t>
            </a:r>
            <a:endParaRPr lang="en-US" sz="900" dirty="0">
              <a:latin typeface="+mj-lt"/>
            </a:endParaRPr>
          </a:p>
        </p:txBody>
      </p:sp>
      <p:sp>
        <p:nvSpPr>
          <p:cNvPr id="174" name="Text 24">
            <a:extLst>
              <a:ext uri="{FF2B5EF4-FFF2-40B4-BE49-F238E27FC236}">
                <a16:creationId xmlns:a16="http://schemas.microsoft.com/office/drawing/2014/main" id="{1D10C6E1-4BAF-BC01-C799-C47AB1F5027D}"/>
              </a:ext>
            </a:extLst>
          </p:cNvPr>
          <p:cNvSpPr/>
          <p:nvPr/>
        </p:nvSpPr>
        <p:spPr>
          <a:xfrm>
            <a:off x="3191647" y="5935615"/>
            <a:ext cx="447960" cy="205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GOLY </a:t>
            </a:r>
          </a:p>
          <a:p>
            <a:pPr marL="0" indent="0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▲440%</a:t>
            </a:r>
            <a:endParaRPr lang="en-US" sz="900" dirty="0">
              <a:latin typeface="+mj-lt"/>
            </a:endParaRPr>
          </a:p>
        </p:txBody>
      </p:sp>
      <p:sp>
        <p:nvSpPr>
          <p:cNvPr id="175" name="Text 25">
            <a:extLst>
              <a:ext uri="{FF2B5EF4-FFF2-40B4-BE49-F238E27FC236}">
                <a16:creationId xmlns:a16="http://schemas.microsoft.com/office/drawing/2014/main" id="{7646A250-EE9F-A6C6-49D3-68B6D3DFBFDE}"/>
              </a:ext>
            </a:extLst>
          </p:cNvPr>
          <p:cNvSpPr/>
          <p:nvPr/>
        </p:nvSpPr>
        <p:spPr>
          <a:xfrm>
            <a:off x="3673150" y="5898208"/>
            <a:ext cx="406179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37%</a:t>
            </a:r>
            <a:endParaRPr lang="en-US" sz="900" dirty="0">
              <a:latin typeface="+mj-lt"/>
            </a:endParaRPr>
          </a:p>
        </p:txBody>
      </p:sp>
      <p:sp>
        <p:nvSpPr>
          <p:cNvPr id="176" name="Text 26">
            <a:extLst>
              <a:ext uri="{FF2B5EF4-FFF2-40B4-BE49-F238E27FC236}">
                <a16:creationId xmlns:a16="http://schemas.microsoft.com/office/drawing/2014/main" id="{DB185B2C-DCD9-D290-C330-3A33EAC025C5}"/>
              </a:ext>
            </a:extLst>
          </p:cNvPr>
          <p:cNvSpPr/>
          <p:nvPr/>
        </p:nvSpPr>
        <p:spPr>
          <a:xfrm>
            <a:off x="4092264" y="5888238"/>
            <a:ext cx="511364" cy="243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May’26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92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7" name="Chart 4">
            <a:extLst>
              <a:ext uri="{FF2B5EF4-FFF2-40B4-BE49-F238E27FC236}">
                <a16:creationId xmlns:a16="http://schemas.microsoft.com/office/drawing/2014/main" id="{CBBF5C82-1DBC-BF6C-CAEA-410BB465C0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27147632"/>
              </p:ext>
            </p:extLst>
          </p:nvPr>
        </p:nvGraphicFramePr>
        <p:xfrm>
          <a:off x="2495147" y="5860056"/>
          <a:ext cx="2274232" cy="1482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78" name="Text 27">
            <a:extLst>
              <a:ext uri="{FF2B5EF4-FFF2-40B4-BE49-F238E27FC236}">
                <a16:creationId xmlns:a16="http://schemas.microsoft.com/office/drawing/2014/main" id="{038BADD0-EAC6-F8D6-7B12-BE177A9DAD4D}"/>
              </a:ext>
            </a:extLst>
          </p:cNvPr>
          <p:cNvSpPr/>
          <p:nvPr/>
        </p:nvSpPr>
        <p:spPr>
          <a:xfrm>
            <a:off x="5022359" y="5889642"/>
            <a:ext cx="566347" cy="228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Face </a:t>
            </a:r>
          </a:p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Serum</a:t>
            </a:r>
            <a:endParaRPr lang="en-US" sz="900" dirty="0">
              <a:latin typeface="+mj-lt"/>
            </a:endParaRPr>
          </a:p>
        </p:txBody>
      </p:sp>
      <p:sp>
        <p:nvSpPr>
          <p:cNvPr id="179" name="Text 28">
            <a:extLst>
              <a:ext uri="{FF2B5EF4-FFF2-40B4-BE49-F238E27FC236}">
                <a16:creationId xmlns:a16="http://schemas.microsoft.com/office/drawing/2014/main" id="{024D5F40-BAD0-9683-DBAB-2A9FEAA024FA}"/>
              </a:ext>
            </a:extLst>
          </p:cNvPr>
          <p:cNvSpPr/>
          <p:nvPr/>
        </p:nvSpPr>
        <p:spPr>
          <a:xfrm>
            <a:off x="5538385" y="5902135"/>
            <a:ext cx="439416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900" dirty="0">
                <a:solidFill>
                  <a:srgbClr val="008A3D"/>
                </a:solidFill>
                <a:latin typeface="Calibri"/>
              </a:rPr>
              <a:t>GOLY</a:t>
            </a:r>
          </a:p>
          <a:p>
            <a:pPr algn="ctr"/>
            <a:r>
              <a:rPr sz="900" dirty="0">
                <a:solidFill>
                  <a:srgbClr val="008A3D"/>
                </a:solidFill>
                <a:latin typeface="Calibri"/>
              </a:rPr>
              <a:t>▲ 108</a:t>
            </a:r>
            <a:r>
              <a:rPr sz="900" b="1" dirty="0">
                <a:solidFill>
                  <a:schemeClr val="accent6"/>
                </a:solidFill>
                <a:latin typeface="Calibri"/>
              </a:rPr>
              <a:t>%</a:t>
            </a:r>
            <a:endParaRPr lang="en-US" sz="900" dirty="0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180" name="Text 29">
            <a:extLst>
              <a:ext uri="{FF2B5EF4-FFF2-40B4-BE49-F238E27FC236}">
                <a16:creationId xmlns:a16="http://schemas.microsoft.com/office/drawing/2014/main" id="{631DEBF0-39A6-7D0F-BA14-F1B18161FDD2}"/>
              </a:ext>
            </a:extLst>
          </p:cNvPr>
          <p:cNvSpPr/>
          <p:nvPr/>
        </p:nvSpPr>
        <p:spPr>
          <a:xfrm>
            <a:off x="6181996" y="5921103"/>
            <a:ext cx="406179" cy="24949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00000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 dirty="0">
                <a:solidFill>
                  <a:srgbClr val="C00000"/>
                </a:solidFill>
                <a:latin typeface="Calibri"/>
              </a:rPr>
              <a:t>▼ 1%</a:t>
            </a:r>
            <a:endParaRPr lang="en-US" sz="9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81" name="Text 30">
            <a:extLst>
              <a:ext uri="{FF2B5EF4-FFF2-40B4-BE49-F238E27FC236}">
                <a16:creationId xmlns:a16="http://schemas.microsoft.com/office/drawing/2014/main" id="{F69669F6-2C5B-9CCF-FC00-E39EBA2DF5E4}"/>
              </a:ext>
            </a:extLst>
          </p:cNvPr>
          <p:cNvSpPr/>
          <p:nvPr/>
        </p:nvSpPr>
        <p:spPr>
          <a:xfrm>
            <a:off x="6568786" y="5910603"/>
            <a:ext cx="451311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May'26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16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82" name="Chart 5">
            <a:extLst>
              <a:ext uri="{FF2B5EF4-FFF2-40B4-BE49-F238E27FC236}">
                <a16:creationId xmlns:a16="http://schemas.microsoft.com/office/drawing/2014/main" id="{39E95149-09DC-244B-A1A2-AB5A022BF0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04314941"/>
              </p:ext>
            </p:extLst>
          </p:nvPr>
        </p:nvGraphicFramePr>
        <p:xfrm>
          <a:off x="4841314" y="5860591"/>
          <a:ext cx="2297900" cy="14819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91" name="Table 190">
            <a:extLst>
              <a:ext uri="{FF2B5EF4-FFF2-40B4-BE49-F238E27FC236}">
                <a16:creationId xmlns:a16="http://schemas.microsoft.com/office/drawing/2014/main" id="{01C4CE9C-7CF2-0375-6C71-4739F8695A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1217857"/>
              </p:ext>
            </p:extLst>
          </p:nvPr>
        </p:nvGraphicFramePr>
        <p:xfrm>
          <a:off x="212691" y="1934878"/>
          <a:ext cx="6937466" cy="1465101"/>
        </p:xfrm>
        <a:graphic>
          <a:graphicData uri="http://schemas.openxmlformats.org/drawingml/2006/table">
            <a:tbl>
              <a:tblPr firstRow="1" firstCol="1" bandRow="1"/>
              <a:tblGrid>
                <a:gridCol w="1281624">
                  <a:extLst>
                    <a:ext uri="{9D8B030D-6E8A-4147-A177-3AD203B41FA5}">
                      <a16:colId xmlns:a16="http://schemas.microsoft.com/office/drawing/2014/main" val="1720933068"/>
                    </a:ext>
                  </a:extLst>
                </a:gridCol>
                <a:gridCol w="712382">
                  <a:extLst>
                    <a:ext uri="{9D8B030D-6E8A-4147-A177-3AD203B41FA5}">
                      <a16:colId xmlns:a16="http://schemas.microsoft.com/office/drawing/2014/main" val="2630805108"/>
                    </a:ext>
                  </a:extLst>
                </a:gridCol>
                <a:gridCol w="701748">
                  <a:extLst>
                    <a:ext uri="{9D8B030D-6E8A-4147-A177-3AD203B41FA5}">
                      <a16:colId xmlns:a16="http://schemas.microsoft.com/office/drawing/2014/main" val="1295913063"/>
                    </a:ext>
                  </a:extLst>
                </a:gridCol>
                <a:gridCol w="661828">
                  <a:extLst>
                    <a:ext uri="{9D8B030D-6E8A-4147-A177-3AD203B41FA5}">
                      <a16:colId xmlns:a16="http://schemas.microsoft.com/office/drawing/2014/main" val="4130086957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3066276741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2870282349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1716647770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2912854798"/>
                    </a:ext>
                  </a:extLst>
                </a:gridCol>
              </a:tblGrid>
              <a:tr h="22449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Brand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May-25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Apr-26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May-26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 err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Cont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GO 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GOLY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355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Mamaearth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517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649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671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72%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586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13%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28%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9593741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The Derma Co.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33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181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243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26%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147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65%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635%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4782322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Aqualogica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12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14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19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12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59%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59%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7599869"/>
                  </a:ext>
                </a:extLst>
              </a:tr>
              <a:tr h="31015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Emerging Brands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0%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1020566"/>
                  </a:ext>
                </a:extLst>
              </a:tr>
            </a:tbl>
          </a:graphicData>
        </a:graphic>
      </p:graphicFrame>
      <p:graphicFrame>
        <p:nvGraphicFramePr>
          <p:cNvPr id="194" name="Table 193">
            <a:extLst>
              <a:ext uri="{FF2B5EF4-FFF2-40B4-BE49-F238E27FC236}">
                <a16:creationId xmlns:a16="http://schemas.microsoft.com/office/drawing/2014/main" id="{8A46149D-11DB-F40E-39B0-E59AE1376D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8710743"/>
              </p:ext>
            </p:extLst>
          </p:nvPr>
        </p:nvGraphicFramePr>
        <p:xfrm>
          <a:off x="212691" y="7863614"/>
          <a:ext cx="7010190" cy="1618160"/>
        </p:xfrm>
        <a:graphic>
          <a:graphicData uri="http://schemas.openxmlformats.org/drawingml/2006/table">
            <a:tbl>
              <a:tblPr firstRow="1" firstCol="1" bandRow="1"/>
              <a:tblGrid>
                <a:gridCol w="1701001">
                  <a:extLst>
                    <a:ext uri="{9D8B030D-6E8A-4147-A177-3AD203B41FA5}">
                      <a16:colId xmlns:a16="http://schemas.microsoft.com/office/drawing/2014/main" val="1999662838"/>
                    </a:ext>
                  </a:extLst>
                </a:gridCol>
                <a:gridCol w="773183">
                  <a:extLst>
                    <a:ext uri="{9D8B030D-6E8A-4147-A177-3AD203B41FA5}">
                      <a16:colId xmlns:a16="http://schemas.microsoft.com/office/drawing/2014/main" val="1604924111"/>
                    </a:ext>
                  </a:extLst>
                </a:gridCol>
                <a:gridCol w="721637">
                  <a:extLst>
                    <a:ext uri="{9D8B030D-6E8A-4147-A177-3AD203B41FA5}">
                      <a16:colId xmlns:a16="http://schemas.microsoft.com/office/drawing/2014/main" val="3900343723"/>
                    </a:ext>
                  </a:extLst>
                </a:gridCol>
                <a:gridCol w="773183">
                  <a:extLst>
                    <a:ext uri="{9D8B030D-6E8A-4147-A177-3AD203B41FA5}">
                      <a16:colId xmlns:a16="http://schemas.microsoft.com/office/drawing/2014/main" val="2453469686"/>
                    </a:ext>
                  </a:extLst>
                </a:gridCol>
                <a:gridCol w="773183">
                  <a:extLst>
                    <a:ext uri="{9D8B030D-6E8A-4147-A177-3AD203B41FA5}">
                      <a16:colId xmlns:a16="http://schemas.microsoft.com/office/drawing/2014/main" val="531817117"/>
                    </a:ext>
                  </a:extLst>
                </a:gridCol>
                <a:gridCol w="481091">
                  <a:extLst>
                    <a:ext uri="{9D8B030D-6E8A-4147-A177-3AD203B41FA5}">
                      <a16:colId xmlns:a16="http://schemas.microsoft.com/office/drawing/2014/main" val="1269342238"/>
                    </a:ext>
                  </a:extLst>
                </a:gridCol>
                <a:gridCol w="893456">
                  <a:extLst>
                    <a:ext uri="{9D8B030D-6E8A-4147-A177-3AD203B41FA5}">
                      <a16:colId xmlns:a16="http://schemas.microsoft.com/office/drawing/2014/main" val="1250320746"/>
                    </a:ext>
                  </a:extLst>
                </a:gridCol>
                <a:gridCol w="893456">
                  <a:extLst>
                    <a:ext uri="{9D8B030D-6E8A-4147-A177-3AD203B41FA5}">
                      <a16:colId xmlns:a16="http://schemas.microsoft.com/office/drawing/2014/main" val="2206225178"/>
                    </a:ext>
                  </a:extLst>
                </a:gridCol>
              </a:tblGrid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Chain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May-25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Apr-26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May-26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Cont</a:t>
                      </a:r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GO 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GOLY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2551122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Dmart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187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288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351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38%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257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37%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88%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039130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Reliance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243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293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337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36%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264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28%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39%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264776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Apollo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45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118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14%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104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19%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175%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328105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Sancus(Rmt)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41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58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46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43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8%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13%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495259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Lulu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32%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283%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0849718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Metro Cnc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2%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14%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7893452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Others Combined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33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57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42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50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C00000"/>
                          </a:solidFill>
                          <a:latin typeface="+mn-lt"/>
                        </a:rPr>
                        <a:t>▼ 16%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28%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3790100"/>
                  </a:ext>
                </a:extLst>
              </a:tr>
            </a:tbl>
          </a:graphicData>
        </a:graphic>
      </p:graphicFrame>
      <p:sp>
        <p:nvSpPr>
          <p:cNvPr id="195" name="Rectangle 81">
            <a:extLst>
              <a:ext uri="{FF2B5EF4-FFF2-40B4-BE49-F238E27FC236}">
                <a16:creationId xmlns:a16="http://schemas.microsoft.com/office/drawing/2014/main" id="{715F732A-615F-905D-E4D0-DF7C4264D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742"/>
            <a:ext cx="75628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ECF521A8-93A7-FE83-3ED0-DDCE5D39A6E0}"/>
              </a:ext>
            </a:extLst>
          </p:cNvPr>
          <p:cNvGrpSpPr>
            <a:grpSpLocks/>
          </p:cNvGrpSpPr>
          <p:nvPr/>
        </p:nvGrpSpPr>
        <p:grpSpPr>
          <a:xfrm>
            <a:off x="212691" y="9493854"/>
            <a:ext cx="6926523" cy="1129056"/>
            <a:chOff x="6350" y="3870"/>
            <a:chExt cx="6966733" cy="1907139"/>
          </a:xfrm>
        </p:grpSpPr>
        <p:sp>
          <p:nvSpPr>
            <p:cNvPr id="197" name="Graphic 278">
              <a:extLst>
                <a:ext uri="{FF2B5EF4-FFF2-40B4-BE49-F238E27FC236}">
                  <a16:creationId xmlns:a16="http://schemas.microsoft.com/office/drawing/2014/main" id="{09562CA0-9705-0A03-47F3-5D39BF8835E5}"/>
                </a:ext>
              </a:extLst>
            </p:cNvPr>
            <p:cNvSpPr/>
            <p:nvPr/>
          </p:nvSpPr>
          <p:spPr>
            <a:xfrm>
              <a:off x="22374" y="87905"/>
              <a:ext cx="6950709" cy="1823104"/>
            </a:xfrm>
            <a:custGeom>
              <a:avLst/>
              <a:gdLst/>
              <a:ahLst/>
              <a:cxnLst/>
              <a:rect l="l" t="t" r="r" b="b"/>
              <a:pathLst>
                <a:path w="6950709" h="2163445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2074415"/>
                  </a:lnTo>
                  <a:lnTo>
                    <a:pt x="6979" y="2109038"/>
                  </a:lnTo>
                  <a:lnTo>
                    <a:pt x="26021" y="2137294"/>
                  </a:lnTo>
                  <a:lnTo>
                    <a:pt x="54276" y="2156335"/>
                  </a:lnTo>
                  <a:lnTo>
                    <a:pt x="88900" y="2163315"/>
                  </a:lnTo>
                  <a:lnTo>
                    <a:pt x="6861500" y="2163315"/>
                  </a:lnTo>
                  <a:lnTo>
                    <a:pt x="6896123" y="2156335"/>
                  </a:lnTo>
                  <a:lnTo>
                    <a:pt x="6924379" y="2137294"/>
                  </a:lnTo>
                  <a:lnTo>
                    <a:pt x="6943420" y="2109038"/>
                  </a:lnTo>
                  <a:lnTo>
                    <a:pt x="6950400" y="2074415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EFFDF4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198" name="Graphic 280">
              <a:extLst>
                <a:ext uri="{FF2B5EF4-FFF2-40B4-BE49-F238E27FC236}">
                  <a16:creationId xmlns:a16="http://schemas.microsoft.com/office/drawing/2014/main" id="{306ADDBF-E20C-DE47-E920-E870C06A675E}"/>
                </a:ext>
              </a:extLst>
            </p:cNvPr>
            <p:cNvSpPr/>
            <p:nvPr/>
          </p:nvSpPr>
          <p:spPr>
            <a:xfrm>
              <a:off x="6350" y="6348"/>
              <a:ext cx="6950709" cy="351681"/>
            </a:xfrm>
            <a:custGeom>
              <a:avLst/>
              <a:gdLst/>
              <a:ahLst/>
              <a:cxnLst/>
              <a:rect l="l" t="t" r="r" b="b"/>
              <a:pathLst>
                <a:path w="6950709" h="241300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152399"/>
                  </a:lnTo>
                  <a:lnTo>
                    <a:pt x="6979" y="187023"/>
                  </a:lnTo>
                  <a:lnTo>
                    <a:pt x="26021" y="215278"/>
                  </a:lnTo>
                  <a:lnTo>
                    <a:pt x="54276" y="234320"/>
                  </a:lnTo>
                  <a:lnTo>
                    <a:pt x="88900" y="241299"/>
                  </a:lnTo>
                  <a:lnTo>
                    <a:pt x="6861500" y="241299"/>
                  </a:lnTo>
                  <a:lnTo>
                    <a:pt x="6896123" y="234320"/>
                  </a:lnTo>
                  <a:lnTo>
                    <a:pt x="6924379" y="215278"/>
                  </a:lnTo>
                  <a:lnTo>
                    <a:pt x="6943420" y="187023"/>
                  </a:lnTo>
                  <a:lnTo>
                    <a:pt x="6950400" y="152399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037756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199" name="Graphic 281">
              <a:extLst>
                <a:ext uri="{FF2B5EF4-FFF2-40B4-BE49-F238E27FC236}">
                  <a16:creationId xmlns:a16="http://schemas.microsoft.com/office/drawing/2014/main" id="{786D0DB1-927E-CDBA-AE82-7E1B1BB65AF0}"/>
                </a:ext>
              </a:extLst>
            </p:cNvPr>
            <p:cNvSpPr/>
            <p:nvPr/>
          </p:nvSpPr>
          <p:spPr>
            <a:xfrm>
              <a:off x="106892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0" name="Graphic 282">
              <a:extLst>
                <a:ext uri="{FF2B5EF4-FFF2-40B4-BE49-F238E27FC236}">
                  <a16:creationId xmlns:a16="http://schemas.microsoft.com/office/drawing/2014/main" id="{1EE2520B-B499-D8A6-9F61-FEDF24208690}"/>
                </a:ext>
              </a:extLst>
            </p:cNvPr>
            <p:cNvSpPr/>
            <p:nvPr/>
          </p:nvSpPr>
          <p:spPr>
            <a:xfrm>
              <a:off x="125480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1" name="Graphic 283">
              <a:extLst>
                <a:ext uri="{FF2B5EF4-FFF2-40B4-BE49-F238E27FC236}">
                  <a16:creationId xmlns:a16="http://schemas.microsoft.com/office/drawing/2014/main" id="{CC1D8F9B-ACDE-52DF-23D6-7FEDF2C5895A}"/>
                </a:ext>
              </a:extLst>
            </p:cNvPr>
            <p:cNvSpPr/>
            <p:nvPr/>
          </p:nvSpPr>
          <p:spPr>
            <a:xfrm>
              <a:off x="1826499" y="967806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2" name="Graphic 284">
              <a:extLst>
                <a:ext uri="{FF2B5EF4-FFF2-40B4-BE49-F238E27FC236}">
                  <a16:creationId xmlns:a16="http://schemas.microsoft.com/office/drawing/2014/main" id="{78E6F5B7-D8F6-E3DA-2211-639E0006CDFC}"/>
                </a:ext>
              </a:extLst>
            </p:cNvPr>
            <p:cNvSpPr/>
            <p:nvPr/>
          </p:nvSpPr>
          <p:spPr>
            <a:xfrm>
              <a:off x="1818628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3" name="Graphic 285">
              <a:extLst>
                <a:ext uri="{FF2B5EF4-FFF2-40B4-BE49-F238E27FC236}">
                  <a16:creationId xmlns:a16="http://schemas.microsoft.com/office/drawing/2014/main" id="{E2A44793-D301-9552-99EC-90EC13154CAA}"/>
                </a:ext>
              </a:extLst>
            </p:cNvPr>
            <p:cNvSpPr/>
            <p:nvPr/>
          </p:nvSpPr>
          <p:spPr>
            <a:xfrm>
              <a:off x="3502621" y="962316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4" name="Graphic 286">
              <a:extLst>
                <a:ext uri="{FF2B5EF4-FFF2-40B4-BE49-F238E27FC236}">
                  <a16:creationId xmlns:a16="http://schemas.microsoft.com/office/drawing/2014/main" id="{5C0F2A52-1C1D-D1A6-05EA-4ACCDB5127EF}"/>
                </a:ext>
              </a:extLst>
            </p:cNvPr>
            <p:cNvSpPr/>
            <p:nvPr/>
          </p:nvSpPr>
          <p:spPr>
            <a:xfrm>
              <a:off x="3502621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5" name="Graphic 287">
              <a:extLst>
                <a:ext uri="{FF2B5EF4-FFF2-40B4-BE49-F238E27FC236}">
                  <a16:creationId xmlns:a16="http://schemas.microsoft.com/office/drawing/2014/main" id="{97A32B53-FBD3-57B6-D1A2-97E533939E78}"/>
                </a:ext>
              </a:extLst>
            </p:cNvPr>
            <p:cNvSpPr/>
            <p:nvPr/>
          </p:nvSpPr>
          <p:spPr>
            <a:xfrm>
              <a:off x="5204929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6" name="Graphic 288">
              <a:extLst>
                <a:ext uri="{FF2B5EF4-FFF2-40B4-BE49-F238E27FC236}">
                  <a16:creationId xmlns:a16="http://schemas.microsoft.com/office/drawing/2014/main" id="{7A282D42-C8EF-02F8-6401-E33E4651DA3A}"/>
                </a:ext>
              </a:extLst>
            </p:cNvPr>
            <p:cNvSpPr/>
            <p:nvPr/>
          </p:nvSpPr>
          <p:spPr>
            <a:xfrm>
              <a:off x="5195537" y="978344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7" name="Textbox 289">
              <a:extLst>
                <a:ext uri="{FF2B5EF4-FFF2-40B4-BE49-F238E27FC236}">
                  <a16:creationId xmlns:a16="http://schemas.microsoft.com/office/drawing/2014/main" id="{00EDBC03-34CC-68A0-0A8A-3EDB1CF8594C}"/>
                </a:ext>
              </a:extLst>
            </p:cNvPr>
            <p:cNvSpPr txBox="1"/>
            <p:nvPr/>
          </p:nvSpPr>
          <p:spPr>
            <a:xfrm>
              <a:off x="133350" y="3870"/>
              <a:ext cx="6716677" cy="418793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KEY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200" b="1" spc="-10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HIGHLIGHTS</a:t>
              </a:r>
              <a:endParaRPr lang="en-IN" sz="20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08" name="Textbox 290">
              <a:extLst>
                <a:ext uri="{FF2B5EF4-FFF2-40B4-BE49-F238E27FC236}">
                  <a16:creationId xmlns:a16="http://schemas.microsoft.com/office/drawing/2014/main" id="{390ECE72-BE5D-D8E0-F6DB-459027B27CA3}"/>
                </a:ext>
              </a:extLst>
            </p:cNvPr>
            <p:cNvSpPr txBox="1"/>
            <p:nvPr/>
          </p:nvSpPr>
          <p:spPr>
            <a:xfrm>
              <a:off x="114800" y="422663"/>
              <a:ext cx="6735227" cy="4600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342900" lvl="0" indent="-342900">
                <a:lnSpc>
                  <a:spcPts val="860"/>
                </a:lnSpc>
                <a:buClr>
                  <a:srgbClr val="0F162A"/>
                </a:buClr>
                <a:buSzPts val="700"/>
                <a:buFont typeface="Arial MT"/>
                <a:buChar char="•"/>
                <a:tabLst>
                  <a:tab pos="57785" algn="l"/>
                </a:tabLst>
              </a:pPr>
              <a:r>
                <a:rPr sz="720" b="1">
                  <a:latin typeface="Calibri"/>
                </a:rPr>
                <a:t>Zone Record: North delivered its highest month at 934, ▲25% vs L3M and ▲65% vs May-25.</a:t>
              </a:r>
              <a:br/>
              <a:r>
                <a:rPr sz="720" b="1">
                  <a:latin typeface="Calibri"/>
                </a:rPr>
                <a:t>Chain Highlights: Dmart leads; Lulu is the fastest YoY chain.</a:t>
              </a:r>
              <a:endParaRPr lang="en-IN" sz="1400" spc="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09" name="Textbox 291">
              <a:extLst>
                <a:ext uri="{FF2B5EF4-FFF2-40B4-BE49-F238E27FC236}">
                  <a16:creationId xmlns:a16="http://schemas.microsoft.com/office/drawing/2014/main" id="{696AC7C6-3FED-0B1D-4CD4-FA589378E90D}"/>
                </a:ext>
              </a:extLst>
            </p:cNvPr>
            <p:cNvSpPr txBox="1"/>
            <p:nvPr/>
          </p:nvSpPr>
          <p:spPr>
            <a:xfrm>
              <a:off x="188979" y="1090664"/>
              <a:ext cx="478155" cy="31484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Lead</a:t>
              </a:r>
              <a:r>
                <a:rPr lang="en-US" sz="650" b="1" spc="-2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0" name="Textbox 292">
              <a:extLst>
                <a:ext uri="{FF2B5EF4-FFF2-40B4-BE49-F238E27FC236}">
                  <a16:creationId xmlns:a16="http://schemas.microsoft.com/office/drawing/2014/main" id="{D2CB78A9-052C-7918-9B59-3C05E6224543}"/>
                </a:ext>
              </a:extLst>
            </p:cNvPr>
            <p:cNvSpPr txBox="1"/>
            <p:nvPr/>
          </p:nvSpPr>
          <p:spPr>
            <a:xfrm>
              <a:off x="1882129" y="1090664"/>
              <a:ext cx="771525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Fastest</a:t>
              </a:r>
              <a:r>
                <a:rPr lang="en-US" sz="650" b="1" spc="-25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YoY</a:t>
              </a:r>
              <a:r>
                <a:rPr lang="en-US" sz="650" b="1" spc="-2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endParaRPr lang="en-IN" sz="110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1" name="Textbox 293">
              <a:extLst>
                <a:ext uri="{FF2B5EF4-FFF2-40B4-BE49-F238E27FC236}">
                  <a16:creationId xmlns:a16="http://schemas.microsoft.com/office/drawing/2014/main" id="{1002BC0E-27DD-532F-2DE7-BB1F581AC8FE}"/>
                </a:ext>
              </a:extLst>
            </p:cNvPr>
            <p:cNvSpPr txBox="1"/>
            <p:nvPr/>
          </p:nvSpPr>
          <p:spPr>
            <a:xfrm>
              <a:off x="3575278" y="1090664"/>
              <a:ext cx="824230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Record</a:t>
              </a:r>
              <a:r>
                <a:rPr lang="en-US" sz="650" b="1" spc="-25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r>
                <a:rPr lang="en-US" sz="650" b="1" spc="-25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Lines</a:t>
              </a:r>
              <a:endParaRPr lang="en-IN" sz="110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2" name="Textbox 294">
              <a:extLst>
                <a:ext uri="{FF2B5EF4-FFF2-40B4-BE49-F238E27FC236}">
                  <a16:creationId xmlns:a16="http://schemas.microsoft.com/office/drawing/2014/main" id="{1393482F-11D6-D6FE-2753-A47D0B48114B}"/>
                </a:ext>
              </a:extLst>
            </p:cNvPr>
            <p:cNvSpPr txBox="1"/>
            <p:nvPr/>
          </p:nvSpPr>
          <p:spPr>
            <a:xfrm>
              <a:off x="5268429" y="1090664"/>
              <a:ext cx="541020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Zone</a:t>
              </a:r>
              <a:r>
                <a:rPr lang="en-US" sz="650" b="1" spc="-2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Record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3" name="Textbox 295">
              <a:extLst>
                <a:ext uri="{FF2B5EF4-FFF2-40B4-BE49-F238E27FC236}">
                  <a16:creationId xmlns:a16="http://schemas.microsoft.com/office/drawing/2014/main" id="{9D505091-C1B3-4643-3757-11527DD029ED}"/>
                </a:ext>
              </a:extLst>
            </p:cNvPr>
            <p:cNvSpPr txBox="1"/>
            <p:nvPr/>
          </p:nvSpPr>
          <p:spPr>
            <a:xfrm>
              <a:off x="188707" y="1310255"/>
              <a:ext cx="580390" cy="9524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Dmart</a:t>
              </a:r>
              <a:r>
                <a:rPr lang="en-US" sz="650" b="1" spc="-3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-</a:t>
              </a:r>
              <a:r>
                <a:rPr lang="en-US" sz="650" b="1" spc="-3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2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351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4" name="Textbox 296">
              <a:extLst>
                <a:ext uri="{FF2B5EF4-FFF2-40B4-BE49-F238E27FC236}">
                  <a16:creationId xmlns:a16="http://schemas.microsoft.com/office/drawing/2014/main" id="{D4A13F3F-01DA-EED4-B30C-053A438475D3}"/>
                </a:ext>
              </a:extLst>
            </p:cNvPr>
            <p:cNvSpPr txBox="1"/>
            <p:nvPr/>
          </p:nvSpPr>
          <p:spPr>
            <a:xfrm>
              <a:off x="1871406" y="1299505"/>
              <a:ext cx="1137449" cy="299158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50"/>
                </a:lnSpc>
              </a:pPr>
              <a:r>
                <a:rPr sz="650" b="1">
                  <a:solidFill>
                    <a:srgbClr val="1A1F29"/>
                  </a:solidFill>
                  <a:latin typeface="+mj-lt"/>
                </a:rPr>
                <a:t>Lulu  - </a:t>
              </a:r>
              <a:r>
                <a:rPr sz="650" b="1">
                  <a:solidFill>
                    <a:srgbClr val="008A3D"/>
                  </a:solidFill>
                  <a:latin typeface="+mj-lt"/>
                </a:rPr>
                <a:t>▲ 283%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5" name="Textbox 297">
              <a:extLst>
                <a:ext uri="{FF2B5EF4-FFF2-40B4-BE49-F238E27FC236}">
                  <a16:creationId xmlns:a16="http://schemas.microsoft.com/office/drawing/2014/main" id="{823DC972-676F-BB3F-DF78-E528EBCA63EA}"/>
                </a:ext>
              </a:extLst>
            </p:cNvPr>
            <p:cNvSpPr txBox="1"/>
            <p:nvPr/>
          </p:nvSpPr>
          <p:spPr>
            <a:xfrm>
              <a:off x="3553098" y="1286316"/>
              <a:ext cx="1616615" cy="624691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Dmart, Reliance, Apollo,</a:t>
              </a:r>
              <a:r>
                <a:rPr lang="en-US" sz="650" b="1" spc="-40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6" name="Textbox 298">
              <a:extLst>
                <a:ext uri="{FF2B5EF4-FFF2-40B4-BE49-F238E27FC236}">
                  <a16:creationId xmlns:a16="http://schemas.microsoft.com/office/drawing/2014/main" id="{1109BA7C-796E-3D4D-65A2-95AB774BD170}"/>
                </a:ext>
              </a:extLst>
            </p:cNvPr>
            <p:cNvSpPr txBox="1"/>
            <p:nvPr/>
          </p:nvSpPr>
          <p:spPr>
            <a:xfrm>
              <a:off x="5268428" y="1310254"/>
              <a:ext cx="748609" cy="17609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May-26</a:t>
              </a:r>
              <a:r>
                <a:rPr lang="en-US" sz="650" b="1" spc="-30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30" dirty="0">
                  <a:solidFill>
                    <a:srgbClr val="1A1F29"/>
                  </a:solidFill>
                  <a:latin typeface="+mj-lt"/>
                  <a:ea typeface="Arial MT"/>
                  <a:cs typeface="Calibri"/>
                </a:rPr>
                <a:t>- </a:t>
              </a: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934</a:t>
              </a:r>
              <a:r>
                <a:rPr lang="en-US" sz="650" b="1" spc="-2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</p:grpSp>
      <p:sp>
        <p:nvSpPr>
          <p:cNvPr id="217" name="Rectangle 92">
            <a:extLst>
              <a:ext uri="{FF2B5EF4-FFF2-40B4-BE49-F238E27FC236}">
                <a16:creationId xmlns:a16="http://schemas.microsoft.com/office/drawing/2014/main" id="{4048E4C8-777E-5962-6F2D-EE7CEED0D22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0" y="112827"/>
            <a:ext cx="756285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6CDFCB9D-D279-7BE1-F23A-91374801A1BD}"/>
              </a:ext>
            </a:extLst>
          </p:cNvPr>
          <p:cNvSpPr txBox="1"/>
          <p:nvPr/>
        </p:nvSpPr>
        <p:spPr>
          <a:xfrm>
            <a:off x="212691" y="7401047"/>
            <a:ext cx="6926523" cy="361574"/>
          </a:xfrm>
          <a:prstGeom prst="rect">
            <a:avLst/>
          </a:prstGeom>
          <a:solidFill>
            <a:srgbClr val="2D9B7F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lang="en-US" sz="1600" b="1" dirty="0">
                <a:solidFill>
                  <a:srgbClr val="FFFFFF"/>
                </a:solidFill>
                <a:latin typeface="Calibri"/>
              </a:rPr>
              <a:t>North Chain Summary</a:t>
            </a:r>
            <a:endParaRPr lang="en-IN" sz="1600" b="1" dirty="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2" name="Picture 2" descr="A white and orange tube with white text  AI-generated content may be incorrect.">
            <a:extLst>
              <a:ext uri="{FF2B5EF4-FFF2-40B4-BE49-F238E27FC236}">
                <a16:creationId xmlns:a16="http://schemas.microsoft.com/office/drawing/2014/main" id="{CC605FCE-57BA-7B47-6E90-8EBD86A166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48" r="23559"/>
          <a:stretch/>
        </p:blipFill>
        <p:spPr bwMode="auto">
          <a:xfrm>
            <a:off x="2622730" y="6150053"/>
            <a:ext cx="212290" cy="408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BA730C5E-E798-81D5-75C0-4C35B3757A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901" y="6165990"/>
            <a:ext cx="210106" cy="445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bottle of rice face wash  Description automatically generated">
            <a:extLst>
              <a:ext uri="{FF2B5EF4-FFF2-40B4-BE49-F238E27FC236}">
                <a16:creationId xmlns:a16="http://schemas.microsoft.com/office/drawing/2014/main" id="{646B54BB-96BF-7217-5F2F-E4051086704F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27809" t="6059" r="29332" b="4208"/>
          <a:stretch/>
        </p:blipFill>
        <p:spPr>
          <a:xfrm>
            <a:off x="362229" y="4058927"/>
            <a:ext cx="160778" cy="331576"/>
          </a:xfrm>
          <a:prstGeom prst="rect">
            <a:avLst/>
          </a:prstGeom>
        </p:spPr>
      </p:pic>
      <p:pic>
        <p:nvPicPr>
          <p:cNvPr id="5" name="Picture 4" descr="A yellow bottle of sunscreen  Description automatically generated">
            <a:extLst>
              <a:ext uri="{FF2B5EF4-FFF2-40B4-BE49-F238E27FC236}">
                <a16:creationId xmlns:a16="http://schemas.microsoft.com/office/drawing/2014/main" id="{C57FB264-BADA-5D6D-D810-BA4B7ED19ACC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32069" t="9042" r="31762" b="9272"/>
          <a:stretch/>
        </p:blipFill>
        <p:spPr>
          <a:xfrm>
            <a:off x="5090937" y="4049439"/>
            <a:ext cx="196303" cy="443346"/>
          </a:xfrm>
          <a:prstGeom prst="rect">
            <a:avLst/>
          </a:prstGeom>
        </p:spPr>
      </p:pic>
      <p:pic>
        <p:nvPicPr>
          <p:cNvPr id="6" name="Google Shape;1518;p235" descr="A purple bottle with a dropper next to a box  AI-generated content may be incorrect.">
            <a:extLst>
              <a:ext uri="{FF2B5EF4-FFF2-40B4-BE49-F238E27FC236}">
                <a16:creationId xmlns:a16="http://schemas.microsoft.com/office/drawing/2014/main" id="{7A701BDC-8A3B-26A0-68C1-222B6656CC57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089134" y="6182848"/>
            <a:ext cx="216398" cy="298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396;p227" descr="A white bottle with a label on it  Description automatically generated">
            <a:extLst>
              <a:ext uri="{FF2B5EF4-FFF2-40B4-BE49-F238E27FC236}">
                <a16:creationId xmlns:a16="http://schemas.microsoft.com/office/drawing/2014/main" id="{08F50D39-E171-3A04-74AD-B08856573942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 l="19608" b="483"/>
          <a:stretch/>
        </p:blipFill>
        <p:spPr>
          <a:xfrm>
            <a:off x="2676897" y="4023931"/>
            <a:ext cx="178723" cy="412609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PageNum"/>
          <p:cNvSpPr txBox="1"/>
          <p:nvPr/>
        </p:nvSpPr>
        <p:spPr>
          <a:xfrm>
            <a:off x="6282690" y="10414318"/>
            <a:ext cx="856524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9 / 21</a:t>
            </a:r>
          </a:p>
        </p:txBody>
      </p:sp>
      <p:sp>
        <p:nvSpPr>
          <p:cNvPr id="2" name="Text 0"/>
          <p:cNvSpPr/>
          <p:nvPr/>
        </p:nvSpPr>
        <p:spPr>
          <a:xfrm>
            <a:off x="-17844" y="-14471"/>
            <a:ext cx="7580694" cy="454996"/>
          </a:xfrm>
          <a:prstGeom prst="rect">
            <a:avLst/>
          </a:prstGeom>
          <a:solidFill>
            <a:srgbClr val="2D9B7F"/>
          </a:solidFill>
          <a:ln/>
        </p:spPr>
        <p:txBody>
          <a:bodyPr wrap="square" lIns="0" tIns="0" rIns="0" bIns="0" rtlCol="0" anchor="t"/>
          <a:lstStyle/>
          <a:p>
            <a:pPr algn="ctr"/>
            <a:r>
              <a:rPr lang="en-US" sz="24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OFFTAKE PERFORMANCE REPORT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-17844" y="417740"/>
            <a:ext cx="7580694" cy="3077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5A85"/>
                </a:solidFill>
                <a:latin typeface="Calibri"/>
              </a:rPr>
              <a:t>EAST ZONE DEEP DIVE — MAY'26</a:t>
            </a:r>
            <a:endParaRPr lang="en-US" sz="16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786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1B051920-9B91-BB7D-0B2E-EB0664244C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4135073"/>
              </p:ext>
            </p:extLst>
          </p:nvPr>
        </p:nvGraphicFramePr>
        <p:xfrm>
          <a:off x="212691" y="82627"/>
          <a:ext cx="7015882" cy="254257"/>
        </p:xfrm>
        <a:graphic>
          <a:graphicData uri="http://schemas.openxmlformats.org/drawingml/2006/table">
            <a:tbl>
              <a:tblPr firstRow="1" firstCol="1" bandRow="1"/>
              <a:tblGrid>
                <a:gridCol w="7015882">
                  <a:extLst>
                    <a:ext uri="{9D8B030D-6E8A-4147-A177-3AD203B41FA5}">
                      <a16:colId xmlns:a16="http://schemas.microsoft.com/office/drawing/2014/main" val="2201429027"/>
                    </a:ext>
                  </a:extLst>
                </a:gridCol>
              </a:tblGrid>
              <a:tr h="2542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SOUTH-1 ZONE PERFORMANCE</a:t>
                      </a:r>
                      <a:endParaRPr lang="en-IN" sz="8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30" marR="6583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016972"/>
                  </a:ext>
                </a:extLst>
              </a:tr>
            </a:tbl>
          </a:graphicData>
        </a:graphic>
      </p:graphicFrame>
      <p:grpSp>
        <p:nvGrpSpPr>
          <p:cNvPr id="59" name="Group 58">
            <a:extLst>
              <a:ext uri="{FF2B5EF4-FFF2-40B4-BE49-F238E27FC236}">
                <a16:creationId xmlns:a16="http://schemas.microsoft.com/office/drawing/2014/main" id="{DD68EAEE-F80C-F3EC-109E-BA117E71D016}"/>
              </a:ext>
            </a:extLst>
          </p:cNvPr>
          <p:cNvGrpSpPr>
            <a:grpSpLocks/>
          </p:cNvGrpSpPr>
          <p:nvPr/>
        </p:nvGrpSpPr>
        <p:grpSpPr>
          <a:xfrm>
            <a:off x="212691" y="410876"/>
            <a:ext cx="1600200" cy="469900"/>
            <a:chOff x="0" y="0"/>
            <a:chExt cx="1600200" cy="469900"/>
          </a:xfrm>
        </p:grpSpPr>
        <p:sp>
          <p:nvSpPr>
            <p:cNvPr id="60" name="Graphic 251">
              <a:extLst>
                <a:ext uri="{FF2B5EF4-FFF2-40B4-BE49-F238E27FC236}">
                  <a16:creationId xmlns:a16="http://schemas.microsoft.com/office/drawing/2014/main" id="{AE04FE27-F37C-FB01-7FB2-B2D33688B0BC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1" name="Graphic 252">
              <a:extLst>
                <a:ext uri="{FF2B5EF4-FFF2-40B4-BE49-F238E27FC236}">
                  <a16:creationId xmlns:a16="http://schemas.microsoft.com/office/drawing/2014/main" id="{87A3E814-7336-FA22-3836-09A27F3A3FA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2" name="Textbox 253">
              <a:extLst>
                <a:ext uri="{FF2B5EF4-FFF2-40B4-BE49-F238E27FC236}">
                  <a16:creationId xmlns:a16="http://schemas.microsoft.com/office/drawing/2014/main" id="{327D0D1E-52B7-0544-69AC-D27F67860192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May-26 Sales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894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6CF0896D-3C02-C329-D4D8-571E7F485B4D}"/>
              </a:ext>
            </a:extLst>
          </p:cNvPr>
          <p:cNvGrpSpPr>
            <a:grpSpLocks/>
          </p:cNvGrpSpPr>
          <p:nvPr/>
        </p:nvGrpSpPr>
        <p:grpSpPr>
          <a:xfrm>
            <a:off x="1988068" y="410876"/>
            <a:ext cx="1600200" cy="469900"/>
            <a:chOff x="0" y="0"/>
            <a:chExt cx="1600200" cy="469900"/>
          </a:xfrm>
        </p:grpSpPr>
        <p:sp>
          <p:nvSpPr>
            <p:cNvPr id="64" name="Graphic 255">
              <a:extLst>
                <a:ext uri="{FF2B5EF4-FFF2-40B4-BE49-F238E27FC236}">
                  <a16:creationId xmlns:a16="http://schemas.microsoft.com/office/drawing/2014/main" id="{F5CE3C7F-BAA9-CD25-1598-3A30E0D6A453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5" name="Graphic 256">
              <a:extLst>
                <a:ext uri="{FF2B5EF4-FFF2-40B4-BE49-F238E27FC236}">
                  <a16:creationId xmlns:a16="http://schemas.microsoft.com/office/drawing/2014/main" id="{35D43F11-7FFC-3438-380C-33F69E72795A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6" name="Textbox 257">
              <a:extLst>
                <a:ext uri="{FF2B5EF4-FFF2-40B4-BE49-F238E27FC236}">
                  <a16:creationId xmlns:a16="http://schemas.microsoft.com/office/drawing/2014/main" id="{20C7EE75-3B4F-E74E-A5C0-CFE2D5A3D1CF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Zone Share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22.3%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A702DE7B-B820-9D9B-3797-7468D7DD4ECA}"/>
              </a:ext>
            </a:extLst>
          </p:cNvPr>
          <p:cNvGrpSpPr>
            <a:grpSpLocks/>
          </p:cNvGrpSpPr>
          <p:nvPr/>
        </p:nvGrpSpPr>
        <p:grpSpPr>
          <a:xfrm>
            <a:off x="3763445" y="409266"/>
            <a:ext cx="1600200" cy="469900"/>
            <a:chOff x="0" y="0"/>
            <a:chExt cx="1600200" cy="469900"/>
          </a:xfrm>
        </p:grpSpPr>
        <p:sp>
          <p:nvSpPr>
            <p:cNvPr id="68" name="Graphic 259">
              <a:extLst>
                <a:ext uri="{FF2B5EF4-FFF2-40B4-BE49-F238E27FC236}">
                  <a16:creationId xmlns:a16="http://schemas.microsoft.com/office/drawing/2014/main" id="{4F59F74E-A9A3-A03B-6DF6-E1FC6CF5DCC4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9" name="Graphic 260">
              <a:extLst>
                <a:ext uri="{FF2B5EF4-FFF2-40B4-BE49-F238E27FC236}">
                  <a16:creationId xmlns:a16="http://schemas.microsoft.com/office/drawing/2014/main" id="{21D51929-BD0B-81C1-A744-1E863136F4F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0" name="Textbox 261">
              <a:extLst>
                <a:ext uri="{FF2B5EF4-FFF2-40B4-BE49-F238E27FC236}">
                  <a16:creationId xmlns:a16="http://schemas.microsoft.com/office/drawing/2014/main" id="{42FA30A0-A741-6043-88F2-1A90ADD27414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L3M Avg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674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F27C9CD-9B21-5E34-0C32-1AB5F84F55FD}"/>
              </a:ext>
            </a:extLst>
          </p:cNvPr>
          <p:cNvGrpSpPr>
            <a:grpSpLocks/>
          </p:cNvGrpSpPr>
          <p:nvPr/>
        </p:nvGrpSpPr>
        <p:grpSpPr>
          <a:xfrm>
            <a:off x="5539014" y="410910"/>
            <a:ext cx="1600200" cy="469900"/>
            <a:chOff x="0" y="0"/>
            <a:chExt cx="1600200" cy="469900"/>
          </a:xfrm>
        </p:grpSpPr>
        <p:sp>
          <p:nvSpPr>
            <p:cNvPr id="72" name="Graphic 263">
              <a:extLst>
                <a:ext uri="{FF2B5EF4-FFF2-40B4-BE49-F238E27FC236}">
                  <a16:creationId xmlns:a16="http://schemas.microsoft.com/office/drawing/2014/main" id="{4E793049-DA48-496E-F528-84304A3FB08F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3" name="Graphic 264">
              <a:extLst>
                <a:ext uri="{FF2B5EF4-FFF2-40B4-BE49-F238E27FC236}">
                  <a16:creationId xmlns:a16="http://schemas.microsoft.com/office/drawing/2014/main" id="{29227A2B-0582-AE0C-E8D7-1C924EB8D8CE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4" name="Textbox 265">
              <a:extLst>
                <a:ext uri="{FF2B5EF4-FFF2-40B4-BE49-F238E27FC236}">
                  <a16:creationId xmlns:a16="http://schemas.microsoft.com/office/drawing/2014/main" id="{50672AAD-CBB1-4DA3-E51B-B8B2B09130C0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GOLY May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algn="ctr">
                <a:spcBef>
                  <a:spcPts val="55"/>
                </a:spcBef>
                <a:spcAft>
                  <a:spcPts val="0"/>
                </a:spcAft>
              </a:pPr>
              <a:r>
                <a:rPr sz="1600" b="1">
                  <a:solidFill>
                    <a:srgbClr val="008A3D"/>
                  </a:solidFill>
                  <a:latin typeface="+mj-lt"/>
                </a:rPr>
                <a:t>▲ 84%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sp>
        <p:nvSpPr>
          <p:cNvPr id="75" name="Rectangle 48">
            <a:extLst>
              <a:ext uri="{FF2B5EF4-FFF2-40B4-BE49-F238E27FC236}">
                <a16:creationId xmlns:a16="http://schemas.microsoft.com/office/drawing/2014/main" id="{D24FAE0C-145A-C9D7-74A8-D196DE7A8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875" y="42771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 sz="240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76" name="Rectangle 50">
            <a:extLst>
              <a:ext uri="{FF2B5EF4-FFF2-40B4-BE49-F238E27FC236}">
                <a16:creationId xmlns:a16="http://schemas.microsoft.com/office/drawing/2014/main" id="{58CE6004-1D26-F9E4-E2B8-A5EF89D499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5442770"/>
            <a:ext cx="692652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7" name="Rectangle 52">
            <a:extLst>
              <a:ext uri="{FF2B5EF4-FFF2-40B4-BE49-F238E27FC236}">
                <a16:creationId xmlns:a16="http://schemas.microsoft.com/office/drawing/2014/main" id="{6D038E4A-1677-969E-C704-197AFECF0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5912670"/>
            <a:ext cx="692652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8" name="Rectangle 54">
            <a:extLst>
              <a:ext uri="{FF2B5EF4-FFF2-40B4-BE49-F238E27FC236}">
                <a16:creationId xmlns:a16="http://schemas.microsoft.com/office/drawing/2014/main" id="{BE172A64-5EBD-FF10-7C9B-66C88926A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7372064"/>
            <a:ext cx="6926523" cy="40011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9" name="Rectangle 56">
            <a:extLst>
              <a:ext uri="{FF2B5EF4-FFF2-40B4-BE49-F238E27FC236}">
                <a16:creationId xmlns:a16="http://schemas.microsoft.com/office/drawing/2014/main" id="{E97D74F4-3FCA-35BE-70C0-931264144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6867859"/>
            <a:ext cx="692652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sp>
        <p:nvSpPr>
          <p:cNvPr id="80" name="Textbox 268">
            <a:extLst>
              <a:ext uri="{FF2B5EF4-FFF2-40B4-BE49-F238E27FC236}">
                <a16:creationId xmlns:a16="http://schemas.microsoft.com/office/drawing/2014/main" id="{1A2636FF-FA83-BDD9-A967-753B47792769}"/>
              </a:ext>
            </a:extLst>
          </p:cNvPr>
          <p:cNvSpPr txBox="1"/>
          <p:nvPr/>
        </p:nvSpPr>
        <p:spPr>
          <a:xfrm>
            <a:off x="212691" y="988226"/>
            <a:ext cx="6926523" cy="8486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lIns="0" tIns="0" rIns="0" bIns="0" rtlCol="0" anchor="t">
            <a:noAutofit/>
          </a:bodyPr>
          <a:lstStyle/>
          <a:p>
            <a:pPr marL="127000">
              <a:spcBef>
                <a:spcPts val="600"/>
              </a:spcBef>
              <a:spcAft>
                <a:spcPts val="0"/>
              </a:spcAft>
            </a:pPr>
            <a:r>
              <a:rPr lang="en-US" sz="1100" b="1" dirty="0">
                <a:effectLst/>
                <a:latin typeface="Calibri"/>
                <a:ea typeface="Arial MT"/>
                <a:cs typeface="Calibri"/>
              </a:rPr>
              <a:t>Key Performance </a:t>
            </a:r>
            <a:r>
              <a:rPr lang="en-US" sz="1100" b="1" spc="-10" dirty="0">
                <a:effectLst/>
                <a:latin typeface="Calibri"/>
                <a:ea typeface="Arial MT"/>
                <a:cs typeface="Calibri"/>
              </a:rPr>
              <a:t>Highlights</a:t>
            </a:r>
            <a:endParaRPr lang="en-IN" dirty="0">
              <a:effectLst/>
              <a:latin typeface="+mj-lt"/>
              <a:ea typeface="Arial MT"/>
              <a:cs typeface="Calibri"/>
            </a:endParaRPr>
          </a:p>
          <a:p>
            <a:pPr>
              <a:spcBef>
                <a:spcPts val="105"/>
              </a:spcBef>
            </a:pPr>
            <a:r>
              <a:rPr lang="en-US" sz="1100" b="1" dirty="0">
                <a:effectLst/>
                <a:latin typeface="Calibri"/>
                <a:ea typeface="Arial MT"/>
                <a:cs typeface="Calibri"/>
              </a:rPr>
              <a:t> </a:t>
            </a:r>
            <a:endParaRPr lang="en-IN" dirty="0">
              <a:effectLst/>
              <a:latin typeface="+mj-lt"/>
              <a:ea typeface="Arial MT"/>
              <a:cs typeface="Calibri"/>
            </a:endParaRPr>
          </a:p>
          <a:p>
            <a:pPr marL="184150" indent="-57150">
              <a:tabLst>
                <a:tab pos="184150" algn="l"/>
              </a:tabLst>
            </a:pPr>
            <a:r>
              <a:rPr lang="en-US" sz="1050" b="1" dirty="0">
                <a:effectLst/>
                <a:latin typeface="Calibri"/>
                <a:ea typeface="Arial MT"/>
                <a:cs typeface="Calibri"/>
              </a:rPr>
              <a:t>Zone</a:t>
            </a:r>
            <a:r>
              <a:rPr lang="en-US" sz="1050" b="1" spc="40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1050" b="1" dirty="0">
                <a:effectLst/>
                <a:latin typeface="Calibri"/>
                <a:ea typeface="Arial MT"/>
                <a:cs typeface="Calibri"/>
              </a:rPr>
              <a:t>Record:</a:t>
            </a:r>
            <a:r>
              <a:rPr lang="en-US" sz="1050" b="1" spc="40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1050" dirty="0">
                <a:effectLst/>
                <a:latin typeface="Calibri"/>
                <a:ea typeface="Arial MT"/>
                <a:cs typeface="Calibri"/>
              </a:rPr>
              <a:t>May-26</a:t>
            </a:r>
            <a:r>
              <a:rPr lang="en-US" sz="1050" spc="40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1050" dirty="0">
                <a:effectLst/>
                <a:latin typeface="Calibri"/>
                <a:ea typeface="Arial MT"/>
                <a:cs typeface="Calibri"/>
              </a:rPr>
              <a:t>delivered</a:t>
            </a:r>
            <a:r>
              <a:rPr lang="en-US" sz="1050" spc="40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1050" dirty="0">
                <a:effectLst/>
                <a:latin typeface="Calibri"/>
                <a:ea typeface="Arial MT"/>
                <a:cs typeface="Calibri"/>
              </a:rPr>
              <a:t>the</a:t>
            </a:r>
            <a:r>
              <a:rPr lang="en-US" sz="1050" spc="45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1050" b="1" dirty="0">
                <a:effectLst/>
                <a:latin typeface="Calibri"/>
                <a:ea typeface="Arial MT"/>
                <a:cs typeface="Calibri"/>
              </a:rPr>
              <a:t>highest</a:t>
            </a:r>
            <a:r>
              <a:rPr lang="en-US" sz="1050" b="1" spc="40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1050" b="1" dirty="0">
                <a:effectLst/>
                <a:latin typeface="Calibri"/>
                <a:ea typeface="Arial MT"/>
                <a:cs typeface="Calibri"/>
              </a:rPr>
              <a:t>month</a:t>
            </a:r>
            <a:r>
              <a:rPr lang="en-US" sz="1050" b="1" spc="40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1050" dirty="0">
                <a:effectLst/>
                <a:latin typeface="Calibri"/>
                <a:ea typeface="Arial MT"/>
                <a:cs typeface="Calibri"/>
              </a:rPr>
              <a:t>for</a:t>
            </a:r>
            <a:r>
              <a:rPr lang="en-US" sz="1050" spc="40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1050" dirty="0">
                <a:effectLst/>
                <a:latin typeface="Calibri"/>
                <a:ea typeface="Arial MT"/>
                <a:cs typeface="Calibri"/>
              </a:rPr>
              <a:t>South-1</a:t>
            </a:r>
            <a:r>
              <a:rPr lang="en-US" sz="1050" spc="45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1050" dirty="0">
                <a:effectLst/>
                <a:latin typeface="Calibri"/>
                <a:ea typeface="Arial MT"/>
                <a:cs typeface="Calibri"/>
              </a:rPr>
              <a:t>at</a:t>
            </a:r>
            <a:r>
              <a:rPr lang="en-US" sz="1050" spc="40" dirty="0">
                <a:solidFill>
                  <a:srgbClr val="1A1F29"/>
                </a:solidFill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1050" b="1" dirty="0">
                <a:solidFill>
                  <a:srgbClr val="0F756E"/>
                </a:solidFill>
                <a:effectLst/>
                <a:latin typeface="Calibri"/>
                <a:ea typeface="Arial MT"/>
                <a:cs typeface="Calibri"/>
              </a:rPr>
              <a:t>894</a:t>
            </a:r>
            <a:r>
              <a:rPr lang="en-US" sz="1050" dirty="0">
                <a:effectLst/>
                <a:latin typeface="Calibri"/>
                <a:ea typeface="Arial MT"/>
                <a:cs typeface="Calibri"/>
              </a:rPr>
              <a:t>,</a:t>
            </a:r>
            <a:r>
              <a:rPr lang="en-US" sz="1050" spc="40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1050" dirty="0">
                <a:effectLst/>
                <a:latin typeface="Calibri"/>
                <a:ea typeface="Arial MT"/>
                <a:cs typeface="Calibri"/>
              </a:rPr>
              <a:t>contributing</a:t>
            </a:r>
            <a:r>
              <a:rPr lang="en-US" sz="1050" spc="40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1050" b="1" dirty="0">
                <a:effectLst/>
                <a:latin typeface="Calibri"/>
                <a:ea typeface="Arial MT"/>
                <a:cs typeface="Calibri"/>
              </a:rPr>
              <a:t>22.3%</a:t>
            </a:r>
            <a:r>
              <a:rPr lang="en-US" sz="1050" b="1" spc="45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1050" dirty="0">
                <a:effectLst/>
                <a:latin typeface="Calibri"/>
                <a:ea typeface="Arial MT"/>
                <a:cs typeface="Calibri"/>
              </a:rPr>
              <a:t>to</a:t>
            </a:r>
            <a:r>
              <a:rPr lang="en-US" sz="1050" spc="40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1050" dirty="0">
                <a:effectLst/>
                <a:latin typeface="Calibri"/>
                <a:ea typeface="Arial MT"/>
                <a:cs typeface="Calibri"/>
              </a:rPr>
              <a:t>total</a:t>
            </a:r>
            <a:r>
              <a:rPr lang="en-US" sz="1050" spc="40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1050" dirty="0">
                <a:effectLst/>
                <a:latin typeface="Calibri"/>
                <a:ea typeface="Arial MT"/>
                <a:cs typeface="Calibri"/>
              </a:rPr>
              <a:t>channel</a:t>
            </a:r>
            <a:r>
              <a:rPr lang="en-US" sz="1050" spc="40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1050" spc="-10" dirty="0">
                <a:effectLst/>
                <a:latin typeface="Calibri"/>
                <a:ea typeface="Arial MT"/>
                <a:cs typeface="Calibri"/>
              </a:rPr>
              <a:t>sales.</a:t>
            </a:r>
            <a:endParaRPr lang="en-IN" dirty="0">
              <a:effectLst/>
              <a:latin typeface="+mj-lt"/>
              <a:ea typeface="Arial MT"/>
              <a:cs typeface="Calibri"/>
            </a:endParaRPr>
          </a:p>
          <a:p>
            <a:pPr marL="184150" indent="-57150">
              <a:spcBef>
                <a:spcPts val="55"/>
              </a:spcBef>
              <a:spcAft>
                <a:spcPts val="0"/>
              </a:spcAft>
              <a:tabLst>
                <a:tab pos="184150" algn="l"/>
              </a:tabLst>
            </a:pPr>
            <a:r>
              <a:rPr sz="1050" b="1" dirty="0">
                <a:latin typeface="Calibri"/>
              </a:rPr>
              <a:t>Growth View: May-26 performance was</a:t>
            </a:r>
            <a:r>
              <a:rPr sz="1050" b="1" dirty="0">
                <a:solidFill>
                  <a:srgbClr val="1C4DD8"/>
                </a:solidFill>
                <a:latin typeface="Calibri"/>
              </a:rPr>
              <a:t> </a:t>
            </a:r>
            <a:r>
              <a:rPr sz="1050" b="1" dirty="0">
                <a:solidFill>
                  <a:srgbClr val="008A3D"/>
                </a:solidFill>
                <a:latin typeface="Calibri"/>
              </a:rPr>
              <a:t>▲ 33%</a:t>
            </a:r>
            <a:r>
              <a:rPr sz="1050" b="1" dirty="0">
                <a:solidFill>
                  <a:srgbClr val="1C4DD8"/>
                </a:solidFill>
                <a:latin typeface="Calibri"/>
              </a:rPr>
              <a:t> </a:t>
            </a:r>
            <a:r>
              <a:rPr sz="1050" b="1" dirty="0">
                <a:latin typeface="Calibri"/>
              </a:rPr>
              <a:t>vs L3M and </a:t>
            </a:r>
            <a:r>
              <a:rPr sz="1050" b="1" dirty="0">
                <a:solidFill>
                  <a:srgbClr val="008A3D"/>
                </a:solidFill>
                <a:latin typeface="Calibri"/>
              </a:rPr>
              <a:t>▲ 84%</a:t>
            </a:r>
            <a:r>
              <a:rPr sz="1050" b="1" dirty="0">
                <a:solidFill>
                  <a:srgbClr val="1C4DD8"/>
                </a:solidFill>
                <a:latin typeface="Calibri"/>
              </a:rPr>
              <a:t> </a:t>
            </a:r>
            <a:r>
              <a:rPr sz="1050" b="1" dirty="0">
                <a:latin typeface="Calibri"/>
              </a:rPr>
              <a:t>vs May-25, confirming Consistent strong month momentum.</a:t>
            </a:r>
            <a:endParaRPr lang="en-IN" sz="1400" dirty="0">
              <a:effectLst/>
              <a:latin typeface="+mj-lt"/>
              <a:ea typeface="Arial MT"/>
              <a:cs typeface="Calibri"/>
            </a:endParaRPr>
          </a:p>
        </p:txBody>
      </p:sp>
      <p:sp>
        <p:nvSpPr>
          <p:cNvPr id="149" name="Shape 3">
            <a:extLst>
              <a:ext uri="{FF2B5EF4-FFF2-40B4-BE49-F238E27FC236}">
                <a16:creationId xmlns:a16="http://schemas.microsoft.com/office/drawing/2014/main" id="{E2B15EBD-7C86-86AC-FD83-3C817A35F1E5}"/>
              </a:ext>
            </a:extLst>
          </p:cNvPr>
          <p:cNvSpPr/>
          <p:nvPr/>
        </p:nvSpPr>
        <p:spPr>
          <a:xfrm>
            <a:off x="212691" y="3473924"/>
            <a:ext cx="6926523" cy="256032"/>
          </a:xfrm>
          <a:prstGeom prst="rect">
            <a:avLst/>
          </a:prstGeom>
          <a:solidFill>
            <a:srgbClr val="2D9B7F"/>
          </a:solidFill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sp>
        <p:nvSpPr>
          <p:cNvPr id="150" name="Text 4">
            <a:extLst>
              <a:ext uri="{FF2B5EF4-FFF2-40B4-BE49-F238E27FC236}">
                <a16:creationId xmlns:a16="http://schemas.microsoft.com/office/drawing/2014/main" id="{E090B056-5AAD-CC5C-BB09-77FB607FB2B4}"/>
              </a:ext>
            </a:extLst>
          </p:cNvPr>
          <p:cNvSpPr/>
          <p:nvPr/>
        </p:nvSpPr>
        <p:spPr>
          <a:xfrm>
            <a:off x="212691" y="3537932"/>
            <a:ext cx="692652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b="1" dirty="0">
                <a:solidFill>
                  <a:srgbClr val="FFFFFF"/>
                </a:solidFill>
                <a:latin typeface="Calibri"/>
              </a:rPr>
              <a:t>South-1 | Mamaearth — Top 3 Sub-category Monthly Trend (NSV)</a:t>
            </a:r>
            <a:endParaRPr lang="en-US" sz="780" dirty="0">
              <a:latin typeface="+mj-lt"/>
            </a:endParaRPr>
          </a:p>
        </p:txBody>
      </p:sp>
      <p:sp>
        <p:nvSpPr>
          <p:cNvPr id="151" name="Text 5">
            <a:extLst>
              <a:ext uri="{FF2B5EF4-FFF2-40B4-BE49-F238E27FC236}">
                <a16:creationId xmlns:a16="http://schemas.microsoft.com/office/drawing/2014/main" id="{8DC1552C-E149-4A10-28F5-0A4785E39F2D}"/>
              </a:ext>
            </a:extLst>
          </p:cNvPr>
          <p:cNvSpPr/>
          <p:nvPr/>
        </p:nvSpPr>
        <p:spPr>
          <a:xfrm>
            <a:off x="280785" y="3895964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1100" dirty="0">
              <a:latin typeface="+mj-lt"/>
            </a:endParaRPr>
          </a:p>
        </p:txBody>
      </p:sp>
      <p:sp>
        <p:nvSpPr>
          <p:cNvPr id="152" name="Text 6">
            <a:extLst>
              <a:ext uri="{FF2B5EF4-FFF2-40B4-BE49-F238E27FC236}">
                <a16:creationId xmlns:a16="http://schemas.microsoft.com/office/drawing/2014/main" id="{68B7E644-F756-EB08-51D0-E4BBD2584EB3}"/>
              </a:ext>
            </a:extLst>
          </p:cNvPr>
          <p:cNvSpPr/>
          <p:nvPr/>
        </p:nvSpPr>
        <p:spPr>
          <a:xfrm>
            <a:off x="624160" y="3895963"/>
            <a:ext cx="372097" cy="242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>
                <a:solidFill>
                  <a:srgbClr val="008A3D"/>
                </a:solidFill>
                <a:latin typeface="Calibri"/>
              </a:rPr>
              <a:t>▲ 44%</a:t>
            </a:r>
            <a:endParaRPr lang="en-US" sz="900" dirty="0">
              <a:latin typeface="+mj-lt"/>
            </a:endParaRPr>
          </a:p>
        </p:txBody>
      </p:sp>
      <p:sp>
        <p:nvSpPr>
          <p:cNvPr id="153" name="Text 7">
            <a:extLst>
              <a:ext uri="{FF2B5EF4-FFF2-40B4-BE49-F238E27FC236}">
                <a16:creationId xmlns:a16="http://schemas.microsoft.com/office/drawing/2014/main" id="{E90F34B8-D653-A710-F866-1BC3E6964F9D}"/>
              </a:ext>
            </a:extLst>
          </p:cNvPr>
          <p:cNvSpPr/>
          <p:nvPr/>
        </p:nvSpPr>
        <p:spPr>
          <a:xfrm>
            <a:off x="1098406" y="3907840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17%</a:t>
            </a:r>
            <a:endParaRPr lang="en-US" sz="900" dirty="0">
              <a:latin typeface="+mj-lt"/>
            </a:endParaRPr>
          </a:p>
        </p:txBody>
      </p:sp>
      <p:sp>
        <p:nvSpPr>
          <p:cNvPr id="154" name="Text 8">
            <a:extLst>
              <a:ext uri="{FF2B5EF4-FFF2-40B4-BE49-F238E27FC236}">
                <a16:creationId xmlns:a16="http://schemas.microsoft.com/office/drawing/2014/main" id="{3CB5B5FD-F962-33DF-877C-0AE18D2CE328}"/>
              </a:ext>
            </a:extLst>
          </p:cNvPr>
          <p:cNvSpPr/>
          <p:nvPr/>
        </p:nvSpPr>
        <p:spPr>
          <a:xfrm>
            <a:off x="1631573" y="3895964"/>
            <a:ext cx="509783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May'26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189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55" name="Chart 0">
            <a:extLst>
              <a:ext uri="{FF2B5EF4-FFF2-40B4-BE49-F238E27FC236}">
                <a16:creationId xmlns:a16="http://schemas.microsoft.com/office/drawing/2014/main" id="{C3EABDE2-E03A-721E-0AE3-C104F928F4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39213460"/>
              </p:ext>
            </p:extLst>
          </p:nvPr>
        </p:nvGraphicFramePr>
        <p:xfrm>
          <a:off x="157837" y="3808086"/>
          <a:ext cx="2246288" cy="15940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6" name="Text 9">
            <a:extLst>
              <a:ext uri="{FF2B5EF4-FFF2-40B4-BE49-F238E27FC236}">
                <a16:creationId xmlns:a16="http://schemas.microsoft.com/office/drawing/2014/main" id="{5BEBD7FD-7A2C-AC1D-76B9-D5B4A0E4DD0C}"/>
              </a:ext>
            </a:extLst>
          </p:cNvPr>
          <p:cNvSpPr/>
          <p:nvPr/>
        </p:nvSpPr>
        <p:spPr>
          <a:xfrm>
            <a:off x="2618119" y="3885404"/>
            <a:ext cx="654206" cy="186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Shampoo</a:t>
            </a:r>
            <a:endParaRPr lang="en-US" sz="900" dirty="0">
              <a:latin typeface="+mj-lt"/>
            </a:endParaRPr>
          </a:p>
        </p:txBody>
      </p:sp>
      <p:sp>
        <p:nvSpPr>
          <p:cNvPr id="157" name="Text 10">
            <a:extLst>
              <a:ext uri="{FF2B5EF4-FFF2-40B4-BE49-F238E27FC236}">
                <a16:creationId xmlns:a16="http://schemas.microsoft.com/office/drawing/2014/main" id="{1E0A7551-8419-9F78-49C5-64130D89CF32}"/>
              </a:ext>
            </a:extLst>
          </p:cNvPr>
          <p:cNvSpPr/>
          <p:nvPr/>
        </p:nvSpPr>
        <p:spPr>
          <a:xfrm>
            <a:off x="3210825" y="3875509"/>
            <a:ext cx="372097" cy="196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>
                <a:solidFill>
                  <a:srgbClr val="008A3D"/>
                </a:solidFill>
                <a:latin typeface="Calibri"/>
              </a:rPr>
              <a:t>▲ 63%</a:t>
            </a:r>
            <a:endParaRPr lang="en-US" sz="900" dirty="0">
              <a:latin typeface="+mj-lt"/>
            </a:endParaRPr>
          </a:p>
        </p:txBody>
      </p:sp>
      <p:sp>
        <p:nvSpPr>
          <p:cNvPr id="158" name="Text 11">
            <a:extLst>
              <a:ext uri="{FF2B5EF4-FFF2-40B4-BE49-F238E27FC236}">
                <a16:creationId xmlns:a16="http://schemas.microsoft.com/office/drawing/2014/main" id="{A6E4DFA5-8AF1-66E3-AB74-1643CD5B917D}"/>
              </a:ext>
            </a:extLst>
          </p:cNvPr>
          <p:cNvSpPr/>
          <p:nvPr/>
        </p:nvSpPr>
        <p:spPr>
          <a:xfrm>
            <a:off x="3615344" y="3871688"/>
            <a:ext cx="372097" cy="247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23%</a:t>
            </a:r>
            <a:endParaRPr lang="en-US" sz="900" dirty="0">
              <a:latin typeface="+mj-lt"/>
            </a:endParaRPr>
          </a:p>
        </p:txBody>
      </p:sp>
      <p:sp>
        <p:nvSpPr>
          <p:cNvPr id="159" name="Text 12">
            <a:extLst>
              <a:ext uri="{FF2B5EF4-FFF2-40B4-BE49-F238E27FC236}">
                <a16:creationId xmlns:a16="http://schemas.microsoft.com/office/drawing/2014/main" id="{0002D543-8B74-7800-B3E0-CCAA6D0B22FA}"/>
              </a:ext>
            </a:extLst>
          </p:cNvPr>
          <p:cNvSpPr/>
          <p:nvPr/>
        </p:nvSpPr>
        <p:spPr>
          <a:xfrm>
            <a:off x="4086807" y="3873841"/>
            <a:ext cx="413442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May'26 170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0" name="Chart 1">
            <a:extLst>
              <a:ext uri="{FF2B5EF4-FFF2-40B4-BE49-F238E27FC236}">
                <a16:creationId xmlns:a16="http://schemas.microsoft.com/office/drawing/2014/main" id="{498335C8-87FE-1BF3-E55D-7F3682FE88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85065483"/>
              </p:ext>
            </p:extLst>
          </p:nvPr>
        </p:nvGraphicFramePr>
        <p:xfrm>
          <a:off x="2513908" y="3792892"/>
          <a:ext cx="2251646" cy="16291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1" name="Text 13">
            <a:extLst>
              <a:ext uri="{FF2B5EF4-FFF2-40B4-BE49-F238E27FC236}">
                <a16:creationId xmlns:a16="http://schemas.microsoft.com/office/drawing/2014/main" id="{AE81E6A1-E294-CD2E-3731-74E6402A61FF}"/>
              </a:ext>
            </a:extLst>
          </p:cNvPr>
          <p:cNvSpPr/>
          <p:nvPr/>
        </p:nvSpPr>
        <p:spPr>
          <a:xfrm>
            <a:off x="4943104" y="3837376"/>
            <a:ext cx="537475" cy="187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Sun Care</a:t>
            </a:r>
            <a:endParaRPr lang="en-US" sz="900" dirty="0">
              <a:latin typeface="+mj-lt"/>
            </a:endParaRPr>
          </a:p>
        </p:txBody>
      </p:sp>
      <p:sp>
        <p:nvSpPr>
          <p:cNvPr id="162" name="Text 14">
            <a:extLst>
              <a:ext uri="{FF2B5EF4-FFF2-40B4-BE49-F238E27FC236}">
                <a16:creationId xmlns:a16="http://schemas.microsoft.com/office/drawing/2014/main" id="{27F9A9D8-519D-AC19-D616-44CAE0D43FD1}"/>
              </a:ext>
            </a:extLst>
          </p:cNvPr>
          <p:cNvSpPr/>
          <p:nvPr/>
        </p:nvSpPr>
        <p:spPr>
          <a:xfrm>
            <a:off x="5410447" y="3856086"/>
            <a:ext cx="615164" cy="244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 dirty="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 dirty="0">
                <a:solidFill>
                  <a:srgbClr val="008A3D"/>
                </a:solidFill>
                <a:latin typeface="Calibri"/>
              </a:rPr>
              <a:t>▲ 122%</a:t>
            </a:r>
            <a:endParaRPr lang="en-US" sz="900" dirty="0">
              <a:latin typeface="+mj-lt"/>
            </a:endParaRPr>
          </a:p>
        </p:txBody>
      </p:sp>
      <p:sp>
        <p:nvSpPr>
          <p:cNvPr id="163" name="Text 15">
            <a:extLst>
              <a:ext uri="{FF2B5EF4-FFF2-40B4-BE49-F238E27FC236}">
                <a16:creationId xmlns:a16="http://schemas.microsoft.com/office/drawing/2014/main" id="{25E789B0-F22E-6189-F81D-C18A4F30CC76}"/>
              </a:ext>
            </a:extLst>
          </p:cNvPr>
          <p:cNvSpPr/>
          <p:nvPr/>
        </p:nvSpPr>
        <p:spPr>
          <a:xfrm>
            <a:off x="5997696" y="3845293"/>
            <a:ext cx="372097" cy="253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0000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C00000"/>
                </a:solidFill>
                <a:latin typeface="Calibri"/>
              </a:rPr>
              <a:t>▼ 0%</a:t>
            </a:r>
            <a:endParaRPr lang="en-US" sz="9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64" name="Text 16">
            <a:extLst>
              <a:ext uri="{FF2B5EF4-FFF2-40B4-BE49-F238E27FC236}">
                <a16:creationId xmlns:a16="http://schemas.microsoft.com/office/drawing/2014/main" id="{B7F3446D-2E00-77C7-5921-C34968E8F7B7}"/>
              </a:ext>
            </a:extLst>
          </p:cNvPr>
          <p:cNvSpPr/>
          <p:nvPr/>
        </p:nvSpPr>
        <p:spPr>
          <a:xfrm>
            <a:off x="6417697" y="3885403"/>
            <a:ext cx="413442" cy="206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May'26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70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5" name="Chart 2">
            <a:extLst>
              <a:ext uri="{FF2B5EF4-FFF2-40B4-BE49-F238E27FC236}">
                <a16:creationId xmlns:a16="http://schemas.microsoft.com/office/drawing/2014/main" id="{E29320C6-4ABC-47AD-CAC6-8C1A6CA6E8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3948232"/>
              </p:ext>
            </p:extLst>
          </p:nvPr>
        </p:nvGraphicFramePr>
        <p:xfrm>
          <a:off x="4862830" y="3792360"/>
          <a:ext cx="2276384" cy="1614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6" name="Shape 17">
            <a:extLst>
              <a:ext uri="{FF2B5EF4-FFF2-40B4-BE49-F238E27FC236}">
                <a16:creationId xmlns:a16="http://schemas.microsoft.com/office/drawing/2014/main" id="{0C37FB05-75B7-65DE-A1B1-F44B76B917B2}"/>
              </a:ext>
            </a:extLst>
          </p:cNvPr>
          <p:cNvSpPr/>
          <p:nvPr/>
        </p:nvSpPr>
        <p:spPr>
          <a:xfrm>
            <a:off x="212691" y="5470073"/>
            <a:ext cx="6926523" cy="323487"/>
          </a:xfrm>
          <a:prstGeom prst="rect">
            <a:avLst/>
          </a:prstGeom>
          <a:solidFill>
            <a:srgbClr val="2D9B7F"/>
          </a:solidFill>
          <a:ln w="12700">
            <a:solidFill>
              <a:srgbClr val="23633A"/>
            </a:solidFill>
            <a:prstDash val="solid"/>
          </a:ln>
        </p:spPr>
        <p:txBody>
          <a:bodyPr anchor="t"/>
          <a:lstStyle/>
          <a:p>
            <a:endParaRPr lang="en-IN" dirty="0">
              <a:latin typeface="+mj-lt"/>
            </a:endParaRPr>
          </a:p>
        </p:txBody>
      </p:sp>
      <p:sp>
        <p:nvSpPr>
          <p:cNvPr id="167" name="Text 18">
            <a:extLst>
              <a:ext uri="{FF2B5EF4-FFF2-40B4-BE49-F238E27FC236}">
                <a16:creationId xmlns:a16="http://schemas.microsoft.com/office/drawing/2014/main" id="{606509AD-D1A3-4CFF-7031-2BD01F460E84}"/>
              </a:ext>
            </a:extLst>
          </p:cNvPr>
          <p:cNvSpPr/>
          <p:nvPr/>
        </p:nvSpPr>
        <p:spPr>
          <a:xfrm>
            <a:off x="212691" y="5468644"/>
            <a:ext cx="6926523" cy="318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South-1 | The Derma Co. — Top 3 Sub-category Monthly Trend (NSV)</a:t>
            </a:r>
            <a:endParaRPr lang="en-US" sz="1100" dirty="0">
              <a:latin typeface="+mj-lt"/>
            </a:endParaRPr>
          </a:p>
        </p:txBody>
      </p:sp>
      <p:sp>
        <p:nvSpPr>
          <p:cNvPr id="168" name="Text 19">
            <a:extLst>
              <a:ext uri="{FF2B5EF4-FFF2-40B4-BE49-F238E27FC236}">
                <a16:creationId xmlns:a16="http://schemas.microsoft.com/office/drawing/2014/main" id="{A8BC9F08-BB7E-07CC-C7BE-53E76EB85511}"/>
              </a:ext>
            </a:extLst>
          </p:cNvPr>
          <p:cNvSpPr/>
          <p:nvPr/>
        </p:nvSpPr>
        <p:spPr>
          <a:xfrm>
            <a:off x="278344" y="5927181"/>
            <a:ext cx="397538" cy="24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900" dirty="0">
              <a:latin typeface="+mj-lt"/>
            </a:endParaRPr>
          </a:p>
        </p:txBody>
      </p:sp>
      <p:sp>
        <p:nvSpPr>
          <p:cNvPr id="169" name="Text 20">
            <a:extLst>
              <a:ext uri="{FF2B5EF4-FFF2-40B4-BE49-F238E27FC236}">
                <a16:creationId xmlns:a16="http://schemas.microsoft.com/office/drawing/2014/main" id="{CC6466FF-9DFE-712B-2E6C-63C9594ED3C1}"/>
              </a:ext>
            </a:extLst>
          </p:cNvPr>
          <p:cNvSpPr/>
          <p:nvPr/>
        </p:nvSpPr>
        <p:spPr>
          <a:xfrm>
            <a:off x="607560" y="5957217"/>
            <a:ext cx="445541" cy="215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GOLY</a:t>
            </a:r>
          </a:p>
          <a:p>
            <a:pPr marL="0" indent="0" algn="ctr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 </a:t>
            </a:r>
            <a:r>
              <a:rPr sz="900" b="1">
                <a:solidFill>
                  <a:srgbClr val="008A3D"/>
                </a:solidFill>
                <a:latin typeface="Calibri"/>
              </a:rPr>
              <a:t>▲772%</a:t>
            </a:r>
            <a:endParaRPr lang="en-US" sz="900" dirty="0">
              <a:latin typeface="+mj-lt"/>
            </a:endParaRPr>
          </a:p>
        </p:txBody>
      </p:sp>
      <p:sp>
        <p:nvSpPr>
          <p:cNvPr id="170" name="Text 21">
            <a:extLst>
              <a:ext uri="{FF2B5EF4-FFF2-40B4-BE49-F238E27FC236}">
                <a16:creationId xmlns:a16="http://schemas.microsoft.com/office/drawing/2014/main" id="{6553EC6E-D91D-B6B7-81E0-5D554EF96509}"/>
              </a:ext>
            </a:extLst>
          </p:cNvPr>
          <p:cNvSpPr/>
          <p:nvPr/>
        </p:nvSpPr>
        <p:spPr>
          <a:xfrm>
            <a:off x="1180857" y="5933593"/>
            <a:ext cx="406179" cy="243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36%</a:t>
            </a:r>
            <a:endParaRPr lang="en-US" sz="900" dirty="0">
              <a:latin typeface="+mj-lt"/>
            </a:endParaRPr>
          </a:p>
        </p:txBody>
      </p:sp>
      <p:sp>
        <p:nvSpPr>
          <p:cNvPr id="171" name="Text 22">
            <a:extLst>
              <a:ext uri="{FF2B5EF4-FFF2-40B4-BE49-F238E27FC236}">
                <a16:creationId xmlns:a16="http://schemas.microsoft.com/office/drawing/2014/main" id="{21E44F12-56F2-0F79-99BF-12D5FEBEA9AE}"/>
              </a:ext>
            </a:extLst>
          </p:cNvPr>
          <p:cNvSpPr/>
          <p:nvPr/>
        </p:nvSpPr>
        <p:spPr>
          <a:xfrm>
            <a:off x="1700065" y="5933594"/>
            <a:ext cx="496442" cy="243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May'26 116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2" name="Chart 3">
            <a:extLst>
              <a:ext uri="{FF2B5EF4-FFF2-40B4-BE49-F238E27FC236}">
                <a16:creationId xmlns:a16="http://schemas.microsoft.com/office/drawing/2014/main" id="{A04A165C-0A2C-703B-D787-4F0EA0143E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90069807"/>
              </p:ext>
            </p:extLst>
          </p:nvPr>
        </p:nvGraphicFramePr>
        <p:xfrm>
          <a:off x="169808" y="5838529"/>
          <a:ext cx="2256553" cy="15413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73" name="Text 23">
            <a:extLst>
              <a:ext uri="{FF2B5EF4-FFF2-40B4-BE49-F238E27FC236}">
                <a16:creationId xmlns:a16="http://schemas.microsoft.com/office/drawing/2014/main" id="{D7CD4F3F-DA69-AB5C-19FC-40054C6226BA}"/>
              </a:ext>
            </a:extLst>
          </p:cNvPr>
          <p:cNvSpPr/>
          <p:nvPr/>
        </p:nvSpPr>
        <p:spPr>
          <a:xfrm>
            <a:off x="2564343" y="5927180"/>
            <a:ext cx="541573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Sun Care</a:t>
            </a:r>
            <a:endParaRPr lang="en-US" sz="900" dirty="0">
              <a:latin typeface="+mj-lt"/>
            </a:endParaRPr>
          </a:p>
        </p:txBody>
      </p:sp>
      <p:sp>
        <p:nvSpPr>
          <p:cNvPr id="174" name="Text 24">
            <a:extLst>
              <a:ext uri="{FF2B5EF4-FFF2-40B4-BE49-F238E27FC236}">
                <a16:creationId xmlns:a16="http://schemas.microsoft.com/office/drawing/2014/main" id="{1D10C6E1-4BAF-BC01-C799-C47AB1F5027D}"/>
              </a:ext>
            </a:extLst>
          </p:cNvPr>
          <p:cNvSpPr/>
          <p:nvPr/>
        </p:nvSpPr>
        <p:spPr>
          <a:xfrm>
            <a:off x="3133841" y="5994624"/>
            <a:ext cx="447960" cy="205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GOLY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▲351%</a:t>
            </a:r>
            <a:endParaRPr lang="en-US" sz="900" dirty="0">
              <a:latin typeface="+mj-lt"/>
            </a:endParaRPr>
          </a:p>
        </p:txBody>
      </p:sp>
      <p:sp>
        <p:nvSpPr>
          <p:cNvPr id="175" name="Text 25">
            <a:extLst>
              <a:ext uri="{FF2B5EF4-FFF2-40B4-BE49-F238E27FC236}">
                <a16:creationId xmlns:a16="http://schemas.microsoft.com/office/drawing/2014/main" id="{7646A250-EE9F-A6C6-49D3-68B6D3DFBFDE}"/>
              </a:ext>
            </a:extLst>
          </p:cNvPr>
          <p:cNvSpPr/>
          <p:nvPr/>
        </p:nvSpPr>
        <p:spPr>
          <a:xfrm>
            <a:off x="3615344" y="5957217"/>
            <a:ext cx="406179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14%</a:t>
            </a:r>
            <a:endParaRPr lang="en-US" sz="900" dirty="0">
              <a:latin typeface="+mj-lt"/>
            </a:endParaRPr>
          </a:p>
        </p:txBody>
      </p:sp>
      <p:sp>
        <p:nvSpPr>
          <p:cNvPr id="176" name="Text 26">
            <a:extLst>
              <a:ext uri="{FF2B5EF4-FFF2-40B4-BE49-F238E27FC236}">
                <a16:creationId xmlns:a16="http://schemas.microsoft.com/office/drawing/2014/main" id="{DB185B2C-DCD9-D290-C330-3A33EAC025C5}"/>
              </a:ext>
            </a:extLst>
          </p:cNvPr>
          <p:cNvSpPr/>
          <p:nvPr/>
        </p:nvSpPr>
        <p:spPr>
          <a:xfrm>
            <a:off x="4144390" y="5962804"/>
            <a:ext cx="511364" cy="243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May'26 131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7" name="Chart 4">
            <a:extLst>
              <a:ext uri="{FF2B5EF4-FFF2-40B4-BE49-F238E27FC236}">
                <a16:creationId xmlns:a16="http://schemas.microsoft.com/office/drawing/2014/main" id="{CBBF5C82-1DBC-BF6C-CAEA-410BB465C0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0141323"/>
              </p:ext>
            </p:extLst>
          </p:nvPr>
        </p:nvGraphicFramePr>
        <p:xfrm>
          <a:off x="2518289" y="5857060"/>
          <a:ext cx="2256553" cy="15413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78" name="Text 27">
            <a:extLst>
              <a:ext uri="{FF2B5EF4-FFF2-40B4-BE49-F238E27FC236}">
                <a16:creationId xmlns:a16="http://schemas.microsoft.com/office/drawing/2014/main" id="{038BADD0-EAC6-F8D6-7B12-BE177A9DAD4D}"/>
              </a:ext>
            </a:extLst>
          </p:cNvPr>
          <p:cNvSpPr/>
          <p:nvPr/>
        </p:nvSpPr>
        <p:spPr>
          <a:xfrm>
            <a:off x="4840966" y="5906220"/>
            <a:ext cx="682149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Face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Serum</a:t>
            </a:r>
            <a:endParaRPr lang="en-US" sz="900" dirty="0">
              <a:latin typeface="+mj-lt"/>
            </a:endParaRPr>
          </a:p>
        </p:txBody>
      </p:sp>
      <p:sp>
        <p:nvSpPr>
          <p:cNvPr id="179" name="Text 28">
            <a:extLst>
              <a:ext uri="{FF2B5EF4-FFF2-40B4-BE49-F238E27FC236}">
                <a16:creationId xmlns:a16="http://schemas.microsoft.com/office/drawing/2014/main" id="{024D5F40-BAD0-9683-DBAB-2A9FEAA024FA}"/>
              </a:ext>
            </a:extLst>
          </p:cNvPr>
          <p:cNvSpPr/>
          <p:nvPr/>
        </p:nvSpPr>
        <p:spPr>
          <a:xfrm>
            <a:off x="5519368" y="5910762"/>
            <a:ext cx="439416" cy="24949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GOLY</a:t>
            </a:r>
          </a:p>
          <a:p>
            <a:pPr marL="0" indent="0" algn="ctr">
              <a:buNone/>
            </a:pPr>
            <a:r>
              <a:rPr sz="900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 </a:t>
            </a:r>
            <a:r>
              <a:rPr sz="900" b="1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▲ 94%</a:t>
            </a:r>
            <a:endParaRPr lang="en-US" sz="900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180" name="Text 29">
            <a:extLst>
              <a:ext uri="{FF2B5EF4-FFF2-40B4-BE49-F238E27FC236}">
                <a16:creationId xmlns:a16="http://schemas.microsoft.com/office/drawing/2014/main" id="{631DEBF0-39A6-7D0F-BA14-F1B18161FDD2}"/>
              </a:ext>
            </a:extLst>
          </p:cNvPr>
          <p:cNvSpPr/>
          <p:nvPr/>
        </p:nvSpPr>
        <p:spPr>
          <a:xfrm>
            <a:off x="6031403" y="5887711"/>
            <a:ext cx="406179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 9%</a:t>
            </a:r>
            <a:endParaRPr lang="en-US" sz="900" dirty="0">
              <a:latin typeface="+mj-lt"/>
            </a:endParaRPr>
          </a:p>
        </p:txBody>
      </p:sp>
      <p:sp>
        <p:nvSpPr>
          <p:cNvPr id="181" name="Text 30">
            <a:extLst>
              <a:ext uri="{FF2B5EF4-FFF2-40B4-BE49-F238E27FC236}">
                <a16:creationId xmlns:a16="http://schemas.microsoft.com/office/drawing/2014/main" id="{F69669F6-2C5B-9CCF-FC00-E39EBA2DF5E4}"/>
              </a:ext>
            </a:extLst>
          </p:cNvPr>
          <p:cNvSpPr/>
          <p:nvPr/>
        </p:nvSpPr>
        <p:spPr>
          <a:xfrm>
            <a:off x="6639313" y="5910631"/>
            <a:ext cx="451311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May'26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30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82" name="Chart 5">
            <a:extLst>
              <a:ext uri="{FF2B5EF4-FFF2-40B4-BE49-F238E27FC236}">
                <a16:creationId xmlns:a16="http://schemas.microsoft.com/office/drawing/2014/main" id="{39E95149-09DC-244B-A1A2-AB5A022BF0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00511334"/>
              </p:ext>
            </p:extLst>
          </p:nvPr>
        </p:nvGraphicFramePr>
        <p:xfrm>
          <a:off x="4887847" y="5856915"/>
          <a:ext cx="2251367" cy="15413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91" name="Table 190">
            <a:extLst>
              <a:ext uri="{FF2B5EF4-FFF2-40B4-BE49-F238E27FC236}">
                <a16:creationId xmlns:a16="http://schemas.microsoft.com/office/drawing/2014/main" id="{01C4CE9C-7CF2-0375-6C71-4739F8695A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8185162"/>
              </p:ext>
            </p:extLst>
          </p:nvPr>
        </p:nvGraphicFramePr>
        <p:xfrm>
          <a:off x="212691" y="1934878"/>
          <a:ext cx="6996674" cy="1465101"/>
        </p:xfrm>
        <a:graphic>
          <a:graphicData uri="http://schemas.openxmlformats.org/drawingml/2006/table">
            <a:tbl>
              <a:tblPr firstRow="1" firstCol="1" bandRow="1"/>
              <a:tblGrid>
                <a:gridCol w="1207980">
                  <a:extLst>
                    <a:ext uri="{9D8B030D-6E8A-4147-A177-3AD203B41FA5}">
                      <a16:colId xmlns:a16="http://schemas.microsoft.com/office/drawing/2014/main" val="1720933068"/>
                    </a:ext>
                  </a:extLst>
                </a:gridCol>
                <a:gridCol w="617473">
                  <a:extLst>
                    <a:ext uri="{9D8B030D-6E8A-4147-A177-3AD203B41FA5}">
                      <a16:colId xmlns:a16="http://schemas.microsoft.com/office/drawing/2014/main" val="2630805108"/>
                    </a:ext>
                  </a:extLst>
                </a:gridCol>
                <a:gridCol w="696366">
                  <a:extLst>
                    <a:ext uri="{9D8B030D-6E8A-4147-A177-3AD203B41FA5}">
                      <a16:colId xmlns:a16="http://schemas.microsoft.com/office/drawing/2014/main" val="1295913063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4130086957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3066276741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2870282349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1716647770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2912854798"/>
                    </a:ext>
                  </a:extLst>
                </a:gridCol>
              </a:tblGrid>
              <a:tr h="22449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Brand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May-25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Apr-26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May-26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 err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Cont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GO 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GOLY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355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Mamaearth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398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511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585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66%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475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23%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47%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9593741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The Derma Co.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64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236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286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32%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178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61%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348%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4782322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Aqualogica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19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18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18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15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21%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C00000"/>
                          </a:solidFill>
                          <a:latin typeface="Calibri"/>
                        </a:rPr>
                        <a:t>▼ 3%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7599869"/>
                  </a:ext>
                </a:extLst>
              </a:tr>
              <a:tr h="31015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Emerging Brands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4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4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0%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5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1020566"/>
                  </a:ext>
                </a:extLst>
              </a:tr>
            </a:tbl>
          </a:graphicData>
        </a:graphic>
      </p:graphicFrame>
      <p:graphicFrame>
        <p:nvGraphicFramePr>
          <p:cNvPr id="194" name="Table 193">
            <a:extLst>
              <a:ext uri="{FF2B5EF4-FFF2-40B4-BE49-F238E27FC236}">
                <a16:creationId xmlns:a16="http://schemas.microsoft.com/office/drawing/2014/main" id="{8A46149D-11DB-F40E-39B0-E59AE1376D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8834709"/>
              </p:ext>
            </p:extLst>
          </p:nvPr>
        </p:nvGraphicFramePr>
        <p:xfrm>
          <a:off x="212691" y="7863614"/>
          <a:ext cx="7010190" cy="1618160"/>
        </p:xfrm>
        <a:graphic>
          <a:graphicData uri="http://schemas.openxmlformats.org/drawingml/2006/table">
            <a:tbl>
              <a:tblPr firstRow="1" firstCol="1" bandRow="1"/>
              <a:tblGrid>
                <a:gridCol w="1701001">
                  <a:extLst>
                    <a:ext uri="{9D8B030D-6E8A-4147-A177-3AD203B41FA5}">
                      <a16:colId xmlns:a16="http://schemas.microsoft.com/office/drawing/2014/main" val="1999662838"/>
                    </a:ext>
                  </a:extLst>
                </a:gridCol>
                <a:gridCol w="773183">
                  <a:extLst>
                    <a:ext uri="{9D8B030D-6E8A-4147-A177-3AD203B41FA5}">
                      <a16:colId xmlns:a16="http://schemas.microsoft.com/office/drawing/2014/main" val="1604924111"/>
                    </a:ext>
                  </a:extLst>
                </a:gridCol>
                <a:gridCol w="721637">
                  <a:extLst>
                    <a:ext uri="{9D8B030D-6E8A-4147-A177-3AD203B41FA5}">
                      <a16:colId xmlns:a16="http://schemas.microsoft.com/office/drawing/2014/main" val="3900343723"/>
                    </a:ext>
                  </a:extLst>
                </a:gridCol>
                <a:gridCol w="773183">
                  <a:extLst>
                    <a:ext uri="{9D8B030D-6E8A-4147-A177-3AD203B41FA5}">
                      <a16:colId xmlns:a16="http://schemas.microsoft.com/office/drawing/2014/main" val="2453469686"/>
                    </a:ext>
                  </a:extLst>
                </a:gridCol>
                <a:gridCol w="773183">
                  <a:extLst>
                    <a:ext uri="{9D8B030D-6E8A-4147-A177-3AD203B41FA5}">
                      <a16:colId xmlns:a16="http://schemas.microsoft.com/office/drawing/2014/main" val="531817117"/>
                    </a:ext>
                  </a:extLst>
                </a:gridCol>
                <a:gridCol w="481091">
                  <a:extLst>
                    <a:ext uri="{9D8B030D-6E8A-4147-A177-3AD203B41FA5}">
                      <a16:colId xmlns:a16="http://schemas.microsoft.com/office/drawing/2014/main" val="1269342238"/>
                    </a:ext>
                  </a:extLst>
                </a:gridCol>
                <a:gridCol w="893456">
                  <a:extLst>
                    <a:ext uri="{9D8B030D-6E8A-4147-A177-3AD203B41FA5}">
                      <a16:colId xmlns:a16="http://schemas.microsoft.com/office/drawing/2014/main" val="1250320746"/>
                    </a:ext>
                  </a:extLst>
                </a:gridCol>
                <a:gridCol w="893456">
                  <a:extLst>
                    <a:ext uri="{9D8B030D-6E8A-4147-A177-3AD203B41FA5}">
                      <a16:colId xmlns:a16="http://schemas.microsoft.com/office/drawing/2014/main" val="2206225178"/>
                    </a:ext>
                  </a:extLst>
                </a:gridCol>
              </a:tblGrid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Chain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May-25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Apr-26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May-26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Cont%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GO 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GOLY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2551122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Apollo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101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272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292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33%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220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32%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189%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039130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Dmart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151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213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267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30%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188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42%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77%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264776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Reliance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117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152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17%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127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19%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29%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328105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Lulu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35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76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84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9%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61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37%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138%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495259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H&amp;G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53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43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58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7%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36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64%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11%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0849718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Metro Cnc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C00000"/>
                          </a:solidFill>
                          <a:latin typeface="Calibri"/>
                        </a:rPr>
                        <a:t>▼ 3%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2%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7893452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Others Combined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6%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73%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3790100"/>
                  </a:ext>
                </a:extLst>
              </a:tr>
            </a:tbl>
          </a:graphicData>
        </a:graphic>
      </p:graphicFrame>
      <p:sp>
        <p:nvSpPr>
          <p:cNvPr id="195" name="Rectangle 81">
            <a:extLst>
              <a:ext uri="{FF2B5EF4-FFF2-40B4-BE49-F238E27FC236}">
                <a16:creationId xmlns:a16="http://schemas.microsoft.com/office/drawing/2014/main" id="{715F732A-615F-905D-E4D0-DF7C4264D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742"/>
            <a:ext cx="75628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ECF521A8-93A7-FE83-3ED0-DDCE5D39A6E0}"/>
              </a:ext>
            </a:extLst>
          </p:cNvPr>
          <p:cNvGrpSpPr>
            <a:grpSpLocks/>
          </p:cNvGrpSpPr>
          <p:nvPr/>
        </p:nvGrpSpPr>
        <p:grpSpPr>
          <a:xfrm>
            <a:off x="212691" y="9493854"/>
            <a:ext cx="6926523" cy="1129056"/>
            <a:chOff x="6350" y="3870"/>
            <a:chExt cx="6966733" cy="1907139"/>
          </a:xfrm>
        </p:grpSpPr>
        <p:sp>
          <p:nvSpPr>
            <p:cNvPr id="197" name="Graphic 278">
              <a:extLst>
                <a:ext uri="{FF2B5EF4-FFF2-40B4-BE49-F238E27FC236}">
                  <a16:creationId xmlns:a16="http://schemas.microsoft.com/office/drawing/2014/main" id="{09562CA0-9705-0A03-47F3-5D39BF8835E5}"/>
                </a:ext>
              </a:extLst>
            </p:cNvPr>
            <p:cNvSpPr/>
            <p:nvPr/>
          </p:nvSpPr>
          <p:spPr>
            <a:xfrm>
              <a:off x="22374" y="87905"/>
              <a:ext cx="6950709" cy="1823104"/>
            </a:xfrm>
            <a:custGeom>
              <a:avLst/>
              <a:gdLst/>
              <a:ahLst/>
              <a:cxnLst/>
              <a:rect l="l" t="t" r="r" b="b"/>
              <a:pathLst>
                <a:path w="6950709" h="2163445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2074415"/>
                  </a:lnTo>
                  <a:lnTo>
                    <a:pt x="6979" y="2109038"/>
                  </a:lnTo>
                  <a:lnTo>
                    <a:pt x="26021" y="2137294"/>
                  </a:lnTo>
                  <a:lnTo>
                    <a:pt x="54276" y="2156335"/>
                  </a:lnTo>
                  <a:lnTo>
                    <a:pt x="88900" y="2163315"/>
                  </a:lnTo>
                  <a:lnTo>
                    <a:pt x="6861500" y="2163315"/>
                  </a:lnTo>
                  <a:lnTo>
                    <a:pt x="6896123" y="2156335"/>
                  </a:lnTo>
                  <a:lnTo>
                    <a:pt x="6924379" y="2137294"/>
                  </a:lnTo>
                  <a:lnTo>
                    <a:pt x="6943420" y="2109038"/>
                  </a:lnTo>
                  <a:lnTo>
                    <a:pt x="6950400" y="2074415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EFFDF4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198" name="Graphic 280">
              <a:extLst>
                <a:ext uri="{FF2B5EF4-FFF2-40B4-BE49-F238E27FC236}">
                  <a16:creationId xmlns:a16="http://schemas.microsoft.com/office/drawing/2014/main" id="{306ADDBF-E20C-DE47-E920-E870C06A675E}"/>
                </a:ext>
              </a:extLst>
            </p:cNvPr>
            <p:cNvSpPr/>
            <p:nvPr/>
          </p:nvSpPr>
          <p:spPr>
            <a:xfrm>
              <a:off x="6350" y="6348"/>
              <a:ext cx="6950709" cy="351681"/>
            </a:xfrm>
            <a:custGeom>
              <a:avLst/>
              <a:gdLst/>
              <a:ahLst/>
              <a:cxnLst/>
              <a:rect l="l" t="t" r="r" b="b"/>
              <a:pathLst>
                <a:path w="6950709" h="241300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152399"/>
                  </a:lnTo>
                  <a:lnTo>
                    <a:pt x="6979" y="187023"/>
                  </a:lnTo>
                  <a:lnTo>
                    <a:pt x="26021" y="215278"/>
                  </a:lnTo>
                  <a:lnTo>
                    <a:pt x="54276" y="234320"/>
                  </a:lnTo>
                  <a:lnTo>
                    <a:pt x="88900" y="241299"/>
                  </a:lnTo>
                  <a:lnTo>
                    <a:pt x="6861500" y="241299"/>
                  </a:lnTo>
                  <a:lnTo>
                    <a:pt x="6896123" y="234320"/>
                  </a:lnTo>
                  <a:lnTo>
                    <a:pt x="6924379" y="215278"/>
                  </a:lnTo>
                  <a:lnTo>
                    <a:pt x="6943420" y="187023"/>
                  </a:lnTo>
                  <a:lnTo>
                    <a:pt x="6950400" y="152399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037756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199" name="Graphic 281">
              <a:extLst>
                <a:ext uri="{FF2B5EF4-FFF2-40B4-BE49-F238E27FC236}">
                  <a16:creationId xmlns:a16="http://schemas.microsoft.com/office/drawing/2014/main" id="{786D0DB1-927E-CDBA-AE82-7E1B1BB65AF0}"/>
                </a:ext>
              </a:extLst>
            </p:cNvPr>
            <p:cNvSpPr/>
            <p:nvPr/>
          </p:nvSpPr>
          <p:spPr>
            <a:xfrm>
              <a:off x="106892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0" name="Graphic 282">
              <a:extLst>
                <a:ext uri="{FF2B5EF4-FFF2-40B4-BE49-F238E27FC236}">
                  <a16:creationId xmlns:a16="http://schemas.microsoft.com/office/drawing/2014/main" id="{1EE2520B-B499-D8A6-9F61-FEDF24208690}"/>
                </a:ext>
              </a:extLst>
            </p:cNvPr>
            <p:cNvSpPr/>
            <p:nvPr/>
          </p:nvSpPr>
          <p:spPr>
            <a:xfrm>
              <a:off x="125480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1" name="Graphic 283">
              <a:extLst>
                <a:ext uri="{FF2B5EF4-FFF2-40B4-BE49-F238E27FC236}">
                  <a16:creationId xmlns:a16="http://schemas.microsoft.com/office/drawing/2014/main" id="{CC1D8F9B-ACDE-52DF-23D6-7FEDF2C5895A}"/>
                </a:ext>
              </a:extLst>
            </p:cNvPr>
            <p:cNvSpPr/>
            <p:nvPr/>
          </p:nvSpPr>
          <p:spPr>
            <a:xfrm>
              <a:off x="1826499" y="967806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2" name="Graphic 284">
              <a:extLst>
                <a:ext uri="{FF2B5EF4-FFF2-40B4-BE49-F238E27FC236}">
                  <a16:creationId xmlns:a16="http://schemas.microsoft.com/office/drawing/2014/main" id="{78E6F5B7-D8F6-E3DA-2211-639E0006CDFC}"/>
                </a:ext>
              </a:extLst>
            </p:cNvPr>
            <p:cNvSpPr/>
            <p:nvPr/>
          </p:nvSpPr>
          <p:spPr>
            <a:xfrm>
              <a:off x="1818628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3" name="Graphic 285">
              <a:extLst>
                <a:ext uri="{FF2B5EF4-FFF2-40B4-BE49-F238E27FC236}">
                  <a16:creationId xmlns:a16="http://schemas.microsoft.com/office/drawing/2014/main" id="{E2A44793-D301-9552-99EC-90EC13154CAA}"/>
                </a:ext>
              </a:extLst>
            </p:cNvPr>
            <p:cNvSpPr/>
            <p:nvPr/>
          </p:nvSpPr>
          <p:spPr>
            <a:xfrm>
              <a:off x="3502621" y="962316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4" name="Graphic 286">
              <a:extLst>
                <a:ext uri="{FF2B5EF4-FFF2-40B4-BE49-F238E27FC236}">
                  <a16:creationId xmlns:a16="http://schemas.microsoft.com/office/drawing/2014/main" id="{5C0F2A52-1C1D-D1A6-05EA-4ACCDB5127EF}"/>
                </a:ext>
              </a:extLst>
            </p:cNvPr>
            <p:cNvSpPr/>
            <p:nvPr/>
          </p:nvSpPr>
          <p:spPr>
            <a:xfrm>
              <a:off x="3502621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5" name="Graphic 287">
              <a:extLst>
                <a:ext uri="{FF2B5EF4-FFF2-40B4-BE49-F238E27FC236}">
                  <a16:creationId xmlns:a16="http://schemas.microsoft.com/office/drawing/2014/main" id="{97A32B53-FBD3-57B6-D1A2-97E533939E78}"/>
                </a:ext>
              </a:extLst>
            </p:cNvPr>
            <p:cNvSpPr/>
            <p:nvPr/>
          </p:nvSpPr>
          <p:spPr>
            <a:xfrm>
              <a:off x="5204929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6" name="Graphic 288">
              <a:extLst>
                <a:ext uri="{FF2B5EF4-FFF2-40B4-BE49-F238E27FC236}">
                  <a16:creationId xmlns:a16="http://schemas.microsoft.com/office/drawing/2014/main" id="{7A282D42-C8EF-02F8-6401-E33E4651DA3A}"/>
                </a:ext>
              </a:extLst>
            </p:cNvPr>
            <p:cNvSpPr/>
            <p:nvPr/>
          </p:nvSpPr>
          <p:spPr>
            <a:xfrm>
              <a:off x="5195537" y="978344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7" name="Textbox 289">
              <a:extLst>
                <a:ext uri="{FF2B5EF4-FFF2-40B4-BE49-F238E27FC236}">
                  <a16:creationId xmlns:a16="http://schemas.microsoft.com/office/drawing/2014/main" id="{00EDBC03-34CC-68A0-0A8A-3EDB1CF8594C}"/>
                </a:ext>
              </a:extLst>
            </p:cNvPr>
            <p:cNvSpPr txBox="1"/>
            <p:nvPr/>
          </p:nvSpPr>
          <p:spPr>
            <a:xfrm>
              <a:off x="133350" y="3870"/>
              <a:ext cx="6716677" cy="418793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KEY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200" b="1" spc="-10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HIGHLIGHTS</a:t>
              </a:r>
              <a:endParaRPr lang="en-IN" sz="20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08" name="Textbox 290">
              <a:extLst>
                <a:ext uri="{FF2B5EF4-FFF2-40B4-BE49-F238E27FC236}">
                  <a16:creationId xmlns:a16="http://schemas.microsoft.com/office/drawing/2014/main" id="{390ECE72-BE5D-D8E0-F6DB-459027B27CA3}"/>
                </a:ext>
              </a:extLst>
            </p:cNvPr>
            <p:cNvSpPr txBox="1"/>
            <p:nvPr/>
          </p:nvSpPr>
          <p:spPr>
            <a:xfrm>
              <a:off x="114800" y="422663"/>
              <a:ext cx="6735227" cy="4600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342900" lvl="0" indent="-342900">
                <a:lnSpc>
                  <a:spcPts val="860"/>
                </a:lnSpc>
                <a:buClr>
                  <a:srgbClr val="0F162A"/>
                </a:buClr>
                <a:buSzPts val="700"/>
                <a:buFont typeface="Arial MT"/>
                <a:buChar char="•"/>
                <a:tabLst>
                  <a:tab pos="57785" algn="l"/>
                </a:tabLst>
              </a:pPr>
              <a:r>
                <a:rPr sz="720" b="1">
                  <a:latin typeface="Calibri"/>
                </a:rPr>
                <a:t>Zone Record: South-1 delivered its highest month at 894, ▲33% vs L3M and ▲84% vs May-25.</a:t>
              </a:r>
              <a:br/>
              <a:r>
                <a:rPr sz="720" b="1">
                  <a:latin typeface="Calibri"/>
                </a:rPr>
                <a:t>Chain Highlights: Apollo leads and is also the fastest YoY chain.</a:t>
              </a:r>
              <a:endParaRPr lang="en-IN" sz="1400" spc="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09" name="Textbox 291">
              <a:extLst>
                <a:ext uri="{FF2B5EF4-FFF2-40B4-BE49-F238E27FC236}">
                  <a16:creationId xmlns:a16="http://schemas.microsoft.com/office/drawing/2014/main" id="{696AC7C6-3FED-0B1D-4CD4-FA589378E90D}"/>
                </a:ext>
              </a:extLst>
            </p:cNvPr>
            <p:cNvSpPr txBox="1"/>
            <p:nvPr/>
          </p:nvSpPr>
          <p:spPr>
            <a:xfrm>
              <a:off x="188979" y="1090664"/>
              <a:ext cx="478155" cy="31484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Lead</a:t>
              </a:r>
              <a:r>
                <a:rPr lang="en-US" sz="650" b="1" spc="-2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0" name="Textbox 292">
              <a:extLst>
                <a:ext uri="{FF2B5EF4-FFF2-40B4-BE49-F238E27FC236}">
                  <a16:creationId xmlns:a16="http://schemas.microsoft.com/office/drawing/2014/main" id="{D2CB78A9-052C-7918-9B59-3C05E6224543}"/>
                </a:ext>
              </a:extLst>
            </p:cNvPr>
            <p:cNvSpPr txBox="1"/>
            <p:nvPr/>
          </p:nvSpPr>
          <p:spPr>
            <a:xfrm>
              <a:off x="1882129" y="1090664"/>
              <a:ext cx="771525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Fastest</a:t>
              </a:r>
              <a:r>
                <a:rPr lang="en-US" sz="650" b="1" spc="-25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YoY</a:t>
              </a:r>
              <a:r>
                <a:rPr lang="en-US" sz="650" b="1" spc="-2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endParaRPr lang="en-IN" sz="110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1" name="Textbox 293">
              <a:extLst>
                <a:ext uri="{FF2B5EF4-FFF2-40B4-BE49-F238E27FC236}">
                  <a16:creationId xmlns:a16="http://schemas.microsoft.com/office/drawing/2014/main" id="{1002BC0E-27DD-532F-2DE7-BB1F581AC8FE}"/>
                </a:ext>
              </a:extLst>
            </p:cNvPr>
            <p:cNvSpPr txBox="1"/>
            <p:nvPr/>
          </p:nvSpPr>
          <p:spPr>
            <a:xfrm>
              <a:off x="3575278" y="1090664"/>
              <a:ext cx="824230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Record</a:t>
              </a:r>
              <a:r>
                <a:rPr lang="en-US" sz="650" b="1" spc="-25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r>
                <a:rPr lang="en-US" sz="650" b="1" spc="-25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Lines</a:t>
              </a:r>
              <a:endParaRPr lang="en-IN" sz="110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2" name="Textbox 294">
              <a:extLst>
                <a:ext uri="{FF2B5EF4-FFF2-40B4-BE49-F238E27FC236}">
                  <a16:creationId xmlns:a16="http://schemas.microsoft.com/office/drawing/2014/main" id="{1393482F-11D6-D6FE-2753-A47D0B48114B}"/>
                </a:ext>
              </a:extLst>
            </p:cNvPr>
            <p:cNvSpPr txBox="1"/>
            <p:nvPr/>
          </p:nvSpPr>
          <p:spPr>
            <a:xfrm>
              <a:off x="5268429" y="1090664"/>
              <a:ext cx="541020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Zone</a:t>
              </a:r>
              <a:r>
                <a:rPr lang="en-US" sz="650" b="1" spc="-2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Record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3" name="Textbox 295">
              <a:extLst>
                <a:ext uri="{FF2B5EF4-FFF2-40B4-BE49-F238E27FC236}">
                  <a16:creationId xmlns:a16="http://schemas.microsoft.com/office/drawing/2014/main" id="{9D505091-C1B3-4643-3757-11527DD029ED}"/>
                </a:ext>
              </a:extLst>
            </p:cNvPr>
            <p:cNvSpPr txBox="1"/>
            <p:nvPr/>
          </p:nvSpPr>
          <p:spPr>
            <a:xfrm>
              <a:off x="188707" y="1310255"/>
              <a:ext cx="580390" cy="9524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Apollo</a:t>
              </a:r>
              <a:r>
                <a:rPr lang="en-US" sz="650" b="1" spc="-3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-</a:t>
              </a:r>
              <a:r>
                <a:rPr lang="en-US" sz="650" b="1" spc="-3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2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292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4" name="Textbox 296">
              <a:extLst>
                <a:ext uri="{FF2B5EF4-FFF2-40B4-BE49-F238E27FC236}">
                  <a16:creationId xmlns:a16="http://schemas.microsoft.com/office/drawing/2014/main" id="{D4A13F3F-01DA-EED4-B30C-053A438475D3}"/>
                </a:ext>
              </a:extLst>
            </p:cNvPr>
            <p:cNvSpPr txBox="1"/>
            <p:nvPr/>
          </p:nvSpPr>
          <p:spPr>
            <a:xfrm>
              <a:off x="1871406" y="1299505"/>
              <a:ext cx="1137449" cy="299158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50"/>
                </a:lnSpc>
              </a:pPr>
              <a:r>
                <a:rPr sz="650" b="1">
                  <a:solidFill>
                    <a:srgbClr val="1A1F29"/>
                  </a:solidFill>
                  <a:latin typeface="+mj-lt"/>
                </a:rPr>
                <a:t>Apollo  - </a:t>
              </a:r>
              <a:r>
                <a:rPr sz="650" b="1">
                  <a:solidFill>
                    <a:srgbClr val="008A3D"/>
                  </a:solidFill>
                  <a:latin typeface="+mj-lt"/>
                </a:rPr>
                <a:t>▲ 189%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5" name="Textbox 297">
              <a:extLst>
                <a:ext uri="{FF2B5EF4-FFF2-40B4-BE49-F238E27FC236}">
                  <a16:creationId xmlns:a16="http://schemas.microsoft.com/office/drawing/2014/main" id="{823DC972-676F-BB3F-DF78-E528EBCA63EA}"/>
                </a:ext>
              </a:extLst>
            </p:cNvPr>
            <p:cNvSpPr txBox="1"/>
            <p:nvPr/>
          </p:nvSpPr>
          <p:spPr>
            <a:xfrm>
              <a:off x="3553098" y="1286316"/>
              <a:ext cx="1616615" cy="624691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Apollo, Dmart, Reliance,</a:t>
              </a:r>
              <a:r>
                <a:rPr lang="en-US" sz="650" b="1" spc="-40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6" name="Textbox 298">
              <a:extLst>
                <a:ext uri="{FF2B5EF4-FFF2-40B4-BE49-F238E27FC236}">
                  <a16:creationId xmlns:a16="http://schemas.microsoft.com/office/drawing/2014/main" id="{1109BA7C-796E-3D4D-65A2-95AB774BD170}"/>
                </a:ext>
              </a:extLst>
            </p:cNvPr>
            <p:cNvSpPr txBox="1"/>
            <p:nvPr/>
          </p:nvSpPr>
          <p:spPr>
            <a:xfrm>
              <a:off x="5268428" y="1310254"/>
              <a:ext cx="748609" cy="17609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May-26</a:t>
              </a:r>
              <a:r>
                <a:rPr lang="en-US" sz="650" b="1" spc="-30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30" dirty="0">
                  <a:solidFill>
                    <a:srgbClr val="1A1F29"/>
                  </a:solidFill>
                  <a:latin typeface="+mj-lt"/>
                  <a:ea typeface="Arial MT"/>
                  <a:cs typeface="Calibri"/>
                </a:rPr>
                <a:t>- </a:t>
              </a: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894</a:t>
              </a:r>
              <a:r>
                <a:rPr lang="en-US" sz="650" b="1" spc="-2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</p:grpSp>
      <p:sp>
        <p:nvSpPr>
          <p:cNvPr id="217" name="Rectangle 92">
            <a:extLst>
              <a:ext uri="{FF2B5EF4-FFF2-40B4-BE49-F238E27FC236}">
                <a16:creationId xmlns:a16="http://schemas.microsoft.com/office/drawing/2014/main" id="{4048E4C8-777E-5962-6F2D-EE7CEED0D22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0" y="112827"/>
            <a:ext cx="756285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6CDFCB9D-D279-7BE1-F23A-91374801A1BD}"/>
              </a:ext>
            </a:extLst>
          </p:cNvPr>
          <p:cNvSpPr txBox="1"/>
          <p:nvPr/>
        </p:nvSpPr>
        <p:spPr>
          <a:xfrm>
            <a:off x="212691" y="7401047"/>
            <a:ext cx="6926523" cy="361574"/>
          </a:xfrm>
          <a:prstGeom prst="rect">
            <a:avLst/>
          </a:prstGeom>
          <a:solidFill>
            <a:srgbClr val="2D9B7F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lang="en-US" sz="1600" b="1" dirty="0">
                <a:solidFill>
                  <a:srgbClr val="FFFFFF"/>
                </a:solidFill>
                <a:latin typeface="Calibri"/>
              </a:rPr>
              <a:t>South-1 Chain Summary</a:t>
            </a:r>
            <a:endParaRPr lang="en-IN" sz="1600" b="1" dirty="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2" name="Picture 2" descr="A white and orange tube with white text  AI-generated content may be incorrect.">
            <a:extLst>
              <a:ext uri="{FF2B5EF4-FFF2-40B4-BE49-F238E27FC236}">
                <a16:creationId xmlns:a16="http://schemas.microsoft.com/office/drawing/2014/main" id="{B9009A3B-EB3E-6343-D608-A81EA6B34D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48" r="23559"/>
          <a:stretch/>
        </p:blipFill>
        <p:spPr bwMode="auto">
          <a:xfrm>
            <a:off x="2748382" y="6198211"/>
            <a:ext cx="212290" cy="408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89F3E15F-5CB2-DEA2-068B-752C22B928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345" y="6156575"/>
            <a:ext cx="240883" cy="511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bottle of rice face wash  Description automatically generated">
            <a:extLst>
              <a:ext uri="{FF2B5EF4-FFF2-40B4-BE49-F238E27FC236}">
                <a16:creationId xmlns:a16="http://schemas.microsoft.com/office/drawing/2014/main" id="{E94E6A19-320A-A66F-4669-6DEE7233F7A3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27809" t="6059" r="29332" b="4208"/>
          <a:stretch/>
        </p:blipFill>
        <p:spPr>
          <a:xfrm>
            <a:off x="193864" y="3919244"/>
            <a:ext cx="177369" cy="365792"/>
          </a:xfrm>
          <a:prstGeom prst="rect">
            <a:avLst/>
          </a:prstGeom>
        </p:spPr>
      </p:pic>
      <p:pic>
        <p:nvPicPr>
          <p:cNvPr id="5" name="Picture 4" descr="A yellow bottle of sunscreen  Description automatically generated">
            <a:extLst>
              <a:ext uri="{FF2B5EF4-FFF2-40B4-BE49-F238E27FC236}">
                <a16:creationId xmlns:a16="http://schemas.microsoft.com/office/drawing/2014/main" id="{DFA487F3-EFDB-3AC1-1F3C-F5EB48156D79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32069" t="9042" r="31762" b="9272"/>
          <a:stretch/>
        </p:blipFill>
        <p:spPr>
          <a:xfrm>
            <a:off x="5134745" y="4059965"/>
            <a:ext cx="196303" cy="443346"/>
          </a:xfrm>
          <a:prstGeom prst="rect">
            <a:avLst/>
          </a:prstGeom>
        </p:spPr>
      </p:pic>
      <p:pic>
        <p:nvPicPr>
          <p:cNvPr id="6" name="Google Shape;1518;p235" descr="A purple bottle with a dropper next to a box  AI-generated content may be incorrect.">
            <a:extLst>
              <a:ext uri="{FF2B5EF4-FFF2-40B4-BE49-F238E27FC236}">
                <a16:creationId xmlns:a16="http://schemas.microsoft.com/office/drawing/2014/main" id="{FDD0B690-73C1-A54D-0365-B948D81A608F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057082" y="6176980"/>
            <a:ext cx="216398" cy="274423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396;p227" descr="A white bottle with a label on it  Description automatically generated">
            <a:extLst>
              <a:ext uri="{FF2B5EF4-FFF2-40B4-BE49-F238E27FC236}">
                <a16:creationId xmlns:a16="http://schemas.microsoft.com/office/drawing/2014/main" id="{64871C3D-C720-F171-B5B1-F79694721CF7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 l="19608" b="483"/>
          <a:stretch/>
        </p:blipFill>
        <p:spPr>
          <a:xfrm>
            <a:off x="2549882" y="3936894"/>
            <a:ext cx="178723" cy="412609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PageNum"/>
          <p:cNvSpPr txBox="1"/>
          <p:nvPr/>
        </p:nvSpPr>
        <p:spPr>
          <a:xfrm>
            <a:off x="6282690" y="10414318"/>
            <a:ext cx="856524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10 / 21</a:t>
            </a:r>
          </a:p>
        </p:txBody>
      </p:sp>
      <p:sp>
        <p:nvSpPr>
          <p:cNvPr id="2" name="Text 0"/>
          <p:cNvSpPr/>
          <p:nvPr/>
        </p:nvSpPr>
        <p:spPr>
          <a:xfrm>
            <a:off x="-17844" y="-14471"/>
            <a:ext cx="7580694" cy="454996"/>
          </a:xfrm>
          <a:prstGeom prst="rect">
            <a:avLst/>
          </a:prstGeom>
          <a:solidFill>
            <a:srgbClr val="2D9B7F"/>
          </a:solidFill>
          <a:ln/>
        </p:spPr>
        <p:txBody>
          <a:bodyPr wrap="square" lIns="0" tIns="0" rIns="0" bIns="0" rtlCol="0" anchor="t"/>
          <a:lstStyle/>
          <a:p>
            <a:pPr algn="ctr"/>
            <a:r>
              <a:rPr lang="en-US" sz="24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OFFTAKE PERFORMANCE REPORT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-17844" y="417740"/>
            <a:ext cx="7580694" cy="3077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5A85"/>
                </a:solidFill>
                <a:latin typeface="Calibri"/>
              </a:rPr>
              <a:t>NORTH ZONE DEEP DIVE — MAY'26</a:t>
            </a:r>
            <a:endParaRPr lang="en-US" sz="16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135104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1B051920-9B91-BB7D-0B2E-EB0664244C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0819409"/>
              </p:ext>
            </p:extLst>
          </p:nvPr>
        </p:nvGraphicFramePr>
        <p:xfrm>
          <a:off x="212691" y="82627"/>
          <a:ext cx="7015882" cy="254257"/>
        </p:xfrm>
        <a:graphic>
          <a:graphicData uri="http://schemas.openxmlformats.org/drawingml/2006/table">
            <a:tbl>
              <a:tblPr firstRow="1" firstCol="1" bandRow="1"/>
              <a:tblGrid>
                <a:gridCol w="7015882">
                  <a:extLst>
                    <a:ext uri="{9D8B030D-6E8A-4147-A177-3AD203B41FA5}">
                      <a16:colId xmlns:a16="http://schemas.microsoft.com/office/drawing/2014/main" val="2201429027"/>
                    </a:ext>
                  </a:extLst>
                </a:gridCol>
              </a:tblGrid>
              <a:tr h="2542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SOUTH-2 ZONE PERFORMANCE</a:t>
                      </a:r>
                      <a:endParaRPr lang="en-IN" sz="8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30" marR="6583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016972"/>
                  </a:ext>
                </a:extLst>
              </a:tr>
            </a:tbl>
          </a:graphicData>
        </a:graphic>
      </p:graphicFrame>
      <p:grpSp>
        <p:nvGrpSpPr>
          <p:cNvPr id="59" name="Group 58">
            <a:extLst>
              <a:ext uri="{FF2B5EF4-FFF2-40B4-BE49-F238E27FC236}">
                <a16:creationId xmlns:a16="http://schemas.microsoft.com/office/drawing/2014/main" id="{DD68EAEE-F80C-F3EC-109E-BA117E71D016}"/>
              </a:ext>
            </a:extLst>
          </p:cNvPr>
          <p:cNvGrpSpPr>
            <a:grpSpLocks/>
          </p:cNvGrpSpPr>
          <p:nvPr/>
        </p:nvGrpSpPr>
        <p:grpSpPr>
          <a:xfrm>
            <a:off x="212691" y="410876"/>
            <a:ext cx="1600200" cy="469900"/>
            <a:chOff x="0" y="0"/>
            <a:chExt cx="1600200" cy="469900"/>
          </a:xfrm>
        </p:grpSpPr>
        <p:sp>
          <p:nvSpPr>
            <p:cNvPr id="60" name="Graphic 251">
              <a:extLst>
                <a:ext uri="{FF2B5EF4-FFF2-40B4-BE49-F238E27FC236}">
                  <a16:creationId xmlns:a16="http://schemas.microsoft.com/office/drawing/2014/main" id="{AE04FE27-F37C-FB01-7FB2-B2D33688B0BC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1" name="Graphic 252">
              <a:extLst>
                <a:ext uri="{FF2B5EF4-FFF2-40B4-BE49-F238E27FC236}">
                  <a16:creationId xmlns:a16="http://schemas.microsoft.com/office/drawing/2014/main" id="{87A3E814-7336-FA22-3836-09A27F3A3FA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2" name="Textbox 253">
              <a:extLst>
                <a:ext uri="{FF2B5EF4-FFF2-40B4-BE49-F238E27FC236}">
                  <a16:creationId xmlns:a16="http://schemas.microsoft.com/office/drawing/2014/main" id="{327D0D1E-52B7-0544-69AC-D27F67860192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May-26 Sales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554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6CF0896D-3C02-C329-D4D8-571E7F485B4D}"/>
              </a:ext>
            </a:extLst>
          </p:cNvPr>
          <p:cNvGrpSpPr>
            <a:grpSpLocks/>
          </p:cNvGrpSpPr>
          <p:nvPr/>
        </p:nvGrpSpPr>
        <p:grpSpPr>
          <a:xfrm>
            <a:off x="1988068" y="410876"/>
            <a:ext cx="1600200" cy="469900"/>
            <a:chOff x="0" y="0"/>
            <a:chExt cx="1600200" cy="469900"/>
          </a:xfrm>
        </p:grpSpPr>
        <p:sp>
          <p:nvSpPr>
            <p:cNvPr id="64" name="Graphic 255">
              <a:extLst>
                <a:ext uri="{FF2B5EF4-FFF2-40B4-BE49-F238E27FC236}">
                  <a16:creationId xmlns:a16="http://schemas.microsoft.com/office/drawing/2014/main" id="{F5CE3C7F-BAA9-CD25-1598-3A30E0D6A453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5" name="Graphic 256">
              <a:extLst>
                <a:ext uri="{FF2B5EF4-FFF2-40B4-BE49-F238E27FC236}">
                  <a16:creationId xmlns:a16="http://schemas.microsoft.com/office/drawing/2014/main" id="{35D43F11-7FFC-3438-380C-33F69E72795A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6" name="Textbox 257">
              <a:extLst>
                <a:ext uri="{FF2B5EF4-FFF2-40B4-BE49-F238E27FC236}">
                  <a16:creationId xmlns:a16="http://schemas.microsoft.com/office/drawing/2014/main" id="{20C7EE75-3B4F-E74E-A5C0-CFE2D5A3D1CF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Zone Share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13.8%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A702DE7B-B820-9D9B-3797-7468D7DD4ECA}"/>
              </a:ext>
            </a:extLst>
          </p:cNvPr>
          <p:cNvGrpSpPr>
            <a:grpSpLocks/>
          </p:cNvGrpSpPr>
          <p:nvPr/>
        </p:nvGrpSpPr>
        <p:grpSpPr>
          <a:xfrm>
            <a:off x="3763445" y="409266"/>
            <a:ext cx="1600200" cy="469900"/>
            <a:chOff x="0" y="0"/>
            <a:chExt cx="1600200" cy="469900"/>
          </a:xfrm>
        </p:grpSpPr>
        <p:sp>
          <p:nvSpPr>
            <p:cNvPr id="68" name="Graphic 259">
              <a:extLst>
                <a:ext uri="{FF2B5EF4-FFF2-40B4-BE49-F238E27FC236}">
                  <a16:creationId xmlns:a16="http://schemas.microsoft.com/office/drawing/2014/main" id="{4F59F74E-A9A3-A03B-6DF6-E1FC6CF5DCC4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9" name="Graphic 260">
              <a:extLst>
                <a:ext uri="{FF2B5EF4-FFF2-40B4-BE49-F238E27FC236}">
                  <a16:creationId xmlns:a16="http://schemas.microsoft.com/office/drawing/2014/main" id="{21D51929-BD0B-81C1-A744-1E863136F4F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0" name="Textbox 261">
              <a:extLst>
                <a:ext uri="{FF2B5EF4-FFF2-40B4-BE49-F238E27FC236}">
                  <a16:creationId xmlns:a16="http://schemas.microsoft.com/office/drawing/2014/main" id="{42FA30A0-A741-6043-88F2-1A90ADD27414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L3M Avg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421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F27C9CD-9B21-5E34-0C32-1AB5F84F55FD}"/>
              </a:ext>
            </a:extLst>
          </p:cNvPr>
          <p:cNvGrpSpPr>
            <a:grpSpLocks/>
          </p:cNvGrpSpPr>
          <p:nvPr/>
        </p:nvGrpSpPr>
        <p:grpSpPr>
          <a:xfrm>
            <a:off x="5539014" y="410910"/>
            <a:ext cx="1600200" cy="469900"/>
            <a:chOff x="0" y="0"/>
            <a:chExt cx="1600200" cy="469900"/>
          </a:xfrm>
        </p:grpSpPr>
        <p:sp>
          <p:nvSpPr>
            <p:cNvPr id="72" name="Graphic 263">
              <a:extLst>
                <a:ext uri="{FF2B5EF4-FFF2-40B4-BE49-F238E27FC236}">
                  <a16:creationId xmlns:a16="http://schemas.microsoft.com/office/drawing/2014/main" id="{4E793049-DA48-496E-F528-84304A3FB08F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3" name="Graphic 264">
              <a:extLst>
                <a:ext uri="{FF2B5EF4-FFF2-40B4-BE49-F238E27FC236}">
                  <a16:creationId xmlns:a16="http://schemas.microsoft.com/office/drawing/2014/main" id="{29227A2B-0582-AE0C-E8D7-1C924EB8D8CE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4" name="Textbox 265">
              <a:extLst>
                <a:ext uri="{FF2B5EF4-FFF2-40B4-BE49-F238E27FC236}">
                  <a16:creationId xmlns:a16="http://schemas.microsoft.com/office/drawing/2014/main" id="{50672AAD-CBB1-4DA3-E51B-B8B2B09130C0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GOLY May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algn="ctr">
                <a:spcBef>
                  <a:spcPts val="55"/>
                </a:spcBef>
                <a:spcAft>
                  <a:spcPts val="0"/>
                </a:spcAft>
              </a:pPr>
              <a:r>
                <a:rPr sz="1600" b="1">
                  <a:solidFill>
                    <a:srgbClr val="008A3D"/>
                  </a:solidFill>
                  <a:latin typeface="+mj-lt"/>
                </a:rPr>
                <a:t>▲ 73%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sp>
        <p:nvSpPr>
          <p:cNvPr id="75" name="Rectangle 48">
            <a:extLst>
              <a:ext uri="{FF2B5EF4-FFF2-40B4-BE49-F238E27FC236}">
                <a16:creationId xmlns:a16="http://schemas.microsoft.com/office/drawing/2014/main" id="{D24FAE0C-145A-C9D7-74A8-D196DE7A8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875" y="42771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 sz="240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76" name="Rectangle 50">
            <a:extLst>
              <a:ext uri="{FF2B5EF4-FFF2-40B4-BE49-F238E27FC236}">
                <a16:creationId xmlns:a16="http://schemas.microsoft.com/office/drawing/2014/main" id="{58CE6004-1D26-F9E4-E2B8-A5EF89D499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5442770"/>
            <a:ext cx="692652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7" name="Rectangle 52">
            <a:extLst>
              <a:ext uri="{FF2B5EF4-FFF2-40B4-BE49-F238E27FC236}">
                <a16:creationId xmlns:a16="http://schemas.microsoft.com/office/drawing/2014/main" id="{6D038E4A-1677-969E-C704-197AFECF0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5912670"/>
            <a:ext cx="692652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8" name="Rectangle 54">
            <a:extLst>
              <a:ext uri="{FF2B5EF4-FFF2-40B4-BE49-F238E27FC236}">
                <a16:creationId xmlns:a16="http://schemas.microsoft.com/office/drawing/2014/main" id="{BE172A64-5EBD-FF10-7C9B-66C88926A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7372064"/>
            <a:ext cx="6926523" cy="40011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9" name="Rectangle 56">
            <a:extLst>
              <a:ext uri="{FF2B5EF4-FFF2-40B4-BE49-F238E27FC236}">
                <a16:creationId xmlns:a16="http://schemas.microsoft.com/office/drawing/2014/main" id="{E97D74F4-3FCA-35BE-70C0-931264144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6867859"/>
            <a:ext cx="692652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sp>
        <p:nvSpPr>
          <p:cNvPr id="80" name="Textbox 268">
            <a:extLst>
              <a:ext uri="{FF2B5EF4-FFF2-40B4-BE49-F238E27FC236}">
                <a16:creationId xmlns:a16="http://schemas.microsoft.com/office/drawing/2014/main" id="{1A2636FF-FA83-BDD9-A967-753B47792769}"/>
              </a:ext>
            </a:extLst>
          </p:cNvPr>
          <p:cNvSpPr txBox="1"/>
          <p:nvPr/>
        </p:nvSpPr>
        <p:spPr>
          <a:xfrm>
            <a:off x="212691" y="988226"/>
            <a:ext cx="6926523" cy="8486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lIns="0" tIns="0" rIns="0" bIns="0" rtlCol="0" anchor="t">
            <a:noAutofit/>
          </a:bodyPr>
          <a:lstStyle/>
          <a:p>
            <a:pPr marL="127000">
              <a:spcBef>
                <a:spcPts val="600"/>
              </a:spcBef>
              <a:spcAft>
                <a:spcPts val="0"/>
              </a:spcAft>
            </a:pPr>
            <a:r>
              <a:rPr lang="en-US" sz="1100" b="1" dirty="0">
                <a:effectLst/>
                <a:latin typeface="Calibri"/>
                <a:ea typeface="Arial MT"/>
                <a:cs typeface="Calibri"/>
              </a:rPr>
              <a:t>Key Performance </a:t>
            </a:r>
            <a:r>
              <a:rPr lang="en-US" sz="1100" b="1" spc="-10" dirty="0">
                <a:effectLst/>
                <a:latin typeface="Calibri"/>
                <a:ea typeface="Arial MT"/>
                <a:cs typeface="Calibri"/>
              </a:rPr>
              <a:t>Highlights</a:t>
            </a:r>
            <a:endParaRPr lang="en-IN" dirty="0">
              <a:effectLst/>
              <a:latin typeface="+mj-lt"/>
              <a:ea typeface="Arial MT"/>
              <a:cs typeface="Calibri"/>
            </a:endParaRPr>
          </a:p>
          <a:p>
            <a:pPr>
              <a:spcBef>
                <a:spcPts val="105"/>
              </a:spcBef>
            </a:pPr>
            <a:r>
              <a:rPr lang="en-US" sz="1100" b="1" dirty="0">
                <a:effectLst/>
                <a:latin typeface="Calibri"/>
                <a:ea typeface="Arial MT"/>
                <a:cs typeface="Calibri"/>
              </a:rPr>
              <a:t> </a:t>
            </a:r>
            <a:endParaRPr lang="en-IN" dirty="0">
              <a:effectLst/>
              <a:latin typeface="+mj-lt"/>
              <a:ea typeface="Arial MT"/>
              <a:cs typeface="Calibri"/>
            </a:endParaRPr>
          </a:p>
          <a:p>
            <a:pPr marL="184150" indent="-57150">
              <a:tabLst>
                <a:tab pos="184150" algn="l"/>
              </a:tabLst>
            </a:pPr>
            <a:r>
              <a:rPr lang="en-US" sz="1050" b="1" dirty="0">
                <a:effectLst/>
                <a:latin typeface="Calibri"/>
                <a:ea typeface="Arial MT"/>
                <a:cs typeface="Calibri"/>
              </a:rPr>
              <a:t>Zone</a:t>
            </a:r>
            <a:r>
              <a:rPr lang="en-US" sz="1050" b="1" spc="40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1050" b="1" dirty="0">
                <a:effectLst/>
                <a:latin typeface="Calibri"/>
                <a:ea typeface="Arial MT"/>
                <a:cs typeface="Calibri"/>
              </a:rPr>
              <a:t>Record:</a:t>
            </a:r>
            <a:r>
              <a:rPr lang="en-US" sz="1050" b="1" spc="40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1050" dirty="0">
                <a:effectLst/>
                <a:latin typeface="Calibri"/>
                <a:ea typeface="Arial MT"/>
                <a:cs typeface="Calibri"/>
              </a:rPr>
              <a:t>May-26</a:t>
            </a:r>
            <a:r>
              <a:rPr lang="en-US" sz="1050" spc="40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1050" dirty="0">
                <a:effectLst/>
                <a:latin typeface="Calibri"/>
                <a:ea typeface="Arial MT"/>
                <a:cs typeface="Calibri"/>
              </a:rPr>
              <a:t>delivered</a:t>
            </a:r>
            <a:r>
              <a:rPr lang="en-US" sz="1050" spc="40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1050" dirty="0">
                <a:effectLst/>
                <a:latin typeface="Calibri"/>
                <a:ea typeface="Arial MT"/>
                <a:cs typeface="Calibri"/>
              </a:rPr>
              <a:t>the</a:t>
            </a:r>
            <a:r>
              <a:rPr lang="en-US" sz="1050" spc="45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1050" b="1" dirty="0">
                <a:effectLst/>
                <a:latin typeface="Calibri"/>
                <a:ea typeface="Arial MT"/>
                <a:cs typeface="Calibri"/>
              </a:rPr>
              <a:t>highest</a:t>
            </a:r>
            <a:r>
              <a:rPr lang="en-US" sz="1050" b="1" spc="40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1050" b="1" dirty="0">
                <a:effectLst/>
                <a:latin typeface="Calibri"/>
                <a:ea typeface="Arial MT"/>
                <a:cs typeface="Calibri"/>
              </a:rPr>
              <a:t>month</a:t>
            </a:r>
            <a:r>
              <a:rPr lang="en-US" sz="1050" b="1" spc="40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1050" dirty="0">
                <a:effectLst/>
                <a:latin typeface="Calibri"/>
                <a:ea typeface="Arial MT"/>
                <a:cs typeface="Calibri"/>
              </a:rPr>
              <a:t>for</a:t>
            </a:r>
            <a:r>
              <a:rPr lang="en-US" sz="1050" spc="40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1050" dirty="0">
                <a:effectLst/>
                <a:latin typeface="Calibri"/>
                <a:ea typeface="Arial MT"/>
                <a:cs typeface="Calibri"/>
              </a:rPr>
              <a:t>South-2</a:t>
            </a:r>
            <a:r>
              <a:rPr lang="en-US" sz="1050" spc="45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1050" dirty="0">
                <a:effectLst/>
                <a:latin typeface="Calibri"/>
                <a:ea typeface="Arial MT"/>
                <a:cs typeface="Calibri"/>
              </a:rPr>
              <a:t>at</a:t>
            </a:r>
            <a:r>
              <a:rPr lang="en-US" sz="1050" spc="40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1050" b="1" dirty="0">
                <a:solidFill>
                  <a:srgbClr val="0F756E"/>
                </a:solidFill>
                <a:effectLst/>
                <a:latin typeface="Calibri"/>
                <a:ea typeface="Arial MT"/>
                <a:cs typeface="Calibri"/>
              </a:rPr>
              <a:t>554</a:t>
            </a:r>
            <a:r>
              <a:rPr lang="en-US" sz="1050" dirty="0">
                <a:effectLst/>
                <a:latin typeface="Calibri"/>
                <a:ea typeface="Arial MT"/>
                <a:cs typeface="Calibri"/>
              </a:rPr>
              <a:t>,</a:t>
            </a:r>
            <a:r>
              <a:rPr lang="en-US" sz="1050" spc="40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1050" dirty="0">
                <a:effectLst/>
                <a:latin typeface="Calibri"/>
                <a:ea typeface="Arial MT"/>
                <a:cs typeface="Calibri"/>
              </a:rPr>
              <a:t>contributing</a:t>
            </a:r>
            <a:r>
              <a:rPr lang="en-US" sz="1050" spc="40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1050" b="1" dirty="0">
                <a:effectLst/>
                <a:latin typeface="Calibri"/>
                <a:ea typeface="Arial MT"/>
                <a:cs typeface="Calibri"/>
              </a:rPr>
              <a:t>13.8%</a:t>
            </a:r>
            <a:r>
              <a:rPr lang="en-US" sz="1050" b="1" spc="45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1050" dirty="0">
                <a:effectLst/>
                <a:latin typeface="Calibri"/>
                <a:ea typeface="Arial MT"/>
                <a:cs typeface="Calibri"/>
              </a:rPr>
              <a:t>to</a:t>
            </a:r>
            <a:r>
              <a:rPr lang="en-US" sz="1050" spc="40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1050" dirty="0">
                <a:effectLst/>
                <a:latin typeface="Calibri"/>
                <a:ea typeface="Arial MT"/>
                <a:cs typeface="Calibri"/>
              </a:rPr>
              <a:t>total</a:t>
            </a:r>
            <a:r>
              <a:rPr lang="en-US" sz="1050" spc="40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1050" dirty="0">
                <a:effectLst/>
                <a:latin typeface="Calibri"/>
                <a:ea typeface="Arial MT"/>
                <a:cs typeface="Calibri"/>
              </a:rPr>
              <a:t>channel</a:t>
            </a:r>
            <a:r>
              <a:rPr lang="en-US" sz="1050" spc="40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1050" spc="-10" dirty="0">
                <a:effectLst/>
                <a:latin typeface="Calibri"/>
                <a:ea typeface="Arial MT"/>
                <a:cs typeface="Calibri"/>
              </a:rPr>
              <a:t>sales.</a:t>
            </a:r>
            <a:endParaRPr lang="en-IN" dirty="0">
              <a:effectLst/>
              <a:latin typeface="+mj-lt"/>
              <a:ea typeface="Arial MT"/>
              <a:cs typeface="Calibri"/>
            </a:endParaRPr>
          </a:p>
          <a:p>
            <a:pPr marL="184150" indent="-57150">
              <a:spcBef>
                <a:spcPts val="55"/>
              </a:spcBef>
              <a:spcAft>
                <a:spcPts val="0"/>
              </a:spcAft>
              <a:tabLst>
                <a:tab pos="184150" algn="l"/>
              </a:tabLst>
            </a:pPr>
            <a:r>
              <a:rPr sz="1050" b="1" dirty="0">
                <a:latin typeface="Calibri"/>
              </a:rPr>
              <a:t>Growth View: May-26 performance was</a:t>
            </a:r>
            <a:r>
              <a:rPr sz="1050" b="1" dirty="0">
                <a:solidFill>
                  <a:srgbClr val="1C4DD8"/>
                </a:solidFill>
                <a:latin typeface="Calibri"/>
              </a:rPr>
              <a:t> </a:t>
            </a:r>
            <a:r>
              <a:rPr sz="1050" b="1" dirty="0">
                <a:solidFill>
                  <a:srgbClr val="008A3D"/>
                </a:solidFill>
                <a:latin typeface="Calibri"/>
              </a:rPr>
              <a:t>▲ 31%</a:t>
            </a:r>
            <a:r>
              <a:rPr sz="1050" b="1" dirty="0">
                <a:solidFill>
                  <a:srgbClr val="1C4DD8"/>
                </a:solidFill>
                <a:latin typeface="Calibri"/>
              </a:rPr>
              <a:t> </a:t>
            </a:r>
            <a:r>
              <a:rPr sz="1050" b="1" dirty="0">
                <a:latin typeface="Calibri"/>
              </a:rPr>
              <a:t>vs L3M and</a:t>
            </a:r>
            <a:r>
              <a:rPr sz="1050" b="1" dirty="0">
                <a:solidFill>
                  <a:srgbClr val="1C4DD8"/>
                </a:solidFill>
                <a:latin typeface="Calibri"/>
              </a:rPr>
              <a:t> </a:t>
            </a:r>
            <a:r>
              <a:rPr sz="1050" b="1" dirty="0">
                <a:solidFill>
                  <a:srgbClr val="008A3D"/>
                </a:solidFill>
                <a:latin typeface="Calibri"/>
              </a:rPr>
              <a:t>▲ 73%</a:t>
            </a:r>
            <a:r>
              <a:rPr sz="1050" b="1" dirty="0">
                <a:solidFill>
                  <a:srgbClr val="1C4DD8"/>
                </a:solidFill>
                <a:latin typeface="Calibri"/>
              </a:rPr>
              <a:t> </a:t>
            </a:r>
            <a:r>
              <a:rPr sz="1050" b="1" dirty="0">
                <a:latin typeface="Calibri"/>
              </a:rPr>
              <a:t>vs May-25, confirming Consistent strong month momentum.</a:t>
            </a:r>
            <a:endParaRPr lang="en-IN" sz="1400" dirty="0">
              <a:effectLst/>
              <a:latin typeface="+mj-lt"/>
              <a:ea typeface="Arial MT"/>
              <a:cs typeface="Calibri"/>
            </a:endParaRPr>
          </a:p>
        </p:txBody>
      </p:sp>
      <p:sp>
        <p:nvSpPr>
          <p:cNvPr id="149" name="Shape 3">
            <a:extLst>
              <a:ext uri="{FF2B5EF4-FFF2-40B4-BE49-F238E27FC236}">
                <a16:creationId xmlns:a16="http://schemas.microsoft.com/office/drawing/2014/main" id="{E2B15EBD-7C86-86AC-FD83-3C817A35F1E5}"/>
              </a:ext>
            </a:extLst>
          </p:cNvPr>
          <p:cNvSpPr/>
          <p:nvPr/>
        </p:nvSpPr>
        <p:spPr>
          <a:xfrm>
            <a:off x="212691" y="3473924"/>
            <a:ext cx="6926523" cy="256032"/>
          </a:xfrm>
          <a:prstGeom prst="rect">
            <a:avLst/>
          </a:prstGeom>
          <a:solidFill>
            <a:srgbClr val="2D9B7F"/>
          </a:solidFill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sp>
        <p:nvSpPr>
          <p:cNvPr id="150" name="Text 4">
            <a:extLst>
              <a:ext uri="{FF2B5EF4-FFF2-40B4-BE49-F238E27FC236}">
                <a16:creationId xmlns:a16="http://schemas.microsoft.com/office/drawing/2014/main" id="{E090B056-5AAD-CC5C-BB09-77FB607FB2B4}"/>
              </a:ext>
            </a:extLst>
          </p:cNvPr>
          <p:cNvSpPr/>
          <p:nvPr/>
        </p:nvSpPr>
        <p:spPr>
          <a:xfrm>
            <a:off x="212691" y="3537932"/>
            <a:ext cx="692652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b="1" dirty="0">
                <a:solidFill>
                  <a:srgbClr val="FFFFFF"/>
                </a:solidFill>
                <a:latin typeface="Calibri"/>
              </a:rPr>
              <a:t>South-2 | Mamaearth — Top 3 Sub-category Monthly Trend (NSV)</a:t>
            </a:r>
            <a:endParaRPr lang="en-US" sz="780" dirty="0">
              <a:latin typeface="+mj-lt"/>
            </a:endParaRPr>
          </a:p>
        </p:txBody>
      </p:sp>
      <p:sp>
        <p:nvSpPr>
          <p:cNvPr id="151" name="Text 5">
            <a:extLst>
              <a:ext uri="{FF2B5EF4-FFF2-40B4-BE49-F238E27FC236}">
                <a16:creationId xmlns:a16="http://schemas.microsoft.com/office/drawing/2014/main" id="{8DC1552C-E149-4A10-28F5-0A4785E39F2D}"/>
              </a:ext>
            </a:extLst>
          </p:cNvPr>
          <p:cNvSpPr/>
          <p:nvPr/>
        </p:nvSpPr>
        <p:spPr>
          <a:xfrm>
            <a:off x="239393" y="3859485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1100" dirty="0">
              <a:latin typeface="+mj-lt"/>
            </a:endParaRPr>
          </a:p>
        </p:txBody>
      </p:sp>
      <p:sp>
        <p:nvSpPr>
          <p:cNvPr id="152" name="Text 6">
            <a:extLst>
              <a:ext uri="{FF2B5EF4-FFF2-40B4-BE49-F238E27FC236}">
                <a16:creationId xmlns:a16="http://schemas.microsoft.com/office/drawing/2014/main" id="{68B7E644-F756-EB08-51D0-E4BBD2584EB3}"/>
              </a:ext>
            </a:extLst>
          </p:cNvPr>
          <p:cNvSpPr/>
          <p:nvPr/>
        </p:nvSpPr>
        <p:spPr>
          <a:xfrm>
            <a:off x="725701" y="3876966"/>
            <a:ext cx="372097" cy="242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 dirty="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 dirty="0">
                <a:solidFill>
                  <a:srgbClr val="008A3D"/>
                </a:solidFill>
                <a:latin typeface="Calibri"/>
              </a:rPr>
              <a:t>▲ 50%</a:t>
            </a:r>
            <a:endParaRPr lang="en-US" sz="900" dirty="0">
              <a:latin typeface="+mj-lt"/>
            </a:endParaRPr>
          </a:p>
        </p:txBody>
      </p:sp>
      <p:sp>
        <p:nvSpPr>
          <p:cNvPr id="153" name="Text 7">
            <a:extLst>
              <a:ext uri="{FF2B5EF4-FFF2-40B4-BE49-F238E27FC236}">
                <a16:creationId xmlns:a16="http://schemas.microsoft.com/office/drawing/2014/main" id="{E90F34B8-D653-A710-F866-1BC3E6964F9D}"/>
              </a:ext>
            </a:extLst>
          </p:cNvPr>
          <p:cNvSpPr/>
          <p:nvPr/>
        </p:nvSpPr>
        <p:spPr>
          <a:xfrm>
            <a:off x="1309888" y="3897280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19%</a:t>
            </a:r>
            <a:endParaRPr lang="en-US" sz="900" dirty="0">
              <a:latin typeface="+mj-lt"/>
            </a:endParaRPr>
          </a:p>
        </p:txBody>
      </p:sp>
      <p:sp>
        <p:nvSpPr>
          <p:cNvPr id="154" name="Text 8">
            <a:extLst>
              <a:ext uri="{FF2B5EF4-FFF2-40B4-BE49-F238E27FC236}">
                <a16:creationId xmlns:a16="http://schemas.microsoft.com/office/drawing/2014/main" id="{3CB5B5FD-F962-33DF-877C-0AE18D2CE328}"/>
              </a:ext>
            </a:extLst>
          </p:cNvPr>
          <p:cNvSpPr/>
          <p:nvPr/>
        </p:nvSpPr>
        <p:spPr>
          <a:xfrm>
            <a:off x="1843055" y="3885404"/>
            <a:ext cx="509783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May'26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144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55" name="Chart 0">
            <a:extLst>
              <a:ext uri="{FF2B5EF4-FFF2-40B4-BE49-F238E27FC236}">
                <a16:creationId xmlns:a16="http://schemas.microsoft.com/office/drawing/2014/main" id="{C3EABDE2-E03A-721E-0AE3-C104F928F4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46139199"/>
              </p:ext>
            </p:extLst>
          </p:nvPr>
        </p:nvGraphicFramePr>
        <p:xfrm>
          <a:off x="275452" y="3805495"/>
          <a:ext cx="2174502" cy="15775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6" name="Text 9">
            <a:extLst>
              <a:ext uri="{FF2B5EF4-FFF2-40B4-BE49-F238E27FC236}">
                <a16:creationId xmlns:a16="http://schemas.microsoft.com/office/drawing/2014/main" id="{5BEBD7FD-7A2C-AC1D-76B9-D5B4A0E4DD0C}"/>
              </a:ext>
            </a:extLst>
          </p:cNvPr>
          <p:cNvSpPr/>
          <p:nvPr/>
        </p:nvSpPr>
        <p:spPr>
          <a:xfrm>
            <a:off x="2618118" y="3885404"/>
            <a:ext cx="627675" cy="213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Shampoo</a:t>
            </a:r>
            <a:endParaRPr lang="en-US" sz="900" dirty="0">
              <a:latin typeface="+mj-lt"/>
            </a:endParaRPr>
          </a:p>
        </p:txBody>
      </p:sp>
      <p:sp>
        <p:nvSpPr>
          <p:cNvPr id="157" name="Text 10">
            <a:extLst>
              <a:ext uri="{FF2B5EF4-FFF2-40B4-BE49-F238E27FC236}">
                <a16:creationId xmlns:a16="http://schemas.microsoft.com/office/drawing/2014/main" id="{1E0A7551-8419-9F78-49C5-64130D89CF32}"/>
              </a:ext>
            </a:extLst>
          </p:cNvPr>
          <p:cNvSpPr/>
          <p:nvPr/>
        </p:nvSpPr>
        <p:spPr>
          <a:xfrm>
            <a:off x="3210825" y="3875509"/>
            <a:ext cx="372097" cy="196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 dirty="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 dirty="0">
                <a:solidFill>
                  <a:srgbClr val="008A3D"/>
                </a:solidFill>
                <a:latin typeface="Calibri"/>
              </a:rPr>
              <a:t>▲ 55%</a:t>
            </a:r>
            <a:endParaRPr lang="en-US" sz="900" dirty="0">
              <a:latin typeface="+mj-lt"/>
            </a:endParaRPr>
          </a:p>
        </p:txBody>
      </p:sp>
      <p:sp>
        <p:nvSpPr>
          <p:cNvPr id="158" name="Text 11">
            <a:extLst>
              <a:ext uri="{FF2B5EF4-FFF2-40B4-BE49-F238E27FC236}">
                <a16:creationId xmlns:a16="http://schemas.microsoft.com/office/drawing/2014/main" id="{A6E4DFA5-8AF1-66E3-AB74-1643CD5B917D}"/>
              </a:ext>
            </a:extLst>
          </p:cNvPr>
          <p:cNvSpPr/>
          <p:nvPr/>
        </p:nvSpPr>
        <p:spPr>
          <a:xfrm>
            <a:off x="3615344" y="3871688"/>
            <a:ext cx="372097" cy="247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8%</a:t>
            </a:r>
            <a:endParaRPr lang="en-US" sz="900" dirty="0">
              <a:latin typeface="+mj-lt"/>
            </a:endParaRPr>
          </a:p>
        </p:txBody>
      </p:sp>
      <p:sp>
        <p:nvSpPr>
          <p:cNvPr id="159" name="Text 12">
            <a:extLst>
              <a:ext uri="{FF2B5EF4-FFF2-40B4-BE49-F238E27FC236}">
                <a16:creationId xmlns:a16="http://schemas.microsoft.com/office/drawing/2014/main" id="{0002D543-8B74-7800-B3E0-CCAA6D0B22FA}"/>
              </a:ext>
            </a:extLst>
          </p:cNvPr>
          <p:cNvSpPr/>
          <p:nvPr/>
        </p:nvSpPr>
        <p:spPr>
          <a:xfrm>
            <a:off x="4078340" y="3873841"/>
            <a:ext cx="413442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May'26 119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0" name="Chart 1">
            <a:extLst>
              <a:ext uri="{FF2B5EF4-FFF2-40B4-BE49-F238E27FC236}">
                <a16:creationId xmlns:a16="http://schemas.microsoft.com/office/drawing/2014/main" id="{498335C8-87FE-1BF3-E55D-7F3682FE88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32041184"/>
              </p:ext>
            </p:extLst>
          </p:nvPr>
        </p:nvGraphicFramePr>
        <p:xfrm>
          <a:off x="2466165" y="3818106"/>
          <a:ext cx="2262902" cy="15720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1" name="Text 13">
            <a:extLst>
              <a:ext uri="{FF2B5EF4-FFF2-40B4-BE49-F238E27FC236}">
                <a16:creationId xmlns:a16="http://schemas.microsoft.com/office/drawing/2014/main" id="{AE81E6A1-E294-CD2E-3731-74E6402A61FF}"/>
              </a:ext>
            </a:extLst>
          </p:cNvPr>
          <p:cNvSpPr/>
          <p:nvPr/>
        </p:nvSpPr>
        <p:spPr>
          <a:xfrm>
            <a:off x="4943104" y="3837376"/>
            <a:ext cx="537475" cy="187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Sun Care</a:t>
            </a:r>
            <a:endParaRPr lang="en-US" sz="900" dirty="0">
              <a:latin typeface="+mj-lt"/>
            </a:endParaRPr>
          </a:p>
        </p:txBody>
      </p:sp>
      <p:sp>
        <p:nvSpPr>
          <p:cNvPr id="162" name="Text 14">
            <a:extLst>
              <a:ext uri="{FF2B5EF4-FFF2-40B4-BE49-F238E27FC236}">
                <a16:creationId xmlns:a16="http://schemas.microsoft.com/office/drawing/2014/main" id="{27F9A9D8-519D-AC19-D616-44CAE0D43FD1}"/>
              </a:ext>
            </a:extLst>
          </p:cNvPr>
          <p:cNvSpPr/>
          <p:nvPr/>
        </p:nvSpPr>
        <p:spPr>
          <a:xfrm>
            <a:off x="5522642" y="3856086"/>
            <a:ext cx="615164" cy="244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>
                <a:solidFill>
                  <a:srgbClr val="008A3D"/>
                </a:solidFill>
                <a:latin typeface="Calibri"/>
              </a:rPr>
              <a:t>▲ 105%</a:t>
            </a:r>
            <a:endParaRPr lang="en-US" sz="900" dirty="0">
              <a:latin typeface="+mj-lt"/>
            </a:endParaRPr>
          </a:p>
        </p:txBody>
      </p:sp>
      <p:sp>
        <p:nvSpPr>
          <p:cNvPr id="163" name="Text 15">
            <a:extLst>
              <a:ext uri="{FF2B5EF4-FFF2-40B4-BE49-F238E27FC236}">
                <a16:creationId xmlns:a16="http://schemas.microsoft.com/office/drawing/2014/main" id="{25E789B0-F22E-6189-F81D-C18A4F30CC76}"/>
              </a:ext>
            </a:extLst>
          </p:cNvPr>
          <p:cNvSpPr/>
          <p:nvPr/>
        </p:nvSpPr>
        <p:spPr>
          <a:xfrm>
            <a:off x="5989229" y="3836826"/>
            <a:ext cx="372097" cy="253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6%</a:t>
            </a:r>
            <a:endParaRPr lang="en-US" sz="900" dirty="0">
              <a:latin typeface="+mj-lt"/>
            </a:endParaRPr>
          </a:p>
        </p:txBody>
      </p:sp>
      <p:sp>
        <p:nvSpPr>
          <p:cNvPr id="164" name="Text 16">
            <a:extLst>
              <a:ext uri="{FF2B5EF4-FFF2-40B4-BE49-F238E27FC236}">
                <a16:creationId xmlns:a16="http://schemas.microsoft.com/office/drawing/2014/main" id="{B7F3446D-2E00-77C7-5921-C34968E8F7B7}"/>
              </a:ext>
            </a:extLst>
          </p:cNvPr>
          <p:cNvSpPr/>
          <p:nvPr/>
        </p:nvSpPr>
        <p:spPr>
          <a:xfrm>
            <a:off x="6417697" y="3885403"/>
            <a:ext cx="413442" cy="206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May'26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40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5" name="Chart 2">
            <a:extLst>
              <a:ext uri="{FF2B5EF4-FFF2-40B4-BE49-F238E27FC236}">
                <a16:creationId xmlns:a16="http://schemas.microsoft.com/office/drawing/2014/main" id="{E29320C6-4ABC-47AD-CAC6-8C1A6CA6E8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14364795"/>
              </p:ext>
            </p:extLst>
          </p:nvPr>
        </p:nvGraphicFramePr>
        <p:xfrm>
          <a:off x="4824542" y="3822384"/>
          <a:ext cx="2239704" cy="15926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6" name="Shape 17">
            <a:extLst>
              <a:ext uri="{FF2B5EF4-FFF2-40B4-BE49-F238E27FC236}">
                <a16:creationId xmlns:a16="http://schemas.microsoft.com/office/drawing/2014/main" id="{0C37FB05-75B7-65DE-A1B1-F44B76B917B2}"/>
              </a:ext>
            </a:extLst>
          </p:cNvPr>
          <p:cNvSpPr/>
          <p:nvPr/>
        </p:nvSpPr>
        <p:spPr>
          <a:xfrm>
            <a:off x="212691" y="5470073"/>
            <a:ext cx="6926523" cy="323487"/>
          </a:xfrm>
          <a:prstGeom prst="rect">
            <a:avLst/>
          </a:prstGeom>
          <a:solidFill>
            <a:srgbClr val="2D9B7F"/>
          </a:solidFill>
          <a:ln w="12700">
            <a:solidFill>
              <a:srgbClr val="23633A"/>
            </a:solidFill>
            <a:prstDash val="solid"/>
          </a:ln>
        </p:spPr>
        <p:txBody>
          <a:bodyPr anchor="t"/>
          <a:lstStyle/>
          <a:p>
            <a:endParaRPr lang="en-IN" dirty="0">
              <a:latin typeface="+mj-lt"/>
            </a:endParaRPr>
          </a:p>
        </p:txBody>
      </p:sp>
      <p:sp>
        <p:nvSpPr>
          <p:cNvPr id="167" name="Text 18">
            <a:extLst>
              <a:ext uri="{FF2B5EF4-FFF2-40B4-BE49-F238E27FC236}">
                <a16:creationId xmlns:a16="http://schemas.microsoft.com/office/drawing/2014/main" id="{606509AD-D1A3-4CFF-7031-2BD01F460E84}"/>
              </a:ext>
            </a:extLst>
          </p:cNvPr>
          <p:cNvSpPr/>
          <p:nvPr/>
        </p:nvSpPr>
        <p:spPr>
          <a:xfrm>
            <a:off x="212691" y="5468644"/>
            <a:ext cx="6926523" cy="318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South-2 | The Derma Co. — Top 3 Sub-category Monthly Trend (NSV)</a:t>
            </a:r>
            <a:endParaRPr lang="en-US" sz="1100" dirty="0">
              <a:latin typeface="+mj-lt"/>
            </a:endParaRPr>
          </a:p>
        </p:txBody>
      </p:sp>
      <p:sp>
        <p:nvSpPr>
          <p:cNvPr id="168" name="Text 19">
            <a:extLst>
              <a:ext uri="{FF2B5EF4-FFF2-40B4-BE49-F238E27FC236}">
                <a16:creationId xmlns:a16="http://schemas.microsoft.com/office/drawing/2014/main" id="{A8BC9F08-BB7E-07CC-C7BE-53E76EB85511}"/>
              </a:ext>
            </a:extLst>
          </p:cNvPr>
          <p:cNvSpPr/>
          <p:nvPr/>
        </p:nvSpPr>
        <p:spPr>
          <a:xfrm>
            <a:off x="278344" y="5927181"/>
            <a:ext cx="397538" cy="24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1200" dirty="0">
              <a:latin typeface="+mj-lt"/>
            </a:endParaRPr>
          </a:p>
        </p:txBody>
      </p:sp>
      <p:sp>
        <p:nvSpPr>
          <p:cNvPr id="169" name="Text 20">
            <a:extLst>
              <a:ext uri="{FF2B5EF4-FFF2-40B4-BE49-F238E27FC236}">
                <a16:creationId xmlns:a16="http://schemas.microsoft.com/office/drawing/2014/main" id="{CC6466FF-9DFE-712B-2E6C-63C9594ED3C1}"/>
              </a:ext>
            </a:extLst>
          </p:cNvPr>
          <p:cNvSpPr/>
          <p:nvPr/>
        </p:nvSpPr>
        <p:spPr>
          <a:xfrm>
            <a:off x="700600" y="5940913"/>
            <a:ext cx="445541" cy="215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GOLY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▲137%</a:t>
            </a:r>
            <a:endParaRPr lang="en-US" sz="900" dirty="0">
              <a:latin typeface="+mj-lt"/>
            </a:endParaRPr>
          </a:p>
        </p:txBody>
      </p:sp>
      <p:sp>
        <p:nvSpPr>
          <p:cNvPr id="170" name="Text 21">
            <a:extLst>
              <a:ext uri="{FF2B5EF4-FFF2-40B4-BE49-F238E27FC236}">
                <a16:creationId xmlns:a16="http://schemas.microsoft.com/office/drawing/2014/main" id="{6553EC6E-D91D-B6B7-81E0-5D554EF96509}"/>
              </a:ext>
            </a:extLst>
          </p:cNvPr>
          <p:cNvSpPr/>
          <p:nvPr/>
        </p:nvSpPr>
        <p:spPr>
          <a:xfrm>
            <a:off x="1298916" y="5948266"/>
            <a:ext cx="406179" cy="243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 48%</a:t>
            </a:r>
            <a:endParaRPr lang="en-US" sz="900" dirty="0">
              <a:latin typeface="+mj-lt"/>
            </a:endParaRPr>
          </a:p>
        </p:txBody>
      </p:sp>
      <p:sp>
        <p:nvSpPr>
          <p:cNvPr id="171" name="Text 22">
            <a:extLst>
              <a:ext uri="{FF2B5EF4-FFF2-40B4-BE49-F238E27FC236}">
                <a16:creationId xmlns:a16="http://schemas.microsoft.com/office/drawing/2014/main" id="{21E44F12-56F2-0F79-99BF-12D5FEBEA9AE}"/>
              </a:ext>
            </a:extLst>
          </p:cNvPr>
          <p:cNvSpPr/>
          <p:nvPr/>
        </p:nvSpPr>
        <p:spPr>
          <a:xfrm>
            <a:off x="1911918" y="5925157"/>
            <a:ext cx="496442" cy="243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May'26 62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2" name="Chart 3">
            <a:extLst>
              <a:ext uri="{FF2B5EF4-FFF2-40B4-BE49-F238E27FC236}">
                <a16:creationId xmlns:a16="http://schemas.microsoft.com/office/drawing/2014/main" id="{A04A165C-0A2C-703B-D787-4F0EA0143E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0544965"/>
              </p:ext>
            </p:extLst>
          </p:nvPr>
        </p:nvGraphicFramePr>
        <p:xfrm>
          <a:off x="222457" y="5887849"/>
          <a:ext cx="2269653" cy="14649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73" name="Text 23">
            <a:extLst>
              <a:ext uri="{FF2B5EF4-FFF2-40B4-BE49-F238E27FC236}">
                <a16:creationId xmlns:a16="http://schemas.microsoft.com/office/drawing/2014/main" id="{D7CD4F3F-DA69-AB5C-19FC-40054C6226BA}"/>
              </a:ext>
            </a:extLst>
          </p:cNvPr>
          <p:cNvSpPr/>
          <p:nvPr/>
        </p:nvSpPr>
        <p:spPr>
          <a:xfrm>
            <a:off x="2564343" y="5927180"/>
            <a:ext cx="541573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F29"/>
                </a:solidFill>
                <a:latin typeface="Calibri"/>
              </a:rPr>
              <a:t>Sun Care</a:t>
            </a:r>
            <a:endParaRPr lang="en-US" sz="1000" dirty="0">
              <a:latin typeface="+mj-lt"/>
            </a:endParaRPr>
          </a:p>
        </p:txBody>
      </p:sp>
      <p:sp>
        <p:nvSpPr>
          <p:cNvPr id="174" name="Text 24">
            <a:extLst>
              <a:ext uri="{FF2B5EF4-FFF2-40B4-BE49-F238E27FC236}">
                <a16:creationId xmlns:a16="http://schemas.microsoft.com/office/drawing/2014/main" id="{1D10C6E1-4BAF-BC01-C799-C47AB1F5027D}"/>
              </a:ext>
            </a:extLst>
          </p:cNvPr>
          <p:cNvSpPr/>
          <p:nvPr/>
        </p:nvSpPr>
        <p:spPr>
          <a:xfrm>
            <a:off x="3176423" y="5977197"/>
            <a:ext cx="447960" cy="205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GOLY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▲509%</a:t>
            </a:r>
            <a:endParaRPr lang="en-US" sz="900" dirty="0">
              <a:latin typeface="+mj-lt"/>
            </a:endParaRPr>
          </a:p>
        </p:txBody>
      </p:sp>
      <p:sp>
        <p:nvSpPr>
          <p:cNvPr id="175" name="Text 25">
            <a:extLst>
              <a:ext uri="{FF2B5EF4-FFF2-40B4-BE49-F238E27FC236}">
                <a16:creationId xmlns:a16="http://schemas.microsoft.com/office/drawing/2014/main" id="{7646A250-EE9F-A6C6-49D3-68B6D3DFBFDE}"/>
              </a:ext>
            </a:extLst>
          </p:cNvPr>
          <p:cNvSpPr/>
          <p:nvPr/>
        </p:nvSpPr>
        <p:spPr>
          <a:xfrm>
            <a:off x="3691642" y="5957217"/>
            <a:ext cx="406179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 60%</a:t>
            </a:r>
            <a:endParaRPr lang="en-US" sz="900" dirty="0">
              <a:latin typeface="+mj-lt"/>
            </a:endParaRPr>
          </a:p>
        </p:txBody>
      </p:sp>
      <p:sp>
        <p:nvSpPr>
          <p:cNvPr id="176" name="Text 26">
            <a:extLst>
              <a:ext uri="{FF2B5EF4-FFF2-40B4-BE49-F238E27FC236}">
                <a16:creationId xmlns:a16="http://schemas.microsoft.com/office/drawing/2014/main" id="{DB185B2C-DCD9-D290-C330-3A33EAC025C5}"/>
              </a:ext>
            </a:extLst>
          </p:cNvPr>
          <p:cNvSpPr/>
          <p:nvPr/>
        </p:nvSpPr>
        <p:spPr>
          <a:xfrm>
            <a:off x="4144390" y="5962804"/>
            <a:ext cx="511364" cy="243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May’26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57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7" name="Chart 4">
            <a:extLst>
              <a:ext uri="{FF2B5EF4-FFF2-40B4-BE49-F238E27FC236}">
                <a16:creationId xmlns:a16="http://schemas.microsoft.com/office/drawing/2014/main" id="{CBBF5C82-1DBC-BF6C-CAEA-410BB465C0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39761459"/>
              </p:ext>
            </p:extLst>
          </p:nvPr>
        </p:nvGraphicFramePr>
        <p:xfrm>
          <a:off x="2559720" y="5887161"/>
          <a:ext cx="2269653" cy="14649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78" name="Text 27">
            <a:extLst>
              <a:ext uri="{FF2B5EF4-FFF2-40B4-BE49-F238E27FC236}">
                <a16:creationId xmlns:a16="http://schemas.microsoft.com/office/drawing/2014/main" id="{038BADD0-EAC6-F8D6-7B12-BE177A9DAD4D}"/>
              </a:ext>
            </a:extLst>
          </p:cNvPr>
          <p:cNvSpPr/>
          <p:nvPr/>
        </p:nvSpPr>
        <p:spPr>
          <a:xfrm>
            <a:off x="5022989" y="5906220"/>
            <a:ext cx="482204" cy="264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Face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Serum</a:t>
            </a:r>
            <a:endParaRPr lang="en-US" sz="900" dirty="0">
              <a:latin typeface="+mj-lt"/>
            </a:endParaRPr>
          </a:p>
        </p:txBody>
      </p:sp>
      <p:sp>
        <p:nvSpPr>
          <p:cNvPr id="179" name="Text 28">
            <a:extLst>
              <a:ext uri="{FF2B5EF4-FFF2-40B4-BE49-F238E27FC236}">
                <a16:creationId xmlns:a16="http://schemas.microsoft.com/office/drawing/2014/main" id="{024D5F40-BAD0-9683-DBAB-2A9FEAA024FA}"/>
              </a:ext>
            </a:extLst>
          </p:cNvPr>
          <p:cNvSpPr/>
          <p:nvPr/>
        </p:nvSpPr>
        <p:spPr>
          <a:xfrm>
            <a:off x="5573501" y="5927180"/>
            <a:ext cx="439416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GOLY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 124%</a:t>
            </a:r>
            <a:endParaRPr lang="en-US" sz="900" dirty="0">
              <a:latin typeface="+mj-lt"/>
            </a:endParaRPr>
          </a:p>
        </p:txBody>
      </p:sp>
      <p:sp>
        <p:nvSpPr>
          <p:cNvPr id="180" name="Text 29">
            <a:extLst>
              <a:ext uri="{FF2B5EF4-FFF2-40B4-BE49-F238E27FC236}">
                <a16:creationId xmlns:a16="http://schemas.microsoft.com/office/drawing/2014/main" id="{631DEBF0-39A6-7D0F-BA14-F1B18161FDD2}"/>
              </a:ext>
            </a:extLst>
          </p:cNvPr>
          <p:cNvSpPr/>
          <p:nvPr/>
        </p:nvSpPr>
        <p:spPr>
          <a:xfrm>
            <a:off x="6088076" y="5937681"/>
            <a:ext cx="406179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 7%</a:t>
            </a:r>
            <a:endParaRPr lang="en-US" sz="900" dirty="0">
              <a:latin typeface="+mj-lt"/>
            </a:endParaRPr>
          </a:p>
        </p:txBody>
      </p:sp>
      <p:sp>
        <p:nvSpPr>
          <p:cNvPr id="181" name="Text 30">
            <a:extLst>
              <a:ext uri="{FF2B5EF4-FFF2-40B4-BE49-F238E27FC236}">
                <a16:creationId xmlns:a16="http://schemas.microsoft.com/office/drawing/2014/main" id="{F69669F6-2C5B-9CCF-FC00-E39EBA2DF5E4}"/>
              </a:ext>
            </a:extLst>
          </p:cNvPr>
          <p:cNvSpPr/>
          <p:nvPr/>
        </p:nvSpPr>
        <p:spPr>
          <a:xfrm>
            <a:off x="6569415" y="5927181"/>
            <a:ext cx="451311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May'26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10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82" name="Chart 5">
            <a:extLst>
              <a:ext uri="{FF2B5EF4-FFF2-40B4-BE49-F238E27FC236}">
                <a16:creationId xmlns:a16="http://schemas.microsoft.com/office/drawing/2014/main" id="{39E95149-09DC-244B-A1A2-AB5A022BF0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85197638"/>
              </p:ext>
            </p:extLst>
          </p:nvPr>
        </p:nvGraphicFramePr>
        <p:xfrm>
          <a:off x="4943104" y="5865915"/>
          <a:ext cx="2160299" cy="14851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91" name="Table 190">
            <a:extLst>
              <a:ext uri="{FF2B5EF4-FFF2-40B4-BE49-F238E27FC236}">
                <a16:creationId xmlns:a16="http://schemas.microsoft.com/office/drawing/2014/main" id="{01C4CE9C-7CF2-0375-6C71-4739F8695A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2794944"/>
              </p:ext>
            </p:extLst>
          </p:nvPr>
        </p:nvGraphicFramePr>
        <p:xfrm>
          <a:off x="212691" y="1934878"/>
          <a:ext cx="7121624" cy="1465101"/>
        </p:xfrm>
        <a:graphic>
          <a:graphicData uri="http://schemas.openxmlformats.org/drawingml/2006/table">
            <a:tbl>
              <a:tblPr firstRow="1" firstCol="1" bandRow="1"/>
              <a:tblGrid>
                <a:gridCol w="1217605">
                  <a:extLst>
                    <a:ext uri="{9D8B030D-6E8A-4147-A177-3AD203B41FA5}">
                      <a16:colId xmlns:a16="http://schemas.microsoft.com/office/drawing/2014/main" val="1720933068"/>
                    </a:ext>
                  </a:extLst>
                </a:gridCol>
                <a:gridCol w="617473">
                  <a:extLst>
                    <a:ext uri="{9D8B030D-6E8A-4147-A177-3AD203B41FA5}">
                      <a16:colId xmlns:a16="http://schemas.microsoft.com/office/drawing/2014/main" val="2630805108"/>
                    </a:ext>
                  </a:extLst>
                </a:gridCol>
                <a:gridCol w="811691">
                  <a:extLst>
                    <a:ext uri="{9D8B030D-6E8A-4147-A177-3AD203B41FA5}">
                      <a16:colId xmlns:a16="http://schemas.microsoft.com/office/drawing/2014/main" val="1295913063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4130086957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3066276741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2870282349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1716647770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2912854798"/>
                    </a:ext>
                  </a:extLst>
                </a:gridCol>
              </a:tblGrid>
              <a:tr h="22449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Brand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May-25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Apr-26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May-26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 err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Cont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GO 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GOLY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355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Mamaearth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290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371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413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75%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347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19%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42%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9593741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The Derma Co.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20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89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131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24%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66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97%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545%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4782322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Aqualogica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6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7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8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5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44%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18%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7599869"/>
                  </a:ext>
                </a:extLst>
              </a:tr>
              <a:tr h="31015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Emerging Brands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0%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1020566"/>
                  </a:ext>
                </a:extLst>
              </a:tr>
            </a:tbl>
          </a:graphicData>
        </a:graphic>
      </p:graphicFrame>
      <p:graphicFrame>
        <p:nvGraphicFramePr>
          <p:cNvPr id="194" name="Table 193">
            <a:extLst>
              <a:ext uri="{FF2B5EF4-FFF2-40B4-BE49-F238E27FC236}">
                <a16:creationId xmlns:a16="http://schemas.microsoft.com/office/drawing/2014/main" id="{8A46149D-11DB-F40E-39B0-E59AE1376D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1463577"/>
              </p:ext>
            </p:extLst>
          </p:nvPr>
        </p:nvGraphicFramePr>
        <p:xfrm>
          <a:off x="212691" y="7863614"/>
          <a:ext cx="7010190" cy="1618160"/>
        </p:xfrm>
        <a:graphic>
          <a:graphicData uri="http://schemas.openxmlformats.org/drawingml/2006/table">
            <a:tbl>
              <a:tblPr firstRow="1" firstCol="1" bandRow="1"/>
              <a:tblGrid>
                <a:gridCol w="1701001">
                  <a:extLst>
                    <a:ext uri="{9D8B030D-6E8A-4147-A177-3AD203B41FA5}">
                      <a16:colId xmlns:a16="http://schemas.microsoft.com/office/drawing/2014/main" val="1999662838"/>
                    </a:ext>
                  </a:extLst>
                </a:gridCol>
                <a:gridCol w="773183">
                  <a:extLst>
                    <a:ext uri="{9D8B030D-6E8A-4147-A177-3AD203B41FA5}">
                      <a16:colId xmlns:a16="http://schemas.microsoft.com/office/drawing/2014/main" val="1604924111"/>
                    </a:ext>
                  </a:extLst>
                </a:gridCol>
                <a:gridCol w="721637">
                  <a:extLst>
                    <a:ext uri="{9D8B030D-6E8A-4147-A177-3AD203B41FA5}">
                      <a16:colId xmlns:a16="http://schemas.microsoft.com/office/drawing/2014/main" val="3900343723"/>
                    </a:ext>
                  </a:extLst>
                </a:gridCol>
                <a:gridCol w="773183">
                  <a:extLst>
                    <a:ext uri="{9D8B030D-6E8A-4147-A177-3AD203B41FA5}">
                      <a16:colId xmlns:a16="http://schemas.microsoft.com/office/drawing/2014/main" val="2453469686"/>
                    </a:ext>
                  </a:extLst>
                </a:gridCol>
                <a:gridCol w="773183">
                  <a:extLst>
                    <a:ext uri="{9D8B030D-6E8A-4147-A177-3AD203B41FA5}">
                      <a16:colId xmlns:a16="http://schemas.microsoft.com/office/drawing/2014/main" val="531817117"/>
                    </a:ext>
                  </a:extLst>
                </a:gridCol>
                <a:gridCol w="481091">
                  <a:extLst>
                    <a:ext uri="{9D8B030D-6E8A-4147-A177-3AD203B41FA5}">
                      <a16:colId xmlns:a16="http://schemas.microsoft.com/office/drawing/2014/main" val="1269342238"/>
                    </a:ext>
                  </a:extLst>
                </a:gridCol>
                <a:gridCol w="893456">
                  <a:extLst>
                    <a:ext uri="{9D8B030D-6E8A-4147-A177-3AD203B41FA5}">
                      <a16:colId xmlns:a16="http://schemas.microsoft.com/office/drawing/2014/main" val="1250320746"/>
                    </a:ext>
                  </a:extLst>
                </a:gridCol>
                <a:gridCol w="893456">
                  <a:extLst>
                    <a:ext uri="{9D8B030D-6E8A-4147-A177-3AD203B41FA5}">
                      <a16:colId xmlns:a16="http://schemas.microsoft.com/office/drawing/2014/main" val="2206225178"/>
                    </a:ext>
                  </a:extLst>
                </a:gridCol>
              </a:tblGrid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Chain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May-25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Apr-26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May-26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Cont%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GO 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GOLY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2551122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Dmart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131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177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218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39%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155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41%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66%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039130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Apollo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69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163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176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32%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144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22%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154%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264776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Reliance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59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75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85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72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19%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44%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328105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H&amp;G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4%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64%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8%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495259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More Retail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4%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44%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106%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0849718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Lulu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87%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608%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7893452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Others Combined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16%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C00000"/>
                          </a:solidFill>
                          <a:latin typeface="+mn-lt"/>
                        </a:rPr>
                        <a:t>▼ 31%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3790100"/>
                  </a:ext>
                </a:extLst>
              </a:tr>
            </a:tbl>
          </a:graphicData>
        </a:graphic>
      </p:graphicFrame>
      <p:sp>
        <p:nvSpPr>
          <p:cNvPr id="195" name="Rectangle 81">
            <a:extLst>
              <a:ext uri="{FF2B5EF4-FFF2-40B4-BE49-F238E27FC236}">
                <a16:creationId xmlns:a16="http://schemas.microsoft.com/office/drawing/2014/main" id="{715F732A-615F-905D-E4D0-DF7C4264D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742"/>
            <a:ext cx="75628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ECF521A8-93A7-FE83-3ED0-DDCE5D39A6E0}"/>
              </a:ext>
            </a:extLst>
          </p:cNvPr>
          <p:cNvGrpSpPr>
            <a:grpSpLocks/>
          </p:cNvGrpSpPr>
          <p:nvPr/>
        </p:nvGrpSpPr>
        <p:grpSpPr>
          <a:xfrm>
            <a:off x="212691" y="9493854"/>
            <a:ext cx="6926523" cy="1184784"/>
            <a:chOff x="6350" y="3870"/>
            <a:chExt cx="6966733" cy="2115978"/>
          </a:xfrm>
        </p:grpSpPr>
        <p:sp>
          <p:nvSpPr>
            <p:cNvPr id="197" name="Graphic 278">
              <a:extLst>
                <a:ext uri="{FF2B5EF4-FFF2-40B4-BE49-F238E27FC236}">
                  <a16:creationId xmlns:a16="http://schemas.microsoft.com/office/drawing/2014/main" id="{09562CA0-9705-0A03-47F3-5D39BF8835E5}"/>
                </a:ext>
              </a:extLst>
            </p:cNvPr>
            <p:cNvSpPr/>
            <p:nvPr/>
          </p:nvSpPr>
          <p:spPr>
            <a:xfrm>
              <a:off x="22374" y="87905"/>
              <a:ext cx="6950709" cy="1823104"/>
            </a:xfrm>
            <a:custGeom>
              <a:avLst/>
              <a:gdLst/>
              <a:ahLst/>
              <a:cxnLst/>
              <a:rect l="l" t="t" r="r" b="b"/>
              <a:pathLst>
                <a:path w="6950709" h="2163445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2074415"/>
                  </a:lnTo>
                  <a:lnTo>
                    <a:pt x="6979" y="2109038"/>
                  </a:lnTo>
                  <a:lnTo>
                    <a:pt x="26021" y="2137294"/>
                  </a:lnTo>
                  <a:lnTo>
                    <a:pt x="54276" y="2156335"/>
                  </a:lnTo>
                  <a:lnTo>
                    <a:pt x="88900" y="2163315"/>
                  </a:lnTo>
                  <a:lnTo>
                    <a:pt x="6861500" y="2163315"/>
                  </a:lnTo>
                  <a:lnTo>
                    <a:pt x="6896123" y="2156335"/>
                  </a:lnTo>
                  <a:lnTo>
                    <a:pt x="6924379" y="2137294"/>
                  </a:lnTo>
                  <a:lnTo>
                    <a:pt x="6943420" y="2109038"/>
                  </a:lnTo>
                  <a:lnTo>
                    <a:pt x="6950400" y="2074415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EFFDF4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198" name="Graphic 280">
              <a:extLst>
                <a:ext uri="{FF2B5EF4-FFF2-40B4-BE49-F238E27FC236}">
                  <a16:creationId xmlns:a16="http://schemas.microsoft.com/office/drawing/2014/main" id="{306ADDBF-E20C-DE47-E920-E870C06A675E}"/>
                </a:ext>
              </a:extLst>
            </p:cNvPr>
            <p:cNvSpPr/>
            <p:nvPr/>
          </p:nvSpPr>
          <p:spPr>
            <a:xfrm>
              <a:off x="6350" y="6348"/>
              <a:ext cx="6950709" cy="351681"/>
            </a:xfrm>
            <a:custGeom>
              <a:avLst/>
              <a:gdLst/>
              <a:ahLst/>
              <a:cxnLst/>
              <a:rect l="l" t="t" r="r" b="b"/>
              <a:pathLst>
                <a:path w="6950709" h="241300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152399"/>
                  </a:lnTo>
                  <a:lnTo>
                    <a:pt x="6979" y="187023"/>
                  </a:lnTo>
                  <a:lnTo>
                    <a:pt x="26021" y="215278"/>
                  </a:lnTo>
                  <a:lnTo>
                    <a:pt x="54276" y="234320"/>
                  </a:lnTo>
                  <a:lnTo>
                    <a:pt x="88900" y="241299"/>
                  </a:lnTo>
                  <a:lnTo>
                    <a:pt x="6861500" y="241299"/>
                  </a:lnTo>
                  <a:lnTo>
                    <a:pt x="6896123" y="234320"/>
                  </a:lnTo>
                  <a:lnTo>
                    <a:pt x="6924379" y="215278"/>
                  </a:lnTo>
                  <a:lnTo>
                    <a:pt x="6943420" y="187023"/>
                  </a:lnTo>
                  <a:lnTo>
                    <a:pt x="6950400" y="152399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037756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199" name="Graphic 281">
              <a:extLst>
                <a:ext uri="{FF2B5EF4-FFF2-40B4-BE49-F238E27FC236}">
                  <a16:creationId xmlns:a16="http://schemas.microsoft.com/office/drawing/2014/main" id="{786D0DB1-927E-CDBA-AE82-7E1B1BB65AF0}"/>
                </a:ext>
              </a:extLst>
            </p:cNvPr>
            <p:cNvSpPr/>
            <p:nvPr/>
          </p:nvSpPr>
          <p:spPr>
            <a:xfrm>
              <a:off x="106892" y="1241157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0" name="Graphic 282">
              <a:extLst>
                <a:ext uri="{FF2B5EF4-FFF2-40B4-BE49-F238E27FC236}">
                  <a16:creationId xmlns:a16="http://schemas.microsoft.com/office/drawing/2014/main" id="{1EE2520B-B499-D8A6-9F61-FEDF24208690}"/>
                </a:ext>
              </a:extLst>
            </p:cNvPr>
            <p:cNvSpPr/>
            <p:nvPr/>
          </p:nvSpPr>
          <p:spPr>
            <a:xfrm>
              <a:off x="152796" y="1239245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1" name="Graphic 283">
              <a:extLst>
                <a:ext uri="{FF2B5EF4-FFF2-40B4-BE49-F238E27FC236}">
                  <a16:creationId xmlns:a16="http://schemas.microsoft.com/office/drawing/2014/main" id="{CC1D8F9B-ACDE-52DF-23D6-7FEDF2C5895A}"/>
                </a:ext>
              </a:extLst>
            </p:cNvPr>
            <p:cNvSpPr/>
            <p:nvPr/>
          </p:nvSpPr>
          <p:spPr>
            <a:xfrm>
              <a:off x="1863010" y="1180138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2" name="Graphic 284">
              <a:extLst>
                <a:ext uri="{FF2B5EF4-FFF2-40B4-BE49-F238E27FC236}">
                  <a16:creationId xmlns:a16="http://schemas.microsoft.com/office/drawing/2014/main" id="{78E6F5B7-D8F6-E3DA-2211-639E0006CDFC}"/>
                </a:ext>
              </a:extLst>
            </p:cNvPr>
            <p:cNvSpPr/>
            <p:nvPr/>
          </p:nvSpPr>
          <p:spPr>
            <a:xfrm>
              <a:off x="1836657" y="118718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3" name="Graphic 285">
              <a:extLst>
                <a:ext uri="{FF2B5EF4-FFF2-40B4-BE49-F238E27FC236}">
                  <a16:creationId xmlns:a16="http://schemas.microsoft.com/office/drawing/2014/main" id="{E2A44793-D301-9552-99EC-90EC13154CAA}"/>
                </a:ext>
              </a:extLst>
            </p:cNvPr>
            <p:cNvSpPr/>
            <p:nvPr/>
          </p:nvSpPr>
          <p:spPr>
            <a:xfrm>
              <a:off x="3513123" y="1216316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4" name="Graphic 286">
              <a:extLst>
                <a:ext uri="{FF2B5EF4-FFF2-40B4-BE49-F238E27FC236}">
                  <a16:creationId xmlns:a16="http://schemas.microsoft.com/office/drawing/2014/main" id="{5C0F2A52-1C1D-D1A6-05EA-4ACCDB5127EF}"/>
                </a:ext>
              </a:extLst>
            </p:cNvPr>
            <p:cNvSpPr/>
            <p:nvPr/>
          </p:nvSpPr>
          <p:spPr>
            <a:xfrm>
              <a:off x="3520651" y="118718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5" name="Graphic 287">
              <a:extLst>
                <a:ext uri="{FF2B5EF4-FFF2-40B4-BE49-F238E27FC236}">
                  <a16:creationId xmlns:a16="http://schemas.microsoft.com/office/drawing/2014/main" id="{97A32B53-FBD3-57B6-D1A2-97E533939E78}"/>
                </a:ext>
              </a:extLst>
            </p:cNvPr>
            <p:cNvSpPr/>
            <p:nvPr/>
          </p:nvSpPr>
          <p:spPr>
            <a:xfrm>
              <a:off x="5222959" y="118718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6" name="Graphic 288">
              <a:extLst>
                <a:ext uri="{FF2B5EF4-FFF2-40B4-BE49-F238E27FC236}">
                  <a16:creationId xmlns:a16="http://schemas.microsoft.com/office/drawing/2014/main" id="{7A282D42-C8EF-02F8-6401-E33E4651DA3A}"/>
                </a:ext>
              </a:extLst>
            </p:cNvPr>
            <p:cNvSpPr/>
            <p:nvPr/>
          </p:nvSpPr>
          <p:spPr>
            <a:xfrm>
              <a:off x="5195537" y="978344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7" name="Textbox 289">
              <a:extLst>
                <a:ext uri="{FF2B5EF4-FFF2-40B4-BE49-F238E27FC236}">
                  <a16:creationId xmlns:a16="http://schemas.microsoft.com/office/drawing/2014/main" id="{00EDBC03-34CC-68A0-0A8A-3EDB1CF8594C}"/>
                </a:ext>
              </a:extLst>
            </p:cNvPr>
            <p:cNvSpPr txBox="1"/>
            <p:nvPr/>
          </p:nvSpPr>
          <p:spPr>
            <a:xfrm>
              <a:off x="133350" y="3870"/>
              <a:ext cx="6716677" cy="418793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KEY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200" b="1" spc="-10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HIGHLIGHTS</a:t>
              </a:r>
              <a:endParaRPr lang="en-IN" sz="20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08" name="Textbox 290">
              <a:extLst>
                <a:ext uri="{FF2B5EF4-FFF2-40B4-BE49-F238E27FC236}">
                  <a16:creationId xmlns:a16="http://schemas.microsoft.com/office/drawing/2014/main" id="{390ECE72-BE5D-D8E0-F6DB-459027B27CA3}"/>
                </a:ext>
              </a:extLst>
            </p:cNvPr>
            <p:cNvSpPr txBox="1"/>
            <p:nvPr/>
          </p:nvSpPr>
          <p:spPr>
            <a:xfrm>
              <a:off x="152796" y="332578"/>
              <a:ext cx="6697232" cy="4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wrap="square" lIns="0" tIns="0" rIns="0" bIns="0" rtlCol="0" anchor="t">
              <a:noAutofit/>
            </a:bodyPr>
            <a:lstStyle/>
            <a:p>
              <a:pPr marL="342900" lvl="0" indent="-342900">
                <a:lnSpc>
                  <a:spcPts val="860"/>
                </a:lnSpc>
                <a:buClr>
                  <a:srgbClr val="0F162A"/>
                </a:buClr>
                <a:buSzPts val="700"/>
                <a:buFont typeface="Arial MT"/>
                <a:buChar char="•"/>
                <a:tabLst>
                  <a:tab pos="57785" algn="l"/>
                </a:tabLst>
              </a:pPr>
              <a:r>
                <a:rPr sz="720" b="1">
                  <a:latin typeface="Calibri"/>
                </a:rPr>
                <a:t>Zone Record: South-2 delivered its highest month at 554, ▲31% vs L3M and ▲73% vs May-25.</a:t>
              </a:r>
              <a:br/>
              <a:r>
                <a:rPr sz="720" b="1">
                  <a:latin typeface="Calibri"/>
                </a:rPr>
                <a:t>Chain Highlights: Dmart leads; Lulu is the fastest YoY chain.</a:t>
              </a:r>
              <a:endParaRPr lang="en-IN" sz="900" b="1" dirty="0">
                <a:solidFill>
                  <a:srgbClr val="008A3D"/>
                </a:solidFill>
                <a:latin typeface="+mj-lt"/>
              </a:endParaRPr>
            </a:p>
          </p:txBody>
        </p:sp>
        <p:sp>
          <p:nvSpPr>
            <p:cNvPr id="209" name="Textbox 291">
              <a:extLst>
                <a:ext uri="{FF2B5EF4-FFF2-40B4-BE49-F238E27FC236}">
                  <a16:creationId xmlns:a16="http://schemas.microsoft.com/office/drawing/2014/main" id="{696AC7C6-3FED-0B1D-4CD4-FA589378E90D}"/>
                </a:ext>
              </a:extLst>
            </p:cNvPr>
            <p:cNvSpPr txBox="1"/>
            <p:nvPr/>
          </p:nvSpPr>
          <p:spPr>
            <a:xfrm>
              <a:off x="207009" y="1299505"/>
              <a:ext cx="478155" cy="31484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Lead</a:t>
              </a:r>
              <a:r>
                <a:rPr lang="en-US" sz="650" b="1" spc="-2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0" name="Textbox 292">
              <a:extLst>
                <a:ext uri="{FF2B5EF4-FFF2-40B4-BE49-F238E27FC236}">
                  <a16:creationId xmlns:a16="http://schemas.microsoft.com/office/drawing/2014/main" id="{D2CB78A9-052C-7918-9B59-3C05E6224543}"/>
                </a:ext>
              </a:extLst>
            </p:cNvPr>
            <p:cNvSpPr txBox="1"/>
            <p:nvPr/>
          </p:nvSpPr>
          <p:spPr>
            <a:xfrm>
              <a:off x="1900158" y="1299505"/>
              <a:ext cx="771525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Fastest</a:t>
              </a:r>
              <a:r>
                <a:rPr lang="en-US" sz="650" b="1" spc="-25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YoY</a:t>
              </a:r>
              <a:r>
                <a:rPr lang="en-US" sz="650" b="1" spc="-2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endParaRPr lang="en-IN" sz="110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1" name="Textbox 293">
              <a:extLst>
                <a:ext uri="{FF2B5EF4-FFF2-40B4-BE49-F238E27FC236}">
                  <a16:creationId xmlns:a16="http://schemas.microsoft.com/office/drawing/2014/main" id="{1002BC0E-27DD-532F-2DE7-BB1F581AC8FE}"/>
                </a:ext>
              </a:extLst>
            </p:cNvPr>
            <p:cNvSpPr txBox="1"/>
            <p:nvPr/>
          </p:nvSpPr>
          <p:spPr>
            <a:xfrm>
              <a:off x="3593307" y="1299505"/>
              <a:ext cx="824230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Record</a:t>
              </a:r>
              <a:r>
                <a:rPr lang="en-US" sz="650" b="1" spc="-25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r>
                <a:rPr lang="en-US" sz="650" b="1" spc="-25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Lines</a:t>
              </a:r>
              <a:endParaRPr lang="en-IN" sz="110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2" name="Textbox 294">
              <a:extLst>
                <a:ext uri="{FF2B5EF4-FFF2-40B4-BE49-F238E27FC236}">
                  <a16:creationId xmlns:a16="http://schemas.microsoft.com/office/drawing/2014/main" id="{1393482F-11D6-D6FE-2753-A47D0B48114B}"/>
                </a:ext>
              </a:extLst>
            </p:cNvPr>
            <p:cNvSpPr txBox="1"/>
            <p:nvPr/>
          </p:nvSpPr>
          <p:spPr>
            <a:xfrm>
              <a:off x="5286458" y="1239246"/>
              <a:ext cx="507902" cy="15678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Zone</a:t>
              </a:r>
              <a:r>
                <a:rPr lang="en-US" sz="650" b="1" spc="-2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Record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3" name="Textbox 295">
              <a:extLst>
                <a:ext uri="{FF2B5EF4-FFF2-40B4-BE49-F238E27FC236}">
                  <a16:creationId xmlns:a16="http://schemas.microsoft.com/office/drawing/2014/main" id="{9D505091-C1B3-4643-3757-11527DD029ED}"/>
                </a:ext>
              </a:extLst>
            </p:cNvPr>
            <p:cNvSpPr txBox="1"/>
            <p:nvPr/>
          </p:nvSpPr>
          <p:spPr>
            <a:xfrm>
              <a:off x="206736" y="1519095"/>
              <a:ext cx="580390" cy="9524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Dmart</a:t>
              </a:r>
              <a:r>
                <a:rPr lang="en-US" sz="650" b="1" spc="-3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-</a:t>
              </a:r>
              <a:r>
                <a:rPr lang="en-US" sz="650" b="1" spc="-3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2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218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4" name="Textbox 296">
              <a:extLst>
                <a:ext uri="{FF2B5EF4-FFF2-40B4-BE49-F238E27FC236}">
                  <a16:creationId xmlns:a16="http://schemas.microsoft.com/office/drawing/2014/main" id="{D4A13F3F-01DA-EED4-B30C-053A438475D3}"/>
                </a:ext>
              </a:extLst>
            </p:cNvPr>
            <p:cNvSpPr txBox="1"/>
            <p:nvPr/>
          </p:nvSpPr>
          <p:spPr>
            <a:xfrm>
              <a:off x="1889435" y="1508346"/>
              <a:ext cx="1137449" cy="299158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50"/>
                </a:lnSpc>
              </a:pPr>
              <a:r>
                <a:rPr sz="650" b="1">
                  <a:solidFill>
                    <a:srgbClr val="1A1F29"/>
                  </a:solidFill>
                  <a:latin typeface="+mj-lt"/>
                </a:rPr>
                <a:t>Lulu  - </a:t>
              </a:r>
              <a:r>
                <a:rPr sz="650" b="1">
                  <a:solidFill>
                    <a:srgbClr val="008A3D"/>
                  </a:solidFill>
                  <a:latin typeface="+mj-lt"/>
                </a:rPr>
                <a:t>▲ 608%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5" name="Textbox 297">
              <a:extLst>
                <a:ext uri="{FF2B5EF4-FFF2-40B4-BE49-F238E27FC236}">
                  <a16:creationId xmlns:a16="http://schemas.microsoft.com/office/drawing/2014/main" id="{823DC972-676F-BB3F-DF78-E528EBCA63EA}"/>
                </a:ext>
              </a:extLst>
            </p:cNvPr>
            <p:cNvSpPr txBox="1"/>
            <p:nvPr/>
          </p:nvSpPr>
          <p:spPr>
            <a:xfrm>
              <a:off x="3571128" y="1495157"/>
              <a:ext cx="1616615" cy="624691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Dmart, Apollo, Reliance,</a:t>
              </a:r>
              <a:r>
                <a:rPr lang="en-US" sz="650" b="1" spc="-40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6" name="Textbox 298">
              <a:extLst>
                <a:ext uri="{FF2B5EF4-FFF2-40B4-BE49-F238E27FC236}">
                  <a16:creationId xmlns:a16="http://schemas.microsoft.com/office/drawing/2014/main" id="{1109BA7C-796E-3D4D-65A2-95AB774BD170}"/>
                </a:ext>
              </a:extLst>
            </p:cNvPr>
            <p:cNvSpPr txBox="1"/>
            <p:nvPr/>
          </p:nvSpPr>
          <p:spPr>
            <a:xfrm>
              <a:off x="5286457" y="1477583"/>
              <a:ext cx="776292" cy="217602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May-26</a:t>
              </a:r>
              <a:r>
                <a:rPr lang="en-US" sz="650" b="1" spc="-30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30" dirty="0">
                  <a:solidFill>
                    <a:srgbClr val="1A1F29"/>
                  </a:solidFill>
                  <a:latin typeface="+mj-lt"/>
                  <a:ea typeface="Arial MT"/>
                  <a:cs typeface="Calibri"/>
                </a:rPr>
                <a:t>- </a:t>
              </a: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554</a:t>
              </a:r>
              <a:r>
                <a:rPr lang="en-US" sz="650" b="1" spc="-2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</p:grpSp>
      <p:sp>
        <p:nvSpPr>
          <p:cNvPr id="217" name="Rectangle 92">
            <a:extLst>
              <a:ext uri="{FF2B5EF4-FFF2-40B4-BE49-F238E27FC236}">
                <a16:creationId xmlns:a16="http://schemas.microsoft.com/office/drawing/2014/main" id="{4048E4C8-777E-5962-6F2D-EE7CEED0D22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0" y="112827"/>
            <a:ext cx="756285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6CDFCB9D-D279-7BE1-F23A-91374801A1BD}"/>
              </a:ext>
            </a:extLst>
          </p:cNvPr>
          <p:cNvSpPr txBox="1"/>
          <p:nvPr/>
        </p:nvSpPr>
        <p:spPr>
          <a:xfrm>
            <a:off x="212691" y="7401047"/>
            <a:ext cx="6926523" cy="361574"/>
          </a:xfrm>
          <a:prstGeom prst="rect">
            <a:avLst/>
          </a:prstGeom>
          <a:solidFill>
            <a:srgbClr val="2D9B7F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lang="en-US" sz="1600" b="1" dirty="0">
                <a:solidFill>
                  <a:srgbClr val="FFFFFF"/>
                </a:solidFill>
                <a:latin typeface="Calibri"/>
              </a:rPr>
              <a:t>South-2 Chain Summary</a:t>
            </a:r>
            <a:endParaRPr lang="en-IN" sz="1600" b="1" dirty="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2" name="Picture 2" descr="A white and orange tube with white text  AI-generated content may be incorrect.">
            <a:extLst>
              <a:ext uri="{FF2B5EF4-FFF2-40B4-BE49-F238E27FC236}">
                <a16:creationId xmlns:a16="http://schemas.microsoft.com/office/drawing/2014/main" id="{BE76197D-AD93-4DDB-527A-826CAC8A34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48" r="23559"/>
          <a:stretch/>
        </p:blipFill>
        <p:spPr bwMode="auto">
          <a:xfrm>
            <a:off x="2735703" y="6189696"/>
            <a:ext cx="212290" cy="408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F20B312B-5A1E-869A-616E-4DE5477BD9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553" y="6195781"/>
            <a:ext cx="210106" cy="445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bottle of rice face wash  Description automatically generated">
            <a:extLst>
              <a:ext uri="{FF2B5EF4-FFF2-40B4-BE49-F238E27FC236}">
                <a16:creationId xmlns:a16="http://schemas.microsoft.com/office/drawing/2014/main" id="{E6B07053-A2FC-8A2A-646C-006FD076BE91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27809" t="6059" r="29332" b="4208"/>
          <a:stretch/>
        </p:blipFill>
        <p:spPr>
          <a:xfrm>
            <a:off x="315430" y="4054143"/>
            <a:ext cx="176977" cy="364983"/>
          </a:xfrm>
          <a:prstGeom prst="rect">
            <a:avLst/>
          </a:prstGeom>
        </p:spPr>
      </p:pic>
      <p:pic>
        <p:nvPicPr>
          <p:cNvPr id="5" name="Picture 4" descr="A yellow bottle of sunscreen  Description automatically generated">
            <a:extLst>
              <a:ext uri="{FF2B5EF4-FFF2-40B4-BE49-F238E27FC236}">
                <a16:creationId xmlns:a16="http://schemas.microsoft.com/office/drawing/2014/main" id="{E7063FFB-AF00-4EC3-116F-9FDCBC3737E7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32069" t="9042" r="31762" b="9272"/>
          <a:stretch/>
        </p:blipFill>
        <p:spPr>
          <a:xfrm>
            <a:off x="5136620" y="4069590"/>
            <a:ext cx="196303" cy="443346"/>
          </a:xfrm>
          <a:prstGeom prst="rect">
            <a:avLst/>
          </a:prstGeom>
        </p:spPr>
      </p:pic>
      <p:pic>
        <p:nvPicPr>
          <p:cNvPr id="6" name="Google Shape;1518;p235" descr="A purple bottle with a dropper next to a box  AI-generated content may be incorrect.">
            <a:extLst>
              <a:ext uri="{FF2B5EF4-FFF2-40B4-BE49-F238E27FC236}">
                <a16:creationId xmlns:a16="http://schemas.microsoft.com/office/drawing/2014/main" id="{2FCF8E9C-AD85-A765-DA2E-933646335E02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126572" y="6257490"/>
            <a:ext cx="216398" cy="205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396;p227" descr="A white bottle with a label on it  Description automatically generated">
            <a:extLst>
              <a:ext uri="{FF2B5EF4-FFF2-40B4-BE49-F238E27FC236}">
                <a16:creationId xmlns:a16="http://schemas.microsoft.com/office/drawing/2014/main" id="{5DC5B903-423D-700E-B3D3-6618C69CDFEC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 l="19608" b="483"/>
          <a:stretch/>
        </p:blipFill>
        <p:spPr>
          <a:xfrm>
            <a:off x="2831164" y="4023931"/>
            <a:ext cx="178723" cy="412609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PageNum"/>
          <p:cNvSpPr txBox="1"/>
          <p:nvPr/>
        </p:nvSpPr>
        <p:spPr>
          <a:xfrm>
            <a:off x="6282690" y="10414318"/>
            <a:ext cx="856524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11 / 21</a:t>
            </a:r>
          </a:p>
        </p:txBody>
      </p:sp>
      <p:sp>
        <p:nvSpPr>
          <p:cNvPr id="2" name="Text 0"/>
          <p:cNvSpPr/>
          <p:nvPr/>
        </p:nvSpPr>
        <p:spPr>
          <a:xfrm>
            <a:off x="-17844" y="-14471"/>
            <a:ext cx="7580694" cy="454996"/>
          </a:xfrm>
          <a:prstGeom prst="rect">
            <a:avLst/>
          </a:prstGeom>
          <a:solidFill>
            <a:srgbClr val="2D9B7F"/>
          </a:solidFill>
          <a:ln/>
        </p:spPr>
        <p:txBody>
          <a:bodyPr wrap="square" lIns="0" tIns="0" rIns="0" bIns="0" rtlCol="0" anchor="t"/>
          <a:lstStyle/>
          <a:p>
            <a:pPr algn="ctr"/>
            <a:r>
              <a:rPr lang="en-US" sz="24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OFFTAKE PERFORMANCE REPORT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-17844" y="417740"/>
            <a:ext cx="7580694" cy="3077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5A85"/>
                </a:solidFill>
                <a:latin typeface="Calibri"/>
              </a:rPr>
              <a:t>SOUTH-1 ZONE DEEP DIVE — MAY'26</a:t>
            </a:r>
            <a:endParaRPr lang="en-US" sz="16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57483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1B051920-9B91-BB7D-0B2E-EB0664244C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8106685"/>
              </p:ext>
            </p:extLst>
          </p:nvPr>
        </p:nvGraphicFramePr>
        <p:xfrm>
          <a:off x="212691" y="82627"/>
          <a:ext cx="7015882" cy="254257"/>
        </p:xfrm>
        <a:graphic>
          <a:graphicData uri="http://schemas.openxmlformats.org/drawingml/2006/table">
            <a:tbl>
              <a:tblPr firstRow="1" firstCol="1" bandRow="1"/>
              <a:tblGrid>
                <a:gridCol w="7015882">
                  <a:extLst>
                    <a:ext uri="{9D8B030D-6E8A-4147-A177-3AD203B41FA5}">
                      <a16:colId xmlns:a16="http://schemas.microsoft.com/office/drawing/2014/main" val="2201429027"/>
                    </a:ext>
                  </a:extLst>
                </a:gridCol>
              </a:tblGrid>
              <a:tr h="2542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WEST ZONE PERFORMANCE</a:t>
                      </a:r>
                      <a:endParaRPr lang="en-IN" sz="8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30" marR="6583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016972"/>
                  </a:ext>
                </a:extLst>
              </a:tr>
            </a:tbl>
          </a:graphicData>
        </a:graphic>
      </p:graphicFrame>
      <p:grpSp>
        <p:nvGrpSpPr>
          <p:cNvPr id="59" name="Group 58">
            <a:extLst>
              <a:ext uri="{FF2B5EF4-FFF2-40B4-BE49-F238E27FC236}">
                <a16:creationId xmlns:a16="http://schemas.microsoft.com/office/drawing/2014/main" id="{DD68EAEE-F80C-F3EC-109E-BA117E71D016}"/>
              </a:ext>
            </a:extLst>
          </p:cNvPr>
          <p:cNvGrpSpPr>
            <a:grpSpLocks/>
          </p:cNvGrpSpPr>
          <p:nvPr/>
        </p:nvGrpSpPr>
        <p:grpSpPr>
          <a:xfrm>
            <a:off x="212691" y="410876"/>
            <a:ext cx="1600200" cy="469900"/>
            <a:chOff x="0" y="0"/>
            <a:chExt cx="1600200" cy="469900"/>
          </a:xfrm>
        </p:grpSpPr>
        <p:sp>
          <p:nvSpPr>
            <p:cNvPr id="60" name="Graphic 251">
              <a:extLst>
                <a:ext uri="{FF2B5EF4-FFF2-40B4-BE49-F238E27FC236}">
                  <a16:creationId xmlns:a16="http://schemas.microsoft.com/office/drawing/2014/main" id="{AE04FE27-F37C-FB01-7FB2-B2D33688B0BC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1" name="Graphic 252">
              <a:extLst>
                <a:ext uri="{FF2B5EF4-FFF2-40B4-BE49-F238E27FC236}">
                  <a16:creationId xmlns:a16="http://schemas.microsoft.com/office/drawing/2014/main" id="{87A3E814-7336-FA22-3836-09A27F3A3FA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2" name="Textbox 253">
              <a:extLst>
                <a:ext uri="{FF2B5EF4-FFF2-40B4-BE49-F238E27FC236}">
                  <a16:creationId xmlns:a16="http://schemas.microsoft.com/office/drawing/2014/main" id="{327D0D1E-52B7-0544-69AC-D27F67860192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May-26 Sales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1016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6CF0896D-3C02-C329-D4D8-571E7F485B4D}"/>
              </a:ext>
            </a:extLst>
          </p:cNvPr>
          <p:cNvGrpSpPr>
            <a:grpSpLocks/>
          </p:cNvGrpSpPr>
          <p:nvPr/>
        </p:nvGrpSpPr>
        <p:grpSpPr>
          <a:xfrm>
            <a:off x="1988068" y="410876"/>
            <a:ext cx="1600200" cy="469900"/>
            <a:chOff x="0" y="0"/>
            <a:chExt cx="1600200" cy="469900"/>
          </a:xfrm>
        </p:grpSpPr>
        <p:sp>
          <p:nvSpPr>
            <p:cNvPr id="64" name="Graphic 255">
              <a:extLst>
                <a:ext uri="{FF2B5EF4-FFF2-40B4-BE49-F238E27FC236}">
                  <a16:creationId xmlns:a16="http://schemas.microsoft.com/office/drawing/2014/main" id="{F5CE3C7F-BAA9-CD25-1598-3A30E0D6A453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5" name="Graphic 256">
              <a:extLst>
                <a:ext uri="{FF2B5EF4-FFF2-40B4-BE49-F238E27FC236}">
                  <a16:creationId xmlns:a16="http://schemas.microsoft.com/office/drawing/2014/main" id="{35D43F11-7FFC-3438-380C-33F69E72795A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6" name="Textbox 257">
              <a:extLst>
                <a:ext uri="{FF2B5EF4-FFF2-40B4-BE49-F238E27FC236}">
                  <a16:creationId xmlns:a16="http://schemas.microsoft.com/office/drawing/2014/main" id="{20C7EE75-3B4F-E74E-A5C0-CFE2D5A3D1CF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Zone Share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25.3%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A702DE7B-B820-9D9B-3797-7468D7DD4ECA}"/>
              </a:ext>
            </a:extLst>
          </p:cNvPr>
          <p:cNvGrpSpPr>
            <a:grpSpLocks/>
          </p:cNvGrpSpPr>
          <p:nvPr/>
        </p:nvGrpSpPr>
        <p:grpSpPr>
          <a:xfrm>
            <a:off x="3763445" y="409266"/>
            <a:ext cx="1600200" cy="469900"/>
            <a:chOff x="0" y="0"/>
            <a:chExt cx="1600200" cy="469900"/>
          </a:xfrm>
        </p:grpSpPr>
        <p:sp>
          <p:nvSpPr>
            <p:cNvPr id="68" name="Graphic 259">
              <a:extLst>
                <a:ext uri="{FF2B5EF4-FFF2-40B4-BE49-F238E27FC236}">
                  <a16:creationId xmlns:a16="http://schemas.microsoft.com/office/drawing/2014/main" id="{4F59F74E-A9A3-A03B-6DF6-E1FC6CF5DCC4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9" name="Graphic 260">
              <a:extLst>
                <a:ext uri="{FF2B5EF4-FFF2-40B4-BE49-F238E27FC236}">
                  <a16:creationId xmlns:a16="http://schemas.microsoft.com/office/drawing/2014/main" id="{21D51929-BD0B-81C1-A744-1E863136F4F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0" name="Textbox 261">
              <a:extLst>
                <a:ext uri="{FF2B5EF4-FFF2-40B4-BE49-F238E27FC236}">
                  <a16:creationId xmlns:a16="http://schemas.microsoft.com/office/drawing/2014/main" id="{42FA30A0-A741-6043-88F2-1A90ADD27414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L3M Avg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840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F27C9CD-9B21-5E34-0C32-1AB5F84F55FD}"/>
              </a:ext>
            </a:extLst>
          </p:cNvPr>
          <p:cNvGrpSpPr>
            <a:grpSpLocks/>
          </p:cNvGrpSpPr>
          <p:nvPr/>
        </p:nvGrpSpPr>
        <p:grpSpPr>
          <a:xfrm>
            <a:off x="5539014" y="410910"/>
            <a:ext cx="1600200" cy="469900"/>
            <a:chOff x="0" y="0"/>
            <a:chExt cx="1600200" cy="469900"/>
          </a:xfrm>
        </p:grpSpPr>
        <p:sp>
          <p:nvSpPr>
            <p:cNvPr id="72" name="Graphic 263">
              <a:extLst>
                <a:ext uri="{FF2B5EF4-FFF2-40B4-BE49-F238E27FC236}">
                  <a16:creationId xmlns:a16="http://schemas.microsoft.com/office/drawing/2014/main" id="{4E793049-DA48-496E-F528-84304A3FB08F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3" name="Graphic 264">
              <a:extLst>
                <a:ext uri="{FF2B5EF4-FFF2-40B4-BE49-F238E27FC236}">
                  <a16:creationId xmlns:a16="http://schemas.microsoft.com/office/drawing/2014/main" id="{29227A2B-0582-AE0C-E8D7-1C924EB8D8CE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4" name="Textbox 265">
              <a:extLst>
                <a:ext uri="{FF2B5EF4-FFF2-40B4-BE49-F238E27FC236}">
                  <a16:creationId xmlns:a16="http://schemas.microsoft.com/office/drawing/2014/main" id="{50672AAD-CBB1-4DA3-E51B-B8B2B09130C0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GOLY May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algn="ctr">
                <a:spcBef>
                  <a:spcPts val="55"/>
                </a:spcBef>
                <a:spcAft>
                  <a:spcPts val="0"/>
                </a:spcAft>
              </a:pPr>
              <a:r>
                <a:rPr sz="1600" b="1">
                  <a:solidFill>
                    <a:srgbClr val="008A3D"/>
                  </a:solidFill>
                  <a:latin typeface="+mj-lt"/>
                </a:rPr>
                <a:t>▲ 56%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sp>
        <p:nvSpPr>
          <p:cNvPr id="75" name="Rectangle 48">
            <a:extLst>
              <a:ext uri="{FF2B5EF4-FFF2-40B4-BE49-F238E27FC236}">
                <a16:creationId xmlns:a16="http://schemas.microsoft.com/office/drawing/2014/main" id="{D24FAE0C-145A-C9D7-74A8-D196DE7A8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875" y="42771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 sz="240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76" name="Rectangle 50">
            <a:extLst>
              <a:ext uri="{FF2B5EF4-FFF2-40B4-BE49-F238E27FC236}">
                <a16:creationId xmlns:a16="http://schemas.microsoft.com/office/drawing/2014/main" id="{58CE6004-1D26-F9E4-E2B8-A5EF89D499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5442770"/>
            <a:ext cx="692652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8" name="Rectangle 54">
            <a:extLst>
              <a:ext uri="{FF2B5EF4-FFF2-40B4-BE49-F238E27FC236}">
                <a16:creationId xmlns:a16="http://schemas.microsoft.com/office/drawing/2014/main" id="{BE172A64-5EBD-FF10-7C9B-66C88926A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7372064"/>
            <a:ext cx="6926523" cy="40011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9" name="Rectangle 56">
            <a:extLst>
              <a:ext uri="{FF2B5EF4-FFF2-40B4-BE49-F238E27FC236}">
                <a16:creationId xmlns:a16="http://schemas.microsoft.com/office/drawing/2014/main" id="{E97D74F4-3FCA-35BE-70C0-931264144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6867859"/>
            <a:ext cx="692652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sp>
        <p:nvSpPr>
          <p:cNvPr id="80" name="Textbox 268">
            <a:extLst>
              <a:ext uri="{FF2B5EF4-FFF2-40B4-BE49-F238E27FC236}">
                <a16:creationId xmlns:a16="http://schemas.microsoft.com/office/drawing/2014/main" id="{1A2636FF-FA83-BDD9-A967-753B47792769}"/>
              </a:ext>
            </a:extLst>
          </p:cNvPr>
          <p:cNvSpPr txBox="1"/>
          <p:nvPr/>
        </p:nvSpPr>
        <p:spPr>
          <a:xfrm>
            <a:off x="212691" y="988226"/>
            <a:ext cx="6926523" cy="8486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lIns="0" tIns="0" rIns="0" bIns="0" rtlCol="0" anchor="t">
            <a:noAutofit/>
          </a:bodyPr>
          <a:lstStyle/>
          <a:p>
            <a:pPr marL="127000">
              <a:spcBef>
                <a:spcPts val="600"/>
              </a:spcBef>
              <a:spcAft>
                <a:spcPts val="0"/>
              </a:spcAft>
            </a:pPr>
            <a:r>
              <a:rPr lang="en-US" sz="1000" b="1" dirty="0">
                <a:effectLst/>
                <a:latin typeface="Calibri"/>
                <a:ea typeface="Arial MT"/>
                <a:cs typeface="Calibri"/>
              </a:rPr>
              <a:t>Key Performance </a:t>
            </a:r>
            <a:r>
              <a:rPr lang="en-US" sz="1000" b="1" spc="-10" dirty="0">
                <a:effectLst/>
                <a:latin typeface="Calibri"/>
                <a:ea typeface="Arial MT"/>
                <a:cs typeface="Calibri"/>
              </a:rPr>
              <a:t>Highlights</a:t>
            </a:r>
            <a:endParaRPr lang="en-IN" sz="1400" dirty="0">
              <a:effectLst/>
              <a:latin typeface="+mj-lt"/>
              <a:ea typeface="Arial MT"/>
              <a:cs typeface="Calibri"/>
            </a:endParaRPr>
          </a:p>
          <a:p>
            <a:pPr>
              <a:spcBef>
                <a:spcPts val="105"/>
              </a:spcBef>
            </a:pPr>
            <a:r>
              <a:rPr lang="en-US" sz="1000" b="1" dirty="0">
                <a:effectLst/>
                <a:latin typeface="Calibri"/>
                <a:ea typeface="Arial MT"/>
                <a:cs typeface="Calibri"/>
              </a:rPr>
              <a:t> </a:t>
            </a:r>
            <a:endParaRPr lang="en-IN" sz="1400" dirty="0">
              <a:effectLst/>
              <a:latin typeface="+mj-lt"/>
              <a:ea typeface="Arial MT"/>
              <a:cs typeface="Calibri"/>
            </a:endParaRPr>
          </a:p>
          <a:p>
            <a:pPr marL="184150" indent="-57150">
              <a:tabLst>
                <a:tab pos="184150" algn="l"/>
              </a:tabLst>
            </a:pPr>
            <a:r>
              <a:rPr lang="en-US" sz="900" b="1" dirty="0">
                <a:effectLst/>
                <a:latin typeface="Calibri"/>
                <a:ea typeface="Arial MT"/>
                <a:cs typeface="Calibri"/>
              </a:rPr>
              <a:t>Zone</a:t>
            </a:r>
            <a:r>
              <a:rPr lang="en-US" sz="900" b="1" spc="40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900" b="1" dirty="0">
                <a:effectLst/>
                <a:latin typeface="Calibri"/>
                <a:ea typeface="Arial MT"/>
                <a:cs typeface="Calibri"/>
              </a:rPr>
              <a:t>Record:</a:t>
            </a:r>
            <a:r>
              <a:rPr lang="en-US" sz="900" b="1" spc="40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900" dirty="0">
                <a:effectLst/>
                <a:latin typeface="Calibri"/>
                <a:ea typeface="Arial MT"/>
                <a:cs typeface="Calibri"/>
              </a:rPr>
              <a:t>May-26</a:t>
            </a:r>
            <a:r>
              <a:rPr lang="en-US" sz="900" spc="40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900" dirty="0">
                <a:effectLst/>
                <a:latin typeface="Calibri"/>
                <a:ea typeface="Arial MT"/>
                <a:cs typeface="Calibri"/>
              </a:rPr>
              <a:t>delivered</a:t>
            </a:r>
            <a:r>
              <a:rPr lang="en-US" sz="900" spc="40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900" dirty="0">
                <a:effectLst/>
                <a:latin typeface="Calibri"/>
                <a:ea typeface="Arial MT"/>
                <a:cs typeface="Calibri"/>
              </a:rPr>
              <a:t>the</a:t>
            </a:r>
            <a:r>
              <a:rPr lang="en-US" sz="900" spc="45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900" b="1" dirty="0">
                <a:effectLst/>
                <a:latin typeface="Calibri"/>
                <a:ea typeface="Arial MT"/>
                <a:cs typeface="Calibri"/>
              </a:rPr>
              <a:t>highest</a:t>
            </a:r>
            <a:r>
              <a:rPr lang="en-US" sz="900" b="1" spc="40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900" b="1" dirty="0">
                <a:effectLst/>
                <a:latin typeface="Calibri"/>
                <a:ea typeface="Arial MT"/>
                <a:cs typeface="Calibri"/>
              </a:rPr>
              <a:t>month</a:t>
            </a:r>
            <a:r>
              <a:rPr lang="en-US" sz="900" b="1" spc="40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900" dirty="0">
                <a:effectLst/>
                <a:latin typeface="Calibri"/>
                <a:ea typeface="Arial MT"/>
                <a:cs typeface="Calibri"/>
              </a:rPr>
              <a:t>for</a:t>
            </a:r>
            <a:r>
              <a:rPr lang="en-US" sz="900" spc="40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900" dirty="0">
                <a:effectLst/>
                <a:latin typeface="Calibri"/>
                <a:ea typeface="Arial MT"/>
                <a:cs typeface="Calibri"/>
              </a:rPr>
              <a:t>West</a:t>
            </a:r>
            <a:r>
              <a:rPr lang="en-US" sz="900" spc="45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900" dirty="0">
                <a:effectLst/>
                <a:latin typeface="Calibri"/>
                <a:ea typeface="Arial MT"/>
                <a:cs typeface="Calibri"/>
              </a:rPr>
              <a:t>at</a:t>
            </a:r>
            <a:r>
              <a:rPr lang="en-US" sz="900" spc="40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900" b="1" dirty="0">
                <a:solidFill>
                  <a:srgbClr val="0F756E"/>
                </a:solidFill>
                <a:effectLst/>
                <a:latin typeface="Calibri"/>
                <a:ea typeface="Arial MT"/>
                <a:cs typeface="Calibri"/>
              </a:rPr>
              <a:t>1016</a:t>
            </a:r>
            <a:r>
              <a:rPr lang="en-US" sz="900" dirty="0">
                <a:solidFill>
                  <a:srgbClr val="1A1F29"/>
                </a:solidFill>
                <a:effectLst/>
                <a:latin typeface="Calibri"/>
                <a:ea typeface="Arial MT"/>
                <a:cs typeface="Calibri"/>
              </a:rPr>
              <a:t>,</a:t>
            </a:r>
            <a:r>
              <a:rPr lang="en-US" sz="900" spc="40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900" dirty="0">
                <a:effectLst/>
                <a:latin typeface="Calibri"/>
                <a:ea typeface="Arial MT"/>
                <a:cs typeface="Calibri"/>
              </a:rPr>
              <a:t>contributing</a:t>
            </a:r>
            <a:r>
              <a:rPr lang="en-US" sz="900" spc="40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900" b="1" dirty="0">
                <a:effectLst/>
                <a:latin typeface="Calibri"/>
                <a:ea typeface="Arial MT"/>
                <a:cs typeface="Calibri"/>
              </a:rPr>
              <a:t>25.3%</a:t>
            </a:r>
            <a:r>
              <a:rPr lang="en-US" sz="900" b="1" spc="45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900" dirty="0">
                <a:effectLst/>
                <a:latin typeface="Calibri"/>
                <a:ea typeface="Arial MT"/>
                <a:cs typeface="Calibri"/>
              </a:rPr>
              <a:t>to</a:t>
            </a:r>
            <a:r>
              <a:rPr lang="en-US" sz="900" spc="40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900" dirty="0">
                <a:effectLst/>
                <a:latin typeface="Calibri"/>
                <a:ea typeface="Arial MT"/>
                <a:cs typeface="Calibri"/>
              </a:rPr>
              <a:t>total</a:t>
            </a:r>
            <a:r>
              <a:rPr lang="en-US" sz="900" spc="40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900" dirty="0">
                <a:effectLst/>
                <a:latin typeface="Calibri"/>
                <a:ea typeface="Arial MT"/>
                <a:cs typeface="Calibri"/>
              </a:rPr>
              <a:t>channel</a:t>
            </a:r>
            <a:r>
              <a:rPr lang="en-US" sz="900" spc="40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900" spc="-10" dirty="0">
                <a:effectLst/>
                <a:latin typeface="Calibri"/>
                <a:ea typeface="Arial MT"/>
                <a:cs typeface="Calibri"/>
              </a:rPr>
              <a:t>sales.</a:t>
            </a:r>
            <a:endParaRPr lang="en-IN" sz="1400" dirty="0">
              <a:effectLst/>
              <a:latin typeface="+mj-lt"/>
              <a:ea typeface="Arial MT"/>
              <a:cs typeface="Calibri"/>
            </a:endParaRPr>
          </a:p>
          <a:p>
            <a:pPr marL="184150" indent="-57150">
              <a:spcBef>
                <a:spcPts val="55"/>
              </a:spcBef>
              <a:spcAft>
                <a:spcPts val="0"/>
              </a:spcAft>
              <a:tabLst>
                <a:tab pos="184150" algn="l"/>
              </a:tabLst>
            </a:pPr>
            <a:r>
              <a:rPr sz="900" b="1" dirty="0">
                <a:latin typeface="Calibri"/>
              </a:rPr>
              <a:t>Growth View: May-26 performance was</a:t>
            </a:r>
            <a:r>
              <a:rPr sz="900" b="1" dirty="0">
                <a:solidFill>
                  <a:srgbClr val="1C4DD8"/>
                </a:solidFill>
                <a:latin typeface="Calibri"/>
              </a:rPr>
              <a:t> </a:t>
            </a:r>
            <a:r>
              <a:rPr sz="900" b="1" dirty="0">
                <a:solidFill>
                  <a:srgbClr val="008A3D"/>
                </a:solidFill>
                <a:latin typeface="Calibri"/>
              </a:rPr>
              <a:t>▲ 21%</a:t>
            </a:r>
            <a:r>
              <a:rPr sz="900" b="1" dirty="0">
                <a:solidFill>
                  <a:srgbClr val="1C4DD8"/>
                </a:solidFill>
                <a:latin typeface="Calibri"/>
              </a:rPr>
              <a:t> </a:t>
            </a:r>
            <a:r>
              <a:rPr sz="900" b="1" dirty="0">
                <a:latin typeface="Calibri"/>
              </a:rPr>
              <a:t>vs L3M and</a:t>
            </a:r>
            <a:r>
              <a:rPr sz="900" b="1" dirty="0">
                <a:solidFill>
                  <a:srgbClr val="1C4DD8"/>
                </a:solidFill>
                <a:latin typeface="Calibri"/>
              </a:rPr>
              <a:t> </a:t>
            </a:r>
            <a:r>
              <a:rPr sz="900" b="1" dirty="0">
                <a:solidFill>
                  <a:srgbClr val="008A3D"/>
                </a:solidFill>
                <a:latin typeface="Calibri"/>
              </a:rPr>
              <a:t>▲ 56%</a:t>
            </a:r>
            <a:r>
              <a:rPr sz="900" b="1" dirty="0">
                <a:solidFill>
                  <a:srgbClr val="1C4DD8"/>
                </a:solidFill>
                <a:latin typeface="Calibri"/>
              </a:rPr>
              <a:t> </a:t>
            </a:r>
            <a:r>
              <a:rPr sz="900" b="1" dirty="0">
                <a:latin typeface="Calibri"/>
              </a:rPr>
              <a:t>vs May-25, confirming Consistent strong month momentum.</a:t>
            </a:r>
            <a:endParaRPr lang="en-IN" sz="1400" dirty="0">
              <a:effectLst/>
              <a:latin typeface="+mj-lt"/>
              <a:ea typeface="Arial MT"/>
              <a:cs typeface="Calibri"/>
            </a:endParaRPr>
          </a:p>
        </p:txBody>
      </p:sp>
      <p:sp>
        <p:nvSpPr>
          <p:cNvPr id="149" name="Shape 3">
            <a:extLst>
              <a:ext uri="{FF2B5EF4-FFF2-40B4-BE49-F238E27FC236}">
                <a16:creationId xmlns:a16="http://schemas.microsoft.com/office/drawing/2014/main" id="{E2B15EBD-7C86-86AC-FD83-3C817A35F1E5}"/>
              </a:ext>
            </a:extLst>
          </p:cNvPr>
          <p:cNvSpPr/>
          <p:nvPr/>
        </p:nvSpPr>
        <p:spPr>
          <a:xfrm>
            <a:off x="212691" y="3473924"/>
            <a:ext cx="6926523" cy="256032"/>
          </a:xfrm>
          <a:prstGeom prst="rect">
            <a:avLst/>
          </a:prstGeom>
          <a:solidFill>
            <a:srgbClr val="2D9B7F"/>
          </a:solidFill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sp>
        <p:nvSpPr>
          <p:cNvPr id="150" name="Text 4">
            <a:extLst>
              <a:ext uri="{FF2B5EF4-FFF2-40B4-BE49-F238E27FC236}">
                <a16:creationId xmlns:a16="http://schemas.microsoft.com/office/drawing/2014/main" id="{E090B056-5AAD-CC5C-BB09-77FB607FB2B4}"/>
              </a:ext>
            </a:extLst>
          </p:cNvPr>
          <p:cNvSpPr/>
          <p:nvPr/>
        </p:nvSpPr>
        <p:spPr>
          <a:xfrm>
            <a:off x="212691" y="3537932"/>
            <a:ext cx="692652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b="1" dirty="0">
                <a:solidFill>
                  <a:srgbClr val="FFFFFF"/>
                </a:solidFill>
                <a:latin typeface="Calibri"/>
              </a:rPr>
              <a:t>West | Mamaearth — Top 3 Sub-category Monthly Trend (NSV)</a:t>
            </a:r>
            <a:endParaRPr lang="en-US" sz="780" dirty="0">
              <a:latin typeface="+mj-lt"/>
            </a:endParaRPr>
          </a:p>
        </p:txBody>
      </p:sp>
      <p:sp>
        <p:nvSpPr>
          <p:cNvPr id="151" name="Text 5">
            <a:extLst>
              <a:ext uri="{FF2B5EF4-FFF2-40B4-BE49-F238E27FC236}">
                <a16:creationId xmlns:a16="http://schemas.microsoft.com/office/drawing/2014/main" id="{8DC1552C-E149-4A10-28F5-0A4785E39F2D}"/>
              </a:ext>
            </a:extLst>
          </p:cNvPr>
          <p:cNvSpPr/>
          <p:nvPr/>
        </p:nvSpPr>
        <p:spPr>
          <a:xfrm>
            <a:off x="297088" y="3868329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1100" dirty="0">
              <a:latin typeface="+mj-lt"/>
            </a:endParaRPr>
          </a:p>
        </p:txBody>
      </p:sp>
      <p:sp>
        <p:nvSpPr>
          <p:cNvPr id="152" name="Text 6">
            <a:extLst>
              <a:ext uri="{FF2B5EF4-FFF2-40B4-BE49-F238E27FC236}">
                <a16:creationId xmlns:a16="http://schemas.microsoft.com/office/drawing/2014/main" id="{68B7E644-F756-EB08-51D0-E4BBD2584EB3}"/>
              </a:ext>
            </a:extLst>
          </p:cNvPr>
          <p:cNvSpPr/>
          <p:nvPr/>
        </p:nvSpPr>
        <p:spPr>
          <a:xfrm>
            <a:off x="835642" y="3885403"/>
            <a:ext cx="372097" cy="242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>
                <a:solidFill>
                  <a:srgbClr val="008A3D"/>
                </a:solidFill>
                <a:latin typeface="Calibri"/>
              </a:rPr>
              <a:t>▲ 6%</a:t>
            </a:r>
            <a:endParaRPr lang="en-US" sz="900" dirty="0">
              <a:latin typeface="+mj-lt"/>
            </a:endParaRPr>
          </a:p>
        </p:txBody>
      </p:sp>
      <p:sp>
        <p:nvSpPr>
          <p:cNvPr id="153" name="Text 7">
            <a:extLst>
              <a:ext uri="{FF2B5EF4-FFF2-40B4-BE49-F238E27FC236}">
                <a16:creationId xmlns:a16="http://schemas.microsoft.com/office/drawing/2014/main" id="{E90F34B8-D653-A710-F866-1BC3E6964F9D}"/>
              </a:ext>
            </a:extLst>
          </p:cNvPr>
          <p:cNvSpPr/>
          <p:nvPr/>
        </p:nvSpPr>
        <p:spPr>
          <a:xfrm>
            <a:off x="1309888" y="3897280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12%</a:t>
            </a:r>
            <a:endParaRPr lang="en-US" sz="900" dirty="0">
              <a:latin typeface="+mj-lt"/>
            </a:endParaRPr>
          </a:p>
        </p:txBody>
      </p:sp>
      <p:sp>
        <p:nvSpPr>
          <p:cNvPr id="154" name="Text 8">
            <a:extLst>
              <a:ext uri="{FF2B5EF4-FFF2-40B4-BE49-F238E27FC236}">
                <a16:creationId xmlns:a16="http://schemas.microsoft.com/office/drawing/2014/main" id="{3CB5B5FD-F962-33DF-877C-0AE18D2CE328}"/>
              </a:ext>
            </a:extLst>
          </p:cNvPr>
          <p:cNvSpPr/>
          <p:nvPr/>
        </p:nvSpPr>
        <p:spPr>
          <a:xfrm>
            <a:off x="1843055" y="3885404"/>
            <a:ext cx="509783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May'26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290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55" name="Chart 0">
            <a:extLst>
              <a:ext uri="{FF2B5EF4-FFF2-40B4-BE49-F238E27FC236}">
                <a16:creationId xmlns:a16="http://schemas.microsoft.com/office/drawing/2014/main" id="{C3EABDE2-E03A-721E-0AE3-C104F928F4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74133426"/>
              </p:ext>
            </p:extLst>
          </p:nvPr>
        </p:nvGraphicFramePr>
        <p:xfrm>
          <a:off x="183307" y="3764101"/>
          <a:ext cx="2199629" cy="16659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6" name="Text 9">
            <a:extLst>
              <a:ext uri="{FF2B5EF4-FFF2-40B4-BE49-F238E27FC236}">
                <a16:creationId xmlns:a16="http://schemas.microsoft.com/office/drawing/2014/main" id="{5BEBD7FD-7A2C-AC1D-76B9-D5B4A0E4DD0C}"/>
              </a:ext>
            </a:extLst>
          </p:cNvPr>
          <p:cNvSpPr/>
          <p:nvPr/>
        </p:nvSpPr>
        <p:spPr>
          <a:xfrm>
            <a:off x="2618119" y="3885404"/>
            <a:ext cx="560284" cy="178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Shampoo</a:t>
            </a:r>
            <a:endParaRPr lang="en-US" sz="900" dirty="0">
              <a:latin typeface="+mj-lt"/>
            </a:endParaRPr>
          </a:p>
        </p:txBody>
      </p:sp>
      <p:sp>
        <p:nvSpPr>
          <p:cNvPr id="157" name="Text 10">
            <a:extLst>
              <a:ext uri="{FF2B5EF4-FFF2-40B4-BE49-F238E27FC236}">
                <a16:creationId xmlns:a16="http://schemas.microsoft.com/office/drawing/2014/main" id="{1E0A7551-8419-9F78-49C5-64130D89CF32}"/>
              </a:ext>
            </a:extLst>
          </p:cNvPr>
          <p:cNvSpPr/>
          <p:nvPr/>
        </p:nvSpPr>
        <p:spPr>
          <a:xfrm>
            <a:off x="3210825" y="3875509"/>
            <a:ext cx="372097" cy="196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>
                <a:solidFill>
                  <a:srgbClr val="008A3D"/>
                </a:solidFill>
                <a:latin typeface="Calibri"/>
              </a:rPr>
              <a:t>▲ 35%</a:t>
            </a:r>
            <a:endParaRPr lang="en-US" sz="900" dirty="0">
              <a:latin typeface="+mj-lt"/>
            </a:endParaRPr>
          </a:p>
        </p:txBody>
      </p:sp>
      <p:sp>
        <p:nvSpPr>
          <p:cNvPr id="158" name="Text 11">
            <a:extLst>
              <a:ext uri="{FF2B5EF4-FFF2-40B4-BE49-F238E27FC236}">
                <a16:creationId xmlns:a16="http://schemas.microsoft.com/office/drawing/2014/main" id="{A6E4DFA5-8AF1-66E3-AB74-1643CD5B917D}"/>
              </a:ext>
            </a:extLst>
          </p:cNvPr>
          <p:cNvSpPr/>
          <p:nvPr/>
        </p:nvSpPr>
        <p:spPr>
          <a:xfrm>
            <a:off x="3615344" y="3871688"/>
            <a:ext cx="372097" cy="247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3%</a:t>
            </a:r>
            <a:endParaRPr lang="en-US" sz="900" dirty="0">
              <a:latin typeface="+mj-lt"/>
            </a:endParaRPr>
          </a:p>
        </p:txBody>
      </p:sp>
      <p:sp>
        <p:nvSpPr>
          <p:cNvPr id="159" name="Text 12">
            <a:extLst>
              <a:ext uri="{FF2B5EF4-FFF2-40B4-BE49-F238E27FC236}">
                <a16:creationId xmlns:a16="http://schemas.microsoft.com/office/drawing/2014/main" id="{0002D543-8B74-7800-B3E0-CCAA6D0B22FA}"/>
              </a:ext>
            </a:extLst>
          </p:cNvPr>
          <p:cNvSpPr/>
          <p:nvPr/>
        </p:nvSpPr>
        <p:spPr>
          <a:xfrm>
            <a:off x="4086807" y="3873841"/>
            <a:ext cx="413442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May'26 175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0" name="Chart 1">
            <a:extLst>
              <a:ext uri="{FF2B5EF4-FFF2-40B4-BE49-F238E27FC236}">
                <a16:creationId xmlns:a16="http://schemas.microsoft.com/office/drawing/2014/main" id="{498335C8-87FE-1BF3-E55D-7F3682FE88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61521053"/>
              </p:ext>
            </p:extLst>
          </p:nvPr>
        </p:nvGraphicFramePr>
        <p:xfrm>
          <a:off x="2479234" y="3793296"/>
          <a:ext cx="2340212" cy="16153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1" name="Text 13">
            <a:extLst>
              <a:ext uri="{FF2B5EF4-FFF2-40B4-BE49-F238E27FC236}">
                <a16:creationId xmlns:a16="http://schemas.microsoft.com/office/drawing/2014/main" id="{AE81E6A1-E294-CD2E-3731-74E6402A61FF}"/>
              </a:ext>
            </a:extLst>
          </p:cNvPr>
          <p:cNvSpPr/>
          <p:nvPr/>
        </p:nvSpPr>
        <p:spPr>
          <a:xfrm>
            <a:off x="4943104" y="3837376"/>
            <a:ext cx="537475" cy="187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Sun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Care</a:t>
            </a:r>
            <a:endParaRPr lang="en-US" sz="900" dirty="0">
              <a:latin typeface="+mj-lt"/>
            </a:endParaRPr>
          </a:p>
        </p:txBody>
      </p:sp>
      <p:sp>
        <p:nvSpPr>
          <p:cNvPr id="162" name="Text 14">
            <a:extLst>
              <a:ext uri="{FF2B5EF4-FFF2-40B4-BE49-F238E27FC236}">
                <a16:creationId xmlns:a16="http://schemas.microsoft.com/office/drawing/2014/main" id="{27F9A9D8-519D-AC19-D616-44CAE0D43FD1}"/>
              </a:ext>
            </a:extLst>
          </p:cNvPr>
          <p:cNvSpPr/>
          <p:nvPr/>
        </p:nvSpPr>
        <p:spPr>
          <a:xfrm>
            <a:off x="5413469" y="3814391"/>
            <a:ext cx="615164" cy="244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sz="900" dirty="0">
                <a:solidFill>
                  <a:srgbClr val="008A3D"/>
                </a:solidFill>
                <a:latin typeface="Calibri"/>
              </a:rPr>
              <a:t>GOLY ▲ 36%</a:t>
            </a:r>
            <a:endParaRPr lang="en-US" sz="900" dirty="0">
              <a:solidFill>
                <a:srgbClr val="008A3D"/>
              </a:solidFill>
              <a:latin typeface="+mj-lt"/>
            </a:endParaRPr>
          </a:p>
        </p:txBody>
      </p:sp>
      <p:sp>
        <p:nvSpPr>
          <p:cNvPr id="163" name="Text 15">
            <a:extLst>
              <a:ext uri="{FF2B5EF4-FFF2-40B4-BE49-F238E27FC236}">
                <a16:creationId xmlns:a16="http://schemas.microsoft.com/office/drawing/2014/main" id="{25E789B0-F22E-6189-F81D-C18A4F30CC76}"/>
              </a:ext>
            </a:extLst>
          </p:cNvPr>
          <p:cNvSpPr/>
          <p:nvPr/>
        </p:nvSpPr>
        <p:spPr>
          <a:xfrm>
            <a:off x="6045600" y="3813003"/>
            <a:ext cx="372097" cy="251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0000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C00000"/>
                </a:solidFill>
                <a:latin typeface="Calibri"/>
              </a:rPr>
              <a:t>▼ 15%</a:t>
            </a:r>
            <a:endParaRPr lang="en-US" sz="9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64" name="Text 16">
            <a:extLst>
              <a:ext uri="{FF2B5EF4-FFF2-40B4-BE49-F238E27FC236}">
                <a16:creationId xmlns:a16="http://schemas.microsoft.com/office/drawing/2014/main" id="{B7F3446D-2E00-77C7-5921-C34968E8F7B7}"/>
              </a:ext>
            </a:extLst>
          </p:cNvPr>
          <p:cNvSpPr/>
          <p:nvPr/>
        </p:nvSpPr>
        <p:spPr>
          <a:xfrm>
            <a:off x="6607284" y="3835214"/>
            <a:ext cx="413442" cy="206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May'26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88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5" name="Chart 2">
            <a:extLst>
              <a:ext uri="{FF2B5EF4-FFF2-40B4-BE49-F238E27FC236}">
                <a16:creationId xmlns:a16="http://schemas.microsoft.com/office/drawing/2014/main" id="{E29320C6-4ABC-47AD-CAC6-8C1A6CA6E8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90032755"/>
              </p:ext>
            </p:extLst>
          </p:nvPr>
        </p:nvGraphicFramePr>
        <p:xfrm>
          <a:off x="4849544" y="3784478"/>
          <a:ext cx="2289670" cy="16348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6" name="Shape 17">
            <a:extLst>
              <a:ext uri="{FF2B5EF4-FFF2-40B4-BE49-F238E27FC236}">
                <a16:creationId xmlns:a16="http://schemas.microsoft.com/office/drawing/2014/main" id="{0C37FB05-75B7-65DE-A1B1-F44B76B917B2}"/>
              </a:ext>
            </a:extLst>
          </p:cNvPr>
          <p:cNvSpPr/>
          <p:nvPr/>
        </p:nvSpPr>
        <p:spPr>
          <a:xfrm>
            <a:off x="212691" y="5470073"/>
            <a:ext cx="6926523" cy="323487"/>
          </a:xfrm>
          <a:prstGeom prst="rect">
            <a:avLst/>
          </a:prstGeom>
          <a:solidFill>
            <a:srgbClr val="2D9B7F"/>
          </a:solidFill>
          <a:ln w="12700">
            <a:solidFill>
              <a:srgbClr val="23633A"/>
            </a:solidFill>
            <a:prstDash val="solid"/>
          </a:ln>
        </p:spPr>
        <p:txBody>
          <a:bodyPr anchor="t"/>
          <a:lstStyle/>
          <a:p>
            <a:endParaRPr lang="en-IN" dirty="0">
              <a:latin typeface="+mj-lt"/>
            </a:endParaRPr>
          </a:p>
        </p:txBody>
      </p:sp>
      <p:sp>
        <p:nvSpPr>
          <p:cNvPr id="167" name="Text 18">
            <a:extLst>
              <a:ext uri="{FF2B5EF4-FFF2-40B4-BE49-F238E27FC236}">
                <a16:creationId xmlns:a16="http://schemas.microsoft.com/office/drawing/2014/main" id="{606509AD-D1A3-4CFF-7031-2BD01F460E84}"/>
              </a:ext>
            </a:extLst>
          </p:cNvPr>
          <p:cNvSpPr/>
          <p:nvPr/>
        </p:nvSpPr>
        <p:spPr>
          <a:xfrm>
            <a:off x="212691" y="5468644"/>
            <a:ext cx="6926523" cy="318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West | The Derma Co. — Top 3 Sub-category Monthly Trend (NSV)</a:t>
            </a:r>
            <a:endParaRPr lang="en-US" sz="1100" dirty="0">
              <a:latin typeface="+mj-lt"/>
            </a:endParaRPr>
          </a:p>
        </p:txBody>
      </p:sp>
      <p:sp>
        <p:nvSpPr>
          <p:cNvPr id="168" name="Text 19">
            <a:extLst>
              <a:ext uri="{FF2B5EF4-FFF2-40B4-BE49-F238E27FC236}">
                <a16:creationId xmlns:a16="http://schemas.microsoft.com/office/drawing/2014/main" id="{A8BC9F08-BB7E-07CC-C7BE-53E76EB85511}"/>
              </a:ext>
            </a:extLst>
          </p:cNvPr>
          <p:cNvSpPr/>
          <p:nvPr/>
        </p:nvSpPr>
        <p:spPr>
          <a:xfrm>
            <a:off x="151297" y="5927181"/>
            <a:ext cx="397538" cy="24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1050" dirty="0">
              <a:latin typeface="+mj-lt"/>
            </a:endParaRPr>
          </a:p>
        </p:txBody>
      </p:sp>
      <p:sp>
        <p:nvSpPr>
          <p:cNvPr id="169" name="Text 20">
            <a:extLst>
              <a:ext uri="{FF2B5EF4-FFF2-40B4-BE49-F238E27FC236}">
                <a16:creationId xmlns:a16="http://schemas.microsoft.com/office/drawing/2014/main" id="{CC6466FF-9DFE-712B-2E6C-63C9594ED3C1}"/>
              </a:ext>
            </a:extLst>
          </p:cNvPr>
          <p:cNvSpPr/>
          <p:nvPr/>
        </p:nvSpPr>
        <p:spPr>
          <a:xfrm>
            <a:off x="607560" y="5965684"/>
            <a:ext cx="445541" cy="215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GOLY</a:t>
            </a:r>
            <a:r>
              <a:rPr sz="900" b="1" dirty="0">
                <a:solidFill>
                  <a:srgbClr val="008A3D"/>
                </a:solidFill>
                <a:latin typeface="Calibri"/>
              </a:rPr>
              <a:t>▲154%</a:t>
            </a:r>
            <a:endParaRPr lang="en-US" sz="900" dirty="0">
              <a:latin typeface="+mj-lt"/>
            </a:endParaRPr>
          </a:p>
        </p:txBody>
      </p:sp>
      <p:sp>
        <p:nvSpPr>
          <p:cNvPr id="170" name="Text 21">
            <a:extLst>
              <a:ext uri="{FF2B5EF4-FFF2-40B4-BE49-F238E27FC236}">
                <a16:creationId xmlns:a16="http://schemas.microsoft.com/office/drawing/2014/main" id="{6553EC6E-D91D-B6B7-81E0-5D554EF96509}"/>
              </a:ext>
            </a:extLst>
          </p:cNvPr>
          <p:cNvSpPr/>
          <p:nvPr/>
        </p:nvSpPr>
        <p:spPr>
          <a:xfrm>
            <a:off x="1180857" y="5933593"/>
            <a:ext cx="406179" cy="243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42%</a:t>
            </a:r>
            <a:endParaRPr lang="en-US" sz="900" dirty="0">
              <a:latin typeface="+mj-lt"/>
            </a:endParaRPr>
          </a:p>
        </p:txBody>
      </p:sp>
      <p:sp>
        <p:nvSpPr>
          <p:cNvPr id="171" name="Text 22">
            <a:extLst>
              <a:ext uri="{FF2B5EF4-FFF2-40B4-BE49-F238E27FC236}">
                <a16:creationId xmlns:a16="http://schemas.microsoft.com/office/drawing/2014/main" id="{21E44F12-56F2-0F79-99BF-12D5FEBEA9AE}"/>
              </a:ext>
            </a:extLst>
          </p:cNvPr>
          <p:cNvSpPr/>
          <p:nvPr/>
        </p:nvSpPr>
        <p:spPr>
          <a:xfrm>
            <a:off x="1741769" y="5942106"/>
            <a:ext cx="496442" cy="243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May'26 215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2" name="Chart 3">
            <a:extLst>
              <a:ext uri="{FF2B5EF4-FFF2-40B4-BE49-F238E27FC236}">
                <a16:creationId xmlns:a16="http://schemas.microsoft.com/office/drawing/2014/main" id="{A04A165C-0A2C-703B-D787-4F0EA0143E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6619304"/>
              </p:ext>
            </p:extLst>
          </p:nvPr>
        </p:nvGraphicFramePr>
        <p:xfrm>
          <a:off x="195474" y="5885531"/>
          <a:ext cx="2256553" cy="15413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73" name="Text 23">
            <a:extLst>
              <a:ext uri="{FF2B5EF4-FFF2-40B4-BE49-F238E27FC236}">
                <a16:creationId xmlns:a16="http://schemas.microsoft.com/office/drawing/2014/main" id="{D7CD4F3F-DA69-AB5C-19FC-40054C6226BA}"/>
              </a:ext>
            </a:extLst>
          </p:cNvPr>
          <p:cNvSpPr/>
          <p:nvPr/>
        </p:nvSpPr>
        <p:spPr>
          <a:xfrm>
            <a:off x="2564343" y="5927180"/>
            <a:ext cx="541573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Sun Care</a:t>
            </a:r>
            <a:endParaRPr lang="en-US" sz="900" dirty="0">
              <a:latin typeface="+mj-lt"/>
            </a:endParaRPr>
          </a:p>
        </p:txBody>
      </p:sp>
      <p:sp>
        <p:nvSpPr>
          <p:cNvPr id="174" name="Text 24">
            <a:extLst>
              <a:ext uri="{FF2B5EF4-FFF2-40B4-BE49-F238E27FC236}">
                <a16:creationId xmlns:a16="http://schemas.microsoft.com/office/drawing/2014/main" id="{1D10C6E1-4BAF-BC01-C799-C47AB1F5027D}"/>
              </a:ext>
            </a:extLst>
          </p:cNvPr>
          <p:cNvSpPr/>
          <p:nvPr/>
        </p:nvSpPr>
        <p:spPr>
          <a:xfrm>
            <a:off x="3133841" y="5994624"/>
            <a:ext cx="447960" cy="205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GOLY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▲438%</a:t>
            </a:r>
            <a:endParaRPr lang="en-US" sz="900" dirty="0">
              <a:latin typeface="+mj-lt"/>
            </a:endParaRPr>
          </a:p>
        </p:txBody>
      </p:sp>
      <p:sp>
        <p:nvSpPr>
          <p:cNvPr id="175" name="Text 25">
            <a:extLst>
              <a:ext uri="{FF2B5EF4-FFF2-40B4-BE49-F238E27FC236}">
                <a16:creationId xmlns:a16="http://schemas.microsoft.com/office/drawing/2014/main" id="{7646A250-EE9F-A6C6-49D3-68B6D3DFBFDE}"/>
              </a:ext>
            </a:extLst>
          </p:cNvPr>
          <p:cNvSpPr/>
          <p:nvPr/>
        </p:nvSpPr>
        <p:spPr>
          <a:xfrm>
            <a:off x="3615344" y="5957217"/>
            <a:ext cx="406179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40%</a:t>
            </a:r>
            <a:endParaRPr lang="en-US" sz="900" dirty="0">
              <a:latin typeface="+mj-lt"/>
            </a:endParaRPr>
          </a:p>
        </p:txBody>
      </p:sp>
      <p:sp>
        <p:nvSpPr>
          <p:cNvPr id="176" name="Text 26">
            <a:extLst>
              <a:ext uri="{FF2B5EF4-FFF2-40B4-BE49-F238E27FC236}">
                <a16:creationId xmlns:a16="http://schemas.microsoft.com/office/drawing/2014/main" id="{DB185B2C-DCD9-D290-C330-3A33EAC025C5}"/>
              </a:ext>
            </a:extLst>
          </p:cNvPr>
          <p:cNvSpPr/>
          <p:nvPr/>
        </p:nvSpPr>
        <p:spPr>
          <a:xfrm>
            <a:off x="4144390" y="5962804"/>
            <a:ext cx="511364" cy="243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May'26 119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7" name="Chart 4">
            <a:extLst>
              <a:ext uri="{FF2B5EF4-FFF2-40B4-BE49-F238E27FC236}">
                <a16:creationId xmlns:a16="http://schemas.microsoft.com/office/drawing/2014/main" id="{CBBF5C82-1DBC-BF6C-CAEA-410BB465C0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34559707"/>
              </p:ext>
            </p:extLst>
          </p:nvPr>
        </p:nvGraphicFramePr>
        <p:xfrm>
          <a:off x="2540771" y="5853797"/>
          <a:ext cx="2256553" cy="15413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78" name="Text 27">
            <a:extLst>
              <a:ext uri="{FF2B5EF4-FFF2-40B4-BE49-F238E27FC236}">
                <a16:creationId xmlns:a16="http://schemas.microsoft.com/office/drawing/2014/main" id="{038BADD0-EAC6-F8D6-7B12-BE177A9DAD4D}"/>
              </a:ext>
            </a:extLst>
          </p:cNvPr>
          <p:cNvSpPr/>
          <p:nvPr/>
        </p:nvSpPr>
        <p:spPr>
          <a:xfrm>
            <a:off x="4820896" y="5906220"/>
            <a:ext cx="682149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Face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Serum</a:t>
            </a:r>
            <a:endParaRPr lang="en-US" sz="900" dirty="0">
              <a:latin typeface="+mj-lt"/>
            </a:endParaRPr>
          </a:p>
        </p:txBody>
      </p:sp>
      <p:sp>
        <p:nvSpPr>
          <p:cNvPr id="179" name="Text 28">
            <a:extLst>
              <a:ext uri="{FF2B5EF4-FFF2-40B4-BE49-F238E27FC236}">
                <a16:creationId xmlns:a16="http://schemas.microsoft.com/office/drawing/2014/main" id="{024D5F40-BAD0-9683-DBAB-2A9FEAA024FA}"/>
              </a:ext>
            </a:extLst>
          </p:cNvPr>
          <p:cNvSpPr/>
          <p:nvPr/>
        </p:nvSpPr>
        <p:spPr>
          <a:xfrm>
            <a:off x="5494277" y="5902783"/>
            <a:ext cx="439416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GOLY</a:t>
            </a:r>
          </a:p>
          <a:p>
            <a:pPr marL="0" indent="0" algn="ctr">
              <a:buNone/>
            </a:pPr>
            <a:r>
              <a:rPr sz="900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 </a:t>
            </a:r>
            <a:r>
              <a:rPr sz="900" b="1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▲ 3%</a:t>
            </a:r>
            <a:endParaRPr lang="en-US" sz="900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180" name="Text 29">
            <a:extLst>
              <a:ext uri="{FF2B5EF4-FFF2-40B4-BE49-F238E27FC236}">
                <a16:creationId xmlns:a16="http://schemas.microsoft.com/office/drawing/2014/main" id="{631DEBF0-39A6-7D0F-BA14-F1B18161FDD2}"/>
              </a:ext>
            </a:extLst>
          </p:cNvPr>
          <p:cNvSpPr/>
          <p:nvPr/>
        </p:nvSpPr>
        <p:spPr>
          <a:xfrm>
            <a:off x="6011518" y="5894702"/>
            <a:ext cx="406179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0000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C00000"/>
                </a:solidFill>
                <a:latin typeface="Calibri"/>
              </a:rPr>
              <a:t>▼ 15%</a:t>
            </a:r>
            <a:endParaRPr lang="en-US" sz="9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81" name="Text 30">
            <a:extLst>
              <a:ext uri="{FF2B5EF4-FFF2-40B4-BE49-F238E27FC236}">
                <a16:creationId xmlns:a16="http://schemas.microsoft.com/office/drawing/2014/main" id="{F69669F6-2C5B-9CCF-FC00-E39EBA2DF5E4}"/>
              </a:ext>
            </a:extLst>
          </p:cNvPr>
          <p:cNvSpPr/>
          <p:nvPr/>
        </p:nvSpPr>
        <p:spPr>
          <a:xfrm>
            <a:off x="6569415" y="5893104"/>
            <a:ext cx="451311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May'26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19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82" name="Chart 5">
            <a:extLst>
              <a:ext uri="{FF2B5EF4-FFF2-40B4-BE49-F238E27FC236}">
                <a16:creationId xmlns:a16="http://schemas.microsoft.com/office/drawing/2014/main" id="{39E95149-09DC-244B-A1A2-AB5A022BF0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47016938"/>
              </p:ext>
            </p:extLst>
          </p:nvPr>
        </p:nvGraphicFramePr>
        <p:xfrm>
          <a:off x="4930324" y="5845469"/>
          <a:ext cx="2208890" cy="15413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91" name="Table 190">
            <a:extLst>
              <a:ext uri="{FF2B5EF4-FFF2-40B4-BE49-F238E27FC236}">
                <a16:creationId xmlns:a16="http://schemas.microsoft.com/office/drawing/2014/main" id="{01C4CE9C-7CF2-0375-6C71-4739F8695A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307983"/>
              </p:ext>
            </p:extLst>
          </p:nvPr>
        </p:nvGraphicFramePr>
        <p:xfrm>
          <a:off x="212691" y="1934878"/>
          <a:ext cx="7121624" cy="1465101"/>
        </p:xfrm>
        <a:graphic>
          <a:graphicData uri="http://schemas.openxmlformats.org/drawingml/2006/table">
            <a:tbl>
              <a:tblPr firstRow="1" firstCol="1" bandRow="1"/>
              <a:tblGrid>
                <a:gridCol w="1217605">
                  <a:extLst>
                    <a:ext uri="{9D8B030D-6E8A-4147-A177-3AD203B41FA5}">
                      <a16:colId xmlns:a16="http://schemas.microsoft.com/office/drawing/2014/main" val="1720933068"/>
                    </a:ext>
                  </a:extLst>
                </a:gridCol>
                <a:gridCol w="617473">
                  <a:extLst>
                    <a:ext uri="{9D8B030D-6E8A-4147-A177-3AD203B41FA5}">
                      <a16:colId xmlns:a16="http://schemas.microsoft.com/office/drawing/2014/main" val="2630805108"/>
                    </a:ext>
                  </a:extLst>
                </a:gridCol>
                <a:gridCol w="811691">
                  <a:extLst>
                    <a:ext uri="{9D8B030D-6E8A-4147-A177-3AD203B41FA5}">
                      <a16:colId xmlns:a16="http://schemas.microsoft.com/office/drawing/2014/main" val="1295913063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4130086957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3066276741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2870282349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1716647770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2912854798"/>
                    </a:ext>
                  </a:extLst>
                </a:gridCol>
              </a:tblGrid>
              <a:tr h="22449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Brand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May-25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Apr-26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May-26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 err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Cont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GO 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GOLY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355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Mamaearth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584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623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640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63%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599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7%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10%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9593741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The Derma Co.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59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265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359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35%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228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57%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510%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4782322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Aqualogica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9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13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14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29%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63%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7599869"/>
                  </a:ext>
                </a:extLst>
              </a:tr>
              <a:tr h="31015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Emerging Brands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0%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1020566"/>
                  </a:ext>
                </a:extLst>
              </a:tr>
            </a:tbl>
          </a:graphicData>
        </a:graphic>
      </p:graphicFrame>
      <p:graphicFrame>
        <p:nvGraphicFramePr>
          <p:cNvPr id="194" name="Table 193">
            <a:extLst>
              <a:ext uri="{FF2B5EF4-FFF2-40B4-BE49-F238E27FC236}">
                <a16:creationId xmlns:a16="http://schemas.microsoft.com/office/drawing/2014/main" id="{8A46149D-11DB-F40E-39B0-E59AE1376D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7160641"/>
              </p:ext>
            </p:extLst>
          </p:nvPr>
        </p:nvGraphicFramePr>
        <p:xfrm>
          <a:off x="212691" y="7863614"/>
          <a:ext cx="7010190" cy="1618160"/>
        </p:xfrm>
        <a:graphic>
          <a:graphicData uri="http://schemas.openxmlformats.org/drawingml/2006/table">
            <a:tbl>
              <a:tblPr firstRow="1" firstCol="1" bandRow="1"/>
              <a:tblGrid>
                <a:gridCol w="1701001">
                  <a:extLst>
                    <a:ext uri="{9D8B030D-6E8A-4147-A177-3AD203B41FA5}">
                      <a16:colId xmlns:a16="http://schemas.microsoft.com/office/drawing/2014/main" val="1999662838"/>
                    </a:ext>
                  </a:extLst>
                </a:gridCol>
                <a:gridCol w="773183">
                  <a:extLst>
                    <a:ext uri="{9D8B030D-6E8A-4147-A177-3AD203B41FA5}">
                      <a16:colId xmlns:a16="http://schemas.microsoft.com/office/drawing/2014/main" val="1604924111"/>
                    </a:ext>
                  </a:extLst>
                </a:gridCol>
                <a:gridCol w="721637">
                  <a:extLst>
                    <a:ext uri="{9D8B030D-6E8A-4147-A177-3AD203B41FA5}">
                      <a16:colId xmlns:a16="http://schemas.microsoft.com/office/drawing/2014/main" val="3900343723"/>
                    </a:ext>
                  </a:extLst>
                </a:gridCol>
                <a:gridCol w="773183">
                  <a:extLst>
                    <a:ext uri="{9D8B030D-6E8A-4147-A177-3AD203B41FA5}">
                      <a16:colId xmlns:a16="http://schemas.microsoft.com/office/drawing/2014/main" val="2453469686"/>
                    </a:ext>
                  </a:extLst>
                </a:gridCol>
                <a:gridCol w="773183">
                  <a:extLst>
                    <a:ext uri="{9D8B030D-6E8A-4147-A177-3AD203B41FA5}">
                      <a16:colId xmlns:a16="http://schemas.microsoft.com/office/drawing/2014/main" val="531817117"/>
                    </a:ext>
                  </a:extLst>
                </a:gridCol>
                <a:gridCol w="481091">
                  <a:extLst>
                    <a:ext uri="{9D8B030D-6E8A-4147-A177-3AD203B41FA5}">
                      <a16:colId xmlns:a16="http://schemas.microsoft.com/office/drawing/2014/main" val="1269342238"/>
                    </a:ext>
                  </a:extLst>
                </a:gridCol>
                <a:gridCol w="893456">
                  <a:extLst>
                    <a:ext uri="{9D8B030D-6E8A-4147-A177-3AD203B41FA5}">
                      <a16:colId xmlns:a16="http://schemas.microsoft.com/office/drawing/2014/main" val="1250320746"/>
                    </a:ext>
                  </a:extLst>
                </a:gridCol>
                <a:gridCol w="893456">
                  <a:extLst>
                    <a:ext uri="{9D8B030D-6E8A-4147-A177-3AD203B41FA5}">
                      <a16:colId xmlns:a16="http://schemas.microsoft.com/office/drawing/2014/main" val="2206225178"/>
                    </a:ext>
                  </a:extLst>
                </a:gridCol>
              </a:tblGrid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Chain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May-25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Apr-26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May-26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Cont%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GO 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GOLY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2551122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Dmart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428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577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680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67%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537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27%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59%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039130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Reliance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107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138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152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138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11%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42%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264776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Wellness Forever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77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99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92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9%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88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4%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20%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328105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Apollo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74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79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64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23%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190%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495259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Metro Cnc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C00000"/>
                          </a:solidFill>
                          <a:latin typeface="+mn-lt"/>
                        </a:rPr>
                        <a:t>▼ 10%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C00000"/>
                          </a:solidFill>
                          <a:latin typeface="+mn-lt"/>
                        </a:rPr>
                        <a:t>▼ 27%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0849718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Trent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28%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135%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7893452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Others Combined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C00000"/>
                          </a:solidFill>
                          <a:latin typeface="+mn-lt"/>
                        </a:rPr>
                        <a:t>▼ 27%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C00000"/>
                          </a:solidFill>
                          <a:latin typeface="+mn-lt"/>
                        </a:rPr>
                        <a:t>▼ 33%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3790100"/>
                  </a:ext>
                </a:extLst>
              </a:tr>
            </a:tbl>
          </a:graphicData>
        </a:graphic>
      </p:graphicFrame>
      <p:sp>
        <p:nvSpPr>
          <p:cNvPr id="195" name="Rectangle 81">
            <a:extLst>
              <a:ext uri="{FF2B5EF4-FFF2-40B4-BE49-F238E27FC236}">
                <a16:creationId xmlns:a16="http://schemas.microsoft.com/office/drawing/2014/main" id="{715F732A-615F-905D-E4D0-DF7C4264D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742"/>
            <a:ext cx="75628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ECF521A8-93A7-FE83-3ED0-DDCE5D39A6E0}"/>
              </a:ext>
            </a:extLst>
          </p:cNvPr>
          <p:cNvGrpSpPr>
            <a:grpSpLocks/>
          </p:cNvGrpSpPr>
          <p:nvPr/>
        </p:nvGrpSpPr>
        <p:grpSpPr>
          <a:xfrm>
            <a:off x="212691" y="9493854"/>
            <a:ext cx="6926523" cy="1129056"/>
            <a:chOff x="6350" y="3870"/>
            <a:chExt cx="6966733" cy="1907139"/>
          </a:xfrm>
        </p:grpSpPr>
        <p:sp>
          <p:nvSpPr>
            <p:cNvPr id="197" name="Graphic 278">
              <a:extLst>
                <a:ext uri="{FF2B5EF4-FFF2-40B4-BE49-F238E27FC236}">
                  <a16:creationId xmlns:a16="http://schemas.microsoft.com/office/drawing/2014/main" id="{09562CA0-9705-0A03-47F3-5D39BF8835E5}"/>
                </a:ext>
              </a:extLst>
            </p:cNvPr>
            <p:cNvSpPr/>
            <p:nvPr/>
          </p:nvSpPr>
          <p:spPr>
            <a:xfrm>
              <a:off x="22374" y="87905"/>
              <a:ext cx="6950709" cy="1823104"/>
            </a:xfrm>
            <a:custGeom>
              <a:avLst/>
              <a:gdLst/>
              <a:ahLst/>
              <a:cxnLst/>
              <a:rect l="l" t="t" r="r" b="b"/>
              <a:pathLst>
                <a:path w="6950709" h="2163445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2074415"/>
                  </a:lnTo>
                  <a:lnTo>
                    <a:pt x="6979" y="2109038"/>
                  </a:lnTo>
                  <a:lnTo>
                    <a:pt x="26021" y="2137294"/>
                  </a:lnTo>
                  <a:lnTo>
                    <a:pt x="54276" y="2156335"/>
                  </a:lnTo>
                  <a:lnTo>
                    <a:pt x="88900" y="2163315"/>
                  </a:lnTo>
                  <a:lnTo>
                    <a:pt x="6861500" y="2163315"/>
                  </a:lnTo>
                  <a:lnTo>
                    <a:pt x="6896123" y="2156335"/>
                  </a:lnTo>
                  <a:lnTo>
                    <a:pt x="6924379" y="2137294"/>
                  </a:lnTo>
                  <a:lnTo>
                    <a:pt x="6943420" y="2109038"/>
                  </a:lnTo>
                  <a:lnTo>
                    <a:pt x="6950400" y="2074415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EFFDF4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198" name="Graphic 280">
              <a:extLst>
                <a:ext uri="{FF2B5EF4-FFF2-40B4-BE49-F238E27FC236}">
                  <a16:creationId xmlns:a16="http://schemas.microsoft.com/office/drawing/2014/main" id="{306ADDBF-E20C-DE47-E920-E870C06A675E}"/>
                </a:ext>
              </a:extLst>
            </p:cNvPr>
            <p:cNvSpPr/>
            <p:nvPr/>
          </p:nvSpPr>
          <p:spPr>
            <a:xfrm>
              <a:off x="6350" y="6348"/>
              <a:ext cx="6950709" cy="351681"/>
            </a:xfrm>
            <a:custGeom>
              <a:avLst/>
              <a:gdLst/>
              <a:ahLst/>
              <a:cxnLst/>
              <a:rect l="l" t="t" r="r" b="b"/>
              <a:pathLst>
                <a:path w="6950709" h="241300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152399"/>
                  </a:lnTo>
                  <a:lnTo>
                    <a:pt x="6979" y="187023"/>
                  </a:lnTo>
                  <a:lnTo>
                    <a:pt x="26021" y="215278"/>
                  </a:lnTo>
                  <a:lnTo>
                    <a:pt x="54276" y="234320"/>
                  </a:lnTo>
                  <a:lnTo>
                    <a:pt x="88900" y="241299"/>
                  </a:lnTo>
                  <a:lnTo>
                    <a:pt x="6861500" y="241299"/>
                  </a:lnTo>
                  <a:lnTo>
                    <a:pt x="6896123" y="234320"/>
                  </a:lnTo>
                  <a:lnTo>
                    <a:pt x="6924379" y="215278"/>
                  </a:lnTo>
                  <a:lnTo>
                    <a:pt x="6943420" y="187023"/>
                  </a:lnTo>
                  <a:lnTo>
                    <a:pt x="6950400" y="152399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037756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199" name="Graphic 281">
              <a:extLst>
                <a:ext uri="{FF2B5EF4-FFF2-40B4-BE49-F238E27FC236}">
                  <a16:creationId xmlns:a16="http://schemas.microsoft.com/office/drawing/2014/main" id="{786D0DB1-927E-CDBA-AE82-7E1B1BB65AF0}"/>
                </a:ext>
              </a:extLst>
            </p:cNvPr>
            <p:cNvSpPr/>
            <p:nvPr/>
          </p:nvSpPr>
          <p:spPr>
            <a:xfrm>
              <a:off x="106892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0" name="Graphic 282">
              <a:extLst>
                <a:ext uri="{FF2B5EF4-FFF2-40B4-BE49-F238E27FC236}">
                  <a16:creationId xmlns:a16="http://schemas.microsoft.com/office/drawing/2014/main" id="{1EE2520B-B499-D8A6-9F61-FEDF24208690}"/>
                </a:ext>
              </a:extLst>
            </p:cNvPr>
            <p:cNvSpPr/>
            <p:nvPr/>
          </p:nvSpPr>
          <p:spPr>
            <a:xfrm>
              <a:off x="125480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1" name="Graphic 283">
              <a:extLst>
                <a:ext uri="{FF2B5EF4-FFF2-40B4-BE49-F238E27FC236}">
                  <a16:creationId xmlns:a16="http://schemas.microsoft.com/office/drawing/2014/main" id="{CC1D8F9B-ACDE-52DF-23D6-7FEDF2C5895A}"/>
                </a:ext>
              </a:extLst>
            </p:cNvPr>
            <p:cNvSpPr/>
            <p:nvPr/>
          </p:nvSpPr>
          <p:spPr>
            <a:xfrm>
              <a:off x="1826499" y="967806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2" name="Graphic 284">
              <a:extLst>
                <a:ext uri="{FF2B5EF4-FFF2-40B4-BE49-F238E27FC236}">
                  <a16:creationId xmlns:a16="http://schemas.microsoft.com/office/drawing/2014/main" id="{78E6F5B7-D8F6-E3DA-2211-639E0006CDFC}"/>
                </a:ext>
              </a:extLst>
            </p:cNvPr>
            <p:cNvSpPr/>
            <p:nvPr/>
          </p:nvSpPr>
          <p:spPr>
            <a:xfrm>
              <a:off x="1818628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3" name="Graphic 285">
              <a:extLst>
                <a:ext uri="{FF2B5EF4-FFF2-40B4-BE49-F238E27FC236}">
                  <a16:creationId xmlns:a16="http://schemas.microsoft.com/office/drawing/2014/main" id="{E2A44793-D301-9552-99EC-90EC13154CAA}"/>
                </a:ext>
              </a:extLst>
            </p:cNvPr>
            <p:cNvSpPr/>
            <p:nvPr/>
          </p:nvSpPr>
          <p:spPr>
            <a:xfrm>
              <a:off x="3502621" y="962316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4" name="Graphic 286">
              <a:extLst>
                <a:ext uri="{FF2B5EF4-FFF2-40B4-BE49-F238E27FC236}">
                  <a16:creationId xmlns:a16="http://schemas.microsoft.com/office/drawing/2014/main" id="{5C0F2A52-1C1D-D1A6-05EA-4ACCDB5127EF}"/>
                </a:ext>
              </a:extLst>
            </p:cNvPr>
            <p:cNvSpPr/>
            <p:nvPr/>
          </p:nvSpPr>
          <p:spPr>
            <a:xfrm>
              <a:off x="3502621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5" name="Graphic 287">
              <a:extLst>
                <a:ext uri="{FF2B5EF4-FFF2-40B4-BE49-F238E27FC236}">
                  <a16:creationId xmlns:a16="http://schemas.microsoft.com/office/drawing/2014/main" id="{97A32B53-FBD3-57B6-D1A2-97E533939E78}"/>
                </a:ext>
              </a:extLst>
            </p:cNvPr>
            <p:cNvSpPr/>
            <p:nvPr/>
          </p:nvSpPr>
          <p:spPr>
            <a:xfrm>
              <a:off x="5204929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6" name="Graphic 288">
              <a:extLst>
                <a:ext uri="{FF2B5EF4-FFF2-40B4-BE49-F238E27FC236}">
                  <a16:creationId xmlns:a16="http://schemas.microsoft.com/office/drawing/2014/main" id="{7A282D42-C8EF-02F8-6401-E33E4651DA3A}"/>
                </a:ext>
              </a:extLst>
            </p:cNvPr>
            <p:cNvSpPr/>
            <p:nvPr/>
          </p:nvSpPr>
          <p:spPr>
            <a:xfrm>
              <a:off x="5195537" y="978344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7" name="Textbox 289">
              <a:extLst>
                <a:ext uri="{FF2B5EF4-FFF2-40B4-BE49-F238E27FC236}">
                  <a16:creationId xmlns:a16="http://schemas.microsoft.com/office/drawing/2014/main" id="{00EDBC03-34CC-68A0-0A8A-3EDB1CF8594C}"/>
                </a:ext>
              </a:extLst>
            </p:cNvPr>
            <p:cNvSpPr txBox="1"/>
            <p:nvPr/>
          </p:nvSpPr>
          <p:spPr>
            <a:xfrm>
              <a:off x="133350" y="3870"/>
              <a:ext cx="6716677" cy="418793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KEY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200" b="1" spc="-10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HIGHLIGHTS</a:t>
              </a:r>
              <a:endParaRPr lang="en-IN" sz="20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08" name="Textbox 290">
              <a:extLst>
                <a:ext uri="{FF2B5EF4-FFF2-40B4-BE49-F238E27FC236}">
                  <a16:creationId xmlns:a16="http://schemas.microsoft.com/office/drawing/2014/main" id="{390ECE72-BE5D-D8E0-F6DB-459027B27CA3}"/>
                </a:ext>
              </a:extLst>
            </p:cNvPr>
            <p:cNvSpPr txBox="1"/>
            <p:nvPr/>
          </p:nvSpPr>
          <p:spPr>
            <a:xfrm>
              <a:off x="114800" y="422663"/>
              <a:ext cx="6735227" cy="4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wrap="square" lIns="0" tIns="0" rIns="0" bIns="0" rtlCol="0" anchor="t">
              <a:noAutofit/>
            </a:bodyPr>
            <a:lstStyle/>
            <a:p>
              <a:pPr marL="342900" lvl="0" indent="-342900">
                <a:lnSpc>
                  <a:spcPts val="860"/>
                </a:lnSpc>
                <a:buClr>
                  <a:srgbClr val="0F162A"/>
                </a:buClr>
                <a:buSzPts val="700"/>
                <a:buFont typeface="Arial MT"/>
                <a:buChar char="•"/>
                <a:tabLst>
                  <a:tab pos="57785" algn="l"/>
                </a:tabLst>
              </a:pPr>
              <a:r>
                <a:rPr sz="720" b="1">
                  <a:latin typeface="Calibri"/>
                </a:rPr>
                <a:t>Zone Record: West delivered its highest month at 1,016, ▲21% vs L3M and ▲56% vs May-25.</a:t>
              </a:r>
              <a:br/>
              <a:r>
                <a:rPr sz="720" b="1">
                  <a:latin typeface="Calibri"/>
                </a:rPr>
                <a:t>Chain Highlights: Dmart leads; Apollo is the fastest YoY chain.</a:t>
              </a:r>
              <a:endParaRPr lang="en-IN" sz="1400" spc="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09" name="Textbox 291">
              <a:extLst>
                <a:ext uri="{FF2B5EF4-FFF2-40B4-BE49-F238E27FC236}">
                  <a16:creationId xmlns:a16="http://schemas.microsoft.com/office/drawing/2014/main" id="{696AC7C6-3FED-0B1D-4CD4-FA589378E90D}"/>
                </a:ext>
              </a:extLst>
            </p:cNvPr>
            <p:cNvSpPr txBox="1"/>
            <p:nvPr/>
          </p:nvSpPr>
          <p:spPr>
            <a:xfrm>
              <a:off x="188979" y="1090664"/>
              <a:ext cx="478155" cy="31484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Lead</a:t>
              </a:r>
              <a:r>
                <a:rPr lang="en-US" sz="650" b="1" spc="-2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0" name="Textbox 292">
              <a:extLst>
                <a:ext uri="{FF2B5EF4-FFF2-40B4-BE49-F238E27FC236}">
                  <a16:creationId xmlns:a16="http://schemas.microsoft.com/office/drawing/2014/main" id="{D2CB78A9-052C-7918-9B59-3C05E6224543}"/>
                </a:ext>
              </a:extLst>
            </p:cNvPr>
            <p:cNvSpPr txBox="1"/>
            <p:nvPr/>
          </p:nvSpPr>
          <p:spPr>
            <a:xfrm>
              <a:off x="1882129" y="1090664"/>
              <a:ext cx="771525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Fastest</a:t>
              </a:r>
              <a:r>
                <a:rPr lang="en-US" sz="650" b="1" spc="-25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YoY</a:t>
              </a:r>
              <a:r>
                <a:rPr lang="en-US" sz="650" b="1" spc="-2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endParaRPr lang="en-IN" sz="110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1" name="Textbox 293">
              <a:extLst>
                <a:ext uri="{FF2B5EF4-FFF2-40B4-BE49-F238E27FC236}">
                  <a16:creationId xmlns:a16="http://schemas.microsoft.com/office/drawing/2014/main" id="{1002BC0E-27DD-532F-2DE7-BB1F581AC8FE}"/>
                </a:ext>
              </a:extLst>
            </p:cNvPr>
            <p:cNvSpPr txBox="1"/>
            <p:nvPr/>
          </p:nvSpPr>
          <p:spPr>
            <a:xfrm>
              <a:off x="3575278" y="1090664"/>
              <a:ext cx="824230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Record</a:t>
              </a:r>
              <a:r>
                <a:rPr lang="en-US" sz="650" b="1" spc="-25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r>
                <a:rPr lang="en-US" sz="650" b="1" spc="-25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Lines</a:t>
              </a:r>
              <a:endParaRPr lang="en-IN" sz="110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2" name="Textbox 294">
              <a:extLst>
                <a:ext uri="{FF2B5EF4-FFF2-40B4-BE49-F238E27FC236}">
                  <a16:creationId xmlns:a16="http://schemas.microsoft.com/office/drawing/2014/main" id="{1393482F-11D6-D6FE-2753-A47D0B48114B}"/>
                </a:ext>
              </a:extLst>
            </p:cNvPr>
            <p:cNvSpPr txBox="1"/>
            <p:nvPr/>
          </p:nvSpPr>
          <p:spPr>
            <a:xfrm>
              <a:off x="5268429" y="1090664"/>
              <a:ext cx="541020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Zone</a:t>
              </a:r>
              <a:r>
                <a:rPr lang="en-US" sz="650" b="1" spc="-2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Record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3" name="Textbox 295">
              <a:extLst>
                <a:ext uri="{FF2B5EF4-FFF2-40B4-BE49-F238E27FC236}">
                  <a16:creationId xmlns:a16="http://schemas.microsoft.com/office/drawing/2014/main" id="{9D505091-C1B3-4643-3757-11527DD029ED}"/>
                </a:ext>
              </a:extLst>
            </p:cNvPr>
            <p:cNvSpPr txBox="1"/>
            <p:nvPr/>
          </p:nvSpPr>
          <p:spPr>
            <a:xfrm>
              <a:off x="188707" y="1310255"/>
              <a:ext cx="580390" cy="9524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Dmart</a:t>
              </a:r>
              <a:r>
                <a:rPr lang="en-US" sz="650" b="1" spc="-3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-</a:t>
              </a:r>
              <a:r>
                <a:rPr lang="en-US" sz="650" b="1" spc="-3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2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680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4" name="Textbox 296">
              <a:extLst>
                <a:ext uri="{FF2B5EF4-FFF2-40B4-BE49-F238E27FC236}">
                  <a16:creationId xmlns:a16="http://schemas.microsoft.com/office/drawing/2014/main" id="{D4A13F3F-01DA-EED4-B30C-053A438475D3}"/>
                </a:ext>
              </a:extLst>
            </p:cNvPr>
            <p:cNvSpPr txBox="1"/>
            <p:nvPr/>
          </p:nvSpPr>
          <p:spPr>
            <a:xfrm>
              <a:off x="1871406" y="1299505"/>
              <a:ext cx="1137449" cy="299158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50"/>
                </a:lnSpc>
              </a:pPr>
              <a:r>
                <a:rPr sz="650" b="1">
                  <a:solidFill>
                    <a:srgbClr val="1A1F29"/>
                  </a:solidFill>
                  <a:latin typeface="+mj-lt"/>
                </a:rPr>
                <a:t>Apollo  - </a:t>
              </a:r>
              <a:r>
                <a:rPr sz="650" b="1">
                  <a:solidFill>
                    <a:srgbClr val="008A3D"/>
                  </a:solidFill>
                  <a:latin typeface="+mj-lt"/>
                </a:rPr>
                <a:t>▲ 190%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5" name="Textbox 297">
              <a:extLst>
                <a:ext uri="{FF2B5EF4-FFF2-40B4-BE49-F238E27FC236}">
                  <a16:creationId xmlns:a16="http://schemas.microsoft.com/office/drawing/2014/main" id="{823DC972-676F-BB3F-DF78-E528EBCA63EA}"/>
                </a:ext>
              </a:extLst>
            </p:cNvPr>
            <p:cNvSpPr txBox="1"/>
            <p:nvPr/>
          </p:nvSpPr>
          <p:spPr>
            <a:xfrm>
              <a:off x="3553098" y="1286316"/>
              <a:ext cx="1616615" cy="624691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Dmart, Reliance, Wellness Forever,</a:t>
              </a:r>
              <a:r>
                <a:rPr lang="en-US" sz="650" b="1" spc="-40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6" name="Textbox 298">
              <a:extLst>
                <a:ext uri="{FF2B5EF4-FFF2-40B4-BE49-F238E27FC236}">
                  <a16:creationId xmlns:a16="http://schemas.microsoft.com/office/drawing/2014/main" id="{1109BA7C-796E-3D4D-65A2-95AB774BD170}"/>
                </a:ext>
              </a:extLst>
            </p:cNvPr>
            <p:cNvSpPr txBox="1"/>
            <p:nvPr/>
          </p:nvSpPr>
          <p:spPr>
            <a:xfrm>
              <a:off x="5268428" y="1310254"/>
              <a:ext cx="748609" cy="17609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May-26</a:t>
              </a:r>
              <a:r>
                <a:rPr lang="en-US" sz="650" b="1" spc="-30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30" dirty="0">
                  <a:solidFill>
                    <a:srgbClr val="1A1F29"/>
                  </a:solidFill>
                  <a:latin typeface="+mj-lt"/>
                  <a:ea typeface="Arial MT"/>
                  <a:cs typeface="Calibri"/>
                </a:rPr>
                <a:t>- </a:t>
              </a: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1016</a:t>
              </a:r>
              <a:r>
                <a:rPr lang="en-US" sz="650" b="1" spc="-2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</p:grpSp>
      <p:sp>
        <p:nvSpPr>
          <p:cNvPr id="217" name="Rectangle 92">
            <a:extLst>
              <a:ext uri="{FF2B5EF4-FFF2-40B4-BE49-F238E27FC236}">
                <a16:creationId xmlns:a16="http://schemas.microsoft.com/office/drawing/2014/main" id="{4048E4C8-777E-5962-6F2D-EE7CEED0D22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0" y="112827"/>
            <a:ext cx="756285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6CDFCB9D-D279-7BE1-F23A-91374801A1BD}"/>
              </a:ext>
            </a:extLst>
          </p:cNvPr>
          <p:cNvSpPr txBox="1"/>
          <p:nvPr/>
        </p:nvSpPr>
        <p:spPr>
          <a:xfrm>
            <a:off x="212691" y="7401047"/>
            <a:ext cx="6926523" cy="361574"/>
          </a:xfrm>
          <a:prstGeom prst="rect">
            <a:avLst/>
          </a:prstGeom>
          <a:solidFill>
            <a:srgbClr val="2D9B7F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lang="en-US" sz="1600" b="1" dirty="0">
                <a:solidFill>
                  <a:srgbClr val="FFFFFF"/>
                </a:solidFill>
                <a:latin typeface="Calibri"/>
              </a:rPr>
              <a:t>West Chain Summary</a:t>
            </a:r>
            <a:endParaRPr lang="en-IN" sz="1600" b="1" dirty="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2" name="Picture 2" descr="A white and orange tube with white text  AI-generated content may be incorrect.">
            <a:extLst>
              <a:ext uri="{FF2B5EF4-FFF2-40B4-BE49-F238E27FC236}">
                <a16:creationId xmlns:a16="http://schemas.microsoft.com/office/drawing/2014/main" id="{E24EC375-466C-1E5E-393B-8C29536D2D6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48" r="23559"/>
          <a:stretch/>
        </p:blipFill>
        <p:spPr bwMode="auto">
          <a:xfrm>
            <a:off x="2691822" y="6140803"/>
            <a:ext cx="273352" cy="525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F161C536-80FD-9961-8E04-8082E882D7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984" y="6127059"/>
            <a:ext cx="258710" cy="548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bottle of rice face wash  Description automatically generated">
            <a:extLst>
              <a:ext uri="{FF2B5EF4-FFF2-40B4-BE49-F238E27FC236}">
                <a16:creationId xmlns:a16="http://schemas.microsoft.com/office/drawing/2014/main" id="{2A96077C-6535-1BA6-1932-080A080D14E8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27809" t="6059" r="29332" b="4208"/>
          <a:stretch/>
        </p:blipFill>
        <p:spPr>
          <a:xfrm>
            <a:off x="595728" y="3978098"/>
            <a:ext cx="200232" cy="412943"/>
          </a:xfrm>
          <a:prstGeom prst="rect">
            <a:avLst/>
          </a:prstGeom>
        </p:spPr>
      </p:pic>
      <p:pic>
        <p:nvPicPr>
          <p:cNvPr id="5" name="Picture 4" descr="A yellow bottle of sunscreen  Description automatically generated">
            <a:extLst>
              <a:ext uri="{FF2B5EF4-FFF2-40B4-BE49-F238E27FC236}">
                <a16:creationId xmlns:a16="http://schemas.microsoft.com/office/drawing/2014/main" id="{5F184DD5-9108-696F-E933-1BFB2A3EC688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32069" t="9042" r="31762" b="9272"/>
          <a:stretch/>
        </p:blipFill>
        <p:spPr>
          <a:xfrm>
            <a:off x="5149833" y="4108504"/>
            <a:ext cx="196303" cy="443346"/>
          </a:xfrm>
          <a:prstGeom prst="rect">
            <a:avLst/>
          </a:prstGeom>
        </p:spPr>
      </p:pic>
      <p:pic>
        <p:nvPicPr>
          <p:cNvPr id="6" name="Google Shape;1518;p235" descr="A purple bottle with a dropper next to a box  AI-generated content may be incorrect.">
            <a:extLst>
              <a:ext uri="{FF2B5EF4-FFF2-40B4-BE49-F238E27FC236}">
                <a16:creationId xmlns:a16="http://schemas.microsoft.com/office/drawing/2014/main" id="{89B376C6-8357-1D4B-54F0-C817E2645CE5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874797" y="5998691"/>
            <a:ext cx="216398" cy="205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396;p227" descr="A white bottle with a label on it  Description automatically generated">
            <a:extLst>
              <a:ext uri="{FF2B5EF4-FFF2-40B4-BE49-F238E27FC236}">
                <a16:creationId xmlns:a16="http://schemas.microsoft.com/office/drawing/2014/main" id="{323C633E-FBC6-BA2C-6E89-D6F1CF8790DD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 l="19608" b="483"/>
          <a:stretch/>
        </p:blipFill>
        <p:spPr>
          <a:xfrm>
            <a:off x="2503372" y="3879702"/>
            <a:ext cx="178723" cy="412609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PageNum"/>
          <p:cNvSpPr txBox="1"/>
          <p:nvPr/>
        </p:nvSpPr>
        <p:spPr>
          <a:xfrm>
            <a:off x="6282690" y="10414318"/>
            <a:ext cx="856524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12 / 21</a:t>
            </a:r>
          </a:p>
        </p:txBody>
      </p:sp>
      <p:sp>
        <p:nvSpPr>
          <p:cNvPr id="2" name="Text 0"/>
          <p:cNvSpPr/>
          <p:nvPr/>
        </p:nvSpPr>
        <p:spPr>
          <a:xfrm>
            <a:off x="-17844" y="-14471"/>
            <a:ext cx="7580694" cy="454996"/>
          </a:xfrm>
          <a:prstGeom prst="rect">
            <a:avLst/>
          </a:prstGeom>
          <a:solidFill>
            <a:srgbClr val="2D9B7F"/>
          </a:solidFill>
          <a:ln/>
        </p:spPr>
        <p:txBody>
          <a:bodyPr wrap="square" lIns="0" tIns="0" rIns="0" bIns="0" rtlCol="0" anchor="t"/>
          <a:lstStyle/>
          <a:p>
            <a:pPr algn="ctr"/>
            <a:r>
              <a:rPr lang="en-US" sz="24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OFFTAKE PERFORMANCE REPORT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-17844" y="417740"/>
            <a:ext cx="7580694" cy="3077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5A85"/>
                </a:solidFill>
                <a:latin typeface="Calibri"/>
              </a:rPr>
              <a:t>SOUTH-2 ZONE DEEP DIVE — MAY'26</a:t>
            </a:r>
            <a:endParaRPr lang="en-US" sz="16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793471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1B051920-9B91-BB7D-0B2E-EB0664244C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9827143"/>
              </p:ext>
            </p:extLst>
          </p:nvPr>
        </p:nvGraphicFramePr>
        <p:xfrm>
          <a:off x="212691" y="82627"/>
          <a:ext cx="7015882" cy="254257"/>
        </p:xfrm>
        <a:graphic>
          <a:graphicData uri="http://schemas.openxmlformats.org/drawingml/2006/table">
            <a:tbl>
              <a:tblPr firstRow="1" firstCol="1" bandRow="1"/>
              <a:tblGrid>
                <a:gridCol w="7015882">
                  <a:extLst>
                    <a:ext uri="{9D8B030D-6E8A-4147-A177-3AD203B41FA5}">
                      <a16:colId xmlns:a16="http://schemas.microsoft.com/office/drawing/2014/main" val="2201429027"/>
                    </a:ext>
                  </a:extLst>
                </a:gridCol>
              </a:tblGrid>
              <a:tr h="2542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PAN INDIA PERFORMANCE</a:t>
                      </a:r>
                      <a:endParaRPr lang="en-IN" sz="8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30" marR="6583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016972"/>
                  </a:ext>
                </a:extLst>
              </a:tr>
            </a:tbl>
          </a:graphicData>
        </a:graphic>
      </p:graphicFrame>
      <p:grpSp>
        <p:nvGrpSpPr>
          <p:cNvPr id="59" name="Group 58">
            <a:extLst>
              <a:ext uri="{FF2B5EF4-FFF2-40B4-BE49-F238E27FC236}">
                <a16:creationId xmlns:a16="http://schemas.microsoft.com/office/drawing/2014/main" id="{DD68EAEE-F80C-F3EC-109E-BA117E71D016}"/>
              </a:ext>
            </a:extLst>
          </p:cNvPr>
          <p:cNvGrpSpPr>
            <a:grpSpLocks/>
          </p:cNvGrpSpPr>
          <p:nvPr/>
        </p:nvGrpSpPr>
        <p:grpSpPr>
          <a:xfrm>
            <a:off x="212691" y="410876"/>
            <a:ext cx="1600200" cy="469900"/>
            <a:chOff x="0" y="0"/>
            <a:chExt cx="1600200" cy="469900"/>
          </a:xfrm>
        </p:grpSpPr>
        <p:sp>
          <p:nvSpPr>
            <p:cNvPr id="60" name="Graphic 251">
              <a:extLst>
                <a:ext uri="{FF2B5EF4-FFF2-40B4-BE49-F238E27FC236}">
                  <a16:creationId xmlns:a16="http://schemas.microsoft.com/office/drawing/2014/main" id="{AE04FE27-F37C-FB01-7FB2-B2D33688B0BC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1" name="Graphic 252">
              <a:extLst>
                <a:ext uri="{FF2B5EF4-FFF2-40B4-BE49-F238E27FC236}">
                  <a16:creationId xmlns:a16="http://schemas.microsoft.com/office/drawing/2014/main" id="{87A3E814-7336-FA22-3836-09A27F3A3FA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2" name="Textbox 253">
              <a:extLst>
                <a:ext uri="{FF2B5EF4-FFF2-40B4-BE49-F238E27FC236}">
                  <a16:creationId xmlns:a16="http://schemas.microsoft.com/office/drawing/2014/main" id="{327D0D1E-52B7-0544-69AC-D27F67860192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May-26 Sales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208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6CF0896D-3C02-C329-D4D8-571E7F485B4D}"/>
              </a:ext>
            </a:extLst>
          </p:cNvPr>
          <p:cNvGrpSpPr>
            <a:grpSpLocks/>
          </p:cNvGrpSpPr>
          <p:nvPr/>
        </p:nvGrpSpPr>
        <p:grpSpPr>
          <a:xfrm>
            <a:off x="1988068" y="410876"/>
            <a:ext cx="1600200" cy="469900"/>
            <a:chOff x="0" y="0"/>
            <a:chExt cx="1600200" cy="469900"/>
          </a:xfrm>
        </p:grpSpPr>
        <p:sp>
          <p:nvSpPr>
            <p:cNvPr id="64" name="Graphic 255">
              <a:extLst>
                <a:ext uri="{FF2B5EF4-FFF2-40B4-BE49-F238E27FC236}">
                  <a16:creationId xmlns:a16="http://schemas.microsoft.com/office/drawing/2014/main" id="{F5CE3C7F-BAA9-CD25-1598-3A30E0D6A453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5" name="Graphic 256">
              <a:extLst>
                <a:ext uri="{FF2B5EF4-FFF2-40B4-BE49-F238E27FC236}">
                  <a16:creationId xmlns:a16="http://schemas.microsoft.com/office/drawing/2014/main" id="{35D43F11-7FFC-3438-380C-33F69E72795A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6" name="Textbox 257">
              <a:extLst>
                <a:ext uri="{FF2B5EF4-FFF2-40B4-BE49-F238E27FC236}">
                  <a16:creationId xmlns:a16="http://schemas.microsoft.com/office/drawing/2014/main" id="{20C7EE75-3B4F-E74E-A5C0-CFE2D5A3D1CF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Zone Share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5.2%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A702DE7B-B820-9D9B-3797-7468D7DD4ECA}"/>
              </a:ext>
            </a:extLst>
          </p:cNvPr>
          <p:cNvGrpSpPr>
            <a:grpSpLocks/>
          </p:cNvGrpSpPr>
          <p:nvPr/>
        </p:nvGrpSpPr>
        <p:grpSpPr>
          <a:xfrm>
            <a:off x="3763445" y="409266"/>
            <a:ext cx="1600200" cy="469900"/>
            <a:chOff x="0" y="0"/>
            <a:chExt cx="1600200" cy="469900"/>
          </a:xfrm>
        </p:grpSpPr>
        <p:sp>
          <p:nvSpPr>
            <p:cNvPr id="68" name="Graphic 259">
              <a:extLst>
                <a:ext uri="{FF2B5EF4-FFF2-40B4-BE49-F238E27FC236}">
                  <a16:creationId xmlns:a16="http://schemas.microsoft.com/office/drawing/2014/main" id="{4F59F74E-A9A3-A03B-6DF6-E1FC6CF5DCC4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9" name="Graphic 260">
              <a:extLst>
                <a:ext uri="{FF2B5EF4-FFF2-40B4-BE49-F238E27FC236}">
                  <a16:creationId xmlns:a16="http://schemas.microsoft.com/office/drawing/2014/main" id="{21D51929-BD0B-81C1-A744-1E863136F4F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0" name="Textbox 261">
              <a:extLst>
                <a:ext uri="{FF2B5EF4-FFF2-40B4-BE49-F238E27FC236}">
                  <a16:creationId xmlns:a16="http://schemas.microsoft.com/office/drawing/2014/main" id="{42FA30A0-A741-6043-88F2-1A90ADD27414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L3M Avg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190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F27C9CD-9B21-5E34-0C32-1AB5F84F55FD}"/>
              </a:ext>
            </a:extLst>
          </p:cNvPr>
          <p:cNvGrpSpPr>
            <a:grpSpLocks/>
          </p:cNvGrpSpPr>
          <p:nvPr/>
        </p:nvGrpSpPr>
        <p:grpSpPr>
          <a:xfrm>
            <a:off x="5539014" y="410910"/>
            <a:ext cx="1600200" cy="469900"/>
            <a:chOff x="0" y="0"/>
            <a:chExt cx="1600200" cy="469900"/>
          </a:xfrm>
        </p:grpSpPr>
        <p:sp>
          <p:nvSpPr>
            <p:cNvPr id="72" name="Graphic 263">
              <a:extLst>
                <a:ext uri="{FF2B5EF4-FFF2-40B4-BE49-F238E27FC236}">
                  <a16:creationId xmlns:a16="http://schemas.microsoft.com/office/drawing/2014/main" id="{4E793049-DA48-496E-F528-84304A3FB08F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3" name="Graphic 264">
              <a:extLst>
                <a:ext uri="{FF2B5EF4-FFF2-40B4-BE49-F238E27FC236}">
                  <a16:creationId xmlns:a16="http://schemas.microsoft.com/office/drawing/2014/main" id="{29227A2B-0582-AE0C-E8D7-1C924EB8D8CE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4" name="Textbox 265">
              <a:extLst>
                <a:ext uri="{FF2B5EF4-FFF2-40B4-BE49-F238E27FC236}">
                  <a16:creationId xmlns:a16="http://schemas.microsoft.com/office/drawing/2014/main" id="{50672AAD-CBB1-4DA3-E51B-B8B2B09130C0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GOLY May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algn="ctr">
                <a:spcBef>
                  <a:spcPts val="55"/>
                </a:spcBef>
                <a:spcAft>
                  <a:spcPts val="0"/>
                </a:spcAft>
              </a:pPr>
              <a:r>
                <a:rPr sz="1600" b="1">
                  <a:solidFill>
                    <a:srgbClr val="008A3D"/>
                  </a:solidFill>
                  <a:latin typeface="+mj-lt"/>
                </a:rPr>
                <a:t>▲ 19%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sp>
        <p:nvSpPr>
          <p:cNvPr id="75" name="Rectangle 48">
            <a:extLst>
              <a:ext uri="{FF2B5EF4-FFF2-40B4-BE49-F238E27FC236}">
                <a16:creationId xmlns:a16="http://schemas.microsoft.com/office/drawing/2014/main" id="{D24FAE0C-145A-C9D7-74A8-D196DE7A8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875" y="42771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 sz="240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76" name="Rectangle 50">
            <a:extLst>
              <a:ext uri="{FF2B5EF4-FFF2-40B4-BE49-F238E27FC236}">
                <a16:creationId xmlns:a16="http://schemas.microsoft.com/office/drawing/2014/main" id="{58CE6004-1D26-F9E4-E2B8-A5EF89D499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5442770"/>
            <a:ext cx="692652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7" name="Rectangle 52">
            <a:extLst>
              <a:ext uri="{FF2B5EF4-FFF2-40B4-BE49-F238E27FC236}">
                <a16:creationId xmlns:a16="http://schemas.microsoft.com/office/drawing/2014/main" id="{6D038E4A-1677-969E-C704-197AFECF0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5912670"/>
            <a:ext cx="692652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8" name="Rectangle 54">
            <a:extLst>
              <a:ext uri="{FF2B5EF4-FFF2-40B4-BE49-F238E27FC236}">
                <a16:creationId xmlns:a16="http://schemas.microsoft.com/office/drawing/2014/main" id="{BE172A64-5EBD-FF10-7C9B-66C88926A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7372064"/>
            <a:ext cx="6926523" cy="40011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9" name="Rectangle 56">
            <a:extLst>
              <a:ext uri="{FF2B5EF4-FFF2-40B4-BE49-F238E27FC236}">
                <a16:creationId xmlns:a16="http://schemas.microsoft.com/office/drawing/2014/main" id="{E97D74F4-3FCA-35BE-70C0-931264144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6867859"/>
            <a:ext cx="692652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sp>
        <p:nvSpPr>
          <p:cNvPr id="80" name="Textbox 268">
            <a:extLst>
              <a:ext uri="{FF2B5EF4-FFF2-40B4-BE49-F238E27FC236}">
                <a16:creationId xmlns:a16="http://schemas.microsoft.com/office/drawing/2014/main" id="{1A2636FF-FA83-BDD9-A967-753B47792769}"/>
              </a:ext>
            </a:extLst>
          </p:cNvPr>
          <p:cNvSpPr txBox="1"/>
          <p:nvPr/>
        </p:nvSpPr>
        <p:spPr>
          <a:xfrm>
            <a:off x="212691" y="988226"/>
            <a:ext cx="6926523" cy="8486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lIns="0" tIns="0" rIns="0" bIns="0" rtlCol="0" anchor="t">
            <a:noAutofit/>
          </a:bodyPr>
          <a:lstStyle/>
          <a:p>
            <a:pPr marL="127000">
              <a:spcBef>
                <a:spcPts val="600"/>
              </a:spcBef>
              <a:spcAft>
                <a:spcPts val="0"/>
              </a:spcAft>
            </a:pPr>
            <a:r>
              <a:rPr lang="en-US" sz="1100" b="1" dirty="0">
                <a:effectLst/>
                <a:latin typeface="Calibri"/>
                <a:ea typeface="Arial MT"/>
                <a:cs typeface="Calibri"/>
              </a:rPr>
              <a:t>Key Performance </a:t>
            </a:r>
            <a:r>
              <a:rPr lang="en-US" sz="1100" b="1" spc="-10" dirty="0">
                <a:effectLst/>
                <a:latin typeface="Calibri"/>
                <a:ea typeface="Arial MT"/>
                <a:cs typeface="Calibri"/>
              </a:rPr>
              <a:t>Highlights</a:t>
            </a:r>
            <a:endParaRPr lang="en-IN" dirty="0">
              <a:effectLst/>
              <a:latin typeface="+mj-lt"/>
              <a:ea typeface="Arial MT"/>
              <a:cs typeface="Calibri"/>
            </a:endParaRPr>
          </a:p>
          <a:p>
            <a:pPr>
              <a:spcBef>
                <a:spcPts val="105"/>
              </a:spcBef>
            </a:pPr>
            <a:r>
              <a:rPr lang="en-US" sz="1100" b="1" dirty="0">
                <a:effectLst/>
                <a:latin typeface="Calibri"/>
                <a:ea typeface="Arial MT"/>
                <a:cs typeface="Calibri"/>
              </a:rPr>
              <a:t> </a:t>
            </a:r>
            <a:endParaRPr lang="en-IN" dirty="0">
              <a:effectLst/>
              <a:latin typeface="+mj-lt"/>
              <a:ea typeface="Arial MT"/>
              <a:cs typeface="Calibri"/>
            </a:endParaRPr>
          </a:p>
          <a:p>
            <a:pPr marL="184150" indent="-57150">
              <a:tabLst>
                <a:tab pos="184150" algn="l"/>
              </a:tabLst>
            </a:pPr>
            <a:r>
              <a:rPr lang="en-US" sz="1050" b="1" dirty="0">
                <a:effectLst/>
                <a:latin typeface="Calibri"/>
                <a:ea typeface="Arial MT"/>
                <a:cs typeface="Calibri"/>
              </a:rPr>
              <a:t>Zone</a:t>
            </a:r>
            <a:r>
              <a:rPr lang="en-US" sz="1050" b="1" spc="40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1050" b="1" dirty="0">
                <a:effectLst/>
                <a:latin typeface="Calibri"/>
                <a:ea typeface="Arial MT"/>
                <a:cs typeface="Calibri"/>
              </a:rPr>
              <a:t>Record:</a:t>
            </a:r>
            <a:r>
              <a:rPr lang="en-US" sz="1050" b="1" spc="40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1050" dirty="0">
                <a:effectLst/>
                <a:latin typeface="Calibri"/>
                <a:ea typeface="Arial MT"/>
                <a:cs typeface="Calibri"/>
              </a:rPr>
              <a:t>May-26</a:t>
            </a:r>
            <a:r>
              <a:rPr lang="en-US" sz="1050" spc="40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1050" dirty="0">
                <a:effectLst/>
                <a:latin typeface="Calibri"/>
                <a:ea typeface="Arial MT"/>
                <a:cs typeface="Calibri"/>
              </a:rPr>
              <a:t>delivered</a:t>
            </a:r>
            <a:r>
              <a:rPr lang="en-US" sz="1050" spc="40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1050" dirty="0">
                <a:effectLst/>
                <a:latin typeface="Calibri"/>
                <a:ea typeface="Arial MT"/>
                <a:cs typeface="Calibri"/>
              </a:rPr>
              <a:t>the</a:t>
            </a:r>
            <a:r>
              <a:rPr lang="en-US" sz="1050" spc="45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1050" b="1" dirty="0">
                <a:effectLst/>
                <a:latin typeface="Calibri"/>
                <a:ea typeface="Arial MT"/>
                <a:cs typeface="Calibri"/>
              </a:rPr>
              <a:t>highest</a:t>
            </a:r>
            <a:r>
              <a:rPr lang="en-US" sz="1050" b="1" spc="40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1050" b="1" dirty="0">
                <a:effectLst/>
                <a:latin typeface="Calibri"/>
                <a:ea typeface="Arial MT"/>
                <a:cs typeface="Calibri"/>
              </a:rPr>
              <a:t>month</a:t>
            </a:r>
            <a:r>
              <a:rPr lang="en-US" sz="1050" b="1" spc="40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1050" dirty="0">
                <a:effectLst/>
                <a:latin typeface="Calibri"/>
                <a:ea typeface="Arial MT"/>
                <a:cs typeface="Calibri"/>
              </a:rPr>
              <a:t>for</a:t>
            </a:r>
            <a:r>
              <a:rPr lang="en-US" sz="1050" spc="40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1050" dirty="0">
                <a:effectLst/>
                <a:latin typeface="Calibri"/>
                <a:ea typeface="Arial MT"/>
                <a:cs typeface="Calibri"/>
              </a:rPr>
              <a:t>FSN</a:t>
            </a:r>
            <a:r>
              <a:rPr lang="en-US" sz="1050" spc="45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1050" dirty="0">
                <a:effectLst/>
                <a:latin typeface="Calibri"/>
                <a:ea typeface="Arial MT"/>
                <a:cs typeface="Calibri"/>
              </a:rPr>
              <a:t>at</a:t>
            </a:r>
            <a:r>
              <a:rPr lang="en-US" sz="1050" spc="40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1050" b="1" dirty="0">
                <a:solidFill>
                  <a:srgbClr val="0F756E"/>
                </a:solidFill>
                <a:effectLst/>
                <a:latin typeface="Calibri"/>
                <a:ea typeface="Arial MT"/>
                <a:cs typeface="Calibri"/>
              </a:rPr>
              <a:t>208</a:t>
            </a:r>
            <a:r>
              <a:rPr lang="en-US" sz="1050" dirty="0">
                <a:solidFill>
                  <a:srgbClr val="1A1F29"/>
                </a:solidFill>
                <a:effectLst/>
                <a:latin typeface="Calibri"/>
                <a:ea typeface="Arial MT"/>
                <a:cs typeface="Calibri"/>
              </a:rPr>
              <a:t>,</a:t>
            </a:r>
            <a:r>
              <a:rPr lang="en-US" sz="1050" spc="40" dirty="0">
                <a:solidFill>
                  <a:srgbClr val="1A1F29"/>
                </a:solidFill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1050" dirty="0">
                <a:effectLst/>
                <a:latin typeface="Calibri"/>
                <a:ea typeface="Arial MT"/>
                <a:cs typeface="Calibri"/>
              </a:rPr>
              <a:t>contributing</a:t>
            </a:r>
            <a:r>
              <a:rPr lang="en-US" sz="1050" spc="40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1050" b="1" dirty="0">
                <a:effectLst/>
                <a:latin typeface="Calibri"/>
                <a:ea typeface="Arial MT"/>
                <a:cs typeface="Calibri"/>
              </a:rPr>
              <a:t>5.2%</a:t>
            </a:r>
            <a:r>
              <a:rPr lang="en-US" sz="1050" b="1" spc="45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1050" dirty="0">
                <a:effectLst/>
                <a:latin typeface="Calibri"/>
                <a:ea typeface="Arial MT"/>
                <a:cs typeface="Calibri"/>
              </a:rPr>
              <a:t>to</a:t>
            </a:r>
            <a:r>
              <a:rPr lang="en-US" sz="1050" spc="40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1050" dirty="0">
                <a:effectLst/>
                <a:latin typeface="Calibri"/>
                <a:ea typeface="Arial MT"/>
                <a:cs typeface="Calibri"/>
              </a:rPr>
              <a:t>total</a:t>
            </a:r>
            <a:r>
              <a:rPr lang="en-US" sz="1050" spc="40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1050" dirty="0">
                <a:effectLst/>
                <a:latin typeface="Calibri"/>
                <a:ea typeface="Arial MT"/>
                <a:cs typeface="Calibri"/>
              </a:rPr>
              <a:t>channel</a:t>
            </a:r>
            <a:r>
              <a:rPr lang="en-US" sz="1050" spc="40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1050" spc="-10" dirty="0">
                <a:effectLst/>
                <a:latin typeface="Calibri"/>
                <a:ea typeface="Arial MT"/>
                <a:cs typeface="Calibri"/>
              </a:rPr>
              <a:t>sales.</a:t>
            </a:r>
            <a:endParaRPr lang="en-IN" dirty="0">
              <a:effectLst/>
              <a:latin typeface="+mj-lt"/>
              <a:ea typeface="Arial MT"/>
              <a:cs typeface="Calibri"/>
            </a:endParaRPr>
          </a:p>
          <a:p>
            <a:pPr marL="184150" indent="-57150">
              <a:spcBef>
                <a:spcPts val="55"/>
              </a:spcBef>
              <a:spcAft>
                <a:spcPts val="0"/>
              </a:spcAft>
              <a:tabLst>
                <a:tab pos="184150" algn="l"/>
              </a:tabLst>
            </a:pPr>
            <a:r>
              <a:rPr sz="1050" b="1" dirty="0">
                <a:latin typeface="Calibri"/>
              </a:rPr>
              <a:t>Growth View: May-26 performance was </a:t>
            </a:r>
            <a:r>
              <a:rPr sz="1050" b="1" dirty="0">
                <a:solidFill>
                  <a:srgbClr val="008A3D"/>
                </a:solidFill>
                <a:latin typeface="Calibri"/>
              </a:rPr>
              <a:t>▲ 9%</a:t>
            </a:r>
            <a:r>
              <a:rPr sz="1050" b="1" dirty="0">
                <a:solidFill>
                  <a:srgbClr val="1C4DD8"/>
                </a:solidFill>
                <a:latin typeface="Calibri"/>
              </a:rPr>
              <a:t> </a:t>
            </a:r>
            <a:r>
              <a:rPr sz="1050" b="1" dirty="0">
                <a:latin typeface="Calibri"/>
              </a:rPr>
              <a:t>vs L3M and </a:t>
            </a:r>
            <a:r>
              <a:rPr sz="1050" b="1" dirty="0">
                <a:solidFill>
                  <a:srgbClr val="008A3D"/>
                </a:solidFill>
                <a:latin typeface="Calibri"/>
              </a:rPr>
              <a:t>▲ 19%</a:t>
            </a:r>
            <a:r>
              <a:rPr sz="1050" b="1" dirty="0">
                <a:solidFill>
                  <a:srgbClr val="1C4DD8"/>
                </a:solidFill>
                <a:latin typeface="Calibri"/>
              </a:rPr>
              <a:t> </a:t>
            </a:r>
            <a:r>
              <a:rPr sz="1050" b="1" dirty="0">
                <a:latin typeface="Calibri"/>
              </a:rPr>
              <a:t>vs May-25, confirming Consistent strong month momentum.</a:t>
            </a:r>
            <a:endParaRPr lang="en-IN" sz="1400" dirty="0">
              <a:effectLst/>
              <a:latin typeface="+mj-lt"/>
              <a:ea typeface="Arial MT"/>
              <a:cs typeface="Calibri"/>
            </a:endParaRPr>
          </a:p>
          <a:p>
            <a:r>
              <a:rPr sz="750">
                <a:latin typeface="Calibri"/>
              </a:rPr>
              <a:t>Zone Insight: FSN is comparatively slower than the network and needs an assortment plus promo refresh to improve growth momentum.</a:t>
            </a:r>
          </a:p>
        </p:txBody>
      </p:sp>
      <p:sp>
        <p:nvSpPr>
          <p:cNvPr id="149" name="Shape 3">
            <a:extLst>
              <a:ext uri="{FF2B5EF4-FFF2-40B4-BE49-F238E27FC236}">
                <a16:creationId xmlns:a16="http://schemas.microsoft.com/office/drawing/2014/main" id="{E2B15EBD-7C86-86AC-FD83-3C817A35F1E5}"/>
              </a:ext>
            </a:extLst>
          </p:cNvPr>
          <p:cNvSpPr/>
          <p:nvPr/>
        </p:nvSpPr>
        <p:spPr>
          <a:xfrm>
            <a:off x="212691" y="3473924"/>
            <a:ext cx="6926523" cy="256032"/>
          </a:xfrm>
          <a:prstGeom prst="rect">
            <a:avLst/>
          </a:prstGeom>
          <a:solidFill>
            <a:srgbClr val="2D9B7F"/>
          </a:solidFill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sp>
        <p:nvSpPr>
          <p:cNvPr id="150" name="Text 4">
            <a:extLst>
              <a:ext uri="{FF2B5EF4-FFF2-40B4-BE49-F238E27FC236}">
                <a16:creationId xmlns:a16="http://schemas.microsoft.com/office/drawing/2014/main" id="{E090B056-5AAD-CC5C-BB09-77FB607FB2B4}"/>
              </a:ext>
            </a:extLst>
          </p:cNvPr>
          <p:cNvSpPr/>
          <p:nvPr/>
        </p:nvSpPr>
        <p:spPr>
          <a:xfrm>
            <a:off x="212691" y="3537932"/>
            <a:ext cx="692652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b="1" dirty="0">
                <a:solidFill>
                  <a:srgbClr val="FFFFFF"/>
                </a:solidFill>
                <a:latin typeface="Calibri"/>
              </a:rPr>
              <a:t>FSN | Mamaearth — Top 3 Sub-category Monthly Trend (NSV)</a:t>
            </a:r>
            <a:endParaRPr lang="en-US" sz="780" dirty="0">
              <a:latin typeface="+mj-lt"/>
            </a:endParaRPr>
          </a:p>
        </p:txBody>
      </p:sp>
      <p:sp>
        <p:nvSpPr>
          <p:cNvPr id="151" name="Text 5">
            <a:extLst>
              <a:ext uri="{FF2B5EF4-FFF2-40B4-BE49-F238E27FC236}">
                <a16:creationId xmlns:a16="http://schemas.microsoft.com/office/drawing/2014/main" id="{8DC1552C-E149-4A10-28F5-0A4785E39F2D}"/>
              </a:ext>
            </a:extLst>
          </p:cNvPr>
          <p:cNvSpPr/>
          <p:nvPr/>
        </p:nvSpPr>
        <p:spPr>
          <a:xfrm>
            <a:off x="323599" y="3827686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1100" dirty="0">
              <a:latin typeface="+mj-lt"/>
            </a:endParaRPr>
          </a:p>
        </p:txBody>
      </p:sp>
      <p:sp>
        <p:nvSpPr>
          <p:cNvPr id="152" name="Text 6">
            <a:extLst>
              <a:ext uri="{FF2B5EF4-FFF2-40B4-BE49-F238E27FC236}">
                <a16:creationId xmlns:a16="http://schemas.microsoft.com/office/drawing/2014/main" id="{68B7E644-F756-EB08-51D0-E4BBD2584EB3}"/>
              </a:ext>
            </a:extLst>
          </p:cNvPr>
          <p:cNvSpPr/>
          <p:nvPr/>
        </p:nvSpPr>
        <p:spPr>
          <a:xfrm>
            <a:off x="733088" y="3852861"/>
            <a:ext cx="372097" cy="242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 dirty="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 dirty="0">
                <a:solidFill>
                  <a:srgbClr val="008A3D"/>
                </a:solidFill>
                <a:latin typeface="Calibri"/>
              </a:rPr>
              <a:t>▲ 36%</a:t>
            </a:r>
            <a:endParaRPr lang="en-US" sz="900" dirty="0">
              <a:latin typeface="+mj-lt"/>
            </a:endParaRPr>
          </a:p>
        </p:txBody>
      </p:sp>
      <p:sp>
        <p:nvSpPr>
          <p:cNvPr id="153" name="Text 7">
            <a:extLst>
              <a:ext uri="{FF2B5EF4-FFF2-40B4-BE49-F238E27FC236}">
                <a16:creationId xmlns:a16="http://schemas.microsoft.com/office/drawing/2014/main" id="{E90F34B8-D653-A710-F866-1BC3E6964F9D}"/>
              </a:ext>
            </a:extLst>
          </p:cNvPr>
          <p:cNvSpPr/>
          <p:nvPr/>
        </p:nvSpPr>
        <p:spPr>
          <a:xfrm>
            <a:off x="1292031" y="3846546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3%</a:t>
            </a:r>
            <a:endParaRPr lang="en-US" sz="900" dirty="0">
              <a:latin typeface="+mj-lt"/>
            </a:endParaRPr>
          </a:p>
        </p:txBody>
      </p:sp>
      <p:sp>
        <p:nvSpPr>
          <p:cNvPr id="154" name="Text 8">
            <a:extLst>
              <a:ext uri="{FF2B5EF4-FFF2-40B4-BE49-F238E27FC236}">
                <a16:creationId xmlns:a16="http://schemas.microsoft.com/office/drawing/2014/main" id="{3CB5B5FD-F962-33DF-877C-0AE18D2CE328}"/>
              </a:ext>
            </a:extLst>
          </p:cNvPr>
          <p:cNvSpPr/>
          <p:nvPr/>
        </p:nvSpPr>
        <p:spPr>
          <a:xfrm>
            <a:off x="1843055" y="3885404"/>
            <a:ext cx="509783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May'26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96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55" name="Chart 0">
            <a:extLst>
              <a:ext uri="{FF2B5EF4-FFF2-40B4-BE49-F238E27FC236}">
                <a16:creationId xmlns:a16="http://schemas.microsoft.com/office/drawing/2014/main" id="{C3EABDE2-E03A-721E-0AE3-C104F928F4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53945864"/>
              </p:ext>
            </p:extLst>
          </p:nvPr>
        </p:nvGraphicFramePr>
        <p:xfrm>
          <a:off x="206934" y="3823862"/>
          <a:ext cx="2145904" cy="15444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6" name="Text 9">
            <a:extLst>
              <a:ext uri="{FF2B5EF4-FFF2-40B4-BE49-F238E27FC236}">
                <a16:creationId xmlns:a16="http://schemas.microsoft.com/office/drawing/2014/main" id="{5BEBD7FD-7A2C-AC1D-76B9-D5B4A0E4DD0C}"/>
              </a:ext>
            </a:extLst>
          </p:cNvPr>
          <p:cNvSpPr/>
          <p:nvPr/>
        </p:nvSpPr>
        <p:spPr>
          <a:xfrm>
            <a:off x="2618118" y="3885404"/>
            <a:ext cx="578157" cy="203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Shampoo</a:t>
            </a:r>
            <a:endParaRPr lang="en-US" sz="900" dirty="0">
              <a:latin typeface="+mj-lt"/>
            </a:endParaRPr>
          </a:p>
        </p:txBody>
      </p:sp>
      <p:sp>
        <p:nvSpPr>
          <p:cNvPr id="157" name="Text 10">
            <a:extLst>
              <a:ext uri="{FF2B5EF4-FFF2-40B4-BE49-F238E27FC236}">
                <a16:creationId xmlns:a16="http://schemas.microsoft.com/office/drawing/2014/main" id="{1E0A7551-8419-9F78-49C5-64130D89CF32}"/>
              </a:ext>
            </a:extLst>
          </p:cNvPr>
          <p:cNvSpPr/>
          <p:nvPr/>
        </p:nvSpPr>
        <p:spPr>
          <a:xfrm>
            <a:off x="3210825" y="3875509"/>
            <a:ext cx="372097" cy="196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 dirty="0">
                <a:solidFill>
                  <a:srgbClr val="C00000"/>
                </a:solidFill>
                <a:latin typeface="Calibri"/>
              </a:rPr>
              <a:t>GOLY </a:t>
            </a:r>
            <a:r>
              <a:rPr sz="900" b="1" dirty="0">
                <a:solidFill>
                  <a:srgbClr val="C00000"/>
                </a:solidFill>
                <a:latin typeface="Calibri"/>
              </a:rPr>
              <a:t>▼ 3%</a:t>
            </a:r>
            <a:endParaRPr lang="en-US" sz="9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58" name="Text 11">
            <a:extLst>
              <a:ext uri="{FF2B5EF4-FFF2-40B4-BE49-F238E27FC236}">
                <a16:creationId xmlns:a16="http://schemas.microsoft.com/office/drawing/2014/main" id="{A6E4DFA5-8AF1-66E3-AB74-1643CD5B917D}"/>
              </a:ext>
            </a:extLst>
          </p:cNvPr>
          <p:cNvSpPr/>
          <p:nvPr/>
        </p:nvSpPr>
        <p:spPr>
          <a:xfrm>
            <a:off x="3615344" y="3871688"/>
            <a:ext cx="372097" cy="247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0000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C00000"/>
                </a:solidFill>
                <a:latin typeface="Calibri"/>
              </a:rPr>
              <a:t>▼ 1%</a:t>
            </a:r>
            <a:endParaRPr lang="en-US" sz="9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59" name="Text 12">
            <a:extLst>
              <a:ext uri="{FF2B5EF4-FFF2-40B4-BE49-F238E27FC236}">
                <a16:creationId xmlns:a16="http://schemas.microsoft.com/office/drawing/2014/main" id="{0002D543-8B74-7800-B3E0-CCAA6D0B22FA}"/>
              </a:ext>
            </a:extLst>
          </p:cNvPr>
          <p:cNvSpPr/>
          <p:nvPr/>
        </p:nvSpPr>
        <p:spPr>
          <a:xfrm>
            <a:off x="4086807" y="3873841"/>
            <a:ext cx="413442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May'26 14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0" name="Chart 1">
            <a:extLst>
              <a:ext uri="{FF2B5EF4-FFF2-40B4-BE49-F238E27FC236}">
                <a16:creationId xmlns:a16="http://schemas.microsoft.com/office/drawing/2014/main" id="{498335C8-87FE-1BF3-E55D-7F3682FE88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67063866"/>
              </p:ext>
            </p:extLst>
          </p:nvPr>
        </p:nvGraphicFramePr>
        <p:xfrm>
          <a:off x="2462348" y="3819086"/>
          <a:ext cx="2269291" cy="15553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1" name="Text 13">
            <a:extLst>
              <a:ext uri="{FF2B5EF4-FFF2-40B4-BE49-F238E27FC236}">
                <a16:creationId xmlns:a16="http://schemas.microsoft.com/office/drawing/2014/main" id="{AE81E6A1-E294-CD2E-3731-74E6402A61FF}"/>
              </a:ext>
            </a:extLst>
          </p:cNvPr>
          <p:cNvSpPr/>
          <p:nvPr/>
        </p:nvSpPr>
        <p:spPr>
          <a:xfrm>
            <a:off x="4943104" y="3871688"/>
            <a:ext cx="537475" cy="187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Sun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Care</a:t>
            </a:r>
            <a:endParaRPr lang="en-US" sz="900" dirty="0">
              <a:latin typeface="+mj-lt"/>
            </a:endParaRPr>
          </a:p>
        </p:txBody>
      </p:sp>
      <p:sp>
        <p:nvSpPr>
          <p:cNvPr id="162" name="Text 14">
            <a:extLst>
              <a:ext uri="{FF2B5EF4-FFF2-40B4-BE49-F238E27FC236}">
                <a16:creationId xmlns:a16="http://schemas.microsoft.com/office/drawing/2014/main" id="{27F9A9D8-519D-AC19-D616-44CAE0D43FD1}"/>
              </a:ext>
            </a:extLst>
          </p:cNvPr>
          <p:cNvSpPr/>
          <p:nvPr/>
        </p:nvSpPr>
        <p:spPr>
          <a:xfrm>
            <a:off x="5427322" y="3848028"/>
            <a:ext cx="615164" cy="244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 dirty="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 dirty="0">
                <a:solidFill>
                  <a:srgbClr val="008A3D"/>
                </a:solidFill>
                <a:latin typeface="Calibri"/>
              </a:rPr>
              <a:t>▲ 28%</a:t>
            </a:r>
            <a:endParaRPr lang="en-US" sz="900" dirty="0">
              <a:latin typeface="+mj-lt"/>
            </a:endParaRPr>
          </a:p>
        </p:txBody>
      </p:sp>
      <p:sp>
        <p:nvSpPr>
          <p:cNvPr id="163" name="Text 15">
            <a:extLst>
              <a:ext uri="{FF2B5EF4-FFF2-40B4-BE49-F238E27FC236}">
                <a16:creationId xmlns:a16="http://schemas.microsoft.com/office/drawing/2014/main" id="{25E789B0-F22E-6189-F81D-C18A4F30CC76}"/>
              </a:ext>
            </a:extLst>
          </p:cNvPr>
          <p:cNvSpPr/>
          <p:nvPr/>
        </p:nvSpPr>
        <p:spPr>
          <a:xfrm>
            <a:off x="6075171" y="3845068"/>
            <a:ext cx="372097" cy="253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0000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C00000"/>
                </a:solidFill>
                <a:latin typeface="Calibri"/>
              </a:rPr>
              <a:t>▼ 23%</a:t>
            </a:r>
            <a:endParaRPr lang="en-US" sz="9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64" name="Text 16">
            <a:extLst>
              <a:ext uri="{FF2B5EF4-FFF2-40B4-BE49-F238E27FC236}">
                <a16:creationId xmlns:a16="http://schemas.microsoft.com/office/drawing/2014/main" id="{B7F3446D-2E00-77C7-5921-C34968E8F7B7}"/>
              </a:ext>
            </a:extLst>
          </p:cNvPr>
          <p:cNvSpPr/>
          <p:nvPr/>
        </p:nvSpPr>
        <p:spPr>
          <a:xfrm>
            <a:off x="6552875" y="3885403"/>
            <a:ext cx="413442" cy="206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May'26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29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5" name="Chart 2">
            <a:extLst>
              <a:ext uri="{FF2B5EF4-FFF2-40B4-BE49-F238E27FC236}">
                <a16:creationId xmlns:a16="http://schemas.microsoft.com/office/drawing/2014/main" id="{E29320C6-4ABC-47AD-CAC6-8C1A6CA6E8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21494362"/>
              </p:ext>
            </p:extLst>
          </p:nvPr>
        </p:nvGraphicFramePr>
        <p:xfrm>
          <a:off x="4846340" y="3822048"/>
          <a:ext cx="2292874" cy="15782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6" name="Shape 17">
            <a:extLst>
              <a:ext uri="{FF2B5EF4-FFF2-40B4-BE49-F238E27FC236}">
                <a16:creationId xmlns:a16="http://schemas.microsoft.com/office/drawing/2014/main" id="{0C37FB05-75B7-65DE-A1B1-F44B76B917B2}"/>
              </a:ext>
            </a:extLst>
          </p:cNvPr>
          <p:cNvSpPr/>
          <p:nvPr/>
        </p:nvSpPr>
        <p:spPr>
          <a:xfrm>
            <a:off x="212691" y="5470073"/>
            <a:ext cx="6926523" cy="323487"/>
          </a:xfrm>
          <a:prstGeom prst="rect">
            <a:avLst/>
          </a:prstGeom>
          <a:solidFill>
            <a:srgbClr val="2D9B7F"/>
          </a:solidFill>
          <a:ln w="12700">
            <a:solidFill>
              <a:srgbClr val="23633A"/>
            </a:solidFill>
            <a:prstDash val="solid"/>
          </a:ln>
        </p:spPr>
        <p:txBody>
          <a:bodyPr anchor="t"/>
          <a:lstStyle/>
          <a:p>
            <a:endParaRPr lang="en-IN" dirty="0">
              <a:latin typeface="+mj-lt"/>
            </a:endParaRPr>
          </a:p>
        </p:txBody>
      </p:sp>
      <p:sp>
        <p:nvSpPr>
          <p:cNvPr id="167" name="Text 18">
            <a:extLst>
              <a:ext uri="{FF2B5EF4-FFF2-40B4-BE49-F238E27FC236}">
                <a16:creationId xmlns:a16="http://schemas.microsoft.com/office/drawing/2014/main" id="{606509AD-D1A3-4CFF-7031-2BD01F460E84}"/>
              </a:ext>
            </a:extLst>
          </p:cNvPr>
          <p:cNvSpPr/>
          <p:nvPr/>
        </p:nvSpPr>
        <p:spPr>
          <a:xfrm>
            <a:off x="212691" y="5468644"/>
            <a:ext cx="6926523" cy="318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FSN | The Derma Co. — Top 3 Sub-category Monthly Trend (NSV)</a:t>
            </a:r>
            <a:endParaRPr lang="en-US" sz="1100" dirty="0">
              <a:latin typeface="+mj-lt"/>
            </a:endParaRPr>
          </a:p>
        </p:txBody>
      </p:sp>
      <p:sp>
        <p:nvSpPr>
          <p:cNvPr id="168" name="Text 19">
            <a:extLst>
              <a:ext uri="{FF2B5EF4-FFF2-40B4-BE49-F238E27FC236}">
                <a16:creationId xmlns:a16="http://schemas.microsoft.com/office/drawing/2014/main" id="{A8BC9F08-BB7E-07CC-C7BE-53E76EB85511}"/>
              </a:ext>
            </a:extLst>
          </p:cNvPr>
          <p:cNvSpPr/>
          <p:nvPr/>
        </p:nvSpPr>
        <p:spPr>
          <a:xfrm>
            <a:off x="278344" y="5927181"/>
            <a:ext cx="397538" cy="24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900" dirty="0">
              <a:latin typeface="+mj-lt"/>
            </a:endParaRPr>
          </a:p>
        </p:txBody>
      </p:sp>
      <p:sp>
        <p:nvSpPr>
          <p:cNvPr id="169" name="Text 20">
            <a:extLst>
              <a:ext uri="{FF2B5EF4-FFF2-40B4-BE49-F238E27FC236}">
                <a16:creationId xmlns:a16="http://schemas.microsoft.com/office/drawing/2014/main" id="{CC6466FF-9DFE-712B-2E6C-63C9594ED3C1}"/>
              </a:ext>
            </a:extLst>
          </p:cNvPr>
          <p:cNvSpPr/>
          <p:nvPr/>
        </p:nvSpPr>
        <p:spPr>
          <a:xfrm>
            <a:off x="607560" y="5957217"/>
            <a:ext cx="445541" cy="215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GOLY</a:t>
            </a:r>
          </a:p>
          <a:p>
            <a:pPr marL="0" indent="0" algn="ctr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 </a:t>
            </a:r>
            <a:r>
              <a:rPr sz="900" b="1">
                <a:solidFill>
                  <a:srgbClr val="008A3D"/>
                </a:solidFill>
                <a:latin typeface="Calibri"/>
              </a:rPr>
              <a:t>▲289%</a:t>
            </a:r>
            <a:endParaRPr lang="en-US" sz="900" dirty="0">
              <a:latin typeface="+mj-lt"/>
            </a:endParaRPr>
          </a:p>
        </p:txBody>
      </p:sp>
      <p:sp>
        <p:nvSpPr>
          <p:cNvPr id="170" name="Text 21">
            <a:extLst>
              <a:ext uri="{FF2B5EF4-FFF2-40B4-BE49-F238E27FC236}">
                <a16:creationId xmlns:a16="http://schemas.microsoft.com/office/drawing/2014/main" id="{6553EC6E-D91D-B6B7-81E0-5D554EF96509}"/>
              </a:ext>
            </a:extLst>
          </p:cNvPr>
          <p:cNvSpPr/>
          <p:nvPr/>
        </p:nvSpPr>
        <p:spPr>
          <a:xfrm>
            <a:off x="1180857" y="5933593"/>
            <a:ext cx="406179" cy="243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0000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C00000"/>
                </a:solidFill>
                <a:latin typeface="Calibri"/>
              </a:rPr>
              <a:t>▼ 6%</a:t>
            </a:r>
            <a:endParaRPr lang="en-US" sz="9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71" name="Text 22">
            <a:extLst>
              <a:ext uri="{FF2B5EF4-FFF2-40B4-BE49-F238E27FC236}">
                <a16:creationId xmlns:a16="http://schemas.microsoft.com/office/drawing/2014/main" id="{21E44F12-56F2-0F79-99BF-12D5FEBEA9AE}"/>
              </a:ext>
            </a:extLst>
          </p:cNvPr>
          <p:cNvSpPr/>
          <p:nvPr/>
        </p:nvSpPr>
        <p:spPr>
          <a:xfrm>
            <a:off x="1555785" y="5933594"/>
            <a:ext cx="496442" cy="243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May'26 14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2" name="Chart 3">
            <a:extLst>
              <a:ext uri="{FF2B5EF4-FFF2-40B4-BE49-F238E27FC236}">
                <a16:creationId xmlns:a16="http://schemas.microsoft.com/office/drawing/2014/main" id="{A04A165C-0A2C-703B-D787-4F0EA0143E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20544212"/>
              </p:ext>
            </p:extLst>
          </p:nvPr>
        </p:nvGraphicFramePr>
        <p:xfrm>
          <a:off x="202493" y="5866606"/>
          <a:ext cx="2202696" cy="14944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73" name="Text 23">
            <a:extLst>
              <a:ext uri="{FF2B5EF4-FFF2-40B4-BE49-F238E27FC236}">
                <a16:creationId xmlns:a16="http://schemas.microsoft.com/office/drawing/2014/main" id="{D7CD4F3F-DA69-AB5C-19FC-40054C6226BA}"/>
              </a:ext>
            </a:extLst>
          </p:cNvPr>
          <p:cNvSpPr/>
          <p:nvPr/>
        </p:nvSpPr>
        <p:spPr>
          <a:xfrm>
            <a:off x="2564343" y="5927180"/>
            <a:ext cx="541573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Sun Care</a:t>
            </a:r>
            <a:endParaRPr lang="en-US" sz="900" dirty="0">
              <a:latin typeface="+mj-lt"/>
            </a:endParaRPr>
          </a:p>
        </p:txBody>
      </p:sp>
      <p:sp>
        <p:nvSpPr>
          <p:cNvPr id="174" name="Text 24">
            <a:extLst>
              <a:ext uri="{FF2B5EF4-FFF2-40B4-BE49-F238E27FC236}">
                <a16:creationId xmlns:a16="http://schemas.microsoft.com/office/drawing/2014/main" id="{1D10C6E1-4BAF-BC01-C799-C47AB1F5027D}"/>
              </a:ext>
            </a:extLst>
          </p:cNvPr>
          <p:cNvSpPr/>
          <p:nvPr/>
        </p:nvSpPr>
        <p:spPr>
          <a:xfrm>
            <a:off x="3133841" y="5994624"/>
            <a:ext cx="447960" cy="205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GOLY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▲21%</a:t>
            </a:r>
            <a:endParaRPr lang="en-US" sz="900" dirty="0">
              <a:latin typeface="+mj-lt"/>
            </a:endParaRPr>
          </a:p>
        </p:txBody>
      </p:sp>
      <p:sp>
        <p:nvSpPr>
          <p:cNvPr id="175" name="Text 25">
            <a:extLst>
              <a:ext uri="{FF2B5EF4-FFF2-40B4-BE49-F238E27FC236}">
                <a16:creationId xmlns:a16="http://schemas.microsoft.com/office/drawing/2014/main" id="{7646A250-EE9F-A6C6-49D3-68B6D3DFBFDE}"/>
              </a:ext>
            </a:extLst>
          </p:cNvPr>
          <p:cNvSpPr/>
          <p:nvPr/>
        </p:nvSpPr>
        <p:spPr>
          <a:xfrm>
            <a:off x="3615344" y="5957217"/>
            <a:ext cx="406179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0000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C00000"/>
                </a:solidFill>
                <a:latin typeface="Calibri"/>
              </a:rPr>
              <a:t>▼ 25%</a:t>
            </a:r>
            <a:endParaRPr lang="en-US" sz="9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76" name="Text 26">
            <a:extLst>
              <a:ext uri="{FF2B5EF4-FFF2-40B4-BE49-F238E27FC236}">
                <a16:creationId xmlns:a16="http://schemas.microsoft.com/office/drawing/2014/main" id="{DB185B2C-DCD9-D290-C330-3A33EAC025C5}"/>
              </a:ext>
            </a:extLst>
          </p:cNvPr>
          <p:cNvSpPr/>
          <p:nvPr/>
        </p:nvSpPr>
        <p:spPr>
          <a:xfrm>
            <a:off x="4144390" y="5962804"/>
            <a:ext cx="511364" cy="243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May’26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12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7" name="Chart 4">
            <a:extLst>
              <a:ext uri="{FF2B5EF4-FFF2-40B4-BE49-F238E27FC236}">
                <a16:creationId xmlns:a16="http://schemas.microsoft.com/office/drawing/2014/main" id="{CBBF5C82-1DBC-BF6C-CAEA-410BB465C0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69922085"/>
              </p:ext>
            </p:extLst>
          </p:nvPr>
        </p:nvGraphicFramePr>
        <p:xfrm>
          <a:off x="2481652" y="5883569"/>
          <a:ext cx="2202539" cy="15413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78" name="Text 27">
            <a:extLst>
              <a:ext uri="{FF2B5EF4-FFF2-40B4-BE49-F238E27FC236}">
                <a16:creationId xmlns:a16="http://schemas.microsoft.com/office/drawing/2014/main" id="{038BADD0-EAC6-F8D6-7B12-BE177A9DAD4D}"/>
              </a:ext>
            </a:extLst>
          </p:cNvPr>
          <p:cNvSpPr/>
          <p:nvPr/>
        </p:nvSpPr>
        <p:spPr>
          <a:xfrm>
            <a:off x="5022988" y="5906220"/>
            <a:ext cx="457591" cy="270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Face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Serum</a:t>
            </a:r>
            <a:endParaRPr lang="en-US" sz="900" dirty="0">
              <a:latin typeface="+mj-lt"/>
            </a:endParaRPr>
          </a:p>
        </p:txBody>
      </p:sp>
      <p:sp>
        <p:nvSpPr>
          <p:cNvPr id="179" name="Text 28">
            <a:extLst>
              <a:ext uri="{FF2B5EF4-FFF2-40B4-BE49-F238E27FC236}">
                <a16:creationId xmlns:a16="http://schemas.microsoft.com/office/drawing/2014/main" id="{024D5F40-BAD0-9683-DBAB-2A9FEAA024FA}"/>
              </a:ext>
            </a:extLst>
          </p:cNvPr>
          <p:cNvSpPr/>
          <p:nvPr/>
        </p:nvSpPr>
        <p:spPr>
          <a:xfrm>
            <a:off x="5567649" y="5919050"/>
            <a:ext cx="439416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GOLY</a:t>
            </a:r>
          </a:p>
          <a:p>
            <a:pPr marL="0" indent="0" algn="ctr">
              <a:buNone/>
            </a:pPr>
            <a:r>
              <a:rPr sz="900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 </a:t>
            </a:r>
            <a:r>
              <a:rPr sz="900" b="1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▲ 9%</a:t>
            </a:r>
            <a:endParaRPr lang="en-US" sz="900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180" name="Text 29">
            <a:extLst>
              <a:ext uri="{FF2B5EF4-FFF2-40B4-BE49-F238E27FC236}">
                <a16:creationId xmlns:a16="http://schemas.microsoft.com/office/drawing/2014/main" id="{631DEBF0-39A6-7D0F-BA14-F1B18161FDD2}"/>
              </a:ext>
            </a:extLst>
          </p:cNvPr>
          <p:cNvSpPr/>
          <p:nvPr/>
        </p:nvSpPr>
        <p:spPr>
          <a:xfrm>
            <a:off x="6085150" y="5920716"/>
            <a:ext cx="406179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0000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C00000"/>
                </a:solidFill>
                <a:latin typeface="Calibri"/>
              </a:rPr>
              <a:t>▼ 26%</a:t>
            </a:r>
            <a:endParaRPr lang="en-US" sz="9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81" name="Text 30">
            <a:extLst>
              <a:ext uri="{FF2B5EF4-FFF2-40B4-BE49-F238E27FC236}">
                <a16:creationId xmlns:a16="http://schemas.microsoft.com/office/drawing/2014/main" id="{F69669F6-2C5B-9CCF-FC00-E39EBA2DF5E4}"/>
              </a:ext>
            </a:extLst>
          </p:cNvPr>
          <p:cNvSpPr/>
          <p:nvPr/>
        </p:nvSpPr>
        <p:spPr>
          <a:xfrm>
            <a:off x="6569415" y="5927181"/>
            <a:ext cx="451311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May'26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10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82" name="Chart 5">
            <a:extLst>
              <a:ext uri="{FF2B5EF4-FFF2-40B4-BE49-F238E27FC236}">
                <a16:creationId xmlns:a16="http://schemas.microsoft.com/office/drawing/2014/main" id="{39E95149-09DC-244B-A1A2-AB5A022BF0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36568867"/>
              </p:ext>
            </p:extLst>
          </p:nvPr>
        </p:nvGraphicFramePr>
        <p:xfrm>
          <a:off x="4885674" y="5849534"/>
          <a:ext cx="2202539" cy="15334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91" name="Table 190">
            <a:extLst>
              <a:ext uri="{FF2B5EF4-FFF2-40B4-BE49-F238E27FC236}">
                <a16:creationId xmlns:a16="http://schemas.microsoft.com/office/drawing/2014/main" id="{01C4CE9C-7CF2-0375-6C71-4739F8695A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2008320"/>
              </p:ext>
            </p:extLst>
          </p:nvPr>
        </p:nvGraphicFramePr>
        <p:xfrm>
          <a:off x="212691" y="1934878"/>
          <a:ext cx="7111999" cy="1515139"/>
        </p:xfrm>
        <a:graphic>
          <a:graphicData uri="http://schemas.openxmlformats.org/drawingml/2006/table">
            <a:tbl>
              <a:tblPr firstRow="1" firstCol="1" bandRow="1"/>
              <a:tblGrid>
                <a:gridCol w="1207980">
                  <a:extLst>
                    <a:ext uri="{9D8B030D-6E8A-4147-A177-3AD203B41FA5}">
                      <a16:colId xmlns:a16="http://schemas.microsoft.com/office/drawing/2014/main" val="1720933068"/>
                    </a:ext>
                  </a:extLst>
                </a:gridCol>
                <a:gridCol w="617473">
                  <a:extLst>
                    <a:ext uri="{9D8B030D-6E8A-4147-A177-3AD203B41FA5}">
                      <a16:colId xmlns:a16="http://schemas.microsoft.com/office/drawing/2014/main" val="2630805108"/>
                    </a:ext>
                  </a:extLst>
                </a:gridCol>
                <a:gridCol w="811691">
                  <a:extLst>
                    <a:ext uri="{9D8B030D-6E8A-4147-A177-3AD203B41FA5}">
                      <a16:colId xmlns:a16="http://schemas.microsoft.com/office/drawing/2014/main" val="1295913063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4130086957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3066276741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2870282349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1716647770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2912854798"/>
                    </a:ext>
                  </a:extLst>
                </a:gridCol>
              </a:tblGrid>
              <a:tr h="22449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Brand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May-25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Apr-26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May-26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 err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Cont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GO 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GOLY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355"/>
                  </a:ext>
                </a:extLst>
              </a:tr>
              <a:tr h="32266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Mamaearth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143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173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164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79%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146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12%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15%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9593741"/>
                  </a:ext>
                </a:extLst>
              </a:tr>
              <a:tr h="32266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The Derma Co.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24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45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37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18%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35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6%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54%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4782322"/>
                  </a:ext>
                </a:extLst>
              </a:tr>
              <a:tr h="32266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Aqualogica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8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7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5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C00000"/>
                          </a:solidFill>
                          <a:latin typeface="Calibri"/>
                        </a:rPr>
                        <a:t>▼ 24%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C00000"/>
                          </a:solidFill>
                          <a:latin typeface="Calibri"/>
                        </a:rPr>
                        <a:t>▼ 38%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7599869"/>
                  </a:ext>
                </a:extLst>
              </a:tr>
              <a:tr h="32266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Emerging Brands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1020566"/>
                  </a:ext>
                </a:extLst>
              </a:tr>
            </a:tbl>
          </a:graphicData>
        </a:graphic>
      </p:graphicFrame>
      <p:graphicFrame>
        <p:nvGraphicFramePr>
          <p:cNvPr id="194" name="Table 193">
            <a:extLst>
              <a:ext uri="{FF2B5EF4-FFF2-40B4-BE49-F238E27FC236}">
                <a16:creationId xmlns:a16="http://schemas.microsoft.com/office/drawing/2014/main" id="{8A46149D-11DB-F40E-39B0-E59AE1376D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5968042"/>
              </p:ext>
            </p:extLst>
          </p:nvPr>
        </p:nvGraphicFramePr>
        <p:xfrm>
          <a:off x="212691" y="7854061"/>
          <a:ext cx="6984190" cy="624135"/>
        </p:xfrm>
        <a:graphic>
          <a:graphicData uri="http://schemas.openxmlformats.org/drawingml/2006/table">
            <a:tbl>
              <a:tblPr firstRow="1" firstCol="1" bandRow="1"/>
              <a:tblGrid>
                <a:gridCol w="1694693">
                  <a:extLst>
                    <a:ext uri="{9D8B030D-6E8A-4147-A177-3AD203B41FA5}">
                      <a16:colId xmlns:a16="http://schemas.microsoft.com/office/drawing/2014/main" val="1999662838"/>
                    </a:ext>
                  </a:extLst>
                </a:gridCol>
                <a:gridCol w="770315">
                  <a:extLst>
                    <a:ext uri="{9D8B030D-6E8A-4147-A177-3AD203B41FA5}">
                      <a16:colId xmlns:a16="http://schemas.microsoft.com/office/drawing/2014/main" val="1604924111"/>
                    </a:ext>
                  </a:extLst>
                </a:gridCol>
                <a:gridCol w="718961">
                  <a:extLst>
                    <a:ext uri="{9D8B030D-6E8A-4147-A177-3AD203B41FA5}">
                      <a16:colId xmlns:a16="http://schemas.microsoft.com/office/drawing/2014/main" val="3900343723"/>
                    </a:ext>
                  </a:extLst>
                </a:gridCol>
                <a:gridCol w="770315">
                  <a:extLst>
                    <a:ext uri="{9D8B030D-6E8A-4147-A177-3AD203B41FA5}">
                      <a16:colId xmlns:a16="http://schemas.microsoft.com/office/drawing/2014/main" val="2453469686"/>
                    </a:ext>
                  </a:extLst>
                </a:gridCol>
                <a:gridCol w="770315">
                  <a:extLst>
                    <a:ext uri="{9D8B030D-6E8A-4147-A177-3AD203B41FA5}">
                      <a16:colId xmlns:a16="http://schemas.microsoft.com/office/drawing/2014/main" val="531817117"/>
                    </a:ext>
                  </a:extLst>
                </a:gridCol>
                <a:gridCol w="479307">
                  <a:extLst>
                    <a:ext uri="{9D8B030D-6E8A-4147-A177-3AD203B41FA5}">
                      <a16:colId xmlns:a16="http://schemas.microsoft.com/office/drawing/2014/main" val="1269342238"/>
                    </a:ext>
                  </a:extLst>
                </a:gridCol>
                <a:gridCol w="890142">
                  <a:extLst>
                    <a:ext uri="{9D8B030D-6E8A-4147-A177-3AD203B41FA5}">
                      <a16:colId xmlns:a16="http://schemas.microsoft.com/office/drawing/2014/main" val="1250320746"/>
                    </a:ext>
                  </a:extLst>
                </a:gridCol>
                <a:gridCol w="890142">
                  <a:extLst>
                    <a:ext uri="{9D8B030D-6E8A-4147-A177-3AD203B41FA5}">
                      <a16:colId xmlns:a16="http://schemas.microsoft.com/office/drawing/2014/main" val="2206225178"/>
                    </a:ext>
                  </a:extLst>
                </a:gridCol>
              </a:tblGrid>
              <a:tr h="20804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Chain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May-25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Apr-26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May-26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Cont</a:t>
                      </a:r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GO 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GOLY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2551122"/>
                  </a:ext>
                </a:extLst>
              </a:tr>
              <a:tr h="20804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Fsn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175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229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208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100%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190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9%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19%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039130"/>
                  </a:ext>
                </a:extLst>
              </a:tr>
              <a:tr h="20804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Others Combined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0%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264776"/>
                  </a:ext>
                </a:extLst>
              </a:tr>
            </a:tbl>
          </a:graphicData>
        </a:graphic>
      </p:graphicFrame>
      <p:sp>
        <p:nvSpPr>
          <p:cNvPr id="195" name="Rectangle 81">
            <a:extLst>
              <a:ext uri="{FF2B5EF4-FFF2-40B4-BE49-F238E27FC236}">
                <a16:creationId xmlns:a16="http://schemas.microsoft.com/office/drawing/2014/main" id="{715F732A-615F-905D-E4D0-DF7C4264D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742"/>
            <a:ext cx="75628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ECF521A8-93A7-FE83-3ED0-DDCE5D39A6E0}"/>
              </a:ext>
            </a:extLst>
          </p:cNvPr>
          <p:cNvGrpSpPr>
            <a:grpSpLocks/>
          </p:cNvGrpSpPr>
          <p:nvPr/>
        </p:nvGrpSpPr>
        <p:grpSpPr>
          <a:xfrm>
            <a:off x="160207" y="8477611"/>
            <a:ext cx="6979007" cy="1800117"/>
            <a:chOff x="6350" y="3870"/>
            <a:chExt cx="6966733" cy="1907139"/>
          </a:xfrm>
        </p:grpSpPr>
        <p:sp>
          <p:nvSpPr>
            <p:cNvPr id="197" name="Graphic 278">
              <a:extLst>
                <a:ext uri="{FF2B5EF4-FFF2-40B4-BE49-F238E27FC236}">
                  <a16:creationId xmlns:a16="http://schemas.microsoft.com/office/drawing/2014/main" id="{09562CA0-9705-0A03-47F3-5D39BF8835E5}"/>
                </a:ext>
              </a:extLst>
            </p:cNvPr>
            <p:cNvSpPr/>
            <p:nvPr/>
          </p:nvSpPr>
          <p:spPr>
            <a:xfrm>
              <a:off x="22374" y="87905"/>
              <a:ext cx="6950709" cy="1823104"/>
            </a:xfrm>
            <a:custGeom>
              <a:avLst/>
              <a:gdLst/>
              <a:ahLst/>
              <a:cxnLst/>
              <a:rect l="l" t="t" r="r" b="b"/>
              <a:pathLst>
                <a:path w="6950709" h="2163445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2074415"/>
                  </a:lnTo>
                  <a:lnTo>
                    <a:pt x="6979" y="2109038"/>
                  </a:lnTo>
                  <a:lnTo>
                    <a:pt x="26021" y="2137294"/>
                  </a:lnTo>
                  <a:lnTo>
                    <a:pt x="54276" y="2156335"/>
                  </a:lnTo>
                  <a:lnTo>
                    <a:pt x="88900" y="2163315"/>
                  </a:lnTo>
                  <a:lnTo>
                    <a:pt x="6861500" y="2163315"/>
                  </a:lnTo>
                  <a:lnTo>
                    <a:pt x="6896123" y="2156335"/>
                  </a:lnTo>
                  <a:lnTo>
                    <a:pt x="6924379" y="2137294"/>
                  </a:lnTo>
                  <a:lnTo>
                    <a:pt x="6943420" y="2109038"/>
                  </a:lnTo>
                  <a:lnTo>
                    <a:pt x="6950400" y="2074415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EFFDF4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198" name="Graphic 280">
              <a:extLst>
                <a:ext uri="{FF2B5EF4-FFF2-40B4-BE49-F238E27FC236}">
                  <a16:creationId xmlns:a16="http://schemas.microsoft.com/office/drawing/2014/main" id="{306ADDBF-E20C-DE47-E920-E870C06A675E}"/>
                </a:ext>
              </a:extLst>
            </p:cNvPr>
            <p:cNvSpPr/>
            <p:nvPr/>
          </p:nvSpPr>
          <p:spPr>
            <a:xfrm>
              <a:off x="6350" y="6348"/>
              <a:ext cx="6950709" cy="351681"/>
            </a:xfrm>
            <a:custGeom>
              <a:avLst/>
              <a:gdLst/>
              <a:ahLst/>
              <a:cxnLst/>
              <a:rect l="l" t="t" r="r" b="b"/>
              <a:pathLst>
                <a:path w="6950709" h="241300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152399"/>
                  </a:lnTo>
                  <a:lnTo>
                    <a:pt x="6979" y="187023"/>
                  </a:lnTo>
                  <a:lnTo>
                    <a:pt x="26021" y="215278"/>
                  </a:lnTo>
                  <a:lnTo>
                    <a:pt x="54276" y="234320"/>
                  </a:lnTo>
                  <a:lnTo>
                    <a:pt x="88900" y="241299"/>
                  </a:lnTo>
                  <a:lnTo>
                    <a:pt x="6861500" y="241299"/>
                  </a:lnTo>
                  <a:lnTo>
                    <a:pt x="6896123" y="234320"/>
                  </a:lnTo>
                  <a:lnTo>
                    <a:pt x="6924379" y="215278"/>
                  </a:lnTo>
                  <a:lnTo>
                    <a:pt x="6943420" y="187023"/>
                  </a:lnTo>
                  <a:lnTo>
                    <a:pt x="6950400" y="152399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037756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199" name="Graphic 281">
              <a:extLst>
                <a:ext uri="{FF2B5EF4-FFF2-40B4-BE49-F238E27FC236}">
                  <a16:creationId xmlns:a16="http://schemas.microsoft.com/office/drawing/2014/main" id="{786D0DB1-927E-CDBA-AE82-7E1B1BB65AF0}"/>
                </a:ext>
              </a:extLst>
            </p:cNvPr>
            <p:cNvSpPr/>
            <p:nvPr/>
          </p:nvSpPr>
          <p:spPr>
            <a:xfrm>
              <a:off x="117410" y="999456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 dirty="0">
                <a:latin typeface="+mj-lt"/>
              </a:endParaRPr>
            </a:p>
          </p:txBody>
        </p:sp>
        <p:sp>
          <p:nvSpPr>
            <p:cNvPr id="200" name="Graphic 282">
              <a:extLst>
                <a:ext uri="{FF2B5EF4-FFF2-40B4-BE49-F238E27FC236}">
                  <a16:creationId xmlns:a16="http://schemas.microsoft.com/office/drawing/2014/main" id="{1EE2520B-B499-D8A6-9F61-FEDF24208690}"/>
                </a:ext>
              </a:extLst>
            </p:cNvPr>
            <p:cNvSpPr/>
            <p:nvPr/>
          </p:nvSpPr>
          <p:spPr>
            <a:xfrm>
              <a:off x="125480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atin typeface="+mj-lt"/>
              </a:endParaRPr>
            </a:p>
          </p:txBody>
        </p:sp>
        <p:sp>
          <p:nvSpPr>
            <p:cNvPr id="201" name="Graphic 283">
              <a:extLst>
                <a:ext uri="{FF2B5EF4-FFF2-40B4-BE49-F238E27FC236}">
                  <a16:creationId xmlns:a16="http://schemas.microsoft.com/office/drawing/2014/main" id="{CC1D8F9B-ACDE-52DF-23D6-7FEDF2C5895A}"/>
                </a:ext>
              </a:extLst>
            </p:cNvPr>
            <p:cNvSpPr/>
            <p:nvPr/>
          </p:nvSpPr>
          <p:spPr>
            <a:xfrm>
              <a:off x="1826499" y="967806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2" name="Graphic 284">
              <a:extLst>
                <a:ext uri="{FF2B5EF4-FFF2-40B4-BE49-F238E27FC236}">
                  <a16:creationId xmlns:a16="http://schemas.microsoft.com/office/drawing/2014/main" id="{78E6F5B7-D8F6-E3DA-2211-639E0006CDFC}"/>
                </a:ext>
              </a:extLst>
            </p:cNvPr>
            <p:cNvSpPr/>
            <p:nvPr/>
          </p:nvSpPr>
          <p:spPr>
            <a:xfrm>
              <a:off x="1818628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atin typeface="+mj-lt"/>
              </a:endParaRPr>
            </a:p>
          </p:txBody>
        </p:sp>
        <p:sp>
          <p:nvSpPr>
            <p:cNvPr id="203" name="Graphic 285">
              <a:extLst>
                <a:ext uri="{FF2B5EF4-FFF2-40B4-BE49-F238E27FC236}">
                  <a16:creationId xmlns:a16="http://schemas.microsoft.com/office/drawing/2014/main" id="{E2A44793-D301-9552-99EC-90EC13154CAA}"/>
                </a:ext>
              </a:extLst>
            </p:cNvPr>
            <p:cNvSpPr/>
            <p:nvPr/>
          </p:nvSpPr>
          <p:spPr>
            <a:xfrm>
              <a:off x="3502621" y="962316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 dirty="0">
                <a:latin typeface="+mj-lt"/>
              </a:endParaRPr>
            </a:p>
          </p:txBody>
        </p:sp>
        <p:sp>
          <p:nvSpPr>
            <p:cNvPr id="204" name="Graphic 286">
              <a:extLst>
                <a:ext uri="{FF2B5EF4-FFF2-40B4-BE49-F238E27FC236}">
                  <a16:creationId xmlns:a16="http://schemas.microsoft.com/office/drawing/2014/main" id="{5C0F2A52-1C1D-D1A6-05EA-4ACCDB5127EF}"/>
                </a:ext>
              </a:extLst>
            </p:cNvPr>
            <p:cNvSpPr/>
            <p:nvPr/>
          </p:nvSpPr>
          <p:spPr>
            <a:xfrm>
              <a:off x="3502621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5" name="Graphic 287">
              <a:extLst>
                <a:ext uri="{FF2B5EF4-FFF2-40B4-BE49-F238E27FC236}">
                  <a16:creationId xmlns:a16="http://schemas.microsoft.com/office/drawing/2014/main" id="{97A32B53-FBD3-57B6-D1A2-97E533939E78}"/>
                </a:ext>
              </a:extLst>
            </p:cNvPr>
            <p:cNvSpPr/>
            <p:nvPr/>
          </p:nvSpPr>
          <p:spPr>
            <a:xfrm>
              <a:off x="5204929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 dirty="0">
                <a:latin typeface="+mj-lt"/>
              </a:endParaRPr>
            </a:p>
          </p:txBody>
        </p:sp>
        <p:sp>
          <p:nvSpPr>
            <p:cNvPr id="206" name="Graphic 288">
              <a:extLst>
                <a:ext uri="{FF2B5EF4-FFF2-40B4-BE49-F238E27FC236}">
                  <a16:creationId xmlns:a16="http://schemas.microsoft.com/office/drawing/2014/main" id="{7A282D42-C8EF-02F8-6401-E33E4651DA3A}"/>
                </a:ext>
              </a:extLst>
            </p:cNvPr>
            <p:cNvSpPr/>
            <p:nvPr/>
          </p:nvSpPr>
          <p:spPr>
            <a:xfrm>
              <a:off x="5195537" y="978344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7" name="Textbox 289">
              <a:extLst>
                <a:ext uri="{FF2B5EF4-FFF2-40B4-BE49-F238E27FC236}">
                  <a16:creationId xmlns:a16="http://schemas.microsoft.com/office/drawing/2014/main" id="{00EDBC03-34CC-68A0-0A8A-3EDB1CF8594C}"/>
                </a:ext>
              </a:extLst>
            </p:cNvPr>
            <p:cNvSpPr txBox="1"/>
            <p:nvPr/>
          </p:nvSpPr>
          <p:spPr>
            <a:xfrm>
              <a:off x="133350" y="3870"/>
              <a:ext cx="6716677" cy="418793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KEY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200" b="1" spc="-10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HIGHLIGHTS</a:t>
              </a:r>
              <a:endParaRPr lang="en-IN" sz="20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08" name="Textbox 290">
              <a:extLst>
                <a:ext uri="{FF2B5EF4-FFF2-40B4-BE49-F238E27FC236}">
                  <a16:creationId xmlns:a16="http://schemas.microsoft.com/office/drawing/2014/main" id="{390ECE72-BE5D-D8E0-F6DB-459027B27CA3}"/>
                </a:ext>
              </a:extLst>
            </p:cNvPr>
            <p:cNvSpPr txBox="1"/>
            <p:nvPr/>
          </p:nvSpPr>
          <p:spPr>
            <a:xfrm>
              <a:off x="60710" y="422664"/>
              <a:ext cx="6830732" cy="40162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wrap="square" lIns="0" tIns="0" rIns="0" bIns="0" rtlCol="0" anchor="t">
              <a:noAutofit/>
            </a:bodyPr>
            <a:lstStyle/>
            <a:p>
              <a:pPr marL="342900" lvl="0" indent="-342900">
                <a:lnSpc>
                  <a:spcPts val="860"/>
                </a:lnSpc>
                <a:buClr>
                  <a:srgbClr val="0F162A"/>
                </a:buClr>
                <a:buSzPts val="700"/>
                <a:buFont typeface="Arial MT"/>
                <a:buChar char="•"/>
                <a:tabLst>
                  <a:tab pos="57785" algn="l"/>
                </a:tabLst>
              </a:pPr>
              <a:endParaRPr lang="en-US" sz="1000" b="1" dirty="0">
                <a:solidFill>
                  <a:srgbClr val="008A3D"/>
                </a:solidFill>
                <a:latin typeface="+mj-lt"/>
              </a:endParaRPr>
            </a:p>
            <a:p>
              <a:pPr marL="342900" lvl="0" indent="-342900">
                <a:lnSpc>
                  <a:spcPts val="860"/>
                </a:lnSpc>
                <a:buClr>
                  <a:srgbClr val="0F162A"/>
                </a:buClr>
                <a:buSzPts val="700"/>
                <a:buFont typeface="Arial MT"/>
                <a:buChar char="•"/>
                <a:tabLst>
                  <a:tab pos="57785" algn="l"/>
                </a:tabLst>
              </a:pPr>
              <a:r>
                <a:rPr lang="en-US" sz="1000" b="1" dirty="0">
                  <a:solidFill>
                    <a:srgbClr val="008A3D"/>
                  </a:solidFill>
                  <a:latin typeface="+mj-lt"/>
                </a:rPr>
                <a:t>Chain Highlights:-</a:t>
              </a:r>
              <a:r>
                <a:rPr sz="1000" b="1" dirty="0">
                  <a:solidFill>
                    <a:srgbClr val="008A3D"/>
                  </a:solidFill>
                  <a:latin typeface="+mj-lt"/>
                </a:rPr>
                <a:t> </a:t>
              </a:r>
              <a:r>
                <a:rPr lang="en-IN" sz="1000" b="1" dirty="0">
                  <a:solidFill>
                    <a:srgbClr val="008A3D"/>
                  </a:solidFill>
                  <a:latin typeface="+mj-lt"/>
                </a:rPr>
                <a:t>FSN</a:t>
              </a:r>
              <a:r>
                <a:rPr sz="1000" b="1" dirty="0">
                  <a:solidFill>
                    <a:srgbClr val="008A3D"/>
                  </a:solidFill>
                  <a:latin typeface="+mj-lt"/>
                </a:rPr>
                <a:t> delivered its highest month in May-26 at 208. Growth stood at ▲ 9% vs L3M and ▲ 19% vs May-25.</a:t>
              </a:r>
              <a:endParaRPr lang="en-IN" sz="1600" spc="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09" name="Textbox 291">
              <a:extLst>
                <a:ext uri="{FF2B5EF4-FFF2-40B4-BE49-F238E27FC236}">
                  <a16:creationId xmlns:a16="http://schemas.microsoft.com/office/drawing/2014/main" id="{696AC7C6-3FED-0B1D-4CD4-FA589378E90D}"/>
                </a:ext>
              </a:extLst>
            </p:cNvPr>
            <p:cNvSpPr txBox="1"/>
            <p:nvPr/>
          </p:nvSpPr>
          <p:spPr>
            <a:xfrm>
              <a:off x="536601" y="1090664"/>
              <a:ext cx="726380" cy="343972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105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Lead</a:t>
              </a:r>
              <a:r>
                <a:rPr lang="en-US" sz="1050" b="1" spc="-20" dirty="0">
                  <a:solidFill>
                    <a:srgbClr val="008A3D"/>
                  </a:solidFill>
                  <a:latin typeface="+mj-lt"/>
                  <a:ea typeface="Arial MT"/>
                  <a:cs typeface="Calibri"/>
                </a:rPr>
                <a:t> </a:t>
              </a:r>
              <a:r>
                <a:rPr lang="en-US" sz="1050" b="1" spc="-1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endParaRPr lang="en-IN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0" name="Textbox 292">
              <a:extLst>
                <a:ext uri="{FF2B5EF4-FFF2-40B4-BE49-F238E27FC236}">
                  <a16:creationId xmlns:a16="http://schemas.microsoft.com/office/drawing/2014/main" id="{D2CB78A9-052C-7918-9B59-3C05E6224543}"/>
                </a:ext>
              </a:extLst>
            </p:cNvPr>
            <p:cNvSpPr txBox="1"/>
            <p:nvPr/>
          </p:nvSpPr>
          <p:spPr>
            <a:xfrm>
              <a:off x="2143903" y="1099759"/>
              <a:ext cx="1532948" cy="16725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100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Fastest</a:t>
              </a:r>
              <a:r>
                <a:rPr lang="en-US" sz="1000" b="1" spc="-25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00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YoY</a:t>
              </a:r>
              <a:r>
                <a:rPr lang="en-US" sz="1000" b="1" spc="-2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000" b="1" spc="-1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endParaRPr lang="en-IN" sz="10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1" name="Textbox 293">
              <a:extLst>
                <a:ext uri="{FF2B5EF4-FFF2-40B4-BE49-F238E27FC236}">
                  <a16:creationId xmlns:a16="http://schemas.microsoft.com/office/drawing/2014/main" id="{1002BC0E-27DD-532F-2DE7-BB1F581AC8FE}"/>
                </a:ext>
              </a:extLst>
            </p:cNvPr>
            <p:cNvSpPr txBox="1"/>
            <p:nvPr/>
          </p:nvSpPr>
          <p:spPr>
            <a:xfrm>
              <a:off x="3761172" y="1043625"/>
              <a:ext cx="1168712" cy="354674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100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Record</a:t>
              </a:r>
              <a:r>
                <a:rPr lang="en-US" sz="1000" b="1" spc="-25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00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r>
                <a:rPr lang="en-US" sz="1000" b="1" spc="-25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000" b="1" spc="-1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Lines</a:t>
              </a:r>
              <a:endParaRPr lang="en-IN" sz="10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2" name="Textbox 294">
              <a:extLst>
                <a:ext uri="{FF2B5EF4-FFF2-40B4-BE49-F238E27FC236}">
                  <a16:creationId xmlns:a16="http://schemas.microsoft.com/office/drawing/2014/main" id="{1393482F-11D6-D6FE-2753-A47D0B48114B}"/>
                </a:ext>
              </a:extLst>
            </p:cNvPr>
            <p:cNvSpPr txBox="1"/>
            <p:nvPr/>
          </p:nvSpPr>
          <p:spPr>
            <a:xfrm>
              <a:off x="5378517" y="1043625"/>
              <a:ext cx="541020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90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Zone</a:t>
              </a:r>
              <a:r>
                <a:rPr lang="en-US" sz="900" b="1" spc="-2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900" b="1" spc="-1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Record</a:t>
              </a:r>
              <a:endParaRPr lang="en-IN" sz="14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3" name="Textbox 295">
              <a:extLst>
                <a:ext uri="{FF2B5EF4-FFF2-40B4-BE49-F238E27FC236}">
                  <a16:creationId xmlns:a16="http://schemas.microsoft.com/office/drawing/2014/main" id="{9D505091-C1B3-4643-3757-11527DD029ED}"/>
                </a:ext>
              </a:extLst>
            </p:cNvPr>
            <p:cNvSpPr txBox="1"/>
            <p:nvPr/>
          </p:nvSpPr>
          <p:spPr>
            <a:xfrm>
              <a:off x="584951" y="1339470"/>
              <a:ext cx="537105" cy="218321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90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Fsn</a:t>
              </a:r>
              <a:r>
                <a:rPr lang="en-US" sz="900" b="1" spc="-3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90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-</a:t>
              </a:r>
              <a:r>
                <a:rPr lang="en-US" sz="900" b="1" spc="-3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900" b="1" spc="-2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208</a:t>
              </a:r>
              <a:endParaRPr lang="en-IN" sz="14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4" name="Textbox 296">
              <a:extLst>
                <a:ext uri="{FF2B5EF4-FFF2-40B4-BE49-F238E27FC236}">
                  <a16:creationId xmlns:a16="http://schemas.microsoft.com/office/drawing/2014/main" id="{D4A13F3F-01DA-EED4-B30C-053A438475D3}"/>
                </a:ext>
              </a:extLst>
            </p:cNvPr>
            <p:cNvSpPr txBox="1"/>
            <p:nvPr/>
          </p:nvSpPr>
          <p:spPr>
            <a:xfrm>
              <a:off x="2198660" y="1310254"/>
              <a:ext cx="1137449" cy="299158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50"/>
                </a:lnSpc>
              </a:pPr>
              <a:r>
                <a:rPr sz="1000" b="1">
                  <a:solidFill>
                    <a:srgbClr val="1A1F29"/>
                  </a:solidFill>
                  <a:latin typeface="+mj-lt"/>
                </a:rPr>
                <a:t>Fsn  - </a:t>
              </a:r>
              <a:r>
                <a:rPr sz="1000" b="1">
                  <a:solidFill>
                    <a:srgbClr val="008A3D"/>
                  </a:solidFill>
                  <a:latin typeface="+mj-lt"/>
                </a:rPr>
                <a:t>▲ 19%</a:t>
              </a:r>
              <a:endParaRPr lang="en-IN" sz="10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5" name="Textbox 297">
              <a:extLst>
                <a:ext uri="{FF2B5EF4-FFF2-40B4-BE49-F238E27FC236}">
                  <a16:creationId xmlns:a16="http://schemas.microsoft.com/office/drawing/2014/main" id="{823DC972-676F-BB3F-DF78-E528EBCA63EA}"/>
                </a:ext>
              </a:extLst>
            </p:cNvPr>
            <p:cNvSpPr txBox="1"/>
            <p:nvPr/>
          </p:nvSpPr>
          <p:spPr>
            <a:xfrm>
              <a:off x="4098907" y="1273117"/>
              <a:ext cx="1616615" cy="624691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800" b="1" dirty="0" err="1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Fsn</a:t>
              </a:r>
              <a:endParaRPr lang="en-IN" sz="8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6" name="Textbox 298">
              <a:extLst>
                <a:ext uri="{FF2B5EF4-FFF2-40B4-BE49-F238E27FC236}">
                  <a16:creationId xmlns:a16="http://schemas.microsoft.com/office/drawing/2014/main" id="{1109BA7C-796E-3D4D-65A2-95AB774BD170}"/>
                </a:ext>
              </a:extLst>
            </p:cNvPr>
            <p:cNvSpPr txBox="1"/>
            <p:nvPr/>
          </p:nvSpPr>
          <p:spPr>
            <a:xfrm>
              <a:off x="5945211" y="1128270"/>
              <a:ext cx="748609" cy="17609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900" b="1" dirty="0">
                  <a:solidFill>
                    <a:srgbClr val="1A1F29"/>
                  </a:solidFill>
                  <a:latin typeface="+mj-lt"/>
                  <a:ea typeface="Arial MT"/>
                  <a:cs typeface="Calibri"/>
                </a:rPr>
                <a:t>Apr</a:t>
              </a:r>
              <a:r>
                <a:rPr lang="en-US" sz="90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-26</a:t>
              </a:r>
              <a:r>
                <a:rPr lang="en-US" sz="900" b="1" spc="-30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900" b="1" spc="-30" dirty="0">
                  <a:solidFill>
                    <a:srgbClr val="1A1F29"/>
                  </a:solidFill>
                  <a:latin typeface="+mj-lt"/>
                  <a:ea typeface="Arial MT"/>
                  <a:cs typeface="Calibri"/>
                </a:rPr>
                <a:t>- </a:t>
              </a:r>
              <a:r>
                <a:rPr lang="en-US" sz="90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229</a:t>
              </a:r>
              <a:endParaRPr lang="en-IN" sz="1400" dirty="0">
                <a:effectLst/>
                <a:latin typeface="+mj-lt"/>
                <a:ea typeface="Arial MT"/>
                <a:cs typeface="Calibri"/>
              </a:endParaRPr>
            </a:p>
          </p:txBody>
        </p:sp>
      </p:grpSp>
      <p:sp>
        <p:nvSpPr>
          <p:cNvPr id="217" name="Rectangle 92">
            <a:extLst>
              <a:ext uri="{FF2B5EF4-FFF2-40B4-BE49-F238E27FC236}">
                <a16:creationId xmlns:a16="http://schemas.microsoft.com/office/drawing/2014/main" id="{4048E4C8-777E-5962-6F2D-EE7CEED0D22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0" y="112827"/>
            <a:ext cx="756285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6CDFCB9D-D279-7BE1-F23A-91374801A1BD}"/>
              </a:ext>
            </a:extLst>
          </p:cNvPr>
          <p:cNvSpPr txBox="1"/>
          <p:nvPr/>
        </p:nvSpPr>
        <p:spPr>
          <a:xfrm>
            <a:off x="212691" y="7401047"/>
            <a:ext cx="6926523" cy="361574"/>
          </a:xfrm>
          <a:prstGeom prst="rect">
            <a:avLst/>
          </a:prstGeom>
          <a:solidFill>
            <a:srgbClr val="2D9B7F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lang="en-US" sz="1600" b="1" dirty="0">
                <a:solidFill>
                  <a:srgbClr val="FFFFFF"/>
                </a:solidFill>
                <a:latin typeface="Calibri"/>
              </a:rPr>
              <a:t>FSN Chain Summary</a:t>
            </a:r>
            <a:endParaRPr lang="en-IN" sz="1600" b="1" dirty="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2" name="Picture 2" descr="A white and orange tube with white text  AI-generated content may be incorrect.">
            <a:extLst>
              <a:ext uri="{FF2B5EF4-FFF2-40B4-BE49-F238E27FC236}">
                <a16:creationId xmlns:a16="http://schemas.microsoft.com/office/drawing/2014/main" id="{E4BE8139-2075-BC6E-0940-50B79B227E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48" r="23559"/>
          <a:stretch/>
        </p:blipFill>
        <p:spPr bwMode="auto">
          <a:xfrm>
            <a:off x="2709582" y="6141344"/>
            <a:ext cx="212290" cy="408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BD881498-56FC-10C0-FDB6-091E08A41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490" y="6117127"/>
            <a:ext cx="250009" cy="530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bottle of rice face wash  Description automatically generated">
            <a:extLst>
              <a:ext uri="{FF2B5EF4-FFF2-40B4-BE49-F238E27FC236}">
                <a16:creationId xmlns:a16="http://schemas.microsoft.com/office/drawing/2014/main" id="{6A5DAAE7-0169-95A1-212F-58E9249A2223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27809" t="6059" r="29332" b="4208"/>
          <a:stretch/>
        </p:blipFill>
        <p:spPr>
          <a:xfrm>
            <a:off x="373490" y="3994891"/>
            <a:ext cx="200232" cy="412943"/>
          </a:xfrm>
          <a:prstGeom prst="rect">
            <a:avLst/>
          </a:prstGeom>
        </p:spPr>
      </p:pic>
      <p:pic>
        <p:nvPicPr>
          <p:cNvPr id="5" name="Picture 4" descr="A yellow bottle of sunscreen  Description automatically generated">
            <a:extLst>
              <a:ext uri="{FF2B5EF4-FFF2-40B4-BE49-F238E27FC236}">
                <a16:creationId xmlns:a16="http://schemas.microsoft.com/office/drawing/2014/main" id="{9DE6E2BB-07EE-B005-FD4B-E99B9E93CC3D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32069" t="9042" r="31762" b="9272"/>
          <a:stretch/>
        </p:blipFill>
        <p:spPr>
          <a:xfrm>
            <a:off x="5140437" y="4098642"/>
            <a:ext cx="196303" cy="443346"/>
          </a:xfrm>
          <a:prstGeom prst="rect">
            <a:avLst/>
          </a:prstGeom>
        </p:spPr>
      </p:pic>
      <p:pic>
        <p:nvPicPr>
          <p:cNvPr id="6" name="Google Shape;1518;p235" descr="A purple bottle with a dropper next to a box  AI-generated content may be incorrect.">
            <a:extLst>
              <a:ext uri="{FF2B5EF4-FFF2-40B4-BE49-F238E27FC236}">
                <a16:creationId xmlns:a16="http://schemas.microsoft.com/office/drawing/2014/main" id="{094DAE43-E77F-2907-9047-54F182B6F843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179482" y="6228467"/>
            <a:ext cx="216398" cy="205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396;p227" descr="A white bottle with a label on it  Description automatically generated">
            <a:extLst>
              <a:ext uri="{FF2B5EF4-FFF2-40B4-BE49-F238E27FC236}">
                <a16:creationId xmlns:a16="http://schemas.microsoft.com/office/drawing/2014/main" id="{866C70B2-E3E3-89B3-E64D-23E1FC171462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 l="19608" b="483"/>
          <a:stretch/>
        </p:blipFill>
        <p:spPr>
          <a:xfrm>
            <a:off x="2512414" y="3850152"/>
            <a:ext cx="178723" cy="412609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PageNum"/>
          <p:cNvSpPr txBox="1"/>
          <p:nvPr/>
        </p:nvSpPr>
        <p:spPr>
          <a:xfrm>
            <a:off x="6282690" y="10414318"/>
            <a:ext cx="856524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13 / 21</a:t>
            </a:r>
          </a:p>
        </p:txBody>
      </p:sp>
      <p:sp>
        <p:nvSpPr>
          <p:cNvPr id="2" name="Text 0"/>
          <p:cNvSpPr/>
          <p:nvPr/>
        </p:nvSpPr>
        <p:spPr>
          <a:xfrm>
            <a:off x="-17844" y="-14471"/>
            <a:ext cx="7580694" cy="454996"/>
          </a:xfrm>
          <a:prstGeom prst="rect">
            <a:avLst/>
          </a:prstGeom>
          <a:solidFill>
            <a:srgbClr val="2D9B7F"/>
          </a:solidFill>
          <a:ln/>
        </p:spPr>
        <p:txBody>
          <a:bodyPr wrap="square" lIns="0" tIns="0" rIns="0" bIns="0" rtlCol="0" anchor="t"/>
          <a:lstStyle/>
          <a:p>
            <a:pPr algn="ctr"/>
            <a:r>
              <a:rPr lang="en-US" sz="24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OFFTAKE PERFORMANCE REPORT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-17844" y="417740"/>
            <a:ext cx="7580694" cy="3077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5A85"/>
                </a:solidFill>
                <a:latin typeface="Calibri"/>
              </a:rPr>
              <a:t>WEST ZONE DEEP DIVE — MAY'26</a:t>
            </a:r>
            <a:endParaRPr lang="en-US" sz="16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266642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75246" y="0"/>
            <a:ext cx="6012359" cy="841730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78"/>
          </a:p>
        </p:txBody>
      </p:sp>
      <p:sp>
        <p:nvSpPr>
          <p:cNvPr id="3" name="Rectangle 2"/>
          <p:cNvSpPr/>
          <p:nvPr/>
        </p:nvSpPr>
        <p:spPr>
          <a:xfrm>
            <a:off x="775246" y="812782"/>
            <a:ext cx="6012359" cy="28948"/>
          </a:xfrm>
          <a:prstGeom prst="rect">
            <a:avLst/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78"/>
          </a:p>
        </p:txBody>
      </p:sp>
      <p:sp>
        <p:nvSpPr>
          <p:cNvPr id="4" name="TextBox 3"/>
          <p:cNvSpPr txBox="1"/>
          <p:nvPr/>
        </p:nvSpPr>
        <p:spPr>
          <a:xfrm>
            <a:off x="1095905" y="160330"/>
            <a:ext cx="5371040" cy="61484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90" b="1">
                <a:solidFill>
                  <a:srgbClr val="FFFFFF"/>
                </a:solidFill>
                <a:latin typeface="Calibri"/>
              </a:rPr>
              <a:t>Zone-wise Best Execution Images</a:t>
            </a:r>
          </a:p>
          <a:p>
            <a:pPr>
              <a:spcBef>
                <a:spcPts val="263"/>
              </a:spcBef>
            </a:pPr>
            <a:r>
              <a:rPr sz="877">
                <a:solidFill>
                  <a:srgbClr val="CADCFC"/>
                </a:solidFill>
                <a:latin typeface="Calibri"/>
              </a:rPr>
              <a:t>Best available field execution proof, by zone — and where the image bank still needs to be built</a:t>
            </a:r>
          </a:p>
          <a:p>
            <a:pPr>
              <a:spcBef>
                <a:spcPts val="438"/>
              </a:spcBef>
            </a:pPr>
            <a:r>
              <a:rPr sz="745" b="1">
                <a:solidFill>
                  <a:srgbClr val="CADCFC"/>
                </a:solidFill>
                <a:latin typeface="Calibri"/>
              </a:rPr>
              <a:t>FIELD CAPTURES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905" y="986027"/>
            <a:ext cx="2625397" cy="1483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4" b="1">
                <a:solidFill>
                  <a:srgbClr val="1E2761"/>
                </a:solidFill>
                <a:latin typeface="Calibri"/>
              </a:rPr>
              <a:t>SOUTH-1 — HYDERABAD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5905" y="1186439"/>
            <a:ext cx="2625397" cy="15588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78"/>
          </a:p>
        </p:txBody>
      </p:sp>
      <p:sp>
        <p:nvSpPr>
          <p:cNvPr id="7" name="TextBox 6"/>
          <p:cNvSpPr txBox="1"/>
          <p:nvPr/>
        </p:nvSpPr>
        <p:spPr>
          <a:xfrm>
            <a:off x="3841548" y="986027"/>
            <a:ext cx="2625397" cy="1483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4" b="1">
                <a:solidFill>
                  <a:srgbClr val="1E2761"/>
                </a:solidFill>
                <a:latin typeface="Calibri"/>
              </a:rPr>
              <a:t>SOUTH-2 — KARNATAKA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1548" y="1186439"/>
            <a:ext cx="2625397" cy="15588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78"/>
          </a:p>
        </p:txBody>
      </p:sp>
      <p:pic>
        <p:nvPicPr>
          <p:cNvPr id="9" name="Picture 8" descr="JC_Radhika_s07_p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946" y="1258143"/>
            <a:ext cx="1845748" cy="2460998"/>
          </a:xfrm>
          <a:prstGeom prst="rect">
            <a:avLst/>
          </a:prstGeom>
        </p:spPr>
      </p:pic>
      <p:pic>
        <p:nvPicPr>
          <p:cNvPr id="10" name="Picture 9" descr="JC_June2026_s10_p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1590" y="1258142"/>
            <a:ext cx="1803708" cy="24049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9506" y="3719623"/>
            <a:ext cx="2465067" cy="117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2" b="1" dirty="0">
                <a:solidFill>
                  <a:srgbClr val="1E2761"/>
                </a:solidFill>
                <a:latin typeface="Calibri"/>
              </a:rPr>
              <a:t>Lulu | Hyderabad* | South-1 | Endcap / Bin-Tower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3160" y="3735910"/>
            <a:ext cx="2465067" cy="117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2" b="1" dirty="0">
                <a:solidFill>
                  <a:srgbClr val="1E2761"/>
                </a:solidFill>
                <a:latin typeface="Calibri"/>
              </a:rPr>
              <a:t>D-Mart | Bengaluru | South-2 | BOGO Bin Display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3471" y="10993339"/>
            <a:ext cx="280577" cy="945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14">
                <a:solidFill>
                  <a:srgbClr val="595959"/>
                </a:solidFill>
                <a:latin typeface="Calibri"/>
              </a:rPr>
              <a:t>21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41315" y="4167080"/>
            <a:ext cx="2625397" cy="1483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4" b="1" dirty="0">
                <a:solidFill>
                  <a:srgbClr val="1E2761"/>
                </a:solidFill>
                <a:latin typeface="Calibri"/>
              </a:rPr>
              <a:t>APOLLO — SOUTH-1</a:t>
            </a:r>
          </a:p>
        </p:txBody>
      </p:sp>
      <p:pic>
        <p:nvPicPr>
          <p:cNvPr id="19" name="Picture 18" descr="JC_Radhika_s05_p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495" y="4371570"/>
            <a:ext cx="1352781" cy="240494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77352" y="6872712"/>
            <a:ext cx="2465067" cy="1146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5" b="1">
                <a:solidFill>
                  <a:srgbClr val="1E2761"/>
                </a:solidFill>
                <a:latin typeface="Calibri"/>
              </a:rPr>
              <a:t>Apollo | Hyderabad* | Eye-Level Shelf Block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352" y="7065107"/>
            <a:ext cx="2465067" cy="210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4">
                <a:solidFill>
                  <a:srgbClr val="404040"/>
                </a:solidFill>
                <a:latin typeface="Calibri"/>
              </a:rPr>
              <a:t>Mamaearth Sun Care range fronted with BOGO talkers on a dedicated shelf strip.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9111" y="4167080"/>
            <a:ext cx="2625397" cy="1483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4" b="1" dirty="0">
                <a:solidFill>
                  <a:srgbClr val="1E2761"/>
                </a:solidFill>
                <a:latin typeface="Calibri"/>
              </a:rPr>
              <a:t>LULU — SOUTH-1</a:t>
            </a:r>
          </a:p>
        </p:txBody>
      </p:sp>
      <p:pic>
        <p:nvPicPr>
          <p:cNvPr id="24" name="Picture 23" descr="JC_Radhika_s06_p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3675" y="4371570"/>
            <a:ext cx="1803708" cy="240494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3522995" y="6872712"/>
            <a:ext cx="2465067" cy="1146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5" b="1">
                <a:solidFill>
                  <a:srgbClr val="1E2761"/>
                </a:solidFill>
                <a:latin typeface="Calibri"/>
              </a:rPr>
              <a:t>Lulu | Hyderabad* | Shampoo Aisle Block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2995" y="7065107"/>
            <a:ext cx="2465067" cy="210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4">
                <a:solidFill>
                  <a:srgbClr val="404040"/>
                </a:solidFill>
                <a:latin typeface="Calibri"/>
              </a:rPr>
              <a:t>Three uninterrupted Mamaearth shampoo shelves at eye level, ahead of competitor sets.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2678" y="7399492"/>
            <a:ext cx="2625397" cy="1483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4" b="1">
                <a:solidFill>
                  <a:srgbClr val="1E2761"/>
                </a:solidFill>
                <a:latin typeface="Calibri"/>
              </a:rPr>
              <a:t>RELIANCE — SOUTH-1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2678" y="7599903"/>
            <a:ext cx="2625397" cy="15588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78"/>
          </a:p>
        </p:txBody>
      </p:sp>
      <p:pic>
        <p:nvPicPr>
          <p:cNvPr id="30" name="Picture 29" descr="JC_Radhika_s08_p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3522" y="7855175"/>
            <a:ext cx="1631307" cy="2175075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962678" y="10124648"/>
            <a:ext cx="2625397" cy="49702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78"/>
          </a:p>
        </p:txBody>
      </p:sp>
      <p:sp>
        <p:nvSpPr>
          <p:cNvPr id="34" name="TextBox 33"/>
          <p:cNvSpPr txBox="1"/>
          <p:nvPr/>
        </p:nvSpPr>
        <p:spPr>
          <a:xfrm>
            <a:off x="1042843" y="10172748"/>
            <a:ext cx="2465067" cy="1146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5" b="1">
                <a:solidFill>
                  <a:srgbClr val="1E2761"/>
                </a:solidFill>
                <a:latin typeface="Calibri"/>
              </a:rPr>
              <a:t>Reliance | Hyderabad* | Branded Endcap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843" y="10365143"/>
            <a:ext cx="2465067" cy="210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4">
                <a:solidFill>
                  <a:srgbClr val="404040"/>
                </a:solidFill>
                <a:latin typeface="Calibri"/>
              </a:rPr>
              <a:t>'Merawala Combo' endcap with Mamaearth Buy-4-Get-1 signage and combo pricing.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08321" y="7399492"/>
            <a:ext cx="2625397" cy="1483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4" b="1">
                <a:solidFill>
                  <a:srgbClr val="1E2761"/>
                </a:solidFill>
                <a:latin typeface="Calibri"/>
              </a:rPr>
              <a:t>D-MART — SOUTH-2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708321" y="7599903"/>
            <a:ext cx="2625397" cy="15588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78"/>
          </a:p>
        </p:txBody>
      </p:sp>
      <p:pic>
        <p:nvPicPr>
          <p:cNvPr id="38" name="Picture 37" descr="JC_June2026_s10_p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9166" y="7671607"/>
            <a:ext cx="1803708" cy="2404943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3708321" y="10124648"/>
            <a:ext cx="2625397" cy="49702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78"/>
          </a:p>
        </p:txBody>
      </p:sp>
      <p:sp>
        <p:nvSpPr>
          <p:cNvPr id="40" name="TextBox 39"/>
          <p:cNvSpPr txBox="1"/>
          <p:nvPr/>
        </p:nvSpPr>
        <p:spPr>
          <a:xfrm>
            <a:off x="3788486" y="10172748"/>
            <a:ext cx="2465067" cy="1146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5" b="1" dirty="0">
                <a:solidFill>
                  <a:srgbClr val="1E2761"/>
                </a:solidFill>
                <a:latin typeface="Calibri"/>
              </a:rPr>
              <a:t>D-Mart | Bengaluru | BOGO Bin Display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88486" y="10365143"/>
            <a:ext cx="2465067" cy="210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4">
                <a:solidFill>
                  <a:srgbClr val="404040"/>
                </a:solidFill>
                <a:latin typeface="Calibri"/>
              </a:rPr>
              <a:t>Derma Co. Hyaluronic Sunscreen bin (geotagged 4-Jun-2026), paired with a Neutrogena combo crate.</a:t>
            </a:r>
          </a:p>
        </p:txBody>
      </p:sp>
      <p:sp>
        <p:nvSpPr>
          <p:cNvPr id="2" name="Text 0"/>
          <p:cNvSpPr/>
          <p:nvPr/>
        </p:nvSpPr>
        <p:spPr>
          <a:xfrm>
            <a:off x="-17844" y="-14471"/>
            <a:ext cx="7580694" cy="454996"/>
          </a:xfrm>
          <a:prstGeom prst="rect">
            <a:avLst/>
          </a:prstGeom>
          <a:solidFill>
            <a:srgbClr val="2D9B7F"/>
          </a:solidFill>
          <a:ln/>
        </p:spPr>
        <p:txBody>
          <a:bodyPr wrap="square" lIns="0" tIns="0" rIns="0" bIns="0" rtlCol="0" anchor="t"/>
          <a:lstStyle/>
          <a:p>
            <a:pPr algn="ctr"/>
            <a:r>
              <a:rPr lang="en-US" sz="24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OFFTAKE PERFORMANCE REPORT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-17844" y="417740"/>
            <a:ext cx="7580694" cy="3077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5A85"/>
                </a:solidFill>
                <a:latin typeface="Calibri"/>
              </a:rPr>
              <a:t>FSN (EB2B) ZONE DEEP DIVE — MAY'26</a:t>
            </a:r>
            <a:endParaRPr lang="en-US" sz="1600" b="1" dirty="0">
              <a:latin typeface="+mj-l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75246" y="0"/>
            <a:ext cx="6012359" cy="841730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78"/>
          </a:p>
        </p:txBody>
      </p:sp>
      <p:sp>
        <p:nvSpPr>
          <p:cNvPr id="3" name="Rectangle 2"/>
          <p:cNvSpPr/>
          <p:nvPr/>
        </p:nvSpPr>
        <p:spPr>
          <a:xfrm>
            <a:off x="775246" y="812782"/>
            <a:ext cx="6012359" cy="28948"/>
          </a:xfrm>
          <a:prstGeom prst="rect">
            <a:avLst/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78"/>
          </a:p>
        </p:txBody>
      </p:sp>
      <p:sp>
        <p:nvSpPr>
          <p:cNvPr id="4" name="TextBox 3"/>
          <p:cNvSpPr txBox="1"/>
          <p:nvPr/>
        </p:nvSpPr>
        <p:spPr>
          <a:xfrm>
            <a:off x="1095905" y="160330"/>
            <a:ext cx="5371040" cy="61484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90" b="1">
                <a:solidFill>
                  <a:srgbClr val="FFFFFF"/>
                </a:solidFill>
                <a:latin typeface="Calibri"/>
              </a:rPr>
              <a:t>Chain-wise Execution Showcase</a:t>
            </a:r>
          </a:p>
          <a:p>
            <a:pPr>
              <a:spcBef>
                <a:spcPts val="263"/>
              </a:spcBef>
            </a:pPr>
            <a:r>
              <a:rPr sz="877">
                <a:solidFill>
                  <a:srgbClr val="CADCFC"/>
                </a:solidFill>
                <a:latin typeface="Calibri"/>
              </a:rPr>
              <a:t>One best-in-class execution image per chain — curated to avoid repetition</a:t>
            </a:r>
          </a:p>
          <a:p>
            <a:pPr>
              <a:spcBef>
                <a:spcPts val="438"/>
              </a:spcBef>
            </a:pPr>
            <a:r>
              <a:rPr sz="745" b="1">
                <a:solidFill>
                  <a:srgbClr val="CADCFC"/>
                </a:solidFill>
                <a:latin typeface="Calibri"/>
              </a:rPr>
              <a:t>FIELD CAPTURES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5905" y="1186439"/>
            <a:ext cx="2625397" cy="15588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78"/>
          </a:p>
        </p:txBody>
      </p:sp>
      <p:sp>
        <p:nvSpPr>
          <p:cNvPr id="12" name="Rectangle 11"/>
          <p:cNvSpPr/>
          <p:nvPr/>
        </p:nvSpPr>
        <p:spPr>
          <a:xfrm>
            <a:off x="3841548" y="1186439"/>
            <a:ext cx="2625397" cy="15588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78"/>
          </a:p>
        </p:txBody>
      </p:sp>
      <p:sp>
        <p:nvSpPr>
          <p:cNvPr id="30" name="TextBox 29"/>
          <p:cNvSpPr txBox="1"/>
          <p:nvPr/>
        </p:nvSpPr>
        <p:spPr>
          <a:xfrm>
            <a:off x="1095905" y="10447876"/>
            <a:ext cx="5050381" cy="945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14">
                <a:solidFill>
                  <a:srgbClr val="595959"/>
                </a:solidFill>
                <a:latin typeface="Calibri"/>
              </a:rPr>
              <a:t>MT Offtake Performance Review  |  May'26  |  Honasa Consumer Limited — Internal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6533" y="10447876"/>
            <a:ext cx="280577" cy="945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14">
                <a:solidFill>
                  <a:srgbClr val="595959"/>
                </a:solidFill>
                <a:latin typeface="Calibri"/>
              </a:rPr>
              <a:t>22</a:t>
            </a:r>
          </a:p>
        </p:txBody>
      </p:sp>
      <p:sp>
        <p:nvSpPr>
          <p:cNvPr id="81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15 /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 txBox="1"/>
          <p:nvPr/>
        </p:nvSpPr>
        <p:spPr>
          <a:xfrm>
            <a:off x="274320" y="228600"/>
            <a:ext cx="701421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lang="en-US" sz="2000" b="1">
                <a:solidFill>
                  <a:srgbClr val="2D9B7F"/>
                </a:solidFill>
                <a:latin typeface="Calibri"/>
              </a:rPr>
              <a:t>West Bengal &amp; Derma Range – Execution Snapshot</a:t>
            </a:r>
          </a:p>
        </p:txBody>
      </p:sp>
      <p:sp>
        <p:nvSpPr>
          <p:cNvPr id="101" name="Rule"/>
          <p:cNvSpPr/>
          <p:nvPr/>
        </p:nvSpPr>
        <p:spPr>
          <a:xfrm>
            <a:off x="274320" y="749808"/>
            <a:ext cx="7014210" cy="26000"/>
          </a:xfrm>
          <a:prstGeom prst="rect">
            <a:avLst/>
          </a:prstGeom>
          <a:solidFill>
            <a:srgbClr val="2D9B7F"/>
          </a:solidFill>
        </p:spPr>
        <p:txBody>
          <a:bodyPr/>
          <a:lstStyle/>
          <a:p>
            <a:endParaRPr/>
          </a:p>
        </p:txBody>
      </p:sp>
      <p:pic>
        <p:nvPicPr>
          <p:cNvPr id="102" name="Pic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6796" y="879808"/>
            <a:ext cx="2749257" cy="2785303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3" name="Cap0"/>
          <p:cNvSpPr txBox="1"/>
          <p:nvPr/>
        </p:nvSpPr>
        <p:spPr>
          <a:xfrm>
            <a:off x="344320" y="3700111"/>
            <a:ext cx="6874210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1000">
                <a:solidFill>
                  <a:srgbClr val="1F2933"/>
                </a:solidFill>
                <a:latin typeface="Calibri"/>
              </a:rPr>
              <a:t>Apollo Pharmacy — Skincare aisle, West Bengal</a:t>
            </a:r>
          </a:p>
        </p:txBody>
      </p:sp>
      <p:pic>
        <p:nvPicPr>
          <p:cNvPr id="104" name="Pic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6796" y="4005111"/>
            <a:ext cx="2749257" cy="2785303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5" name="Cap1"/>
          <p:cNvSpPr txBox="1"/>
          <p:nvPr/>
        </p:nvSpPr>
        <p:spPr>
          <a:xfrm>
            <a:off x="344320" y="6825414"/>
            <a:ext cx="6874210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1000">
                <a:solidFill>
                  <a:srgbClr val="1F2933"/>
                </a:solidFill>
                <a:latin typeface="Calibri"/>
              </a:rPr>
              <a:t>Mamaearth DermaSoft FSU — Apollo, West Bengal</a:t>
            </a:r>
          </a:p>
        </p:txBody>
      </p:sp>
      <p:pic>
        <p:nvPicPr>
          <p:cNvPr id="106" name="Pic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6796" y="7130414"/>
            <a:ext cx="2749257" cy="2785303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7" name="Cap2"/>
          <p:cNvSpPr txBox="1"/>
          <p:nvPr/>
        </p:nvSpPr>
        <p:spPr>
          <a:xfrm>
            <a:off x="344320" y="9950717"/>
            <a:ext cx="6874210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1000">
                <a:solidFill>
                  <a:srgbClr val="1F2933"/>
                </a:solidFill>
                <a:latin typeface="Calibri"/>
              </a:rPr>
              <a:t>Mamaearth DermaSoft counter display — West Bengal</a:t>
            </a:r>
          </a:p>
        </p:txBody>
      </p:sp>
      <p:sp>
        <p:nvSpPr>
          <p:cNvPr id="108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16 /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 txBox="1"/>
          <p:nvPr/>
        </p:nvSpPr>
        <p:spPr>
          <a:xfrm>
            <a:off x="274320" y="228600"/>
            <a:ext cx="701421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lang="en-US" sz="2000" b="1">
                <a:solidFill>
                  <a:srgbClr val="2D9B7F"/>
                </a:solidFill>
                <a:latin typeface="Calibri"/>
              </a:rPr>
              <a:t>Gujarat Region – Execution Snapshot</a:t>
            </a:r>
          </a:p>
        </p:txBody>
      </p:sp>
      <p:sp>
        <p:nvSpPr>
          <p:cNvPr id="101" name="Rule"/>
          <p:cNvSpPr/>
          <p:nvPr/>
        </p:nvSpPr>
        <p:spPr>
          <a:xfrm>
            <a:off x="274320" y="749808"/>
            <a:ext cx="7014210" cy="26000"/>
          </a:xfrm>
          <a:prstGeom prst="rect">
            <a:avLst/>
          </a:prstGeom>
          <a:solidFill>
            <a:srgbClr val="2D9B7F"/>
          </a:solidFill>
        </p:spPr>
        <p:txBody>
          <a:bodyPr/>
          <a:lstStyle/>
          <a:p>
            <a:endParaRPr/>
          </a:p>
        </p:txBody>
      </p:sp>
      <p:pic>
        <p:nvPicPr>
          <p:cNvPr id="102" name="Pic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147" y="84480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3" name="Cap0"/>
          <p:cNvSpPr txBox="1"/>
          <p:nvPr/>
        </p:nvSpPr>
        <p:spPr>
          <a:xfrm>
            <a:off x="329320" y="369427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Gujarat Region Execution May 26</a:t>
            </a:r>
          </a:p>
        </p:txBody>
      </p:sp>
      <p:pic>
        <p:nvPicPr>
          <p:cNvPr id="104" name="Pic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2252" y="84480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5" name="Cap1"/>
          <p:cNvSpPr txBox="1"/>
          <p:nvPr/>
        </p:nvSpPr>
        <p:spPr>
          <a:xfrm>
            <a:off x="3836425" y="369427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Ganesh Khengre ROM May-26</a:t>
            </a:r>
          </a:p>
        </p:txBody>
      </p:sp>
      <p:pic>
        <p:nvPicPr>
          <p:cNvPr id="106" name="Pic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147" y="397677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7" name="Cap2"/>
          <p:cNvSpPr txBox="1"/>
          <p:nvPr/>
        </p:nvSpPr>
        <p:spPr>
          <a:xfrm>
            <a:off x="329320" y="682624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Ganesh Khengre ROM May-26</a:t>
            </a:r>
          </a:p>
        </p:txBody>
      </p:sp>
      <p:pic>
        <p:nvPicPr>
          <p:cNvPr id="108" name="Pic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2252" y="397677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9" name="Cap3"/>
          <p:cNvSpPr txBox="1"/>
          <p:nvPr/>
        </p:nvSpPr>
        <p:spPr>
          <a:xfrm>
            <a:off x="3836425" y="682624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Gujarat Region Execution May 26</a:t>
            </a:r>
          </a:p>
        </p:txBody>
      </p:sp>
      <p:pic>
        <p:nvPicPr>
          <p:cNvPr id="110" name="Pic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147" y="710874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11" name="Cap4"/>
          <p:cNvSpPr txBox="1"/>
          <p:nvPr/>
        </p:nvSpPr>
        <p:spPr>
          <a:xfrm>
            <a:off x="329320" y="995821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Gujarat Region Execution May 26</a:t>
            </a:r>
          </a:p>
        </p:txBody>
      </p:sp>
      <p:pic>
        <p:nvPicPr>
          <p:cNvPr id="112" name="Pic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42252" y="710874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13" name="Cap5"/>
          <p:cNvSpPr txBox="1"/>
          <p:nvPr/>
        </p:nvSpPr>
        <p:spPr>
          <a:xfrm>
            <a:off x="3836425" y="995821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Ganesh Khengre ROM May-26</a:t>
            </a:r>
          </a:p>
        </p:txBody>
      </p:sp>
      <p:sp>
        <p:nvSpPr>
          <p:cNvPr id="114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17 / 21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 txBox="1"/>
          <p:nvPr/>
        </p:nvSpPr>
        <p:spPr>
          <a:xfrm>
            <a:off x="274320" y="228600"/>
            <a:ext cx="701421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lang="en-US" sz="2000" b="1">
                <a:solidFill>
                  <a:srgbClr val="2D9B7F"/>
                </a:solidFill>
                <a:latin typeface="Calibri"/>
              </a:rPr>
              <a:t>JC Review Markets – Execution Snapshot</a:t>
            </a:r>
          </a:p>
        </p:txBody>
      </p:sp>
      <p:sp>
        <p:nvSpPr>
          <p:cNvPr id="101" name="Rule"/>
          <p:cNvSpPr/>
          <p:nvPr/>
        </p:nvSpPr>
        <p:spPr>
          <a:xfrm>
            <a:off x="274320" y="749808"/>
            <a:ext cx="7014210" cy="26000"/>
          </a:xfrm>
          <a:prstGeom prst="rect">
            <a:avLst/>
          </a:prstGeom>
          <a:solidFill>
            <a:srgbClr val="2D9B7F"/>
          </a:solidFill>
        </p:spPr>
        <p:txBody>
          <a:bodyPr/>
          <a:lstStyle/>
          <a:p>
            <a:endParaRPr/>
          </a:p>
        </p:txBody>
      </p:sp>
      <p:pic>
        <p:nvPicPr>
          <p:cNvPr id="102" name="Pic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147" y="84480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3" name="Cap0"/>
          <p:cNvSpPr txBox="1"/>
          <p:nvPr/>
        </p:nvSpPr>
        <p:spPr>
          <a:xfrm>
            <a:off x="329320" y="369427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JC Meet June 26 Radhika</a:t>
            </a:r>
          </a:p>
        </p:txBody>
      </p:sp>
      <p:pic>
        <p:nvPicPr>
          <p:cNvPr id="104" name="Pic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2252" y="84480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5" name="Cap1"/>
          <p:cNvSpPr txBox="1"/>
          <p:nvPr/>
        </p:nvSpPr>
        <p:spPr>
          <a:xfrm>
            <a:off x="3836425" y="369427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Review May-26</a:t>
            </a:r>
          </a:p>
        </p:txBody>
      </p:sp>
      <p:pic>
        <p:nvPicPr>
          <p:cNvPr id="106" name="Pic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147" y="397677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7" name="Cap2"/>
          <p:cNvSpPr txBox="1"/>
          <p:nvPr/>
        </p:nvSpPr>
        <p:spPr>
          <a:xfrm>
            <a:off x="329320" y="682624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Review May-26</a:t>
            </a:r>
          </a:p>
        </p:txBody>
      </p:sp>
      <p:pic>
        <p:nvPicPr>
          <p:cNvPr id="108" name="Pic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2252" y="397677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9" name="Cap3"/>
          <p:cNvSpPr txBox="1"/>
          <p:nvPr/>
        </p:nvSpPr>
        <p:spPr>
          <a:xfrm>
            <a:off x="3836425" y="682624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JC Meet June 26 Radhika</a:t>
            </a:r>
          </a:p>
        </p:txBody>
      </p:sp>
      <p:pic>
        <p:nvPicPr>
          <p:cNvPr id="110" name="Pic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147" y="710874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11" name="Cap4"/>
          <p:cNvSpPr txBox="1"/>
          <p:nvPr/>
        </p:nvSpPr>
        <p:spPr>
          <a:xfrm>
            <a:off x="329320" y="995821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Review May-26</a:t>
            </a:r>
          </a:p>
        </p:txBody>
      </p:sp>
      <p:pic>
        <p:nvPicPr>
          <p:cNvPr id="112" name="Pic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42252" y="710874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13" name="Cap5"/>
          <p:cNvSpPr txBox="1"/>
          <p:nvPr/>
        </p:nvSpPr>
        <p:spPr>
          <a:xfrm>
            <a:off x="3836425" y="995821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JC Meet June 26 Radhika</a:t>
            </a:r>
          </a:p>
        </p:txBody>
      </p:sp>
      <p:sp>
        <p:nvSpPr>
          <p:cNvPr id="114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18 / 21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 txBox="1"/>
          <p:nvPr/>
        </p:nvSpPr>
        <p:spPr>
          <a:xfrm>
            <a:off x="274320" y="228600"/>
            <a:ext cx="701421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lang="en-US" sz="2000" b="1">
                <a:solidFill>
                  <a:srgbClr val="2D9B7F"/>
                </a:solidFill>
                <a:latin typeface="Calibri"/>
              </a:rPr>
              <a:t>TDC / SIS Delhi NCR – Execution Snapshot</a:t>
            </a:r>
          </a:p>
        </p:txBody>
      </p:sp>
      <p:sp>
        <p:nvSpPr>
          <p:cNvPr id="101" name="Rule"/>
          <p:cNvSpPr/>
          <p:nvPr/>
        </p:nvSpPr>
        <p:spPr>
          <a:xfrm>
            <a:off x="274320" y="749808"/>
            <a:ext cx="7014210" cy="26000"/>
          </a:xfrm>
          <a:prstGeom prst="rect">
            <a:avLst/>
          </a:prstGeom>
          <a:solidFill>
            <a:srgbClr val="2D9B7F"/>
          </a:solidFill>
        </p:spPr>
        <p:txBody>
          <a:bodyPr/>
          <a:lstStyle/>
          <a:p>
            <a:endParaRPr/>
          </a:p>
        </p:txBody>
      </p:sp>
      <p:pic>
        <p:nvPicPr>
          <p:cNvPr id="102" name="Pic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147" y="84480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3" name="Cap0"/>
          <p:cNvSpPr txBox="1"/>
          <p:nvPr/>
        </p:nvSpPr>
        <p:spPr>
          <a:xfrm>
            <a:off x="329320" y="369427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Tdc Sis Delhi Ncr PPT</a:t>
            </a:r>
          </a:p>
        </p:txBody>
      </p:sp>
      <p:pic>
        <p:nvPicPr>
          <p:cNvPr id="104" name="Pic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2252" y="84480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5" name="Cap1"/>
          <p:cNvSpPr txBox="1"/>
          <p:nvPr/>
        </p:nvSpPr>
        <p:spPr>
          <a:xfrm>
            <a:off x="3836425" y="369427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Tdc Sis Delhi Ncr PPT</a:t>
            </a:r>
          </a:p>
        </p:txBody>
      </p:sp>
      <p:pic>
        <p:nvPicPr>
          <p:cNvPr id="106" name="Pic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147" y="397677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7" name="Cap2"/>
          <p:cNvSpPr txBox="1"/>
          <p:nvPr/>
        </p:nvSpPr>
        <p:spPr>
          <a:xfrm>
            <a:off x="329320" y="682624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Tdc Sis Delhi Ncr PPT</a:t>
            </a:r>
          </a:p>
        </p:txBody>
      </p:sp>
      <p:pic>
        <p:nvPicPr>
          <p:cNvPr id="108" name="Pic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2252" y="397677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9" name="Cap3"/>
          <p:cNvSpPr txBox="1"/>
          <p:nvPr/>
        </p:nvSpPr>
        <p:spPr>
          <a:xfrm>
            <a:off x="3836425" y="682624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Tdc Sis Delhi Ncr PPT</a:t>
            </a:r>
          </a:p>
        </p:txBody>
      </p:sp>
      <p:pic>
        <p:nvPicPr>
          <p:cNvPr id="110" name="Pic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147" y="710874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11" name="Cap4"/>
          <p:cNvSpPr txBox="1"/>
          <p:nvPr/>
        </p:nvSpPr>
        <p:spPr>
          <a:xfrm>
            <a:off x="329320" y="995821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Tdc Sis Delhi Ncr PPT</a:t>
            </a:r>
          </a:p>
        </p:txBody>
      </p:sp>
      <p:pic>
        <p:nvPicPr>
          <p:cNvPr id="112" name="Pic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42252" y="710874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13" name="Cap5"/>
          <p:cNvSpPr txBox="1"/>
          <p:nvPr/>
        </p:nvSpPr>
        <p:spPr>
          <a:xfrm>
            <a:off x="3836425" y="995821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Tdc Sis Delhi Ncr PPT</a:t>
            </a:r>
          </a:p>
        </p:txBody>
      </p:sp>
      <p:sp>
        <p:nvSpPr>
          <p:cNvPr id="114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19 / 21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 txBox="1"/>
          <p:nvPr/>
        </p:nvSpPr>
        <p:spPr>
          <a:xfrm>
            <a:off x="274320" y="228600"/>
            <a:ext cx="701421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lang="en-US" sz="2000" b="1">
                <a:solidFill>
                  <a:srgbClr val="2D9B7F"/>
                </a:solidFill>
                <a:latin typeface="Calibri"/>
              </a:rPr>
              <a:t>Stock Depth &amp; Article Range Across Outlets</a:t>
            </a:r>
          </a:p>
        </p:txBody>
      </p:sp>
      <p:sp>
        <p:nvSpPr>
          <p:cNvPr id="101" name="Rule"/>
          <p:cNvSpPr/>
          <p:nvPr/>
        </p:nvSpPr>
        <p:spPr>
          <a:xfrm>
            <a:off x="274320" y="749808"/>
            <a:ext cx="7014210" cy="26000"/>
          </a:xfrm>
          <a:prstGeom prst="rect">
            <a:avLst/>
          </a:prstGeom>
          <a:solidFill>
            <a:srgbClr val="2D9B7F"/>
          </a:solidFill>
        </p:spPr>
        <p:txBody>
          <a:bodyPr/>
          <a:lstStyle/>
          <a:p>
            <a:endParaRPr/>
          </a:p>
        </p:txBody>
      </p:sp>
      <p:pic>
        <p:nvPicPr>
          <p:cNvPr id="102" name="Pic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147" y="84480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3" name="Cap0"/>
          <p:cNvSpPr txBox="1"/>
          <p:nvPr/>
        </p:nvSpPr>
        <p:spPr>
          <a:xfrm>
            <a:off x="329320" y="369427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PPT For Reveiw 05.06.2026</a:t>
            </a:r>
          </a:p>
        </p:txBody>
      </p:sp>
      <p:pic>
        <p:nvPicPr>
          <p:cNvPr id="104" name="Pic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2252" y="84480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5" name="Cap1"/>
          <p:cNvSpPr txBox="1"/>
          <p:nvPr/>
        </p:nvSpPr>
        <p:spPr>
          <a:xfrm>
            <a:off x="3836425" y="369427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PPT For Reveiw 05.06.2026</a:t>
            </a:r>
          </a:p>
        </p:txBody>
      </p:sp>
      <p:pic>
        <p:nvPicPr>
          <p:cNvPr id="106" name="Pic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147" y="397677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7" name="Cap2"/>
          <p:cNvSpPr txBox="1"/>
          <p:nvPr/>
        </p:nvSpPr>
        <p:spPr>
          <a:xfrm>
            <a:off x="329320" y="682624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PPT For Reveiw 05.06.2026</a:t>
            </a:r>
          </a:p>
        </p:txBody>
      </p:sp>
      <p:pic>
        <p:nvPicPr>
          <p:cNvPr id="108" name="Pic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2252" y="397677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9" name="Cap3"/>
          <p:cNvSpPr txBox="1"/>
          <p:nvPr/>
        </p:nvSpPr>
        <p:spPr>
          <a:xfrm>
            <a:off x="3836425" y="682624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May 26 JC Review PPT Chakri</a:t>
            </a:r>
          </a:p>
        </p:txBody>
      </p:sp>
      <p:pic>
        <p:nvPicPr>
          <p:cNvPr id="110" name="Pic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147" y="710874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11" name="Cap4"/>
          <p:cNvSpPr txBox="1"/>
          <p:nvPr/>
        </p:nvSpPr>
        <p:spPr>
          <a:xfrm>
            <a:off x="329320" y="995821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SUMO SAVE DISPLAY</a:t>
            </a:r>
          </a:p>
        </p:txBody>
      </p:sp>
      <p:pic>
        <p:nvPicPr>
          <p:cNvPr id="112" name="Pic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42252" y="710874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13" name="Cap5"/>
          <p:cNvSpPr txBox="1"/>
          <p:nvPr/>
        </p:nvSpPr>
        <p:spPr>
          <a:xfrm>
            <a:off x="3836425" y="995821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Review May-26</a:t>
            </a:r>
          </a:p>
        </p:txBody>
      </p:sp>
      <p:sp>
        <p:nvSpPr>
          <p:cNvPr id="114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20 / 21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 txBox="1"/>
          <p:nvPr/>
        </p:nvSpPr>
        <p:spPr>
          <a:xfrm>
            <a:off x="274320" y="228600"/>
            <a:ext cx="701421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lang="en-US" sz="2000" b="1">
                <a:solidFill>
                  <a:srgbClr val="2D9B7F"/>
                </a:solidFill>
                <a:latin typeface="Calibri"/>
              </a:rPr>
              <a:t>SOS / SOA – Honasa Portfolio Visibility</a:t>
            </a:r>
          </a:p>
        </p:txBody>
      </p:sp>
      <p:sp>
        <p:nvSpPr>
          <p:cNvPr id="101" name="Rule"/>
          <p:cNvSpPr/>
          <p:nvPr/>
        </p:nvSpPr>
        <p:spPr>
          <a:xfrm>
            <a:off x="274320" y="749808"/>
            <a:ext cx="7014210" cy="26000"/>
          </a:xfrm>
          <a:prstGeom prst="rect">
            <a:avLst/>
          </a:prstGeom>
          <a:solidFill>
            <a:srgbClr val="2D9B7F"/>
          </a:solidFill>
        </p:spPr>
        <p:txBody>
          <a:bodyPr/>
          <a:lstStyle/>
          <a:p>
            <a:endParaRPr/>
          </a:p>
        </p:txBody>
      </p:sp>
      <p:pic>
        <p:nvPicPr>
          <p:cNvPr id="102" name="Pic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320" y="1317964"/>
            <a:ext cx="3397105" cy="3441643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3" name="Cap0"/>
          <p:cNvSpPr txBox="1"/>
          <p:nvPr/>
        </p:nvSpPr>
        <p:spPr>
          <a:xfrm>
            <a:off x="329320" y="5260263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SUMO SAVE DISPLAY</a:t>
            </a:r>
          </a:p>
        </p:txBody>
      </p:sp>
      <p:pic>
        <p:nvPicPr>
          <p:cNvPr id="104" name="Pic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6425" y="1317964"/>
            <a:ext cx="3397105" cy="3441643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5" name="Cap1"/>
          <p:cNvSpPr txBox="1"/>
          <p:nvPr/>
        </p:nvSpPr>
        <p:spPr>
          <a:xfrm>
            <a:off x="3836425" y="5260263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SUMO SAVE DISPLAY</a:t>
            </a:r>
          </a:p>
        </p:txBody>
      </p:sp>
      <p:pic>
        <p:nvPicPr>
          <p:cNvPr id="106" name="Pic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320" y="6015919"/>
            <a:ext cx="3397105" cy="3441643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7" name="Cap2"/>
          <p:cNvSpPr txBox="1"/>
          <p:nvPr/>
        </p:nvSpPr>
        <p:spPr>
          <a:xfrm>
            <a:off x="329320" y="995821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SUMO SAVE DISPLAY</a:t>
            </a:r>
          </a:p>
        </p:txBody>
      </p:sp>
      <p:pic>
        <p:nvPicPr>
          <p:cNvPr id="108" name="Pic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6425" y="6015919"/>
            <a:ext cx="3397105" cy="3441643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9" name="Cap3"/>
          <p:cNvSpPr txBox="1"/>
          <p:nvPr/>
        </p:nvSpPr>
        <p:spPr>
          <a:xfrm>
            <a:off x="3836425" y="995821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SUMO SAVE DISPLAY</a:t>
            </a:r>
          </a:p>
        </p:txBody>
      </p:sp>
      <p:sp>
        <p:nvSpPr>
          <p:cNvPr id="110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21 / 21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ChatGPT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Calibri"/>
      <a:ea typeface="Calibri"/>
      <a:cs typeface="Calibri"/>
    </a:majorFont>
    <a:minorFont>
      <a:latin typeface="Calibri"/>
      <a:ea typeface="Calibri"/>
      <a:cs typeface="Calibri"/>
    </a:minorFont>
  </a:fontScheme>
  <a:fmtScheme name="ChatGPT">
    <a:fillStyleLst>
      <a:solidFill>
        <a:schemeClr val="phClr"/>
      </a:solidFill>
      <a:solidFill>
        <a:schemeClr val="dk1"/>
      </a:solidFill>
      <a:solidFill>
        <a:schemeClr val="accent1"/>
      </a:solidFill>
    </a:fillStyleLst>
    <a:lnStyleLst>
      <a:ln w="12700">
        <a:solidFill>
          <a:schemeClr val="phClr"/>
        </a:solidFill>
        <a:prstDash val="solid"/>
      </a:ln>
      <a:ln w="19050">
        <a:solidFill>
          <a:schemeClr val="phClr"/>
        </a:solidFill>
        <a:prstDash val="solid"/>
      </a:ln>
      <a:ln w="25400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>
        <a:gsLst>
          <a:gs pos="0">
            <a:schemeClr val="phClr">
              <a:tint val="93000"/>
              <a:shade val="98000"/>
              <a:lumMod val="102000"/>
              <a:satMod val="150000"/>
            </a:schemeClr>
          </a:gs>
          <a:gs pos="50000">
            <a:schemeClr val="phClr">
              <a:tint val="98000"/>
              <a:shade val="90000"/>
              <a:lumMod val="103000"/>
              <a:satMod val="130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ChatGPT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Calibri"/>
      <a:ea typeface="Calibri"/>
      <a:cs typeface="Calibri"/>
    </a:majorFont>
    <a:minorFont>
      <a:latin typeface="Calibri"/>
      <a:ea typeface="Calibri"/>
      <a:cs typeface="Calibri"/>
    </a:minorFont>
  </a:fontScheme>
  <a:fmtScheme name="ChatGPT">
    <a:fillStyleLst>
      <a:solidFill>
        <a:schemeClr val="phClr"/>
      </a:solidFill>
      <a:solidFill>
        <a:schemeClr val="dk1"/>
      </a:solidFill>
      <a:solidFill>
        <a:schemeClr val="accent1"/>
      </a:solidFill>
    </a:fillStyleLst>
    <a:lnStyleLst>
      <a:ln w="12700">
        <a:solidFill>
          <a:schemeClr val="phClr"/>
        </a:solidFill>
        <a:prstDash val="solid"/>
      </a:ln>
      <a:ln w="19050">
        <a:solidFill>
          <a:schemeClr val="phClr"/>
        </a:solidFill>
        <a:prstDash val="solid"/>
      </a:ln>
      <a:ln w="25400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>
        <a:gsLst>
          <a:gs pos="0">
            <a:schemeClr val="phClr">
              <a:tint val="93000"/>
              <a:shade val="98000"/>
              <a:lumMod val="102000"/>
              <a:satMod val="150000"/>
            </a:schemeClr>
          </a:gs>
          <a:gs pos="50000">
            <a:schemeClr val="phClr">
              <a:tint val="98000"/>
              <a:shade val="90000"/>
              <a:lumMod val="103000"/>
              <a:satMod val="130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ChatGPT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Calibri"/>
      <a:ea typeface="Calibri"/>
      <a:cs typeface="Calibri"/>
    </a:majorFont>
    <a:minorFont>
      <a:latin typeface="Calibri"/>
      <a:ea typeface="Calibri"/>
      <a:cs typeface="Calibri"/>
    </a:minorFont>
  </a:fontScheme>
  <a:fmtScheme name="ChatGPT">
    <a:fillStyleLst>
      <a:solidFill>
        <a:schemeClr val="phClr"/>
      </a:solidFill>
      <a:solidFill>
        <a:schemeClr val="dk1"/>
      </a:solidFill>
      <a:solidFill>
        <a:schemeClr val="accent1"/>
      </a:solidFill>
    </a:fillStyleLst>
    <a:lnStyleLst>
      <a:ln w="12700">
        <a:solidFill>
          <a:schemeClr val="phClr"/>
        </a:solidFill>
        <a:prstDash val="solid"/>
      </a:ln>
      <a:ln w="19050">
        <a:solidFill>
          <a:schemeClr val="phClr"/>
        </a:solidFill>
        <a:prstDash val="solid"/>
      </a:ln>
      <a:ln w="25400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>
        <a:gsLst>
          <a:gs pos="0">
            <a:schemeClr val="phClr">
              <a:tint val="93000"/>
              <a:shade val="98000"/>
              <a:lumMod val="102000"/>
              <a:satMod val="150000"/>
            </a:schemeClr>
          </a:gs>
          <a:gs pos="50000">
            <a:schemeClr val="phClr">
              <a:tint val="98000"/>
              <a:shade val="90000"/>
              <a:lumMod val="103000"/>
              <a:satMod val="130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</a:majorFont>
    <a:minorFont>
      <a:latin typeface="Calibri" panose="020F0502020204030204"/>
      <a:ea typeface=""/>
      <a:cs typeface=""/>
    </a:minorFont>
  </a:fontScheme>
  <a:fmtScheme>
    <a:fillStyleLst>
      <a:solidFill>
        <a:schemeClr val="phClr"/>
      </a:solidFill>
      <a:gradFill>
        <a:gsLst>
          <a:gs pos="0">
            <a:schemeClr val="phClr">
              <a:lumMod val="110000"/>
              <a:tint val="67000"/>
            </a:schemeClr>
          </a:gs>
          <a:gs pos="50000">
            <a:schemeClr val="phClr">
              <a:lumMod val="105000"/>
              <a:tint val="73000"/>
            </a:schemeClr>
          </a:gs>
          <a:gs pos="100000">
            <a:schemeClr val="phClr">
              <a:lumMod val="105000"/>
              <a:tint val="81000"/>
            </a:schemeClr>
          </a:gs>
        </a:gsLst>
        <a:lin ang="5400000" scaled="0"/>
        <a:tileRect/>
      </a:gradFill>
      <a:gradFill>
        <a:gsLst>
          <a:gs pos="0">
            <a:schemeClr val="phClr">
              <a:lumMod val="102000"/>
              <a:tint val="94000"/>
            </a:schemeClr>
          </a:gs>
          <a:gs pos="50000">
            <a:schemeClr val="phClr">
              <a:lumMod val="100000"/>
              <a:shade val="100000"/>
            </a:schemeClr>
          </a:gs>
          <a:gs pos="100000">
            <a:schemeClr val="phClr">
              <a:lumMod val="99000"/>
              <a:shade val="78000"/>
            </a:schemeClr>
          </a:gs>
        </a:gsLst>
        <a:lin ang="5400000" scaled="0"/>
        <a:tileRect/>
      </a:gradFill>
    </a:fillStyleLst>
    <a:lnStyleLst>
      <a:ln w="6350" cap="flat" cmpd="sng" algn="ctr">
        <a:prstDash val="solid"/>
        <a:miter lim="800000"/>
      </a:ln>
      <a:ln w="12700" cap="flat" cmpd="sng" algn="ctr">
        <a:prstDash val="solid"/>
        <a:miter lim="800000"/>
      </a:ln>
      <a:ln w="19050" cap="flat" cmpd="sng" algn="ctr"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/>
      </a:effectStyle>
    </a:effectStyleLst>
    <a:bgFillStyleLst>
      <a:solidFill>
        <a:schemeClr val="phClr"/>
      </a:solidFill>
      <a:solidFill>
        <a:schemeClr val="phClr">
          <a:tint val="95000"/>
        </a:schemeClr>
      </a:solidFill>
      <a:gradFill>
        <a:gsLst>
          <a:gs pos="0">
            <a:schemeClr val="phClr">
              <a:tint val="93000"/>
              <a:shade val="98000"/>
              <a:lumMod val="102000"/>
            </a:schemeClr>
          </a:gs>
          <a:gs pos="50000">
            <a:schemeClr val="phClr">
              <a:tint val="98000"/>
              <a:shade val="90000"/>
              <a:lumMod val="103000"/>
            </a:schemeClr>
          </a:gs>
          <a:gs pos="100000">
            <a:schemeClr val="phClr">
              <a:shade val="63000"/>
            </a:schemeClr>
          </a:gs>
        </a:gsLst>
        <a:lin ang="5400000" scaled="0"/>
        <a:tileRect/>
      </a:gradFill>
    </a:bgFillStyleLst>
  </a:fmtScheme>
</a:themeOverride>
</file>

<file path=ppt/theme/themeOverride6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</a:majorFont>
    <a:minorFont>
      <a:latin typeface="Calibri" panose="020F0502020204030204"/>
      <a:ea typeface=""/>
      <a:cs typeface=""/>
    </a:minorFont>
  </a:fontScheme>
  <a:fmtScheme>
    <a:fillStyleLst>
      <a:solidFill>
        <a:schemeClr val="phClr"/>
      </a:solidFill>
      <a:gradFill>
        <a:gsLst>
          <a:gs pos="0">
            <a:schemeClr val="phClr">
              <a:lumMod val="110000"/>
              <a:tint val="67000"/>
            </a:schemeClr>
          </a:gs>
          <a:gs pos="50000">
            <a:schemeClr val="phClr">
              <a:lumMod val="105000"/>
              <a:tint val="73000"/>
            </a:schemeClr>
          </a:gs>
          <a:gs pos="100000">
            <a:schemeClr val="phClr">
              <a:lumMod val="105000"/>
              <a:tint val="81000"/>
            </a:schemeClr>
          </a:gs>
        </a:gsLst>
        <a:lin ang="5400000" scaled="0"/>
        <a:tileRect/>
      </a:gradFill>
      <a:gradFill>
        <a:gsLst>
          <a:gs pos="0">
            <a:schemeClr val="phClr">
              <a:lumMod val="102000"/>
              <a:tint val="94000"/>
            </a:schemeClr>
          </a:gs>
          <a:gs pos="50000">
            <a:schemeClr val="phClr">
              <a:lumMod val="100000"/>
              <a:shade val="100000"/>
            </a:schemeClr>
          </a:gs>
          <a:gs pos="100000">
            <a:schemeClr val="phClr">
              <a:lumMod val="99000"/>
              <a:shade val="78000"/>
            </a:schemeClr>
          </a:gs>
        </a:gsLst>
        <a:lin ang="5400000" scaled="0"/>
        <a:tileRect/>
      </a:gradFill>
    </a:fillStyleLst>
    <a:lnStyleLst>
      <a:ln w="6350" cap="flat" cmpd="sng" algn="ctr">
        <a:prstDash val="solid"/>
        <a:miter lim="800000"/>
      </a:ln>
      <a:ln w="12700" cap="flat" cmpd="sng" algn="ctr">
        <a:prstDash val="solid"/>
        <a:miter lim="800000"/>
      </a:ln>
      <a:ln w="19050" cap="flat" cmpd="sng" algn="ctr"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/>
      </a:effectStyle>
    </a:effectStyleLst>
    <a:bgFillStyleLst>
      <a:solidFill>
        <a:schemeClr val="phClr"/>
      </a:solidFill>
      <a:solidFill>
        <a:schemeClr val="phClr">
          <a:tint val="95000"/>
        </a:schemeClr>
      </a:solidFill>
      <a:gradFill>
        <a:gsLst>
          <a:gs pos="0">
            <a:schemeClr val="phClr">
              <a:tint val="93000"/>
              <a:shade val="98000"/>
              <a:lumMod val="102000"/>
            </a:schemeClr>
          </a:gs>
          <a:gs pos="50000">
            <a:schemeClr val="phClr">
              <a:tint val="98000"/>
              <a:shade val="90000"/>
              <a:lumMod val="103000"/>
            </a:schemeClr>
          </a:gs>
          <a:gs pos="100000">
            <a:schemeClr val="phClr">
              <a:shade val="63000"/>
            </a:schemeClr>
          </a:gs>
        </a:gsLst>
        <a:lin ang="5400000" scaled="0"/>
        <a:tileRect/>
      </a:gradFill>
    </a:bgFillStyleLst>
  </a:fmtScheme>
</a:themeOverrid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250B6C4-5EBD-4264-AAD9-BB7370E2CAF1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9bc1b8ae-cf64-4a9a-a118-f38019ee018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24409</TotalTime>
  <Words>7386</Words>
  <Application>Microsoft Office PowerPoint</Application>
  <PresentationFormat>Custom</PresentationFormat>
  <Paragraphs>2440</Paragraphs>
  <Slides>23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Arial MT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MT Offtake Performance Report - May 2026</dc:title>
  <dc:subject>Corrected arrow colour formatting and PDF export</dc:subject>
  <dc:creator>OpenAI</dc:creator>
  <cp:lastModifiedBy>Sheshant  Singh Aswal</cp:lastModifiedBy>
  <cp:revision>55</cp:revision>
  <dcterms:created xsi:type="dcterms:W3CDTF">2026-06-21T08:36:32Z</dcterms:created>
  <dcterms:modified xsi:type="dcterms:W3CDTF">2026-07-22T12:12:30Z</dcterms:modified>
</cp:coreProperties>
</file>