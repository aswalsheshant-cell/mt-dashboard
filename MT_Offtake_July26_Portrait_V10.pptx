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29260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54864" cy="6217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56032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</a:rPr>
              <a:t>HONASA CONSUMER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6309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MODERN TRADE
GROWTH COMMAND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1168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B8C8"/>
                </a:solidFill>
              </a:rPr>
              <a:t>Primary · Offtake · Portfolio · Execution · Market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5059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JULY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200400"/>
            <a:ext cx="1920240" cy="96012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32369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TOTAL OFFTAKE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4198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₹36.1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37673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July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3200400"/>
            <a:ext cx="1920240" cy="96012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95727" y="32369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TOTAL PRIMARY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7" y="34198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₹49.2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7" y="37673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July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200400"/>
            <a:ext cx="2194560" cy="96012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32369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CONVERSION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341985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70.5%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3767328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Primary→Offtake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343400"/>
            <a:ext cx="1920240" cy="96012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43799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MT MARKET SHARE (FW)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" y="45628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10.5%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49103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#4 · +3.1 pp YoY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4343400"/>
            <a:ext cx="1920240" cy="96012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95727" y="43799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MT MARKET SHARE (SH)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5727" y="45628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3.7%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5727" y="49103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#7 · +1.2 pp YoY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4343400"/>
            <a:ext cx="2194560" cy="96012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3128" y="43799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NPI CONTRIBUTION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456285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₹2.82 Cr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3128" y="4910328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7.82% of sales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8046720"/>
            <a:ext cx="6858000" cy="10972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8183879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DATA DOESN'T LIE. GAPS DO. CLOSE THEM. GROW PROFITABLY.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8705088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A0B8C8"/>
                </a:solidFill>
              </a:rPr>
              <a:t>Source: pipeline v2.4.0 · Nielsen RMS Jun-26 · 2026-08-19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MAMAEARTH GAINING SHARE — CLOSE THESE 8 GAPS TO ACCELERATE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0B8C8"/>
                </a:solidFill>
              </a:rPr>
              <a:t>June 2026 market share | Nielsen RMS | value share · FMCG Gap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530352"/>
            <a:ext cx="6309360" cy="228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40080"/>
            <a:ext cx="2011680" cy="105156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766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B8C8"/>
                </a:solidFill>
              </a:rPr>
              <a:t>Face Wash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8595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700"/>
                </a:solidFill>
              </a:rPr>
              <a:t>10.5%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252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#4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22529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CC71"/>
                </a:solidFill>
              </a:rPr>
              <a:t>+3.1 pp 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44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WD 89.0%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640080"/>
            <a:ext cx="2011680" cy="105156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6766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B8C8"/>
                </a:solidFill>
              </a:rPr>
              <a:t>Shampoo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8595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7A589"/>
                </a:solidFill>
              </a:rPr>
              <a:t>3.7%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12252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#7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122529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CC71"/>
                </a:solidFill>
              </a:rPr>
              <a:t>+1.2 pp YoY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1444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WD 81.5%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640080"/>
            <a:ext cx="2011680" cy="105156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6766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B8C8"/>
                </a:solidFill>
              </a:rPr>
              <a:t>TDC FW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8595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E44AD"/>
                </a:solidFill>
              </a:rPr>
              <a:t>0.4%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12252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122529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CC71"/>
                </a:solidFill>
              </a:rPr>
              <a:t>+0.3 pp YoY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1444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WD 27.3%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828800"/>
            <a:ext cx="6309360" cy="27432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1865376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39C12"/>
                </a:solidFill>
              </a:rPr>
              <a:t>⚠  PACK GAPS: Face Wash 7/16 established (7 missing) · Shampoo 3/16 established (12 missing · 66% of category value)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2176272"/>
            <a:ext cx="6309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700"/>
                </a:solidFill>
              </a:rPr>
              <a:t>8 CORE MARKET GAPS — WHERE TO CLOSE THE CONVERSION DEFICIT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359152"/>
            <a:ext cx="6309360" cy="109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2423160"/>
            <a:ext cx="1508760" cy="9144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2468879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D700"/>
                </a:solidFill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MARKET &amp;
CONSUMER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" y="299008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A0B8C8"/>
                </a:solidFill>
              </a:rPr>
              <a:t>Unmet needs,
occ, price sens.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56231" y="2423160"/>
            <a:ext cx="1508760" cy="9144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9384" y="2468879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D700"/>
                </a:solidFill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9384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DISTRIBUTION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9384" y="299008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A0B8C8"/>
                </a:solidFill>
              </a:rPr>
              <a:t>White spaces,
low numeric WD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38144" y="2423160"/>
            <a:ext cx="1508760" cy="914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11296" y="2468879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D700"/>
                </a:solidFill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11296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ASSORTMENT
(SKU)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11296" y="299008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A0B8C8"/>
                </a:solidFill>
              </a:rPr>
              <a:t>Missing must-sell
SKUs, low depth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0055" y="2423160"/>
            <a:ext cx="1508760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93207" y="2468879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D700"/>
                </a:solidFill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93207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AVAILABILITY
(OSA)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93207" y="299008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A0B8C8"/>
                </a:solidFill>
              </a:rPr>
              <a:t>Stock-outs, low
fill rate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429000"/>
            <a:ext cx="1508760" cy="9144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34747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D700"/>
                </a:solidFill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VISIBILITY
GAP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" y="399592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A0B8C8"/>
                </a:solidFill>
              </a:rPr>
              <a:t>Low SOS/SOD,
poor planogram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56231" y="3429000"/>
            <a:ext cx="1508760" cy="91440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29384" y="34747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D700"/>
                </a:solidFill>
              </a:rPr>
              <a:t>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29384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PRICE &amp; PROMO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29384" y="399592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A0B8C8"/>
                </a:solidFill>
              </a:rPr>
              <a:t>Mis-match, promo
leakage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38144" y="3429000"/>
            <a:ext cx="1508760" cy="9144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11296" y="34747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D700"/>
                </a:solidFill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11296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EXECUTION &amp;
SERVICE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11296" y="399592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A0B8C8"/>
                </a:solidFill>
              </a:rPr>
              <a:t>Low beat prod.,
range selling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0055" y="3429000"/>
            <a:ext cx="1508760" cy="9144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93207" y="34747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D700"/>
                </a:solidFill>
              </a:rPr>
              <a:t>08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93207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PROFITABILITY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93207" y="399592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A0B8C8"/>
                </a:solidFill>
              </a:rPr>
              <a:t>Low retailer P&amp;L,
high cost-to-serve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" y="4480560"/>
            <a:ext cx="6309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700"/>
                </a:solidFill>
              </a:rPr>
              <a:t>HONASA PRIORITY GAPS (JULY 2026)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663440"/>
            <a:ext cx="6309360" cy="109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74320" y="4663440"/>
            <a:ext cx="1207008" cy="6858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8328" y="46908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74C3C"/>
                </a:solidFill>
              </a:rPr>
              <a:t>OSA · AVL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8" y="4892040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A0B8C8"/>
                </a:solidFill>
              </a:rPr>
              <a:t>North+East
stockout risk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54480" y="4663440"/>
            <a:ext cx="1207008" cy="6858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618488" y="46908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39C12"/>
                </a:solidFill>
              </a:rPr>
              <a:t>VISIBILITY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18488" y="4892040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A0B8C8"/>
                </a:solidFill>
              </a:rPr>
              <a:t>Shampoo SOS
below planogram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34639" y="4663440"/>
            <a:ext cx="1207008" cy="6858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98647" y="46908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39C12"/>
                </a:solidFill>
              </a:rPr>
              <a:t>DISTRIB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98647" y="4892040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A0B8C8"/>
                </a:solidFill>
              </a:rPr>
              <a:t>TDC FW WD
27.3% → target 50%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799" y="4663440"/>
            <a:ext cx="1207008" cy="6858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78807" y="46908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74C3C"/>
                </a:solidFill>
              </a:rPr>
              <a:t>PROMO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78807" y="4892040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A0B8C8"/>
                </a:solidFill>
              </a:rPr>
              <a:t>Reliance -15%
promo recalibrate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94959" y="4663440"/>
            <a:ext cx="1207008" cy="6858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58968" y="46908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74C3C"/>
                </a:solidFill>
              </a:rPr>
              <a:t>PROFITAB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58968" y="4892040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A0B8C8"/>
                </a:solidFill>
              </a:rPr>
              <a:t>Metro -20.5%
sales/SKU weak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5440680"/>
            <a:ext cx="6309360" cy="475488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" y="545896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572768" y="5458968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Face Wash #4 (10.5%), Shampoo #7 (3.7%). Pack gaps = 5–66% of value.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5952744"/>
            <a:ext cx="6309360" cy="475488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5760" y="5971031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39C12"/>
                </a:solidFill>
              </a:rPr>
              <a:t>IMPLICATION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72768" y="5971031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Distribution + OSA gaps are the primary conversion drag in North &amp; East.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6464808"/>
            <a:ext cx="6309360" cy="475488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" y="648309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ECC71"/>
                </a:solidFill>
              </a:rPr>
              <a:t>ACTION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72768" y="6483096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Launch 240ml/60ml FW + Shampoo pack pilots in Reliance/DMart by Sep 26.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6976872"/>
            <a:ext cx="6309360" cy="475488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65760" y="699516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A0B8C8"/>
                </a:solidFill>
              </a:rPr>
              <a:t>OWNER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572768" y="6995160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Category Head + NKAM · 31-Aug deadline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" y="8942832"/>
            <a:ext cx="6309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A0B8C8"/>
                </a:solidFill>
              </a:rPr>
              <a:t>Source: pipeline v2.4.0 · Nielsen RMS Jun-26 · Market_Share_By_PackSize_June26.pptx · 2026-08-19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TWO ENGINES FUND THREE URGENT FIX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0B8C8"/>
                </a:solidFill>
              </a:rPr>
              <a:t>Zone portfolio | contribution, conversion and gap | July 2026 | ₹ Cr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530352"/>
            <a:ext cx="6309360" cy="228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685800"/>
            <a:ext cx="6345936" cy="292608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704088"/>
            <a:ext cx="722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D700"/>
                </a:solidFill>
              </a:rPr>
              <a:t>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70408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D700"/>
                </a:solidFill>
              </a:rPr>
              <a:t>PRIMARY
₹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704088"/>
            <a:ext cx="722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D700"/>
                </a:solidFill>
              </a:rPr>
              <a:t>OFFTAKE
₹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8064" y="704088"/>
            <a:ext cx="6035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D700"/>
                </a:solidFill>
              </a:rPr>
              <a:t>MIX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704088"/>
            <a:ext cx="6035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D700"/>
                </a:solidFill>
              </a:rPr>
              <a:t>CONV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7096" y="70408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D700"/>
                </a:solidFill>
              </a:rPr>
              <a:t>GAP
₹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6" y="704088"/>
            <a:ext cx="1133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D700"/>
                </a:solidFill>
              </a:rPr>
              <a:t>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1005840"/>
            <a:ext cx="6345936" cy="566928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" y="1115568"/>
            <a:ext cx="722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1115568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₹10.05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1115568"/>
            <a:ext cx="722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₹8.28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8064" y="1115568"/>
            <a:ext cx="603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B8C8"/>
                </a:solidFill>
              </a:rPr>
              <a:t>22.9%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1115568"/>
            <a:ext cx="603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82.3%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7096" y="1115568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39C12"/>
                </a:solidFill>
              </a:rPr>
              <a:t>₹1.78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6" y="1115568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</a:rPr>
              <a:t>WATCH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1609344"/>
            <a:ext cx="6345936" cy="566928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1719072"/>
            <a:ext cx="722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South-1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1719072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₹9.80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75104" y="1719072"/>
            <a:ext cx="722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₹8.19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8064" y="1719072"/>
            <a:ext cx="603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B8C8"/>
                </a:solidFill>
              </a:rPr>
              <a:t>22.7%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1719072"/>
            <a:ext cx="603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83.6%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97096" y="1719072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39C12"/>
                </a:solidFill>
              </a:rPr>
              <a:t>₹1.61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65776" y="1719072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</a:rPr>
              <a:t>WATCH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" y="2212848"/>
            <a:ext cx="6345936" cy="566928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" y="2322576"/>
            <a:ext cx="722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South-2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2322576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₹6.89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75104" y="2322576"/>
            <a:ext cx="722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₹4.91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98064" y="2322576"/>
            <a:ext cx="603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B8C8"/>
                </a:solidFill>
              </a:rPr>
              <a:t>13.6%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93008" y="2322576"/>
            <a:ext cx="603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</a:rPr>
              <a:t>71.3%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97096" y="2322576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39C12"/>
                </a:solidFill>
              </a:rPr>
              <a:t>₹1.98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65776" y="2322576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39C12"/>
                </a:solidFill>
              </a:rPr>
              <a:t>WATCH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" y="2816352"/>
            <a:ext cx="6345936" cy="566928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" y="2926080"/>
            <a:ext cx="722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Central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" y="2926080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₹2.69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75104" y="2926080"/>
            <a:ext cx="722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₹2.12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98064" y="2926080"/>
            <a:ext cx="603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B8C8"/>
                </a:solidFill>
              </a:rPr>
              <a:t>5.9%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93008" y="2926080"/>
            <a:ext cx="603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</a:rPr>
              <a:t>78.8%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97096" y="2926080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39C12"/>
                </a:solidFill>
              </a:rPr>
              <a:t>₹0.57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65776" y="2926080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39C12"/>
                </a:solidFill>
              </a:rPr>
              <a:t>WATCH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" y="3419856"/>
            <a:ext cx="6345936" cy="566928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2608" y="3529584"/>
            <a:ext cx="722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North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" y="3529584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₹11.95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75104" y="3529584"/>
            <a:ext cx="722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₹6.99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98064" y="3529584"/>
            <a:ext cx="603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B8C8"/>
                </a:solidFill>
              </a:rPr>
              <a:t>19.4%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93008" y="3529584"/>
            <a:ext cx="603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</a:rPr>
              <a:t>58.5%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97096" y="3529584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74C3C"/>
                </a:solidFill>
              </a:rPr>
              <a:t>₹4.97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65776" y="3529584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74C3C"/>
                </a:solidFill>
              </a:rPr>
              <a:t>FIX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6032" y="4023360"/>
            <a:ext cx="6345936" cy="566928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2608" y="4133088"/>
            <a:ext cx="722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East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" y="4133088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₹7.83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75104" y="4133088"/>
            <a:ext cx="722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₹3.55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98064" y="4133088"/>
            <a:ext cx="603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B8C8"/>
                </a:solidFill>
              </a:rPr>
              <a:t>9.8%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93008" y="4133088"/>
            <a:ext cx="603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</a:rPr>
              <a:t>45.3%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97096" y="4133088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74C3C"/>
                </a:solidFill>
              </a:rPr>
              <a:t>₹4.28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65776" y="4133088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74C3C"/>
                </a:solidFill>
              </a:rPr>
              <a:t>FIX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6032" y="4736592"/>
            <a:ext cx="6309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700"/>
                </a:solidFill>
              </a:rPr>
              <a:t>STRATEGY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032" y="4919472"/>
            <a:ext cx="6309360" cy="109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56032" y="4956048"/>
            <a:ext cx="6345936" cy="530352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6032" y="4956048"/>
            <a:ext cx="54864" cy="5303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499262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ECC71"/>
                </a:solidFill>
              </a:rPr>
              <a:t>PROTECT ENGINES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83080" y="499262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West + South-1: ₹16.47 Cr offtake. Defend hero-SKU OSA. Conv 82–84% benchmark achieved.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6032" y="5522976"/>
            <a:ext cx="6345936" cy="530352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6032" y="5522976"/>
            <a:ext cx="54864" cy="5303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55595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39C12"/>
                </a:solidFill>
              </a:rPr>
              <a:t>WATCH FLOW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83080" y="55595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South-2: ₹1.98 Cr gap. Isolate DMart exceptions. Apollo 148.5% — validate stock cover.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56032" y="6089904"/>
            <a:ext cx="6345936" cy="530352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56032" y="6089904"/>
            <a:ext cx="54864" cy="5303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61264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74C3C"/>
                </a:solidFill>
              </a:rPr>
              <a:t>FIX CONCENTRATION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83080" y="6126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North + East: 70.5% of national gap. N ₹4.97 Cr @ 58.5% · E ₹4.28 Cr @ 45.3%.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56032" y="6656831"/>
            <a:ext cx="6345936" cy="530352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56032" y="6656831"/>
            <a:ext cx="54864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" y="6693407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NATIONAL GAP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83080" y="6693407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₹9.25 Cr stuck in North+East pipeline — OOS risk once stock clears. Weekly owner review.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6032" y="7242048"/>
            <a:ext cx="6345936" cy="420624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7472" y="726033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72768" y="726033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North ₹11.95 Cr primary → only ₹6.99 Cr offtake (58.5%). East collapses to 45.3%.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56032" y="7699248"/>
            <a:ext cx="6345936" cy="420624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47472" y="771753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39C12"/>
                </a:solidFill>
              </a:rPr>
              <a:t>IMPLICATION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72768" y="771753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₹9.25 Cr at OOS risk. West+S-1 profits must fund Fix zone recovery.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56032" y="8156448"/>
            <a:ext cx="6345936" cy="420624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47472" y="817473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ECC71"/>
                </a:solidFill>
              </a:rPr>
              <a:t>ACTION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572768" y="817473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NKAM: publish North+East hero-EAN gap list by 25-Aug. ZSM East: Reliance audit 31-Aug.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56032" y="8613648"/>
            <a:ext cx="6345936" cy="420624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863193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A0B8C8"/>
                </a:solidFill>
              </a:rPr>
              <a:t>OWNER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72768" y="863193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ZSM North · ZSM East · NKAM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4320" y="8942832"/>
            <a:ext cx="6309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A0B8C8"/>
                </a:solidFill>
              </a:rPr>
              <a:t>Source: pipeline v2.4.0 · July Offtake + Primary.xlsb · 2026-08-19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LULU LEADS; RELIANCE &amp; METRO REQUIRE TARGETED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0B8C8"/>
                </a:solidFill>
              </a:rPr>
              <a:t>Chain growth and risk command centre | Jun–Jul 2026 | ₹ Cr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530352"/>
            <a:ext cx="6309360" cy="228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685800"/>
            <a:ext cx="6345936" cy="27432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704088"/>
            <a:ext cx="10607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D700"/>
                </a:solidFill>
              </a:rPr>
              <a:t>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704088"/>
            <a:ext cx="8138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D700"/>
                </a:solidFill>
              </a:rPr>
              <a:t>JUN
₹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68296" y="704088"/>
            <a:ext cx="8138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D700"/>
                </a:solidFill>
              </a:rPr>
              <a:t>JUL
₹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704088"/>
            <a:ext cx="905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D700"/>
                </a:solidFill>
              </a:rPr>
              <a:t>MoM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8536" y="704088"/>
            <a:ext cx="2276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D700"/>
                </a:solidFill>
              </a:rPr>
              <a:t>SIGNAL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978408"/>
            <a:ext cx="6345936" cy="429768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1069848"/>
            <a:ext cx="1060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DMart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6" y="1069848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B8C8"/>
                </a:solidFill>
              </a:rPr>
              <a:t>₹14.56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68296" y="1069848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₹14.33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2696" y="1069848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39C12"/>
                </a:solidFill>
              </a:rPr>
              <a:t>-1.5%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8536" y="1069848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39C12"/>
                </a:solidFill>
              </a:rPr>
              <a:t>Watch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1431036"/>
            <a:ext cx="6345936" cy="429768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1522476"/>
            <a:ext cx="1060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Reliance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1522476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B8C8"/>
                </a:solidFill>
              </a:rPr>
              <a:t>₹9.48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8296" y="1522476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₹8.06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2696" y="1522476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74C3C"/>
                </a:solidFill>
              </a:rPr>
              <a:t>-15.0%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8536" y="1522476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74C3C"/>
                </a:solidFill>
              </a:rPr>
              <a:t>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1883664"/>
            <a:ext cx="6345936" cy="429768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1975104"/>
            <a:ext cx="1060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Lulu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53896" y="1975104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B8C8"/>
                </a:solidFill>
              </a:rPr>
              <a:t>₹1.16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68296" y="1975104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₹1.70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82696" y="1975104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CC71"/>
                </a:solidFill>
              </a:rPr>
              <a:t>+46.5%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88536" y="1975104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CC71"/>
                </a:solidFill>
              </a:rPr>
              <a:t>Scale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" y="2336291"/>
            <a:ext cx="6345936" cy="429768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" y="2427732"/>
            <a:ext cx="1060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WF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53896" y="2427732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B8C8"/>
                </a:solidFill>
              </a:rPr>
              <a:t>₹0.80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8296" y="2427732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₹0.72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82696" y="2427732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39C12"/>
                </a:solidFill>
              </a:rPr>
              <a:t>-9.9%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88536" y="2427732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39C12"/>
                </a:solidFill>
              </a:rPr>
              <a:t>Watch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" y="2788920"/>
            <a:ext cx="6345936" cy="429768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" y="2880360"/>
            <a:ext cx="1060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H&amp;G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53896" y="2880360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B8C8"/>
                </a:solidFill>
              </a:rPr>
              <a:t>₹0.52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68296" y="2880360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₹0.51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82696" y="2880360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39C12"/>
                </a:solidFill>
              </a:rPr>
              <a:t>-2.0%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88536" y="2880360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39C12"/>
                </a:solidFill>
              </a:rPr>
              <a:t>Watch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" y="3241548"/>
            <a:ext cx="6345936" cy="429768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2608" y="3332988"/>
            <a:ext cx="1060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Metro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53896" y="3332988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B8C8"/>
                </a:solidFill>
              </a:rPr>
              <a:t>₹0.61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68296" y="3332988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₹0.49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82696" y="3332988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74C3C"/>
                </a:solidFill>
              </a:rPr>
              <a:t>-20.5%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88536" y="3332988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74C3C"/>
                </a:solidFill>
              </a:rPr>
              <a:t>Recover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" y="3694176"/>
            <a:ext cx="6345936" cy="429768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2608" y="3785615"/>
            <a:ext cx="1060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53896" y="3785615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B8C8"/>
                </a:solidFill>
              </a:rPr>
              <a:t>₹0.44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68296" y="3785615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₹0.41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2696" y="3785615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39C12"/>
                </a:solidFill>
              </a:rPr>
              <a:t>-6.8%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88536" y="3785615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39C12"/>
                </a:solidFill>
              </a:rPr>
              <a:t>Watch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6032" y="4146804"/>
            <a:ext cx="6345936" cy="429768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2608" y="4238244"/>
            <a:ext cx="1060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Vishal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53896" y="4238244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B8C8"/>
                </a:solidFill>
              </a:rPr>
              <a:t>₹0.31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68296" y="4238244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₹0.36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82696" y="4238244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CC71"/>
                </a:solidFill>
              </a:rPr>
              <a:t>+18.2%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88536" y="4238244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CC71"/>
                </a:solidFill>
              </a:rPr>
              <a:t>Scale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" y="4599432"/>
            <a:ext cx="6345936" cy="429768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2608" y="4690872"/>
            <a:ext cx="1060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V-Mart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53896" y="4690872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B8C8"/>
                </a:solidFill>
              </a:rPr>
              <a:t>₹0.13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68296" y="4690872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₹0.12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82696" y="4690872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39C12"/>
                </a:solidFill>
              </a:rPr>
              <a:t>-8.5%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88536" y="4690872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39C12"/>
                </a:solidFill>
              </a:rPr>
              <a:t>Watch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6032" y="5052060"/>
            <a:ext cx="6345936" cy="429768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2608" y="5143500"/>
            <a:ext cx="1060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Spencer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53896" y="5143500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B8C8"/>
                </a:solidFill>
              </a:rPr>
              <a:t>₹0.08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68296" y="5143500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₹0.09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82696" y="5143500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CC71"/>
                </a:solidFill>
              </a:rPr>
              <a:t>+0.7%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88536" y="5143500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CC71"/>
                </a:solidFill>
              </a:rPr>
              <a:t>Protect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56032" y="5504688"/>
            <a:ext cx="6345936" cy="429768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2608" y="5596128"/>
            <a:ext cx="1060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Arambagh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53896" y="5596128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B8C8"/>
                </a:solidFill>
              </a:rPr>
              <a:t>₹0.05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68296" y="5596128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₹0.04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82696" y="5596128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74C3C"/>
                </a:solidFill>
              </a:rPr>
              <a:t>-22.5%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88536" y="5596128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74C3C"/>
                </a:solidFill>
              </a:rPr>
              <a:t>Recover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6032" y="5957316"/>
            <a:ext cx="6345936" cy="429768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92608" y="6048756"/>
            <a:ext cx="1060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Ratandeep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53896" y="6048756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B8C8"/>
                </a:solidFill>
              </a:rPr>
              <a:t>₹0.03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68296" y="6048756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₹0.03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82696" y="6048756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CC71"/>
                </a:solidFill>
              </a:rPr>
              <a:t>+21.5%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88536" y="6048756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CC71"/>
                </a:solidFill>
              </a:rPr>
              <a:t>Scale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56032" y="6409944"/>
            <a:ext cx="6345936" cy="429768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92608" y="6501383"/>
            <a:ext cx="1060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Sasta 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453896" y="6501383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B8C8"/>
                </a:solidFill>
              </a:rPr>
              <a:t>₹0.01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68296" y="6501383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₹0.02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82696" y="6501383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CC71"/>
                </a:solidFill>
              </a:rPr>
              <a:t>+127.8%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88536" y="6501383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CC71"/>
                </a:solidFill>
              </a:rPr>
              <a:t>Scale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56032" y="6862572"/>
            <a:ext cx="6345936" cy="429768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92608" y="6954012"/>
            <a:ext cx="1060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Sumo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53896" y="6954012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B8C8"/>
                </a:solidFill>
              </a:rPr>
              <a:t>₹0.01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68296" y="6954012"/>
            <a:ext cx="81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₹0.02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282696" y="6954012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CC71"/>
                </a:solidFill>
              </a:rPr>
              <a:t>+9.8%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88536" y="6954012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CC71"/>
                </a:solidFill>
              </a:rPr>
              <a:t>Protect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56032" y="7315200"/>
            <a:ext cx="6309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700"/>
                </a:solidFill>
              </a:rPr>
              <a:t>LEADERSHIP READOUT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6032" y="7498079"/>
            <a:ext cx="6309360" cy="109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56032" y="7534656"/>
            <a:ext cx="6345936" cy="219456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56032" y="7534656"/>
            <a:ext cx="36576" cy="21945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47472" y="7552944"/>
            <a:ext cx="6172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Lulu +46.5% on 19-site footprint — copy winning store execution across all doors.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56032" y="7772400"/>
            <a:ext cx="6345936" cy="219456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56032" y="7772400"/>
            <a:ext cx="36576" cy="21945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47472" y="7790688"/>
            <a:ext cx="6172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Reliance -15%: Shampoo + Sun Care are the central recovery pool; protect TDC growth.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56032" y="8010144"/>
            <a:ext cx="6345936" cy="219456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56032" y="8010144"/>
            <a:ext cx="36576" cy="21945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47472" y="8028431"/>
            <a:ext cx="6172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Metro -20.5% despite more SKUs — stop range expansion until sales/SKU recovers.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56032" y="8247888"/>
            <a:ext cx="6345936" cy="219456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56032" y="8247888"/>
            <a:ext cx="36576" cy="21945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47472" y="8266175"/>
            <a:ext cx="6172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DMart -1.5% broadly stable; TDC Face Cleanser offsets Mamaearth seasonal softness.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56032" y="8485632"/>
            <a:ext cx="6345936" cy="219456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56032" y="8485632"/>
            <a:ext cx="36576" cy="21945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47472" y="8503920"/>
            <a:ext cx="6172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Arambagh -22.5% — verify listing status before any commercial intervention.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56032" y="8723376"/>
            <a:ext cx="6345936" cy="219456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56032" y="8723376"/>
            <a:ext cx="36576" cy="21945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47472" y="8741664"/>
            <a:ext cx="6172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Sasta Sundar +127.8% — protect fill rate before expanding footprint.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74320" y="8942832"/>
            <a:ext cx="6309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A0B8C8"/>
                </a:solidFill>
              </a:rPr>
              <a:t>Source: pipeline v2.4.0 · July Offtake + Primary.xlsb · 2026-08-19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FACE CARE POWERS 2/3 OF OFFTAKE; NPI DELIVERS ₹2.82 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0B8C8"/>
                </a:solidFill>
              </a:rPr>
              <a:t>Brand, sub-category &amp; NPI architecture |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530352"/>
            <a:ext cx="6309360" cy="228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685800"/>
            <a:ext cx="3063240" cy="768096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85800"/>
            <a:ext cx="54864" cy="76809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7315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Mamaearth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93268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67.8%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9326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₹24.5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21615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73.4% Conv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685800"/>
            <a:ext cx="3063240" cy="768096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685800"/>
            <a:ext cx="54864" cy="768096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016" y="7315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The Derma Co.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93268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7A589"/>
                </a:solidFill>
              </a:rPr>
              <a:t>30.6%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9326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₹11.03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121615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72.4% Conv · ₹4.16 Cr gap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1490472"/>
            <a:ext cx="3063240" cy="768096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1490472"/>
            <a:ext cx="54864" cy="76809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153619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Aqualogica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17373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1.5%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17373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₹0.54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2020824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&gt;100% Conv → validate stock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1490472"/>
            <a:ext cx="3063240" cy="768096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9000" y="1490472"/>
            <a:ext cx="54864" cy="768096"/>
          </a:xfrm>
          <a:prstGeom prst="rect">
            <a:avLst/>
          </a:prstGeom>
          <a:solidFill>
            <a:srgbClr val="A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57016" y="153619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Dr. Sheth's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7016" y="17373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0B8C8"/>
                </a:solidFill>
              </a:rPr>
              <a:t>0.1%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17373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₹0.04 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7016" y="2020824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Emerging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" y="2377440"/>
            <a:ext cx="6309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700"/>
                </a:solidFill>
              </a:rPr>
              <a:t>SUB-CATEGORY ARCHITECTURE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2560320"/>
            <a:ext cx="6309360" cy="109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2596896"/>
            <a:ext cx="6345936" cy="438912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6032" y="2596896"/>
            <a:ext cx="54864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270662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Face Cleanser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70662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₹15.66 Cr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270662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B8C8"/>
                </a:solidFill>
              </a:rPr>
              <a:t>43.4%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2706624"/>
            <a:ext cx="2697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B8C8"/>
                </a:solidFill>
              </a:rPr>
              <a:t>TDC +47.6% MoM (key engine)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" y="3072384"/>
            <a:ext cx="6345936" cy="438912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6032" y="3072384"/>
            <a:ext cx="54864" cy="438912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1821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Shampoo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318211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A589"/>
                </a:solidFill>
              </a:rPr>
              <a:t>₹6.95 Cr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3182112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B8C8"/>
                </a:solidFill>
              </a:rPr>
              <a:t>19.2%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3182112"/>
            <a:ext cx="2697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B8C8"/>
                </a:solidFill>
              </a:rPr>
              <a:t>Stable despite Sun Care peak end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" y="3547872"/>
            <a:ext cx="6345936" cy="438912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6032" y="3547872"/>
            <a:ext cx="54864" cy="43891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365760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Sun Care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365760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₹1.30 Cr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3657600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B8C8"/>
                </a:solidFill>
              </a:rPr>
              <a:t>3.6%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3657600"/>
            <a:ext cx="2697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B8C8"/>
                </a:solidFill>
              </a:rPr>
              <a:t>Seasonal decline · NOT share loss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" y="4023360"/>
            <a:ext cx="6345936" cy="438912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56032" y="4023360"/>
            <a:ext cx="54864" cy="43891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413308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Hair Oil/NPI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413308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₹3.50 Cr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0" y="4133088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B8C8"/>
                </a:solidFill>
              </a:rPr>
              <a:t>9.7%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0" y="4133088"/>
            <a:ext cx="2697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B8C8"/>
                </a:solidFill>
              </a:rPr>
              <a:t>NPI-led growth pool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6032" y="4572000"/>
            <a:ext cx="6309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700"/>
                </a:solidFill>
              </a:rPr>
              <a:t>NPI PERFORMANCE — ₹2.82 CR · 7.82% OF SALES · 58/60 EANs ACTIVE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032" y="4754880"/>
            <a:ext cx="6309360" cy="109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56032" y="4791456"/>
            <a:ext cx="6345936" cy="256032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48097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D700"/>
                </a:solidFill>
              </a:rPr>
              <a:t>TOP NPI ARTICLES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01568" y="480974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74C3C"/>
                </a:solidFill>
              </a:rPr>
              <a:t>ZERO-SALE EANs (AUDIT)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6032" y="5074920"/>
            <a:ext cx="3090672" cy="301752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7472" y="512064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ME Onion Hair Fall Control Shampoo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51760" y="51206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FFD700"/>
                </a:solidFill>
              </a:rPr>
              <a:t>₹0.31 Cr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6032" y="5413248"/>
            <a:ext cx="3090672" cy="301752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7472" y="545896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ME Onion Hair Oil 200 ml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51760" y="545896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FFD700"/>
                </a:solidFill>
              </a:rPr>
              <a:t>₹0.30 Cr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032" y="5751576"/>
            <a:ext cx="3090672" cy="301752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7472" y="5797296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ME Gentle Cleansing Shampoo 400 ml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51760" y="579729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FFD700"/>
                </a:solidFill>
              </a:rPr>
              <a:t>₹0.21 Cr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6032" y="6089904"/>
            <a:ext cx="3090672" cy="301752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7472" y="613562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ME Multani Mitti Face Wash 100 ml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51760" y="613562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FFD700"/>
                </a:solidFill>
              </a:rPr>
              <a:t>₹0.20 Cr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56032" y="6428231"/>
            <a:ext cx="3090672" cy="301752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7472" y="6473951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ME Vitamin C Daily Glow Sunscreen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51760" y="6473951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FFD700"/>
                </a:solidFill>
              </a:rPr>
              <a:t>₹0.20 Cr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56032" y="6766560"/>
            <a:ext cx="3090672" cy="301752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47472" y="681228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ME Lemon Anti-Dandruff Shampoo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51760" y="681228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FFD700"/>
                </a:solidFill>
              </a:rPr>
              <a:t>₹0.19 Cr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56032" y="7104888"/>
            <a:ext cx="3090672" cy="301752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7472" y="7150607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Rosemary Anti-Hair Fall Shampoo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51760" y="7150607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FFD700"/>
                </a:solidFill>
              </a:rPr>
              <a:t>₹0.18 Cr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56032" y="7443216"/>
            <a:ext cx="3090672" cy="301752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47472" y="7488936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ME Rice Water Dewy Sunscreen 80 ml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51760" y="748893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FFD700"/>
                </a:solidFill>
              </a:rPr>
              <a:t>₹0.18 Cr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401568" y="5074920"/>
            <a:ext cx="3200400" cy="457200"/>
          </a:xfrm>
          <a:prstGeom prst="rect">
            <a:avLst/>
          </a:prstGeom>
          <a:solidFill>
            <a:srgbClr val="4A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493008" y="51206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8888"/>
                </a:solidFill>
              </a:rPr>
              <a:t>BBLUNT Cherry Red Hair Colour 130g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401568" y="5577840"/>
            <a:ext cx="3200400" cy="457200"/>
          </a:xfrm>
          <a:prstGeom prst="rect">
            <a:avLst/>
          </a:prstGeom>
          <a:solidFill>
            <a:srgbClr val="4A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493008" y="5623559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8888"/>
                </a:solidFill>
              </a:rPr>
              <a:t>TDC 20% Actives Peptide–Stem Cell Hair Serum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01568" y="6126480"/>
            <a:ext cx="3200400" cy="384048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93008" y="61447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39C12"/>
                </a:solidFill>
              </a:rPr>
              <a:t>→ Audit listing, stock receipt, OSA and
launch visibility before further loading.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56032" y="6601968"/>
            <a:ext cx="6345936" cy="420624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47472" y="662025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572768" y="662025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TDC Face Cleanser +47.6% MoM. Aqualogica &gt;100% Conv (stock signal). NPI 58/60 active.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56032" y="7059168"/>
            <a:ext cx="6345936" cy="420624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47472" y="707745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39C12"/>
                </a:solidFill>
              </a:rPr>
              <a:t>IMPLICATION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572768" y="707745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Face Care concentration is structural. Shampoo hold is fragile without pack width.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6032" y="7516367"/>
            <a:ext cx="6345936" cy="420624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47472" y="753465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ECC71"/>
                </a:solidFill>
              </a:rPr>
              <a:t>ACTION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72768" y="753465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Protect TDC FW availability · Validate Aqualogica stock · Audit 2 zero-sale NPI EANs.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56032" y="7973567"/>
            <a:ext cx="6345936" cy="420624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47472" y="799185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A0B8C8"/>
                </a:solidFill>
              </a:rPr>
              <a:t>OWNER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572768" y="799185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Category Head + Supply Chain · 31-Aug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74320" y="8942832"/>
            <a:ext cx="6309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A0B8C8"/>
                </a:solidFill>
              </a:rPr>
              <a:t>Source: pipeline v2.4.0 · July Offtake + Primary.xlsb · 2026-08-19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90-DAY OPERATING CADENCE — CONVERT 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0B8C8"/>
                </a:solidFill>
              </a:rPr>
              <a:t>Sales uplift plan | owners, actions and proof points | Jul–Oct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530352"/>
            <a:ext cx="6309360" cy="228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685800"/>
            <a:ext cx="6345936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2237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0–30 DAYS
Aug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987552"/>
            <a:ext cx="6345936" cy="219456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014984"/>
            <a:ext cx="24323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A0B8C8"/>
                </a:solidFill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25496" y="1014984"/>
            <a:ext cx="8138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A0B8C8"/>
                </a:solidFill>
              </a:rPr>
              <a:t>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9896" y="1014984"/>
            <a:ext cx="9052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A0B8C8"/>
                </a:solidFill>
              </a:rPr>
              <a:t>DEADLINE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5736" y="1014984"/>
            <a:ext cx="181965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A0B8C8"/>
                </a:solidFill>
              </a:rPr>
              <a:t>SUCCESS KPI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225296"/>
            <a:ext cx="6345936" cy="310896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280160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Publish North+East hero-EAN gap 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5496" y="128016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D700"/>
                </a:solidFill>
              </a:rPr>
              <a:t>NKAM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12801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39C12"/>
                </a:solidFill>
              </a:rPr>
              <a:t>25-Aug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1280160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Gap list delivered to ZSM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1554480"/>
            <a:ext cx="6345936" cy="310896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1609344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Reliance store-level OSA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25496" y="1609344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D700"/>
                </a:solidFill>
              </a:rPr>
              <a:t>ZSM East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9896" y="160934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39C12"/>
                </a:solidFill>
              </a:rPr>
              <a:t>31-Aug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5736" y="1609344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Audit report + exceptions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1883664"/>
            <a:ext cx="6345936" cy="310896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1938528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Validate Aqualogica stock cover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25496" y="1938528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D700"/>
                </a:solidFill>
              </a:rPr>
              <a:t>Supply 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39896" y="193852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39C12"/>
                </a:solidFill>
              </a:rPr>
              <a:t>31-Aug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45736" y="1938528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Stock confirmation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2212848"/>
            <a:ext cx="6345936" cy="310896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226771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Audit 2 zero-sale NPI EANs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25496" y="22677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D700"/>
                </a:solidFill>
              </a:rPr>
              <a:t>NKAM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9896" y="22677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39C12"/>
                </a:solidFill>
              </a:rPr>
              <a:t>25-Aug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45736" y="2267712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Listing + OSA confirmed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615184"/>
            <a:ext cx="6345936" cy="27432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26517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A589"/>
                </a:solidFill>
              </a:rPr>
              <a:t>31–60 DAYS
Sep 2026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2916936"/>
            <a:ext cx="6345936" cy="219456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" y="2944368"/>
            <a:ext cx="24323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A0B8C8"/>
                </a:solidFill>
              </a:rPr>
              <a:t>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25496" y="2944368"/>
            <a:ext cx="8138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A0B8C8"/>
                </a:solidFill>
              </a:rPr>
              <a:t>OWNER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9896" y="2944368"/>
            <a:ext cx="9052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A0B8C8"/>
                </a:solidFill>
              </a:rPr>
              <a:t>DEADLINE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45736" y="2944368"/>
            <a:ext cx="181965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A0B8C8"/>
                </a:solidFill>
              </a:rPr>
              <a:t>SUCCESS KPI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" y="3154680"/>
            <a:ext cx="6345936" cy="310896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" y="3209544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Launch 240ml/60ml FW pack pilots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25496" y="3209544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7A589"/>
                </a:solidFill>
              </a:rPr>
              <a:t>Category Head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39896" y="320954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39C12"/>
                </a:solidFill>
              </a:rPr>
              <a:t>15-Sep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45736" y="3209544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Sell-in + velocity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" y="3483864"/>
            <a:ext cx="6345936" cy="310896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3538728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Shampoo pack pilots (top 4 formats)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25496" y="3538728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7A589"/>
                </a:solidFill>
              </a:rPr>
              <a:t>Category Head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39896" y="353872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39C12"/>
                </a:solidFill>
              </a:rPr>
              <a:t>15-Sep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45736" y="3538728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Sell-in confirmed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" y="3813048"/>
            <a:ext cx="6345936" cy="310896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7472" y="3867911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Metro range rationalisation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25496" y="3867911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7A589"/>
                </a:solidFill>
              </a:rPr>
              <a:t>NKAM Metro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39896" y="3867911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39C12"/>
                </a:solidFill>
              </a:rPr>
              <a:t>30-Sep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45736" y="3867911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Sales/SKU &gt;₹X threshold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" y="4142232"/>
            <a:ext cx="6345936" cy="310896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7472" y="4197096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TDC FW WD expansion → 50% target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25496" y="4197096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7A589"/>
                </a:solidFill>
              </a:rPr>
              <a:t>NKAM TDC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39896" y="419709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39C12"/>
                </a:solidFill>
              </a:rPr>
              <a:t>30-Sep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45736" y="4197096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WD report weekly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" y="4544568"/>
            <a:ext cx="6345936" cy="27432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7472" y="458114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CC71"/>
                </a:solidFill>
              </a:rPr>
              <a:t>61–90 DAYS
Oct 2026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6032" y="4846320"/>
            <a:ext cx="6345936" cy="219456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2608" y="4873752"/>
            <a:ext cx="24323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A0B8C8"/>
                </a:solidFill>
              </a:rPr>
              <a:t>ACTION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25496" y="4873752"/>
            <a:ext cx="8138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A0B8C8"/>
                </a:solidFill>
              </a:rPr>
              <a:t>OWNER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39896" y="4873752"/>
            <a:ext cx="9052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A0B8C8"/>
                </a:solidFill>
              </a:rPr>
              <a:t>DEADLINE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45736" y="4873752"/>
            <a:ext cx="181965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A0B8C8"/>
                </a:solidFill>
              </a:rPr>
              <a:t>SUCCESS KPI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032" y="5084064"/>
            <a:ext cx="6345936" cy="310896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7472" y="5138928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Weekly chain-zone gap review (N+E)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25496" y="5138928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ECC71"/>
                </a:solidFill>
              </a:rPr>
              <a:t>ZSM North+East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39896" y="513892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39C12"/>
                </a:solidFill>
              </a:rPr>
              <a:t>Ongoing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45736" y="5138928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Conv ≥65% in both zones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56032" y="5413248"/>
            <a:ext cx="6345936" cy="310896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7472" y="546811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Lulu execution replication (19 doors)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25496" y="5468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ECC71"/>
                </a:solidFill>
              </a:rPr>
              <a:t>ZSM South-1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39896" y="54681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39C12"/>
                </a:solidFill>
              </a:rPr>
              <a:t>15-Oct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45736" y="5468112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Store audit checklist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6032" y="5742432"/>
            <a:ext cx="6345936" cy="310896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7472" y="5797296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Promo recalibration: Reliance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25496" y="5797296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ECC71"/>
                </a:solidFill>
              </a:rPr>
              <a:t>Trade Mktg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39896" y="579729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39C12"/>
                </a:solidFill>
              </a:rPr>
              <a:t>31-Oct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45736" y="5797296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ROI ≥ baseline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56032" y="6071616"/>
            <a:ext cx="6345936" cy="310896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47472" y="6126480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90-day results review with leadership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825496" y="612648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ECC71"/>
                </a:solidFill>
              </a:rPr>
              <a:t>Commercial Head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39896" y="612648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39C12"/>
                </a:solidFill>
              </a:rPr>
              <a:t>31-Oct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45736" y="6126480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8C8"/>
                </a:solidFill>
              </a:rPr>
              <a:t>P&amp;L + share update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56032" y="6565392"/>
            <a:ext cx="6345936" cy="36576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47472" y="6620256"/>
            <a:ext cx="6163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D700"/>
                </a:solidFill>
              </a:rPr>
              <a:t>THE GROWTH EQUATION:  MORE OUTLETS  ×  BETTER AVAILABILITY  ×  STRONGER VISIBILITY  ×  HIGHER CONVERSION  ×  REPEAT &amp; LOYALTY  =  PROFITABLE GROWTH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" y="8942832"/>
            <a:ext cx="6309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A0B8C8"/>
                </a:solidFill>
              </a:rPr>
              <a:t>Source: pipeline v2.4.0 · Codex analysis · 2026-08-19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