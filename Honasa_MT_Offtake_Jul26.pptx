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drawings/drawing1.xml" ContentType="application/vnd.openxmlformats-officedocument.drawingml.chartshapes+xml"/>
  <Override PartName="/ppt/drawings/drawing2.xml" ContentType="application/vnd.openxmlformats-officedocument.drawingml.chartshap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69" r:id="rId4"/>
    <p:sldId id="270" r:id="rId11"/>
    <p:sldId id="271" r:id="rId12"/>
    <p:sldId id="272" r:id="rId13"/>
    <p:sldId id="273" r:id="rId14"/>
    <p:sldId id="274" r:id="rId15"/>
    <p:sldId id="275" r:id="rId16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6" userDrawn="1">
          <p15:clr>
            <a:srgbClr val="A4A3A4"/>
          </p15:clr>
        </p15:guide>
        <p15:guide id="2" pos="238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6FBF8"/>
    <a:srgbClr val="289C83"/>
    <a:srgbClr val="1E7461"/>
    <a:srgbClr val="70F4BB"/>
    <a:srgbClr val="2DAD92"/>
    <a:srgbClr val="2EB094"/>
    <a:srgbClr val="6DD9C2"/>
    <a:srgbClr val="CC99FF"/>
    <a:srgbClr val="FFFF66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32" autoAdjust="0"/>
    <p:restoredTop sz="75446" autoAdjust="0"/>
  </p:normalViewPr>
  <p:slideViewPr>
    <p:cSldViewPr snapToGrid="0" snapToObjects="1">
      <p:cViewPr>
        <p:scale>
          <a:sx n="66" d="100"/>
          <a:sy n="66" d="100"/>
        </p:scale>
        <p:origin x="1312" y="-1556"/>
      </p:cViewPr>
      <p:guideLst>
        <p:guide orient="horz" pos="3366"/>
        <p:guide pos="23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0" d="100"/>
          <a:sy n="60" d="100"/>
        </p:scale>
        <p:origin x="728" y="5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Relationship Id="rId2" Type="http://schemas.openxmlformats.org/officeDocument/2006/relationships/chartUserShapes" Target="../drawings/drawing1.xml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Relationship Id="rId2" Type="http://schemas.openxmlformats.org/officeDocument/2006/relationships/chartUserShapes" Target="../drawings/drawing2.xml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4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4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4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_rels/chart4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_rels/chart4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_rels/chart4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_rels/chart4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3.xlsx"/></Relationships>
</file>

<file path=ppt/charts/_rels/chart4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4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5.xlsx"/></Relationships>
</file>

<file path=ppt/charts/_rels/chart4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_rels/chart5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7.xlsx"/></Relationships>
</file>

<file path=ppt/charts/_rels/chart5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8.xlsx"/></Relationships>
</file>

<file path=ppt/charts/_rels/chart5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9.xlsx"/></Relationships>
</file>

<file path=ppt/charts/_rels/chart5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Channel</c:v>
                </c:pt>
              </c:strCache>
            </c:strRef>
          </c:tx>
          <c:spPr>
            <a:ln w="25400" cap="flat">
              <a:solidFill>
                <a:srgbClr val="1F5A85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1F5A85"/>
              </a:solidFill>
              <a:ln w="9525" cap="flat">
                <a:solidFill>
                  <a:srgbClr val="1F5A85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May-25</c:v>
                </c:pt>
                <c:pt idx="1">
                  <c:v>Jan-26</c:v>
                </c:pt>
                <c:pt idx="2">
                  <c:v>Feb-26</c:v>
                </c:pt>
                <c:pt idx="3">
                  <c:v>Mar-26</c:v>
                </c:pt>
                <c:pt idx="4">
                  <c:v>Apr-26</c:v>
                </c:pt>
                <c:pt idx="5">
                  <c:v>May-26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2466</c:v>
                </c:pt>
                <c:pt idx="1">
                  <c:v>3039</c:v>
                </c:pt>
                <c:pt idx="2">
                  <c:v>2761</c:v>
                </c:pt>
                <c:pt idx="3">
                  <c:v>3234</c:v>
                </c:pt>
                <c:pt idx="4">
                  <c:v>3589</c:v>
                </c:pt>
                <c:pt idx="5">
                  <c:v>4019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DA-4911-B739-110D101530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D-mart</c:v>
                </c:pt>
              </c:strCache>
            </c:strRef>
          </c:tx>
          <c:spPr>
            <a:ln w="25400" cap="flat">
              <a:solidFill>
                <a:srgbClr val="F39C12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F39C12"/>
              </a:solidFill>
              <a:ln w="9525" cap="flat">
                <a:solidFill>
                  <a:srgbClr val="F39C12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May-25</c:v>
                </c:pt>
                <c:pt idx="1">
                  <c:v>Jan-26</c:v>
                </c:pt>
                <c:pt idx="2">
                  <c:v>Feb-26</c:v>
                </c:pt>
                <c:pt idx="3">
                  <c:v>Mar-26</c:v>
                </c:pt>
                <c:pt idx="4">
                  <c:v>Apr-26</c:v>
                </c:pt>
                <c:pt idx="5">
                  <c:v>May-26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897</c:v>
                </c:pt>
                <c:pt idx="1">
                  <c:v>967</c:v>
                </c:pt>
                <c:pt idx="2">
                  <c:v>928</c:v>
                </c:pt>
                <c:pt idx="3">
                  <c:v>1226</c:v>
                </c:pt>
                <c:pt idx="4">
                  <c:v>1258</c:v>
                </c:pt>
                <c:pt idx="5">
                  <c:v>1518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DA-4911-B739-110D1015308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Reliance</c:v>
                </c:pt>
              </c:strCache>
            </c:strRef>
          </c:tx>
          <c:spPr>
            <a:ln w="25400" cap="flat">
              <a:solidFill>
                <a:srgbClr val="2E8B57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2E8B57"/>
              </a:solidFill>
              <a:ln w="9525" cap="flat">
                <a:solidFill>
                  <a:srgbClr val="2E8B57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May-25</c:v>
                </c:pt>
                <c:pt idx="1">
                  <c:v>Jan-26</c:v>
                </c:pt>
                <c:pt idx="2">
                  <c:v>Feb-26</c:v>
                </c:pt>
                <c:pt idx="3">
                  <c:v>Mar-26</c:v>
                </c:pt>
                <c:pt idx="4">
                  <c:v>Apr-26</c:v>
                </c:pt>
                <c:pt idx="5">
                  <c:v>May-26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715</c:v>
                </c:pt>
                <c:pt idx="1">
                  <c:v>900</c:v>
                </c:pt>
                <c:pt idx="2">
                  <c:v>757</c:v>
                </c:pt>
                <c:pt idx="3">
                  <c:v>805</c:v>
                </c:pt>
                <c:pt idx="4">
                  <c:v>868</c:v>
                </c:pt>
                <c:pt idx="5">
                  <c:v>990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4DA-4911-B739-110D1015308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Apollo</c:v>
                </c:pt>
              </c:strCache>
            </c:strRef>
          </c:tx>
          <c:spPr>
            <a:ln w="25400" cap="flat">
              <a:solidFill>
                <a:srgbClr val="7E57C2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7E57C2"/>
              </a:solidFill>
              <a:ln w="9525" cap="flat">
                <a:solidFill>
                  <a:srgbClr val="7E57C2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May-25</c:v>
                </c:pt>
                <c:pt idx="1">
                  <c:v>Jan-26</c:v>
                </c:pt>
                <c:pt idx="2">
                  <c:v>Feb-26</c:v>
                </c:pt>
                <c:pt idx="3">
                  <c:v>Mar-26</c:v>
                </c:pt>
                <c:pt idx="4">
                  <c:v>Apr-26</c:v>
                </c:pt>
                <c:pt idx="5">
                  <c:v>May-26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272</c:v>
                </c:pt>
                <c:pt idx="1">
                  <c:v>534</c:v>
                </c:pt>
                <c:pt idx="2">
                  <c:v>511</c:v>
                </c:pt>
                <c:pt idx="3">
                  <c:v>570</c:v>
                </c:pt>
                <c:pt idx="4">
                  <c:v>699</c:v>
                </c:pt>
                <c:pt idx="5">
                  <c:v>751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4DA-4911-B739-110D101530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100000"/>
          <a:lstStyle/>
          <a:p>
            <a:pPr>
              <a:defRPr sz="800" b="1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0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1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600"/>
      </c:valAx>
      <c:spPr>
        <a:noFill/>
        <a:ln>
          <a:solidFill>
            <a:schemeClr val="tx1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050" b="1"/>
          </a:pPr>
          <a:endParaRPr lang="en-US"/>
        </a:p>
      </c:txPr>
    </c:legend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915217200568166"/>
          <c:y val="3.4679707782406567E-2"/>
          <c:w val="0.85273961525591291"/>
          <c:h val="0.661229936999691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May-26 NSV</c:v>
                </c:pt>
              </c:strCache>
            </c:strRef>
          </c:tx>
          <c:spPr>
            <a:solidFill>
              <a:srgbClr val="1F5A8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D-mart</c:v>
                </c:pt>
                <c:pt idx="1">
                  <c:v>Reliance</c:v>
                </c:pt>
                <c:pt idx="2">
                  <c:v>Apollo</c:v>
                </c:pt>
                <c:pt idx="3">
                  <c:v>FSN</c:v>
                </c:pt>
                <c:pt idx="4">
                  <c:v>Wellness Forever</c:v>
                </c:pt>
                <c:pt idx="5">
                  <c:v>H&amp;G</c:v>
                </c:pt>
                <c:pt idx="6">
                  <c:v>Lulu</c:v>
                </c:pt>
                <c:pt idx="7">
                  <c:v>Metro CNC</c:v>
                </c:pt>
                <c:pt idx="8">
                  <c:v>Sancus (RMT)</c:v>
                </c:pt>
                <c:pt idx="9">
                  <c:v>More Retail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1518</c:v>
                </c:pt>
                <c:pt idx="1">
                  <c:v>990</c:v>
                </c:pt>
                <c:pt idx="2">
                  <c:v>751</c:v>
                </c:pt>
                <c:pt idx="3">
                  <c:v>208</c:v>
                </c:pt>
                <c:pt idx="4">
                  <c:v>102</c:v>
                </c:pt>
                <c:pt idx="5">
                  <c:v>87</c:v>
                </c:pt>
                <c:pt idx="6">
                  <c:v>116</c:v>
                </c:pt>
                <c:pt idx="7">
                  <c:v>48</c:v>
                </c:pt>
                <c:pt idx="8">
                  <c:v>46</c:v>
                </c:pt>
                <c:pt idx="9">
                  <c:v>55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D3-4E7A-940E-55667ED1CC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1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520" b="1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6204850073429631"/>
          <c:y val="3.8657366043831007E-2"/>
          <c:w val="0.67892894986336516"/>
          <c:h val="0.9188105267921670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F5A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5AF-4EE4-884F-89762958C52C}"/>
              </c:ext>
            </c:extLst>
          </c:dPt>
          <c:dPt>
            <c:idx val="1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5AF-4EE4-884F-89762958C52C}"/>
              </c:ext>
            </c:extLst>
          </c:dPt>
          <c:dPt>
            <c:idx val="2"/>
            <c:invertIfNegative val="0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5AF-4EE4-884F-89762958C52C}"/>
              </c:ext>
            </c:extLst>
          </c:dPt>
          <c:dPt>
            <c:idx val="3"/>
            <c:invertIfNegative val="0"/>
            <c:bubble3D val="0"/>
            <c:spPr>
              <a:solidFill>
                <a:srgbClr val="7E57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5AF-4EE4-884F-89762958C52C}"/>
              </c:ext>
            </c:extLst>
          </c:dPt>
          <c:dPt>
            <c:idx val="4"/>
            <c:invertIfNegative val="0"/>
            <c:bubble3D val="0"/>
            <c:spPr>
              <a:solidFill>
                <a:srgbClr val="8B451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5AF-4EE4-884F-89762958C52C}"/>
              </c:ext>
            </c:extLst>
          </c:dPt>
          <c:dPt>
            <c:idx val="5"/>
            <c:invertIfNegative val="0"/>
            <c:bubble3D val="0"/>
            <c:spPr>
              <a:solidFill>
                <a:srgbClr val="D66B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5AF-4EE4-884F-89762958C52C}"/>
              </c:ext>
            </c:extLst>
          </c:dPt>
          <c:dPt>
            <c:idx val="6"/>
            <c:invertIfNegative val="0"/>
            <c:bubble3D val="0"/>
            <c:spPr>
              <a:solidFill>
                <a:srgbClr val="A0AE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5AF-4EE4-884F-89762958C52C}"/>
              </c:ext>
            </c:extLst>
          </c:dPt>
          <c:dLbls>
            <c:dLbl>
              <c:idx val="0"/>
              <c:layout>
                <c:manualLayout>
                  <c:x val="0"/>
                  <c:y val="-2.3348756093794394E-3"/>
                </c:manualLayout>
              </c:layout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38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2181186600728544"/>
                      <c:h val="0.18746540610995055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85AF-4EE4-884F-89762958C52C}"/>
                </c:ext>
              </c:extLst>
            </c:dLbl>
            <c:dLbl>
              <c:idx val="1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25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5AF-4EE4-884F-89762958C52C}"/>
                </c:ext>
              </c:extLst>
            </c:dLbl>
            <c:dLbl>
              <c:idx val="2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19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85AF-4EE4-884F-89762958C52C}"/>
                </c:ext>
              </c:extLst>
            </c:dLbl>
            <c:dLbl>
              <c:idx val="3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5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85AF-4EE4-884F-89762958C52C}"/>
                </c:ext>
              </c:extLst>
            </c:dLbl>
            <c:dLbl>
              <c:idx val="4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3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85AF-4EE4-884F-89762958C52C}"/>
                </c:ext>
              </c:extLst>
            </c:dLbl>
            <c:dLbl>
              <c:idx val="5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3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85AF-4EE4-884F-89762958C52C}"/>
                </c:ext>
              </c:extLst>
            </c:dLbl>
            <c:dLbl>
              <c:idx val="6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2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85AF-4EE4-884F-89762958C52C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-120000"/>
              <a:lstStyle/>
              <a:p>
                <a:pPr>
                  <a:defRPr sz="1050" b="1"/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D-mart</c:v>
                </c:pt>
                <c:pt idx="1">
                  <c:v>Reliance</c:v>
                </c:pt>
                <c:pt idx="2">
                  <c:v>Apollo</c:v>
                </c:pt>
                <c:pt idx="3">
                  <c:v>FSN</c:v>
                </c:pt>
                <c:pt idx="4">
                  <c:v>Lulu</c:v>
                </c:pt>
                <c:pt idx="5">
                  <c:v>Wellness</c:v>
                </c:pt>
                <c:pt idx="6">
                  <c:v>H&amp;G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37.9</c:v>
                </c:pt>
                <c:pt idx="1">
                  <c:v>24.7</c:v>
                </c:pt>
                <c:pt idx="2">
                  <c:v>18.7</c:v>
                </c:pt>
                <c:pt idx="3">
                  <c:v>5.2</c:v>
                </c:pt>
                <c:pt idx="4">
                  <c:v>2.9</c:v>
                </c:pt>
                <c:pt idx="5">
                  <c:v>2.5</c:v>
                </c:pt>
                <c:pt idx="6">
                  <c:v>2.2000000000000002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5AF-4EE4-884F-89762958C5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483303023"/>
        <c:axId val="1483303503"/>
      </c:barChart>
      <c:valAx>
        <c:axId val="1483303503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1483303023"/>
        <c:crosses val="autoZero"/>
        <c:crossBetween val="between"/>
      </c:valAx>
      <c:catAx>
        <c:axId val="1483303023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48330350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1.5779382112253881E-2"/>
          <c:y val="0.25109876483050692"/>
          <c:w val="0.95226512081418879"/>
          <c:h val="0.5827213652023138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865</c:v>
                </c:pt>
                <c:pt idx="1">
                  <c:v>836</c:v>
                </c:pt>
                <c:pt idx="2">
                  <c:v>810</c:v>
                </c:pt>
                <c:pt idx="3">
                  <c:v>903</c:v>
                </c:pt>
                <c:pt idx="4">
                  <c:v>756</c:v>
                </c:pt>
                <c:pt idx="5">
                  <c:v>867</c:v>
                </c:pt>
                <c:pt idx="6">
                  <c:v>803</c:v>
                </c:pt>
                <c:pt idx="7">
                  <c:v>768</c:v>
                </c:pt>
                <c:pt idx="8">
                  <c:v>843</c:v>
                </c:pt>
                <c:pt idx="9">
                  <c:v>828</c:v>
                </c:pt>
                <c:pt idx="10">
                  <c:v>935</c:v>
                </c:pt>
                <c:pt idx="11">
                  <c:v>1000</c:v>
                </c:pt>
                <c:pt idx="12">
                  <c:v>1112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FCF4-4797-A596-F345064552A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46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0104286522012647E-2"/>
          <c:y val="0.2510982201560491"/>
          <c:w val="0.94901638652967191"/>
          <c:h val="0.59937219626576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CC0066">
                <a:alpha val="92549"/>
              </a:srgb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516</c:v>
                </c:pt>
                <c:pt idx="1">
                  <c:v>491</c:v>
                </c:pt>
                <c:pt idx="2">
                  <c:v>509</c:v>
                </c:pt>
                <c:pt idx="3">
                  <c:v>635</c:v>
                </c:pt>
                <c:pt idx="4">
                  <c:v>489</c:v>
                </c:pt>
                <c:pt idx="5">
                  <c:v>601</c:v>
                </c:pt>
                <c:pt idx="6">
                  <c:v>534</c:v>
                </c:pt>
                <c:pt idx="7">
                  <c:v>633</c:v>
                </c:pt>
                <c:pt idx="8">
                  <c:v>701</c:v>
                </c:pt>
                <c:pt idx="9">
                  <c:v>570</c:v>
                </c:pt>
                <c:pt idx="10">
                  <c:v>630</c:v>
                </c:pt>
                <c:pt idx="11">
                  <c:v>715</c:v>
                </c:pt>
                <c:pt idx="12">
                  <c:v>787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721-4F38-B758-5A355A011A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46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120629355289873E-2"/>
          <c:y val="0.26949285491099939"/>
          <c:w val="0.91851889873353298"/>
          <c:h val="0.46159014040498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4706"/>
              </a:srgb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211</c:v>
                </c:pt>
                <c:pt idx="1">
                  <c:v>144</c:v>
                </c:pt>
                <c:pt idx="2">
                  <c:v>101</c:v>
                </c:pt>
                <c:pt idx="3">
                  <c:v>94</c:v>
                </c:pt>
                <c:pt idx="4">
                  <c:v>87</c:v>
                </c:pt>
                <c:pt idx="5">
                  <c:v>103</c:v>
                </c:pt>
                <c:pt idx="6">
                  <c:v>91</c:v>
                </c:pt>
                <c:pt idx="7">
                  <c:v>92</c:v>
                </c:pt>
                <c:pt idx="8">
                  <c:v>109</c:v>
                </c:pt>
                <c:pt idx="9">
                  <c:v>166</c:v>
                </c:pt>
                <c:pt idx="10">
                  <c:v>306</c:v>
                </c:pt>
                <c:pt idx="11">
                  <c:v>364</c:v>
                </c:pt>
                <c:pt idx="12">
                  <c:v>352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FEDF-4B4A-BEFA-A31E29BCC0C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/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>
        <a:defRPr sz="750" b="1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5011820330969264E-2"/>
          <c:y val="0.21971123666038919"/>
          <c:w val="0.86984838331378789"/>
          <c:h val="0.63075969670457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44</c:v>
                </c:pt>
                <c:pt idx="1">
                  <c:v>47</c:v>
                </c:pt>
                <c:pt idx="2">
                  <c:v>56</c:v>
                </c:pt>
                <c:pt idx="3">
                  <c:v>70</c:v>
                </c:pt>
                <c:pt idx="4">
                  <c:v>73</c:v>
                </c:pt>
                <c:pt idx="5">
                  <c:v>90</c:v>
                </c:pt>
                <c:pt idx="6">
                  <c:v>106</c:v>
                </c:pt>
                <c:pt idx="7">
                  <c:v>171</c:v>
                </c:pt>
                <c:pt idx="8">
                  <c:v>307</c:v>
                </c:pt>
                <c:pt idx="9">
                  <c:v>281</c:v>
                </c:pt>
                <c:pt idx="10">
                  <c:v>340</c:v>
                </c:pt>
                <c:pt idx="11">
                  <c:v>405</c:v>
                </c:pt>
                <c:pt idx="12">
                  <c:v>557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A396-4471-9054-2499F13A825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0921985815602842E-2"/>
          <c:y val="0.20401757689893282"/>
          <c:w val="0.86393821782915436"/>
          <c:h val="0.6464533564660350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94</c:v>
                </c:pt>
                <c:pt idx="1">
                  <c:v>85</c:v>
                </c:pt>
                <c:pt idx="2">
                  <c:v>73</c:v>
                </c:pt>
                <c:pt idx="3">
                  <c:v>77</c:v>
                </c:pt>
                <c:pt idx="4">
                  <c:v>76</c:v>
                </c:pt>
                <c:pt idx="5">
                  <c:v>85</c:v>
                </c:pt>
                <c:pt idx="6">
                  <c:v>90</c:v>
                </c:pt>
                <c:pt idx="7">
                  <c:v>104</c:v>
                </c:pt>
                <c:pt idx="8">
                  <c:v>123</c:v>
                </c:pt>
                <c:pt idx="9">
                  <c:v>135</c:v>
                </c:pt>
                <c:pt idx="10">
                  <c:v>245</c:v>
                </c:pt>
                <c:pt idx="11">
                  <c:v>334</c:v>
                </c:pt>
                <c:pt idx="12">
                  <c:v>429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DAB6-4B7C-9B2B-EC9BDF7BA2C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  <c:userShapes r:id="rId2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3486625342045011E-2"/>
          <c:y val="0.19617074701820464"/>
          <c:w val="0.93486020364475708"/>
          <c:h val="0.6543001863467631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63</c:v>
                </c:pt>
                <c:pt idx="1">
                  <c:v>60</c:v>
                </c:pt>
                <c:pt idx="2">
                  <c:v>64</c:v>
                </c:pt>
                <c:pt idx="3">
                  <c:v>71</c:v>
                </c:pt>
                <c:pt idx="4">
                  <c:v>58</c:v>
                </c:pt>
                <c:pt idx="5">
                  <c:v>69</c:v>
                </c:pt>
                <c:pt idx="6">
                  <c:v>75</c:v>
                </c:pt>
                <c:pt idx="7">
                  <c:v>92</c:v>
                </c:pt>
                <c:pt idx="8">
                  <c:v>92</c:v>
                </c:pt>
                <c:pt idx="9">
                  <c:v>78</c:v>
                </c:pt>
                <c:pt idx="10">
                  <c:v>80</c:v>
                </c:pt>
                <c:pt idx="11">
                  <c:v>96</c:v>
                </c:pt>
                <c:pt idx="12">
                  <c:v>92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6E10-4B2C-9E7C-D3436EF7603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  <c:userShapes r:id="rId2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May-26 NSV</c:v>
                </c:pt>
              </c:strCache>
            </c:strRef>
          </c:tx>
          <c:spPr>
            <a:solidFill>
              <a:srgbClr val="1F5A8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East</c:v>
                </c:pt>
                <c:pt idx="1">
                  <c:v>North</c:v>
                </c:pt>
                <c:pt idx="2">
                  <c:v>South-1</c:v>
                </c:pt>
                <c:pt idx="3">
                  <c:v>South-2</c:v>
                </c:pt>
                <c:pt idx="4">
                  <c:v>West</c:v>
                </c:pt>
                <c:pt idx="5">
                  <c:v>Pan India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411</c:v>
                </c:pt>
                <c:pt idx="1">
                  <c:v>934</c:v>
                </c:pt>
                <c:pt idx="2">
                  <c:v>894</c:v>
                </c:pt>
                <c:pt idx="3">
                  <c:v>554</c:v>
                </c:pt>
                <c:pt idx="4">
                  <c:v>1017</c:v>
                </c:pt>
                <c:pt idx="5">
                  <c:v>208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A1E1-4A86-928A-6318F3BF648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/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BD5E1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578200483091799E-2"/>
          <c:y val="6.2499999999999986E-2"/>
          <c:w val="0.6145229468599035"/>
          <c:h val="0.89739858906525583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Zone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5A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09F-4732-9B05-022234032F3D}"/>
              </c:ext>
            </c:extLst>
          </c:dPt>
          <c:dPt>
            <c:idx val="1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09F-4732-9B05-022234032F3D}"/>
              </c:ext>
            </c:extLst>
          </c:dPt>
          <c:dPt>
            <c:idx val="2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09F-4732-9B05-022234032F3D}"/>
              </c:ext>
            </c:extLst>
          </c:dPt>
          <c:dPt>
            <c:idx val="3"/>
            <c:bubble3D val="0"/>
            <c:spPr>
              <a:solidFill>
                <a:srgbClr val="7E57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09F-4732-9B05-022234032F3D}"/>
              </c:ext>
            </c:extLst>
          </c:dPt>
          <c:dPt>
            <c:idx val="4"/>
            <c:bubble3D val="0"/>
            <c:spPr>
              <a:solidFill>
                <a:srgbClr val="D66B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09F-4732-9B05-022234032F3D}"/>
              </c:ext>
            </c:extLst>
          </c:dPt>
          <c:dPt>
            <c:idx val="5"/>
            <c:bubble3D val="0"/>
            <c:spPr>
              <a:solidFill>
                <a:srgbClr val="A0AE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09F-4732-9B05-022234032F3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09F-4732-9B05-022234032F3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09F-4732-9B05-022234032F3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09F-4732-9B05-022234032F3D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09F-4732-9B05-022234032F3D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09F-4732-9B05-022234032F3D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09F-4732-9B05-022234032F3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East</c:v>
                </c:pt>
                <c:pt idx="1">
                  <c:v>North</c:v>
                </c:pt>
                <c:pt idx="2">
                  <c:v>South-1</c:v>
                </c:pt>
                <c:pt idx="3">
                  <c:v>South-2</c:v>
                </c:pt>
                <c:pt idx="4">
                  <c:v>West</c:v>
                </c:pt>
                <c:pt idx="5">
                  <c:v>Pan India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10.3</c:v>
                </c:pt>
                <c:pt idx="1">
                  <c:v>23.2</c:v>
                </c:pt>
                <c:pt idx="2">
                  <c:v>22.3</c:v>
                </c:pt>
                <c:pt idx="3">
                  <c:v>13.8</c:v>
                </c:pt>
                <c:pt idx="4">
                  <c:v>25.3</c:v>
                </c:pt>
                <c:pt idx="5">
                  <c:v>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09F-4732-9B05-022234032F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2718297101449281"/>
          <c:y val="4.7062610229276887E-2"/>
          <c:w val="0.24980978260869566"/>
          <c:h val="0.90027513227513223"/>
        </c:manualLayout>
      </c:layout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>
        <a:defRPr sz="16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5421926234492152E-2"/>
          <c:y val="0.26864134364336634"/>
          <c:w val="0.93170112609475297"/>
          <c:h val="0.581829144721887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92</c:v>
                </c:pt>
                <c:pt idx="1">
                  <c:v>97</c:v>
                </c:pt>
                <c:pt idx="2">
                  <c:v>102</c:v>
                </c:pt>
                <c:pt idx="3">
                  <c:v>105</c:v>
                </c:pt>
                <c:pt idx="4">
                  <c:v>107</c:v>
                </c:pt>
                <c:pt idx="5">
                  <c:v>106</c:v>
                </c:pt>
                <c:pt idx="6">
                  <c:v>105</c:v>
                </c:pt>
                <c:pt idx="7">
                  <c:v>105</c:v>
                </c:pt>
                <c:pt idx="8">
                  <c:v>106</c:v>
                </c:pt>
                <c:pt idx="9">
                  <c:v>109</c:v>
                </c:pt>
                <c:pt idx="10">
                  <c:v>114</c:v>
                </c:pt>
                <c:pt idx="11">
                  <c:v>120</c:v>
                </c:pt>
                <c:pt idx="12">
                  <c:v>132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4.4928814803513822E-2"/>
          <c:y val="0.21060446415131887"/>
          <c:w val="0.90237313469136882"/>
          <c:h val="0.5981957664803415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CC00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69</c:v>
                </c:pt>
                <c:pt idx="1">
                  <c:v>75</c:v>
                </c:pt>
                <c:pt idx="2">
                  <c:v>80</c:v>
                </c:pt>
                <c:pt idx="3">
                  <c:v>84</c:v>
                </c:pt>
                <c:pt idx="4">
                  <c:v>87</c:v>
                </c:pt>
                <c:pt idx="5">
                  <c:v>88</c:v>
                </c:pt>
                <c:pt idx="6">
                  <c:v>89</c:v>
                </c:pt>
                <c:pt idx="7">
                  <c:v>90</c:v>
                </c:pt>
                <c:pt idx="8">
                  <c:v>92</c:v>
                </c:pt>
                <c:pt idx="9">
                  <c:v>95</c:v>
                </c:pt>
                <c:pt idx="10">
                  <c:v>101</c:v>
                </c:pt>
                <c:pt idx="11">
                  <c:v>108</c:v>
                </c:pt>
                <c:pt idx="12">
                  <c:v>122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853393475036016E-2"/>
          <c:y val="0.20540967764644144"/>
          <c:w val="0.92341816753503314"/>
          <c:h val="0.6256135725119514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14</c:v>
                </c:pt>
                <c:pt idx="1">
                  <c:v>15</c:v>
                </c:pt>
                <c:pt idx="2">
                  <c:v>15</c:v>
                </c:pt>
                <c:pt idx="3">
                  <c:v>16</c:v>
                </c:pt>
                <c:pt idx="4">
                  <c:v>17</c:v>
                </c:pt>
                <c:pt idx="5">
                  <c:v>19</c:v>
                </c:pt>
                <c:pt idx="6">
                  <c:v>20</c:v>
                </c:pt>
                <c:pt idx="7">
                  <c:v>22</c:v>
                </c:pt>
                <c:pt idx="8">
                  <c:v>24</c:v>
                </c:pt>
                <c:pt idx="9">
                  <c:v>27</c:v>
                </c:pt>
                <c:pt idx="10">
                  <c:v>30</c:v>
                </c:pt>
                <c:pt idx="11">
                  <c:v>30</c:v>
                </c:pt>
                <c:pt idx="12">
                  <c:v>36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26365675834534624"/>
          <c:w val="0.92972068460169122"/>
          <c:h val="0.547888994276624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</c:v>
                </c:pt>
                <c:pt idx="1">
                  <c:v>4</c:v>
                </c:pt>
                <c:pt idx="2">
                  <c:v>6</c:v>
                </c:pt>
                <c:pt idx="3">
                  <c:v>7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287637383212361E-2"/>
          <c:y val="0.25504911390463525"/>
          <c:w val="0.92958685215902304"/>
          <c:h val="0.5483802317332703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9</c:v>
                </c:pt>
                <c:pt idx="4">
                  <c:v>9</c:v>
                </c:pt>
                <c:pt idx="5">
                  <c:v>10</c:v>
                </c:pt>
                <c:pt idx="6">
                  <c:v>10</c:v>
                </c:pt>
                <c:pt idx="7">
                  <c:v>11</c:v>
                </c:pt>
                <c:pt idx="8">
                  <c:v>12</c:v>
                </c:pt>
                <c:pt idx="9">
                  <c:v>14</c:v>
                </c:pt>
                <c:pt idx="10">
                  <c:v>15</c:v>
                </c:pt>
                <c:pt idx="11">
                  <c:v>15</c:v>
                </c:pt>
                <c:pt idx="12">
                  <c:v>18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6896996038139206E-2"/>
          <c:y val="0.22413394136912687"/>
          <c:w val="0.93013806859507275"/>
          <c:h val="0.587411405433285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</c:v>
                </c:pt>
                <c:pt idx="1">
                  <c:v>9</c:v>
                </c:pt>
                <c:pt idx="2">
                  <c:v>9</c:v>
                </c:pt>
                <c:pt idx="3">
                  <c:v>8</c:v>
                </c:pt>
                <c:pt idx="4">
                  <c:v>8</c:v>
                </c:pt>
                <c:pt idx="5">
                  <c:v>7</c:v>
                </c:pt>
                <c:pt idx="6">
                  <c:v>7</c:v>
                </c:pt>
                <c:pt idx="7">
                  <c:v>7</c:v>
                </c:pt>
                <c:pt idx="8">
                  <c:v>7</c:v>
                </c:pt>
                <c:pt idx="9">
                  <c:v>8</c:v>
                </c:pt>
                <c:pt idx="10">
                  <c:v>7</c:v>
                </c:pt>
                <c:pt idx="11">
                  <c:v>7</c:v>
                </c:pt>
                <c:pt idx="12">
                  <c:v>7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2738344308678995E-2"/>
          <c:y val="0.25219642803472847"/>
          <c:w val="0.94379813555378289"/>
          <c:h val="0.606473123931681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202</c:v>
                </c:pt>
                <c:pt idx="1">
                  <c:v>191</c:v>
                </c:pt>
                <c:pt idx="2">
                  <c:v>187</c:v>
                </c:pt>
                <c:pt idx="3">
                  <c:v>227</c:v>
                </c:pt>
                <c:pt idx="4">
                  <c:v>177</c:v>
                </c:pt>
                <c:pt idx="5">
                  <c:v>199</c:v>
                </c:pt>
                <c:pt idx="6">
                  <c:v>182</c:v>
                </c:pt>
                <c:pt idx="7">
                  <c:v>181</c:v>
                </c:pt>
                <c:pt idx="8">
                  <c:v>198</c:v>
                </c:pt>
                <c:pt idx="9">
                  <c:v>195</c:v>
                </c:pt>
                <c:pt idx="10">
                  <c:v>228</c:v>
                </c:pt>
                <c:pt idx="11">
                  <c:v>245</c:v>
                </c:pt>
                <c:pt idx="12">
                  <c:v>262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8390893228502782E-2"/>
          <c:y val="8.933430277358391E-2"/>
          <c:w val="0.93375367464054193"/>
          <c:h val="0.7477236379076717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75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122</c:v>
                </c:pt>
                <c:pt idx="1">
                  <c:v>102</c:v>
                </c:pt>
                <c:pt idx="2">
                  <c:v>114</c:v>
                </c:pt>
                <c:pt idx="3">
                  <c:v>160</c:v>
                </c:pt>
                <c:pt idx="4">
                  <c:v>109</c:v>
                </c:pt>
                <c:pt idx="5">
                  <c:v>136</c:v>
                </c:pt>
                <c:pt idx="6">
                  <c:v>119</c:v>
                </c:pt>
                <c:pt idx="7">
                  <c:v>146</c:v>
                </c:pt>
                <c:pt idx="8">
                  <c:v>171</c:v>
                </c:pt>
                <c:pt idx="9">
                  <c:v>134</c:v>
                </c:pt>
                <c:pt idx="10">
                  <c:v>146</c:v>
                </c:pt>
                <c:pt idx="11">
                  <c:v>176</c:v>
                </c:pt>
                <c:pt idx="12">
                  <c:v>188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0085690813967721E-2"/>
          <c:y val="0.16478363112192507"/>
          <c:w val="0.94842686584444846"/>
          <c:h val="0.672273781531627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59</c:v>
                </c:pt>
                <c:pt idx="1">
                  <c:v>45</c:v>
                </c:pt>
                <c:pt idx="2">
                  <c:v>26</c:v>
                </c:pt>
                <c:pt idx="3">
                  <c:v>23</c:v>
                </c:pt>
                <c:pt idx="4">
                  <c:v>21</c:v>
                </c:pt>
                <c:pt idx="5">
                  <c:v>23</c:v>
                </c:pt>
                <c:pt idx="6">
                  <c:v>20</c:v>
                </c:pt>
                <c:pt idx="7">
                  <c:v>22</c:v>
                </c:pt>
                <c:pt idx="8">
                  <c:v>22</c:v>
                </c:pt>
                <c:pt idx="9">
                  <c:v>40</c:v>
                </c:pt>
                <c:pt idx="10">
                  <c:v>72</c:v>
                </c:pt>
                <c:pt idx="11">
                  <c:v>86</c:v>
                </c:pt>
                <c:pt idx="12">
                  <c:v>89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1908583578582026E-2"/>
          <c:y val="0.31309240053509868"/>
          <c:w val="0.86737027670079103"/>
          <c:h val="0.498453352086871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7</c:v>
                </c:pt>
                <c:pt idx="1">
                  <c:v>9</c:v>
                </c:pt>
                <c:pt idx="2">
                  <c:v>12</c:v>
                </c:pt>
                <c:pt idx="3">
                  <c:v>18</c:v>
                </c:pt>
                <c:pt idx="4">
                  <c:v>21</c:v>
                </c:pt>
                <c:pt idx="5">
                  <c:v>27</c:v>
                </c:pt>
                <c:pt idx="6">
                  <c:v>29</c:v>
                </c:pt>
                <c:pt idx="7">
                  <c:v>43</c:v>
                </c:pt>
                <c:pt idx="8">
                  <c:v>67</c:v>
                </c:pt>
                <c:pt idx="9">
                  <c:v>63</c:v>
                </c:pt>
                <c:pt idx="10">
                  <c:v>84</c:v>
                </c:pt>
                <c:pt idx="11">
                  <c:v>94</c:v>
                </c:pt>
                <c:pt idx="12">
                  <c:v>132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4E-2"/>
          <c:y val="0.28013530574193035"/>
          <c:w val="0.92972068460169122"/>
          <c:h val="0.498453352086871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17</c:v>
                </c:pt>
                <c:pt idx="1">
                  <c:v>18</c:v>
                </c:pt>
                <c:pt idx="2">
                  <c:v>12</c:v>
                </c:pt>
                <c:pt idx="3">
                  <c:v>13</c:v>
                </c:pt>
                <c:pt idx="4">
                  <c:v>11</c:v>
                </c:pt>
                <c:pt idx="5">
                  <c:v>15</c:v>
                </c:pt>
                <c:pt idx="6">
                  <c:v>14</c:v>
                </c:pt>
                <c:pt idx="7">
                  <c:v>17</c:v>
                </c:pt>
                <c:pt idx="8">
                  <c:v>18</c:v>
                </c:pt>
                <c:pt idx="9">
                  <c:v>26</c:v>
                </c:pt>
                <c:pt idx="10">
                  <c:v>54</c:v>
                </c:pt>
                <c:pt idx="11">
                  <c:v>68</c:v>
                </c:pt>
                <c:pt idx="12">
                  <c:v>92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20038461797987842"/>
          <c:w val="0.92972068460169122"/>
          <c:h val="0.611160669100331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10</c:v>
                </c:pt>
                <c:pt idx="4">
                  <c:v>8</c:v>
                </c:pt>
                <c:pt idx="5">
                  <c:v>10</c:v>
                </c:pt>
                <c:pt idx="6">
                  <c:v>10</c:v>
                </c:pt>
                <c:pt idx="7">
                  <c:v>13</c:v>
                </c:pt>
                <c:pt idx="8">
                  <c:v>14</c:v>
                </c:pt>
                <c:pt idx="9">
                  <c:v>12</c:v>
                </c:pt>
                <c:pt idx="10">
                  <c:v>15</c:v>
                </c:pt>
                <c:pt idx="11">
                  <c:v>16</c:v>
                </c:pt>
                <c:pt idx="12">
                  <c:v>16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0921985815602842E-2"/>
          <c:y val="0.21971123666038919"/>
          <c:w val="0.86393821782915436"/>
          <c:h val="0.63075969670457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131</c:v>
                </c:pt>
                <c:pt idx="1">
                  <c:v>123</c:v>
                </c:pt>
                <c:pt idx="2">
                  <c:v>119</c:v>
                </c:pt>
                <c:pt idx="3">
                  <c:v>144</c:v>
                </c:pt>
                <c:pt idx="4">
                  <c:v>128</c:v>
                </c:pt>
                <c:pt idx="5">
                  <c:v>137</c:v>
                </c:pt>
                <c:pt idx="6">
                  <c:v>126</c:v>
                </c:pt>
                <c:pt idx="7">
                  <c:v>129</c:v>
                </c:pt>
                <c:pt idx="8">
                  <c:v>138</c:v>
                </c:pt>
                <c:pt idx="9">
                  <c:v>136</c:v>
                </c:pt>
                <c:pt idx="10">
                  <c:v>144</c:v>
                </c:pt>
                <c:pt idx="11">
                  <c:v>162</c:v>
                </c:pt>
                <c:pt idx="12">
                  <c:v>189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8390893228502782E-2"/>
          <c:y val="0.18678990579931179"/>
          <c:w val="0.90162823401020409"/>
          <c:h val="0.5727837962794214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75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105</c:v>
                </c:pt>
                <c:pt idx="1">
                  <c:v>104</c:v>
                </c:pt>
                <c:pt idx="2">
                  <c:v>108</c:v>
                </c:pt>
                <c:pt idx="3">
                  <c:v>128</c:v>
                </c:pt>
                <c:pt idx="4">
                  <c:v>108</c:v>
                </c:pt>
                <c:pt idx="5">
                  <c:v>124</c:v>
                </c:pt>
                <c:pt idx="6">
                  <c:v>107</c:v>
                </c:pt>
                <c:pt idx="7">
                  <c:v>125</c:v>
                </c:pt>
                <c:pt idx="8">
                  <c:v>143</c:v>
                </c:pt>
                <c:pt idx="9">
                  <c:v>119</c:v>
                </c:pt>
                <c:pt idx="10">
                  <c:v>130</c:v>
                </c:pt>
                <c:pt idx="11">
                  <c:v>139</c:v>
                </c:pt>
                <c:pt idx="12">
                  <c:v>170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0589468483624795E-2"/>
          <c:y val="0.22163312522741269"/>
          <c:w val="0.91737162397150918"/>
          <c:h val="0.593147276451332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32</c:v>
                </c:pt>
                <c:pt idx="1">
                  <c:v>23</c:v>
                </c:pt>
                <c:pt idx="2">
                  <c:v>20</c:v>
                </c:pt>
                <c:pt idx="3">
                  <c:v>21</c:v>
                </c:pt>
                <c:pt idx="4">
                  <c:v>21</c:v>
                </c:pt>
                <c:pt idx="5">
                  <c:v>22</c:v>
                </c:pt>
                <c:pt idx="6">
                  <c:v>20</c:v>
                </c:pt>
                <c:pt idx="7">
                  <c:v>22</c:v>
                </c:pt>
                <c:pt idx="8">
                  <c:v>28</c:v>
                </c:pt>
                <c:pt idx="9">
                  <c:v>32</c:v>
                </c:pt>
                <c:pt idx="10">
                  <c:v>51</c:v>
                </c:pt>
                <c:pt idx="11">
                  <c:v>70</c:v>
                </c:pt>
                <c:pt idx="12">
                  <c:v>70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17302474766413348"/>
          <c:w val="0.92914325522157026"/>
          <c:h val="0.638521004957837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13</c:v>
                </c:pt>
                <c:pt idx="1">
                  <c:v>14</c:v>
                </c:pt>
                <c:pt idx="2">
                  <c:v>17</c:v>
                </c:pt>
                <c:pt idx="3">
                  <c:v>20</c:v>
                </c:pt>
                <c:pt idx="4">
                  <c:v>20</c:v>
                </c:pt>
                <c:pt idx="5">
                  <c:v>23</c:v>
                </c:pt>
                <c:pt idx="6">
                  <c:v>30</c:v>
                </c:pt>
                <c:pt idx="7">
                  <c:v>45</c:v>
                </c:pt>
                <c:pt idx="8">
                  <c:v>68</c:v>
                </c:pt>
                <c:pt idx="9">
                  <c:v>58</c:v>
                </c:pt>
                <c:pt idx="10">
                  <c:v>65</c:v>
                </c:pt>
                <c:pt idx="11">
                  <c:v>85</c:v>
                </c:pt>
                <c:pt idx="12">
                  <c:v>116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23069966355217797"/>
          <c:w val="0.92957621646821498"/>
          <c:h val="0.5808460890697925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29</c:v>
                </c:pt>
                <c:pt idx="1">
                  <c:v>30</c:v>
                </c:pt>
                <c:pt idx="2">
                  <c:v>29</c:v>
                </c:pt>
                <c:pt idx="3">
                  <c:v>31</c:v>
                </c:pt>
                <c:pt idx="4">
                  <c:v>33</c:v>
                </c:pt>
                <c:pt idx="5">
                  <c:v>28</c:v>
                </c:pt>
                <c:pt idx="6">
                  <c:v>31</c:v>
                </c:pt>
                <c:pt idx="7">
                  <c:v>40</c:v>
                </c:pt>
                <c:pt idx="8">
                  <c:v>48</c:v>
                </c:pt>
                <c:pt idx="9">
                  <c:v>40</c:v>
                </c:pt>
                <c:pt idx="10">
                  <c:v>72</c:v>
                </c:pt>
                <c:pt idx="11">
                  <c:v>115</c:v>
                </c:pt>
                <c:pt idx="12">
                  <c:v>131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16478547396584139"/>
          <c:w val="0.92957621646821498"/>
          <c:h val="0.6467602786561291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16</c:v>
                </c:pt>
                <c:pt idx="1">
                  <c:v>16</c:v>
                </c:pt>
                <c:pt idx="2">
                  <c:v>18</c:v>
                </c:pt>
                <c:pt idx="3">
                  <c:v>20</c:v>
                </c:pt>
                <c:pt idx="4">
                  <c:v>17</c:v>
                </c:pt>
                <c:pt idx="5">
                  <c:v>20</c:v>
                </c:pt>
                <c:pt idx="6">
                  <c:v>21</c:v>
                </c:pt>
                <c:pt idx="7">
                  <c:v>27</c:v>
                </c:pt>
                <c:pt idx="8">
                  <c:v>28</c:v>
                </c:pt>
                <c:pt idx="9">
                  <c:v>24</c:v>
                </c:pt>
                <c:pt idx="10">
                  <c:v>24</c:v>
                </c:pt>
                <c:pt idx="11">
                  <c:v>28</c:v>
                </c:pt>
                <c:pt idx="12">
                  <c:v>30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9194841625148085E-2"/>
          <c:y val="0.20309637175823234"/>
          <c:w val="0.92479277329480847"/>
          <c:h val="0.647374304745620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96</c:v>
                </c:pt>
                <c:pt idx="1">
                  <c:v>108</c:v>
                </c:pt>
                <c:pt idx="2">
                  <c:v>102</c:v>
                </c:pt>
                <c:pt idx="3">
                  <c:v>98</c:v>
                </c:pt>
                <c:pt idx="4">
                  <c:v>87</c:v>
                </c:pt>
                <c:pt idx="5">
                  <c:v>100</c:v>
                </c:pt>
                <c:pt idx="6">
                  <c:v>93</c:v>
                </c:pt>
                <c:pt idx="7">
                  <c:v>91</c:v>
                </c:pt>
                <c:pt idx="8">
                  <c:v>104</c:v>
                </c:pt>
                <c:pt idx="9">
                  <c:v>101</c:v>
                </c:pt>
                <c:pt idx="10">
                  <c:v>115</c:v>
                </c:pt>
                <c:pt idx="11">
                  <c:v>121</c:v>
                </c:pt>
                <c:pt idx="12">
                  <c:v>144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8390893228502782E-2"/>
          <c:y val="0.21241486149059391"/>
          <c:w val="0.90162823401020409"/>
          <c:h val="0.5796445426378884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75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76</c:v>
                </c:pt>
                <c:pt idx="1">
                  <c:v>81</c:v>
                </c:pt>
                <c:pt idx="2">
                  <c:v>80</c:v>
                </c:pt>
                <c:pt idx="3">
                  <c:v>84</c:v>
                </c:pt>
                <c:pt idx="4">
                  <c:v>74</c:v>
                </c:pt>
                <c:pt idx="5">
                  <c:v>95</c:v>
                </c:pt>
                <c:pt idx="6">
                  <c:v>87</c:v>
                </c:pt>
                <c:pt idx="7">
                  <c:v>104</c:v>
                </c:pt>
                <c:pt idx="8">
                  <c:v>108</c:v>
                </c:pt>
                <c:pt idx="9">
                  <c:v>92</c:v>
                </c:pt>
                <c:pt idx="10">
                  <c:v>103</c:v>
                </c:pt>
                <c:pt idx="11">
                  <c:v>110</c:v>
                </c:pt>
                <c:pt idx="12">
                  <c:v>119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4.7792295246022756E-2"/>
          <c:y val="0.16478363112192507"/>
          <c:w val="0.88706785213551886"/>
          <c:h val="0.649996354617834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20</c:v>
                </c:pt>
                <c:pt idx="1">
                  <c:v>15</c:v>
                </c:pt>
                <c:pt idx="2">
                  <c:v>12</c:v>
                </c:pt>
                <c:pt idx="3">
                  <c:v>11</c:v>
                </c:pt>
                <c:pt idx="4">
                  <c:v>10</c:v>
                </c:pt>
                <c:pt idx="5">
                  <c:v>11</c:v>
                </c:pt>
                <c:pt idx="6">
                  <c:v>9</c:v>
                </c:pt>
                <c:pt idx="7">
                  <c:v>9</c:v>
                </c:pt>
                <c:pt idx="8">
                  <c:v>12</c:v>
                </c:pt>
                <c:pt idx="9">
                  <c:v>14</c:v>
                </c:pt>
                <c:pt idx="10">
                  <c:v>31</c:v>
                </c:pt>
                <c:pt idx="11">
                  <c:v>38</c:v>
                </c:pt>
                <c:pt idx="12">
                  <c:v>40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7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20598184245730175"/>
          <c:w val="0.92957621646821498"/>
          <c:h val="0.597324636466376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5</c:v>
                </c:pt>
                <c:pt idx="6">
                  <c:v>7</c:v>
                </c:pt>
                <c:pt idx="7">
                  <c:v>14</c:v>
                </c:pt>
                <c:pt idx="8">
                  <c:v>28</c:v>
                </c:pt>
                <c:pt idx="9">
                  <c:v>21</c:v>
                </c:pt>
                <c:pt idx="10">
                  <c:v>29</c:v>
                </c:pt>
                <c:pt idx="11">
                  <c:v>42</c:v>
                </c:pt>
                <c:pt idx="12">
                  <c:v>62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1908583578582026E-2"/>
          <c:y val="0.22246038985388589"/>
          <c:w val="0.89257420499319096"/>
          <c:h val="0.589085362768084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</c:v>
                </c:pt>
                <c:pt idx="1">
                  <c:v>10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8</c:v>
                </c:pt>
                <c:pt idx="6">
                  <c:v>9</c:v>
                </c:pt>
                <c:pt idx="7">
                  <c:v>13</c:v>
                </c:pt>
                <c:pt idx="8">
                  <c:v>17</c:v>
                </c:pt>
                <c:pt idx="9">
                  <c:v>15</c:v>
                </c:pt>
                <c:pt idx="10">
                  <c:v>25</c:v>
                </c:pt>
                <c:pt idx="11">
                  <c:v>35</c:v>
                </c:pt>
                <c:pt idx="12">
                  <c:v>57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7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1908583578582026E-2"/>
          <c:y val="0.17302474766413348"/>
          <c:w val="0.86737027670079103"/>
          <c:h val="0.638521004957837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8</c:v>
                </c:pt>
                <c:pt idx="10">
                  <c:v>8</c:v>
                </c:pt>
                <c:pt idx="11">
                  <c:v>10</c:v>
                </c:pt>
                <c:pt idx="12">
                  <c:v>10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0921985815602842E-2"/>
          <c:y val="0.21971123666038919"/>
          <c:w val="0.86393821782915436"/>
          <c:h val="0.63075969670457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movingAvg"/>
            <c:period val="2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273</c:v>
                </c:pt>
                <c:pt idx="1">
                  <c:v>258</c:v>
                </c:pt>
                <c:pt idx="2">
                  <c:v>229</c:v>
                </c:pt>
                <c:pt idx="3">
                  <c:v>257</c:v>
                </c:pt>
                <c:pt idx="4">
                  <c:v>216</c:v>
                </c:pt>
                <c:pt idx="5">
                  <c:v>287</c:v>
                </c:pt>
                <c:pt idx="6">
                  <c:v>248</c:v>
                </c:pt>
                <c:pt idx="7">
                  <c:v>217</c:v>
                </c:pt>
                <c:pt idx="8">
                  <c:v>225</c:v>
                </c:pt>
                <c:pt idx="9">
                  <c:v>224</c:v>
                </c:pt>
                <c:pt idx="10">
                  <c:v>260</c:v>
                </c:pt>
                <c:pt idx="11">
                  <c:v>259</c:v>
                </c:pt>
                <c:pt idx="12">
                  <c:v>290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2453133187050578E-2"/>
          <c:y val="0.19954296804295799"/>
          <c:w val="0.91470400990001632"/>
          <c:h val="0.620034993866017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75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name>12</c:nam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130</c:v>
                </c:pt>
                <c:pt idx="1">
                  <c:v>133</c:v>
                </c:pt>
                <c:pt idx="2">
                  <c:v>128</c:v>
                </c:pt>
                <c:pt idx="3">
                  <c:v>149</c:v>
                </c:pt>
                <c:pt idx="4">
                  <c:v>120</c:v>
                </c:pt>
                <c:pt idx="5">
                  <c:v>168</c:v>
                </c:pt>
                <c:pt idx="6">
                  <c:v>140</c:v>
                </c:pt>
                <c:pt idx="7">
                  <c:v>155</c:v>
                </c:pt>
                <c:pt idx="8">
                  <c:v>162</c:v>
                </c:pt>
                <c:pt idx="9">
                  <c:v>142</c:v>
                </c:pt>
                <c:pt idx="10">
                  <c:v>164</c:v>
                </c:pt>
                <c:pt idx="11">
                  <c:v>169</c:v>
                </c:pt>
                <c:pt idx="12">
                  <c:v>175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4.7792295246022756E-2"/>
          <c:y val="0.16478363112192507"/>
          <c:w val="0.88706785213551886"/>
          <c:h val="0.649996354617834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64</c:v>
                </c:pt>
                <c:pt idx="1">
                  <c:v>34</c:v>
                </c:pt>
                <c:pt idx="2">
                  <c:v>19</c:v>
                </c:pt>
                <c:pt idx="3">
                  <c:v>20</c:v>
                </c:pt>
                <c:pt idx="4">
                  <c:v>18</c:v>
                </c:pt>
                <c:pt idx="5">
                  <c:v>30</c:v>
                </c:pt>
                <c:pt idx="6">
                  <c:v>22</c:v>
                </c:pt>
                <c:pt idx="7">
                  <c:v>20</c:v>
                </c:pt>
                <c:pt idx="8">
                  <c:v>23</c:v>
                </c:pt>
                <c:pt idx="9">
                  <c:v>45</c:v>
                </c:pt>
                <c:pt idx="10">
                  <c:v>107</c:v>
                </c:pt>
                <c:pt idx="11">
                  <c:v>103</c:v>
                </c:pt>
                <c:pt idx="12">
                  <c:v>88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18126402136242553"/>
          <c:w val="0.92914325522157026"/>
          <c:h val="0.6138031838629607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13</c:v>
                </c:pt>
                <c:pt idx="1">
                  <c:v>13</c:v>
                </c:pt>
                <c:pt idx="2">
                  <c:v>14</c:v>
                </c:pt>
                <c:pt idx="3">
                  <c:v>18</c:v>
                </c:pt>
                <c:pt idx="4">
                  <c:v>18</c:v>
                </c:pt>
                <c:pt idx="5">
                  <c:v>24</c:v>
                </c:pt>
                <c:pt idx="6">
                  <c:v>25</c:v>
                </c:pt>
                <c:pt idx="7">
                  <c:v>52</c:v>
                </c:pt>
                <c:pt idx="8">
                  <c:v>124</c:v>
                </c:pt>
                <c:pt idx="9">
                  <c:v>119</c:v>
                </c:pt>
                <c:pt idx="10">
                  <c:v>140</c:v>
                </c:pt>
                <c:pt idx="11">
                  <c:v>152</c:v>
                </c:pt>
                <c:pt idx="12">
                  <c:v>215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1908583578582026E-2"/>
          <c:y val="0.23069966355217797"/>
          <c:w val="0.86737027670079103"/>
          <c:h val="0.5808460890697925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22</c:v>
                </c:pt>
                <c:pt idx="1">
                  <c:v>15</c:v>
                </c:pt>
                <c:pt idx="2">
                  <c:v>13</c:v>
                </c:pt>
                <c:pt idx="3">
                  <c:v>14</c:v>
                </c:pt>
                <c:pt idx="4">
                  <c:v>13</c:v>
                </c:pt>
                <c:pt idx="5">
                  <c:v>23</c:v>
                </c:pt>
                <c:pt idx="6">
                  <c:v>23</c:v>
                </c:pt>
                <c:pt idx="7">
                  <c:v>24</c:v>
                </c:pt>
                <c:pt idx="8">
                  <c:v>26</c:v>
                </c:pt>
                <c:pt idx="9">
                  <c:v>38</c:v>
                </c:pt>
                <c:pt idx="10">
                  <c:v>74</c:v>
                </c:pt>
                <c:pt idx="11">
                  <c:v>85</c:v>
                </c:pt>
                <c:pt idx="12">
                  <c:v>119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22246038985388589"/>
          <c:w val="0.92972068460169122"/>
          <c:h val="0.5643675416732084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18</c:v>
                </c:pt>
                <c:pt idx="1">
                  <c:v>16</c:v>
                </c:pt>
                <c:pt idx="2">
                  <c:v>17</c:v>
                </c:pt>
                <c:pt idx="3">
                  <c:v>18</c:v>
                </c:pt>
                <c:pt idx="4">
                  <c:v>15</c:v>
                </c:pt>
                <c:pt idx="5">
                  <c:v>19</c:v>
                </c:pt>
                <c:pt idx="6">
                  <c:v>21</c:v>
                </c:pt>
                <c:pt idx="7">
                  <c:v>20</c:v>
                </c:pt>
                <c:pt idx="8">
                  <c:v>20</c:v>
                </c:pt>
                <c:pt idx="9">
                  <c:v>19</c:v>
                </c:pt>
                <c:pt idx="10">
                  <c:v>19</c:v>
                </c:pt>
                <c:pt idx="11">
                  <c:v>22</c:v>
                </c:pt>
                <c:pt idx="12">
                  <c:v>19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/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7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 marL="0" algn="ctr" defTabSz="914400" rtl="0" eaLnBrk="1" latinLnBrk="0" hangingPunct="1">
        <a:defRPr lang="en-US" sz="900" kern="1200">
          <a:solidFill>
            <a:srgbClr val="2E8B57"/>
          </a:solidFill>
          <a:latin typeface="+mn-lt"/>
          <a:ea typeface="+mn-ea"/>
          <a:cs typeface="+mn-cs"/>
        </a:defRPr>
      </a:pPr>
      <a:endParaRPr lang="en-US"/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3447513047785683E-2"/>
          <c:y val="0.26843902853901647"/>
          <c:w val="0.91533270220863006"/>
          <c:h val="0.582031847007492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2E8B57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70</c:v>
                </c:pt>
                <c:pt idx="1">
                  <c:v>74</c:v>
                </c:pt>
                <c:pt idx="2">
                  <c:v>93</c:v>
                </c:pt>
                <c:pt idx="3">
                  <c:v>73</c:v>
                </c:pt>
                <c:pt idx="4">
                  <c:v>68</c:v>
                </c:pt>
                <c:pt idx="5">
                  <c:v>64</c:v>
                </c:pt>
                <c:pt idx="6">
                  <c:v>74</c:v>
                </c:pt>
                <c:pt idx="7">
                  <c:v>68</c:v>
                </c:pt>
                <c:pt idx="8">
                  <c:v>71</c:v>
                </c:pt>
                <c:pt idx="9">
                  <c:v>74</c:v>
                </c:pt>
                <c:pt idx="10">
                  <c:v>73</c:v>
                </c:pt>
                <c:pt idx="11">
                  <c:v>93</c:v>
                </c:pt>
                <c:pt idx="12">
                  <c:v>96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9031813811643551E-2"/>
          <c:y val="0.23254205288042903"/>
          <c:w val="0.92098159106617783"/>
          <c:h val="0.5469356531929264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000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14</c:v>
                </c:pt>
                <c:pt idx="1">
                  <c:v>15</c:v>
                </c:pt>
                <c:pt idx="2">
                  <c:v>18</c:v>
                </c:pt>
                <c:pt idx="3">
                  <c:v>16</c:v>
                </c:pt>
                <c:pt idx="4">
                  <c:v>14</c:v>
                </c:pt>
                <c:pt idx="5">
                  <c:v>13</c:v>
                </c:pt>
                <c:pt idx="6">
                  <c:v>14</c:v>
                </c:pt>
                <c:pt idx="7">
                  <c:v>14</c:v>
                </c:pt>
                <c:pt idx="8">
                  <c:v>12</c:v>
                </c:pt>
                <c:pt idx="9">
                  <c:v>12</c:v>
                </c:pt>
                <c:pt idx="10">
                  <c:v>11</c:v>
                </c:pt>
                <c:pt idx="11">
                  <c:v>14</c:v>
                </c:pt>
                <c:pt idx="12">
                  <c:v>14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4.7792295246022756E-2"/>
          <c:y val="0.25367281326153923"/>
          <c:w val="0.88706785213551886"/>
          <c:h val="0.5611075276039179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22</c:v>
                </c:pt>
                <c:pt idx="1">
                  <c:v>16</c:v>
                </c:pt>
                <c:pt idx="2">
                  <c:v>14</c:v>
                </c:pt>
                <c:pt idx="3">
                  <c:v>10</c:v>
                </c:pt>
                <c:pt idx="4">
                  <c:v>9</c:v>
                </c:pt>
                <c:pt idx="5">
                  <c:v>9</c:v>
                </c:pt>
                <c:pt idx="6">
                  <c:v>10</c:v>
                </c:pt>
                <c:pt idx="7">
                  <c:v>10</c:v>
                </c:pt>
                <c:pt idx="8">
                  <c:v>12</c:v>
                </c:pt>
                <c:pt idx="9">
                  <c:v>19</c:v>
                </c:pt>
                <c:pt idx="10">
                  <c:v>26</c:v>
                </c:pt>
                <c:pt idx="11">
                  <c:v>37</c:v>
                </c:pt>
                <c:pt idx="12">
                  <c:v>29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1908583578582026E-2"/>
          <c:y val="0.23997508031646125"/>
          <c:w val="0.89064537276137967"/>
          <c:h val="0.571570147503916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</c:v>
                </c:pt>
                <c:pt idx="1">
                  <c:v>3</c:v>
                </c:pt>
                <c:pt idx="2">
                  <c:v>5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8</c:v>
                </c:pt>
                <c:pt idx="8">
                  <c:v>10</c:v>
                </c:pt>
                <c:pt idx="9">
                  <c:v>10</c:v>
                </c:pt>
                <c:pt idx="10">
                  <c:v>10</c:v>
                </c:pt>
                <c:pt idx="11">
                  <c:v>15</c:v>
                </c:pt>
                <c:pt idx="12">
                  <c:v>14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1908583578582026E-2"/>
          <c:y val="0.27189603204363832"/>
          <c:w val="0.89257420499319096"/>
          <c:h val="0.539649720578332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</c:v>
                </c:pt>
                <c:pt idx="1">
                  <c:v>7</c:v>
                </c:pt>
                <c:pt idx="2">
                  <c:v>6</c:v>
                </c:pt>
                <c:pt idx="3">
                  <c:v>6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4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16</c:v>
                </c:pt>
                <c:pt idx="12">
                  <c:v>12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28871814369160476"/>
          <c:w val="0.92741141023499118"/>
          <c:h val="0.522827895232126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</c:v>
                </c:pt>
                <c:pt idx="1">
                  <c:v>9</c:v>
                </c:pt>
                <c:pt idx="2">
                  <c:v>10</c:v>
                </c:pt>
                <c:pt idx="3">
                  <c:v>10</c:v>
                </c:pt>
                <c:pt idx="4">
                  <c:v>8</c:v>
                </c:pt>
                <c:pt idx="5">
                  <c:v>10</c:v>
                </c:pt>
                <c:pt idx="6">
                  <c:v>11</c:v>
                </c:pt>
                <c:pt idx="7">
                  <c:v>17</c:v>
                </c:pt>
                <c:pt idx="8">
                  <c:v>11</c:v>
                </c:pt>
                <c:pt idx="9">
                  <c:v>10</c:v>
                </c:pt>
                <c:pt idx="10">
                  <c:v>9</c:v>
                </c:pt>
                <c:pt idx="11">
                  <c:v>13</c:v>
                </c:pt>
                <c:pt idx="12">
                  <c:v>10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0.13544</cdr:x>
      <cdr:y>0.03437</cdr:y>
    </cdr:from>
    <cdr:to>
      <cdr:x>0.4784</cdr:x>
      <cdr:y>0.20956</cdr:y>
    </cdr:to>
    <cdr:sp macro="" textlink="">
      <cdr:nvSpPr>
        <cdr:cNvPr id="2" name="Text 5">
          <a:extLst xmlns:a="http://schemas.openxmlformats.org/drawingml/2006/main">
            <a:ext uri="{FF2B5EF4-FFF2-40B4-BE49-F238E27FC236}">
              <a16:creationId xmlns:a16="http://schemas.microsoft.com/office/drawing/2014/main" id="{573815EF-2900-A007-314E-40A00F1BF0E4}"/>
            </a:ext>
          </a:extLst>
        </cdr:cNvPr>
        <cdr:cNvSpPr/>
      </cdr:nvSpPr>
      <cdr:spPr>
        <a:xfrm xmlns:a="http://schemas.openxmlformats.org/drawingml/2006/main">
          <a:off x="318896" y="47036"/>
          <a:ext cx="807483" cy="239748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accent1"/>
        </a:fontRef>
      </cdr:style>
      <cdr:txBody>
        <a:bodyPr xmlns:a="http://schemas.openxmlformats.org/drawingml/2006/main" wrap="square" lIns="0" tIns="0" rIns="0" bIns="0" rtlCol="0" anchor="t"/>
        <a:lstStyle xmlns:a="http://schemas.openxmlformats.org/drawingml/2006/main">
          <a:lvl1pPr marL="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400" b="1" kern="1200" dirty="0">
              <a:solidFill>
                <a:schemeClr val="tx1"/>
              </a:solidFill>
              <a:effectLst/>
            </a:rPr>
            <a:t>Sun Care</a:t>
          </a:r>
          <a:endParaRPr lang="en-IN" sz="1400" dirty="0">
            <a:solidFill>
              <a:schemeClr val="tx1"/>
            </a:solidFill>
            <a:effectLst/>
          </a:endParaRPr>
        </a:p>
      </cdr:txBody>
    </cdr:sp>
  </cdr:relSizeAnchor>
  <cdr:relSizeAnchor xmlns:cdr="http://schemas.openxmlformats.org/drawingml/2006/chartDrawing">
    <cdr:from>
      <cdr:x>0.51536</cdr:x>
      <cdr:y>0.03243</cdr:y>
    </cdr:from>
    <cdr:to>
      <cdr:x>0.66517</cdr:x>
      <cdr:y>0.223</cdr:y>
    </cdr:to>
    <cdr:sp macro="" textlink="">
      <cdr:nvSpPr>
        <cdr:cNvPr id="3" name="Text 6">
          <a:extLst xmlns:a="http://schemas.openxmlformats.org/drawingml/2006/main">
            <a:ext uri="{FF2B5EF4-FFF2-40B4-BE49-F238E27FC236}">
              <a16:creationId xmlns:a16="http://schemas.microsoft.com/office/drawing/2014/main" id="{B8CC834D-A1C0-16B8-D31E-8DF1A466C48C}"/>
            </a:ext>
          </a:extLst>
        </cdr:cNvPr>
        <cdr:cNvSpPr/>
      </cdr:nvSpPr>
      <cdr:spPr>
        <a:xfrm xmlns:a="http://schemas.openxmlformats.org/drawingml/2006/main">
          <a:off x="1213397" y="44374"/>
          <a:ext cx="352719" cy="260798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accent1"/>
        </a:fontRef>
      </cdr:style>
      <cdr:txBody>
        <a:bodyPr xmlns:a="http://schemas.openxmlformats.org/drawingml/2006/main" wrap="square" lIns="0" tIns="0" rIns="0" bIns="0" rtlCol="0" anchor="t"/>
        <a:lstStyle xmlns:a="http://schemas.openxmlformats.org/drawingml/2006/main">
          <a:lvl1pPr marL="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indent="0" algn="l" defTabSz="914400" rtl="0" eaLnBrk="1" latinLnBrk="0" hangingPunct="1">
            <a:buNone/>
          </a:pPr>
          <a:r>
            <a:rPr lang="en-US" sz="800" b="1" kern="1200" dirty="0">
              <a:solidFill>
                <a:srgbClr val="2E8B57"/>
              </a:solidFill>
              <a:latin typeface="Calibri"/>
              <a:ea typeface="+mn-ea"/>
              <a:cs typeface="+mn-cs"/>
            </a:rPr>
            <a:t>GOLY </a:t>
          </a:r>
          <a:endParaRPr lang="en-IN" sz="800" b="1" kern="1200" dirty="0">
            <a:solidFill>
              <a:srgbClr val="2E8B57"/>
            </a:solidFill>
            <a:latin typeface="Calibri"/>
            <a:ea typeface="+mn-ea"/>
            <a:cs typeface="+mn-cs"/>
          </a:endParaRPr>
        </a:p>
        <a:p xmlns:a="http://schemas.openxmlformats.org/drawingml/2006/main">
          <a:pPr marL="0" indent="0" algn="l" defTabSz="914400" rtl="0" eaLnBrk="1" latinLnBrk="0" hangingPunct="1">
            <a:buNone/>
          </a:pPr>
          <a:r>
            <a:rPr lang="en-IN" sz="800" b="1" kern="1200" dirty="0">
              <a:solidFill>
                <a:srgbClr val="2E8B57"/>
              </a:solidFill>
              <a:latin typeface="Calibri"/>
              <a:ea typeface="+mn-ea"/>
              <a:cs typeface="+mn-cs"/>
            </a:rPr>
            <a:t>▲ 356</a:t>
          </a:r>
          <a:endParaRPr lang="en-US" sz="800" b="1" kern="1200" dirty="0">
            <a:solidFill>
              <a:srgbClr val="2E8B57"/>
            </a:solidFill>
            <a:latin typeface="Calibri"/>
            <a:ea typeface="+mn-ea"/>
            <a:cs typeface="+mn-cs"/>
          </a:endParaRPr>
        </a:p>
      </cdr:txBody>
    </cdr:sp>
  </cdr:relSizeAnchor>
  <cdr:relSizeAnchor xmlns:cdr="http://schemas.openxmlformats.org/drawingml/2006/chartDrawing">
    <cdr:from>
      <cdr:x>0.74517</cdr:x>
      <cdr:y>0.04669</cdr:y>
    </cdr:from>
    <cdr:to>
      <cdr:x>0.97788</cdr:x>
      <cdr:y>0.185</cdr:y>
    </cdr:to>
    <cdr:sp macro="" textlink="">
      <cdr:nvSpPr>
        <cdr:cNvPr id="4" name="Text 7">
          <a:extLst xmlns:a="http://schemas.openxmlformats.org/drawingml/2006/main">
            <a:ext uri="{FF2B5EF4-FFF2-40B4-BE49-F238E27FC236}">
              <a16:creationId xmlns:a16="http://schemas.microsoft.com/office/drawing/2014/main" id="{4ED6EDAE-5A2F-8C7E-D267-522D20C6C37E}"/>
            </a:ext>
          </a:extLst>
        </cdr:cNvPr>
        <cdr:cNvSpPr/>
      </cdr:nvSpPr>
      <cdr:spPr>
        <a:xfrm xmlns:a="http://schemas.openxmlformats.org/drawingml/2006/main">
          <a:off x="1754487" y="63894"/>
          <a:ext cx="547895" cy="189276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accent1"/>
        </a:fontRef>
      </cdr:style>
      <cdr:txBody>
        <a:bodyPr xmlns:a="http://schemas.openxmlformats.org/drawingml/2006/main" wrap="square" lIns="0" tIns="0" rIns="0" bIns="0" rtlCol="0" anchor="t"/>
        <a:lstStyle xmlns:a="http://schemas.openxmlformats.org/drawingml/2006/main">
          <a:lvl1pPr marL="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indent="0">
            <a:buNone/>
          </a:pPr>
          <a:r>
            <a:rPr sz="800" b="1">
              <a:solidFill>
                <a:srgbClr val="2E8B57"/>
              </a:solidFill>
              <a:latin typeface="Calibri"/>
            </a:rPr>
            <a:t>MoM </a:t>
          </a:r>
          <a:r>
            <a:rPr sz="800" b="1">
              <a:solidFill>
                <a:srgbClr val="008A3D"/>
              </a:solidFill>
              <a:latin typeface="Calibri"/>
            </a:rPr>
            <a:t>▲ </a:t>
          </a:r>
          <a:r>
            <a:rPr lang="en-IN" sz="800" b="1">
              <a:solidFill>
                <a:srgbClr val="008A3D"/>
              </a:solidFill>
              <a:latin typeface="Calibri"/>
            </a:rPr>
            <a:t>2</a:t>
          </a:r>
          <a:r>
            <a:rPr sz="800" b="1">
              <a:solidFill>
                <a:srgbClr val="008A3D"/>
              </a:solidFill>
              <a:latin typeface="Calibri"/>
            </a:rPr>
            <a:t>8%</a:t>
          </a:r>
          <a:endParaRPr lang="en-US" sz="800" b="1">
            <a:latin typeface="+mj-lt"/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0.14434</cdr:x>
      <cdr:y>0.02919</cdr:y>
    </cdr:from>
    <cdr:to>
      <cdr:x>0.60225</cdr:x>
      <cdr:y>0.21399</cdr:y>
    </cdr:to>
    <cdr:sp macro="" textlink="">
      <cdr:nvSpPr>
        <cdr:cNvPr id="2" name="Text 13">
          <a:extLst xmlns:a="http://schemas.openxmlformats.org/drawingml/2006/main">
            <a:ext uri="{FF2B5EF4-FFF2-40B4-BE49-F238E27FC236}">
              <a16:creationId xmlns:a16="http://schemas.microsoft.com/office/drawing/2014/main" id="{23EF3F87-F6D1-78AB-3C0F-B06F73797DE8}"/>
            </a:ext>
          </a:extLst>
        </cdr:cNvPr>
        <cdr:cNvSpPr/>
      </cdr:nvSpPr>
      <cdr:spPr>
        <a:xfrm xmlns:a="http://schemas.openxmlformats.org/drawingml/2006/main">
          <a:off x="320271" y="39940"/>
          <a:ext cx="1016000" cy="252908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dk1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wrap="square" lIns="0" tIns="0" rIns="0" bIns="0" rtlCol="0" anchor="t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indent="0">
            <a:buNone/>
          </a:pPr>
          <a:r>
            <a:rPr lang="en-US" sz="1400" b="1" dirty="0">
              <a:solidFill>
                <a:srgbClr val="111827"/>
              </a:solidFill>
              <a:latin typeface="Calibri"/>
            </a:rPr>
            <a:t>Face Serum</a:t>
          </a:r>
          <a:endParaRPr lang="en-US" sz="1400" b="1" dirty="0">
            <a:latin typeface="+mj-lt"/>
          </a:endParaRPr>
        </a:p>
      </cdr:txBody>
    </cdr:sp>
  </cdr:relSizeAnchor>
  <cdr:relSizeAnchor xmlns:cdr="http://schemas.openxmlformats.org/drawingml/2006/chartDrawing">
    <cdr:from>
      <cdr:x>0.58556</cdr:x>
      <cdr:y>0.00022</cdr:y>
    </cdr:from>
    <cdr:to>
      <cdr:x>0.75841</cdr:x>
      <cdr:y>0.20438</cdr:y>
    </cdr:to>
    <cdr:sp macro="" textlink="">
      <cdr:nvSpPr>
        <cdr:cNvPr id="3" name="Text 14">
          <a:extLst xmlns:a="http://schemas.openxmlformats.org/drawingml/2006/main">
            <a:ext uri="{FF2B5EF4-FFF2-40B4-BE49-F238E27FC236}">
              <a16:creationId xmlns:a16="http://schemas.microsoft.com/office/drawing/2014/main" id="{CAEB6D30-513C-DF28-759F-EF186C248833}"/>
            </a:ext>
          </a:extLst>
        </cdr:cNvPr>
        <cdr:cNvSpPr/>
      </cdr:nvSpPr>
      <cdr:spPr>
        <a:xfrm xmlns:a="http://schemas.openxmlformats.org/drawingml/2006/main">
          <a:off x="1299229" y="299"/>
          <a:ext cx="383521" cy="27940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dk1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wrap="square" lIns="0" tIns="0" rIns="0" bIns="0" rtlCol="0" anchor="t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indent="0">
            <a:buNone/>
          </a:pPr>
          <a:r>
            <a:rPr lang="en-US" sz="900" b="1">
              <a:solidFill>
                <a:srgbClr val="2E8B57"/>
              </a:solidFill>
              <a:latin typeface="Calibri"/>
            </a:rPr>
            <a:t>GOLY </a:t>
          </a:r>
        </a:p>
        <a:p xmlns:a="http://schemas.openxmlformats.org/drawingml/2006/main">
          <a:pPr marL="0" indent="0">
            <a:buNone/>
          </a:pPr>
          <a:r>
            <a:rPr sz="900" b="1">
              <a:solidFill>
                <a:srgbClr val="008A3D"/>
              </a:solidFill>
              <a:latin typeface="Calibri"/>
            </a:rPr>
            <a:t>▲ 46%</a:t>
          </a:r>
          <a:endParaRPr lang="en-US" sz="900" b="1">
            <a:latin typeface="+mj-lt"/>
          </a:endParaRPr>
        </a:p>
      </cdr:txBody>
    </cdr:sp>
  </cdr:relSizeAnchor>
  <cdr:relSizeAnchor xmlns:cdr="http://schemas.openxmlformats.org/drawingml/2006/chartDrawing">
    <cdr:from>
      <cdr:x>0.81281</cdr:x>
      <cdr:y>0.0095</cdr:y>
    </cdr:from>
    <cdr:to>
      <cdr:x>0.9771</cdr:x>
      <cdr:y>0.18698</cdr:y>
    </cdr:to>
    <cdr:sp macro="" textlink="">
      <cdr:nvSpPr>
        <cdr:cNvPr id="4" name="Text 15">
          <a:extLst xmlns:a="http://schemas.openxmlformats.org/drawingml/2006/main">
            <a:ext uri="{FF2B5EF4-FFF2-40B4-BE49-F238E27FC236}">
              <a16:creationId xmlns:a16="http://schemas.microsoft.com/office/drawing/2014/main" id="{38043CDA-B4CC-0A63-1373-A029921B3813}"/>
            </a:ext>
          </a:extLst>
        </cdr:cNvPr>
        <cdr:cNvSpPr/>
      </cdr:nvSpPr>
      <cdr:spPr>
        <a:xfrm xmlns:a="http://schemas.openxmlformats.org/drawingml/2006/main">
          <a:off x="1803456" y="12999"/>
          <a:ext cx="364535" cy="242876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dk1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wrap="square" lIns="0" tIns="0" rIns="0" bIns="0" rtlCol="0" anchor="t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indent="0">
            <a:buNone/>
          </a:pPr>
          <a:r>
            <a:rPr lang="en-US" sz="900" b="1">
              <a:solidFill>
                <a:srgbClr val="D03A3A"/>
              </a:solidFill>
              <a:latin typeface="Calibri"/>
            </a:rPr>
            <a:t>MoM </a:t>
          </a:r>
        </a:p>
        <a:p xmlns:a="http://schemas.openxmlformats.org/drawingml/2006/main">
          <a:pPr marL="0" indent="0">
            <a:buNone/>
          </a:pPr>
          <a:r>
            <a:rPr sz="900" b="1">
              <a:solidFill>
                <a:srgbClr val="C00000"/>
              </a:solidFill>
              <a:latin typeface="Calibri"/>
            </a:rPr>
            <a:t>▼ 4%</a:t>
          </a:r>
          <a:endParaRPr lang="en-US" sz="900" b="1">
            <a:latin typeface="+mj-lt"/>
          </a:endParaRPr>
        </a:p>
      </cdr:txBody>
    </cdr:sp>
  </cdr:relSizeAnchor>
</c:userShape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8786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0899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Relationship Id="rId5" Type="http://schemas.openxmlformats.org/officeDocument/2006/relationships/chart" Target="../charts/chart6.xml"/><Relationship Id="rId6" Type="http://schemas.openxmlformats.org/officeDocument/2006/relationships/chart" Target="../charts/chart7.xml"/><Relationship Id="rId7" Type="http://schemas.openxmlformats.org/officeDocument/2006/relationships/chart" Target="../charts/chart8.xml"/><Relationship Id="rId8" Type="http://schemas.openxmlformats.org/officeDocument/2006/relationships/chart" Target="../charts/chart9.xml"/><Relationship Id="rId9" Type="http://schemas.openxmlformats.org/officeDocument/2006/relationships/image" Target="../media/image1.png"/><Relationship Id="rId10" Type="http://schemas.openxmlformats.org/officeDocument/2006/relationships/image" Target="../media/image2.png"/><Relationship Id="rId11" Type="http://schemas.openxmlformats.org/officeDocument/2006/relationships/image" Target="../media/image3.jpeg"/><Relationship Id="rId12" Type="http://schemas.openxmlformats.org/officeDocument/2006/relationships/image" Target="../media/image4.jpg"/><Relationship Id="rId13" Type="http://schemas.openxmlformats.org/officeDocument/2006/relationships/image" Target="../media/image5.png"/><Relationship Id="rId1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0.xml"/><Relationship Id="rId3" Type="http://schemas.openxmlformats.org/officeDocument/2006/relationships/chart" Target="../charts/char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8.xml"/><Relationship Id="rId3" Type="http://schemas.openxmlformats.org/officeDocument/2006/relationships/chart" Target="../charts/chart19.xml"/><Relationship Id="rId4" Type="http://schemas.openxmlformats.org/officeDocument/2006/relationships/chart" Target="../charts/chart20.xml"/><Relationship Id="rId5" Type="http://schemas.openxmlformats.org/officeDocument/2006/relationships/chart" Target="../charts/chart21.xml"/><Relationship Id="rId6" Type="http://schemas.openxmlformats.org/officeDocument/2006/relationships/chart" Target="../charts/chart22.xml"/><Relationship Id="rId7" Type="http://schemas.openxmlformats.org/officeDocument/2006/relationships/chart" Target="../charts/chart23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jpeg"/><Relationship Id="rId11" Type="http://schemas.openxmlformats.org/officeDocument/2006/relationships/image" Target="../media/image4.jpg"/><Relationship Id="rId12" Type="http://schemas.openxmlformats.org/officeDocument/2006/relationships/image" Target="../media/image5.png"/><Relationship Id="rId1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4.xml"/><Relationship Id="rId3" Type="http://schemas.openxmlformats.org/officeDocument/2006/relationships/chart" Target="../charts/chart25.xml"/><Relationship Id="rId4" Type="http://schemas.openxmlformats.org/officeDocument/2006/relationships/chart" Target="../charts/chart26.xml"/><Relationship Id="rId5" Type="http://schemas.openxmlformats.org/officeDocument/2006/relationships/chart" Target="../charts/chart27.xml"/><Relationship Id="rId6" Type="http://schemas.openxmlformats.org/officeDocument/2006/relationships/chart" Target="../charts/chart28.xml"/><Relationship Id="rId7" Type="http://schemas.openxmlformats.org/officeDocument/2006/relationships/chart" Target="../charts/chart29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jpeg"/><Relationship Id="rId11" Type="http://schemas.openxmlformats.org/officeDocument/2006/relationships/image" Target="../media/image4.jpg"/><Relationship Id="rId12" Type="http://schemas.openxmlformats.org/officeDocument/2006/relationships/image" Target="../media/image5.png"/><Relationship Id="rId1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0.xml"/><Relationship Id="rId3" Type="http://schemas.openxmlformats.org/officeDocument/2006/relationships/chart" Target="../charts/chart31.xml"/><Relationship Id="rId4" Type="http://schemas.openxmlformats.org/officeDocument/2006/relationships/chart" Target="../charts/chart32.xml"/><Relationship Id="rId5" Type="http://schemas.openxmlformats.org/officeDocument/2006/relationships/chart" Target="../charts/chart33.xml"/><Relationship Id="rId6" Type="http://schemas.openxmlformats.org/officeDocument/2006/relationships/chart" Target="../charts/chart34.xml"/><Relationship Id="rId7" Type="http://schemas.openxmlformats.org/officeDocument/2006/relationships/chart" Target="../charts/chart35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jpeg"/><Relationship Id="rId11" Type="http://schemas.openxmlformats.org/officeDocument/2006/relationships/image" Target="../media/image4.jpg"/><Relationship Id="rId12" Type="http://schemas.openxmlformats.org/officeDocument/2006/relationships/image" Target="../media/image5.png"/><Relationship Id="rId1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6.xml"/><Relationship Id="rId3" Type="http://schemas.openxmlformats.org/officeDocument/2006/relationships/chart" Target="../charts/chart37.xml"/><Relationship Id="rId4" Type="http://schemas.openxmlformats.org/officeDocument/2006/relationships/chart" Target="../charts/chart38.xml"/><Relationship Id="rId5" Type="http://schemas.openxmlformats.org/officeDocument/2006/relationships/chart" Target="../charts/chart39.xml"/><Relationship Id="rId6" Type="http://schemas.openxmlformats.org/officeDocument/2006/relationships/chart" Target="../charts/chart40.xml"/><Relationship Id="rId7" Type="http://schemas.openxmlformats.org/officeDocument/2006/relationships/chart" Target="../charts/chart41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jpeg"/><Relationship Id="rId11" Type="http://schemas.openxmlformats.org/officeDocument/2006/relationships/image" Target="../media/image4.jpg"/><Relationship Id="rId12" Type="http://schemas.openxmlformats.org/officeDocument/2006/relationships/image" Target="../media/image5.png"/><Relationship Id="rId1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2.xml"/><Relationship Id="rId3" Type="http://schemas.openxmlformats.org/officeDocument/2006/relationships/chart" Target="../charts/chart43.xml"/><Relationship Id="rId4" Type="http://schemas.openxmlformats.org/officeDocument/2006/relationships/chart" Target="../charts/chart44.xml"/><Relationship Id="rId5" Type="http://schemas.openxmlformats.org/officeDocument/2006/relationships/chart" Target="../charts/chart45.xml"/><Relationship Id="rId6" Type="http://schemas.openxmlformats.org/officeDocument/2006/relationships/chart" Target="../charts/chart46.xml"/><Relationship Id="rId7" Type="http://schemas.openxmlformats.org/officeDocument/2006/relationships/chart" Target="../charts/chart47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jpeg"/><Relationship Id="rId11" Type="http://schemas.openxmlformats.org/officeDocument/2006/relationships/image" Target="../media/image4.jpg"/><Relationship Id="rId12" Type="http://schemas.openxmlformats.org/officeDocument/2006/relationships/image" Target="../media/image5.png"/><Relationship Id="rId1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8.xml"/><Relationship Id="rId3" Type="http://schemas.openxmlformats.org/officeDocument/2006/relationships/chart" Target="../charts/chart49.xml"/><Relationship Id="rId4" Type="http://schemas.openxmlformats.org/officeDocument/2006/relationships/chart" Target="../charts/chart50.xml"/><Relationship Id="rId5" Type="http://schemas.openxmlformats.org/officeDocument/2006/relationships/chart" Target="../charts/chart51.xml"/><Relationship Id="rId6" Type="http://schemas.openxmlformats.org/officeDocument/2006/relationships/chart" Target="../charts/chart52.xml"/><Relationship Id="rId7" Type="http://schemas.openxmlformats.org/officeDocument/2006/relationships/chart" Target="../charts/chart53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jpeg"/><Relationship Id="rId11" Type="http://schemas.openxmlformats.org/officeDocument/2006/relationships/image" Target="../media/image4.jpg"/><Relationship Id="rId12" Type="http://schemas.openxmlformats.org/officeDocument/2006/relationships/image" Target="../media/image5.png"/><Relationship Id="rId1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7844" y="-14471"/>
            <a:ext cx="7580694" cy="454996"/>
          </a:xfrm>
          <a:prstGeom prst="rect">
            <a:avLst/>
          </a:prstGeom>
          <a:solidFill>
            <a:srgbClr val="2D9B7F"/>
          </a:solidFill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OFFTAKE PERFORMANCE REPORT — JUL'26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-17844" y="417740"/>
            <a:ext cx="7580694" cy="3077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A85"/>
                </a:solidFill>
                <a:latin typeface="Calibri"/>
              </a:rPr>
              <a:t>SUMMARY &amp; KEY INSIGHTS JUL’26</a:t>
            </a:r>
            <a:endParaRPr lang="en-US" sz="1600" b="1" dirty="0">
              <a:latin typeface="+mj-l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34673" y="727947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30480" y="831732"/>
            <a:ext cx="1650113" cy="64820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anchor="t"/>
          <a:lstStyle/>
          <a:p>
            <a:endParaRPr lang="en-IN" sz="2400" b="1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517553" y="955993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Calibri"/>
              </a:rPr>
              <a:t>Jul'26 NSV</a:t>
            </a:r>
            <a:endParaRPr lang="en-US" sz="800" b="1" dirty="0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462689" y="1072345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800" b="1" u="none" strike="noStrike" dirty="0">
                <a:solidFill>
                  <a:srgbClr val="176C5D"/>
                </a:solidFill>
                <a:effectLst/>
                <a:uFillTx/>
                <a:latin typeface="Calibri"/>
                <a:ea typeface="Aptos Display"/>
              </a:rPr>
              <a:t>₹ 40.67 Cr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+mj-l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099465" y="831733"/>
            <a:ext cx="1645920" cy="648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anchor="t"/>
          <a:lstStyle/>
          <a:p>
            <a:endParaRPr lang="en-IN" sz="2400" b="1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190905" y="904885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Calibri"/>
              </a:rPr>
              <a:t>Jun'26 NSV</a:t>
            </a:r>
            <a:endParaRPr lang="en-US" sz="800" b="1" dirty="0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190905" y="1060333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800" b="1" u="none" strike="noStrike" dirty="0">
                <a:solidFill>
                  <a:srgbClr val="176C5D"/>
                </a:solidFill>
                <a:effectLst/>
                <a:uFillTx/>
                <a:latin typeface="Calibri"/>
                <a:ea typeface="Aptos Display"/>
              </a:rPr>
              <a:t>₹ 41.97 Cr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+mj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190905" y="1307221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MoM ▼ 3.1%</a:t>
            </a:r>
            <a:endParaRPr lang="en-US" sz="900" b="1" dirty="0">
              <a:latin typeface="+mj-l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855113" y="831733"/>
            <a:ext cx="1645920" cy="631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anchor="t"/>
          <a:lstStyle/>
          <a:p>
            <a:endParaRPr lang="en-IN" sz="2400" b="1">
              <a:latin typeface="+mj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928265" y="904885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Calibri"/>
              </a:rPr>
              <a:t>L3M Avg</a:t>
            </a:r>
            <a:endParaRPr lang="en-US" sz="800" b="1" dirty="0">
              <a:latin typeface="+mj-lt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928265" y="1060333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u="none" strike="noStrike" dirty="0">
                <a:solidFill>
                  <a:srgbClr val="176C5D"/>
                </a:solidFill>
                <a:effectLst/>
                <a:uFillTx/>
                <a:latin typeface="Calibri"/>
                <a:ea typeface="Aptos Display"/>
              </a:rPr>
              <a:t>₹ 40.53 Cr</a:t>
            </a:r>
            <a:endParaRPr lang="en-US" b="1" dirty="0">
              <a:latin typeface="+mj-l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928265" y="1307221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Apr–Jul ▲ 0.5%</a:t>
            </a:r>
            <a:endParaRPr lang="en-US" sz="900" b="1" dirty="0">
              <a:latin typeface="+mj-lt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638193" y="848317"/>
            <a:ext cx="1645920" cy="6316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anchor="t"/>
          <a:lstStyle/>
          <a:p>
            <a:endParaRPr lang="en-IN" sz="2400" b="1">
              <a:latin typeface="+mj-lt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665625" y="904885"/>
            <a:ext cx="1453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Calibri"/>
              </a:rPr>
              <a:t>YoY Growth</a:t>
            </a:r>
            <a:endParaRPr lang="en-US" sz="800" b="1" dirty="0">
              <a:latin typeface="+mj-lt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665625" y="1060333"/>
            <a:ext cx="1453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F5A85"/>
                </a:solidFill>
                <a:latin typeface="Calibri"/>
              </a:rPr>
              <a:t>—</a:t>
            </a:r>
            <a:endParaRPr lang="en-US" b="1" dirty="0">
              <a:latin typeface="+mj-l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665625" y="1307221"/>
            <a:ext cx="1453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YoY n/a</a:t>
            </a:r>
            <a:endParaRPr lang="en-US" sz="900" b="1" dirty="0">
              <a:latin typeface="+mj-lt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20039" y="1576925"/>
            <a:ext cx="3886201" cy="30776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5A85"/>
                </a:solidFill>
                <a:latin typeface="Calibri"/>
              </a:rPr>
              <a:t>Monthly and Top-3 Chain NSV Sales Trend </a:t>
            </a:r>
          </a:p>
        </p:txBody>
      </p:sp>
      <p:sp>
        <p:nvSpPr>
          <p:cNvPr id="23" name="Shape 21"/>
          <p:cNvSpPr/>
          <p:nvPr/>
        </p:nvSpPr>
        <p:spPr>
          <a:xfrm flipV="1">
            <a:off x="329564" y="1863590"/>
            <a:ext cx="6908829" cy="9894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graphicFrame>
        <p:nvGraphicFramePr>
          <p:cNvPr id="24" name="Chart 0"/>
          <p:cNvGraphicFramePr/>
          <p:nvPr>
            <p:extLst>
              <p:ext uri="{D42A27DB-BD31-4B8C-83A1-F6EECF244321}">
                <p14:modId xmlns:p14="http://schemas.microsoft.com/office/powerpoint/2010/main" val="2065221601"/>
              </p:ext>
            </p:extLst>
          </p:nvPr>
        </p:nvGraphicFramePr>
        <p:xfrm>
          <a:off x="320040" y="1969505"/>
          <a:ext cx="3886200" cy="34427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Text 24"/>
          <p:cNvSpPr/>
          <p:nvPr/>
        </p:nvSpPr>
        <p:spPr>
          <a:xfrm>
            <a:off x="316865" y="5494159"/>
            <a:ext cx="6893433" cy="1336807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 lIns="254" tIns="254" rIns="254" bIns="254" rtlCol="0" anchor="t">
            <a:normAutofit/>
          </a:bodyPr>
          <a:lstStyle/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MT Offtake: ₹40.67 Cr total (₹34.15 Cr MT geographic, excl eB2B+SIS). Reliance drove a ₹1.42 Cr MoM decline; all other chains combined grew. South-1 leads zone ranking at ₹8.21 Cr. TDC at 30% share — portfolio continues widening.</a:t>
            </a:r>
          </a:p>
        </p:txBody>
      </p:sp>
      <p:sp>
        <p:nvSpPr>
          <p:cNvPr id="34" name="Text 3"/>
          <p:cNvSpPr/>
          <p:nvPr/>
        </p:nvSpPr>
        <p:spPr>
          <a:xfrm>
            <a:off x="320037" y="6853636"/>
            <a:ext cx="6879816" cy="2242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</a:rPr>
              <a:t>Chain-wise Monthly Performance Snapshot</a:t>
            </a:r>
            <a:endParaRPr lang="en-US" sz="1080" b="1" dirty="0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lt"/>
            </a:endParaRPr>
          </a:p>
        </p:txBody>
      </p:sp>
      <p:sp>
        <p:nvSpPr>
          <p:cNvPr id="35" name="Shape 4"/>
          <p:cNvSpPr/>
          <p:nvPr/>
        </p:nvSpPr>
        <p:spPr>
          <a:xfrm>
            <a:off x="3785686" y="9278795"/>
            <a:ext cx="2232000" cy="0"/>
          </a:xfrm>
          <a:prstGeom prst="line">
            <a:avLst/>
          </a:prstGeom>
          <a:ln w="12700">
            <a:solidFill>
              <a:schemeClr val="bg1"/>
            </a:solidFill>
            <a:prstDash val="solid"/>
          </a:ln>
        </p:spPr>
        <p:txBody>
          <a:bodyPr wrap="square" anchor="t">
            <a:normAutofit fontScale="25000" lnSpcReduction="20000"/>
          </a:bodyPr>
          <a:lstStyle/>
          <a:p>
            <a:endParaRPr lang="en-IN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162" name="Chart 0"/>
          <p:cNvGraphicFramePr/>
          <p:nvPr>
            <p:extLst>
              <p:ext uri="{D42A27DB-BD31-4B8C-83A1-F6EECF244321}">
                <p14:modId xmlns:p14="http://schemas.microsoft.com/office/powerpoint/2010/main" val="1419950149"/>
              </p:ext>
            </p:extLst>
          </p:nvPr>
        </p:nvGraphicFramePr>
        <p:xfrm>
          <a:off x="4343400" y="3888147"/>
          <a:ext cx="2820571" cy="1524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6B156FE4-172B-BA3D-9CDC-FAB8090CC183}"/>
              </a:ext>
            </a:extLst>
          </p:cNvPr>
          <p:cNvSpPr txBox="1"/>
          <p:nvPr/>
        </p:nvSpPr>
        <p:spPr>
          <a:xfrm>
            <a:off x="4315306" y="1576925"/>
            <a:ext cx="2894992" cy="29655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>
              <a:defRPr sz="1200" b="1">
                <a:solidFill>
                  <a:srgbClr val="1F5A85"/>
                </a:solidFill>
                <a:latin typeface="Calibri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US" dirty="0"/>
              <a:t>May’26 Chain Sales Contribution % &amp; Sales</a:t>
            </a:r>
            <a:endParaRPr lang="en-IN" dirty="0"/>
          </a:p>
        </p:txBody>
      </p:sp>
      <p:graphicFrame>
        <p:nvGraphicFramePr>
          <p:cNvPr id="27" name="Chart 1">
            <a:extLst>
              <a:ext uri="{FF2B5EF4-FFF2-40B4-BE49-F238E27FC236}">
                <a16:creationId xmlns:a16="http://schemas.microsoft.com/office/drawing/2014/main" id="{4D338C2C-F060-A690-F2A5-A0B1ADED79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664542"/>
              </p:ext>
            </p:extLst>
          </p:nvPr>
        </p:nvGraphicFramePr>
        <p:xfrm>
          <a:off x="4343400" y="1955311"/>
          <a:ext cx="2820571" cy="1868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1" name="Text 5">
            <a:extLst>
              <a:ext uri="{FF2B5EF4-FFF2-40B4-BE49-F238E27FC236}">
                <a16:creationId xmlns:a16="http://schemas.microsoft.com/office/drawing/2014/main" id="{6EEBAD4D-E994-6642-BFEF-9B00F3852BDA}"/>
              </a:ext>
            </a:extLst>
          </p:cNvPr>
          <p:cNvSpPr/>
          <p:nvPr/>
        </p:nvSpPr>
        <p:spPr>
          <a:xfrm>
            <a:off x="490121" y="1338679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algn="ctr">
              <a:buNone/>
            </a:pPr>
            <a:r>
              <a:rPr lang="en-IN" sz="900" b="1" dirty="0">
                <a:solidFill>
                  <a:srgbClr val="176C5D"/>
                </a:solidFill>
                <a:latin typeface="Calibri"/>
              </a:rPr>
              <a:t>Highest-ever</a:t>
            </a:r>
            <a:r>
              <a:rPr lang="en-IN" sz="1100" b="1" dirty="0">
                <a:solidFill>
                  <a:srgbClr val="176C5D"/>
                </a:solidFill>
                <a:latin typeface="Calibri"/>
              </a:rPr>
              <a:t> NSV</a:t>
            </a:r>
            <a:endParaRPr lang="en-US" sz="1100" b="1" dirty="0">
              <a:solidFill>
                <a:srgbClr val="176C5D"/>
              </a:solidFill>
              <a:latin typeface="+mj-lt"/>
            </a:endParaRPr>
          </a:p>
        </p:txBody>
      </p:sp>
      <p:sp>
        <p:nvSpPr>
          <p:cNvPr id="157" name="Text 29">
            <a:extLst>
              <a:ext uri="{FF2B5EF4-FFF2-40B4-BE49-F238E27FC236}">
                <a16:creationId xmlns:a16="http://schemas.microsoft.com/office/drawing/2014/main" id="{98442E13-B18C-754F-25D8-06BBAE4BA342}"/>
              </a:ext>
            </a:extLst>
          </p:cNvPr>
          <p:cNvSpPr/>
          <p:nvPr/>
        </p:nvSpPr>
        <p:spPr>
          <a:xfrm>
            <a:off x="11982318" y="8910803"/>
            <a:ext cx="411120" cy="109440"/>
          </a:xfrm>
          <a:prstGeom prst="rect">
            <a:avLst/>
          </a:prstGeom>
          <a:noFill/>
          <a:ln w="0">
            <a:noFill/>
          </a:ln>
          <a:effectLst/>
        </p:spPr>
        <p:txBody>
          <a:bodyPr lIns="0" tIns="0" rIns="0" bIns="0" anchor="t">
            <a:no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680" b="0" i="0" u="none" strike="noStrike" kern="0" cap="none" spc="0" normalizeH="0" baseline="0" noProof="0">
                <a:ln>
                  <a:noFill/>
                </a:ln>
                <a:solidFill>
                  <a:srgbClr val="8C8C86"/>
                </a:solidFill>
                <a:effectLst/>
                <a:uLnTx/>
                <a:uFillTx/>
                <a:latin typeface="Calibri"/>
                <a:ea typeface="Aptos"/>
                <a:cs typeface="+mn-cs"/>
              </a:rPr>
              <a:t>04</a:t>
            </a:r>
            <a:endParaRPr kumimoji="0" lang="en-US" sz="680" b="0" i="0" u="none" strike="noStrike" kern="0" cap="none" spc="0" normalizeH="0" baseline="0" noProof="0">
              <a:ln>
                <a:noFill/>
              </a:ln>
              <a:solidFill>
                <a:srgbClr val="1A1F2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59E58AC1-33D2-CB7D-1A58-5B3335E7ED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318543"/>
              </p:ext>
            </p:extLst>
          </p:nvPr>
        </p:nvGraphicFramePr>
        <p:xfrm>
          <a:off x="320040" y="7127525"/>
          <a:ext cx="6879813" cy="3453320"/>
        </p:xfrm>
        <a:graphic>
          <a:graphicData uri="http://schemas.openxmlformats.org/drawingml/2006/table">
            <a:tbl>
              <a:tblPr/>
              <a:tblGrid>
                <a:gridCol w="803482">
                  <a:extLst>
                    <a:ext uri="{9D8B030D-6E8A-4147-A177-3AD203B41FA5}">
                      <a16:colId xmlns:a16="http://schemas.microsoft.com/office/drawing/2014/main" val="1838313960"/>
                    </a:ext>
                  </a:extLst>
                </a:gridCol>
                <a:gridCol w="602611">
                  <a:extLst>
                    <a:ext uri="{9D8B030D-6E8A-4147-A177-3AD203B41FA5}">
                      <a16:colId xmlns:a16="http://schemas.microsoft.com/office/drawing/2014/main" val="250666695"/>
                    </a:ext>
                  </a:extLst>
                </a:gridCol>
                <a:gridCol w="535654">
                  <a:extLst>
                    <a:ext uri="{9D8B030D-6E8A-4147-A177-3AD203B41FA5}">
                      <a16:colId xmlns:a16="http://schemas.microsoft.com/office/drawing/2014/main" val="3063166510"/>
                    </a:ext>
                  </a:extLst>
                </a:gridCol>
                <a:gridCol w="552394">
                  <a:extLst>
                    <a:ext uri="{9D8B030D-6E8A-4147-A177-3AD203B41FA5}">
                      <a16:colId xmlns:a16="http://schemas.microsoft.com/office/drawing/2014/main" val="2768301204"/>
                    </a:ext>
                  </a:extLst>
                </a:gridCol>
                <a:gridCol w="585873">
                  <a:extLst>
                    <a:ext uri="{9D8B030D-6E8A-4147-A177-3AD203B41FA5}">
                      <a16:colId xmlns:a16="http://schemas.microsoft.com/office/drawing/2014/main" val="3413074066"/>
                    </a:ext>
                  </a:extLst>
                </a:gridCol>
                <a:gridCol w="552394">
                  <a:extLst>
                    <a:ext uri="{9D8B030D-6E8A-4147-A177-3AD203B41FA5}">
                      <a16:colId xmlns:a16="http://schemas.microsoft.com/office/drawing/2014/main" val="672052579"/>
                    </a:ext>
                  </a:extLst>
                </a:gridCol>
                <a:gridCol w="602611">
                  <a:extLst>
                    <a:ext uri="{9D8B030D-6E8A-4147-A177-3AD203B41FA5}">
                      <a16:colId xmlns:a16="http://schemas.microsoft.com/office/drawing/2014/main" val="2277892322"/>
                    </a:ext>
                  </a:extLst>
                </a:gridCol>
                <a:gridCol w="636090">
                  <a:extLst>
                    <a:ext uri="{9D8B030D-6E8A-4147-A177-3AD203B41FA5}">
                      <a16:colId xmlns:a16="http://schemas.microsoft.com/office/drawing/2014/main" val="1105121212"/>
                    </a:ext>
                  </a:extLst>
                </a:gridCol>
                <a:gridCol w="669568">
                  <a:extLst>
                    <a:ext uri="{9D8B030D-6E8A-4147-A177-3AD203B41FA5}">
                      <a16:colId xmlns:a16="http://schemas.microsoft.com/office/drawing/2014/main" val="1902174447"/>
                    </a:ext>
                  </a:extLst>
                </a:gridCol>
                <a:gridCol w="719786">
                  <a:extLst>
                    <a:ext uri="{9D8B030D-6E8A-4147-A177-3AD203B41FA5}">
                      <a16:colId xmlns:a16="http://schemas.microsoft.com/office/drawing/2014/main" val="1849337359"/>
                    </a:ext>
                  </a:extLst>
                </a:gridCol>
                <a:gridCol w="619350">
                  <a:extLst>
                    <a:ext uri="{9D8B030D-6E8A-4147-A177-3AD203B41FA5}">
                      <a16:colId xmlns:a16="http://schemas.microsoft.com/office/drawing/2014/main" val="2525690762"/>
                    </a:ext>
                  </a:extLst>
                </a:gridCol>
              </a:tblGrid>
              <a:tr h="144662"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Jan-26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Feb-26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Mar-26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Cont</a:t>
                      </a:r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L3M </a:t>
                      </a:r>
                      <a:b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Avg(FMA)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868616"/>
                  </a:ext>
                </a:extLst>
              </a:tr>
              <a:tr h="21205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259251"/>
                  </a:ext>
                </a:extLst>
              </a:tr>
              <a:tr h="76668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897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967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1,226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1,258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1,518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1,137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69%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21%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645161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757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868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990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39%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771512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272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699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751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593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176%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7535608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Fsn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168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173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229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190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8465649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Wellness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0048331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H&amp;G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41%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560831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Lulu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176%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5815765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Metro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636295"/>
                  </a:ext>
                </a:extLst>
              </a:tr>
              <a:tr h="38037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Delhi RMT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20%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748315"/>
                  </a:ext>
                </a:extLst>
              </a:tr>
              <a:tr h="25061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More Retail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117%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24%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244793"/>
                  </a:ext>
                </a:extLst>
              </a:tr>
              <a:tr h="25244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Walmart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37%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56%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912943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Spencer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63%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556967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Vmm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138%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715363"/>
                  </a:ext>
                </a:extLst>
              </a:tr>
              <a:tr h="2829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97%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421406"/>
                  </a:ext>
                </a:extLst>
              </a:tr>
              <a:tr h="25061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 Channel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2488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3075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2795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3273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3589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4019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3195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▲ 62%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▲ 12%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042144"/>
                  </a:ext>
                </a:extLst>
              </a:tr>
            </a:tbl>
          </a:graphicData>
        </a:graphic>
      </p:graphicFrame>
      <p:sp>
        <p:nvSpPr>
          <p:cNvPr id="212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329184"/>
            <a:ext cx="6903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D8E6F2"/>
                </a:solidFill>
                <a:latin typeface="Calibri"/>
              </a:rPr>
              <a:t>Portfolio growth drivers and contribution view</a:t>
            </a:r>
            <a:endParaRPr lang="en-US" sz="650" dirty="0">
              <a:latin typeface="+mj-lt"/>
            </a:endParaRPr>
          </a:p>
        </p:txBody>
      </p:sp>
      <p:sp>
        <p:nvSpPr>
          <p:cNvPr id="121" name="Shape 3"/>
          <p:cNvSpPr/>
          <p:nvPr/>
        </p:nvSpPr>
        <p:spPr>
          <a:xfrm>
            <a:off x="222330" y="3344609"/>
            <a:ext cx="7134838" cy="29139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22" name="Text 4"/>
          <p:cNvSpPr/>
          <p:nvPr/>
        </p:nvSpPr>
        <p:spPr>
          <a:xfrm>
            <a:off x="358354" y="3447979"/>
            <a:ext cx="671971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Overall | Mamaearth — Top 3 Sub-category Monthly Trend (NSV)</a:t>
            </a:r>
            <a:endParaRPr lang="en-US" sz="1600" dirty="0">
              <a:latin typeface="+mj-lt"/>
            </a:endParaRPr>
          </a:p>
        </p:txBody>
      </p:sp>
      <p:sp>
        <p:nvSpPr>
          <p:cNvPr id="123" name="Text 5"/>
          <p:cNvSpPr/>
          <p:nvPr/>
        </p:nvSpPr>
        <p:spPr>
          <a:xfrm>
            <a:off x="746952" y="3757079"/>
            <a:ext cx="563590" cy="1977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b="1" dirty="0">
              <a:latin typeface="+mj-lt"/>
            </a:endParaRPr>
          </a:p>
        </p:txBody>
      </p:sp>
      <p:sp>
        <p:nvSpPr>
          <p:cNvPr id="124" name="Text 6"/>
          <p:cNvSpPr/>
          <p:nvPr/>
        </p:nvSpPr>
        <p:spPr>
          <a:xfrm>
            <a:off x="1310541" y="3737538"/>
            <a:ext cx="584737" cy="217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▲29%</a:t>
            </a:r>
            <a:endParaRPr lang="en-US" sz="900" b="1" dirty="0">
              <a:latin typeface="+mj-lt"/>
            </a:endParaRPr>
          </a:p>
        </p:txBody>
      </p:sp>
      <p:sp>
        <p:nvSpPr>
          <p:cNvPr id="125" name="Text 7"/>
          <p:cNvSpPr/>
          <p:nvPr/>
        </p:nvSpPr>
        <p:spPr>
          <a:xfrm>
            <a:off x="1793618" y="3741302"/>
            <a:ext cx="429221" cy="20361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11%</a:t>
            </a:r>
            <a:endParaRPr lang="en-US" sz="900" b="1" dirty="0">
              <a:latin typeface="+mj-lt"/>
            </a:endParaRPr>
          </a:p>
        </p:txBody>
      </p:sp>
      <p:graphicFrame>
        <p:nvGraphicFramePr>
          <p:cNvPr id="127" name="Chart 0"/>
          <p:cNvGraphicFramePr/>
          <p:nvPr>
            <p:extLst>
              <p:ext uri="{D42A27DB-BD31-4B8C-83A1-F6EECF244321}">
                <p14:modId xmlns:p14="http://schemas.microsoft.com/office/powerpoint/2010/main" val="2150354223"/>
              </p:ext>
            </p:extLst>
          </p:nvPr>
        </p:nvGraphicFramePr>
        <p:xfrm>
          <a:off x="210851" y="3703011"/>
          <a:ext cx="2323982" cy="1365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8" name="Text 9"/>
          <p:cNvSpPr/>
          <p:nvPr/>
        </p:nvSpPr>
        <p:spPr>
          <a:xfrm>
            <a:off x="2893646" y="3749587"/>
            <a:ext cx="781916" cy="197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b="1" dirty="0">
              <a:latin typeface="+mj-lt"/>
            </a:endParaRPr>
          </a:p>
        </p:txBody>
      </p:sp>
      <p:sp>
        <p:nvSpPr>
          <p:cNvPr id="129" name="Text 10"/>
          <p:cNvSpPr/>
          <p:nvPr/>
        </p:nvSpPr>
        <p:spPr>
          <a:xfrm>
            <a:off x="3517968" y="3757079"/>
            <a:ext cx="631660" cy="192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GOLY ▲ 53%</a:t>
            </a:r>
            <a:endParaRPr lang="en-US" sz="900" b="1" dirty="0">
              <a:latin typeface="+mj-lt"/>
            </a:endParaRPr>
          </a:p>
        </p:txBody>
      </p:sp>
      <p:sp>
        <p:nvSpPr>
          <p:cNvPr id="130" name="Text 11"/>
          <p:cNvSpPr/>
          <p:nvPr/>
        </p:nvSpPr>
        <p:spPr>
          <a:xfrm>
            <a:off x="4305437" y="3741022"/>
            <a:ext cx="429635" cy="230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10%</a:t>
            </a:r>
            <a:endParaRPr lang="en-US" sz="900" b="1" dirty="0">
              <a:latin typeface="+mj-lt"/>
            </a:endParaRPr>
          </a:p>
        </p:txBody>
      </p:sp>
      <p:graphicFrame>
        <p:nvGraphicFramePr>
          <p:cNvPr id="132" name="Chart 1"/>
          <p:cNvGraphicFramePr/>
          <p:nvPr>
            <p:extLst>
              <p:ext uri="{D42A27DB-BD31-4B8C-83A1-F6EECF244321}">
                <p14:modId xmlns:p14="http://schemas.microsoft.com/office/powerpoint/2010/main" val="2651253694"/>
              </p:ext>
            </p:extLst>
          </p:nvPr>
        </p:nvGraphicFramePr>
        <p:xfrm>
          <a:off x="2672857" y="3707938"/>
          <a:ext cx="2323982" cy="1374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3" name="Text 13"/>
          <p:cNvSpPr/>
          <p:nvPr/>
        </p:nvSpPr>
        <p:spPr>
          <a:xfrm>
            <a:off x="5486475" y="3767568"/>
            <a:ext cx="727073" cy="237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b="1" dirty="0">
              <a:latin typeface="+mj-lt"/>
            </a:endParaRPr>
          </a:p>
        </p:txBody>
      </p:sp>
      <p:sp>
        <p:nvSpPr>
          <p:cNvPr id="134" name="Text 14"/>
          <p:cNvSpPr/>
          <p:nvPr/>
        </p:nvSpPr>
        <p:spPr>
          <a:xfrm>
            <a:off x="6076907" y="3771849"/>
            <a:ext cx="727073" cy="2115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67%</a:t>
            </a:r>
            <a:endParaRPr lang="en-US" sz="900" b="1" dirty="0">
              <a:latin typeface="+mj-lt"/>
            </a:endParaRPr>
          </a:p>
        </p:txBody>
      </p:sp>
      <p:sp>
        <p:nvSpPr>
          <p:cNvPr id="135" name="Text 15"/>
          <p:cNvSpPr/>
          <p:nvPr/>
        </p:nvSpPr>
        <p:spPr>
          <a:xfrm>
            <a:off x="6571329" y="3778708"/>
            <a:ext cx="727073" cy="2115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D03A3A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3%</a:t>
            </a:r>
            <a:endParaRPr lang="en-US" sz="900" b="1" dirty="0">
              <a:latin typeface="+mj-lt"/>
            </a:endParaRPr>
          </a:p>
        </p:txBody>
      </p:sp>
      <p:graphicFrame>
        <p:nvGraphicFramePr>
          <p:cNvPr id="137" name="Chart 2"/>
          <p:cNvGraphicFramePr/>
          <p:nvPr>
            <p:extLst>
              <p:ext uri="{D42A27DB-BD31-4B8C-83A1-F6EECF244321}">
                <p14:modId xmlns:p14="http://schemas.microsoft.com/office/powerpoint/2010/main" val="1233770975"/>
              </p:ext>
            </p:extLst>
          </p:nvPr>
        </p:nvGraphicFramePr>
        <p:xfrm>
          <a:off x="5118084" y="3683583"/>
          <a:ext cx="2268449" cy="13857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8" name="Shape 17"/>
          <p:cNvSpPr/>
          <p:nvPr/>
        </p:nvSpPr>
        <p:spPr>
          <a:xfrm>
            <a:off x="201322" y="5760752"/>
            <a:ext cx="7117927" cy="317201"/>
          </a:xfrm>
          <a:prstGeom prst="rect">
            <a:avLst/>
          </a:prstGeom>
          <a:solidFill>
            <a:srgbClr val="2D9B7F"/>
          </a:solidFill>
          <a:ln w="12700">
            <a:solidFill>
              <a:schemeClr val="tx1"/>
            </a:solidFill>
            <a:prstDash val="solid"/>
          </a:ln>
        </p:spPr>
        <p:txBody>
          <a:bodyPr anchor="t"/>
          <a:lstStyle/>
          <a:p>
            <a:r>
              <a:rPr lang="en-US" sz="1600" b="1" dirty="0">
                <a:solidFill>
                  <a:srgbClr val="FFFFFF"/>
                </a:solidFill>
                <a:latin typeface="Calibri"/>
              </a:rPr>
              <a:t>Overall | The Derma Co. — Top 3 Sub-category Monthly Trend (NSV)</a:t>
            </a:r>
            <a:endParaRPr lang="en-IN" sz="1600" dirty="0">
              <a:latin typeface="+mj-lt"/>
            </a:endParaRPr>
          </a:p>
        </p:txBody>
      </p:sp>
      <p:graphicFrame>
        <p:nvGraphicFramePr>
          <p:cNvPr id="144" name="Chart 3"/>
          <p:cNvGraphicFramePr/>
          <p:nvPr>
            <p:extLst>
              <p:ext uri="{D42A27DB-BD31-4B8C-83A1-F6EECF244321}">
                <p14:modId xmlns:p14="http://schemas.microsoft.com/office/powerpoint/2010/main" val="2955252500"/>
              </p:ext>
            </p:extLst>
          </p:nvPr>
        </p:nvGraphicFramePr>
        <p:xfrm>
          <a:off x="215343" y="6089741"/>
          <a:ext cx="2323808" cy="1368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49" name="Chart 4"/>
          <p:cNvGraphicFramePr/>
          <p:nvPr>
            <p:extLst>
              <p:ext uri="{D42A27DB-BD31-4B8C-83A1-F6EECF244321}">
                <p14:modId xmlns:p14="http://schemas.microsoft.com/office/powerpoint/2010/main" val="688849826"/>
              </p:ext>
            </p:extLst>
          </p:nvPr>
        </p:nvGraphicFramePr>
        <p:xfrm>
          <a:off x="2658102" y="6107760"/>
          <a:ext cx="2354473" cy="1368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54" name="Chart 5"/>
          <p:cNvGraphicFramePr/>
          <p:nvPr>
            <p:extLst>
              <p:ext uri="{D42A27DB-BD31-4B8C-83A1-F6EECF244321}">
                <p14:modId xmlns:p14="http://schemas.microsoft.com/office/powerpoint/2010/main" val="3438448836"/>
              </p:ext>
            </p:extLst>
          </p:nvPr>
        </p:nvGraphicFramePr>
        <p:xfrm>
          <a:off x="5110835" y="6112627"/>
          <a:ext cx="2218791" cy="1368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81" name="Text 5">
            <a:extLst>
              <a:ext uri="{FF2B5EF4-FFF2-40B4-BE49-F238E27FC236}">
                <a16:creationId xmlns:a16="http://schemas.microsoft.com/office/drawing/2014/main" id="{573815EF-2900-A007-314E-40A00F1BF0E4}"/>
              </a:ext>
            </a:extLst>
          </p:cNvPr>
          <p:cNvSpPr/>
          <p:nvPr/>
        </p:nvSpPr>
        <p:spPr>
          <a:xfrm>
            <a:off x="547229" y="6193741"/>
            <a:ext cx="638856" cy="25237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400" b="1" dirty="0">
              <a:latin typeface="+mj-lt"/>
            </a:endParaRPr>
          </a:p>
        </p:txBody>
      </p:sp>
      <p:sp>
        <p:nvSpPr>
          <p:cNvPr id="182" name="Text 6">
            <a:extLst>
              <a:ext uri="{FF2B5EF4-FFF2-40B4-BE49-F238E27FC236}">
                <a16:creationId xmlns:a16="http://schemas.microsoft.com/office/drawing/2014/main" id="{B8CC834D-A1C0-16B8-D31E-8DF1A466C48C}"/>
              </a:ext>
            </a:extLst>
          </p:cNvPr>
          <p:cNvSpPr/>
          <p:nvPr/>
        </p:nvSpPr>
        <p:spPr>
          <a:xfrm>
            <a:off x="1076354" y="6197429"/>
            <a:ext cx="638856" cy="2110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 b="1" dirty="0">
                <a:solidFill>
                  <a:srgbClr val="008A3D"/>
                </a:solidFill>
                <a:latin typeface="Calibri"/>
              </a:rPr>
              <a:t>GOLY ▲ 1166%</a:t>
            </a:r>
            <a:endParaRPr lang="en-US" sz="800" b="1" dirty="0">
              <a:latin typeface="+mj-lt"/>
            </a:endParaRPr>
          </a:p>
        </p:txBody>
      </p:sp>
      <p:sp>
        <p:nvSpPr>
          <p:cNvPr id="183" name="Text 7">
            <a:extLst>
              <a:ext uri="{FF2B5EF4-FFF2-40B4-BE49-F238E27FC236}">
                <a16:creationId xmlns:a16="http://schemas.microsoft.com/office/drawing/2014/main" id="{4ED6EDAE-5A2F-8C7E-D267-522D20C6C37E}"/>
              </a:ext>
            </a:extLst>
          </p:cNvPr>
          <p:cNvSpPr/>
          <p:nvPr/>
        </p:nvSpPr>
        <p:spPr>
          <a:xfrm>
            <a:off x="1787285" y="6185199"/>
            <a:ext cx="468946" cy="1977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 b="1" dirty="0">
                <a:solidFill>
                  <a:srgbClr val="008A3D"/>
                </a:solidFill>
                <a:latin typeface="Calibri"/>
              </a:rPr>
              <a:t>MoM ▲ 38%</a:t>
            </a:r>
            <a:endParaRPr lang="en-US" sz="800" b="1" dirty="0">
              <a:latin typeface="+mj-lt"/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1F24257-30D4-F248-BEAF-DBFBE20CBC3A}"/>
              </a:ext>
            </a:extLst>
          </p:cNvPr>
          <p:cNvSpPr/>
          <p:nvPr/>
        </p:nvSpPr>
        <p:spPr>
          <a:xfrm>
            <a:off x="-9525" y="2478"/>
            <a:ext cx="7562849" cy="478448"/>
          </a:xfrm>
          <a:prstGeom prst="rect">
            <a:avLst/>
          </a:prstGeom>
          <a:solidFill>
            <a:srgbClr val="2D9B7F"/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Brand &amp; Category Segment Deep-Dive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D8E6F2"/>
                </a:solidFill>
                <a:latin typeface="Calibri"/>
              </a:rPr>
              <a:t>Portfolio growth drivers and contribution view</a:t>
            </a:r>
            <a:endParaRPr lang="en-US" sz="3600" dirty="0">
              <a:latin typeface="+mj-lt"/>
            </a:endParaRPr>
          </a:p>
        </p:txBody>
      </p:sp>
      <p:pic>
        <p:nvPicPr>
          <p:cNvPr id="1026" name="Picture 2" descr="A white and orange tube with white text  AI-generated content may be incorrect.">
            <a:extLst>
              <a:ext uri="{FF2B5EF4-FFF2-40B4-BE49-F238E27FC236}">
                <a16:creationId xmlns:a16="http://schemas.microsoft.com/office/drawing/2014/main" id="{BEBA9504-2B9F-2470-AAE9-2FFBDC6118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8" r="23559"/>
          <a:stretch/>
        </p:blipFill>
        <p:spPr bwMode="auto">
          <a:xfrm>
            <a:off x="2705919" y="6160704"/>
            <a:ext cx="212290" cy="4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2530F3C-DA5C-5821-322F-8F9430995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96" y="6191803"/>
            <a:ext cx="170596" cy="361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hape 21">
            <a:extLst>
              <a:ext uri="{FF2B5EF4-FFF2-40B4-BE49-F238E27FC236}">
                <a16:creationId xmlns:a16="http://schemas.microsoft.com/office/drawing/2014/main" id="{A263EF77-1531-A74F-2720-119E0ADC41D3}"/>
              </a:ext>
            </a:extLst>
          </p:cNvPr>
          <p:cNvSpPr/>
          <p:nvPr/>
        </p:nvSpPr>
        <p:spPr>
          <a:xfrm>
            <a:off x="222330" y="5164954"/>
            <a:ext cx="7091574" cy="531272"/>
          </a:xfrm>
          <a:prstGeom prst="roundRect">
            <a:avLst>
              <a:gd name="adj" fmla="val 3226"/>
            </a:avLst>
          </a:prstGeom>
          <a:solidFill>
            <a:srgbClr val="FFF6E0"/>
          </a:solidFill>
          <a:ln/>
        </p:spPr>
        <p:txBody>
          <a:bodyPr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SKU note: </a:t>
            </a:r>
            <a:r>
              <a:rPr lang="en-US" sz="800" dirty="0">
                <a:latin typeface="Calibri"/>
              </a:rPr>
              <a:t>Rice Dewy Bright Face Wash variants from </a:t>
            </a:r>
            <a:r>
              <a:rPr lang="en-US" sz="800" dirty="0" err="1">
                <a:latin typeface="Calibri"/>
              </a:rPr>
              <a:t>Mamaearth</a:t>
            </a:r>
            <a:r>
              <a:rPr lang="en-US" sz="800" dirty="0">
                <a:latin typeface="Calibri"/>
              </a:rPr>
              <a:t> lead the Face Wash portfolio with NSV of ₹5.40 Cr.</a:t>
            </a:r>
          </a:p>
          <a:p>
            <a:r>
              <a:rPr lang="en-US" sz="800" dirty="0">
                <a:latin typeface="Calibri"/>
              </a:rPr>
              <a:t>Onion Shampoo variants from </a:t>
            </a:r>
            <a:r>
              <a:rPr lang="en-US" sz="800" dirty="0" err="1">
                <a:latin typeface="Calibri"/>
              </a:rPr>
              <a:t>Mamaearth</a:t>
            </a:r>
            <a:r>
              <a:rPr lang="en-US" sz="800" dirty="0">
                <a:latin typeface="Calibri"/>
              </a:rPr>
              <a:t> lead the Shampoo portfolio with NSV of ₹4.56 Cr.</a:t>
            </a:r>
            <a:endParaRPr lang="en-US" sz="8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800" dirty="0">
                <a:latin typeface="Calibri"/>
              </a:rPr>
              <a:t>Ultra Light Sunscreen from </a:t>
            </a:r>
            <a:r>
              <a:rPr lang="en-US" sz="800" dirty="0" err="1">
                <a:latin typeface="Calibri"/>
              </a:rPr>
              <a:t>Mamaearth</a:t>
            </a:r>
            <a:r>
              <a:rPr lang="en-US" sz="800" dirty="0">
                <a:latin typeface="Calibri"/>
              </a:rPr>
              <a:t> leads the Suncare portfolio with NSV of ₹1.62 Cr. 2</a:t>
            </a:r>
          </a:p>
          <a:p>
            <a:endParaRPr lang="en-IN" sz="800" dirty="0"/>
          </a:p>
        </p:txBody>
      </p:sp>
      <p:sp>
        <p:nvSpPr>
          <p:cNvPr id="9" name="Shape 21">
            <a:extLst>
              <a:ext uri="{FF2B5EF4-FFF2-40B4-BE49-F238E27FC236}">
                <a16:creationId xmlns:a16="http://schemas.microsoft.com/office/drawing/2014/main" id="{7D2BC999-FEEF-16FE-42C3-05699746AAC4}"/>
              </a:ext>
            </a:extLst>
          </p:cNvPr>
          <p:cNvSpPr/>
          <p:nvPr/>
        </p:nvSpPr>
        <p:spPr>
          <a:xfrm>
            <a:off x="227675" y="7524842"/>
            <a:ext cx="7101951" cy="490510"/>
          </a:xfrm>
          <a:prstGeom prst="roundRect">
            <a:avLst>
              <a:gd name="adj" fmla="val 3226"/>
            </a:avLst>
          </a:prstGeom>
          <a:solidFill>
            <a:srgbClr val="FFF6E0"/>
          </a:solidFill>
          <a:ln/>
        </p:spPr>
        <p:txBody>
          <a:bodyPr anchor="t"/>
          <a:lstStyle/>
          <a:p>
            <a:endParaRPr lang="en-IN" dirty="0"/>
          </a:p>
        </p:txBody>
      </p:sp>
      <p:sp>
        <p:nvSpPr>
          <p:cNvPr id="10" name="Text 22">
            <a:extLst>
              <a:ext uri="{FF2B5EF4-FFF2-40B4-BE49-F238E27FC236}">
                <a16:creationId xmlns:a16="http://schemas.microsoft.com/office/drawing/2014/main" id="{8B84603B-62AF-1A90-CB4A-FDDD812008BB}"/>
              </a:ext>
            </a:extLst>
          </p:cNvPr>
          <p:cNvSpPr/>
          <p:nvPr/>
        </p:nvSpPr>
        <p:spPr>
          <a:xfrm>
            <a:off x="234663" y="7557942"/>
            <a:ext cx="7101951" cy="534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SKU note: </a:t>
            </a:r>
            <a:r>
              <a:rPr lang="en-US" sz="900" dirty="0">
                <a:latin typeface="Calibri"/>
              </a:rPr>
              <a:t>1% Salicylic FW follows with NSV of ₹285 Lacs., contribute 6.4% of May’26 NSV within 1 year of launch	.</a:t>
            </a:r>
            <a:endParaRPr lang="en-US" sz="9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latin typeface="Calibri"/>
              </a:rPr>
              <a:t>Hyaluronic Acid leads the pack and contributes 96% of total Suncare sales, with NSV of ₹411 Lacs.</a:t>
            </a:r>
            <a:endParaRPr lang="en-IN" sz="9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900" dirty="0">
                <a:latin typeface="Calibri"/>
              </a:rPr>
              <a:t>5% Niacinamide Serum leads with NSV of ₹28 Lacs, followed by Vitamin C Serum at ₹23 Lacs.</a:t>
            </a:r>
            <a:r>
              <a:rPr lang="en-US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F494E4-7AF4-BACF-7B7D-D4CC530B66A3}"/>
              </a:ext>
            </a:extLst>
          </p:cNvPr>
          <p:cNvSpPr txBox="1"/>
          <p:nvPr/>
        </p:nvSpPr>
        <p:spPr>
          <a:xfrm>
            <a:off x="200735" y="8084035"/>
            <a:ext cx="7097667" cy="215444"/>
          </a:xfrm>
          <a:prstGeom prst="rect">
            <a:avLst/>
          </a:prstGeom>
          <a:solidFill>
            <a:srgbClr val="2D9B7F"/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chemeClr val="bg1"/>
                </a:solidFill>
                <a:latin typeface="Calibri"/>
              </a:rPr>
              <a:t>VOLUME VS. VALUE DECOMPOSITION — JUL'26 VS MAY'25</a:t>
            </a:r>
            <a:endParaRPr sz="1200" b="1" i="0" dirty="0">
              <a:solidFill>
                <a:schemeClr val="bg1"/>
              </a:solidFill>
              <a:latin typeface="Calibri"/>
            </a:endParaRPr>
          </a:p>
        </p:txBody>
      </p:sp>
      <p:pic>
        <p:nvPicPr>
          <p:cNvPr id="11" name="Picture 10" descr="A bottle of rice face wash  Description automatically generated">
            <a:extLst>
              <a:ext uri="{FF2B5EF4-FFF2-40B4-BE49-F238E27FC236}">
                <a16:creationId xmlns:a16="http://schemas.microsoft.com/office/drawing/2014/main" id="{9C671B61-DB31-0587-EDD3-C43226FF5A35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27809" t="6059" r="29332" b="4208"/>
          <a:stretch/>
        </p:blipFill>
        <p:spPr>
          <a:xfrm>
            <a:off x="320040" y="3777030"/>
            <a:ext cx="172162" cy="355054"/>
          </a:xfrm>
          <a:prstGeom prst="rect">
            <a:avLst/>
          </a:prstGeom>
        </p:spPr>
      </p:pic>
      <p:pic>
        <p:nvPicPr>
          <p:cNvPr id="13" name="Picture 12" descr="A yellow bottle of sunscreen  Description automatically generated">
            <a:extLst>
              <a:ext uri="{FF2B5EF4-FFF2-40B4-BE49-F238E27FC236}">
                <a16:creationId xmlns:a16="http://schemas.microsoft.com/office/drawing/2014/main" id="{428F7BD9-F94D-E689-E889-BB0445012F6E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32069" t="9042" r="31762" b="9272"/>
          <a:stretch/>
        </p:blipFill>
        <p:spPr>
          <a:xfrm>
            <a:off x="5248859" y="3777030"/>
            <a:ext cx="146146" cy="330068"/>
          </a:xfrm>
          <a:prstGeom prst="rect">
            <a:avLst/>
          </a:prstGeom>
        </p:spPr>
      </p:pic>
      <p:pic>
        <p:nvPicPr>
          <p:cNvPr id="14" name="Google Shape;1518;p235" descr="A purple bottle with a dropper next to a box  AI-generated content may be incorrect.">
            <a:extLst>
              <a:ext uri="{FF2B5EF4-FFF2-40B4-BE49-F238E27FC236}">
                <a16:creationId xmlns:a16="http://schemas.microsoft.com/office/drawing/2014/main" id="{69A52EB1-ABE9-6C46-A7E5-35B36BFF983D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154431" y="6181264"/>
            <a:ext cx="221578" cy="387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396;p227" descr="A white bottle with a label on it  Description automatically generated">
            <a:extLst>
              <a:ext uri="{FF2B5EF4-FFF2-40B4-BE49-F238E27FC236}">
                <a16:creationId xmlns:a16="http://schemas.microsoft.com/office/drawing/2014/main" id="{03495C88-1D2A-861C-04CC-A94B48070B17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 l="19608" b="483"/>
          <a:stretch/>
        </p:blipFill>
        <p:spPr>
          <a:xfrm>
            <a:off x="2705178" y="3764389"/>
            <a:ext cx="181821" cy="38669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48C78F8-7256-D531-06D7-F8E7EEBA1D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371957"/>
              </p:ext>
            </p:extLst>
          </p:nvPr>
        </p:nvGraphicFramePr>
        <p:xfrm>
          <a:off x="182540" y="8390919"/>
          <a:ext cx="7105485" cy="1093408"/>
        </p:xfrm>
        <a:graphic>
          <a:graphicData uri="http://schemas.openxmlformats.org/drawingml/2006/table">
            <a:tbl>
              <a:tblPr/>
              <a:tblGrid>
                <a:gridCol w="772746">
                  <a:extLst>
                    <a:ext uri="{9D8B030D-6E8A-4147-A177-3AD203B41FA5}">
                      <a16:colId xmlns:a16="http://schemas.microsoft.com/office/drawing/2014/main" val="778345302"/>
                    </a:ext>
                  </a:extLst>
                </a:gridCol>
                <a:gridCol w="904677">
                  <a:extLst>
                    <a:ext uri="{9D8B030D-6E8A-4147-A177-3AD203B41FA5}">
                      <a16:colId xmlns:a16="http://schemas.microsoft.com/office/drawing/2014/main" val="1652700246"/>
                    </a:ext>
                  </a:extLst>
                </a:gridCol>
                <a:gridCol w="904677">
                  <a:extLst>
                    <a:ext uri="{9D8B030D-6E8A-4147-A177-3AD203B41FA5}">
                      <a16:colId xmlns:a16="http://schemas.microsoft.com/office/drawing/2014/main" val="554711202"/>
                    </a:ext>
                  </a:extLst>
                </a:gridCol>
                <a:gridCol w="904677">
                  <a:extLst>
                    <a:ext uri="{9D8B030D-6E8A-4147-A177-3AD203B41FA5}">
                      <a16:colId xmlns:a16="http://schemas.microsoft.com/office/drawing/2014/main" val="464365253"/>
                    </a:ext>
                  </a:extLst>
                </a:gridCol>
                <a:gridCol w="904677">
                  <a:extLst>
                    <a:ext uri="{9D8B030D-6E8A-4147-A177-3AD203B41FA5}">
                      <a16:colId xmlns:a16="http://schemas.microsoft.com/office/drawing/2014/main" val="1348325996"/>
                    </a:ext>
                  </a:extLst>
                </a:gridCol>
                <a:gridCol w="904677">
                  <a:extLst>
                    <a:ext uri="{9D8B030D-6E8A-4147-A177-3AD203B41FA5}">
                      <a16:colId xmlns:a16="http://schemas.microsoft.com/office/drawing/2014/main" val="4191564383"/>
                    </a:ext>
                  </a:extLst>
                </a:gridCol>
                <a:gridCol w="904677">
                  <a:extLst>
                    <a:ext uri="{9D8B030D-6E8A-4147-A177-3AD203B41FA5}">
                      <a16:colId xmlns:a16="http://schemas.microsoft.com/office/drawing/2014/main" val="2820173786"/>
                    </a:ext>
                  </a:extLst>
                </a:gridCol>
                <a:gridCol w="904677">
                  <a:extLst>
                    <a:ext uri="{9D8B030D-6E8A-4147-A177-3AD203B41FA5}">
                      <a16:colId xmlns:a16="http://schemas.microsoft.com/office/drawing/2014/main" val="3633227043"/>
                    </a:ext>
                  </a:extLst>
                </a:gridCol>
              </a:tblGrid>
              <a:tr h="189124"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Mamaearth</a:t>
                      </a:r>
                      <a:endParaRPr lang="en-IN" sz="1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6341585"/>
                  </a:ext>
                </a:extLst>
              </a:tr>
              <a:tr h="31323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Sub Cat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ASP </a:t>
                      </a:r>
                      <a:b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5346606"/>
                  </a:ext>
                </a:extLst>
              </a:tr>
              <a:tr h="23975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Face Cleanser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6,23,925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7,85,723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▲ 26%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865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1,120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30%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3%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849942"/>
                  </a:ext>
                </a:extLst>
              </a:tr>
              <a:tr h="17139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Shampoo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2,75,067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3,57,736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▲ 30%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516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789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53%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18%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823973"/>
                  </a:ext>
                </a:extLst>
              </a:tr>
              <a:tr h="1773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Sun Care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1,12,028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1,67,158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▲ 49%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211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353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67%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12%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3179601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7581020-ECB9-622E-A63B-C206AEA971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895920"/>
              </p:ext>
            </p:extLst>
          </p:nvPr>
        </p:nvGraphicFramePr>
        <p:xfrm>
          <a:off x="158540" y="9604799"/>
          <a:ext cx="7162797" cy="984250"/>
        </p:xfrm>
        <a:graphic>
          <a:graphicData uri="http://schemas.openxmlformats.org/drawingml/2006/table">
            <a:tbl>
              <a:tblPr/>
              <a:tblGrid>
                <a:gridCol w="778979">
                  <a:extLst>
                    <a:ext uri="{9D8B030D-6E8A-4147-A177-3AD203B41FA5}">
                      <a16:colId xmlns:a16="http://schemas.microsoft.com/office/drawing/2014/main" val="1879853503"/>
                    </a:ext>
                  </a:extLst>
                </a:gridCol>
                <a:gridCol w="911974">
                  <a:extLst>
                    <a:ext uri="{9D8B030D-6E8A-4147-A177-3AD203B41FA5}">
                      <a16:colId xmlns:a16="http://schemas.microsoft.com/office/drawing/2014/main" val="2316742566"/>
                    </a:ext>
                  </a:extLst>
                </a:gridCol>
                <a:gridCol w="911974">
                  <a:extLst>
                    <a:ext uri="{9D8B030D-6E8A-4147-A177-3AD203B41FA5}">
                      <a16:colId xmlns:a16="http://schemas.microsoft.com/office/drawing/2014/main" val="3208734033"/>
                    </a:ext>
                  </a:extLst>
                </a:gridCol>
                <a:gridCol w="911974">
                  <a:extLst>
                    <a:ext uri="{9D8B030D-6E8A-4147-A177-3AD203B41FA5}">
                      <a16:colId xmlns:a16="http://schemas.microsoft.com/office/drawing/2014/main" val="2367184648"/>
                    </a:ext>
                  </a:extLst>
                </a:gridCol>
                <a:gridCol w="911974">
                  <a:extLst>
                    <a:ext uri="{9D8B030D-6E8A-4147-A177-3AD203B41FA5}">
                      <a16:colId xmlns:a16="http://schemas.microsoft.com/office/drawing/2014/main" val="3296042857"/>
                    </a:ext>
                  </a:extLst>
                </a:gridCol>
                <a:gridCol w="911974">
                  <a:extLst>
                    <a:ext uri="{9D8B030D-6E8A-4147-A177-3AD203B41FA5}">
                      <a16:colId xmlns:a16="http://schemas.microsoft.com/office/drawing/2014/main" val="2794637982"/>
                    </a:ext>
                  </a:extLst>
                </a:gridCol>
                <a:gridCol w="911974">
                  <a:extLst>
                    <a:ext uri="{9D8B030D-6E8A-4147-A177-3AD203B41FA5}">
                      <a16:colId xmlns:a16="http://schemas.microsoft.com/office/drawing/2014/main" val="2151274359"/>
                    </a:ext>
                  </a:extLst>
                </a:gridCol>
                <a:gridCol w="911974">
                  <a:extLst>
                    <a:ext uri="{9D8B030D-6E8A-4147-A177-3AD203B41FA5}">
                      <a16:colId xmlns:a16="http://schemas.microsoft.com/office/drawing/2014/main" val="1193925391"/>
                    </a:ext>
                  </a:extLst>
                </a:gridCol>
              </a:tblGrid>
              <a:tr h="155673"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The Derma co.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276058"/>
                  </a:ext>
                </a:extLst>
              </a:tr>
              <a:tr h="30511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Sub Cat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ASP </a:t>
                      </a:r>
                      <a:b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386649"/>
                  </a:ext>
                </a:extLst>
              </a:tr>
              <a:tr h="17225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Face Cleanser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22,592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4,28,182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▲ 1795%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44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557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5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1164%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33%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274450"/>
                  </a:ext>
                </a:extLst>
              </a:tr>
              <a:tr h="15567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Sun Care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29,103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1,62,541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▲ 459%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94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429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5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357%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18%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851478"/>
                  </a:ext>
                </a:extLst>
              </a:tr>
              <a:tr h="15567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Shampoo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22,124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30,097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▲ 36%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63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92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5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46%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5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7%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5721357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79E92E9-62D0-7467-97E8-BE362246B2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218215"/>
              </p:ext>
            </p:extLst>
          </p:nvPr>
        </p:nvGraphicFramePr>
        <p:xfrm>
          <a:off x="183651" y="572366"/>
          <a:ext cx="7164935" cy="1627184"/>
        </p:xfrm>
        <a:graphic>
          <a:graphicData uri="http://schemas.openxmlformats.org/drawingml/2006/table">
            <a:tbl>
              <a:tblPr/>
              <a:tblGrid>
                <a:gridCol w="1148808">
                  <a:extLst>
                    <a:ext uri="{9D8B030D-6E8A-4147-A177-3AD203B41FA5}">
                      <a16:colId xmlns:a16="http://schemas.microsoft.com/office/drawing/2014/main" val="3848970531"/>
                    </a:ext>
                  </a:extLst>
                </a:gridCol>
                <a:gridCol w="604636">
                  <a:extLst>
                    <a:ext uri="{9D8B030D-6E8A-4147-A177-3AD203B41FA5}">
                      <a16:colId xmlns:a16="http://schemas.microsoft.com/office/drawing/2014/main" val="1522408997"/>
                    </a:ext>
                  </a:extLst>
                </a:gridCol>
                <a:gridCol w="589520">
                  <a:extLst>
                    <a:ext uri="{9D8B030D-6E8A-4147-A177-3AD203B41FA5}">
                      <a16:colId xmlns:a16="http://schemas.microsoft.com/office/drawing/2014/main" val="226368320"/>
                    </a:ext>
                  </a:extLst>
                </a:gridCol>
                <a:gridCol w="589520">
                  <a:extLst>
                    <a:ext uri="{9D8B030D-6E8A-4147-A177-3AD203B41FA5}">
                      <a16:colId xmlns:a16="http://schemas.microsoft.com/office/drawing/2014/main" val="828023372"/>
                    </a:ext>
                  </a:extLst>
                </a:gridCol>
                <a:gridCol w="589520">
                  <a:extLst>
                    <a:ext uri="{9D8B030D-6E8A-4147-A177-3AD203B41FA5}">
                      <a16:colId xmlns:a16="http://schemas.microsoft.com/office/drawing/2014/main" val="3845673820"/>
                    </a:ext>
                  </a:extLst>
                </a:gridCol>
                <a:gridCol w="574404">
                  <a:extLst>
                    <a:ext uri="{9D8B030D-6E8A-4147-A177-3AD203B41FA5}">
                      <a16:colId xmlns:a16="http://schemas.microsoft.com/office/drawing/2014/main" val="4180414308"/>
                    </a:ext>
                  </a:extLst>
                </a:gridCol>
                <a:gridCol w="604636">
                  <a:extLst>
                    <a:ext uri="{9D8B030D-6E8A-4147-A177-3AD203B41FA5}">
                      <a16:colId xmlns:a16="http://schemas.microsoft.com/office/drawing/2014/main" val="3702109773"/>
                    </a:ext>
                  </a:extLst>
                </a:gridCol>
                <a:gridCol w="695331">
                  <a:extLst>
                    <a:ext uri="{9D8B030D-6E8A-4147-A177-3AD203B41FA5}">
                      <a16:colId xmlns:a16="http://schemas.microsoft.com/office/drawing/2014/main" val="3174125610"/>
                    </a:ext>
                  </a:extLst>
                </a:gridCol>
                <a:gridCol w="483709">
                  <a:extLst>
                    <a:ext uri="{9D8B030D-6E8A-4147-A177-3AD203B41FA5}">
                      <a16:colId xmlns:a16="http://schemas.microsoft.com/office/drawing/2014/main" val="3399407347"/>
                    </a:ext>
                  </a:extLst>
                </a:gridCol>
                <a:gridCol w="604636">
                  <a:extLst>
                    <a:ext uri="{9D8B030D-6E8A-4147-A177-3AD203B41FA5}">
                      <a16:colId xmlns:a16="http://schemas.microsoft.com/office/drawing/2014/main" val="443509617"/>
                    </a:ext>
                  </a:extLst>
                </a:gridCol>
                <a:gridCol w="680215">
                  <a:extLst>
                    <a:ext uri="{9D8B030D-6E8A-4147-A177-3AD203B41FA5}">
                      <a16:colId xmlns:a16="http://schemas.microsoft.com/office/drawing/2014/main" val="2768538990"/>
                    </a:ext>
                  </a:extLst>
                </a:gridCol>
              </a:tblGrid>
              <a:tr h="4447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Brand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Jan-26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Feb-26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Mar-26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Cont%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L3M </a:t>
                      </a:r>
                      <a:b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</a:br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Avg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GO </a:t>
                      </a:r>
                      <a:b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</a:br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L3M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GOLY </a:t>
                      </a:r>
                      <a:b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</a:br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96166"/>
                  </a:ext>
                </a:extLst>
              </a:tr>
              <a:tr h="226982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Mamaearth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2,168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2,438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2,188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2,477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2,653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2,836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2,436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16%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30%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1819567"/>
                  </a:ext>
                </a:extLst>
              </a:tr>
              <a:tr h="238858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The Derma Co.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543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686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856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1,100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27%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61%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405%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9768965"/>
                  </a:ext>
                </a:extLst>
              </a:tr>
              <a:tr h="238858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Aqualogica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25%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13%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411830"/>
                  </a:ext>
                </a:extLst>
              </a:tr>
              <a:tr h="238858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Emerging Brands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14%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33%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677323"/>
                  </a:ext>
                </a:extLst>
              </a:tr>
              <a:tr h="23885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Portfolio Total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2,466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3,039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2,761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3,234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3,589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4,019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100%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3,195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▲ 26%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▲ 63%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5860741"/>
                  </a:ext>
                </a:extLst>
              </a:tr>
            </a:tbl>
          </a:graphicData>
        </a:graphic>
      </p:graphicFrame>
      <p:sp>
        <p:nvSpPr>
          <p:cNvPr id="20" name="Shape 21">
            <a:extLst>
              <a:ext uri="{FF2B5EF4-FFF2-40B4-BE49-F238E27FC236}">
                <a16:creationId xmlns:a16="http://schemas.microsoft.com/office/drawing/2014/main" id="{5B7DF914-149A-FC9E-7E02-630EAAC9B064}"/>
              </a:ext>
            </a:extLst>
          </p:cNvPr>
          <p:cNvSpPr/>
          <p:nvPr/>
        </p:nvSpPr>
        <p:spPr>
          <a:xfrm>
            <a:off x="208385" y="2216475"/>
            <a:ext cx="7140201" cy="1031161"/>
          </a:xfrm>
          <a:prstGeom prst="roundRect">
            <a:avLst>
              <a:gd name="adj" fmla="val 3226"/>
            </a:avLst>
          </a:prstGeom>
          <a:solidFill>
            <a:srgbClr val="FFF6E0"/>
          </a:solidFill>
          <a:ln/>
        </p:spPr>
        <p:txBody>
          <a:bodyPr anchor="t"/>
          <a:lstStyle/>
          <a:p>
            <a:r>
              <a:rPr lang="en-US" sz="1200" b="1" dirty="0">
                <a:effectLst/>
                <a:latin typeface="Calibri"/>
                <a:ea typeface="Arial MT"/>
                <a:cs typeface="Calibri"/>
              </a:rPr>
              <a:t>Strategic</a:t>
            </a:r>
            <a:r>
              <a:rPr lang="en-US" sz="1200" b="1" spc="-25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200" b="1" dirty="0">
                <a:effectLst/>
                <a:latin typeface="Calibri"/>
                <a:ea typeface="Arial MT"/>
                <a:cs typeface="Calibri"/>
              </a:rPr>
              <a:t>Brand</a:t>
            </a:r>
            <a:r>
              <a:rPr lang="en-US" sz="1200" b="1" spc="-25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200" b="1" dirty="0">
                <a:effectLst/>
                <a:latin typeface="Calibri"/>
                <a:ea typeface="Arial MT"/>
                <a:cs typeface="Calibri"/>
              </a:rPr>
              <a:t>Portfolio</a:t>
            </a:r>
          </a:p>
          <a:p>
            <a:endParaRPr lang="en-US" sz="1000" b="1" dirty="0">
              <a:solidFill>
                <a:srgbClr val="1F7A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00" b="1" dirty="0" err="1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r>
              <a:rPr lang="en-US" sz="10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remains the portfolio Leader at 70.6% share, growing a steady +30% YoY. </a:t>
            </a:r>
          </a:p>
          <a:p>
            <a:r>
              <a:rPr lang="en-US" sz="10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</a:t>
            </a: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fastest scaling brand now 27.4% of NSV vs single digits a </a:t>
            </a:r>
            <a:r>
              <a:rPr lang="en-US" sz="1000" dirty="0" err="1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</a:t>
            </a: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ago, on a genuinely low FY25 base.</a:t>
            </a:r>
          </a:p>
          <a:p>
            <a:r>
              <a:rPr lang="en-US" sz="1000" b="1" dirty="0" err="1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Aqualogica</a:t>
            </a:r>
            <a:r>
              <a:rPr lang="en-US" sz="10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continues to show positive structural growth, with ▲13% YoY, ▲7% MoM, and ▲25% vs L3M average. However, its current contribution remains relatively small, so it is not yet materially influencing the overall portfolio trajectory.</a:t>
            </a:r>
            <a:endParaRPr lang="en-IN" sz="1000" dirty="0">
              <a:effectLst/>
              <a:latin typeface="+mj-lt"/>
              <a:ea typeface="Arial MT"/>
              <a:cs typeface="Calibri"/>
            </a:endParaRPr>
          </a:p>
        </p:txBody>
      </p:sp>
      <p:sp>
        <p:nvSpPr>
          <p:cNvPr id="1078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502920"/>
          </a:xfrm>
          <a:prstGeom prst="rect">
            <a:avLst/>
          </a:prstGeom>
          <a:solidFill>
            <a:srgbClr val="2D9B7F"/>
          </a:solidFill>
          <a:ln w="12700">
            <a:solidFill>
              <a:srgbClr val="0B1F3A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6903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Zone Performance Summary</a:t>
            </a:r>
            <a:endParaRPr lang="en-US" sz="1300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329184"/>
            <a:ext cx="6903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D8E6F2"/>
                </a:solidFill>
                <a:latin typeface="Calibri"/>
              </a:rPr>
              <a:t>Zone share, May’26 NSV and growth view</a:t>
            </a:r>
            <a:endParaRPr lang="en-US" sz="650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536126"/>
            <a:ext cx="6903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5A85"/>
                </a:solidFill>
                <a:latin typeface="Calibri"/>
              </a:rPr>
              <a:t>Zone May’26 NSV and Share</a:t>
            </a:r>
            <a:endParaRPr lang="en-US" sz="1600" dirty="0">
              <a:latin typeface="+mj-l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758951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1276853806"/>
              </p:ext>
            </p:extLst>
          </p:nvPr>
        </p:nvGraphicFramePr>
        <p:xfrm>
          <a:off x="320040" y="823920"/>
          <a:ext cx="34560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1"/>
          <p:cNvGraphicFramePr/>
          <p:nvPr>
            <p:extLst>
              <p:ext uri="{D42A27DB-BD31-4B8C-83A1-F6EECF244321}">
                <p14:modId xmlns:p14="http://schemas.microsoft.com/office/powerpoint/2010/main" val="282652588"/>
              </p:ext>
            </p:extLst>
          </p:nvPr>
        </p:nvGraphicFramePr>
        <p:xfrm>
          <a:off x="3911760" y="850392"/>
          <a:ext cx="33120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5"/>
          <p:cNvSpPr/>
          <p:nvPr/>
        </p:nvSpPr>
        <p:spPr>
          <a:xfrm>
            <a:off x="320040" y="3144576"/>
            <a:ext cx="6922770" cy="256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F5A85"/>
                </a:solidFill>
                <a:latin typeface="Calibri"/>
              </a:rPr>
              <a:t>Zone Summary</a:t>
            </a:r>
            <a:endParaRPr lang="en-US" dirty="0">
              <a:latin typeface="+mj-lt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320040" y="3418895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69" name="Text 65"/>
          <p:cNvSpPr/>
          <p:nvPr/>
        </p:nvSpPr>
        <p:spPr>
          <a:xfrm>
            <a:off x="329184" y="5389561"/>
            <a:ext cx="6903719" cy="516379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254" tIns="254" rIns="254" bIns="254" numCol="1" spcCol="720000" rtlCol="0" anchor="t">
            <a:noAutofit/>
          </a:bodyPr>
          <a:lstStyle/>
          <a:p>
            <a:r>
              <a:rPr lang="en-US" sz="1600" b="1" dirty="0">
                <a:solidFill>
                  <a:srgbClr val="1E7461"/>
                </a:solidFill>
                <a:latin typeface="Calibri"/>
              </a:rPr>
              <a:t>Zone Insights | May’26</a:t>
            </a:r>
            <a:endParaRPr lang="en-US" dirty="0">
              <a:solidFill>
                <a:srgbClr val="1E746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/>
              </a:rPr>
              <a:t>West remained the largest zone</a:t>
            </a:r>
            <a:r>
              <a:rPr lang="en-US" sz="1400" dirty="0">
                <a:latin typeface="Calibri"/>
              </a:rPr>
              <a:t> with NSV of </a:t>
            </a:r>
            <a:r>
              <a:rPr lang="en-US" sz="1400" b="1" dirty="0">
                <a:latin typeface="Calibri"/>
              </a:rPr>
              <a:t>₹1,017 Lacs</a:t>
            </a:r>
            <a:r>
              <a:rPr lang="en-US" sz="1400" dirty="0">
                <a:latin typeface="Calibri"/>
              </a:rPr>
              <a:t>, contributing </a:t>
            </a:r>
            <a:r>
              <a:rPr lang="en-US" sz="1400" b="1" dirty="0">
                <a:latin typeface="Calibri"/>
              </a:rPr>
              <a:t>25.3%</a:t>
            </a:r>
            <a:r>
              <a:rPr lang="en-US" sz="1400" dirty="0">
                <a:latin typeface="Calibri"/>
              </a:rPr>
              <a:t> to overall MT offtake.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/>
              </a:rPr>
              <a:t>North and South-1 emerged as the next key growth bases</a:t>
            </a:r>
            <a:r>
              <a:rPr lang="en-US" sz="1400" dirty="0">
                <a:latin typeface="Calibri"/>
              </a:rPr>
              <a:t>, strengthening the national growth mix beyond West.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/>
              </a:rPr>
              <a:t>South-1 delivered the strongest YoY growth at </a:t>
            </a:r>
            <a:r>
              <a:rPr lang="en-US" sz="1400" dirty="0">
                <a:solidFill>
                  <a:srgbClr val="008A3D"/>
                </a:solidFill>
                <a:latin typeface="Calibri"/>
              </a:rPr>
              <a:t>▲84%, </a:t>
            </a:r>
            <a:r>
              <a:rPr lang="en-US" sz="1400" dirty="0">
                <a:latin typeface="Calibri"/>
              </a:rPr>
              <a:t>indicating strong scale-up momentum in the region.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 err="1">
                <a:latin typeface="Calibri"/>
              </a:rPr>
              <a:t>Dmart</a:t>
            </a:r>
            <a:r>
              <a:rPr lang="en-US" sz="1400" b="1" dirty="0">
                <a:latin typeface="Calibri"/>
              </a:rPr>
              <a:t> is the #1 chain in 3 out of 5 zones</a:t>
            </a:r>
            <a:r>
              <a:rPr lang="en-US" sz="1400" dirty="0">
                <a:latin typeface="Calibri"/>
              </a:rPr>
              <a:t>: North, South-2 and West. This confirms </a:t>
            </a:r>
            <a:r>
              <a:rPr lang="en-US" sz="1400" dirty="0" err="1">
                <a:latin typeface="Calibri"/>
              </a:rPr>
              <a:t>Dmart</a:t>
            </a:r>
            <a:r>
              <a:rPr lang="en-US" sz="1400" dirty="0">
                <a:latin typeface="Calibri"/>
              </a:rPr>
              <a:t> as a national growth engine, not limited to one zone.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/>
              </a:rPr>
              <a:t>Apollo leads South-1 and ranks #2/#3 in three other zones</a:t>
            </a:r>
            <a:r>
              <a:rPr lang="en-US" sz="1400" dirty="0">
                <a:latin typeface="Calibri"/>
              </a:rPr>
              <a:t>, showing repeatable pharmacy-channel momentum across regions, largely driven by </a:t>
            </a:r>
            <a:r>
              <a:rPr lang="en-US" sz="1400" b="1" dirty="0">
                <a:latin typeface="Calibri"/>
              </a:rPr>
              <a:t>The Derma Co.</a:t>
            </a:r>
            <a:endParaRPr lang="en-US" sz="1400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600" b="1" dirty="0">
                <a:solidFill>
                  <a:srgbClr val="1E7461"/>
                </a:solidFill>
                <a:latin typeface="Calibri"/>
              </a:rPr>
              <a:t>Brand &amp; Category Repeats Across </a:t>
            </a:r>
            <a:r>
              <a:rPr lang="en-US" b="1" dirty="0">
                <a:solidFill>
                  <a:schemeClr val="bg1"/>
                </a:solidFill>
                <a:latin typeface="Calibri"/>
              </a:rPr>
              <a:t>Zones</a:t>
            </a: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/>
              </a:rPr>
              <a:t>The Derma Co. achieved its highest-ever monthly NSV of ₹1,100 Lacs</a:t>
            </a:r>
            <a:r>
              <a:rPr lang="en-US" sz="1400" dirty="0">
                <a:latin typeface="Calibri"/>
              </a:rPr>
              <a:t>, contributing </a:t>
            </a:r>
            <a:r>
              <a:rPr lang="en-US" sz="1400" b="1" dirty="0">
                <a:latin typeface="Calibri"/>
              </a:rPr>
              <a:t>27.4%</a:t>
            </a:r>
            <a:r>
              <a:rPr lang="en-US" sz="1400" dirty="0">
                <a:latin typeface="Calibri"/>
              </a:rPr>
              <a:t> to the portfolio. The brand grew </a:t>
            </a:r>
            <a:r>
              <a:rPr lang="en-US" sz="1400" dirty="0">
                <a:solidFill>
                  <a:srgbClr val="008A3D"/>
                </a:solidFill>
                <a:latin typeface="Calibri"/>
              </a:rPr>
              <a:t>▲404% </a:t>
            </a:r>
            <a:r>
              <a:rPr lang="en-US" sz="1400" b="1" dirty="0">
                <a:latin typeface="Calibri"/>
              </a:rPr>
              <a:t>YoY</a:t>
            </a:r>
            <a:r>
              <a:rPr lang="en-US" sz="1400" dirty="0">
                <a:latin typeface="Calibri"/>
              </a:rPr>
              <a:t>, making it the fastest-scaling growth engine in the portfolio.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/>
              </a:rPr>
              <a:t>Face Cleanser and Sun Care remained the top 2 growth drivers for The Derma Co. in 5 out of 6 zones</a:t>
            </a:r>
            <a:r>
              <a:rPr lang="en-US" sz="1400" dirty="0">
                <a:latin typeface="Calibri"/>
              </a:rPr>
              <a:t>, making them the clearest scale-up levers. </a:t>
            </a:r>
            <a:r>
              <a:rPr lang="en-US" sz="1400" dirty="0">
                <a:solidFill>
                  <a:srgbClr val="404040"/>
                </a:solidFill>
                <a:latin typeface="Calibri"/>
              </a:rPr>
              <a:t>FSN is the only chain growing materially slower than the network (+18.9% YoY).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 err="1">
                <a:latin typeface="Calibri"/>
              </a:rPr>
              <a:t>Mamaearth</a:t>
            </a:r>
            <a:r>
              <a:rPr lang="en-US" sz="1400" b="1" dirty="0">
                <a:latin typeface="Calibri"/>
              </a:rPr>
              <a:t> Face Cleanser and Shampoo ranked as the #1/#2 sub-categories by value across every zone</a:t>
            </a:r>
            <a:r>
              <a:rPr lang="en-US" sz="1400" dirty="0">
                <a:latin typeface="Calibri"/>
              </a:rPr>
              <a:t>, confirming their role as stable national anchors.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/>
              </a:rPr>
              <a:t>Sun Care emerged as the fastest seasonal mover across zones</a:t>
            </a:r>
            <a:r>
              <a:rPr lang="en-US" sz="1400" dirty="0">
                <a:latin typeface="Calibri"/>
              </a:rPr>
              <a:t>, supported by strong summer-led demand and visibility execution.</a:t>
            </a:r>
          </a:p>
        </p:txBody>
      </p:sp>
      <p:sp>
        <p:nvSpPr>
          <p:cNvPr id="68" name="Shape 64"/>
          <p:cNvSpPr/>
          <p:nvPr/>
        </p:nvSpPr>
        <p:spPr>
          <a:xfrm>
            <a:off x="320039" y="5591911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 sz="3600">
              <a:latin typeface="+mj-lt"/>
            </a:endParaRPr>
          </a:p>
        </p:txBody>
      </p:sp>
      <p:graphicFrame>
        <p:nvGraphicFramePr>
          <p:cNvPr id="240" name="Table 239">
            <a:extLst>
              <a:ext uri="{FF2B5EF4-FFF2-40B4-BE49-F238E27FC236}">
                <a16:creationId xmlns:a16="http://schemas.microsoft.com/office/drawing/2014/main" id="{22C0EF99-FAAB-CACA-AEC1-CA5D7B9E08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543092"/>
              </p:ext>
            </p:extLst>
          </p:nvPr>
        </p:nvGraphicFramePr>
        <p:xfrm>
          <a:off x="320040" y="3510335"/>
          <a:ext cx="6903719" cy="1854608"/>
        </p:xfrm>
        <a:graphic>
          <a:graphicData uri="http://schemas.openxmlformats.org/drawingml/2006/table">
            <a:tbl>
              <a:tblPr/>
              <a:tblGrid>
                <a:gridCol w="867302">
                  <a:extLst>
                    <a:ext uri="{9D8B030D-6E8A-4147-A177-3AD203B41FA5}">
                      <a16:colId xmlns:a16="http://schemas.microsoft.com/office/drawing/2014/main" val="1796692111"/>
                    </a:ext>
                  </a:extLst>
                </a:gridCol>
                <a:gridCol w="693841">
                  <a:extLst>
                    <a:ext uri="{9D8B030D-6E8A-4147-A177-3AD203B41FA5}">
                      <a16:colId xmlns:a16="http://schemas.microsoft.com/office/drawing/2014/main" val="4130509951"/>
                    </a:ext>
                  </a:extLst>
                </a:gridCol>
                <a:gridCol w="676495">
                  <a:extLst>
                    <a:ext uri="{9D8B030D-6E8A-4147-A177-3AD203B41FA5}">
                      <a16:colId xmlns:a16="http://schemas.microsoft.com/office/drawing/2014/main" val="3826358126"/>
                    </a:ext>
                  </a:extLst>
                </a:gridCol>
                <a:gridCol w="676495">
                  <a:extLst>
                    <a:ext uri="{9D8B030D-6E8A-4147-A177-3AD203B41FA5}">
                      <a16:colId xmlns:a16="http://schemas.microsoft.com/office/drawing/2014/main" val="354505304"/>
                    </a:ext>
                  </a:extLst>
                </a:gridCol>
                <a:gridCol w="659149">
                  <a:extLst>
                    <a:ext uri="{9D8B030D-6E8A-4147-A177-3AD203B41FA5}">
                      <a16:colId xmlns:a16="http://schemas.microsoft.com/office/drawing/2014/main" val="816571884"/>
                    </a:ext>
                  </a:extLst>
                </a:gridCol>
                <a:gridCol w="693841">
                  <a:extLst>
                    <a:ext uri="{9D8B030D-6E8A-4147-A177-3AD203B41FA5}">
                      <a16:colId xmlns:a16="http://schemas.microsoft.com/office/drawing/2014/main" val="555739565"/>
                    </a:ext>
                  </a:extLst>
                </a:gridCol>
                <a:gridCol w="624457">
                  <a:extLst>
                    <a:ext uri="{9D8B030D-6E8A-4147-A177-3AD203B41FA5}">
                      <a16:colId xmlns:a16="http://schemas.microsoft.com/office/drawing/2014/main" val="2296702728"/>
                    </a:ext>
                  </a:extLst>
                </a:gridCol>
                <a:gridCol w="503035">
                  <a:extLst>
                    <a:ext uri="{9D8B030D-6E8A-4147-A177-3AD203B41FA5}">
                      <a16:colId xmlns:a16="http://schemas.microsoft.com/office/drawing/2014/main" val="3831480518"/>
                    </a:ext>
                  </a:extLst>
                </a:gridCol>
                <a:gridCol w="797917">
                  <a:extLst>
                    <a:ext uri="{9D8B030D-6E8A-4147-A177-3AD203B41FA5}">
                      <a16:colId xmlns:a16="http://schemas.microsoft.com/office/drawing/2014/main" val="1086156123"/>
                    </a:ext>
                  </a:extLst>
                </a:gridCol>
                <a:gridCol w="711187">
                  <a:extLst>
                    <a:ext uri="{9D8B030D-6E8A-4147-A177-3AD203B41FA5}">
                      <a16:colId xmlns:a16="http://schemas.microsoft.com/office/drawing/2014/main" val="859510602"/>
                    </a:ext>
                  </a:extLst>
                </a:gridCol>
              </a:tblGrid>
              <a:tr h="451556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Zone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Feb-26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Zone Share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L3M </a:t>
                      </a:r>
                      <a:r>
                        <a:rPr lang="en-IN" sz="14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Avg</a:t>
                      </a:r>
                      <a:endParaRPr lang="en-IN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GOLY May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333050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East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284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311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370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411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10%</a:t>
                      </a:r>
                      <a:endParaRPr lang="en-IN" sz="1400" b="0" i="0" u="none" strike="noStrike" dirty="0">
                        <a:solidFill>
                          <a:srgbClr val="1A1F29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322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28%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55%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876577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North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566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630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764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845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934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746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25%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65%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023069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South-1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487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591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660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770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894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674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 dirty="0">
                          <a:solidFill>
                            <a:srgbClr val="008A3D"/>
                          </a:solidFill>
                          <a:latin typeface="Calibri"/>
                        </a:rPr>
                        <a:t>▲ 33%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84%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1997152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South-2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320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367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429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468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554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14%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421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31%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73%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6224738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West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652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722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896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903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1,017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25%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840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 dirty="0">
                          <a:solidFill>
                            <a:srgbClr val="008A3D"/>
                          </a:solidFill>
                          <a:latin typeface="Calibri"/>
                        </a:rPr>
                        <a:t>▲ 21%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56%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018670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FSN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175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168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173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229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208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5%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190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9%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 dirty="0">
                          <a:solidFill>
                            <a:srgbClr val="008A3D"/>
                          </a:solidFill>
                          <a:latin typeface="Calibri"/>
                        </a:rPr>
                        <a:t>▲ 19%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1348988"/>
                  </a:ext>
                </a:extLst>
              </a:tr>
            </a:tbl>
          </a:graphicData>
        </a:graphic>
      </p:graphicFrame>
      <p:sp>
        <p:nvSpPr>
          <p:cNvPr id="15" name="Shape 64">
            <a:extLst>
              <a:ext uri="{FF2B5EF4-FFF2-40B4-BE49-F238E27FC236}">
                <a16:creationId xmlns:a16="http://schemas.microsoft.com/office/drawing/2014/main" id="{E7CD4EB2-142A-8EFA-51E0-5F02C7C991AA}"/>
              </a:ext>
            </a:extLst>
          </p:cNvPr>
          <p:cNvSpPr/>
          <p:nvPr/>
        </p:nvSpPr>
        <p:spPr>
          <a:xfrm>
            <a:off x="320039" y="8411471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 sz="3600">
              <a:latin typeface="+mj-lt"/>
            </a:endParaRPr>
          </a:p>
        </p:txBody>
      </p:sp>
      <p:sp>
        <p:nvSpPr>
          <p:cNvPr id="16" name="Shape 64">
            <a:extLst>
              <a:ext uri="{FF2B5EF4-FFF2-40B4-BE49-F238E27FC236}">
                <a16:creationId xmlns:a16="http://schemas.microsoft.com/office/drawing/2014/main" id="{E050BDAA-C913-441A-CD85-620B427F4BF7}"/>
              </a:ext>
            </a:extLst>
          </p:cNvPr>
          <p:cNvSpPr/>
          <p:nvPr/>
        </p:nvSpPr>
        <p:spPr>
          <a:xfrm>
            <a:off x="320039" y="8183192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 sz="3600">
              <a:latin typeface="+mj-lt"/>
            </a:endParaRPr>
          </a:p>
        </p:txBody>
      </p:sp>
      <p:sp>
        <p:nvSpPr>
          <p:cNvPr id="290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3 / 9</a:t>
            </a:r>
          </a:p>
        </p:txBody>
      </p:sp>
    </p:spTree>
    <p:extLst>
      <p:ext uri="{BB962C8B-B14F-4D97-AF65-F5344CB8AC3E}">
        <p14:creationId xmlns:p14="http://schemas.microsoft.com/office/powerpoint/2010/main" val="2707407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017874"/>
              </p:ext>
            </p:extLst>
          </p:nvPr>
        </p:nvGraphicFramePr>
        <p:xfrm>
          <a:off x="212691" y="82627"/>
          <a:ext cx="7015882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7015882">
                  <a:extLst>
                    <a:ext uri="{9D8B030D-6E8A-4147-A177-3AD203B41FA5}">
                      <a16:colId xmlns:a16="http://schemas.microsoft.com/office/drawing/2014/main"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EAST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a16:creationId xmlns:a16="http://schemas.microsoft.com/office/drawing/2014/main"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a16:creationId xmlns:a16="http://schemas.microsoft.com/office/drawing/2014/main"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a16:creationId xmlns:a16="http://schemas.microsoft.com/office/drawing/2014/main"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May-26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411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a16:creationId xmlns:a16="http://schemas.microsoft.com/office/drawing/2014/main"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a16:creationId xmlns:a16="http://schemas.microsoft.com/office/drawing/2014/main"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a16:creationId xmlns:a16="http://schemas.microsoft.com/office/drawing/2014/main"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10.3%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a16:creationId xmlns:a16="http://schemas.microsoft.com/office/drawing/2014/main"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a16:creationId xmlns:a16="http://schemas.microsoft.com/office/drawing/2014/main"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a16:creationId xmlns:a16="http://schemas.microsoft.com/office/drawing/2014/main"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322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a16:creationId xmlns:a16="http://schemas.microsoft.com/office/drawing/2014/main"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a16:creationId xmlns:a16="http://schemas.microsoft.com/office/drawing/2014/main"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a16:creationId xmlns:a16="http://schemas.microsoft.com/office/drawing/2014/main"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GOLY May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55%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a16:creationId xmlns:a16="http://schemas.microsoft.com/office/drawing/2014/main"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a16:creationId xmlns:a16="http://schemas.microsoft.com/office/drawing/2014/main"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33702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7" name="Rectangle 52">
            <a:extLst>
              <a:ext uri="{FF2B5EF4-FFF2-40B4-BE49-F238E27FC236}">
                <a16:creationId xmlns:a16="http://schemas.microsoft.com/office/drawing/2014/main" id="{6D038E4A-1677-969E-C704-197AFECF0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9126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a16:creationId xmlns:a16="http://schemas.microsoft.com/office/drawing/2014/main"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a16:creationId xmlns:a16="http://schemas.microsoft.com/office/drawing/2014/main"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6867859"/>
            <a:ext cx="6926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a16:creationId xmlns:a16="http://schemas.microsoft.com/office/drawing/2014/main"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effectLst/>
                <a:latin typeface="Calibri"/>
                <a:ea typeface="Arial MT"/>
                <a:cs typeface="Calibri"/>
              </a:rPr>
              <a:t>East Zone Jul'26 NSV: ₹3.55 Cr
Mamaearth ₹2.91 Cr — Face Cleanser ₹1.21 Cr (42%), Shampoo ₹0.94 Cr (32%), Sun Care ₹0.17 Cr
The Derma Co. ₹0.60 Cr — Face Cleanser ₹0.40 Cr (66%), Sun Care ₹0.11 Cr, Face Serum ₹0.07 Cr
Chains: DMart dominates; Reliance ₹8.06 Cr (national, East subset in zone total)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</p:txBody>
      </p:sp>
      <p:sp>
        <p:nvSpPr>
          <p:cNvPr id="149" name="Shape 3">
            <a:extLst>
              <a:ext uri="{FF2B5EF4-FFF2-40B4-BE49-F238E27FC236}">
                <a16:creationId xmlns:a16="http://schemas.microsoft.com/office/drawing/2014/main"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72158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a16:creationId xmlns:a16="http://schemas.microsoft.com/office/drawing/2014/main" id="{E090B056-5AAD-CC5C-BB09-77FB607FB2B4}"/>
              </a:ext>
            </a:extLst>
          </p:cNvPr>
          <p:cNvSpPr/>
          <p:nvPr/>
        </p:nvSpPr>
        <p:spPr>
          <a:xfrm>
            <a:off x="212691" y="3440324"/>
            <a:ext cx="6926523" cy="277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East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a16:creationId xmlns:a16="http://schemas.microsoft.com/office/drawing/2014/main" id="{8DC1552C-E149-4A10-28F5-0A4785E39F2D}"/>
              </a:ext>
            </a:extLst>
          </p:cNvPr>
          <p:cNvSpPr/>
          <p:nvPr/>
        </p:nvSpPr>
        <p:spPr>
          <a:xfrm>
            <a:off x="707667" y="3870179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a16:creationId xmlns:a16="http://schemas.microsoft.com/office/drawing/2014/main" id="{68B7E644-F756-EB08-51D0-E4BBD2584EB3}"/>
              </a:ext>
            </a:extLst>
          </p:cNvPr>
          <p:cNvSpPr/>
          <p:nvPr/>
        </p:nvSpPr>
        <p:spPr>
          <a:xfrm>
            <a:off x="1159597" y="3861039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43%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a16:creationId xmlns:a16="http://schemas.microsoft.com/office/drawing/2014/main" id="{E90F34B8-D653-A710-F866-1BC3E6964F9D}"/>
              </a:ext>
            </a:extLst>
          </p:cNvPr>
          <p:cNvSpPr/>
          <p:nvPr/>
        </p:nvSpPr>
        <p:spPr>
          <a:xfrm>
            <a:off x="1633843" y="3872916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10%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a16:creationId xmlns:a16="http://schemas.microsoft.com/office/drawing/2014/main" id="{C3EABDE2-E03A-721E-0AE3-C104F928F4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8971664"/>
              </p:ext>
            </p:extLst>
          </p:nvPr>
        </p:nvGraphicFramePr>
        <p:xfrm>
          <a:off x="180438" y="3792416"/>
          <a:ext cx="2261355" cy="15573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6" name="Text 9">
            <a:extLst>
              <a:ext uri="{FF2B5EF4-FFF2-40B4-BE49-F238E27FC236}">
                <a16:creationId xmlns:a16="http://schemas.microsoft.com/office/drawing/2014/main" id="{5BEBD7FD-7A2C-AC1D-76B9-D5B4A0E4DD0C}"/>
              </a:ext>
            </a:extLst>
          </p:cNvPr>
          <p:cNvSpPr/>
          <p:nvPr/>
        </p:nvSpPr>
        <p:spPr>
          <a:xfrm>
            <a:off x="2942073" y="3861040"/>
            <a:ext cx="666595" cy="175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a16:creationId xmlns:a16="http://schemas.microsoft.com/office/drawing/2014/main" id="{1E0A7551-8419-9F78-49C5-64130D89CF32}"/>
              </a:ext>
            </a:extLst>
          </p:cNvPr>
          <p:cNvSpPr/>
          <p:nvPr/>
        </p:nvSpPr>
        <p:spPr>
          <a:xfrm>
            <a:off x="3651854" y="3914645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77%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a16:creationId xmlns:a16="http://schemas.microsoft.com/office/drawing/2014/main" id="{A6E4DFA5-8AF1-66E3-AB74-1643CD5B917D}"/>
              </a:ext>
            </a:extLst>
          </p:cNvPr>
          <p:cNvSpPr/>
          <p:nvPr/>
        </p:nvSpPr>
        <p:spPr>
          <a:xfrm>
            <a:off x="4056373" y="3910824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13%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a16:creationId xmlns:a16="http://schemas.microsoft.com/office/drawing/2014/main" id="{498335C8-87FE-1BF3-E55D-7F3682FE8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6920728"/>
              </p:ext>
            </p:extLst>
          </p:nvPr>
        </p:nvGraphicFramePr>
        <p:xfrm>
          <a:off x="2508399" y="3803422"/>
          <a:ext cx="2261355" cy="15678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1" name="Text 13">
            <a:extLst>
              <a:ext uri="{FF2B5EF4-FFF2-40B4-BE49-F238E27FC236}">
                <a16:creationId xmlns:a16="http://schemas.microsoft.com/office/drawing/2014/main" id="{AE81E6A1-E294-CD2E-3731-74E6402A61FF}"/>
              </a:ext>
            </a:extLst>
          </p:cNvPr>
          <p:cNvSpPr/>
          <p:nvPr/>
        </p:nvSpPr>
        <p:spPr>
          <a:xfrm>
            <a:off x="5306248" y="3888466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a16:creationId xmlns:a16="http://schemas.microsoft.com/office/drawing/2014/main" id="{27F9A9D8-519D-AC19-D616-44CAE0D43FD1}"/>
              </a:ext>
            </a:extLst>
          </p:cNvPr>
          <p:cNvSpPr/>
          <p:nvPr/>
        </p:nvSpPr>
        <p:spPr>
          <a:xfrm>
            <a:off x="5885786" y="3907176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▲157%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25E789B0-F22E-6189-F81D-C18A4F30CC76}"/>
              </a:ext>
            </a:extLst>
          </p:cNvPr>
          <p:cNvSpPr/>
          <p:nvPr/>
        </p:nvSpPr>
        <p:spPr>
          <a:xfrm>
            <a:off x="6352373" y="3887916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20%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a16:creationId xmlns:a16="http://schemas.microsoft.com/office/drawing/2014/main" id="{E29320C6-4ABC-47AD-CAC6-8C1A6CA6E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2247040"/>
              </p:ext>
            </p:extLst>
          </p:nvPr>
        </p:nvGraphicFramePr>
        <p:xfrm>
          <a:off x="4830879" y="3790132"/>
          <a:ext cx="2308335" cy="15625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6" name="Shape 17">
            <a:extLst>
              <a:ext uri="{FF2B5EF4-FFF2-40B4-BE49-F238E27FC236}">
                <a16:creationId xmlns:a16="http://schemas.microsoft.com/office/drawing/2014/main" id="{0C37FB05-75B7-65DE-A1B1-F44B76B917B2}"/>
              </a:ext>
            </a:extLst>
          </p:cNvPr>
          <p:cNvSpPr/>
          <p:nvPr/>
        </p:nvSpPr>
        <p:spPr>
          <a:xfrm>
            <a:off x="212691" y="5443690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a16:creationId xmlns:a16="http://schemas.microsoft.com/office/drawing/2014/main" id="{606509AD-D1A3-4CFF-7031-2BD01F460E84}"/>
              </a:ext>
            </a:extLst>
          </p:cNvPr>
          <p:cNvSpPr/>
          <p:nvPr/>
        </p:nvSpPr>
        <p:spPr>
          <a:xfrm>
            <a:off x="329765" y="55321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East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a16:creationId xmlns:a16="http://schemas.microsoft.com/office/drawing/2014/main" id="{A8BC9F08-BB7E-07CC-C7BE-53E76EB85511}"/>
              </a:ext>
            </a:extLst>
          </p:cNvPr>
          <p:cNvSpPr/>
          <p:nvPr/>
        </p:nvSpPr>
        <p:spPr>
          <a:xfrm>
            <a:off x="643883" y="596560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05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a16:creationId xmlns:a16="http://schemas.microsoft.com/office/drawing/2014/main" id="{CC6466FF-9DFE-712B-2E6C-63C9594ED3C1}"/>
              </a:ext>
            </a:extLst>
          </p:cNvPr>
          <p:cNvSpPr/>
          <p:nvPr/>
        </p:nvSpPr>
        <p:spPr>
          <a:xfrm>
            <a:off x="1203373" y="6004948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 </a:t>
            </a:r>
            <a:r>
              <a:rPr sz="900" b="1">
                <a:solidFill>
                  <a:srgbClr val="008A3D"/>
                </a:solidFill>
                <a:latin typeface="Calibri"/>
              </a:rPr>
              <a:t>▲500%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a16:creationId xmlns:a16="http://schemas.microsoft.com/office/drawing/2014/main" id="{6553EC6E-D91D-B6B7-81E0-5D554EF96509}"/>
              </a:ext>
            </a:extLst>
          </p:cNvPr>
          <p:cNvSpPr/>
          <p:nvPr/>
        </p:nvSpPr>
        <p:spPr>
          <a:xfrm>
            <a:off x="1776670" y="5981324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6%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a16:creationId xmlns:a16="http://schemas.microsoft.com/office/drawing/2014/main" id="{A04A165C-0A2C-703B-D787-4F0EA0143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3071956"/>
              </p:ext>
            </p:extLst>
          </p:nvPr>
        </p:nvGraphicFramePr>
        <p:xfrm>
          <a:off x="196505" y="5838726"/>
          <a:ext cx="2256553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3" name="Text 23">
            <a:extLst>
              <a:ext uri="{FF2B5EF4-FFF2-40B4-BE49-F238E27FC236}">
                <a16:creationId xmlns:a16="http://schemas.microsoft.com/office/drawing/2014/main" id="{D7CD4F3F-DA69-AB5C-19FC-40054C6226BA}"/>
              </a:ext>
            </a:extLst>
          </p:cNvPr>
          <p:cNvSpPr/>
          <p:nvPr/>
        </p:nvSpPr>
        <p:spPr>
          <a:xfrm>
            <a:off x="2823294" y="5937701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a16:creationId xmlns:a16="http://schemas.microsoft.com/office/drawing/2014/main" id="{1D10C6E1-4BAF-BC01-C799-C47AB1F5027D}"/>
              </a:ext>
            </a:extLst>
          </p:cNvPr>
          <p:cNvSpPr/>
          <p:nvPr/>
        </p:nvSpPr>
        <p:spPr>
          <a:xfrm>
            <a:off x="3412706" y="5946619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▲125%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a16:creationId xmlns:a16="http://schemas.microsoft.com/office/drawing/2014/main" id="{7646A250-EE9F-A6C6-49D3-68B6D3DFBFDE}"/>
              </a:ext>
            </a:extLst>
          </p:cNvPr>
          <p:cNvSpPr/>
          <p:nvPr/>
        </p:nvSpPr>
        <p:spPr>
          <a:xfrm>
            <a:off x="4140153" y="5928351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20%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a16:creationId xmlns:a16="http://schemas.microsoft.com/office/drawing/2014/main" id="{CBBF5C82-1DBC-BF6C-CAEA-410BB465C0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4789875"/>
              </p:ext>
            </p:extLst>
          </p:nvPr>
        </p:nvGraphicFramePr>
        <p:xfrm>
          <a:off x="2487615" y="5833529"/>
          <a:ext cx="2467498" cy="15415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8" name="Text 27">
            <a:extLst>
              <a:ext uri="{FF2B5EF4-FFF2-40B4-BE49-F238E27FC236}">
                <a16:creationId xmlns:a16="http://schemas.microsoft.com/office/drawing/2014/main" id="{038BADD0-EAC6-F8D6-7B12-BE177A9DAD4D}"/>
              </a:ext>
            </a:extLst>
          </p:cNvPr>
          <p:cNvSpPr/>
          <p:nvPr/>
        </p:nvSpPr>
        <p:spPr>
          <a:xfrm>
            <a:off x="5489018" y="5906220"/>
            <a:ext cx="670727" cy="123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Face 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a16:creationId xmlns:a16="http://schemas.microsoft.com/office/drawing/2014/main" id="{024D5F40-BAD0-9683-DBAB-2A9FEAA024FA}"/>
              </a:ext>
            </a:extLst>
          </p:cNvPr>
          <p:cNvSpPr/>
          <p:nvPr/>
        </p:nvSpPr>
        <p:spPr>
          <a:xfrm>
            <a:off x="6173226" y="5916969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03A3A"/>
                </a:solidFill>
                <a:latin typeface="Calibri"/>
              </a:rPr>
              <a:t>GOLY</a:t>
            </a:r>
          </a:p>
          <a:p>
            <a:pPr marL="0" indent="0">
              <a:buNone/>
            </a:pPr>
            <a:r>
              <a:rPr sz="900" b="1">
                <a:solidFill>
                  <a:srgbClr val="C00000"/>
                </a:solidFill>
                <a:latin typeface="Calibri"/>
              </a:rPr>
              <a:t>▼ 22%</a:t>
            </a:r>
            <a:endParaRPr lang="en-US" sz="900" dirty="0"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a16:creationId xmlns:a16="http://schemas.microsoft.com/office/drawing/2014/main" id="{631DEBF0-39A6-7D0F-BA14-F1B18161FDD2}"/>
              </a:ext>
            </a:extLst>
          </p:cNvPr>
          <p:cNvSpPr/>
          <p:nvPr/>
        </p:nvSpPr>
        <p:spPr>
          <a:xfrm>
            <a:off x="6591667" y="5927470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0%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a16:creationId xmlns:a16="http://schemas.microsoft.com/office/drawing/2014/main" id="{39E95149-09DC-244B-A1A2-AB5A022BF0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7243054"/>
              </p:ext>
            </p:extLst>
          </p:nvPr>
        </p:nvGraphicFramePr>
        <p:xfrm>
          <a:off x="4886313" y="5890361"/>
          <a:ext cx="2241504" cy="14909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a16:creationId xmlns:a16="http://schemas.microsoft.com/office/drawing/2014/main"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647328"/>
              </p:ext>
            </p:extLst>
          </p:nvPr>
        </p:nvGraphicFramePr>
        <p:xfrm>
          <a:off x="212691" y="1934878"/>
          <a:ext cx="6961092" cy="1502231"/>
        </p:xfrm>
        <a:graphic>
          <a:graphicData uri="http://schemas.openxmlformats.org/drawingml/2006/table">
            <a:tbl>
              <a:tblPr firstRow="1" firstCol="1" bandRow="1"/>
              <a:tblGrid>
                <a:gridCol w="1183119">
                  <a:extLst>
                    <a:ext uri="{9D8B030D-6E8A-4147-A177-3AD203B41FA5}">
                      <a16:colId xmlns:a16="http://schemas.microsoft.com/office/drawing/2014/main" val="1720933068"/>
                    </a:ext>
                  </a:extLst>
                </a:gridCol>
                <a:gridCol w="473423">
                  <a:extLst>
                    <a:ext uri="{9D8B030D-6E8A-4147-A177-3AD203B41FA5}">
                      <a16:colId xmlns:a16="http://schemas.microsoft.com/office/drawing/2014/main" val="2630805108"/>
                    </a:ext>
                  </a:extLst>
                </a:gridCol>
                <a:gridCol w="814455">
                  <a:extLst>
                    <a:ext uri="{9D8B030D-6E8A-4147-A177-3AD203B41FA5}">
                      <a16:colId xmlns:a16="http://schemas.microsoft.com/office/drawing/2014/main" val="1295913063"/>
                    </a:ext>
                  </a:extLst>
                </a:gridCol>
                <a:gridCol w="898019">
                  <a:extLst>
                    <a:ext uri="{9D8B030D-6E8A-4147-A177-3AD203B41FA5}">
                      <a16:colId xmlns:a16="http://schemas.microsoft.com/office/drawing/2014/main" val="4130086957"/>
                    </a:ext>
                  </a:extLst>
                </a:gridCol>
                <a:gridCol w="898019">
                  <a:extLst>
                    <a:ext uri="{9D8B030D-6E8A-4147-A177-3AD203B41FA5}">
                      <a16:colId xmlns:a16="http://schemas.microsoft.com/office/drawing/2014/main" val="3066276741"/>
                    </a:ext>
                  </a:extLst>
                </a:gridCol>
                <a:gridCol w="898019">
                  <a:extLst>
                    <a:ext uri="{9D8B030D-6E8A-4147-A177-3AD203B41FA5}">
                      <a16:colId xmlns:a16="http://schemas.microsoft.com/office/drawing/2014/main" val="2870282349"/>
                    </a:ext>
                  </a:extLst>
                </a:gridCol>
                <a:gridCol w="898019">
                  <a:extLst>
                    <a:ext uri="{9D8B030D-6E8A-4147-A177-3AD203B41FA5}">
                      <a16:colId xmlns:a16="http://schemas.microsoft.com/office/drawing/2014/main" val="1716647770"/>
                    </a:ext>
                  </a:extLst>
                </a:gridCol>
                <a:gridCol w="898019">
                  <a:extLst>
                    <a:ext uri="{9D8B030D-6E8A-4147-A177-3AD203B41FA5}">
                      <a16:colId xmlns:a16="http://schemas.microsoft.com/office/drawing/2014/main" val="2912854798"/>
                    </a:ext>
                  </a:extLst>
                </a:gridCol>
              </a:tblGrid>
              <a:tr h="37334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Apr-26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Cont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355"/>
                  </a:ext>
                </a:extLst>
              </a:tr>
              <a:tr h="28199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235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322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360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88%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283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53%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593741"/>
                  </a:ext>
                </a:extLst>
              </a:tr>
              <a:tr h="28199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18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40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11%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30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45%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144%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782322"/>
                  </a:ext>
                </a:extLst>
              </a:tr>
              <a:tr h="28199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9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C00000"/>
                          </a:solidFill>
                          <a:latin typeface="Calibri"/>
                        </a:rPr>
                        <a:t>▼ 22%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599869"/>
                  </a:ext>
                </a:extLst>
              </a:tr>
              <a:tr h="28199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a16:creationId xmlns:a16="http://schemas.microsoft.com/office/drawing/2014/main"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596026"/>
              </p:ext>
            </p:extLst>
          </p:nvPr>
        </p:nvGraphicFramePr>
        <p:xfrm>
          <a:off x="212691" y="7863614"/>
          <a:ext cx="7010190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701001">
                  <a:extLst>
                    <a:ext uri="{9D8B030D-6E8A-4147-A177-3AD203B41FA5}">
                      <a16:colId xmlns:a16="http://schemas.microsoft.com/office/drawing/2014/main" val="1999662838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1604924111"/>
                    </a:ext>
                  </a:extLst>
                </a:gridCol>
                <a:gridCol w="721637">
                  <a:extLst>
                    <a:ext uri="{9D8B030D-6E8A-4147-A177-3AD203B41FA5}">
                      <a16:colId xmlns:a16="http://schemas.microsoft.com/office/drawing/2014/main" val="3900343723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2453469686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531817117"/>
                    </a:ext>
                  </a:extLst>
                </a:gridCol>
                <a:gridCol w="481091">
                  <a:extLst>
                    <a:ext uri="{9D8B030D-6E8A-4147-A177-3AD203B41FA5}">
                      <a16:colId xmlns:a16="http://schemas.microsoft.com/office/drawing/2014/main" val="1269342238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1250320746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Cont%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188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235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264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209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27%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40%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72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33%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167%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VMM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45%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108%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More Retail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18%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120%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Frankros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200%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900%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Spencer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▼ 14%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▼ 65%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5%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103%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a16:creationId xmlns:a16="http://schemas.microsoft.com/office/drawing/2014/main"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42"/>
            <a:ext cx="7562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184784"/>
            <a:chOff x="-20552" y="3870"/>
            <a:chExt cx="6977611" cy="2032500"/>
          </a:xfrm>
        </p:grpSpPr>
        <p:sp>
          <p:nvSpPr>
            <p:cNvPr id="197" name="Graphic 278">
              <a:extLst>
                <a:ext uri="{FF2B5EF4-FFF2-40B4-BE49-F238E27FC236}">
                  <a16:creationId xmlns:a16="http://schemas.microsoft.com/office/drawing/2014/main" id="{09562CA0-9705-0A03-47F3-5D39BF8835E5}"/>
                </a:ext>
              </a:extLst>
            </p:cNvPr>
            <p:cNvSpPr/>
            <p:nvPr/>
          </p:nvSpPr>
          <p:spPr>
            <a:xfrm>
              <a:off x="-20552" y="124955"/>
              <a:ext cx="6917094" cy="1911415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000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a16:creationId xmlns:a16="http://schemas.microsoft.com/office/drawing/2014/main"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a16:creationId xmlns:a16="http://schemas.microsoft.com/office/drawing/2014/main" id="{786D0DB1-927E-CDBA-AE82-7E1B1BB65AF0}"/>
                </a:ext>
              </a:extLst>
            </p:cNvPr>
            <p:cNvSpPr/>
            <p:nvPr/>
          </p:nvSpPr>
          <p:spPr>
            <a:xfrm>
              <a:off x="139662" y="1160579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a16:creationId xmlns:a16="http://schemas.microsoft.com/office/drawing/2014/main" id="{1EE2520B-B499-D8A6-9F61-FEDF24208690}"/>
                </a:ext>
              </a:extLst>
            </p:cNvPr>
            <p:cNvSpPr/>
            <p:nvPr/>
          </p:nvSpPr>
          <p:spPr>
            <a:xfrm>
              <a:off x="156520" y="115928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a16:creationId xmlns:a16="http://schemas.microsoft.com/office/drawing/2014/main" id="{CC1D8F9B-ACDE-52DF-23D6-7FEDF2C5895A}"/>
                </a:ext>
              </a:extLst>
            </p:cNvPr>
            <p:cNvSpPr/>
            <p:nvPr/>
          </p:nvSpPr>
          <p:spPr>
            <a:xfrm>
              <a:off x="1818276" y="1173474"/>
              <a:ext cx="1624852" cy="501735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a16:creationId xmlns:a16="http://schemas.microsoft.com/office/drawing/2014/main" id="{78E6F5B7-D8F6-E3DA-2211-639E0006CDFC}"/>
                </a:ext>
              </a:extLst>
            </p:cNvPr>
            <p:cNvSpPr/>
            <p:nvPr/>
          </p:nvSpPr>
          <p:spPr>
            <a:xfrm>
              <a:off x="1828092" y="1101478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000" dirty="0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a16:creationId xmlns:a16="http://schemas.microsoft.com/office/drawing/2014/main" id="{E2A44793-D301-9552-99EC-90EC13154CAA}"/>
                </a:ext>
              </a:extLst>
            </p:cNvPr>
            <p:cNvSpPr/>
            <p:nvPr/>
          </p:nvSpPr>
          <p:spPr>
            <a:xfrm>
              <a:off x="3523661" y="1248817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a16:creationId xmlns:a16="http://schemas.microsoft.com/office/drawing/2014/main" id="{5C0F2A52-1C1D-D1A6-05EA-4ACCDB5127EF}"/>
                </a:ext>
              </a:extLst>
            </p:cNvPr>
            <p:cNvSpPr/>
            <p:nvPr/>
          </p:nvSpPr>
          <p:spPr>
            <a:xfrm>
              <a:off x="3493229" y="1124742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a16:creationId xmlns:a16="http://schemas.microsoft.com/office/drawing/2014/main" id="{97A32B53-FBD3-57B6-D1A2-97E533939E78}"/>
                </a:ext>
              </a:extLst>
            </p:cNvPr>
            <p:cNvSpPr/>
            <p:nvPr/>
          </p:nvSpPr>
          <p:spPr>
            <a:xfrm>
              <a:off x="5235859" y="1119977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a16:creationId xmlns:a16="http://schemas.microsoft.com/office/drawing/2014/main" id="{7A282D42-C8EF-02F8-6401-E33E4651DA3A}"/>
                </a:ext>
              </a:extLst>
            </p:cNvPr>
            <p:cNvSpPr/>
            <p:nvPr/>
          </p:nvSpPr>
          <p:spPr>
            <a:xfrm>
              <a:off x="5205600" y="1209710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a16:creationId xmlns:a16="http://schemas.microsoft.com/office/drawing/2014/main"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a16:creationId xmlns:a16="http://schemas.microsoft.com/office/drawing/2014/main" id="{390ECE72-BE5D-D8E0-F6DB-459027B27CA3}"/>
                </a:ext>
              </a:extLst>
            </p:cNvPr>
            <p:cNvSpPr txBox="1"/>
            <p:nvPr/>
          </p:nvSpPr>
          <p:spPr>
            <a:xfrm>
              <a:off x="114800" y="422663"/>
              <a:ext cx="6735227" cy="4600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720" b="1">
                  <a:latin typeface="Calibri"/>
                </a:rPr>
                <a:t>Zone Record: East delivered its highest month at 411, ▲28% vs L3M and ▲55% vs May-25.</a:t>
              </a:r>
              <a:br/>
              <a:r>
                <a:rPr sz="720" b="1">
                  <a:latin typeface="Calibri"/>
                </a:rPr>
                <a:t>Chain Highlights: Reliance leads; Apollo is the fastest YoY chain.</a:t>
              </a:r>
              <a:endParaRPr lang="en-IN" sz="1600" spc="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a16:creationId xmlns:a16="http://schemas.microsoft.com/office/drawing/2014/main" id="{696AC7C6-3FED-0B1D-4CD4-FA589378E90D}"/>
                </a:ext>
              </a:extLst>
            </p:cNvPr>
            <p:cNvSpPr txBox="1"/>
            <p:nvPr/>
          </p:nvSpPr>
          <p:spPr>
            <a:xfrm>
              <a:off x="208826" y="1290444"/>
              <a:ext cx="793772" cy="366266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9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Lead</a:t>
              </a:r>
              <a:r>
                <a:rPr lang="en-US" sz="90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4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a16:creationId xmlns:a16="http://schemas.microsoft.com/office/drawing/2014/main" id="{D2CB78A9-052C-7918-9B59-3C05E6224543}"/>
                </a:ext>
              </a:extLst>
            </p:cNvPr>
            <p:cNvSpPr txBox="1"/>
            <p:nvPr/>
          </p:nvSpPr>
          <p:spPr>
            <a:xfrm>
              <a:off x="1882000" y="1343191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8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Fastest</a:t>
              </a:r>
              <a:r>
                <a:rPr lang="en-US" sz="800" b="1" spc="-25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8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YoY</a:t>
              </a:r>
              <a:r>
                <a:rPr lang="en-US" sz="80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8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2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a16:creationId xmlns:a16="http://schemas.microsoft.com/office/drawing/2014/main" id="{1002BC0E-27DD-532F-2DE7-BB1F581AC8FE}"/>
                </a:ext>
              </a:extLst>
            </p:cNvPr>
            <p:cNvSpPr txBox="1"/>
            <p:nvPr/>
          </p:nvSpPr>
          <p:spPr>
            <a:xfrm>
              <a:off x="3595835" y="1101478"/>
              <a:ext cx="1450088" cy="5428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8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r>
                <a:rPr lang="en-US" sz="800" b="1" spc="-25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8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800" b="1" spc="-25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8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ines2</a:t>
              </a:r>
              <a:endParaRPr lang="en-IN" sz="1200" dirty="0">
                <a:effectLst/>
                <a:latin typeface="+mj-lt"/>
                <a:ea typeface="Arial MT"/>
                <a:cs typeface="Calibri"/>
              </a:endParaRPr>
            </a:p>
            <a:p>
              <a:pPr>
                <a:spcBef>
                  <a:spcPts val="5"/>
                </a:spcBef>
              </a:pPr>
              <a:r>
                <a:rPr lang="en-US" sz="8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Reliance, VMM,</a:t>
              </a:r>
              <a:r>
                <a:rPr lang="en-US" sz="800" b="1" spc="-4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Apollo, </a:t>
              </a:r>
              <a:r>
                <a:rPr lang="en-US" sz="8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More</a:t>
              </a:r>
              <a:r>
                <a:rPr lang="en-US" sz="800" b="1" spc="-4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8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Retail,</a:t>
              </a:r>
              <a:r>
                <a:rPr lang="en-US" sz="8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   </a:t>
              </a:r>
              <a:endParaRPr lang="en-IN" sz="12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a16:creationId xmlns:a16="http://schemas.microsoft.com/office/drawing/2014/main" id="{1393482F-11D6-D6FE-2753-A47D0B48114B}"/>
                </a:ext>
              </a:extLst>
            </p:cNvPr>
            <p:cNvSpPr txBox="1"/>
            <p:nvPr/>
          </p:nvSpPr>
          <p:spPr>
            <a:xfrm>
              <a:off x="5321014" y="1216290"/>
              <a:ext cx="1056474" cy="298827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8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Zone</a:t>
              </a:r>
              <a:r>
                <a:rPr lang="en-US" sz="80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0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a16:creationId xmlns:a16="http://schemas.microsoft.com/office/drawing/2014/main" id="{9D505091-C1B3-4643-3757-11527DD029ED}"/>
                </a:ext>
              </a:extLst>
            </p:cNvPr>
            <p:cNvSpPr txBox="1"/>
            <p:nvPr/>
          </p:nvSpPr>
          <p:spPr>
            <a:xfrm>
              <a:off x="804280" y="1367557"/>
              <a:ext cx="771797" cy="258262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Reliance</a:t>
              </a:r>
              <a:r>
                <a:rPr lang="en-US" sz="90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</a:t>
              </a:r>
              <a:r>
                <a:rPr lang="en-US" sz="90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264</a:t>
              </a:r>
              <a:endParaRPr lang="en-IN" sz="14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a16:creationId xmlns:a16="http://schemas.microsoft.com/office/drawing/2014/main" id="{D4A13F3F-01DA-EED4-B30C-053A438475D3}"/>
                </a:ext>
              </a:extLst>
            </p:cNvPr>
            <p:cNvSpPr txBox="1"/>
            <p:nvPr/>
          </p:nvSpPr>
          <p:spPr>
            <a:xfrm>
              <a:off x="2701317" y="1373977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800" b="1" dirty="0">
                  <a:solidFill>
                    <a:srgbClr val="1A1F29"/>
                  </a:solidFill>
                  <a:latin typeface="+mj-lt"/>
                </a:rPr>
                <a:t>Apollo  - </a:t>
              </a:r>
              <a:r>
                <a:rPr sz="800" b="1" dirty="0">
                  <a:solidFill>
                    <a:srgbClr val="008A3D"/>
                  </a:solidFill>
                  <a:latin typeface="+mj-lt"/>
                </a:rPr>
                <a:t>▲ 33%</a:t>
              </a:r>
              <a:endParaRPr lang="en-IN" sz="12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a16:creationId xmlns:a16="http://schemas.microsoft.com/office/drawing/2014/main" id="{823DC972-676F-BB3F-DF78-E528EBCA63EA}"/>
                </a:ext>
              </a:extLst>
            </p:cNvPr>
            <p:cNvSpPr txBox="1"/>
            <p:nvPr/>
          </p:nvSpPr>
          <p:spPr>
            <a:xfrm>
              <a:off x="3523316" y="1145938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a16:creationId xmlns:a16="http://schemas.microsoft.com/office/drawing/2014/main" id="{1109BA7C-796E-3D4D-65A2-95AB774BD170}"/>
                </a:ext>
              </a:extLst>
            </p:cNvPr>
            <p:cNvSpPr txBox="1"/>
            <p:nvPr/>
          </p:nvSpPr>
          <p:spPr>
            <a:xfrm>
              <a:off x="6044531" y="1279512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May-26</a:t>
              </a:r>
              <a:r>
                <a:rPr lang="en-US" sz="900" b="1" spc="-3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spc="-30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- </a:t>
              </a: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411</a:t>
              </a:r>
              <a:r>
                <a:rPr lang="en-US" sz="90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a16:creationId xmlns:a16="http://schemas.microsoft.com/office/drawing/2014/main"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112827"/>
            <a:ext cx="75628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East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a16:creationId xmlns:a16="http://schemas.microsoft.com/office/drawing/2014/main" id="{5D280CFA-196A-3384-28EB-93A0BA900D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8" r="23559"/>
          <a:stretch/>
        </p:blipFill>
        <p:spPr bwMode="auto">
          <a:xfrm>
            <a:off x="2563955" y="5910322"/>
            <a:ext cx="212290" cy="4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3BE51A77-E98C-BDE1-B461-8EF8CA191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020" y="5924618"/>
            <a:ext cx="210106" cy="44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ottle of rice face wash  Description automatically generated">
            <a:extLst>
              <a:ext uri="{FF2B5EF4-FFF2-40B4-BE49-F238E27FC236}">
                <a16:creationId xmlns:a16="http://schemas.microsoft.com/office/drawing/2014/main" id="{4F8FFE7C-A843-B300-DFB8-A8926A046F05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359645" y="3868252"/>
            <a:ext cx="200232" cy="412943"/>
          </a:xfrm>
          <a:prstGeom prst="rect">
            <a:avLst/>
          </a:prstGeom>
        </p:spPr>
      </p:pic>
      <p:pic>
        <p:nvPicPr>
          <p:cNvPr id="5" name="Picture 4" descr="A yellow bottle of sunscreen  Description automatically generated">
            <a:extLst>
              <a:ext uri="{FF2B5EF4-FFF2-40B4-BE49-F238E27FC236}">
                <a16:creationId xmlns:a16="http://schemas.microsoft.com/office/drawing/2014/main" id="{1D587756-29C5-809E-CF12-295DC55BCF8B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4989647" y="3869829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  AI-generated content may be incorrect.">
            <a:extLst>
              <a:ext uri="{FF2B5EF4-FFF2-40B4-BE49-F238E27FC236}">
                <a16:creationId xmlns:a16="http://schemas.microsoft.com/office/drawing/2014/main" id="{8A9AAA02-2587-3BB3-DAF9-87AFAEE22844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85084" y="5922266"/>
            <a:ext cx="199186" cy="284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  Description automatically generated">
            <a:extLst>
              <a:ext uri="{FF2B5EF4-FFF2-40B4-BE49-F238E27FC236}">
                <a16:creationId xmlns:a16="http://schemas.microsoft.com/office/drawing/2014/main" id="{B12E3AF0-7D3C-DD22-4BD1-3C667E370C4E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684778" y="3872916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856524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4 / 9</a:t>
            </a:r>
          </a:p>
        </p:txBody>
      </p:sp>
      <p:sp>
        <p:nvSpPr>
          <p:cNvPr id="2" name="Text 0"/>
          <p:cNvSpPr/>
          <p:nvPr/>
        </p:nvSpPr>
        <p:spPr>
          <a:xfrm>
            <a:off x="-17844" y="-14471"/>
            <a:ext cx="7580694" cy="454996"/>
          </a:xfrm>
          <a:prstGeom prst="rect">
            <a:avLst/>
          </a:prstGeom>
          <a:solidFill>
            <a:srgbClr val="2D9B7F"/>
          </a:solidFill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OFFTAKE PERFORMANCE REPORT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-17844" y="417740"/>
            <a:ext cx="7580694" cy="3077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A85"/>
                </a:solidFill>
                <a:latin typeface="Calibri"/>
              </a:rPr>
              <a:t>EAST ZONE DEEP DIVE — JUL'26</a:t>
            </a:r>
            <a:endParaRPr lang="en-US" sz="1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77474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3439487"/>
              </p:ext>
            </p:extLst>
          </p:nvPr>
        </p:nvGraphicFramePr>
        <p:xfrm>
          <a:off x="212691" y="82627"/>
          <a:ext cx="7015882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7015882">
                  <a:extLst>
                    <a:ext uri="{9D8B030D-6E8A-4147-A177-3AD203B41FA5}">
                      <a16:colId xmlns:a16="http://schemas.microsoft.com/office/drawing/2014/main"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NORTH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a16:creationId xmlns:a16="http://schemas.microsoft.com/office/drawing/2014/main"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a16:creationId xmlns:a16="http://schemas.microsoft.com/office/drawing/2014/main"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a16:creationId xmlns:a16="http://schemas.microsoft.com/office/drawing/2014/main"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May-26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934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a16:creationId xmlns:a16="http://schemas.microsoft.com/office/drawing/2014/main"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a16:creationId xmlns:a16="http://schemas.microsoft.com/office/drawing/2014/main"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a16:creationId xmlns:a16="http://schemas.microsoft.com/office/drawing/2014/main"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23.2%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a16:creationId xmlns:a16="http://schemas.microsoft.com/office/drawing/2014/main"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a16:creationId xmlns:a16="http://schemas.microsoft.com/office/drawing/2014/main"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a16:creationId xmlns:a16="http://schemas.microsoft.com/office/drawing/2014/main"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746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a16:creationId xmlns:a16="http://schemas.microsoft.com/office/drawing/2014/main"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a16:creationId xmlns:a16="http://schemas.microsoft.com/office/drawing/2014/main"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a16:creationId xmlns:a16="http://schemas.microsoft.com/office/drawing/2014/main"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GOLY May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65%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a16:creationId xmlns:a16="http://schemas.microsoft.com/office/drawing/2014/main"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a16:creationId xmlns:a16="http://schemas.microsoft.com/office/drawing/2014/main"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427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a16:creationId xmlns:a16="http://schemas.microsoft.com/office/drawing/2014/main"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a16:creationId xmlns:a16="http://schemas.microsoft.com/office/drawing/2014/main"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6867859"/>
            <a:ext cx="6926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a16:creationId xmlns:a16="http://schemas.microsoft.com/office/drawing/2014/main"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North Zone Jul'26 NSV: ₹6.98 Cr
Mamaearth ₹4.73 Cr — Face Cleanser ₹2.01 Cr (42%), Shampoo ₹1.50 Cr (32%), Sun Care ₹0.36 Cr
The Derma Co. ₹2.12 Cr — Face Cleanser ₹1.45 Cr (69%), Sun Care ₹0.46 Cr, Face Serum ₹0.13 Cr
Reliance North at 44.9% conversion — weakest in national pack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</p:txBody>
      </p:sp>
      <p:sp>
        <p:nvSpPr>
          <p:cNvPr id="149" name="Shape 3">
            <a:extLst>
              <a:ext uri="{FF2B5EF4-FFF2-40B4-BE49-F238E27FC236}">
                <a16:creationId xmlns:a16="http://schemas.microsoft.com/office/drawing/2014/main"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a16:creationId xmlns:a16="http://schemas.microsoft.com/office/drawing/2014/main"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North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a16:creationId xmlns:a16="http://schemas.microsoft.com/office/drawing/2014/main" id="{8DC1552C-E149-4A10-28F5-0A4785E39F2D}"/>
              </a:ext>
            </a:extLst>
          </p:cNvPr>
          <p:cNvSpPr/>
          <p:nvPr/>
        </p:nvSpPr>
        <p:spPr>
          <a:xfrm>
            <a:off x="336150" y="3893837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a16:creationId xmlns:a16="http://schemas.microsoft.com/office/drawing/2014/main" id="{68B7E644-F756-EB08-51D0-E4BBD2584EB3}"/>
              </a:ext>
            </a:extLst>
          </p:cNvPr>
          <p:cNvSpPr/>
          <p:nvPr/>
        </p:nvSpPr>
        <p:spPr>
          <a:xfrm>
            <a:off x="679525" y="3893836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29%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a16:creationId xmlns:a16="http://schemas.microsoft.com/office/drawing/2014/main" id="{E90F34B8-D653-A710-F866-1BC3E6964F9D}"/>
              </a:ext>
            </a:extLst>
          </p:cNvPr>
          <p:cNvSpPr/>
          <p:nvPr/>
        </p:nvSpPr>
        <p:spPr>
          <a:xfrm>
            <a:off x="1153771" y="3905713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7%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a16:creationId xmlns:a16="http://schemas.microsoft.com/office/drawing/2014/main" id="{3CB5B5FD-F962-33DF-877C-0AE18D2CE328}"/>
              </a:ext>
            </a:extLst>
          </p:cNvPr>
          <p:cNvSpPr/>
          <p:nvPr/>
        </p:nvSpPr>
        <p:spPr>
          <a:xfrm>
            <a:off x="1627936" y="3893837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262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a16:creationId xmlns:a16="http://schemas.microsoft.com/office/drawing/2014/main" id="{C3EABDE2-E03A-721E-0AE3-C104F928F4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1951180"/>
              </p:ext>
            </p:extLst>
          </p:nvPr>
        </p:nvGraphicFramePr>
        <p:xfrm>
          <a:off x="201072" y="3821157"/>
          <a:ext cx="2222757" cy="15518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6" name="Text 9">
            <a:extLst>
              <a:ext uri="{FF2B5EF4-FFF2-40B4-BE49-F238E27FC236}">
                <a16:creationId xmlns:a16="http://schemas.microsoft.com/office/drawing/2014/main" id="{5BEBD7FD-7A2C-AC1D-76B9-D5B4A0E4DD0C}"/>
              </a:ext>
            </a:extLst>
          </p:cNvPr>
          <p:cNvSpPr/>
          <p:nvPr/>
        </p:nvSpPr>
        <p:spPr>
          <a:xfrm>
            <a:off x="2648050" y="3903537"/>
            <a:ext cx="560284" cy="155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a16:creationId xmlns:a16="http://schemas.microsoft.com/office/drawing/2014/main" id="{1E0A7551-8419-9F78-49C5-64130D89CF32}"/>
              </a:ext>
            </a:extLst>
          </p:cNvPr>
          <p:cNvSpPr/>
          <p:nvPr/>
        </p:nvSpPr>
        <p:spPr>
          <a:xfrm>
            <a:off x="3240756" y="3893642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54%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a16:creationId xmlns:a16="http://schemas.microsoft.com/office/drawing/2014/main" id="{A6E4DFA5-8AF1-66E3-AB74-1643CD5B917D}"/>
              </a:ext>
            </a:extLst>
          </p:cNvPr>
          <p:cNvSpPr/>
          <p:nvPr/>
        </p:nvSpPr>
        <p:spPr>
          <a:xfrm>
            <a:off x="3645275" y="3889821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7%</a:t>
            </a:r>
            <a:endParaRPr lang="en-US" sz="900" dirty="0"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a16:creationId xmlns:a16="http://schemas.microsoft.com/office/drawing/2014/main" id="{0002D543-8B74-7800-B3E0-CCAA6D0B22FA}"/>
              </a:ext>
            </a:extLst>
          </p:cNvPr>
          <p:cNvSpPr/>
          <p:nvPr/>
        </p:nvSpPr>
        <p:spPr>
          <a:xfrm>
            <a:off x="4116738" y="3891974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Jul'26 188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a16:creationId xmlns:a16="http://schemas.microsoft.com/office/drawing/2014/main" id="{498335C8-87FE-1BF3-E55D-7F3682FE8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331227"/>
              </p:ext>
            </p:extLst>
          </p:nvPr>
        </p:nvGraphicFramePr>
        <p:xfrm>
          <a:off x="2523196" y="3793964"/>
          <a:ext cx="2246183" cy="16045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1" name="Text 13">
            <a:extLst>
              <a:ext uri="{FF2B5EF4-FFF2-40B4-BE49-F238E27FC236}">
                <a16:creationId xmlns:a16="http://schemas.microsoft.com/office/drawing/2014/main" id="{AE81E6A1-E294-CD2E-3731-74E6402A61FF}"/>
              </a:ext>
            </a:extLst>
          </p:cNvPr>
          <p:cNvSpPr/>
          <p:nvPr/>
        </p:nvSpPr>
        <p:spPr>
          <a:xfrm>
            <a:off x="4973035" y="3855509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a16:creationId xmlns:a16="http://schemas.microsoft.com/office/drawing/2014/main" id="{27F9A9D8-519D-AC19-D616-44CAE0D43FD1}"/>
              </a:ext>
            </a:extLst>
          </p:cNvPr>
          <p:cNvSpPr/>
          <p:nvPr/>
        </p:nvSpPr>
        <p:spPr>
          <a:xfrm>
            <a:off x="5552573" y="3874219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50%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25E789B0-F22E-6189-F81D-C18A4F30CC76}"/>
              </a:ext>
            </a:extLst>
          </p:cNvPr>
          <p:cNvSpPr/>
          <p:nvPr/>
        </p:nvSpPr>
        <p:spPr>
          <a:xfrm>
            <a:off x="6019160" y="3854959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3%</a:t>
            </a:r>
            <a:endParaRPr lang="en-US" sz="900" dirty="0"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a16:creationId xmlns:a16="http://schemas.microsoft.com/office/drawing/2014/main" id="{B7F3446D-2E00-77C7-5921-C34968E8F7B7}"/>
              </a:ext>
            </a:extLst>
          </p:cNvPr>
          <p:cNvSpPr/>
          <p:nvPr/>
        </p:nvSpPr>
        <p:spPr>
          <a:xfrm>
            <a:off x="6447628" y="3903536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89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a16:creationId xmlns:a16="http://schemas.microsoft.com/office/drawing/2014/main" id="{E29320C6-4ABC-47AD-CAC6-8C1A6CA6E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3009613"/>
              </p:ext>
            </p:extLst>
          </p:nvPr>
        </p:nvGraphicFramePr>
        <p:xfrm>
          <a:off x="4830879" y="3790131"/>
          <a:ext cx="2308335" cy="16213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6" name="Shape 17">
            <a:extLst>
              <a:ext uri="{FF2B5EF4-FFF2-40B4-BE49-F238E27FC236}">
                <a16:creationId xmlns:a16="http://schemas.microsoft.com/office/drawing/2014/main"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a16:creationId xmlns:a16="http://schemas.microsoft.com/office/drawing/2014/main"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North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a16:creationId xmlns:a16="http://schemas.microsoft.com/office/drawing/2014/main" id="{A8BC9F08-BB7E-07CC-C7BE-53E76EB85511}"/>
              </a:ext>
            </a:extLst>
          </p:cNvPr>
          <p:cNvSpPr/>
          <p:nvPr/>
        </p:nvSpPr>
        <p:spPr>
          <a:xfrm>
            <a:off x="336150" y="5868172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90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a16:creationId xmlns:a16="http://schemas.microsoft.com/office/drawing/2014/main" id="{CC6466FF-9DFE-712B-2E6C-63C9594ED3C1}"/>
              </a:ext>
            </a:extLst>
          </p:cNvPr>
          <p:cNvSpPr/>
          <p:nvPr/>
        </p:nvSpPr>
        <p:spPr>
          <a:xfrm>
            <a:off x="630315" y="5868171"/>
            <a:ext cx="472126" cy="245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▲1806%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a16:creationId xmlns:a16="http://schemas.microsoft.com/office/drawing/2014/main" id="{6553EC6E-D91D-B6B7-81E0-5D554EF96509}"/>
              </a:ext>
            </a:extLst>
          </p:cNvPr>
          <p:cNvSpPr/>
          <p:nvPr/>
        </p:nvSpPr>
        <p:spPr>
          <a:xfrm>
            <a:off x="1238663" y="5883530"/>
            <a:ext cx="426367" cy="176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40%</a:t>
            </a:r>
            <a:endParaRPr lang="en-US" sz="900" dirty="0"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a16:creationId xmlns:a16="http://schemas.microsoft.com/office/drawing/2014/main" id="{21E44F12-56F2-0F79-99BF-12D5FEBEA9AE}"/>
              </a:ext>
            </a:extLst>
          </p:cNvPr>
          <p:cNvSpPr/>
          <p:nvPr/>
        </p:nvSpPr>
        <p:spPr>
          <a:xfrm>
            <a:off x="1808405" y="5874585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F29"/>
                </a:solidFill>
                <a:latin typeface="Calibri"/>
              </a:rPr>
              <a:t>Jul'26 132</a:t>
            </a:r>
            <a:endParaRPr lang="en-US" sz="8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a16:creationId xmlns:a16="http://schemas.microsoft.com/office/drawing/2014/main" id="{A04A165C-0A2C-703B-D787-4F0EA0143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6062141"/>
              </p:ext>
            </p:extLst>
          </p:nvPr>
        </p:nvGraphicFramePr>
        <p:xfrm>
          <a:off x="176687" y="5845570"/>
          <a:ext cx="2239919" cy="14675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3" name="Text 23">
            <a:extLst>
              <a:ext uri="{FF2B5EF4-FFF2-40B4-BE49-F238E27FC236}">
                <a16:creationId xmlns:a16="http://schemas.microsoft.com/office/drawing/2014/main" id="{D7CD4F3F-DA69-AB5C-19FC-40054C6226BA}"/>
              </a:ext>
            </a:extLst>
          </p:cNvPr>
          <p:cNvSpPr/>
          <p:nvPr/>
        </p:nvSpPr>
        <p:spPr>
          <a:xfrm>
            <a:off x="2622149" y="5868171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a16:creationId xmlns:a16="http://schemas.microsoft.com/office/drawing/2014/main" id="{1D10C6E1-4BAF-BC01-C799-C47AB1F5027D}"/>
              </a:ext>
            </a:extLst>
          </p:cNvPr>
          <p:cNvSpPr/>
          <p:nvPr/>
        </p:nvSpPr>
        <p:spPr>
          <a:xfrm>
            <a:off x="3191647" y="5935615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▲440%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a16:creationId xmlns:a16="http://schemas.microsoft.com/office/drawing/2014/main" id="{7646A250-EE9F-A6C6-49D3-68B6D3DFBFDE}"/>
              </a:ext>
            </a:extLst>
          </p:cNvPr>
          <p:cNvSpPr/>
          <p:nvPr/>
        </p:nvSpPr>
        <p:spPr>
          <a:xfrm>
            <a:off x="3673150" y="5898208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37%</a:t>
            </a:r>
            <a:endParaRPr lang="en-US" sz="900" dirty="0"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a16:creationId xmlns:a16="http://schemas.microsoft.com/office/drawing/2014/main" id="{DB185B2C-DCD9-D290-C330-3A33EAC025C5}"/>
              </a:ext>
            </a:extLst>
          </p:cNvPr>
          <p:cNvSpPr/>
          <p:nvPr/>
        </p:nvSpPr>
        <p:spPr>
          <a:xfrm>
            <a:off x="4092264" y="5888238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May’26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92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a16:creationId xmlns:a16="http://schemas.microsoft.com/office/drawing/2014/main" id="{CBBF5C82-1DBC-BF6C-CAEA-410BB465C0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7147632"/>
              </p:ext>
            </p:extLst>
          </p:nvPr>
        </p:nvGraphicFramePr>
        <p:xfrm>
          <a:off x="2495147" y="5860056"/>
          <a:ext cx="2274232" cy="1482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8" name="Text 27">
            <a:extLst>
              <a:ext uri="{FF2B5EF4-FFF2-40B4-BE49-F238E27FC236}">
                <a16:creationId xmlns:a16="http://schemas.microsoft.com/office/drawing/2014/main" id="{038BADD0-EAC6-F8D6-7B12-BE177A9DAD4D}"/>
              </a:ext>
            </a:extLst>
          </p:cNvPr>
          <p:cNvSpPr/>
          <p:nvPr/>
        </p:nvSpPr>
        <p:spPr>
          <a:xfrm>
            <a:off x="5022359" y="5889642"/>
            <a:ext cx="566347" cy="228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Face 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a16:creationId xmlns:a16="http://schemas.microsoft.com/office/drawing/2014/main" id="{024D5F40-BAD0-9683-DBAB-2A9FEAA024FA}"/>
              </a:ext>
            </a:extLst>
          </p:cNvPr>
          <p:cNvSpPr/>
          <p:nvPr/>
        </p:nvSpPr>
        <p:spPr>
          <a:xfrm>
            <a:off x="5538385" y="5902135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algn="ctr"/>
            <a:r>
              <a:rPr sz="900" dirty="0">
                <a:solidFill>
                  <a:srgbClr val="008A3D"/>
                </a:solidFill>
                <a:latin typeface="Calibri"/>
              </a:rPr>
              <a:t>▲ 108</a:t>
            </a:r>
            <a:r>
              <a:rPr sz="900" b="1" dirty="0">
                <a:solidFill>
                  <a:schemeClr val="accent6"/>
                </a:solidFill>
                <a:latin typeface="Calibri"/>
              </a:rPr>
              <a:t>%</a:t>
            </a:r>
            <a:endParaRPr lang="en-US" sz="900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a16:creationId xmlns:a16="http://schemas.microsoft.com/office/drawing/2014/main" id="{631DEBF0-39A6-7D0F-BA14-F1B18161FDD2}"/>
              </a:ext>
            </a:extLst>
          </p:cNvPr>
          <p:cNvSpPr/>
          <p:nvPr/>
        </p:nvSpPr>
        <p:spPr>
          <a:xfrm>
            <a:off x="6181996" y="5921103"/>
            <a:ext cx="406179" cy="2494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1%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a16:creationId xmlns:a16="http://schemas.microsoft.com/office/drawing/2014/main" id="{F69669F6-2C5B-9CCF-FC00-E39EBA2DF5E4}"/>
              </a:ext>
            </a:extLst>
          </p:cNvPr>
          <p:cNvSpPr/>
          <p:nvPr/>
        </p:nvSpPr>
        <p:spPr>
          <a:xfrm>
            <a:off x="6568786" y="5910603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16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a16:creationId xmlns:a16="http://schemas.microsoft.com/office/drawing/2014/main" id="{39E95149-09DC-244B-A1A2-AB5A022BF0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4314941"/>
              </p:ext>
            </p:extLst>
          </p:nvPr>
        </p:nvGraphicFramePr>
        <p:xfrm>
          <a:off x="4841314" y="5860591"/>
          <a:ext cx="2297900" cy="14819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a16:creationId xmlns:a16="http://schemas.microsoft.com/office/drawing/2014/main"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217857"/>
              </p:ext>
            </p:extLst>
          </p:nvPr>
        </p:nvGraphicFramePr>
        <p:xfrm>
          <a:off x="212691" y="1934878"/>
          <a:ext cx="6937466" cy="1465101"/>
        </p:xfrm>
        <a:graphic>
          <a:graphicData uri="http://schemas.openxmlformats.org/drawingml/2006/table">
            <a:tbl>
              <a:tblPr firstRow="1" firstCol="1" bandRow="1"/>
              <a:tblGrid>
                <a:gridCol w="1281624">
                  <a:extLst>
                    <a:ext uri="{9D8B030D-6E8A-4147-A177-3AD203B41FA5}">
                      <a16:colId xmlns:a16="http://schemas.microsoft.com/office/drawing/2014/main" val="1720933068"/>
                    </a:ext>
                  </a:extLst>
                </a:gridCol>
                <a:gridCol w="712382">
                  <a:extLst>
                    <a:ext uri="{9D8B030D-6E8A-4147-A177-3AD203B41FA5}">
                      <a16:colId xmlns:a16="http://schemas.microsoft.com/office/drawing/2014/main" val="2630805108"/>
                    </a:ext>
                  </a:extLst>
                </a:gridCol>
                <a:gridCol w="701748">
                  <a:extLst>
                    <a:ext uri="{9D8B030D-6E8A-4147-A177-3AD203B41FA5}">
                      <a16:colId xmlns:a16="http://schemas.microsoft.com/office/drawing/2014/main" val="1295913063"/>
                    </a:ext>
                  </a:extLst>
                </a:gridCol>
                <a:gridCol w="661828">
                  <a:extLst>
                    <a:ext uri="{9D8B030D-6E8A-4147-A177-3AD203B41FA5}">
                      <a16:colId xmlns:a16="http://schemas.microsoft.com/office/drawing/2014/main" val="4130086957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3066276741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870282349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1716647770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Apr-26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Cont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355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517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649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671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586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13%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28%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593741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33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181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243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26%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147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65%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635%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782322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19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59%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59%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599869"/>
                  </a:ext>
                </a:extLst>
              </a:tr>
              <a:tr h="3101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a16:creationId xmlns:a16="http://schemas.microsoft.com/office/drawing/2014/main"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710743"/>
              </p:ext>
            </p:extLst>
          </p:nvPr>
        </p:nvGraphicFramePr>
        <p:xfrm>
          <a:off x="212691" y="7863614"/>
          <a:ext cx="7010190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701001">
                  <a:extLst>
                    <a:ext uri="{9D8B030D-6E8A-4147-A177-3AD203B41FA5}">
                      <a16:colId xmlns:a16="http://schemas.microsoft.com/office/drawing/2014/main" val="1999662838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1604924111"/>
                    </a:ext>
                  </a:extLst>
                </a:gridCol>
                <a:gridCol w="721637">
                  <a:extLst>
                    <a:ext uri="{9D8B030D-6E8A-4147-A177-3AD203B41FA5}">
                      <a16:colId xmlns:a16="http://schemas.microsoft.com/office/drawing/2014/main" val="3900343723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2453469686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531817117"/>
                    </a:ext>
                  </a:extLst>
                </a:gridCol>
                <a:gridCol w="481091">
                  <a:extLst>
                    <a:ext uri="{9D8B030D-6E8A-4147-A177-3AD203B41FA5}">
                      <a16:colId xmlns:a16="http://schemas.microsoft.com/office/drawing/2014/main" val="1269342238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1250320746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Cont</a:t>
                      </a:r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187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288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351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257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37%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88%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243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293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337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36%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264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28%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39%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14%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104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19%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175%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Sancus(Rmt)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46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43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8%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13%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Lulu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32%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283%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Metro Cnc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14%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42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▼ 16%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28%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a16:creationId xmlns:a16="http://schemas.microsoft.com/office/drawing/2014/main"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42"/>
            <a:ext cx="7562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129056"/>
            <a:chOff x="6350" y="3870"/>
            <a:chExt cx="6966733" cy="1907139"/>
          </a:xfrm>
        </p:grpSpPr>
        <p:sp>
          <p:nvSpPr>
            <p:cNvPr id="197" name="Graphic 278">
              <a:extLst>
                <a:ext uri="{FF2B5EF4-FFF2-40B4-BE49-F238E27FC236}">
                  <a16:creationId xmlns:a16="http://schemas.microsoft.com/office/drawing/2014/main"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a16:creationId xmlns:a16="http://schemas.microsoft.com/office/drawing/2014/main"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a16:creationId xmlns:a16="http://schemas.microsoft.com/office/drawing/2014/main" id="{786D0DB1-927E-CDBA-AE82-7E1B1BB65AF0}"/>
                </a:ext>
              </a:extLst>
            </p:cNvPr>
            <p:cNvSpPr/>
            <p:nvPr/>
          </p:nvSpPr>
          <p:spPr>
            <a:xfrm>
              <a:off x="106892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a16:creationId xmlns:a16="http://schemas.microsoft.com/office/drawing/2014/main" id="{1EE2520B-B499-D8A6-9F61-FEDF24208690}"/>
                </a:ext>
              </a:extLst>
            </p:cNvPr>
            <p:cNvSpPr/>
            <p:nvPr/>
          </p:nvSpPr>
          <p:spPr>
            <a:xfrm>
              <a:off x="125480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a16:creationId xmlns:a16="http://schemas.microsoft.com/office/drawing/2014/main" id="{CC1D8F9B-ACDE-52DF-23D6-7FEDF2C5895A}"/>
                </a:ext>
              </a:extLst>
            </p:cNvPr>
            <p:cNvSpPr/>
            <p:nvPr/>
          </p:nvSpPr>
          <p:spPr>
            <a:xfrm>
              <a:off x="1826499" y="96780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a16:creationId xmlns:a16="http://schemas.microsoft.com/office/drawing/2014/main" id="{78E6F5B7-D8F6-E3DA-2211-639E0006CDFC}"/>
                </a:ext>
              </a:extLst>
            </p:cNvPr>
            <p:cNvSpPr/>
            <p:nvPr/>
          </p:nvSpPr>
          <p:spPr>
            <a:xfrm>
              <a:off x="1818628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a16:creationId xmlns:a16="http://schemas.microsoft.com/office/drawing/2014/main" id="{E2A44793-D301-9552-99EC-90EC13154CAA}"/>
                </a:ext>
              </a:extLst>
            </p:cNvPr>
            <p:cNvSpPr/>
            <p:nvPr/>
          </p:nvSpPr>
          <p:spPr>
            <a:xfrm>
              <a:off x="3502621" y="962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a16:creationId xmlns:a16="http://schemas.microsoft.com/office/drawing/2014/main" id="{5C0F2A52-1C1D-D1A6-05EA-4ACCDB5127EF}"/>
                </a:ext>
              </a:extLst>
            </p:cNvPr>
            <p:cNvSpPr/>
            <p:nvPr/>
          </p:nvSpPr>
          <p:spPr>
            <a:xfrm>
              <a:off x="3502621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a16:creationId xmlns:a16="http://schemas.microsoft.com/office/drawing/2014/main" id="{97A32B53-FBD3-57B6-D1A2-97E533939E78}"/>
                </a:ext>
              </a:extLst>
            </p:cNvPr>
            <p:cNvSpPr/>
            <p:nvPr/>
          </p:nvSpPr>
          <p:spPr>
            <a:xfrm>
              <a:off x="5204929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a16:creationId xmlns:a16="http://schemas.microsoft.com/office/drawing/2014/main"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a16:creationId xmlns:a16="http://schemas.microsoft.com/office/drawing/2014/main"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a16:creationId xmlns:a16="http://schemas.microsoft.com/office/drawing/2014/main" id="{390ECE72-BE5D-D8E0-F6DB-459027B27CA3}"/>
                </a:ext>
              </a:extLst>
            </p:cNvPr>
            <p:cNvSpPr txBox="1"/>
            <p:nvPr/>
          </p:nvSpPr>
          <p:spPr>
            <a:xfrm>
              <a:off x="114800" y="422663"/>
              <a:ext cx="6735227" cy="4600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720" b="1">
                  <a:latin typeface="Calibri"/>
                </a:rPr>
                <a:t>Zone Record: North delivered its highest month at 934, ▲25% vs L3M and ▲65% vs May-25.</a:t>
              </a:r>
              <a:br/>
              <a:r>
                <a:rPr sz="720" b="1">
                  <a:latin typeface="Calibri"/>
                </a:rPr>
                <a:t>Chain Highlights: Dmart leads; Lulu is the fastest YoY chain.</a:t>
              </a:r>
              <a:endParaRPr lang="en-IN" sz="1400" spc="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a16:creationId xmlns:a16="http://schemas.microsoft.com/office/drawing/2014/main" id="{696AC7C6-3FED-0B1D-4CD4-FA589378E90D}"/>
                </a:ext>
              </a:extLst>
            </p:cNvPr>
            <p:cNvSpPr txBox="1"/>
            <p:nvPr/>
          </p:nvSpPr>
          <p:spPr>
            <a:xfrm>
              <a:off x="188979" y="1090664"/>
              <a:ext cx="478155" cy="31484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Lead</a:t>
              </a:r>
              <a:r>
                <a:rPr lang="en-US" sz="65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a16:creationId xmlns:a16="http://schemas.microsoft.com/office/drawing/2014/main" id="{D2CB78A9-052C-7918-9B59-3C05E6224543}"/>
                </a:ext>
              </a:extLst>
            </p:cNvPr>
            <p:cNvSpPr txBox="1"/>
            <p:nvPr/>
          </p:nvSpPr>
          <p:spPr>
            <a:xfrm>
              <a:off x="1882129" y="1090664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Fastest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YoY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a16:creationId xmlns:a16="http://schemas.microsoft.com/office/drawing/2014/main" id="{1002BC0E-27DD-532F-2DE7-BB1F581AC8FE}"/>
                </a:ext>
              </a:extLst>
            </p:cNvPr>
            <p:cNvSpPr txBox="1"/>
            <p:nvPr/>
          </p:nvSpPr>
          <p:spPr>
            <a:xfrm>
              <a:off x="3575278" y="1090664"/>
              <a:ext cx="82423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Lines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a16:creationId xmlns:a16="http://schemas.microsoft.com/office/drawing/2014/main" id="{1393482F-11D6-D6FE-2753-A47D0B48114B}"/>
                </a:ext>
              </a:extLst>
            </p:cNvPr>
            <p:cNvSpPr txBox="1"/>
            <p:nvPr/>
          </p:nvSpPr>
          <p:spPr>
            <a:xfrm>
              <a:off x="5268429" y="1090664"/>
              <a:ext cx="54102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Zone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a16:creationId xmlns:a16="http://schemas.microsoft.com/office/drawing/2014/main" id="{9D505091-C1B3-4643-3757-11527DD029ED}"/>
                </a:ext>
              </a:extLst>
            </p:cNvPr>
            <p:cNvSpPr txBox="1"/>
            <p:nvPr/>
          </p:nvSpPr>
          <p:spPr>
            <a:xfrm>
              <a:off x="188707" y="1310255"/>
              <a:ext cx="580390" cy="9524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351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a16:creationId xmlns:a16="http://schemas.microsoft.com/office/drawing/2014/main" id="{D4A13F3F-01DA-EED4-B30C-053A438475D3}"/>
                </a:ext>
              </a:extLst>
            </p:cNvPr>
            <p:cNvSpPr txBox="1"/>
            <p:nvPr/>
          </p:nvSpPr>
          <p:spPr>
            <a:xfrm>
              <a:off x="1871406" y="1299505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650" b="1">
                  <a:solidFill>
                    <a:srgbClr val="1A1F29"/>
                  </a:solidFill>
                  <a:latin typeface="+mj-lt"/>
                </a:rPr>
                <a:t>Lulu  - </a:t>
              </a:r>
              <a:r>
                <a:rPr sz="650" b="1">
                  <a:solidFill>
                    <a:srgbClr val="008A3D"/>
                  </a:solidFill>
                  <a:latin typeface="+mj-lt"/>
                </a:rPr>
                <a:t>▲ 283%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a16:creationId xmlns:a16="http://schemas.microsoft.com/office/drawing/2014/main" id="{823DC972-676F-BB3F-DF78-E528EBCA63EA}"/>
                </a:ext>
              </a:extLst>
            </p:cNvPr>
            <p:cNvSpPr txBox="1"/>
            <p:nvPr/>
          </p:nvSpPr>
          <p:spPr>
            <a:xfrm>
              <a:off x="3553098" y="1286316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Dmart, Reliance, Apollo,</a:t>
              </a:r>
              <a:r>
                <a:rPr lang="en-US" sz="650" b="1" spc="-4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a16:creationId xmlns:a16="http://schemas.microsoft.com/office/drawing/2014/main" id="{1109BA7C-796E-3D4D-65A2-95AB774BD170}"/>
                </a:ext>
              </a:extLst>
            </p:cNvPr>
            <p:cNvSpPr txBox="1"/>
            <p:nvPr/>
          </p:nvSpPr>
          <p:spPr>
            <a:xfrm>
              <a:off x="5268428" y="1310254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May-26</a:t>
              </a:r>
              <a:r>
                <a:rPr lang="en-US" sz="650" b="1" spc="-3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30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-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934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a16:creationId xmlns:a16="http://schemas.microsoft.com/office/drawing/2014/main"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112827"/>
            <a:ext cx="75628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North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a16:creationId xmlns:a16="http://schemas.microsoft.com/office/drawing/2014/main" id="{CC605FCE-57BA-7B47-6E90-8EBD86A166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8" r="23559"/>
          <a:stretch/>
        </p:blipFill>
        <p:spPr bwMode="auto">
          <a:xfrm>
            <a:off x="2622730" y="6150053"/>
            <a:ext cx="212290" cy="4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BA730C5E-E798-81D5-75C0-4C35B3757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901" y="6165990"/>
            <a:ext cx="210106" cy="44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ottle of rice face wash  Description automatically generated">
            <a:extLst>
              <a:ext uri="{FF2B5EF4-FFF2-40B4-BE49-F238E27FC236}">
                <a16:creationId xmlns:a16="http://schemas.microsoft.com/office/drawing/2014/main" id="{646B54BB-96BF-7217-5F2F-E4051086704F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362229" y="4058927"/>
            <a:ext cx="160778" cy="331576"/>
          </a:xfrm>
          <a:prstGeom prst="rect">
            <a:avLst/>
          </a:prstGeom>
        </p:spPr>
      </p:pic>
      <p:pic>
        <p:nvPicPr>
          <p:cNvPr id="5" name="Picture 4" descr="A yellow bottle of sunscreen  Description automatically generated">
            <a:extLst>
              <a:ext uri="{FF2B5EF4-FFF2-40B4-BE49-F238E27FC236}">
                <a16:creationId xmlns:a16="http://schemas.microsoft.com/office/drawing/2014/main" id="{C57FB264-BADA-5D6D-D810-BA4B7ED19ACC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090937" y="4049439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  AI-generated content may be incorrect.">
            <a:extLst>
              <a:ext uri="{FF2B5EF4-FFF2-40B4-BE49-F238E27FC236}">
                <a16:creationId xmlns:a16="http://schemas.microsoft.com/office/drawing/2014/main" id="{7A701BDC-8A3B-26A0-68C1-222B6656CC57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89134" y="6182848"/>
            <a:ext cx="216398" cy="298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  Description automatically generated">
            <a:extLst>
              <a:ext uri="{FF2B5EF4-FFF2-40B4-BE49-F238E27FC236}">
                <a16:creationId xmlns:a16="http://schemas.microsoft.com/office/drawing/2014/main" id="{08F50D39-E171-3A04-74AD-B08856573942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676897" y="4023931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856524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5 / 9</a:t>
            </a:r>
          </a:p>
        </p:txBody>
      </p:sp>
      <p:sp>
        <p:nvSpPr>
          <p:cNvPr id="2" name="Text 0"/>
          <p:cNvSpPr/>
          <p:nvPr/>
        </p:nvSpPr>
        <p:spPr>
          <a:xfrm>
            <a:off x="-17844" y="-14471"/>
            <a:ext cx="7580694" cy="454996"/>
          </a:xfrm>
          <a:prstGeom prst="rect">
            <a:avLst/>
          </a:prstGeom>
          <a:solidFill>
            <a:srgbClr val="2D9B7F"/>
          </a:solidFill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OFFTAKE PERFORMANCE REPORT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-17844" y="417740"/>
            <a:ext cx="7580694" cy="3077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A85"/>
                </a:solidFill>
                <a:latin typeface="Calibri"/>
              </a:rPr>
              <a:t>NORTH ZONE DEEP DIVE — JUL'26</a:t>
            </a:r>
            <a:endParaRPr lang="en-US" sz="1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78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135073"/>
              </p:ext>
            </p:extLst>
          </p:nvPr>
        </p:nvGraphicFramePr>
        <p:xfrm>
          <a:off x="212691" y="82627"/>
          <a:ext cx="7015882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7015882">
                  <a:extLst>
                    <a:ext uri="{9D8B030D-6E8A-4147-A177-3AD203B41FA5}">
                      <a16:colId xmlns:a16="http://schemas.microsoft.com/office/drawing/2014/main"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SOUTH-1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a16:creationId xmlns:a16="http://schemas.microsoft.com/office/drawing/2014/main"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a16:creationId xmlns:a16="http://schemas.microsoft.com/office/drawing/2014/main"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a16:creationId xmlns:a16="http://schemas.microsoft.com/office/drawing/2014/main"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May-26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894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a16:creationId xmlns:a16="http://schemas.microsoft.com/office/drawing/2014/main"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a16:creationId xmlns:a16="http://schemas.microsoft.com/office/drawing/2014/main"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a16:creationId xmlns:a16="http://schemas.microsoft.com/office/drawing/2014/main"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22.3%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a16:creationId xmlns:a16="http://schemas.microsoft.com/office/drawing/2014/main"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a16:creationId xmlns:a16="http://schemas.microsoft.com/office/drawing/2014/main"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a16:creationId xmlns:a16="http://schemas.microsoft.com/office/drawing/2014/main"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674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a16:creationId xmlns:a16="http://schemas.microsoft.com/office/drawing/2014/main"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a16:creationId xmlns:a16="http://schemas.microsoft.com/office/drawing/2014/main"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a16:creationId xmlns:a16="http://schemas.microsoft.com/office/drawing/2014/main"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GOLY May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84%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a16:creationId xmlns:a16="http://schemas.microsoft.com/office/drawing/2014/main"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a16:creationId xmlns:a16="http://schemas.microsoft.com/office/drawing/2014/main"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427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7" name="Rectangle 52">
            <a:extLst>
              <a:ext uri="{FF2B5EF4-FFF2-40B4-BE49-F238E27FC236}">
                <a16:creationId xmlns:a16="http://schemas.microsoft.com/office/drawing/2014/main" id="{6D038E4A-1677-969E-C704-197AFECF0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9126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a16:creationId xmlns:a16="http://schemas.microsoft.com/office/drawing/2014/main"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a16:creationId xmlns:a16="http://schemas.microsoft.com/office/drawing/2014/main"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6867859"/>
            <a:ext cx="6926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a16:creationId xmlns:a16="http://schemas.microsoft.com/office/drawing/2014/main"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South-1 Zone Jul'26 NSV: ₹8.21 Cr — largest zone
Mamaearth ₹5.25 Cr — Face Cleanser ₹1.67 Cr (32%), Shampoo ₹1.62 Cr (31%), Sun Care ₹0.46 Cr
The Derma Co. ₹2.77 Cr — Face Cleanser ₹1.51 Cr (54%), Sun Care ₹0.86 Cr, Face Serum ₹0.28 Cr
Apollo South-1 is strongest pipeline with best-in-class fill rates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</p:txBody>
      </p:sp>
      <p:sp>
        <p:nvSpPr>
          <p:cNvPr id="149" name="Shape 3">
            <a:extLst>
              <a:ext uri="{FF2B5EF4-FFF2-40B4-BE49-F238E27FC236}">
                <a16:creationId xmlns:a16="http://schemas.microsoft.com/office/drawing/2014/main"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a16:creationId xmlns:a16="http://schemas.microsoft.com/office/drawing/2014/main"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/>
              </a:rPr>
              <a:t>South-1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a16:creationId xmlns:a16="http://schemas.microsoft.com/office/drawing/2014/main" id="{8DC1552C-E149-4A10-28F5-0A4785E39F2D}"/>
              </a:ext>
            </a:extLst>
          </p:cNvPr>
          <p:cNvSpPr/>
          <p:nvPr/>
        </p:nvSpPr>
        <p:spPr>
          <a:xfrm>
            <a:off x="280785" y="3895964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a16:creationId xmlns:a16="http://schemas.microsoft.com/office/drawing/2014/main" id="{68B7E644-F756-EB08-51D0-E4BBD2584EB3}"/>
              </a:ext>
            </a:extLst>
          </p:cNvPr>
          <p:cNvSpPr/>
          <p:nvPr/>
        </p:nvSpPr>
        <p:spPr>
          <a:xfrm>
            <a:off x="624160" y="3895963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44%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a16:creationId xmlns:a16="http://schemas.microsoft.com/office/drawing/2014/main" id="{E90F34B8-D653-A710-F866-1BC3E6964F9D}"/>
              </a:ext>
            </a:extLst>
          </p:cNvPr>
          <p:cNvSpPr/>
          <p:nvPr/>
        </p:nvSpPr>
        <p:spPr>
          <a:xfrm>
            <a:off x="1098406" y="3907840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17%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a16:creationId xmlns:a16="http://schemas.microsoft.com/office/drawing/2014/main" id="{3CB5B5FD-F962-33DF-877C-0AE18D2CE328}"/>
              </a:ext>
            </a:extLst>
          </p:cNvPr>
          <p:cNvSpPr/>
          <p:nvPr/>
        </p:nvSpPr>
        <p:spPr>
          <a:xfrm>
            <a:off x="1631573" y="3895964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189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a16:creationId xmlns:a16="http://schemas.microsoft.com/office/drawing/2014/main" id="{C3EABDE2-E03A-721E-0AE3-C104F928F4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9213460"/>
              </p:ext>
            </p:extLst>
          </p:nvPr>
        </p:nvGraphicFramePr>
        <p:xfrm>
          <a:off x="157837" y="3808086"/>
          <a:ext cx="2246288" cy="15940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6" name="Text 9">
            <a:extLst>
              <a:ext uri="{FF2B5EF4-FFF2-40B4-BE49-F238E27FC236}">
                <a16:creationId xmlns:a16="http://schemas.microsoft.com/office/drawing/2014/main" id="{5BEBD7FD-7A2C-AC1D-76B9-D5B4A0E4DD0C}"/>
              </a:ext>
            </a:extLst>
          </p:cNvPr>
          <p:cNvSpPr/>
          <p:nvPr/>
        </p:nvSpPr>
        <p:spPr>
          <a:xfrm>
            <a:off x="2618119" y="3885404"/>
            <a:ext cx="654206" cy="186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a16:creationId xmlns:a16="http://schemas.microsoft.com/office/drawing/2014/main" id="{1E0A7551-8419-9F78-49C5-64130D89CF32}"/>
              </a:ext>
            </a:extLst>
          </p:cNvPr>
          <p:cNvSpPr/>
          <p:nvPr/>
        </p:nvSpPr>
        <p:spPr>
          <a:xfrm>
            <a:off x="3210825" y="3875509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63%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a16:creationId xmlns:a16="http://schemas.microsoft.com/office/drawing/2014/main" id="{A6E4DFA5-8AF1-66E3-AB74-1643CD5B917D}"/>
              </a:ext>
            </a:extLst>
          </p:cNvPr>
          <p:cNvSpPr/>
          <p:nvPr/>
        </p:nvSpPr>
        <p:spPr>
          <a:xfrm>
            <a:off x="3615344" y="3871688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23%</a:t>
            </a:r>
            <a:endParaRPr lang="en-US" sz="900" dirty="0"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a16:creationId xmlns:a16="http://schemas.microsoft.com/office/drawing/2014/main" id="{0002D543-8B74-7800-B3E0-CCAA6D0B22FA}"/>
              </a:ext>
            </a:extLst>
          </p:cNvPr>
          <p:cNvSpPr/>
          <p:nvPr/>
        </p:nvSpPr>
        <p:spPr>
          <a:xfrm>
            <a:off x="4086807" y="3873841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Jul'26 170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a16:creationId xmlns:a16="http://schemas.microsoft.com/office/drawing/2014/main" id="{498335C8-87FE-1BF3-E55D-7F3682FE8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5065483"/>
              </p:ext>
            </p:extLst>
          </p:nvPr>
        </p:nvGraphicFramePr>
        <p:xfrm>
          <a:off x="2513908" y="3792892"/>
          <a:ext cx="2251646" cy="16291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1" name="Text 13">
            <a:extLst>
              <a:ext uri="{FF2B5EF4-FFF2-40B4-BE49-F238E27FC236}">
                <a16:creationId xmlns:a16="http://schemas.microsoft.com/office/drawing/2014/main" id="{AE81E6A1-E294-CD2E-3731-74E6402A61FF}"/>
              </a:ext>
            </a:extLst>
          </p:cNvPr>
          <p:cNvSpPr/>
          <p:nvPr/>
        </p:nvSpPr>
        <p:spPr>
          <a:xfrm>
            <a:off x="4943104" y="3837376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a16:creationId xmlns:a16="http://schemas.microsoft.com/office/drawing/2014/main" id="{27F9A9D8-519D-AC19-D616-44CAE0D43FD1}"/>
              </a:ext>
            </a:extLst>
          </p:cNvPr>
          <p:cNvSpPr/>
          <p:nvPr/>
        </p:nvSpPr>
        <p:spPr>
          <a:xfrm>
            <a:off x="5410447" y="3856086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122%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25E789B0-F22E-6189-F81D-C18A4F30CC76}"/>
              </a:ext>
            </a:extLst>
          </p:cNvPr>
          <p:cNvSpPr/>
          <p:nvPr/>
        </p:nvSpPr>
        <p:spPr>
          <a:xfrm>
            <a:off x="5997696" y="3845293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0%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a16:creationId xmlns:a16="http://schemas.microsoft.com/office/drawing/2014/main" id="{B7F3446D-2E00-77C7-5921-C34968E8F7B7}"/>
              </a:ext>
            </a:extLst>
          </p:cNvPr>
          <p:cNvSpPr/>
          <p:nvPr/>
        </p:nvSpPr>
        <p:spPr>
          <a:xfrm>
            <a:off x="6417697" y="3885403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70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a16:creationId xmlns:a16="http://schemas.microsoft.com/office/drawing/2014/main" id="{E29320C6-4ABC-47AD-CAC6-8C1A6CA6E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948232"/>
              </p:ext>
            </p:extLst>
          </p:nvPr>
        </p:nvGraphicFramePr>
        <p:xfrm>
          <a:off x="4862830" y="3792360"/>
          <a:ext cx="2276384" cy="1614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6" name="Shape 17">
            <a:extLst>
              <a:ext uri="{FF2B5EF4-FFF2-40B4-BE49-F238E27FC236}">
                <a16:creationId xmlns:a16="http://schemas.microsoft.com/office/drawing/2014/main"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a16:creationId xmlns:a16="http://schemas.microsoft.com/office/drawing/2014/main"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South-1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a16:creationId xmlns:a16="http://schemas.microsoft.com/office/drawing/2014/main" id="{A8BC9F08-BB7E-07CC-C7BE-53E76EB85511}"/>
              </a:ext>
            </a:extLst>
          </p:cNvPr>
          <p:cNvSpPr/>
          <p:nvPr/>
        </p:nvSpPr>
        <p:spPr>
          <a:xfrm>
            <a:off x="278344" y="592718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90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a16:creationId xmlns:a16="http://schemas.microsoft.com/office/drawing/2014/main" id="{CC6466FF-9DFE-712B-2E6C-63C9594ED3C1}"/>
              </a:ext>
            </a:extLst>
          </p:cNvPr>
          <p:cNvSpPr/>
          <p:nvPr/>
        </p:nvSpPr>
        <p:spPr>
          <a:xfrm>
            <a:off x="607560" y="5957217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 </a:t>
            </a:r>
            <a:r>
              <a:rPr sz="900" b="1">
                <a:solidFill>
                  <a:srgbClr val="008A3D"/>
                </a:solidFill>
                <a:latin typeface="Calibri"/>
              </a:rPr>
              <a:t>▲772%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a16:creationId xmlns:a16="http://schemas.microsoft.com/office/drawing/2014/main" id="{6553EC6E-D91D-B6B7-81E0-5D554EF96509}"/>
              </a:ext>
            </a:extLst>
          </p:cNvPr>
          <p:cNvSpPr/>
          <p:nvPr/>
        </p:nvSpPr>
        <p:spPr>
          <a:xfrm>
            <a:off x="1180857" y="5933593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36%</a:t>
            </a:r>
            <a:endParaRPr lang="en-US" sz="900" dirty="0"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a16:creationId xmlns:a16="http://schemas.microsoft.com/office/drawing/2014/main" id="{21E44F12-56F2-0F79-99BF-12D5FEBEA9AE}"/>
              </a:ext>
            </a:extLst>
          </p:cNvPr>
          <p:cNvSpPr/>
          <p:nvPr/>
        </p:nvSpPr>
        <p:spPr>
          <a:xfrm>
            <a:off x="1700065" y="5933594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Jul'26 116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a16:creationId xmlns:a16="http://schemas.microsoft.com/office/drawing/2014/main" id="{A04A165C-0A2C-703B-D787-4F0EA0143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0069807"/>
              </p:ext>
            </p:extLst>
          </p:nvPr>
        </p:nvGraphicFramePr>
        <p:xfrm>
          <a:off x="169808" y="5838529"/>
          <a:ext cx="2256553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3" name="Text 23">
            <a:extLst>
              <a:ext uri="{FF2B5EF4-FFF2-40B4-BE49-F238E27FC236}">
                <a16:creationId xmlns:a16="http://schemas.microsoft.com/office/drawing/2014/main" id="{D7CD4F3F-DA69-AB5C-19FC-40054C6226BA}"/>
              </a:ext>
            </a:extLst>
          </p:cNvPr>
          <p:cNvSpPr/>
          <p:nvPr/>
        </p:nvSpPr>
        <p:spPr>
          <a:xfrm>
            <a:off x="2564343" y="5927180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a16:creationId xmlns:a16="http://schemas.microsoft.com/office/drawing/2014/main" id="{1D10C6E1-4BAF-BC01-C799-C47AB1F5027D}"/>
              </a:ext>
            </a:extLst>
          </p:cNvPr>
          <p:cNvSpPr/>
          <p:nvPr/>
        </p:nvSpPr>
        <p:spPr>
          <a:xfrm>
            <a:off x="3133841" y="5994624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▲351%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a16:creationId xmlns:a16="http://schemas.microsoft.com/office/drawing/2014/main" id="{7646A250-EE9F-A6C6-49D3-68B6D3DFBFDE}"/>
              </a:ext>
            </a:extLst>
          </p:cNvPr>
          <p:cNvSpPr/>
          <p:nvPr/>
        </p:nvSpPr>
        <p:spPr>
          <a:xfrm>
            <a:off x="3615344" y="5957217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14%</a:t>
            </a:r>
            <a:endParaRPr lang="en-US" sz="900" dirty="0"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a16:creationId xmlns:a16="http://schemas.microsoft.com/office/drawing/2014/main" id="{DB185B2C-DCD9-D290-C330-3A33EAC025C5}"/>
              </a:ext>
            </a:extLst>
          </p:cNvPr>
          <p:cNvSpPr/>
          <p:nvPr/>
        </p:nvSpPr>
        <p:spPr>
          <a:xfrm>
            <a:off x="4144390" y="5962804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Jul'26 131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a16:creationId xmlns:a16="http://schemas.microsoft.com/office/drawing/2014/main" id="{CBBF5C82-1DBC-BF6C-CAEA-410BB465C0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0141323"/>
              </p:ext>
            </p:extLst>
          </p:nvPr>
        </p:nvGraphicFramePr>
        <p:xfrm>
          <a:off x="2518289" y="5857060"/>
          <a:ext cx="2256553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8" name="Text 27">
            <a:extLst>
              <a:ext uri="{FF2B5EF4-FFF2-40B4-BE49-F238E27FC236}">
                <a16:creationId xmlns:a16="http://schemas.microsoft.com/office/drawing/2014/main" id="{038BADD0-EAC6-F8D6-7B12-BE177A9DAD4D}"/>
              </a:ext>
            </a:extLst>
          </p:cNvPr>
          <p:cNvSpPr/>
          <p:nvPr/>
        </p:nvSpPr>
        <p:spPr>
          <a:xfrm>
            <a:off x="4840966" y="5906220"/>
            <a:ext cx="68214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Face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a16:creationId xmlns:a16="http://schemas.microsoft.com/office/drawing/2014/main" id="{024D5F40-BAD0-9683-DBAB-2A9FEAA024FA}"/>
              </a:ext>
            </a:extLst>
          </p:cNvPr>
          <p:cNvSpPr/>
          <p:nvPr/>
        </p:nvSpPr>
        <p:spPr>
          <a:xfrm>
            <a:off x="5519368" y="5910762"/>
            <a:ext cx="439416" cy="2494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</a:t>
            </a:r>
            <a:r>
              <a:rPr sz="900" b="1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▲ 94%</a:t>
            </a:r>
            <a:endParaRPr lang="en-US" sz="9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a16:creationId xmlns:a16="http://schemas.microsoft.com/office/drawing/2014/main" id="{631DEBF0-39A6-7D0F-BA14-F1B18161FDD2}"/>
              </a:ext>
            </a:extLst>
          </p:cNvPr>
          <p:cNvSpPr/>
          <p:nvPr/>
        </p:nvSpPr>
        <p:spPr>
          <a:xfrm>
            <a:off x="6031403" y="5887711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9%</a:t>
            </a:r>
            <a:endParaRPr lang="en-US" sz="900" dirty="0"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a16:creationId xmlns:a16="http://schemas.microsoft.com/office/drawing/2014/main" id="{F69669F6-2C5B-9CCF-FC00-E39EBA2DF5E4}"/>
              </a:ext>
            </a:extLst>
          </p:cNvPr>
          <p:cNvSpPr/>
          <p:nvPr/>
        </p:nvSpPr>
        <p:spPr>
          <a:xfrm>
            <a:off x="6639313" y="5910631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30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a16:creationId xmlns:a16="http://schemas.microsoft.com/office/drawing/2014/main" id="{39E95149-09DC-244B-A1A2-AB5A022BF0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0511334"/>
              </p:ext>
            </p:extLst>
          </p:nvPr>
        </p:nvGraphicFramePr>
        <p:xfrm>
          <a:off x="4887847" y="5856915"/>
          <a:ext cx="2251367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a16:creationId xmlns:a16="http://schemas.microsoft.com/office/drawing/2014/main"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185162"/>
              </p:ext>
            </p:extLst>
          </p:nvPr>
        </p:nvGraphicFramePr>
        <p:xfrm>
          <a:off x="212691" y="1934878"/>
          <a:ext cx="6996674" cy="1465101"/>
        </p:xfrm>
        <a:graphic>
          <a:graphicData uri="http://schemas.openxmlformats.org/drawingml/2006/table">
            <a:tbl>
              <a:tblPr firstRow="1" firstCol="1" bandRow="1"/>
              <a:tblGrid>
                <a:gridCol w="1207980">
                  <a:extLst>
                    <a:ext uri="{9D8B030D-6E8A-4147-A177-3AD203B41FA5}">
                      <a16:colId xmlns:a16="http://schemas.microsoft.com/office/drawing/2014/main" val="1720933068"/>
                    </a:ext>
                  </a:extLst>
                </a:gridCol>
                <a:gridCol w="617473">
                  <a:extLst>
                    <a:ext uri="{9D8B030D-6E8A-4147-A177-3AD203B41FA5}">
                      <a16:colId xmlns:a16="http://schemas.microsoft.com/office/drawing/2014/main" val="2630805108"/>
                    </a:ext>
                  </a:extLst>
                </a:gridCol>
                <a:gridCol w="696366">
                  <a:extLst>
                    <a:ext uri="{9D8B030D-6E8A-4147-A177-3AD203B41FA5}">
                      <a16:colId xmlns:a16="http://schemas.microsoft.com/office/drawing/2014/main" val="1295913063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4130086957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3066276741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870282349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1716647770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Apr-26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Cont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355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398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511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585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66%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475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23%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47%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593741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64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236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286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32%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178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61%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348%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782322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19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21%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C00000"/>
                          </a:solidFill>
                          <a:latin typeface="Calibri"/>
                        </a:rPr>
                        <a:t>▼ 3%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599869"/>
                  </a:ext>
                </a:extLst>
              </a:tr>
              <a:tr h="3101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a16:creationId xmlns:a16="http://schemas.microsoft.com/office/drawing/2014/main"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834709"/>
              </p:ext>
            </p:extLst>
          </p:nvPr>
        </p:nvGraphicFramePr>
        <p:xfrm>
          <a:off x="212691" y="7863614"/>
          <a:ext cx="7010190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701001">
                  <a:extLst>
                    <a:ext uri="{9D8B030D-6E8A-4147-A177-3AD203B41FA5}">
                      <a16:colId xmlns:a16="http://schemas.microsoft.com/office/drawing/2014/main" val="1999662838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1604924111"/>
                    </a:ext>
                  </a:extLst>
                </a:gridCol>
                <a:gridCol w="721637">
                  <a:extLst>
                    <a:ext uri="{9D8B030D-6E8A-4147-A177-3AD203B41FA5}">
                      <a16:colId xmlns:a16="http://schemas.microsoft.com/office/drawing/2014/main" val="3900343723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2453469686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531817117"/>
                    </a:ext>
                  </a:extLst>
                </a:gridCol>
                <a:gridCol w="481091">
                  <a:extLst>
                    <a:ext uri="{9D8B030D-6E8A-4147-A177-3AD203B41FA5}">
                      <a16:colId xmlns:a16="http://schemas.microsoft.com/office/drawing/2014/main" val="1269342238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1250320746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Cont%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101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272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292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32%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189%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267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188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42%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77%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117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127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19%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29%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Lulu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84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37%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138%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H&amp;G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64%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Metro Cnc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Calibri"/>
                        </a:rPr>
                        <a:t>▼ 3%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2%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6%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73%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a16:creationId xmlns:a16="http://schemas.microsoft.com/office/drawing/2014/main"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42"/>
            <a:ext cx="7562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129056"/>
            <a:chOff x="6350" y="3870"/>
            <a:chExt cx="6966733" cy="1907139"/>
          </a:xfrm>
        </p:grpSpPr>
        <p:sp>
          <p:nvSpPr>
            <p:cNvPr id="197" name="Graphic 278">
              <a:extLst>
                <a:ext uri="{FF2B5EF4-FFF2-40B4-BE49-F238E27FC236}">
                  <a16:creationId xmlns:a16="http://schemas.microsoft.com/office/drawing/2014/main"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a16:creationId xmlns:a16="http://schemas.microsoft.com/office/drawing/2014/main"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a16:creationId xmlns:a16="http://schemas.microsoft.com/office/drawing/2014/main" id="{786D0DB1-927E-CDBA-AE82-7E1B1BB65AF0}"/>
                </a:ext>
              </a:extLst>
            </p:cNvPr>
            <p:cNvSpPr/>
            <p:nvPr/>
          </p:nvSpPr>
          <p:spPr>
            <a:xfrm>
              <a:off x="106892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a16:creationId xmlns:a16="http://schemas.microsoft.com/office/drawing/2014/main" id="{1EE2520B-B499-D8A6-9F61-FEDF24208690}"/>
                </a:ext>
              </a:extLst>
            </p:cNvPr>
            <p:cNvSpPr/>
            <p:nvPr/>
          </p:nvSpPr>
          <p:spPr>
            <a:xfrm>
              <a:off x="125480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a16:creationId xmlns:a16="http://schemas.microsoft.com/office/drawing/2014/main" id="{CC1D8F9B-ACDE-52DF-23D6-7FEDF2C5895A}"/>
                </a:ext>
              </a:extLst>
            </p:cNvPr>
            <p:cNvSpPr/>
            <p:nvPr/>
          </p:nvSpPr>
          <p:spPr>
            <a:xfrm>
              <a:off x="1826499" y="96780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a16:creationId xmlns:a16="http://schemas.microsoft.com/office/drawing/2014/main" id="{78E6F5B7-D8F6-E3DA-2211-639E0006CDFC}"/>
                </a:ext>
              </a:extLst>
            </p:cNvPr>
            <p:cNvSpPr/>
            <p:nvPr/>
          </p:nvSpPr>
          <p:spPr>
            <a:xfrm>
              <a:off x="1818628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a16:creationId xmlns:a16="http://schemas.microsoft.com/office/drawing/2014/main" id="{E2A44793-D301-9552-99EC-90EC13154CAA}"/>
                </a:ext>
              </a:extLst>
            </p:cNvPr>
            <p:cNvSpPr/>
            <p:nvPr/>
          </p:nvSpPr>
          <p:spPr>
            <a:xfrm>
              <a:off x="3502621" y="962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a16:creationId xmlns:a16="http://schemas.microsoft.com/office/drawing/2014/main" id="{5C0F2A52-1C1D-D1A6-05EA-4ACCDB5127EF}"/>
                </a:ext>
              </a:extLst>
            </p:cNvPr>
            <p:cNvSpPr/>
            <p:nvPr/>
          </p:nvSpPr>
          <p:spPr>
            <a:xfrm>
              <a:off x="3502621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a16:creationId xmlns:a16="http://schemas.microsoft.com/office/drawing/2014/main" id="{97A32B53-FBD3-57B6-D1A2-97E533939E78}"/>
                </a:ext>
              </a:extLst>
            </p:cNvPr>
            <p:cNvSpPr/>
            <p:nvPr/>
          </p:nvSpPr>
          <p:spPr>
            <a:xfrm>
              <a:off x="5204929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a16:creationId xmlns:a16="http://schemas.microsoft.com/office/drawing/2014/main"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a16:creationId xmlns:a16="http://schemas.microsoft.com/office/drawing/2014/main"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a16:creationId xmlns:a16="http://schemas.microsoft.com/office/drawing/2014/main" id="{390ECE72-BE5D-D8E0-F6DB-459027B27CA3}"/>
                </a:ext>
              </a:extLst>
            </p:cNvPr>
            <p:cNvSpPr txBox="1"/>
            <p:nvPr/>
          </p:nvSpPr>
          <p:spPr>
            <a:xfrm>
              <a:off x="114800" y="422663"/>
              <a:ext cx="6735227" cy="4600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720" b="1">
                  <a:latin typeface="Calibri"/>
                </a:rPr>
                <a:t>Zone Record: South-1 delivered its highest month at 894, ▲33% vs L3M and ▲84% vs May-25.</a:t>
              </a:r>
              <a:br/>
              <a:r>
                <a:rPr sz="720" b="1">
                  <a:latin typeface="Calibri"/>
                </a:rPr>
                <a:t>Chain Highlights: Apollo leads and is also the fastest YoY chain.</a:t>
              </a:r>
              <a:endParaRPr lang="en-IN" sz="1400" spc="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a16:creationId xmlns:a16="http://schemas.microsoft.com/office/drawing/2014/main" id="{696AC7C6-3FED-0B1D-4CD4-FA589378E90D}"/>
                </a:ext>
              </a:extLst>
            </p:cNvPr>
            <p:cNvSpPr txBox="1"/>
            <p:nvPr/>
          </p:nvSpPr>
          <p:spPr>
            <a:xfrm>
              <a:off x="188979" y="1090664"/>
              <a:ext cx="478155" cy="31484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Lead</a:t>
              </a:r>
              <a:r>
                <a:rPr lang="en-US" sz="65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a16:creationId xmlns:a16="http://schemas.microsoft.com/office/drawing/2014/main" id="{D2CB78A9-052C-7918-9B59-3C05E6224543}"/>
                </a:ext>
              </a:extLst>
            </p:cNvPr>
            <p:cNvSpPr txBox="1"/>
            <p:nvPr/>
          </p:nvSpPr>
          <p:spPr>
            <a:xfrm>
              <a:off x="1882129" y="1090664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Fastest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YoY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a16:creationId xmlns:a16="http://schemas.microsoft.com/office/drawing/2014/main" id="{1002BC0E-27DD-532F-2DE7-BB1F581AC8FE}"/>
                </a:ext>
              </a:extLst>
            </p:cNvPr>
            <p:cNvSpPr txBox="1"/>
            <p:nvPr/>
          </p:nvSpPr>
          <p:spPr>
            <a:xfrm>
              <a:off x="3575278" y="1090664"/>
              <a:ext cx="82423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Lines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a16:creationId xmlns:a16="http://schemas.microsoft.com/office/drawing/2014/main" id="{1393482F-11D6-D6FE-2753-A47D0B48114B}"/>
                </a:ext>
              </a:extLst>
            </p:cNvPr>
            <p:cNvSpPr txBox="1"/>
            <p:nvPr/>
          </p:nvSpPr>
          <p:spPr>
            <a:xfrm>
              <a:off x="5268429" y="1090664"/>
              <a:ext cx="54102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Zone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a16:creationId xmlns:a16="http://schemas.microsoft.com/office/drawing/2014/main" id="{9D505091-C1B3-4643-3757-11527DD029ED}"/>
                </a:ext>
              </a:extLst>
            </p:cNvPr>
            <p:cNvSpPr txBox="1"/>
            <p:nvPr/>
          </p:nvSpPr>
          <p:spPr>
            <a:xfrm>
              <a:off x="188707" y="1310255"/>
              <a:ext cx="580390" cy="9524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Apollo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292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a16:creationId xmlns:a16="http://schemas.microsoft.com/office/drawing/2014/main" id="{D4A13F3F-01DA-EED4-B30C-053A438475D3}"/>
                </a:ext>
              </a:extLst>
            </p:cNvPr>
            <p:cNvSpPr txBox="1"/>
            <p:nvPr/>
          </p:nvSpPr>
          <p:spPr>
            <a:xfrm>
              <a:off x="1871406" y="1299505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650" b="1">
                  <a:solidFill>
                    <a:srgbClr val="1A1F29"/>
                  </a:solidFill>
                  <a:latin typeface="+mj-lt"/>
                </a:rPr>
                <a:t>Apollo  - </a:t>
              </a:r>
              <a:r>
                <a:rPr sz="650" b="1">
                  <a:solidFill>
                    <a:srgbClr val="008A3D"/>
                  </a:solidFill>
                  <a:latin typeface="+mj-lt"/>
                </a:rPr>
                <a:t>▲ 189%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a16:creationId xmlns:a16="http://schemas.microsoft.com/office/drawing/2014/main" id="{823DC972-676F-BB3F-DF78-E528EBCA63EA}"/>
                </a:ext>
              </a:extLst>
            </p:cNvPr>
            <p:cNvSpPr txBox="1"/>
            <p:nvPr/>
          </p:nvSpPr>
          <p:spPr>
            <a:xfrm>
              <a:off x="3553098" y="1286316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Apollo, Dmart, Reliance,</a:t>
              </a:r>
              <a:r>
                <a:rPr lang="en-US" sz="650" b="1" spc="-4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a16:creationId xmlns:a16="http://schemas.microsoft.com/office/drawing/2014/main" id="{1109BA7C-796E-3D4D-65A2-95AB774BD170}"/>
                </a:ext>
              </a:extLst>
            </p:cNvPr>
            <p:cNvSpPr txBox="1"/>
            <p:nvPr/>
          </p:nvSpPr>
          <p:spPr>
            <a:xfrm>
              <a:off x="5268428" y="1310254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May-26</a:t>
              </a:r>
              <a:r>
                <a:rPr lang="en-US" sz="650" b="1" spc="-3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30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-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894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a16:creationId xmlns:a16="http://schemas.microsoft.com/office/drawing/2014/main"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112827"/>
            <a:ext cx="75628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South-1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a16:creationId xmlns:a16="http://schemas.microsoft.com/office/drawing/2014/main" id="{B9009A3B-EB3E-6343-D608-A81EA6B34D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8" r="23559"/>
          <a:stretch/>
        </p:blipFill>
        <p:spPr bwMode="auto">
          <a:xfrm>
            <a:off x="2748382" y="6198211"/>
            <a:ext cx="212290" cy="4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89F3E15F-5CB2-DEA2-068B-752C22B92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45" y="6156575"/>
            <a:ext cx="240883" cy="51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ottle of rice face wash  Description automatically generated">
            <a:extLst>
              <a:ext uri="{FF2B5EF4-FFF2-40B4-BE49-F238E27FC236}">
                <a16:creationId xmlns:a16="http://schemas.microsoft.com/office/drawing/2014/main" id="{E94E6A19-320A-A66F-4669-6DEE7233F7A3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193864" y="3919244"/>
            <a:ext cx="177369" cy="365792"/>
          </a:xfrm>
          <a:prstGeom prst="rect">
            <a:avLst/>
          </a:prstGeom>
        </p:spPr>
      </p:pic>
      <p:pic>
        <p:nvPicPr>
          <p:cNvPr id="5" name="Picture 4" descr="A yellow bottle of sunscreen  Description automatically generated">
            <a:extLst>
              <a:ext uri="{FF2B5EF4-FFF2-40B4-BE49-F238E27FC236}">
                <a16:creationId xmlns:a16="http://schemas.microsoft.com/office/drawing/2014/main" id="{DFA487F3-EFDB-3AC1-1F3C-F5EB48156D79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134745" y="4059965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  AI-generated content may be incorrect.">
            <a:extLst>
              <a:ext uri="{FF2B5EF4-FFF2-40B4-BE49-F238E27FC236}">
                <a16:creationId xmlns:a16="http://schemas.microsoft.com/office/drawing/2014/main" id="{FDD0B690-73C1-A54D-0365-B948D81A608F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57082" y="6176980"/>
            <a:ext cx="216398" cy="274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  Description automatically generated">
            <a:extLst>
              <a:ext uri="{FF2B5EF4-FFF2-40B4-BE49-F238E27FC236}">
                <a16:creationId xmlns:a16="http://schemas.microsoft.com/office/drawing/2014/main" id="{64871C3D-C720-F171-B5B1-F79694721CF7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549882" y="3936894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856524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6 / 9</a:t>
            </a:r>
          </a:p>
        </p:txBody>
      </p:sp>
      <p:sp>
        <p:nvSpPr>
          <p:cNvPr id="2" name="Text 0"/>
          <p:cNvSpPr/>
          <p:nvPr/>
        </p:nvSpPr>
        <p:spPr>
          <a:xfrm>
            <a:off x="-17844" y="-14471"/>
            <a:ext cx="7580694" cy="454996"/>
          </a:xfrm>
          <a:prstGeom prst="rect">
            <a:avLst/>
          </a:prstGeom>
          <a:solidFill>
            <a:srgbClr val="2D9B7F"/>
          </a:solidFill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OFFTAKE PERFORMANCE REPORT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-17844" y="417740"/>
            <a:ext cx="7580694" cy="3077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A85"/>
                </a:solidFill>
                <a:latin typeface="Calibri"/>
              </a:rPr>
              <a:t>SOUTH-1 ZONE DEEP DIVE — JUL'26</a:t>
            </a:r>
            <a:endParaRPr lang="en-US" sz="1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13510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819409"/>
              </p:ext>
            </p:extLst>
          </p:nvPr>
        </p:nvGraphicFramePr>
        <p:xfrm>
          <a:off x="212691" y="82627"/>
          <a:ext cx="7015882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7015882">
                  <a:extLst>
                    <a:ext uri="{9D8B030D-6E8A-4147-A177-3AD203B41FA5}">
                      <a16:colId xmlns:a16="http://schemas.microsoft.com/office/drawing/2014/main"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SOUTH-2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a16:creationId xmlns:a16="http://schemas.microsoft.com/office/drawing/2014/main"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a16:creationId xmlns:a16="http://schemas.microsoft.com/office/drawing/2014/main"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a16:creationId xmlns:a16="http://schemas.microsoft.com/office/drawing/2014/main"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May-26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554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a16:creationId xmlns:a16="http://schemas.microsoft.com/office/drawing/2014/main"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a16:creationId xmlns:a16="http://schemas.microsoft.com/office/drawing/2014/main"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a16:creationId xmlns:a16="http://schemas.microsoft.com/office/drawing/2014/main"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13.8%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a16:creationId xmlns:a16="http://schemas.microsoft.com/office/drawing/2014/main"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a16:creationId xmlns:a16="http://schemas.microsoft.com/office/drawing/2014/main"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a16:creationId xmlns:a16="http://schemas.microsoft.com/office/drawing/2014/main"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421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a16:creationId xmlns:a16="http://schemas.microsoft.com/office/drawing/2014/main"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a16:creationId xmlns:a16="http://schemas.microsoft.com/office/drawing/2014/main"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a16:creationId xmlns:a16="http://schemas.microsoft.com/office/drawing/2014/main"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GOLY May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73%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a16:creationId xmlns:a16="http://schemas.microsoft.com/office/drawing/2014/main"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a16:creationId xmlns:a16="http://schemas.microsoft.com/office/drawing/2014/main"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427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7" name="Rectangle 52">
            <a:extLst>
              <a:ext uri="{FF2B5EF4-FFF2-40B4-BE49-F238E27FC236}">
                <a16:creationId xmlns:a16="http://schemas.microsoft.com/office/drawing/2014/main" id="{6D038E4A-1677-969E-C704-197AFECF0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9126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a16:creationId xmlns:a16="http://schemas.microsoft.com/office/drawing/2014/main"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a16:creationId xmlns:a16="http://schemas.microsoft.com/office/drawing/2014/main"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6867859"/>
            <a:ext cx="6926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a16:creationId xmlns:a16="http://schemas.microsoft.com/office/drawing/2014/main"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South-2 Zone Jul'26 NSV: ₹4.93 Cr
Mamaearth ₹3.75 Cr — Face Cleanser ₹1.35 Cr (36%), Shampoo ₹1.18 Cr (32%), Baby Soap ₹0.33 Cr
The Derma Co. ₹1.12 Cr — Face Cleanser ₹0.66 Cr (58%), Sun Care ₹0.31 Cr, Face Serum ₹0.11 Cr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</p:txBody>
      </p:sp>
      <p:sp>
        <p:nvSpPr>
          <p:cNvPr id="149" name="Shape 3">
            <a:extLst>
              <a:ext uri="{FF2B5EF4-FFF2-40B4-BE49-F238E27FC236}">
                <a16:creationId xmlns:a16="http://schemas.microsoft.com/office/drawing/2014/main"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a16:creationId xmlns:a16="http://schemas.microsoft.com/office/drawing/2014/main"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/>
              </a:rPr>
              <a:t>South-2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a16:creationId xmlns:a16="http://schemas.microsoft.com/office/drawing/2014/main" id="{8DC1552C-E149-4A10-28F5-0A4785E39F2D}"/>
              </a:ext>
            </a:extLst>
          </p:cNvPr>
          <p:cNvSpPr/>
          <p:nvPr/>
        </p:nvSpPr>
        <p:spPr>
          <a:xfrm>
            <a:off x="239393" y="3859485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a16:creationId xmlns:a16="http://schemas.microsoft.com/office/drawing/2014/main" id="{68B7E644-F756-EB08-51D0-E4BBD2584EB3}"/>
              </a:ext>
            </a:extLst>
          </p:cNvPr>
          <p:cNvSpPr/>
          <p:nvPr/>
        </p:nvSpPr>
        <p:spPr>
          <a:xfrm>
            <a:off x="725701" y="3876966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50%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a16:creationId xmlns:a16="http://schemas.microsoft.com/office/drawing/2014/main" id="{E90F34B8-D653-A710-F866-1BC3E6964F9D}"/>
              </a:ext>
            </a:extLst>
          </p:cNvPr>
          <p:cNvSpPr/>
          <p:nvPr/>
        </p:nvSpPr>
        <p:spPr>
          <a:xfrm>
            <a:off x="1309888" y="3897280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19%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a16:creationId xmlns:a16="http://schemas.microsoft.com/office/drawing/2014/main" id="{3CB5B5FD-F962-33DF-877C-0AE18D2CE328}"/>
              </a:ext>
            </a:extLst>
          </p:cNvPr>
          <p:cNvSpPr/>
          <p:nvPr/>
        </p:nvSpPr>
        <p:spPr>
          <a:xfrm>
            <a:off x="1843055" y="3885404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144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a16:creationId xmlns:a16="http://schemas.microsoft.com/office/drawing/2014/main" id="{C3EABDE2-E03A-721E-0AE3-C104F928F4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6139199"/>
              </p:ext>
            </p:extLst>
          </p:nvPr>
        </p:nvGraphicFramePr>
        <p:xfrm>
          <a:off x="275452" y="3805495"/>
          <a:ext cx="2174502" cy="15775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6" name="Text 9">
            <a:extLst>
              <a:ext uri="{FF2B5EF4-FFF2-40B4-BE49-F238E27FC236}">
                <a16:creationId xmlns:a16="http://schemas.microsoft.com/office/drawing/2014/main" id="{5BEBD7FD-7A2C-AC1D-76B9-D5B4A0E4DD0C}"/>
              </a:ext>
            </a:extLst>
          </p:cNvPr>
          <p:cNvSpPr/>
          <p:nvPr/>
        </p:nvSpPr>
        <p:spPr>
          <a:xfrm>
            <a:off x="2618118" y="3885404"/>
            <a:ext cx="627675" cy="213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a16:creationId xmlns:a16="http://schemas.microsoft.com/office/drawing/2014/main" id="{1E0A7551-8419-9F78-49C5-64130D89CF32}"/>
              </a:ext>
            </a:extLst>
          </p:cNvPr>
          <p:cNvSpPr/>
          <p:nvPr/>
        </p:nvSpPr>
        <p:spPr>
          <a:xfrm>
            <a:off x="3210825" y="3875509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55%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a16:creationId xmlns:a16="http://schemas.microsoft.com/office/drawing/2014/main" id="{A6E4DFA5-8AF1-66E3-AB74-1643CD5B917D}"/>
              </a:ext>
            </a:extLst>
          </p:cNvPr>
          <p:cNvSpPr/>
          <p:nvPr/>
        </p:nvSpPr>
        <p:spPr>
          <a:xfrm>
            <a:off x="3615344" y="3871688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8%</a:t>
            </a:r>
            <a:endParaRPr lang="en-US" sz="900" dirty="0"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a16:creationId xmlns:a16="http://schemas.microsoft.com/office/drawing/2014/main" id="{0002D543-8B74-7800-B3E0-CCAA6D0B22FA}"/>
              </a:ext>
            </a:extLst>
          </p:cNvPr>
          <p:cNvSpPr/>
          <p:nvPr/>
        </p:nvSpPr>
        <p:spPr>
          <a:xfrm>
            <a:off x="4078340" y="3873841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Jul'26 119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a16:creationId xmlns:a16="http://schemas.microsoft.com/office/drawing/2014/main" id="{498335C8-87FE-1BF3-E55D-7F3682FE8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2041184"/>
              </p:ext>
            </p:extLst>
          </p:nvPr>
        </p:nvGraphicFramePr>
        <p:xfrm>
          <a:off x="2466165" y="3818106"/>
          <a:ext cx="2262902" cy="15720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1" name="Text 13">
            <a:extLst>
              <a:ext uri="{FF2B5EF4-FFF2-40B4-BE49-F238E27FC236}">
                <a16:creationId xmlns:a16="http://schemas.microsoft.com/office/drawing/2014/main" id="{AE81E6A1-E294-CD2E-3731-74E6402A61FF}"/>
              </a:ext>
            </a:extLst>
          </p:cNvPr>
          <p:cNvSpPr/>
          <p:nvPr/>
        </p:nvSpPr>
        <p:spPr>
          <a:xfrm>
            <a:off x="4943104" y="3837376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a16:creationId xmlns:a16="http://schemas.microsoft.com/office/drawing/2014/main" id="{27F9A9D8-519D-AC19-D616-44CAE0D43FD1}"/>
              </a:ext>
            </a:extLst>
          </p:cNvPr>
          <p:cNvSpPr/>
          <p:nvPr/>
        </p:nvSpPr>
        <p:spPr>
          <a:xfrm>
            <a:off x="5522642" y="3856086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105%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25E789B0-F22E-6189-F81D-C18A4F30CC76}"/>
              </a:ext>
            </a:extLst>
          </p:cNvPr>
          <p:cNvSpPr/>
          <p:nvPr/>
        </p:nvSpPr>
        <p:spPr>
          <a:xfrm>
            <a:off x="5989229" y="3836826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6%</a:t>
            </a:r>
            <a:endParaRPr lang="en-US" sz="900" dirty="0"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a16:creationId xmlns:a16="http://schemas.microsoft.com/office/drawing/2014/main" id="{B7F3446D-2E00-77C7-5921-C34968E8F7B7}"/>
              </a:ext>
            </a:extLst>
          </p:cNvPr>
          <p:cNvSpPr/>
          <p:nvPr/>
        </p:nvSpPr>
        <p:spPr>
          <a:xfrm>
            <a:off x="6417697" y="3885403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40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a16:creationId xmlns:a16="http://schemas.microsoft.com/office/drawing/2014/main" id="{E29320C6-4ABC-47AD-CAC6-8C1A6CA6E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4364795"/>
              </p:ext>
            </p:extLst>
          </p:nvPr>
        </p:nvGraphicFramePr>
        <p:xfrm>
          <a:off x="4824542" y="3822384"/>
          <a:ext cx="2239704" cy="1592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6" name="Shape 17">
            <a:extLst>
              <a:ext uri="{FF2B5EF4-FFF2-40B4-BE49-F238E27FC236}">
                <a16:creationId xmlns:a16="http://schemas.microsoft.com/office/drawing/2014/main"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a16:creationId xmlns:a16="http://schemas.microsoft.com/office/drawing/2014/main"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South-2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a16:creationId xmlns:a16="http://schemas.microsoft.com/office/drawing/2014/main" id="{A8BC9F08-BB7E-07CC-C7BE-53E76EB85511}"/>
              </a:ext>
            </a:extLst>
          </p:cNvPr>
          <p:cNvSpPr/>
          <p:nvPr/>
        </p:nvSpPr>
        <p:spPr>
          <a:xfrm>
            <a:off x="278344" y="592718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20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a16:creationId xmlns:a16="http://schemas.microsoft.com/office/drawing/2014/main" id="{CC6466FF-9DFE-712B-2E6C-63C9594ED3C1}"/>
              </a:ext>
            </a:extLst>
          </p:cNvPr>
          <p:cNvSpPr/>
          <p:nvPr/>
        </p:nvSpPr>
        <p:spPr>
          <a:xfrm>
            <a:off x="700600" y="5940913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▲137%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a16:creationId xmlns:a16="http://schemas.microsoft.com/office/drawing/2014/main" id="{6553EC6E-D91D-B6B7-81E0-5D554EF96509}"/>
              </a:ext>
            </a:extLst>
          </p:cNvPr>
          <p:cNvSpPr/>
          <p:nvPr/>
        </p:nvSpPr>
        <p:spPr>
          <a:xfrm>
            <a:off x="1298916" y="5948266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48%</a:t>
            </a:r>
            <a:endParaRPr lang="en-US" sz="900" dirty="0"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a16:creationId xmlns:a16="http://schemas.microsoft.com/office/drawing/2014/main" id="{21E44F12-56F2-0F79-99BF-12D5FEBEA9AE}"/>
              </a:ext>
            </a:extLst>
          </p:cNvPr>
          <p:cNvSpPr/>
          <p:nvPr/>
        </p:nvSpPr>
        <p:spPr>
          <a:xfrm>
            <a:off x="1911918" y="5925157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62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a16:creationId xmlns:a16="http://schemas.microsoft.com/office/drawing/2014/main" id="{A04A165C-0A2C-703B-D787-4F0EA0143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544965"/>
              </p:ext>
            </p:extLst>
          </p:nvPr>
        </p:nvGraphicFramePr>
        <p:xfrm>
          <a:off x="222457" y="5887849"/>
          <a:ext cx="2269653" cy="1464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3" name="Text 23">
            <a:extLst>
              <a:ext uri="{FF2B5EF4-FFF2-40B4-BE49-F238E27FC236}">
                <a16:creationId xmlns:a16="http://schemas.microsoft.com/office/drawing/2014/main" id="{D7CD4F3F-DA69-AB5C-19FC-40054C6226BA}"/>
              </a:ext>
            </a:extLst>
          </p:cNvPr>
          <p:cNvSpPr/>
          <p:nvPr/>
        </p:nvSpPr>
        <p:spPr>
          <a:xfrm>
            <a:off x="2564343" y="5927180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10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a16:creationId xmlns:a16="http://schemas.microsoft.com/office/drawing/2014/main" id="{1D10C6E1-4BAF-BC01-C799-C47AB1F5027D}"/>
              </a:ext>
            </a:extLst>
          </p:cNvPr>
          <p:cNvSpPr/>
          <p:nvPr/>
        </p:nvSpPr>
        <p:spPr>
          <a:xfrm>
            <a:off x="3176423" y="5977197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▲509%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a16:creationId xmlns:a16="http://schemas.microsoft.com/office/drawing/2014/main" id="{7646A250-EE9F-A6C6-49D3-68B6D3DFBFDE}"/>
              </a:ext>
            </a:extLst>
          </p:cNvPr>
          <p:cNvSpPr/>
          <p:nvPr/>
        </p:nvSpPr>
        <p:spPr>
          <a:xfrm>
            <a:off x="3691642" y="5957217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60%</a:t>
            </a:r>
            <a:endParaRPr lang="en-US" sz="900" dirty="0"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a16:creationId xmlns:a16="http://schemas.microsoft.com/office/drawing/2014/main" id="{DB185B2C-DCD9-D290-C330-3A33EAC025C5}"/>
              </a:ext>
            </a:extLst>
          </p:cNvPr>
          <p:cNvSpPr/>
          <p:nvPr/>
        </p:nvSpPr>
        <p:spPr>
          <a:xfrm>
            <a:off x="4144390" y="5962804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May’26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57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a16:creationId xmlns:a16="http://schemas.microsoft.com/office/drawing/2014/main" id="{CBBF5C82-1DBC-BF6C-CAEA-410BB465C0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9761459"/>
              </p:ext>
            </p:extLst>
          </p:nvPr>
        </p:nvGraphicFramePr>
        <p:xfrm>
          <a:off x="2559720" y="5887161"/>
          <a:ext cx="2269653" cy="1464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8" name="Text 27">
            <a:extLst>
              <a:ext uri="{FF2B5EF4-FFF2-40B4-BE49-F238E27FC236}">
                <a16:creationId xmlns:a16="http://schemas.microsoft.com/office/drawing/2014/main" id="{038BADD0-EAC6-F8D6-7B12-BE177A9DAD4D}"/>
              </a:ext>
            </a:extLst>
          </p:cNvPr>
          <p:cNvSpPr/>
          <p:nvPr/>
        </p:nvSpPr>
        <p:spPr>
          <a:xfrm>
            <a:off x="5022989" y="5906220"/>
            <a:ext cx="482204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Face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a16:creationId xmlns:a16="http://schemas.microsoft.com/office/drawing/2014/main" id="{024D5F40-BAD0-9683-DBAB-2A9FEAA024FA}"/>
              </a:ext>
            </a:extLst>
          </p:cNvPr>
          <p:cNvSpPr/>
          <p:nvPr/>
        </p:nvSpPr>
        <p:spPr>
          <a:xfrm>
            <a:off x="5573501" y="5927180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124%</a:t>
            </a:r>
            <a:endParaRPr lang="en-US" sz="900" dirty="0"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a16:creationId xmlns:a16="http://schemas.microsoft.com/office/drawing/2014/main" id="{631DEBF0-39A6-7D0F-BA14-F1B18161FDD2}"/>
              </a:ext>
            </a:extLst>
          </p:cNvPr>
          <p:cNvSpPr/>
          <p:nvPr/>
        </p:nvSpPr>
        <p:spPr>
          <a:xfrm>
            <a:off x="6088076" y="5937681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7%</a:t>
            </a:r>
            <a:endParaRPr lang="en-US" sz="900" dirty="0"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a16:creationId xmlns:a16="http://schemas.microsoft.com/office/drawing/2014/main" id="{F69669F6-2C5B-9CCF-FC00-E39EBA2DF5E4}"/>
              </a:ext>
            </a:extLst>
          </p:cNvPr>
          <p:cNvSpPr/>
          <p:nvPr/>
        </p:nvSpPr>
        <p:spPr>
          <a:xfrm>
            <a:off x="6569415" y="5927181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10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a16:creationId xmlns:a16="http://schemas.microsoft.com/office/drawing/2014/main" id="{39E95149-09DC-244B-A1A2-AB5A022BF0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5197638"/>
              </p:ext>
            </p:extLst>
          </p:nvPr>
        </p:nvGraphicFramePr>
        <p:xfrm>
          <a:off x="4943104" y="5865915"/>
          <a:ext cx="2160299" cy="14851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a16:creationId xmlns:a16="http://schemas.microsoft.com/office/drawing/2014/main"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794944"/>
              </p:ext>
            </p:extLst>
          </p:nvPr>
        </p:nvGraphicFramePr>
        <p:xfrm>
          <a:off x="212691" y="1934878"/>
          <a:ext cx="7121624" cy="1465101"/>
        </p:xfrm>
        <a:graphic>
          <a:graphicData uri="http://schemas.openxmlformats.org/drawingml/2006/table">
            <a:tbl>
              <a:tblPr firstRow="1" firstCol="1" bandRow="1"/>
              <a:tblGrid>
                <a:gridCol w="1217605">
                  <a:extLst>
                    <a:ext uri="{9D8B030D-6E8A-4147-A177-3AD203B41FA5}">
                      <a16:colId xmlns:a16="http://schemas.microsoft.com/office/drawing/2014/main" val="1720933068"/>
                    </a:ext>
                  </a:extLst>
                </a:gridCol>
                <a:gridCol w="617473">
                  <a:extLst>
                    <a:ext uri="{9D8B030D-6E8A-4147-A177-3AD203B41FA5}">
                      <a16:colId xmlns:a16="http://schemas.microsoft.com/office/drawing/2014/main" val="2630805108"/>
                    </a:ext>
                  </a:extLst>
                </a:gridCol>
                <a:gridCol w="811691">
                  <a:extLst>
                    <a:ext uri="{9D8B030D-6E8A-4147-A177-3AD203B41FA5}">
                      <a16:colId xmlns:a16="http://schemas.microsoft.com/office/drawing/2014/main" val="1295913063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4130086957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3066276741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870282349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1716647770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Apr-26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Cont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355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290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371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413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347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19%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42%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593741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20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89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131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24%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97%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545%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782322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44%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18%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599869"/>
                  </a:ext>
                </a:extLst>
              </a:tr>
              <a:tr h="3101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a16:creationId xmlns:a16="http://schemas.microsoft.com/office/drawing/2014/main"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463577"/>
              </p:ext>
            </p:extLst>
          </p:nvPr>
        </p:nvGraphicFramePr>
        <p:xfrm>
          <a:off x="212691" y="7863614"/>
          <a:ext cx="7010190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701001">
                  <a:extLst>
                    <a:ext uri="{9D8B030D-6E8A-4147-A177-3AD203B41FA5}">
                      <a16:colId xmlns:a16="http://schemas.microsoft.com/office/drawing/2014/main" val="1999662838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1604924111"/>
                    </a:ext>
                  </a:extLst>
                </a:gridCol>
                <a:gridCol w="721637">
                  <a:extLst>
                    <a:ext uri="{9D8B030D-6E8A-4147-A177-3AD203B41FA5}">
                      <a16:colId xmlns:a16="http://schemas.microsoft.com/office/drawing/2014/main" val="3900343723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2453469686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531817117"/>
                    </a:ext>
                  </a:extLst>
                </a:gridCol>
                <a:gridCol w="481091">
                  <a:extLst>
                    <a:ext uri="{9D8B030D-6E8A-4147-A177-3AD203B41FA5}">
                      <a16:colId xmlns:a16="http://schemas.microsoft.com/office/drawing/2014/main" val="1269342238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1250320746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Cont%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131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177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41%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66%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163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176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144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22%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154%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85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19%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44%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H&amp;G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64%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8%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More Retail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44%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106%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Lulu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87%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608%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16%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C00000"/>
                          </a:solidFill>
                          <a:latin typeface="+mn-lt"/>
                        </a:rPr>
                        <a:t>▼ 31%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a16:creationId xmlns:a16="http://schemas.microsoft.com/office/drawing/2014/main"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42"/>
            <a:ext cx="7562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184784"/>
            <a:chOff x="6350" y="3870"/>
            <a:chExt cx="6966733" cy="2115978"/>
          </a:xfrm>
        </p:grpSpPr>
        <p:sp>
          <p:nvSpPr>
            <p:cNvPr id="197" name="Graphic 278">
              <a:extLst>
                <a:ext uri="{FF2B5EF4-FFF2-40B4-BE49-F238E27FC236}">
                  <a16:creationId xmlns:a16="http://schemas.microsoft.com/office/drawing/2014/main"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a16:creationId xmlns:a16="http://schemas.microsoft.com/office/drawing/2014/main"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a16:creationId xmlns:a16="http://schemas.microsoft.com/office/drawing/2014/main" id="{786D0DB1-927E-CDBA-AE82-7E1B1BB65AF0}"/>
                </a:ext>
              </a:extLst>
            </p:cNvPr>
            <p:cNvSpPr/>
            <p:nvPr/>
          </p:nvSpPr>
          <p:spPr>
            <a:xfrm>
              <a:off x="106892" y="1241157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a16:creationId xmlns:a16="http://schemas.microsoft.com/office/drawing/2014/main" id="{1EE2520B-B499-D8A6-9F61-FEDF24208690}"/>
                </a:ext>
              </a:extLst>
            </p:cNvPr>
            <p:cNvSpPr/>
            <p:nvPr/>
          </p:nvSpPr>
          <p:spPr>
            <a:xfrm>
              <a:off x="152796" y="1239245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a16:creationId xmlns:a16="http://schemas.microsoft.com/office/drawing/2014/main" id="{CC1D8F9B-ACDE-52DF-23D6-7FEDF2C5895A}"/>
                </a:ext>
              </a:extLst>
            </p:cNvPr>
            <p:cNvSpPr/>
            <p:nvPr/>
          </p:nvSpPr>
          <p:spPr>
            <a:xfrm>
              <a:off x="1863010" y="1180138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a16:creationId xmlns:a16="http://schemas.microsoft.com/office/drawing/2014/main" id="{78E6F5B7-D8F6-E3DA-2211-639E0006CDFC}"/>
                </a:ext>
              </a:extLst>
            </p:cNvPr>
            <p:cNvSpPr/>
            <p:nvPr/>
          </p:nvSpPr>
          <p:spPr>
            <a:xfrm>
              <a:off x="1836657" y="118718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a16:creationId xmlns:a16="http://schemas.microsoft.com/office/drawing/2014/main" id="{E2A44793-D301-9552-99EC-90EC13154CAA}"/>
                </a:ext>
              </a:extLst>
            </p:cNvPr>
            <p:cNvSpPr/>
            <p:nvPr/>
          </p:nvSpPr>
          <p:spPr>
            <a:xfrm>
              <a:off x="3513123" y="1216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a16:creationId xmlns:a16="http://schemas.microsoft.com/office/drawing/2014/main" id="{5C0F2A52-1C1D-D1A6-05EA-4ACCDB5127EF}"/>
                </a:ext>
              </a:extLst>
            </p:cNvPr>
            <p:cNvSpPr/>
            <p:nvPr/>
          </p:nvSpPr>
          <p:spPr>
            <a:xfrm>
              <a:off x="3520651" y="118718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a16:creationId xmlns:a16="http://schemas.microsoft.com/office/drawing/2014/main" id="{97A32B53-FBD3-57B6-D1A2-97E533939E78}"/>
                </a:ext>
              </a:extLst>
            </p:cNvPr>
            <p:cNvSpPr/>
            <p:nvPr/>
          </p:nvSpPr>
          <p:spPr>
            <a:xfrm>
              <a:off x="5222959" y="118718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a16:creationId xmlns:a16="http://schemas.microsoft.com/office/drawing/2014/main"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a16:creationId xmlns:a16="http://schemas.microsoft.com/office/drawing/2014/main"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a16:creationId xmlns:a16="http://schemas.microsoft.com/office/drawing/2014/main" id="{390ECE72-BE5D-D8E0-F6DB-459027B27CA3}"/>
                </a:ext>
              </a:extLst>
            </p:cNvPr>
            <p:cNvSpPr txBox="1"/>
            <p:nvPr/>
          </p:nvSpPr>
          <p:spPr>
            <a:xfrm>
              <a:off x="152796" y="332578"/>
              <a:ext cx="6697232" cy="4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720" b="1">
                  <a:latin typeface="Calibri"/>
                </a:rPr>
                <a:t>Zone Record: South-2 delivered its highest month at 554, ▲31% vs L3M and ▲73% vs May-25.</a:t>
              </a:r>
              <a:br/>
              <a:r>
                <a:rPr sz="720" b="1">
                  <a:latin typeface="Calibri"/>
                </a:rPr>
                <a:t>Chain Highlights: Dmart leads; Lulu is the fastest YoY chain.</a:t>
              </a:r>
              <a:endParaRPr lang="en-IN" sz="900" b="1" dirty="0">
                <a:solidFill>
                  <a:srgbClr val="008A3D"/>
                </a:solidFill>
                <a:latin typeface="+mj-lt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a16:creationId xmlns:a16="http://schemas.microsoft.com/office/drawing/2014/main" id="{696AC7C6-3FED-0B1D-4CD4-FA589378E90D}"/>
                </a:ext>
              </a:extLst>
            </p:cNvPr>
            <p:cNvSpPr txBox="1"/>
            <p:nvPr/>
          </p:nvSpPr>
          <p:spPr>
            <a:xfrm>
              <a:off x="207009" y="1299505"/>
              <a:ext cx="478155" cy="31484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Lead</a:t>
              </a:r>
              <a:r>
                <a:rPr lang="en-US" sz="65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a16:creationId xmlns:a16="http://schemas.microsoft.com/office/drawing/2014/main" id="{D2CB78A9-052C-7918-9B59-3C05E6224543}"/>
                </a:ext>
              </a:extLst>
            </p:cNvPr>
            <p:cNvSpPr txBox="1"/>
            <p:nvPr/>
          </p:nvSpPr>
          <p:spPr>
            <a:xfrm>
              <a:off x="1900158" y="1299505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Fastest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YoY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a16:creationId xmlns:a16="http://schemas.microsoft.com/office/drawing/2014/main" id="{1002BC0E-27DD-532F-2DE7-BB1F581AC8FE}"/>
                </a:ext>
              </a:extLst>
            </p:cNvPr>
            <p:cNvSpPr txBox="1"/>
            <p:nvPr/>
          </p:nvSpPr>
          <p:spPr>
            <a:xfrm>
              <a:off x="3593307" y="1299505"/>
              <a:ext cx="82423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Lines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a16:creationId xmlns:a16="http://schemas.microsoft.com/office/drawing/2014/main" id="{1393482F-11D6-D6FE-2753-A47D0B48114B}"/>
                </a:ext>
              </a:extLst>
            </p:cNvPr>
            <p:cNvSpPr txBox="1"/>
            <p:nvPr/>
          </p:nvSpPr>
          <p:spPr>
            <a:xfrm>
              <a:off x="5286458" y="1239246"/>
              <a:ext cx="507902" cy="15678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Zone</a:t>
              </a:r>
              <a:r>
                <a:rPr lang="en-US" sz="65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a16:creationId xmlns:a16="http://schemas.microsoft.com/office/drawing/2014/main" id="{9D505091-C1B3-4643-3757-11527DD029ED}"/>
                </a:ext>
              </a:extLst>
            </p:cNvPr>
            <p:cNvSpPr txBox="1"/>
            <p:nvPr/>
          </p:nvSpPr>
          <p:spPr>
            <a:xfrm>
              <a:off x="206736" y="1519095"/>
              <a:ext cx="580390" cy="9524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218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a16:creationId xmlns:a16="http://schemas.microsoft.com/office/drawing/2014/main" id="{D4A13F3F-01DA-EED4-B30C-053A438475D3}"/>
                </a:ext>
              </a:extLst>
            </p:cNvPr>
            <p:cNvSpPr txBox="1"/>
            <p:nvPr/>
          </p:nvSpPr>
          <p:spPr>
            <a:xfrm>
              <a:off x="1889435" y="1508346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650" b="1">
                  <a:solidFill>
                    <a:srgbClr val="1A1F29"/>
                  </a:solidFill>
                  <a:latin typeface="+mj-lt"/>
                </a:rPr>
                <a:t>Lulu  - </a:t>
              </a:r>
              <a:r>
                <a:rPr sz="650" b="1">
                  <a:solidFill>
                    <a:srgbClr val="008A3D"/>
                  </a:solidFill>
                  <a:latin typeface="+mj-lt"/>
                </a:rPr>
                <a:t>▲ 608%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a16:creationId xmlns:a16="http://schemas.microsoft.com/office/drawing/2014/main" id="{823DC972-676F-BB3F-DF78-E528EBCA63EA}"/>
                </a:ext>
              </a:extLst>
            </p:cNvPr>
            <p:cNvSpPr txBox="1"/>
            <p:nvPr/>
          </p:nvSpPr>
          <p:spPr>
            <a:xfrm>
              <a:off x="3571128" y="1495157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Dmart, Apollo, Reliance,</a:t>
              </a:r>
              <a:r>
                <a:rPr lang="en-US" sz="650" b="1" spc="-4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a16:creationId xmlns:a16="http://schemas.microsoft.com/office/drawing/2014/main" id="{1109BA7C-796E-3D4D-65A2-95AB774BD170}"/>
                </a:ext>
              </a:extLst>
            </p:cNvPr>
            <p:cNvSpPr txBox="1"/>
            <p:nvPr/>
          </p:nvSpPr>
          <p:spPr>
            <a:xfrm>
              <a:off x="5286457" y="1477583"/>
              <a:ext cx="776292" cy="217602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May-26</a:t>
              </a:r>
              <a:r>
                <a:rPr lang="en-US" sz="650" b="1" spc="-3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30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-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554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a16:creationId xmlns:a16="http://schemas.microsoft.com/office/drawing/2014/main"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112827"/>
            <a:ext cx="75628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South-2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a16:creationId xmlns:a16="http://schemas.microsoft.com/office/drawing/2014/main" id="{BE76197D-AD93-4DDB-527A-826CAC8A34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8" r="23559"/>
          <a:stretch/>
        </p:blipFill>
        <p:spPr bwMode="auto">
          <a:xfrm>
            <a:off x="2735703" y="6189696"/>
            <a:ext cx="212290" cy="4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F20B312B-5A1E-869A-616E-4DE5477BD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53" y="6195781"/>
            <a:ext cx="210106" cy="44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ottle of rice face wash  Description automatically generated">
            <a:extLst>
              <a:ext uri="{FF2B5EF4-FFF2-40B4-BE49-F238E27FC236}">
                <a16:creationId xmlns:a16="http://schemas.microsoft.com/office/drawing/2014/main" id="{E6B07053-A2FC-8A2A-646C-006FD076BE91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315430" y="4054143"/>
            <a:ext cx="176977" cy="364983"/>
          </a:xfrm>
          <a:prstGeom prst="rect">
            <a:avLst/>
          </a:prstGeom>
        </p:spPr>
      </p:pic>
      <p:pic>
        <p:nvPicPr>
          <p:cNvPr id="5" name="Picture 4" descr="A yellow bottle of sunscreen  Description automatically generated">
            <a:extLst>
              <a:ext uri="{FF2B5EF4-FFF2-40B4-BE49-F238E27FC236}">
                <a16:creationId xmlns:a16="http://schemas.microsoft.com/office/drawing/2014/main" id="{E7063FFB-AF00-4EC3-116F-9FDCBC3737E7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136620" y="4069590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  AI-generated content may be incorrect.">
            <a:extLst>
              <a:ext uri="{FF2B5EF4-FFF2-40B4-BE49-F238E27FC236}">
                <a16:creationId xmlns:a16="http://schemas.microsoft.com/office/drawing/2014/main" id="{2FCF8E9C-AD85-A765-DA2E-933646335E02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126572" y="6257490"/>
            <a:ext cx="216398" cy="20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  Description automatically generated">
            <a:extLst>
              <a:ext uri="{FF2B5EF4-FFF2-40B4-BE49-F238E27FC236}">
                <a16:creationId xmlns:a16="http://schemas.microsoft.com/office/drawing/2014/main" id="{5DC5B903-423D-700E-B3D3-6618C69CDFEC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831164" y="4023931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856524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11 / 9</a:t>
            </a:r>
          </a:p>
        </p:txBody>
      </p:sp>
      <p:sp>
        <p:nvSpPr>
          <p:cNvPr id="2" name="Text 0"/>
          <p:cNvSpPr/>
          <p:nvPr/>
        </p:nvSpPr>
        <p:spPr>
          <a:xfrm>
            <a:off x="-17844" y="-14471"/>
            <a:ext cx="7580694" cy="454996"/>
          </a:xfrm>
          <a:prstGeom prst="rect">
            <a:avLst/>
          </a:prstGeom>
          <a:solidFill>
            <a:srgbClr val="2D9B7F"/>
          </a:solidFill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OFFTAKE PERFORMANCE REPORT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-17844" y="417740"/>
            <a:ext cx="7580694" cy="3077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A85"/>
                </a:solidFill>
                <a:latin typeface="Calibri"/>
              </a:rPr>
              <a:t>SOUTH-2 ZONE DEEP DIVE — JUL'26</a:t>
            </a:r>
            <a:endParaRPr lang="en-US" sz="1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5748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106685"/>
              </p:ext>
            </p:extLst>
          </p:nvPr>
        </p:nvGraphicFramePr>
        <p:xfrm>
          <a:off x="212691" y="82627"/>
          <a:ext cx="7015882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7015882">
                  <a:extLst>
                    <a:ext uri="{9D8B030D-6E8A-4147-A177-3AD203B41FA5}">
                      <a16:colId xmlns:a16="http://schemas.microsoft.com/office/drawing/2014/main"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WEST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a16:creationId xmlns:a16="http://schemas.microsoft.com/office/drawing/2014/main"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a16:creationId xmlns:a16="http://schemas.microsoft.com/office/drawing/2014/main"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a16:creationId xmlns:a16="http://schemas.microsoft.com/office/drawing/2014/main"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May-26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1016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a16:creationId xmlns:a16="http://schemas.microsoft.com/office/drawing/2014/main"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a16:creationId xmlns:a16="http://schemas.microsoft.com/office/drawing/2014/main"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a16:creationId xmlns:a16="http://schemas.microsoft.com/office/drawing/2014/main"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25.3%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a16:creationId xmlns:a16="http://schemas.microsoft.com/office/drawing/2014/main"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a16:creationId xmlns:a16="http://schemas.microsoft.com/office/drawing/2014/main"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a16:creationId xmlns:a16="http://schemas.microsoft.com/office/drawing/2014/main"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840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a16:creationId xmlns:a16="http://schemas.microsoft.com/office/drawing/2014/main"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a16:creationId xmlns:a16="http://schemas.microsoft.com/office/drawing/2014/main"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a16:creationId xmlns:a16="http://schemas.microsoft.com/office/drawing/2014/main"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GOLY May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56%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a16:creationId xmlns:a16="http://schemas.microsoft.com/office/drawing/2014/main"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a16:creationId xmlns:a16="http://schemas.microsoft.com/office/drawing/2014/main"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427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a16:creationId xmlns:a16="http://schemas.microsoft.com/office/drawing/2014/main"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a16:creationId xmlns:a16="http://schemas.microsoft.com/office/drawing/2014/main"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6867859"/>
            <a:ext cx="6926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a16:creationId xmlns:a16="http://schemas.microsoft.com/office/drawing/2014/main"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effectLst/>
                <a:latin typeface="Calibri"/>
                <a:ea typeface="Arial MT"/>
                <a:cs typeface="Calibri"/>
              </a:rPr>
              <a:t>West Zone Jul'26 NSV: ₹7.81 Cr — #2 zone
Mamaearth ₹4.66 Cr — Face Cleanser ₹2.29 Cr (49%), Shampoo ₹1.46 Cr (31%), Sun Care ₹0.20 Cr
The Derma Co. ₹3.08 Cr — Face Cleanser ₹2.34 Cr (76%), Sun Care ₹0.49 Cr, Face Serum ₹0.19 Cr
TDC highest zone share at 39.5% — West leads TDC penetration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</p:txBody>
      </p:sp>
      <p:sp>
        <p:nvSpPr>
          <p:cNvPr id="149" name="Shape 3">
            <a:extLst>
              <a:ext uri="{FF2B5EF4-FFF2-40B4-BE49-F238E27FC236}">
                <a16:creationId xmlns:a16="http://schemas.microsoft.com/office/drawing/2014/main"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a16:creationId xmlns:a16="http://schemas.microsoft.com/office/drawing/2014/main"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/>
              </a:rPr>
              <a:t>West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a16:creationId xmlns:a16="http://schemas.microsoft.com/office/drawing/2014/main" id="{8DC1552C-E149-4A10-28F5-0A4785E39F2D}"/>
              </a:ext>
            </a:extLst>
          </p:cNvPr>
          <p:cNvSpPr/>
          <p:nvPr/>
        </p:nvSpPr>
        <p:spPr>
          <a:xfrm>
            <a:off x="297088" y="3868329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a16:creationId xmlns:a16="http://schemas.microsoft.com/office/drawing/2014/main" id="{68B7E644-F756-EB08-51D0-E4BBD2584EB3}"/>
              </a:ext>
            </a:extLst>
          </p:cNvPr>
          <p:cNvSpPr/>
          <p:nvPr/>
        </p:nvSpPr>
        <p:spPr>
          <a:xfrm>
            <a:off x="835642" y="3885403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6%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a16:creationId xmlns:a16="http://schemas.microsoft.com/office/drawing/2014/main" id="{E90F34B8-D653-A710-F866-1BC3E6964F9D}"/>
              </a:ext>
            </a:extLst>
          </p:cNvPr>
          <p:cNvSpPr/>
          <p:nvPr/>
        </p:nvSpPr>
        <p:spPr>
          <a:xfrm>
            <a:off x="1309888" y="3897280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12%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a16:creationId xmlns:a16="http://schemas.microsoft.com/office/drawing/2014/main" id="{3CB5B5FD-F962-33DF-877C-0AE18D2CE328}"/>
              </a:ext>
            </a:extLst>
          </p:cNvPr>
          <p:cNvSpPr/>
          <p:nvPr/>
        </p:nvSpPr>
        <p:spPr>
          <a:xfrm>
            <a:off x="1843055" y="3885404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290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a16:creationId xmlns:a16="http://schemas.microsoft.com/office/drawing/2014/main" id="{C3EABDE2-E03A-721E-0AE3-C104F928F4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4133426"/>
              </p:ext>
            </p:extLst>
          </p:nvPr>
        </p:nvGraphicFramePr>
        <p:xfrm>
          <a:off x="183307" y="3764101"/>
          <a:ext cx="2199629" cy="16659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6" name="Text 9">
            <a:extLst>
              <a:ext uri="{FF2B5EF4-FFF2-40B4-BE49-F238E27FC236}">
                <a16:creationId xmlns:a16="http://schemas.microsoft.com/office/drawing/2014/main" id="{5BEBD7FD-7A2C-AC1D-76B9-D5B4A0E4DD0C}"/>
              </a:ext>
            </a:extLst>
          </p:cNvPr>
          <p:cNvSpPr/>
          <p:nvPr/>
        </p:nvSpPr>
        <p:spPr>
          <a:xfrm>
            <a:off x="2618119" y="3885404"/>
            <a:ext cx="560284" cy="178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a16:creationId xmlns:a16="http://schemas.microsoft.com/office/drawing/2014/main" id="{1E0A7551-8419-9F78-49C5-64130D89CF32}"/>
              </a:ext>
            </a:extLst>
          </p:cNvPr>
          <p:cNvSpPr/>
          <p:nvPr/>
        </p:nvSpPr>
        <p:spPr>
          <a:xfrm>
            <a:off x="3210825" y="3875509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35%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a16:creationId xmlns:a16="http://schemas.microsoft.com/office/drawing/2014/main" id="{A6E4DFA5-8AF1-66E3-AB74-1643CD5B917D}"/>
              </a:ext>
            </a:extLst>
          </p:cNvPr>
          <p:cNvSpPr/>
          <p:nvPr/>
        </p:nvSpPr>
        <p:spPr>
          <a:xfrm>
            <a:off x="3615344" y="3871688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3%</a:t>
            </a:r>
            <a:endParaRPr lang="en-US" sz="900" dirty="0"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a16:creationId xmlns:a16="http://schemas.microsoft.com/office/drawing/2014/main" id="{0002D543-8B74-7800-B3E0-CCAA6D0B22FA}"/>
              </a:ext>
            </a:extLst>
          </p:cNvPr>
          <p:cNvSpPr/>
          <p:nvPr/>
        </p:nvSpPr>
        <p:spPr>
          <a:xfrm>
            <a:off x="4086807" y="3873841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Jul'26 175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a16:creationId xmlns:a16="http://schemas.microsoft.com/office/drawing/2014/main" id="{498335C8-87FE-1BF3-E55D-7F3682FE8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1521053"/>
              </p:ext>
            </p:extLst>
          </p:nvPr>
        </p:nvGraphicFramePr>
        <p:xfrm>
          <a:off x="2479234" y="3793296"/>
          <a:ext cx="2340212" cy="16153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1" name="Text 13">
            <a:extLst>
              <a:ext uri="{FF2B5EF4-FFF2-40B4-BE49-F238E27FC236}">
                <a16:creationId xmlns:a16="http://schemas.microsoft.com/office/drawing/2014/main" id="{AE81E6A1-E294-CD2E-3731-74E6402A61FF}"/>
              </a:ext>
            </a:extLst>
          </p:cNvPr>
          <p:cNvSpPr/>
          <p:nvPr/>
        </p:nvSpPr>
        <p:spPr>
          <a:xfrm>
            <a:off x="4943104" y="3837376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a16:creationId xmlns:a16="http://schemas.microsoft.com/office/drawing/2014/main" id="{27F9A9D8-519D-AC19-D616-44CAE0D43FD1}"/>
              </a:ext>
            </a:extLst>
          </p:cNvPr>
          <p:cNvSpPr/>
          <p:nvPr/>
        </p:nvSpPr>
        <p:spPr>
          <a:xfrm>
            <a:off x="5413469" y="3814391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sz="900" dirty="0">
                <a:solidFill>
                  <a:srgbClr val="008A3D"/>
                </a:solidFill>
                <a:latin typeface="Calibri"/>
              </a:rPr>
              <a:t>GOLY ▲ 36%</a:t>
            </a:r>
            <a:endParaRPr lang="en-US" sz="900" dirty="0">
              <a:solidFill>
                <a:srgbClr val="008A3D"/>
              </a:solidFill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25E789B0-F22E-6189-F81D-C18A4F30CC76}"/>
              </a:ext>
            </a:extLst>
          </p:cNvPr>
          <p:cNvSpPr/>
          <p:nvPr/>
        </p:nvSpPr>
        <p:spPr>
          <a:xfrm>
            <a:off x="6045600" y="3813003"/>
            <a:ext cx="372097" cy="251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15%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a16:creationId xmlns:a16="http://schemas.microsoft.com/office/drawing/2014/main" id="{B7F3446D-2E00-77C7-5921-C34968E8F7B7}"/>
              </a:ext>
            </a:extLst>
          </p:cNvPr>
          <p:cNvSpPr/>
          <p:nvPr/>
        </p:nvSpPr>
        <p:spPr>
          <a:xfrm>
            <a:off x="6607284" y="3835214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88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a16:creationId xmlns:a16="http://schemas.microsoft.com/office/drawing/2014/main" id="{E29320C6-4ABC-47AD-CAC6-8C1A6CA6E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0032755"/>
              </p:ext>
            </p:extLst>
          </p:nvPr>
        </p:nvGraphicFramePr>
        <p:xfrm>
          <a:off x="4849544" y="3784478"/>
          <a:ext cx="2289670" cy="16348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6" name="Shape 17">
            <a:extLst>
              <a:ext uri="{FF2B5EF4-FFF2-40B4-BE49-F238E27FC236}">
                <a16:creationId xmlns:a16="http://schemas.microsoft.com/office/drawing/2014/main"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a16:creationId xmlns:a16="http://schemas.microsoft.com/office/drawing/2014/main"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West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a16:creationId xmlns:a16="http://schemas.microsoft.com/office/drawing/2014/main" id="{A8BC9F08-BB7E-07CC-C7BE-53E76EB85511}"/>
              </a:ext>
            </a:extLst>
          </p:cNvPr>
          <p:cNvSpPr/>
          <p:nvPr/>
        </p:nvSpPr>
        <p:spPr>
          <a:xfrm>
            <a:off x="151297" y="592718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05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a16:creationId xmlns:a16="http://schemas.microsoft.com/office/drawing/2014/main" id="{CC6466FF-9DFE-712B-2E6C-63C9594ED3C1}"/>
              </a:ext>
            </a:extLst>
          </p:cNvPr>
          <p:cNvSpPr/>
          <p:nvPr/>
        </p:nvSpPr>
        <p:spPr>
          <a:xfrm>
            <a:off x="607560" y="5965684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▲154%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a16:creationId xmlns:a16="http://schemas.microsoft.com/office/drawing/2014/main" id="{6553EC6E-D91D-B6B7-81E0-5D554EF96509}"/>
              </a:ext>
            </a:extLst>
          </p:cNvPr>
          <p:cNvSpPr/>
          <p:nvPr/>
        </p:nvSpPr>
        <p:spPr>
          <a:xfrm>
            <a:off x="1180857" y="5933593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42%</a:t>
            </a:r>
            <a:endParaRPr lang="en-US" sz="900" dirty="0"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a16:creationId xmlns:a16="http://schemas.microsoft.com/office/drawing/2014/main" id="{21E44F12-56F2-0F79-99BF-12D5FEBEA9AE}"/>
              </a:ext>
            </a:extLst>
          </p:cNvPr>
          <p:cNvSpPr/>
          <p:nvPr/>
        </p:nvSpPr>
        <p:spPr>
          <a:xfrm>
            <a:off x="1741769" y="5942106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Jul'26 215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a16:creationId xmlns:a16="http://schemas.microsoft.com/office/drawing/2014/main" id="{A04A165C-0A2C-703B-D787-4F0EA0143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619304"/>
              </p:ext>
            </p:extLst>
          </p:nvPr>
        </p:nvGraphicFramePr>
        <p:xfrm>
          <a:off x="195474" y="5885531"/>
          <a:ext cx="2256553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3" name="Text 23">
            <a:extLst>
              <a:ext uri="{FF2B5EF4-FFF2-40B4-BE49-F238E27FC236}">
                <a16:creationId xmlns:a16="http://schemas.microsoft.com/office/drawing/2014/main" id="{D7CD4F3F-DA69-AB5C-19FC-40054C6226BA}"/>
              </a:ext>
            </a:extLst>
          </p:cNvPr>
          <p:cNvSpPr/>
          <p:nvPr/>
        </p:nvSpPr>
        <p:spPr>
          <a:xfrm>
            <a:off x="2564343" y="5927180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a16:creationId xmlns:a16="http://schemas.microsoft.com/office/drawing/2014/main" id="{1D10C6E1-4BAF-BC01-C799-C47AB1F5027D}"/>
              </a:ext>
            </a:extLst>
          </p:cNvPr>
          <p:cNvSpPr/>
          <p:nvPr/>
        </p:nvSpPr>
        <p:spPr>
          <a:xfrm>
            <a:off x="3133841" y="5994624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▲438%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a16:creationId xmlns:a16="http://schemas.microsoft.com/office/drawing/2014/main" id="{7646A250-EE9F-A6C6-49D3-68B6D3DFBFDE}"/>
              </a:ext>
            </a:extLst>
          </p:cNvPr>
          <p:cNvSpPr/>
          <p:nvPr/>
        </p:nvSpPr>
        <p:spPr>
          <a:xfrm>
            <a:off x="3615344" y="5957217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40%</a:t>
            </a:r>
            <a:endParaRPr lang="en-US" sz="900" dirty="0"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a16:creationId xmlns:a16="http://schemas.microsoft.com/office/drawing/2014/main" id="{DB185B2C-DCD9-D290-C330-3A33EAC025C5}"/>
              </a:ext>
            </a:extLst>
          </p:cNvPr>
          <p:cNvSpPr/>
          <p:nvPr/>
        </p:nvSpPr>
        <p:spPr>
          <a:xfrm>
            <a:off x="4144390" y="5962804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Jul'26 119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a16:creationId xmlns:a16="http://schemas.microsoft.com/office/drawing/2014/main" id="{CBBF5C82-1DBC-BF6C-CAEA-410BB465C0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4559707"/>
              </p:ext>
            </p:extLst>
          </p:nvPr>
        </p:nvGraphicFramePr>
        <p:xfrm>
          <a:off x="2540771" y="5853797"/>
          <a:ext cx="2256553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8" name="Text 27">
            <a:extLst>
              <a:ext uri="{FF2B5EF4-FFF2-40B4-BE49-F238E27FC236}">
                <a16:creationId xmlns:a16="http://schemas.microsoft.com/office/drawing/2014/main" id="{038BADD0-EAC6-F8D6-7B12-BE177A9DAD4D}"/>
              </a:ext>
            </a:extLst>
          </p:cNvPr>
          <p:cNvSpPr/>
          <p:nvPr/>
        </p:nvSpPr>
        <p:spPr>
          <a:xfrm>
            <a:off x="4820896" y="5906220"/>
            <a:ext cx="68214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Face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a16:creationId xmlns:a16="http://schemas.microsoft.com/office/drawing/2014/main" id="{024D5F40-BAD0-9683-DBAB-2A9FEAA024FA}"/>
              </a:ext>
            </a:extLst>
          </p:cNvPr>
          <p:cNvSpPr/>
          <p:nvPr/>
        </p:nvSpPr>
        <p:spPr>
          <a:xfrm>
            <a:off x="5494277" y="5902783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</a:t>
            </a:r>
            <a:r>
              <a:rPr sz="900" b="1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▲ 3%</a:t>
            </a:r>
            <a:endParaRPr lang="en-US" sz="9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a16:creationId xmlns:a16="http://schemas.microsoft.com/office/drawing/2014/main" id="{631DEBF0-39A6-7D0F-BA14-F1B18161FDD2}"/>
              </a:ext>
            </a:extLst>
          </p:cNvPr>
          <p:cNvSpPr/>
          <p:nvPr/>
        </p:nvSpPr>
        <p:spPr>
          <a:xfrm>
            <a:off x="6011518" y="5894702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15%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a16:creationId xmlns:a16="http://schemas.microsoft.com/office/drawing/2014/main" id="{F69669F6-2C5B-9CCF-FC00-E39EBA2DF5E4}"/>
              </a:ext>
            </a:extLst>
          </p:cNvPr>
          <p:cNvSpPr/>
          <p:nvPr/>
        </p:nvSpPr>
        <p:spPr>
          <a:xfrm>
            <a:off x="6569415" y="5893104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19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a16:creationId xmlns:a16="http://schemas.microsoft.com/office/drawing/2014/main" id="{39E95149-09DC-244B-A1A2-AB5A022BF0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7016938"/>
              </p:ext>
            </p:extLst>
          </p:nvPr>
        </p:nvGraphicFramePr>
        <p:xfrm>
          <a:off x="4930324" y="5845469"/>
          <a:ext cx="2208890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a16:creationId xmlns:a16="http://schemas.microsoft.com/office/drawing/2014/main"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307983"/>
              </p:ext>
            </p:extLst>
          </p:nvPr>
        </p:nvGraphicFramePr>
        <p:xfrm>
          <a:off x="212691" y="1934878"/>
          <a:ext cx="7121624" cy="1465101"/>
        </p:xfrm>
        <a:graphic>
          <a:graphicData uri="http://schemas.openxmlformats.org/drawingml/2006/table">
            <a:tbl>
              <a:tblPr firstRow="1" firstCol="1" bandRow="1"/>
              <a:tblGrid>
                <a:gridCol w="1217605">
                  <a:extLst>
                    <a:ext uri="{9D8B030D-6E8A-4147-A177-3AD203B41FA5}">
                      <a16:colId xmlns:a16="http://schemas.microsoft.com/office/drawing/2014/main" val="1720933068"/>
                    </a:ext>
                  </a:extLst>
                </a:gridCol>
                <a:gridCol w="617473">
                  <a:extLst>
                    <a:ext uri="{9D8B030D-6E8A-4147-A177-3AD203B41FA5}">
                      <a16:colId xmlns:a16="http://schemas.microsoft.com/office/drawing/2014/main" val="2630805108"/>
                    </a:ext>
                  </a:extLst>
                </a:gridCol>
                <a:gridCol w="811691">
                  <a:extLst>
                    <a:ext uri="{9D8B030D-6E8A-4147-A177-3AD203B41FA5}">
                      <a16:colId xmlns:a16="http://schemas.microsoft.com/office/drawing/2014/main" val="1295913063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4130086957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3066276741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870282349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1716647770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Apr-26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Cont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355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584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623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640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63%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599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593741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59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265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359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35%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228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510%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782322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9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29%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63%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599869"/>
                  </a:ext>
                </a:extLst>
              </a:tr>
              <a:tr h="3101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a16:creationId xmlns:a16="http://schemas.microsoft.com/office/drawing/2014/main"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7160641"/>
              </p:ext>
            </p:extLst>
          </p:nvPr>
        </p:nvGraphicFramePr>
        <p:xfrm>
          <a:off x="212691" y="7863614"/>
          <a:ext cx="7010190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701001">
                  <a:extLst>
                    <a:ext uri="{9D8B030D-6E8A-4147-A177-3AD203B41FA5}">
                      <a16:colId xmlns:a16="http://schemas.microsoft.com/office/drawing/2014/main" val="1999662838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1604924111"/>
                    </a:ext>
                  </a:extLst>
                </a:gridCol>
                <a:gridCol w="721637">
                  <a:extLst>
                    <a:ext uri="{9D8B030D-6E8A-4147-A177-3AD203B41FA5}">
                      <a16:colId xmlns:a16="http://schemas.microsoft.com/office/drawing/2014/main" val="3900343723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2453469686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531817117"/>
                    </a:ext>
                  </a:extLst>
                </a:gridCol>
                <a:gridCol w="481091">
                  <a:extLst>
                    <a:ext uri="{9D8B030D-6E8A-4147-A177-3AD203B41FA5}">
                      <a16:colId xmlns:a16="http://schemas.microsoft.com/office/drawing/2014/main" val="1269342238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1250320746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Cont%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428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577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67%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537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27%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59%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107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138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138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42%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Wellness Forever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88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4%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20%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23%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190%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Metro Cnc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▼ 10%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C00000"/>
                          </a:solidFill>
                          <a:latin typeface="+mn-lt"/>
                        </a:rPr>
                        <a:t>▼ 27%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Trent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28%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135%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▼ 27%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C00000"/>
                          </a:solidFill>
                          <a:latin typeface="+mn-lt"/>
                        </a:rPr>
                        <a:t>▼ 33%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a16:creationId xmlns:a16="http://schemas.microsoft.com/office/drawing/2014/main"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42"/>
            <a:ext cx="7562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129056"/>
            <a:chOff x="6350" y="3870"/>
            <a:chExt cx="6966733" cy="1907139"/>
          </a:xfrm>
        </p:grpSpPr>
        <p:sp>
          <p:nvSpPr>
            <p:cNvPr id="197" name="Graphic 278">
              <a:extLst>
                <a:ext uri="{FF2B5EF4-FFF2-40B4-BE49-F238E27FC236}">
                  <a16:creationId xmlns:a16="http://schemas.microsoft.com/office/drawing/2014/main"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a16:creationId xmlns:a16="http://schemas.microsoft.com/office/drawing/2014/main"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a16:creationId xmlns:a16="http://schemas.microsoft.com/office/drawing/2014/main" id="{786D0DB1-927E-CDBA-AE82-7E1B1BB65AF0}"/>
                </a:ext>
              </a:extLst>
            </p:cNvPr>
            <p:cNvSpPr/>
            <p:nvPr/>
          </p:nvSpPr>
          <p:spPr>
            <a:xfrm>
              <a:off x="106892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a16:creationId xmlns:a16="http://schemas.microsoft.com/office/drawing/2014/main" id="{1EE2520B-B499-D8A6-9F61-FEDF24208690}"/>
                </a:ext>
              </a:extLst>
            </p:cNvPr>
            <p:cNvSpPr/>
            <p:nvPr/>
          </p:nvSpPr>
          <p:spPr>
            <a:xfrm>
              <a:off x="125480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a16:creationId xmlns:a16="http://schemas.microsoft.com/office/drawing/2014/main" id="{CC1D8F9B-ACDE-52DF-23D6-7FEDF2C5895A}"/>
                </a:ext>
              </a:extLst>
            </p:cNvPr>
            <p:cNvSpPr/>
            <p:nvPr/>
          </p:nvSpPr>
          <p:spPr>
            <a:xfrm>
              <a:off x="1826499" y="96780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a16:creationId xmlns:a16="http://schemas.microsoft.com/office/drawing/2014/main" id="{78E6F5B7-D8F6-E3DA-2211-639E0006CDFC}"/>
                </a:ext>
              </a:extLst>
            </p:cNvPr>
            <p:cNvSpPr/>
            <p:nvPr/>
          </p:nvSpPr>
          <p:spPr>
            <a:xfrm>
              <a:off x="1818628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a16:creationId xmlns:a16="http://schemas.microsoft.com/office/drawing/2014/main" id="{E2A44793-D301-9552-99EC-90EC13154CAA}"/>
                </a:ext>
              </a:extLst>
            </p:cNvPr>
            <p:cNvSpPr/>
            <p:nvPr/>
          </p:nvSpPr>
          <p:spPr>
            <a:xfrm>
              <a:off x="3502621" y="962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a16:creationId xmlns:a16="http://schemas.microsoft.com/office/drawing/2014/main" id="{5C0F2A52-1C1D-D1A6-05EA-4ACCDB5127EF}"/>
                </a:ext>
              </a:extLst>
            </p:cNvPr>
            <p:cNvSpPr/>
            <p:nvPr/>
          </p:nvSpPr>
          <p:spPr>
            <a:xfrm>
              <a:off x="3502621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a16:creationId xmlns:a16="http://schemas.microsoft.com/office/drawing/2014/main" id="{97A32B53-FBD3-57B6-D1A2-97E533939E78}"/>
                </a:ext>
              </a:extLst>
            </p:cNvPr>
            <p:cNvSpPr/>
            <p:nvPr/>
          </p:nvSpPr>
          <p:spPr>
            <a:xfrm>
              <a:off x="5204929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a16:creationId xmlns:a16="http://schemas.microsoft.com/office/drawing/2014/main"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a16:creationId xmlns:a16="http://schemas.microsoft.com/office/drawing/2014/main"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a16:creationId xmlns:a16="http://schemas.microsoft.com/office/drawing/2014/main" id="{390ECE72-BE5D-D8E0-F6DB-459027B27CA3}"/>
                </a:ext>
              </a:extLst>
            </p:cNvPr>
            <p:cNvSpPr txBox="1"/>
            <p:nvPr/>
          </p:nvSpPr>
          <p:spPr>
            <a:xfrm>
              <a:off x="114800" y="422663"/>
              <a:ext cx="6735227" cy="4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720" b="1">
                  <a:latin typeface="Calibri"/>
                </a:rPr>
                <a:t>Zone Record: West delivered its highest month at 1,016, ▲21% vs L3M and ▲56% vs May-25.</a:t>
              </a:r>
              <a:br/>
              <a:r>
                <a:rPr sz="720" b="1">
                  <a:latin typeface="Calibri"/>
                </a:rPr>
                <a:t>Chain Highlights: Dmart leads; Apollo is the fastest YoY chain.</a:t>
              </a:r>
              <a:endParaRPr lang="en-IN" sz="1400" spc="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a16:creationId xmlns:a16="http://schemas.microsoft.com/office/drawing/2014/main" id="{696AC7C6-3FED-0B1D-4CD4-FA589378E90D}"/>
                </a:ext>
              </a:extLst>
            </p:cNvPr>
            <p:cNvSpPr txBox="1"/>
            <p:nvPr/>
          </p:nvSpPr>
          <p:spPr>
            <a:xfrm>
              <a:off x="188979" y="1090664"/>
              <a:ext cx="478155" cy="31484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Lead</a:t>
              </a:r>
              <a:r>
                <a:rPr lang="en-US" sz="65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a16:creationId xmlns:a16="http://schemas.microsoft.com/office/drawing/2014/main" id="{D2CB78A9-052C-7918-9B59-3C05E6224543}"/>
                </a:ext>
              </a:extLst>
            </p:cNvPr>
            <p:cNvSpPr txBox="1"/>
            <p:nvPr/>
          </p:nvSpPr>
          <p:spPr>
            <a:xfrm>
              <a:off x="1882129" y="1090664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Fastest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YoY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a16:creationId xmlns:a16="http://schemas.microsoft.com/office/drawing/2014/main" id="{1002BC0E-27DD-532F-2DE7-BB1F581AC8FE}"/>
                </a:ext>
              </a:extLst>
            </p:cNvPr>
            <p:cNvSpPr txBox="1"/>
            <p:nvPr/>
          </p:nvSpPr>
          <p:spPr>
            <a:xfrm>
              <a:off x="3575278" y="1090664"/>
              <a:ext cx="82423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Lines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a16:creationId xmlns:a16="http://schemas.microsoft.com/office/drawing/2014/main" id="{1393482F-11D6-D6FE-2753-A47D0B48114B}"/>
                </a:ext>
              </a:extLst>
            </p:cNvPr>
            <p:cNvSpPr txBox="1"/>
            <p:nvPr/>
          </p:nvSpPr>
          <p:spPr>
            <a:xfrm>
              <a:off x="5268429" y="1090664"/>
              <a:ext cx="54102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Zone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a16:creationId xmlns:a16="http://schemas.microsoft.com/office/drawing/2014/main" id="{9D505091-C1B3-4643-3757-11527DD029ED}"/>
                </a:ext>
              </a:extLst>
            </p:cNvPr>
            <p:cNvSpPr txBox="1"/>
            <p:nvPr/>
          </p:nvSpPr>
          <p:spPr>
            <a:xfrm>
              <a:off x="188707" y="1310255"/>
              <a:ext cx="580390" cy="9524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680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a16:creationId xmlns:a16="http://schemas.microsoft.com/office/drawing/2014/main" id="{D4A13F3F-01DA-EED4-B30C-053A438475D3}"/>
                </a:ext>
              </a:extLst>
            </p:cNvPr>
            <p:cNvSpPr txBox="1"/>
            <p:nvPr/>
          </p:nvSpPr>
          <p:spPr>
            <a:xfrm>
              <a:off x="1871406" y="1299505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650" b="1">
                  <a:solidFill>
                    <a:srgbClr val="1A1F29"/>
                  </a:solidFill>
                  <a:latin typeface="+mj-lt"/>
                </a:rPr>
                <a:t>Apollo  - </a:t>
              </a:r>
              <a:r>
                <a:rPr sz="650" b="1">
                  <a:solidFill>
                    <a:srgbClr val="008A3D"/>
                  </a:solidFill>
                  <a:latin typeface="+mj-lt"/>
                </a:rPr>
                <a:t>▲ 190%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a16:creationId xmlns:a16="http://schemas.microsoft.com/office/drawing/2014/main" id="{823DC972-676F-BB3F-DF78-E528EBCA63EA}"/>
                </a:ext>
              </a:extLst>
            </p:cNvPr>
            <p:cNvSpPr txBox="1"/>
            <p:nvPr/>
          </p:nvSpPr>
          <p:spPr>
            <a:xfrm>
              <a:off x="3553098" y="1286316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Dmart, Reliance, Wellness Forever,</a:t>
              </a:r>
              <a:r>
                <a:rPr lang="en-US" sz="650" b="1" spc="-4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a16:creationId xmlns:a16="http://schemas.microsoft.com/office/drawing/2014/main" id="{1109BA7C-796E-3D4D-65A2-95AB774BD170}"/>
                </a:ext>
              </a:extLst>
            </p:cNvPr>
            <p:cNvSpPr txBox="1"/>
            <p:nvPr/>
          </p:nvSpPr>
          <p:spPr>
            <a:xfrm>
              <a:off x="5268428" y="1310254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May-26</a:t>
              </a:r>
              <a:r>
                <a:rPr lang="en-US" sz="650" b="1" spc="-3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30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-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1016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a16:creationId xmlns:a16="http://schemas.microsoft.com/office/drawing/2014/main"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112827"/>
            <a:ext cx="75628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West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a16:creationId xmlns:a16="http://schemas.microsoft.com/office/drawing/2014/main" id="{E24EC375-466C-1E5E-393B-8C29536D2D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8" r="23559"/>
          <a:stretch/>
        </p:blipFill>
        <p:spPr bwMode="auto">
          <a:xfrm>
            <a:off x="2691822" y="6140803"/>
            <a:ext cx="273352" cy="525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F161C536-80FD-9961-8E04-8082E882D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984" y="6127059"/>
            <a:ext cx="258710" cy="548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ottle of rice face wash  Description automatically generated">
            <a:extLst>
              <a:ext uri="{FF2B5EF4-FFF2-40B4-BE49-F238E27FC236}">
                <a16:creationId xmlns:a16="http://schemas.microsoft.com/office/drawing/2014/main" id="{2A96077C-6535-1BA6-1932-080A080D14E8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595728" y="3978098"/>
            <a:ext cx="200232" cy="412943"/>
          </a:xfrm>
          <a:prstGeom prst="rect">
            <a:avLst/>
          </a:prstGeom>
        </p:spPr>
      </p:pic>
      <p:pic>
        <p:nvPicPr>
          <p:cNvPr id="5" name="Picture 4" descr="A yellow bottle of sunscreen  Description automatically generated">
            <a:extLst>
              <a:ext uri="{FF2B5EF4-FFF2-40B4-BE49-F238E27FC236}">
                <a16:creationId xmlns:a16="http://schemas.microsoft.com/office/drawing/2014/main" id="{5F184DD5-9108-696F-E933-1BFB2A3EC688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149833" y="4108504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  AI-generated content may be incorrect.">
            <a:extLst>
              <a:ext uri="{FF2B5EF4-FFF2-40B4-BE49-F238E27FC236}">
                <a16:creationId xmlns:a16="http://schemas.microsoft.com/office/drawing/2014/main" id="{89B376C6-8357-1D4B-54F0-C817E2645CE5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874797" y="5998691"/>
            <a:ext cx="216398" cy="20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  Description automatically generated">
            <a:extLst>
              <a:ext uri="{FF2B5EF4-FFF2-40B4-BE49-F238E27FC236}">
                <a16:creationId xmlns:a16="http://schemas.microsoft.com/office/drawing/2014/main" id="{323C633E-FBC6-BA2C-6E89-D6F1CF8790DD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503372" y="3879702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856524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12 / 9</a:t>
            </a:r>
          </a:p>
        </p:txBody>
      </p:sp>
      <p:sp>
        <p:nvSpPr>
          <p:cNvPr id="2" name="Text 0"/>
          <p:cNvSpPr/>
          <p:nvPr/>
        </p:nvSpPr>
        <p:spPr>
          <a:xfrm>
            <a:off x="-17844" y="-14471"/>
            <a:ext cx="7580694" cy="454996"/>
          </a:xfrm>
          <a:prstGeom prst="rect">
            <a:avLst/>
          </a:prstGeom>
          <a:solidFill>
            <a:srgbClr val="2D9B7F"/>
          </a:solidFill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OFFTAKE PERFORMANCE REPORT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-17844" y="417740"/>
            <a:ext cx="7580694" cy="3077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A85"/>
                </a:solidFill>
                <a:latin typeface="Calibri"/>
              </a:rPr>
              <a:t>WEST ZONE DEEP DIVE — JUL'26</a:t>
            </a:r>
            <a:endParaRPr lang="en-US" sz="1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79347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827143"/>
              </p:ext>
            </p:extLst>
          </p:nvPr>
        </p:nvGraphicFramePr>
        <p:xfrm>
          <a:off x="212691" y="82627"/>
          <a:ext cx="7015882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7015882">
                  <a:extLst>
                    <a:ext uri="{9D8B030D-6E8A-4147-A177-3AD203B41FA5}">
                      <a16:colId xmlns:a16="http://schemas.microsoft.com/office/drawing/2014/main"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PAN INDIA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a16:creationId xmlns:a16="http://schemas.microsoft.com/office/drawing/2014/main"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a16:creationId xmlns:a16="http://schemas.microsoft.com/office/drawing/2014/main"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a16:creationId xmlns:a16="http://schemas.microsoft.com/office/drawing/2014/main"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May-26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208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a16:creationId xmlns:a16="http://schemas.microsoft.com/office/drawing/2014/main"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a16:creationId xmlns:a16="http://schemas.microsoft.com/office/drawing/2014/main"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a16:creationId xmlns:a16="http://schemas.microsoft.com/office/drawing/2014/main"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5.2%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a16:creationId xmlns:a16="http://schemas.microsoft.com/office/drawing/2014/main"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a16:creationId xmlns:a16="http://schemas.microsoft.com/office/drawing/2014/main"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a16:creationId xmlns:a16="http://schemas.microsoft.com/office/drawing/2014/main"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190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a16:creationId xmlns:a16="http://schemas.microsoft.com/office/drawing/2014/main"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a16:creationId xmlns:a16="http://schemas.microsoft.com/office/drawing/2014/main"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a16:creationId xmlns:a16="http://schemas.microsoft.com/office/drawing/2014/main"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GOLY May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19%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a16:creationId xmlns:a16="http://schemas.microsoft.com/office/drawing/2014/main"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a16:creationId xmlns:a16="http://schemas.microsoft.com/office/drawing/2014/main"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427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7" name="Rectangle 52">
            <a:extLst>
              <a:ext uri="{FF2B5EF4-FFF2-40B4-BE49-F238E27FC236}">
                <a16:creationId xmlns:a16="http://schemas.microsoft.com/office/drawing/2014/main" id="{6D038E4A-1677-969E-C704-197AFECF0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9126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a16:creationId xmlns:a16="http://schemas.microsoft.com/office/drawing/2014/main"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a16:creationId xmlns:a16="http://schemas.microsoft.com/office/drawing/2014/main"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6867859"/>
            <a:ext cx="6926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a16:creationId xmlns:a16="http://schemas.microsoft.com/office/drawing/2014/main"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FSN (eB2B) Jul'26 NSV: ₹2.07 Cr — excluded from MT geographic total
Reported separately as eB2B channel; not included in zone-level comparisons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</p:txBody>
      </p:sp>
      <p:sp>
        <p:nvSpPr>
          <p:cNvPr id="149" name="Shape 3">
            <a:extLst>
              <a:ext uri="{FF2B5EF4-FFF2-40B4-BE49-F238E27FC236}">
                <a16:creationId xmlns:a16="http://schemas.microsoft.com/office/drawing/2014/main"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a16:creationId xmlns:a16="http://schemas.microsoft.com/office/drawing/2014/main"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/>
              </a:rPr>
              <a:t>FSN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a16:creationId xmlns:a16="http://schemas.microsoft.com/office/drawing/2014/main" id="{8DC1552C-E149-4A10-28F5-0A4785E39F2D}"/>
              </a:ext>
            </a:extLst>
          </p:cNvPr>
          <p:cNvSpPr/>
          <p:nvPr/>
        </p:nvSpPr>
        <p:spPr>
          <a:xfrm>
            <a:off x="323599" y="3827686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a16:creationId xmlns:a16="http://schemas.microsoft.com/office/drawing/2014/main" id="{68B7E644-F756-EB08-51D0-E4BBD2584EB3}"/>
              </a:ext>
            </a:extLst>
          </p:cNvPr>
          <p:cNvSpPr/>
          <p:nvPr/>
        </p:nvSpPr>
        <p:spPr>
          <a:xfrm>
            <a:off x="733088" y="3852861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36%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a16:creationId xmlns:a16="http://schemas.microsoft.com/office/drawing/2014/main" id="{E90F34B8-D653-A710-F866-1BC3E6964F9D}"/>
              </a:ext>
            </a:extLst>
          </p:cNvPr>
          <p:cNvSpPr/>
          <p:nvPr/>
        </p:nvSpPr>
        <p:spPr>
          <a:xfrm>
            <a:off x="1292031" y="3846546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3%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a16:creationId xmlns:a16="http://schemas.microsoft.com/office/drawing/2014/main" id="{3CB5B5FD-F962-33DF-877C-0AE18D2CE328}"/>
              </a:ext>
            </a:extLst>
          </p:cNvPr>
          <p:cNvSpPr/>
          <p:nvPr/>
        </p:nvSpPr>
        <p:spPr>
          <a:xfrm>
            <a:off x="1843055" y="3885404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96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a16:creationId xmlns:a16="http://schemas.microsoft.com/office/drawing/2014/main" id="{C3EABDE2-E03A-721E-0AE3-C104F928F4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3945864"/>
              </p:ext>
            </p:extLst>
          </p:nvPr>
        </p:nvGraphicFramePr>
        <p:xfrm>
          <a:off x="206934" y="3823862"/>
          <a:ext cx="2145904" cy="15444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6" name="Text 9">
            <a:extLst>
              <a:ext uri="{FF2B5EF4-FFF2-40B4-BE49-F238E27FC236}">
                <a16:creationId xmlns:a16="http://schemas.microsoft.com/office/drawing/2014/main" id="{5BEBD7FD-7A2C-AC1D-76B9-D5B4A0E4DD0C}"/>
              </a:ext>
            </a:extLst>
          </p:cNvPr>
          <p:cNvSpPr/>
          <p:nvPr/>
        </p:nvSpPr>
        <p:spPr>
          <a:xfrm>
            <a:off x="2618118" y="3885404"/>
            <a:ext cx="578157" cy="203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a16:creationId xmlns:a16="http://schemas.microsoft.com/office/drawing/2014/main" id="{1E0A7551-8419-9F78-49C5-64130D89CF32}"/>
              </a:ext>
            </a:extLst>
          </p:cNvPr>
          <p:cNvSpPr/>
          <p:nvPr/>
        </p:nvSpPr>
        <p:spPr>
          <a:xfrm>
            <a:off x="3210825" y="3875509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C00000"/>
                </a:solidFill>
                <a:latin typeface="Calibri"/>
              </a:rPr>
              <a:t>GOLY </a:t>
            </a:r>
            <a:r>
              <a:rPr sz="900" b="1" dirty="0">
                <a:solidFill>
                  <a:srgbClr val="C00000"/>
                </a:solidFill>
                <a:latin typeface="Calibri"/>
              </a:rPr>
              <a:t>▼ 3%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a16:creationId xmlns:a16="http://schemas.microsoft.com/office/drawing/2014/main" id="{A6E4DFA5-8AF1-66E3-AB74-1643CD5B917D}"/>
              </a:ext>
            </a:extLst>
          </p:cNvPr>
          <p:cNvSpPr/>
          <p:nvPr/>
        </p:nvSpPr>
        <p:spPr>
          <a:xfrm>
            <a:off x="3615344" y="3871688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1%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a16:creationId xmlns:a16="http://schemas.microsoft.com/office/drawing/2014/main" id="{0002D543-8B74-7800-B3E0-CCAA6D0B22FA}"/>
              </a:ext>
            </a:extLst>
          </p:cNvPr>
          <p:cNvSpPr/>
          <p:nvPr/>
        </p:nvSpPr>
        <p:spPr>
          <a:xfrm>
            <a:off x="4086807" y="3873841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14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a16:creationId xmlns:a16="http://schemas.microsoft.com/office/drawing/2014/main" id="{498335C8-87FE-1BF3-E55D-7F3682FE8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7063866"/>
              </p:ext>
            </p:extLst>
          </p:nvPr>
        </p:nvGraphicFramePr>
        <p:xfrm>
          <a:off x="2462348" y="3819086"/>
          <a:ext cx="2269291" cy="15553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1" name="Text 13">
            <a:extLst>
              <a:ext uri="{FF2B5EF4-FFF2-40B4-BE49-F238E27FC236}">
                <a16:creationId xmlns:a16="http://schemas.microsoft.com/office/drawing/2014/main" id="{AE81E6A1-E294-CD2E-3731-74E6402A61FF}"/>
              </a:ext>
            </a:extLst>
          </p:cNvPr>
          <p:cNvSpPr/>
          <p:nvPr/>
        </p:nvSpPr>
        <p:spPr>
          <a:xfrm>
            <a:off x="4943104" y="3871688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a16:creationId xmlns:a16="http://schemas.microsoft.com/office/drawing/2014/main" id="{27F9A9D8-519D-AC19-D616-44CAE0D43FD1}"/>
              </a:ext>
            </a:extLst>
          </p:cNvPr>
          <p:cNvSpPr/>
          <p:nvPr/>
        </p:nvSpPr>
        <p:spPr>
          <a:xfrm>
            <a:off x="5427322" y="3848028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28%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25E789B0-F22E-6189-F81D-C18A4F30CC76}"/>
              </a:ext>
            </a:extLst>
          </p:cNvPr>
          <p:cNvSpPr/>
          <p:nvPr/>
        </p:nvSpPr>
        <p:spPr>
          <a:xfrm>
            <a:off x="6075171" y="3845068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23%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a16:creationId xmlns:a16="http://schemas.microsoft.com/office/drawing/2014/main" id="{B7F3446D-2E00-77C7-5921-C34968E8F7B7}"/>
              </a:ext>
            </a:extLst>
          </p:cNvPr>
          <p:cNvSpPr/>
          <p:nvPr/>
        </p:nvSpPr>
        <p:spPr>
          <a:xfrm>
            <a:off x="6552875" y="3885403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29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a16:creationId xmlns:a16="http://schemas.microsoft.com/office/drawing/2014/main" id="{E29320C6-4ABC-47AD-CAC6-8C1A6CA6E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1494362"/>
              </p:ext>
            </p:extLst>
          </p:nvPr>
        </p:nvGraphicFramePr>
        <p:xfrm>
          <a:off x="4846340" y="3822048"/>
          <a:ext cx="2292874" cy="15782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6" name="Shape 17">
            <a:extLst>
              <a:ext uri="{FF2B5EF4-FFF2-40B4-BE49-F238E27FC236}">
                <a16:creationId xmlns:a16="http://schemas.microsoft.com/office/drawing/2014/main"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a16:creationId xmlns:a16="http://schemas.microsoft.com/office/drawing/2014/main"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FSN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a16:creationId xmlns:a16="http://schemas.microsoft.com/office/drawing/2014/main" id="{A8BC9F08-BB7E-07CC-C7BE-53E76EB85511}"/>
              </a:ext>
            </a:extLst>
          </p:cNvPr>
          <p:cNvSpPr/>
          <p:nvPr/>
        </p:nvSpPr>
        <p:spPr>
          <a:xfrm>
            <a:off x="278344" y="592718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90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a16:creationId xmlns:a16="http://schemas.microsoft.com/office/drawing/2014/main" id="{CC6466FF-9DFE-712B-2E6C-63C9594ED3C1}"/>
              </a:ext>
            </a:extLst>
          </p:cNvPr>
          <p:cNvSpPr/>
          <p:nvPr/>
        </p:nvSpPr>
        <p:spPr>
          <a:xfrm>
            <a:off x="607560" y="5957217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 </a:t>
            </a:r>
            <a:r>
              <a:rPr sz="900" b="1">
                <a:solidFill>
                  <a:srgbClr val="008A3D"/>
                </a:solidFill>
                <a:latin typeface="Calibri"/>
              </a:rPr>
              <a:t>▲289%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a16:creationId xmlns:a16="http://schemas.microsoft.com/office/drawing/2014/main" id="{6553EC6E-D91D-B6B7-81E0-5D554EF96509}"/>
              </a:ext>
            </a:extLst>
          </p:cNvPr>
          <p:cNvSpPr/>
          <p:nvPr/>
        </p:nvSpPr>
        <p:spPr>
          <a:xfrm>
            <a:off x="1180857" y="5933593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6%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a16:creationId xmlns:a16="http://schemas.microsoft.com/office/drawing/2014/main" id="{21E44F12-56F2-0F79-99BF-12D5FEBEA9AE}"/>
              </a:ext>
            </a:extLst>
          </p:cNvPr>
          <p:cNvSpPr/>
          <p:nvPr/>
        </p:nvSpPr>
        <p:spPr>
          <a:xfrm>
            <a:off x="1555785" y="5933594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14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a16:creationId xmlns:a16="http://schemas.microsoft.com/office/drawing/2014/main" id="{A04A165C-0A2C-703B-D787-4F0EA0143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0544212"/>
              </p:ext>
            </p:extLst>
          </p:nvPr>
        </p:nvGraphicFramePr>
        <p:xfrm>
          <a:off x="202493" y="5866606"/>
          <a:ext cx="2202696" cy="1494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3" name="Text 23">
            <a:extLst>
              <a:ext uri="{FF2B5EF4-FFF2-40B4-BE49-F238E27FC236}">
                <a16:creationId xmlns:a16="http://schemas.microsoft.com/office/drawing/2014/main" id="{D7CD4F3F-DA69-AB5C-19FC-40054C6226BA}"/>
              </a:ext>
            </a:extLst>
          </p:cNvPr>
          <p:cNvSpPr/>
          <p:nvPr/>
        </p:nvSpPr>
        <p:spPr>
          <a:xfrm>
            <a:off x="2564343" y="5927180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a16:creationId xmlns:a16="http://schemas.microsoft.com/office/drawing/2014/main" id="{1D10C6E1-4BAF-BC01-C799-C47AB1F5027D}"/>
              </a:ext>
            </a:extLst>
          </p:cNvPr>
          <p:cNvSpPr/>
          <p:nvPr/>
        </p:nvSpPr>
        <p:spPr>
          <a:xfrm>
            <a:off x="3133841" y="5994624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▲21%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a16:creationId xmlns:a16="http://schemas.microsoft.com/office/drawing/2014/main" id="{7646A250-EE9F-A6C6-49D3-68B6D3DFBFDE}"/>
              </a:ext>
            </a:extLst>
          </p:cNvPr>
          <p:cNvSpPr/>
          <p:nvPr/>
        </p:nvSpPr>
        <p:spPr>
          <a:xfrm>
            <a:off x="3615344" y="5957217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25%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a16:creationId xmlns:a16="http://schemas.microsoft.com/office/drawing/2014/main" id="{DB185B2C-DCD9-D290-C330-3A33EAC025C5}"/>
              </a:ext>
            </a:extLst>
          </p:cNvPr>
          <p:cNvSpPr/>
          <p:nvPr/>
        </p:nvSpPr>
        <p:spPr>
          <a:xfrm>
            <a:off x="4144390" y="5962804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May’26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12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a16:creationId xmlns:a16="http://schemas.microsoft.com/office/drawing/2014/main" id="{CBBF5C82-1DBC-BF6C-CAEA-410BB465C0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9922085"/>
              </p:ext>
            </p:extLst>
          </p:nvPr>
        </p:nvGraphicFramePr>
        <p:xfrm>
          <a:off x="2481652" y="5883569"/>
          <a:ext cx="2202539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8" name="Text 27">
            <a:extLst>
              <a:ext uri="{FF2B5EF4-FFF2-40B4-BE49-F238E27FC236}">
                <a16:creationId xmlns:a16="http://schemas.microsoft.com/office/drawing/2014/main" id="{038BADD0-EAC6-F8D6-7B12-BE177A9DAD4D}"/>
              </a:ext>
            </a:extLst>
          </p:cNvPr>
          <p:cNvSpPr/>
          <p:nvPr/>
        </p:nvSpPr>
        <p:spPr>
          <a:xfrm>
            <a:off x="5022988" y="5906220"/>
            <a:ext cx="457591" cy="270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Face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a16:creationId xmlns:a16="http://schemas.microsoft.com/office/drawing/2014/main" id="{024D5F40-BAD0-9683-DBAB-2A9FEAA024FA}"/>
              </a:ext>
            </a:extLst>
          </p:cNvPr>
          <p:cNvSpPr/>
          <p:nvPr/>
        </p:nvSpPr>
        <p:spPr>
          <a:xfrm>
            <a:off x="5567649" y="5919050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</a:t>
            </a:r>
            <a:r>
              <a:rPr sz="900" b="1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▲ 9%</a:t>
            </a:r>
            <a:endParaRPr lang="en-US" sz="9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a16:creationId xmlns:a16="http://schemas.microsoft.com/office/drawing/2014/main" id="{631DEBF0-39A6-7D0F-BA14-F1B18161FDD2}"/>
              </a:ext>
            </a:extLst>
          </p:cNvPr>
          <p:cNvSpPr/>
          <p:nvPr/>
        </p:nvSpPr>
        <p:spPr>
          <a:xfrm>
            <a:off x="6085150" y="5920716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26%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a16:creationId xmlns:a16="http://schemas.microsoft.com/office/drawing/2014/main" id="{F69669F6-2C5B-9CCF-FC00-E39EBA2DF5E4}"/>
              </a:ext>
            </a:extLst>
          </p:cNvPr>
          <p:cNvSpPr/>
          <p:nvPr/>
        </p:nvSpPr>
        <p:spPr>
          <a:xfrm>
            <a:off x="6569415" y="5927181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10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a16:creationId xmlns:a16="http://schemas.microsoft.com/office/drawing/2014/main" id="{39E95149-09DC-244B-A1A2-AB5A022BF0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6568867"/>
              </p:ext>
            </p:extLst>
          </p:nvPr>
        </p:nvGraphicFramePr>
        <p:xfrm>
          <a:off x="4885674" y="5849534"/>
          <a:ext cx="2202539" cy="153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a16:creationId xmlns:a16="http://schemas.microsoft.com/office/drawing/2014/main"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008320"/>
              </p:ext>
            </p:extLst>
          </p:nvPr>
        </p:nvGraphicFramePr>
        <p:xfrm>
          <a:off x="212691" y="1934878"/>
          <a:ext cx="7111999" cy="1515139"/>
        </p:xfrm>
        <a:graphic>
          <a:graphicData uri="http://schemas.openxmlformats.org/drawingml/2006/table">
            <a:tbl>
              <a:tblPr firstRow="1" firstCol="1" bandRow="1"/>
              <a:tblGrid>
                <a:gridCol w="1207980">
                  <a:extLst>
                    <a:ext uri="{9D8B030D-6E8A-4147-A177-3AD203B41FA5}">
                      <a16:colId xmlns:a16="http://schemas.microsoft.com/office/drawing/2014/main" val="1720933068"/>
                    </a:ext>
                  </a:extLst>
                </a:gridCol>
                <a:gridCol w="617473">
                  <a:extLst>
                    <a:ext uri="{9D8B030D-6E8A-4147-A177-3AD203B41FA5}">
                      <a16:colId xmlns:a16="http://schemas.microsoft.com/office/drawing/2014/main" val="2630805108"/>
                    </a:ext>
                  </a:extLst>
                </a:gridCol>
                <a:gridCol w="811691">
                  <a:extLst>
                    <a:ext uri="{9D8B030D-6E8A-4147-A177-3AD203B41FA5}">
                      <a16:colId xmlns:a16="http://schemas.microsoft.com/office/drawing/2014/main" val="1295913063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4130086957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3066276741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870282349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1716647770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Apr-26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Cont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355"/>
                  </a:ext>
                </a:extLst>
              </a:tr>
              <a:tr h="32266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143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173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164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79%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146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593741"/>
                  </a:ext>
                </a:extLst>
              </a:tr>
              <a:tr h="32266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24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18%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6%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54%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782322"/>
                  </a:ext>
                </a:extLst>
              </a:tr>
              <a:tr h="32266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C00000"/>
                          </a:solidFill>
                          <a:latin typeface="Calibri"/>
                        </a:rPr>
                        <a:t>▼ 24%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C00000"/>
                          </a:solidFill>
                          <a:latin typeface="Calibri"/>
                        </a:rPr>
                        <a:t>▼ 38%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599869"/>
                  </a:ext>
                </a:extLst>
              </a:tr>
              <a:tr h="32266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a16:creationId xmlns:a16="http://schemas.microsoft.com/office/drawing/2014/main"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5968042"/>
              </p:ext>
            </p:extLst>
          </p:nvPr>
        </p:nvGraphicFramePr>
        <p:xfrm>
          <a:off x="212691" y="7854061"/>
          <a:ext cx="6984190" cy="624135"/>
        </p:xfrm>
        <a:graphic>
          <a:graphicData uri="http://schemas.openxmlformats.org/drawingml/2006/table">
            <a:tbl>
              <a:tblPr firstRow="1" firstCol="1" bandRow="1"/>
              <a:tblGrid>
                <a:gridCol w="1694693">
                  <a:extLst>
                    <a:ext uri="{9D8B030D-6E8A-4147-A177-3AD203B41FA5}">
                      <a16:colId xmlns:a16="http://schemas.microsoft.com/office/drawing/2014/main" val="1999662838"/>
                    </a:ext>
                  </a:extLst>
                </a:gridCol>
                <a:gridCol w="770315">
                  <a:extLst>
                    <a:ext uri="{9D8B030D-6E8A-4147-A177-3AD203B41FA5}">
                      <a16:colId xmlns:a16="http://schemas.microsoft.com/office/drawing/2014/main" val="1604924111"/>
                    </a:ext>
                  </a:extLst>
                </a:gridCol>
                <a:gridCol w="718961">
                  <a:extLst>
                    <a:ext uri="{9D8B030D-6E8A-4147-A177-3AD203B41FA5}">
                      <a16:colId xmlns:a16="http://schemas.microsoft.com/office/drawing/2014/main" val="3900343723"/>
                    </a:ext>
                  </a:extLst>
                </a:gridCol>
                <a:gridCol w="770315">
                  <a:extLst>
                    <a:ext uri="{9D8B030D-6E8A-4147-A177-3AD203B41FA5}">
                      <a16:colId xmlns:a16="http://schemas.microsoft.com/office/drawing/2014/main" val="2453469686"/>
                    </a:ext>
                  </a:extLst>
                </a:gridCol>
                <a:gridCol w="770315">
                  <a:extLst>
                    <a:ext uri="{9D8B030D-6E8A-4147-A177-3AD203B41FA5}">
                      <a16:colId xmlns:a16="http://schemas.microsoft.com/office/drawing/2014/main" val="531817117"/>
                    </a:ext>
                  </a:extLst>
                </a:gridCol>
                <a:gridCol w="479307">
                  <a:extLst>
                    <a:ext uri="{9D8B030D-6E8A-4147-A177-3AD203B41FA5}">
                      <a16:colId xmlns:a16="http://schemas.microsoft.com/office/drawing/2014/main" val="1269342238"/>
                    </a:ext>
                  </a:extLst>
                </a:gridCol>
                <a:gridCol w="890142">
                  <a:extLst>
                    <a:ext uri="{9D8B030D-6E8A-4147-A177-3AD203B41FA5}">
                      <a16:colId xmlns:a16="http://schemas.microsoft.com/office/drawing/2014/main" val="1250320746"/>
                    </a:ext>
                  </a:extLst>
                </a:gridCol>
                <a:gridCol w="890142">
                  <a:extLst>
                    <a:ext uri="{9D8B030D-6E8A-4147-A177-3AD203B41FA5}">
                      <a16:colId xmlns:a16="http://schemas.microsoft.com/office/drawing/2014/main" val="2206225178"/>
                    </a:ext>
                  </a:extLst>
                </a:gridCol>
              </a:tblGrid>
              <a:tr h="20804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Cont</a:t>
                      </a:r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551122"/>
                  </a:ext>
                </a:extLst>
              </a:tr>
              <a:tr h="20804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Fsn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175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208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100%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190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9%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19%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039130"/>
                  </a:ext>
                </a:extLst>
              </a:tr>
              <a:tr h="20804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264776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a16:creationId xmlns:a16="http://schemas.microsoft.com/office/drawing/2014/main"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42"/>
            <a:ext cx="7562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160207" y="8477611"/>
            <a:ext cx="6979007" cy="1800117"/>
            <a:chOff x="6350" y="3870"/>
            <a:chExt cx="6966733" cy="1907139"/>
          </a:xfrm>
        </p:grpSpPr>
        <p:sp>
          <p:nvSpPr>
            <p:cNvPr id="197" name="Graphic 278">
              <a:extLst>
                <a:ext uri="{FF2B5EF4-FFF2-40B4-BE49-F238E27FC236}">
                  <a16:creationId xmlns:a16="http://schemas.microsoft.com/office/drawing/2014/main"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a16:creationId xmlns:a16="http://schemas.microsoft.com/office/drawing/2014/main"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a16:creationId xmlns:a16="http://schemas.microsoft.com/office/drawing/2014/main" id="{786D0DB1-927E-CDBA-AE82-7E1B1BB65AF0}"/>
                </a:ext>
              </a:extLst>
            </p:cNvPr>
            <p:cNvSpPr/>
            <p:nvPr/>
          </p:nvSpPr>
          <p:spPr>
            <a:xfrm>
              <a:off x="117410" y="99945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a16:creationId xmlns:a16="http://schemas.microsoft.com/office/drawing/2014/main" id="{1EE2520B-B499-D8A6-9F61-FEDF24208690}"/>
                </a:ext>
              </a:extLst>
            </p:cNvPr>
            <p:cNvSpPr/>
            <p:nvPr/>
          </p:nvSpPr>
          <p:spPr>
            <a:xfrm>
              <a:off x="125480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a16:creationId xmlns:a16="http://schemas.microsoft.com/office/drawing/2014/main" id="{CC1D8F9B-ACDE-52DF-23D6-7FEDF2C5895A}"/>
                </a:ext>
              </a:extLst>
            </p:cNvPr>
            <p:cNvSpPr/>
            <p:nvPr/>
          </p:nvSpPr>
          <p:spPr>
            <a:xfrm>
              <a:off x="1826499" y="96780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a16:creationId xmlns:a16="http://schemas.microsoft.com/office/drawing/2014/main" id="{78E6F5B7-D8F6-E3DA-2211-639E0006CDFC}"/>
                </a:ext>
              </a:extLst>
            </p:cNvPr>
            <p:cNvSpPr/>
            <p:nvPr/>
          </p:nvSpPr>
          <p:spPr>
            <a:xfrm>
              <a:off x="1818628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a16:creationId xmlns:a16="http://schemas.microsoft.com/office/drawing/2014/main" id="{E2A44793-D301-9552-99EC-90EC13154CAA}"/>
                </a:ext>
              </a:extLst>
            </p:cNvPr>
            <p:cNvSpPr/>
            <p:nvPr/>
          </p:nvSpPr>
          <p:spPr>
            <a:xfrm>
              <a:off x="3502621" y="962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a16:creationId xmlns:a16="http://schemas.microsoft.com/office/drawing/2014/main" id="{5C0F2A52-1C1D-D1A6-05EA-4ACCDB5127EF}"/>
                </a:ext>
              </a:extLst>
            </p:cNvPr>
            <p:cNvSpPr/>
            <p:nvPr/>
          </p:nvSpPr>
          <p:spPr>
            <a:xfrm>
              <a:off x="3502621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a16:creationId xmlns:a16="http://schemas.microsoft.com/office/drawing/2014/main" id="{97A32B53-FBD3-57B6-D1A2-97E533939E78}"/>
                </a:ext>
              </a:extLst>
            </p:cNvPr>
            <p:cNvSpPr/>
            <p:nvPr/>
          </p:nvSpPr>
          <p:spPr>
            <a:xfrm>
              <a:off x="5204929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a16:creationId xmlns:a16="http://schemas.microsoft.com/office/drawing/2014/main"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a16:creationId xmlns:a16="http://schemas.microsoft.com/office/drawing/2014/main"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a16:creationId xmlns:a16="http://schemas.microsoft.com/office/drawing/2014/main" id="{390ECE72-BE5D-D8E0-F6DB-459027B27CA3}"/>
                </a:ext>
              </a:extLst>
            </p:cNvPr>
            <p:cNvSpPr txBox="1"/>
            <p:nvPr/>
          </p:nvSpPr>
          <p:spPr>
            <a:xfrm>
              <a:off x="60710" y="422664"/>
              <a:ext cx="6830732" cy="40162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endParaRPr lang="en-US" sz="1000" b="1" dirty="0">
                <a:solidFill>
                  <a:srgbClr val="008A3D"/>
                </a:solidFill>
                <a:latin typeface="+mj-lt"/>
              </a:endParaRPr>
            </a:p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lang="en-US" sz="1000" b="1" dirty="0">
                  <a:solidFill>
                    <a:srgbClr val="008A3D"/>
                  </a:solidFill>
                  <a:latin typeface="+mj-lt"/>
                </a:rPr>
                <a:t>Chain Highlights:-</a:t>
              </a:r>
              <a:r>
                <a:rPr sz="1000" b="1" dirty="0">
                  <a:solidFill>
                    <a:srgbClr val="008A3D"/>
                  </a:solidFill>
                  <a:latin typeface="+mj-lt"/>
                </a:rPr>
                <a:t> </a:t>
              </a:r>
              <a:r>
                <a:rPr lang="en-IN" sz="1000" b="1" dirty="0">
                  <a:solidFill>
                    <a:srgbClr val="008A3D"/>
                  </a:solidFill>
                  <a:latin typeface="+mj-lt"/>
                </a:rPr>
                <a:t>FSN</a:t>
              </a:r>
              <a:r>
                <a:rPr sz="1000" b="1" dirty="0">
                  <a:solidFill>
                    <a:srgbClr val="008A3D"/>
                  </a:solidFill>
                  <a:latin typeface="+mj-lt"/>
                </a:rPr>
                <a:t> delivered its highest month in May-26 at 208. Growth stood at ▲ 9% vs L3M and ▲ 19% vs May-25.</a:t>
              </a:r>
              <a:endParaRPr lang="en-IN" sz="1600" spc="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a16:creationId xmlns:a16="http://schemas.microsoft.com/office/drawing/2014/main" id="{696AC7C6-3FED-0B1D-4CD4-FA589378E90D}"/>
                </a:ext>
              </a:extLst>
            </p:cNvPr>
            <p:cNvSpPr txBox="1"/>
            <p:nvPr/>
          </p:nvSpPr>
          <p:spPr>
            <a:xfrm>
              <a:off x="536601" y="1090664"/>
              <a:ext cx="726380" cy="343972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105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Lead</a:t>
              </a:r>
              <a:r>
                <a:rPr lang="en-US" sz="1050" b="1" spc="-20" dirty="0">
                  <a:solidFill>
                    <a:srgbClr val="008A3D"/>
                  </a:solidFill>
                  <a:latin typeface="+mj-lt"/>
                  <a:ea typeface="Arial MT"/>
                  <a:cs typeface="Calibri"/>
                </a:rPr>
                <a:t> </a:t>
              </a:r>
              <a:r>
                <a:rPr lang="en-US" sz="105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a16:creationId xmlns:a16="http://schemas.microsoft.com/office/drawing/2014/main" id="{D2CB78A9-052C-7918-9B59-3C05E6224543}"/>
                </a:ext>
              </a:extLst>
            </p:cNvPr>
            <p:cNvSpPr txBox="1"/>
            <p:nvPr/>
          </p:nvSpPr>
          <p:spPr>
            <a:xfrm>
              <a:off x="2143903" y="1099759"/>
              <a:ext cx="1532948" cy="16725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10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Fastest</a:t>
              </a:r>
              <a:r>
                <a:rPr lang="en-US" sz="1000" b="1" spc="-25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0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YoY</a:t>
              </a:r>
              <a:r>
                <a:rPr lang="en-US" sz="100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0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a16:creationId xmlns:a16="http://schemas.microsoft.com/office/drawing/2014/main" id="{1002BC0E-27DD-532F-2DE7-BB1F581AC8FE}"/>
                </a:ext>
              </a:extLst>
            </p:cNvPr>
            <p:cNvSpPr txBox="1"/>
            <p:nvPr/>
          </p:nvSpPr>
          <p:spPr>
            <a:xfrm>
              <a:off x="3761172" y="1043625"/>
              <a:ext cx="1168712" cy="354674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10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r>
                <a:rPr lang="en-US" sz="1000" b="1" spc="-25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0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000" b="1" spc="-25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0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Lines</a:t>
              </a:r>
              <a:endParaRPr lang="en-IN" sz="1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a16:creationId xmlns:a16="http://schemas.microsoft.com/office/drawing/2014/main" id="{1393482F-11D6-D6FE-2753-A47D0B48114B}"/>
                </a:ext>
              </a:extLst>
            </p:cNvPr>
            <p:cNvSpPr txBox="1"/>
            <p:nvPr/>
          </p:nvSpPr>
          <p:spPr>
            <a:xfrm>
              <a:off x="5378517" y="1043625"/>
              <a:ext cx="54102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9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Zone</a:t>
              </a:r>
              <a:r>
                <a:rPr lang="en-US" sz="90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endParaRPr lang="en-IN" sz="14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a16:creationId xmlns:a16="http://schemas.microsoft.com/office/drawing/2014/main" id="{9D505091-C1B3-4643-3757-11527DD029ED}"/>
                </a:ext>
              </a:extLst>
            </p:cNvPr>
            <p:cNvSpPr txBox="1"/>
            <p:nvPr/>
          </p:nvSpPr>
          <p:spPr>
            <a:xfrm>
              <a:off x="584951" y="1339470"/>
              <a:ext cx="537105" cy="21832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Fsn</a:t>
              </a:r>
              <a:r>
                <a:rPr lang="en-US" sz="90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</a:t>
              </a:r>
              <a:r>
                <a:rPr lang="en-US" sz="90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208</a:t>
              </a:r>
              <a:endParaRPr lang="en-IN" sz="14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a16:creationId xmlns:a16="http://schemas.microsoft.com/office/drawing/2014/main" id="{D4A13F3F-01DA-EED4-B30C-053A438475D3}"/>
                </a:ext>
              </a:extLst>
            </p:cNvPr>
            <p:cNvSpPr txBox="1"/>
            <p:nvPr/>
          </p:nvSpPr>
          <p:spPr>
            <a:xfrm>
              <a:off x="2198660" y="1310254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1000" b="1">
                  <a:solidFill>
                    <a:srgbClr val="1A1F29"/>
                  </a:solidFill>
                  <a:latin typeface="+mj-lt"/>
                </a:rPr>
                <a:t>Fsn  - </a:t>
              </a:r>
              <a:r>
                <a:rPr sz="1000" b="1">
                  <a:solidFill>
                    <a:srgbClr val="008A3D"/>
                  </a:solidFill>
                  <a:latin typeface="+mj-lt"/>
                </a:rPr>
                <a:t>▲ 19%</a:t>
              </a:r>
              <a:endParaRPr lang="en-IN" sz="1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a16:creationId xmlns:a16="http://schemas.microsoft.com/office/drawing/2014/main" id="{823DC972-676F-BB3F-DF78-E528EBCA63EA}"/>
                </a:ext>
              </a:extLst>
            </p:cNvPr>
            <p:cNvSpPr txBox="1"/>
            <p:nvPr/>
          </p:nvSpPr>
          <p:spPr>
            <a:xfrm>
              <a:off x="4098907" y="1273117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800" b="1" dirty="0" err="1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Fsn</a:t>
              </a:r>
              <a:endParaRPr lang="en-IN" sz="8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a16:creationId xmlns:a16="http://schemas.microsoft.com/office/drawing/2014/main" id="{1109BA7C-796E-3D4D-65A2-95AB774BD170}"/>
                </a:ext>
              </a:extLst>
            </p:cNvPr>
            <p:cNvSpPr txBox="1"/>
            <p:nvPr/>
          </p:nvSpPr>
          <p:spPr>
            <a:xfrm>
              <a:off x="5945211" y="1128270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900" b="1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Apr</a:t>
              </a: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-26</a:t>
              </a:r>
              <a:r>
                <a:rPr lang="en-US" sz="900" b="1" spc="-3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spc="-30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- </a:t>
              </a: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229</a:t>
              </a:r>
              <a:endParaRPr lang="en-IN" sz="1400" dirty="0">
                <a:effectLst/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a16:creationId xmlns:a16="http://schemas.microsoft.com/office/drawing/2014/main"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112827"/>
            <a:ext cx="75628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FSN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a16:creationId xmlns:a16="http://schemas.microsoft.com/office/drawing/2014/main" id="{E4BE8139-2075-BC6E-0940-50B79B227E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8" r="23559"/>
          <a:stretch/>
        </p:blipFill>
        <p:spPr bwMode="auto">
          <a:xfrm>
            <a:off x="2709582" y="6141344"/>
            <a:ext cx="212290" cy="4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BD881498-56FC-10C0-FDB6-091E08A4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490" y="6117127"/>
            <a:ext cx="250009" cy="530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ottle of rice face wash  Description automatically generated">
            <a:extLst>
              <a:ext uri="{FF2B5EF4-FFF2-40B4-BE49-F238E27FC236}">
                <a16:creationId xmlns:a16="http://schemas.microsoft.com/office/drawing/2014/main" id="{6A5DAAE7-0169-95A1-212F-58E9249A2223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373490" y="3994891"/>
            <a:ext cx="200232" cy="412943"/>
          </a:xfrm>
          <a:prstGeom prst="rect">
            <a:avLst/>
          </a:prstGeom>
        </p:spPr>
      </p:pic>
      <p:pic>
        <p:nvPicPr>
          <p:cNvPr id="5" name="Picture 4" descr="A yellow bottle of sunscreen  Description automatically generated">
            <a:extLst>
              <a:ext uri="{FF2B5EF4-FFF2-40B4-BE49-F238E27FC236}">
                <a16:creationId xmlns:a16="http://schemas.microsoft.com/office/drawing/2014/main" id="{9DE6E2BB-07EE-B005-FD4B-E99B9E93CC3D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140437" y="4098642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  AI-generated content may be incorrect.">
            <a:extLst>
              <a:ext uri="{FF2B5EF4-FFF2-40B4-BE49-F238E27FC236}">
                <a16:creationId xmlns:a16="http://schemas.microsoft.com/office/drawing/2014/main" id="{094DAE43-E77F-2907-9047-54F182B6F843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179482" y="6228467"/>
            <a:ext cx="216398" cy="20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  Description automatically generated">
            <a:extLst>
              <a:ext uri="{FF2B5EF4-FFF2-40B4-BE49-F238E27FC236}">
                <a16:creationId xmlns:a16="http://schemas.microsoft.com/office/drawing/2014/main" id="{866C70B2-E3E3-89B3-E64D-23E1FC171462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512414" y="3850152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856524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13 / 9</a:t>
            </a:r>
          </a:p>
        </p:txBody>
      </p:sp>
      <p:sp>
        <p:nvSpPr>
          <p:cNvPr id="2" name="Text 0"/>
          <p:cNvSpPr/>
          <p:nvPr/>
        </p:nvSpPr>
        <p:spPr>
          <a:xfrm>
            <a:off x="-17844" y="-14471"/>
            <a:ext cx="7580694" cy="454996"/>
          </a:xfrm>
          <a:prstGeom prst="rect">
            <a:avLst/>
          </a:prstGeom>
          <a:solidFill>
            <a:srgbClr val="2D9B7F"/>
          </a:solidFill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OFFTAKE PERFORMANCE REPORT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-17844" y="417740"/>
            <a:ext cx="7580694" cy="3077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A85"/>
                </a:solidFill>
                <a:latin typeface="Calibri"/>
              </a:rPr>
              <a:t>FSN (EB2B) ZONE DEEP DIVE — JUL'26</a:t>
            </a:r>
            <a:endParaRPr lang="en-US" sz="1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26664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250B6C4-5EBD-4264-AAD9-BB7370E2CAF1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9bc1b8ae-cf64-4a9a-a118-f38019ee018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24409</TotalTime>
  <Words>7386</Words>
  <Application>Microsoft Office PowerPoint</Application>
  <PresentationFormat>Custom</PresentationFormat>
  <Paragraphs>2440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Arial MT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MT Offtake Performance Report - May 2026</dc:title>
  <dc:subject>Corrected arrow colour formatting and PDF export</dc:subject>
  <dc:creator>OpenAI</dc:creator>
  <cp:lastModifiedBy>Sheshant  Singh Aswal</cp:lastModifiedBy>
  <cp:revision>55</cp:revision>
  <dcterms:created xsi:type="dcterms:W3CDTF">2026-06-21T08:36:32Z</dcterms:created>
  <dcterms:modified xsi:type="dcterms:W3CDTF">2026-07-22T12:12:30Z</dcterms:modified>
</cp:coreProperties>
</file>