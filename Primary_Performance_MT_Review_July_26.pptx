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02542"/>
        </a:solidFill>
        <a:effectLst/>
      </p:bgPr>
    </p:bg>
    <p:spTree>
      <p:nvGrpSpPr>
        <p:cNvPr id="1" name=""/>
        <p:cNvGrpSpPr/>
        <p:nvPr/>
      </p:nvGrpSpPr>
      <p:grpSpPr/>
      <p:sp>
        <p:nvSpPr>
          <p:cNvPr id="2" name="TextBox 1"/>
          <p:cNvSpPr txBox="1"/>
          <p:nvPr/>
        </p:nvSpPr>
        <p:spPr>
          <a:xfrm>
            <a:off x="457200" y="2286000"/>
            <a:ext cx="8229600" cy="1371600"/>
          </a:xfrm>
          <a:prstGeom prst="rect">
            <a:avLst/>
          </a:prstGeom>
          <a:noFill/>
        </p:spPr>
        <p:txBody>
          <a:bodyPr wrap="square">
            <a:spAutoFit/>
          </a:bodyPr>
          <a:lstStyle/>
          <a:p>
            <a:pPr>
              <a:defRPr sz="5400" b="1">
                <a:solidFill>
                  <a:srgbClr val="DAA520"/>
                </a:solidFill>
              </a:defRPr>
            </a:pPr>
            <a:r>
              <a:t>Modern Trade Leadership Review</a:t>
            </a:r>
          </a:p>
        </p:txBody>
      </p:sp>
      <p:sp>
        <p:nvSpPr>
          <p:cNvPr id="3" name="TextBox 2"/>
          <p:cNvSpPr txBox="1"/>
          <p:nvPr/>
        </p:nvSpPr>
        <p:spPr>
          <a:xfrm>
            <a:off x="457200" y="3840480"/>
            <a:ext cx="8229600" cy="1828800"/>
          </a:xfrm>
          <a:prstGeom prst="rect">
            <a:avLst/>
          </a:prstGeom>
          <a:noFill/>
        </p:spPr>
        <p:txBody>
          <a:bodyPr wrap="square">
            <a:spAutoFit/>
          </a:bodyPr>
          <a:lstStyle/>
          <a:p>
            <a:pPr>
              <a:defRPr sz="2800">
                <a:solidFill>
                  <a:srgbClr val="FFFFFF"/>
                </a:solidFill>
              </a:defRPr>
            </a:pPr>
            <a:r>
              <a:t>Zonal Deep-Dive Performance Analysis</a:t>
            </a:r>
            <a:br/>
            <a:r>
              <a:t>July 2026 FYTD</a:t>
            </a:r>
          </a:p>
        </p:txBody>
      </p:sp>
      <p:sp>
        <p:nvSpPr>
          <p:cNvPr id="4" name="TextBox 3"/>
          <p:cNvSpPr txBox="1"/>
          <p:nvPr/>
        </p:nvSpPr>
        <p:spPr>
          <a:xfrm>
            <a:off x="457200" y="5943600"/>
            <a:ext cx="8229600" cy="457200"/>
          </a:xfrm>
          <a:prstGeom prst="rect">
            <a:avLst/>
          </a:prstGeom>
          <a:noFill/>
        </p:spPr>
        <p:txBody>
          <a:bodyPr wrap="none">
            <a:spAutoFit/>
          </a:bodyPr>
          <a:lstStyle/>
          <a:p>
            <a:pPr>
              <a:defRPr sz="1400">
                <a:solidFill>
                  <a:srgbClr val="DAA520"/>
                </a:solidFill>
              </a:defRPr>
            </a:pPr>
            <a:r>
              <a:t>Modern Trade Leadership Review — July 2026 FYTD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731520"/>
          </a:xfrm>
          <a:prstGeom prst="rect">
            <a:avLst/>
          </a:prstGeom>
          <a:solidFill>
            <a:srgbClr val="102542"/>
          </a:solidFill>
          <a:ln>
            <a:solidFill>
              <a:srgbClr val="1025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8229600" cy="457200"/>
          </a:xfrm>
          <a:prstGeom prst="rect">
            <a:avLst/>
          </a:prstGeom>
          <a:noFill/>
        </p:spPr>
        <p:txBody>
          <a:bodyPr wrap="none">
            <a:spAutoFit/>
          </a:bodyPr>
          <a:lstStyle/>
          <a:p>
            <a:pPr>
              <a:defRPr sz="2800" b="1">
                <a:solidFill>
                  <a:srgbClr val="DAA520"/>
                </a:solidFill>
              </a:defRPr>
            </a:pPr>
            <a:r>
              <a:t>2. Executive Topline &amp; Offtake Performance</a:t>
            </a:r>
          </a:p>
        </p:txBody>
      </p:sp>
      <p:sp>
        <p:nvSpPr>
          <p:cNvPr id="4" name="TextBox 3"/>
          <p:cNvSpPr txBox="1"/>
          <p:nvPr/>
        </p:nvSpPr>
        <p:spPr>
          <a:xfrm>
            <a:off x="457200" y="1097280"/>
            <a:ext cx="8229600" cy="5029200"/>
          </a:xfrm>
          <a:prstGeom prst="rect">
            <a:avLst/>
          </a:prstGeom>
          <a:noFill/>
        </p:spPr>
        <p:txBody>
          <a:bodyPr wrap="square">
            <a:spAutoFit/>
          </a:bodyPr>
          <a:lstStyle/>
          <a:p>
            <a:pPr>
              <a:defRPr sz="1300">
                <a:solidFill>
                  <a:srgbClr val="323232"/>
                </a:solidFill>
              </a:defRPr>
            </a:pPr>
            <a:r>
              <a:t>NATIONAL PRIMARY NSV</a:t>
            </a:r>
            <a:br/>
            <a:r>
              <a:t>FY26 Baseline: ₹32,900.36 Lakh | FY27 YTD: ₹9,955.63 Lakh</a:t>
            </a:r>
            <a:br/>
            <a:br/>
            <a:r>
              <a:t>KEY DRIVERS:</a:t>
            </a:r>
            <a:br/>
            <a:r>
              <a:t>• 3-Tier Distributor Allocation: 100% coverage, zero leakage</a:t>
            </a:r>
            <a:br/>
            <a:r>
              <a:t>• Regional Zone Performance: All 7 zones showing positive YoY momentum</a:t>
            </a:r>
            <a:br/>
            <a:r>
              <a:t>• Channel Strategy: MT (Modern Trade) 94.2%, EB2B emerging, QC +142% YoY</a:t>
            </a:r>
            <a:br/>
            <a:r>
              <a:t>• Offtake-to-Primary Ratio: 1.05x (healthy secondary demand pull)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731520"/>
          </a:xfrm>
          <a:prstGeom prst="rect">
            <a:avLst/>
          </a:prstGeom>
          <a:solidFill>
            <a:srgbClr val="102542"/>
          </a:solidFill>
          <a:ln>
            <a:solidFill>
              <a:srgbClr val="1025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8229600" cy="457200"/>
          </a:xfrm>
          <a:prstGeom prst="rect">
            <a:avLst/>
          </a:prstGeom>
          <a:noFill/>
        </p:spPr>
        <p:txBody>
          <a:bodyPr wrap="none">
            <a:spAutoFit/>
          </a:bodyPr>
          <a:lstStyle/>
          <a:p>
            <a:pPr>
              <a:defRPr sz="2800" b="1">
                <a:solidFill>
                  <a:srgbClr val="DAA520"/>
                </a:solidFill>
              </a:defRPr>
            </a:pPr>
            <a:r>
              <a:t>3. Key Account Performance — Top Modern Trade Chains</a:t>
            </a:r>
          </a:p>
        </p:txBody>
      </p:sp>
      <p:sp>
        <p:nvSpPr>
          <p:cNvPr id="4" name="TextBox 3"/>
          <p:cNvSpPr txBox="1"/>
          <p:nvPr/>
        </p:nvSpPr>
        <p:spPr>
          <a:xfrm>
            <a:off x="457200" y="1097280"/>
            <a:ext cx="8229600" cy="5029200"/>
          </a:xfrm>
          <a:prstGeom prst="rect">
            <a:avLst/>
          </a:prstGeom>
          <a:noFill/>
        </p:spPr>
        <p:txBody>
          <a:bodyPr wrap="square">
            <a:spAutoFit/>
          </a:bodyPr>
          <a:lstStyle/>
          <a:p>
            <a:pPr>
              <a:defRPr sz="1100">
                <a:solidFill>
                  <a:srgbClr val="323232"/>
                </a:solidFill>
              </a:defRPr>
            </a:pPr>
            <a:r>
              <a:t>VOLUME LEADERS (FYTD ₹181.83 Cr Primary):</a:t>
            </a:r>
            <a:br/>
            <a:r>
              <a:t>┌─────────────────────────────────────────────────┐</a:t>
            </a:r>
            <a:br/>
            <a:r>
              <a:t>│ Account      │ NSV (Cr) │ Growth │ Fill Rate    │</a:t>
            </a:r>
            <a:br/>
            <a:r>
              <a:t>├─────────────────────────────────────────────────┤</a:t>
            </a:r>
            <a:br/>
            <a:r>
              <a:t>│ DMart        │ 62.4     │ +82%   │ 94.2%        │</a:t>
            </a:r>
            <a:br/>
            <a:r>
              <a:t>│ Reliance     │ 48.1     │ +95%   │ 91.8%        │</a:t>
            </a:r>
            <a:br/>
            <a:r>
              <a:t>│ Apollo       │ 28.5     │ +112%  │ 93.5%        │</a:t>
            </a:r>
            <a:br/>
            <a:r>
              <a:t>│ Spencer's    │ 18.3     │ +76%   │ 88.9%        │</a:t>
            </a:r>
            <a:br/>
            <a:r>
              <a:t>│ Q-Comm       │ 16.7     │ +142%  │ 96.1%        │</a:t>
            </a:r>
            <a:br/>
            <a:r>
              <a:t>│ Other Chains │ 7.8      │ +45%   │ 85.3%        │</a:t>
            </a:r>
            <a:br/>
            <a:r>
              <a:t>└─────────────────────────────────────────────────┘</a:t>
            </a:r>
            <a:br/>
            <a:br/>
            <a:r>
              <a:t>STRATEGIC INSIGHTS:</a:t>
            </a:r>
            <a:br/>
            <a:r>
              <a:t>• DMart remains anchor account (34.2% share); appointment optimization in Q2 lifted fill rates</a:t>
            </a:r>
            <a:br/>
            <a:r>
              <a:t>• Reliance Retail scaling rapidly through omni-channel Modern Stores + Direct-to-Consumer</a:t>
            </a:r>
            <a:br/>
            <a:r>
              <a:t>• Quick-Commerce partners (Blinkit, Zepto, Instamart) driving next-gen growth at +142% YoY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731520"/>
          </a:xfrm>
          <a:prstGeom prst="rect">
            <a:avLst/>
          </a:prstGeom>
          <a:solidFill>
            <a:srgbClr val="102542"/>
          </a:solidFill>
          <a:ln>
            <a:solidFill>
              <a:srgbClr val="1025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8229600" cy="457200"/>
          </a:xfrm>
          <a:prstGeom prst="rect">
            <a:avLst/>
          </a:prstGeom>
          <a:noFill/>
        </p:spPr>
        <p:txBody>
          <a:bodyPr wrap="none">
            <a:spAutoFit/>
          </a:bodyPr>
          <a:lstStyle/>
          <a:p>
            <a:pPr>
              <a:defRPr sz="2800" b="1">
                <a:solidFill>
                  <a:srgbClr val="DAA520"/>
                </a:solidFill>
              </a:defRPr>
            </a:pPr>
            <a:r>
              <a:t>4. Brand Portfolio &amp; PVM Bridge</a:t>
            </a:r>
          </a:p>
        </p:txBody>
      </p:sp>
      <p:sp>
        <p:nvSpPr>
          <p:cNvPr id="4" name="TextBox 3"/>
          <p:cNvSpPr txBox="1"/>
          <p:nvPr/>
        </p:nvSpPr>
        <p:spPr>
          <a:xfrm>
            <a:off x="457200" y="1097280"/>
            <a:ext cx="8229600" cy="5029200"/>
          </a:xfrm>
          <a:prstGeom prst="rect">
            <a:avLst/>
          </a:prstGeom>
          <a:noFill/>
        </p:spPr>
        <p:txBody>
          <a:bodyPr wrap="square">
            <a:spAutoFit/>
          </a:bodyPr>
          <a:lstStyle/>
          <a:p>
            <a:pPr>
              <a:defRPr sz="1100">
                <a:solidFill>
                  <a:srgbClr val="323232"/>
                </a:solidFill>
              </a:defRPr>
            </a:pPr>
            <a:r>
              <a:t>PORTFOLIO COMPOSITION (FYTD):</a:t>
            </a:r>
            <a:br/>
            <a:r>
              <a:t>• Mamaearth:           68.2% of Primary NSV (₹124.3 Cr) | Leader across all zones</a:t>
            </a:r>
            <a:br/>
            <a:r>
              <a:t>• The Derma Co.:       22.1% of Primary NSV (₹40.3 Cr) | South-1 growth engine (5x YoY)</a:t>
            </a:r>
            <a:br/>
            <a:r>
              <a:t>• Aqualogica:          5.8% of Primary NSV (₹10.5 Cr)  | Niche beauty scaling</a:t>
            </a:r>
            <a:br/>
            <a:r>
              <a:t>• BBLUNT:              2.4% of Primary NSV (₹4.4 Cr)   | Haircare specialist</a:t>
            </a:r>
            <a:br/>
            <a:r>
              <a:t>• Others (Babymama):   1.5% of Primary NSV (₹2.8 Cr)</a:t>
            </a:r>
            <a:br/>
            <a:br/>
            <a:r>
              <a:t>PVM (PRICE-VOLUME-MIX) DECOMPOSITION:</a:t>
            </a:r>
            <a:br/>
            <a:r>
              <a:t>• Volume Growth (Units):      +74% YoY</a:t>
            </a:r>
            <a:br/>
            <a:r>
              <a:t>• Price Realization:          +12% YoY (promotional cadence optimization)</a:t>
            </a:r>
            <a:br/>
            <a:r>
              <a:t>• Mix Uplift (Premium SKUs):  +8.3% YoY (serums, gift packs)</a:t>
            </a:r>
            <a:br/>
            <a:r>
              <a:t>• Total NSV Growth:           +88.3% YoY</a:t>
            </a:r>
            <a:br/>
            <a:br/>
            <a:r>
              <a:t>CATEGORY SCORECARD:</a:t>
            </a:r>
            <a:br/>
            <a:r>
              <a:t>Top 3 Categories Driving Primary:</a:t>
            </a:r>
            <a:br/>
            <a:r>
              <a:t>  1. Face Cleansers (32.4% of volume, #1 on Modern Trade) — Professional cleanse positioning</a:t>
            </a:r>
            <a:br/>
            <a:r>
              <a:t>  2. Serums &amp; Actives (18.9% of volume, #2 growth vector) — Dermatology-backed efficacy</a:t>
            </a:r>
            <a:br/>
            <a:r>
              <a:t>  3. Haircare (15.2% of volume, #3 emerging category) — BBLUNT &amp; premium ranges scaling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731520"/>
          </a:xfrm>
          <a:prstGeom prst="rect">
            <a:avLst/>
          </a:prstGeom>
          <a:solidFill>
            <a:srgbClr val="102542"/>
          </a:solidFill>
          <a:ln>
            <a:solidFill>
              <a:srgbClr val="1025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8229600" cy="457200"/>
          </a:xfrm>
          <a:prstGeom prst="rect">
            <a:avLst/>
          </a:prstGeom>
          <a:noFill/>
        </p:spPr>
        <p:txBody>
          <a:bodyPr wrap="none">
            <a:spAutoFit/>
          </a:bodyPr>
          <a:lstStyle/>
          <a:p>
            <a:pPr>
              <a:defRPr sz="2800" b="1">
                <a:solidFill>
                  <a:srgbClr val="DAA520"/>
                </a:solidFill>
              </a:defRPr>
            </a:pPr>
            <a:r>
              <a:t>5. Focus Category Dynamics &amp; Seasonal Momentum</a:t>
            </a:r>
          </a:p>
        </p:txBody>
      </p:sp>
      <p:sp>
        <p:nvSpPr>
          <p:cNvPr id="4" name="TextBox 3"/>
          <p:cNvSpPr txBox="1"/>
          <p:nvPr/>
        </p:nvSpPr>
        <p:spPr>
          <a:xfrm>
            <a:off x="457200" y="1097280"/>
            <a:ext cx="8229600" cy="5029200"/>
          </a:xfrm>
          <a:prstGeom prst="rect">
            <a:avLst/>
          </a:prstGeom>
          <a:noFill/>
        </p:spPr>
        <p:txBody>
          <a:bodyPr wrap="square">
            <a:spAutoFit/>
          </a:bodyPr>
          <a:lstStyle/>
          <a:p>
            <a:pPr>
              <a:defRPr sz="1050">
                <a:solidFill>
                  <a:srgbClr val="323232"/>
                </a:solidFill>
              </a:defRPr>
            </a:pPr>
            <a:r>
              <a:t>CLEANSERS (#4 on Modern Trade, #1 Honasa):</a:t>
            </a:r>
            <a:br/>
            <a:r>
              <a:t>Apr: ₹18.4Cr | May: ₹16.2Cr | Jun: ₹15.1Cr | Jul: ₹16.8Cr | FYTD: ₹66.5Cr (+91% YoY)</a:t>
            </a:r>
            <a:br/>
            <a:r>
              <a:t>→ Professional positioning winning Modern Trade shelf space vs. premium D2C rivals</a:t>
            </a:r>
            <a:br/>
            <a:br/>
            <a:r>
              <a:t>SHAMPOO (BBLUNT Leadership):</a:t>
            </a:r>
            <a:br/>
            <a:r>
              <a:t>Apr: ₹6.2Cr | May: ₹5.9Cr | Jun: ₹5.4Cr | Jul: ₹5.8Cr | FYTD: ₹23.3Cr (+67% YoY)</a:t>
            </a:r>
            <a:br/>
            <a:r>
              <a:t>→ Regional supermarkets (South-2: Ratnadeep, Vijetha) showing high repeat; festival pre-load in Q2</a:t>
            </a:r>
            <a:br/>
            <a:br/>
            <a:r>
              <a:t>SUN CARE (Seasonal Peak Apr–May):</a:t>
            </a:r>
            <a:br/>
            <a:r>
              <a:t>Apr: ₹12.1Cr | May: ₹9.3Cr | Jun: ₹4.2Cr | Jul: ₹3.8Cr | FYTD: ₹29.4Cr (+103% YoY)</a:t>
            </a:r>
            <a:br/>
            <a:r>
              <a:t>→ Summer transition complete; inventory buffers cleared by July</a:t>
            </a:r>
            <a:br/>
            <a:br/>
            <a:r>
              <a:t>SERUMS &amp; ACTIVES (The Derma Co., High-Velocity Emerging):</a:t>
            </a:r>
            <a:br/>
            <a:r>
              <a:t>Apr: ₹8.7Cr | May: ₹8.9Cr | Jun: ₹9.1Cr | Jul: ₹9.4Cr | FYTD: ₹36.1Cr (+185% YoY)</a:t>
            </a:r>
            <a:br/>
            <a:r>
              <a:t>→ Highest growth vector; Apollo Pharmacy + Q-Commerce offtake driving primary pull</a:t>
            </a:r>
            <a:br/>
            <a:br/>
            <a:r>
              <a:t>STRATEGIC OPPORTUNITY:</a:t>
            </a:r>
            <a:br/>
            <a:r>
              <a:t>Haircare (BBLUNT + Rosemary lines) set for +120% acceleration in Q3–Q4 through:</a:t>
            </a:r>
            <a:br/>
            <a:r>
              <a:t>  • Salon professional tie-ups (new Modern Trade sub-category)</a:t>
            </a:r>
            <a:br/>
            <a:r>
              <a:t>  • Regional supermarket penetration expansion</a:t>
            </a:r>
            <a:br/>
            <a:r>
              <a:t>  • Monsoon moisturizer demand surge (Jul–Sep)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731520"/>
          </a:xfrm>
          <a:prstGeom prst="rect">
            <a:avLst/>
          </a:prstGeom>
          <a:solidFill>
            <a:srgbClr val="102542"/>
          </a:solidFill>
          <a:ln>
            <a:solidFill>
              <a:srgbClr val="1025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8229600" cy="457200"/>
          </a:xfrm>
          <a:prstGeom prst="rect">
            <a:avLst/>
          </a:prstGeom>
          <a:noFill/>
        </p:spPr>
        <p:txBody>
          <a:bodyPr wrap="none">
            <a:spAutoFit/>
          </a:bodyPr>
          <a:lstStyle/>
          <a:p>
            <a:pPr>
              <a:defRPr sz="2800" b="1">
                <a:solidFill>
                  <a:srgbClr val="DAA520"/>
                </a:solidFill>
              </a:defRPr>
            </a:pPr>
            <a:r>
              <a:t>5A. West Zone Performance — Anchor Volume, DMart Scale &amp; DC Slot Optimization</a:t>
            </a:r>
          </a:p>
        </p:txBody>
      </p:sp>
      <p:sp>
        <p:nvSpPr>
          <p:cNvPr id="4" name="Rectangle 3"/>
          <p:cNvSpPr/>
          <p:nvPr/>
        </p:nvSpPr>
        <p:spPr>
          <a:xfrm>
            <a:off x="457200" y="914400"/>
            <a:ext cx="1645920" cy="548640"/>
          </a:xfrm>
          <a:prstGeom prst="rect">
            <a:avLst/>
          </a:prstGeom>
          <a:solidFill>
            <a:srgbClr val="F5F7FA"/>
          </a:solidFill>
          <a:ln w="12700">
            <a:solidFill>
              <a:srgbClr val="1025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960120"/>
            <a:ext cx="1463040" cy="457200"/>
          </a:xfrm>
          <a:prstGeom prst="rect">
            <a:avLst/>
          </a:prstGeom>
          <a:noFill/>
        </p:spPr>
        <p:txBody>
          <a:bodyPr wrap="none">
            <a:spAutoFit/>
          </a:bodyPr>
          <a:lstStyle/>
          <a:p>
            <a:pPr>
              <a:defRPr sz="1200" b="1">
                <a:solidFill>
                  <a:srgbClr val="102542"/>
                </a:solidFill>
              </a:defRPr>
            </a:pPr>
            <a:r>
              <a:t>FYTD: ₹49.24 Cr</a:t>
            </a:r>
          </a:p>
        </p:txBody>
      </p:sp>
      <p:sp>
        <p:nvSpPr>
          <p:cNvPr id="6" name="Rectangle 5"/>
          <p:cNvSpPr/>
          <p:nvPr/>
        </p:nvSpPr>
        <p:spPr>
          <a:xfrm>
            <a:off x="2286000" y="914400"/>
            <a:ext cx="1645920" cy="548640"/>
          </a:xfrm>
          <a:prstGeom prst="rect">
            <a:avLst/>
          </a:prstGeom>
          <a:solidFill>
            <a:srgbClr val="F5F7FA"/>
          </a:solidFill>
          <a:ln w="12700">
            <a:solidFill>
              <a:srgbClr val="2D9B7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377440" y="960120"/>
            <a:ext cx="1463040" cy="457200"/>
          </a:xfrm>
          <a:prstGeom prst="rect">
            <a:avLst/>
          </a:prstGeom>
          <a:noFill/>
        </p:spPr>
        <p:txBody>
          <a:bodyPr wrap="none">
            <a:spAutoFit/>
          </a:bodyPr>
          <a:lstStyle/>
          <a:p>
            <a:pPr>
              <a:defRPr sz="1200" b="1">
                <a:solidFill>
                  <a:srgbClr val="2D9B7F"/>
                </a:solidFill>
              </a:defRPr>
            </a:pPr>
            <a:r>
              <a:t>YoY: +84.9%</a:t>
            </a:r>
          </a:p>
        </p:txBody>
      </p:sp>
      <p:sp>
        <p:nvSpPr>
          <p:cNvPr id="8" name="Rectangle 7"/>
          <p:cNvSpPr/>
          <p:nvPr/>
        </p:nvSpPr>
        <p:spPr>
          <a:xfrm>
            <a:off x="4114800" y="914400"/>
            <a:ext cx="1645920" cy="548640"/>
          </a:xfrm>
          <a:prstGeom prst="rect">
            <a:avLst/>
          </a:prstGeom>
          <a:solidFill>
            <a:srgbClr val="F5F7FA"/>
          </a:solidFill>
          <a:ln w="12700">
            <a:solidFill>
              <a:srgbClr val="DAA52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206240" y="960120"/>
            <a:ext cx="1463040" cy="457200"/>
          </a:xfrm>
          <a:prstGeom prst="rect">
            <a:avLst/>
          </a:prstGeom>
          <a:noFill/>
        </p:spPr>
        <p:txBody>
          <a:bodyPr wrap="none">
            <a:spAutoFit/>
          </a:bodyPr>
          <a:lstStyle/>
          <a:p>
            <a:pPr>
              <a:defRPr sz="1200" b="1">
                <a:solidFill>
                  <a:srgbClr val="DAA520"/>
                </a:solidFill>
              </a:defRPr>
            </a:pPr>
            <a:r>
              <a:t>Share: 27.1%</a:t>
            </a:r>
          </a:p>
        </p:txBody>
      </p:sp>
      <p:sp>
        <p:nvSpPr>
          <p:cNvPr id="10" name="TextBox 9"/>
          <p:cNvSpPr txBox="1"/>
          <p:nvPr/>
        </p:nvSpPr>
        <p:spPr>
          <a:xfrm>
            <a:off x="457200" y="1645920"/>
            <a:ext cx="8229600" cy="365760"/>
          </a:xfrm>
          <a:prstGeom prst="rect">
            <a:avLst/>
          </a:prstGeom>
          <a:noFill/>
        </p:spPr>
        <p:txBody>
          <a:bodyPr wrap="square">
            <a:spAutoFit/>
          </a:bodyPr>
          <a:lstStyle/>
          <a:p>
            <a:pPr>
              <a:defRPr sz="1100">
                <a:solidFill>
                  <a:srgbClr val="323232"/>
                </a:solidFill>
              </a:defRPr>
            </a:pPr>
            <a:r>
              <a:t>Apr: ₹14.82Cr | May: ₹12.00Cr | Jun: ₹10.57Cr | Jul: ₹11.85Cr</a:t>
            </a:r>
          </a:p>
        </p:txBody>
      </p:sp>
      <p:sp>
        <p:nvSpPr>
          <p:cNvPr id="11" name="TextBox 10"/>
          <p:cNvSpPr txBox="1"/>
          <p:nvPr/>
        </p:nvSpPr>
        <p:spPr>
          <a:xfrm>
            <a:off x="457200" y="2194560"/>
            <a:ext cx="4114800" cy="365760"/>
          </a:xfrm>
          <a:prstGeom prst="rect">
            <a:avLst/>
          </a:prstGeom>
          <a:noFill/>
        </p:spPr>
        <p:txBody>
          <a:bodyPr wrap="square">
            <a:spAutoFit/>
          </a:bodyPr>
          <a:lstStyle/>
          <a:p>
            <a:pPr>
              <a:defRPr sz="1100" b="1">
                <a:solidFill>
                  <a:srgbClr val="102542"/>
                </a:solidFill>
              </a:defRPr>
            </a:pPr>
            <a:r>
              <a:t>Top Accounts: DMart (62%) | Reliance (24%) | Wellness Forever (8%)</a:t>
            </a:r>
          </a:p>
        </p:txBody>
      </p:sp>
      <p:sp>
        <p:nvSpPr>
          <p:cNvPr id="12" name="Rectangle 11"/>
          <p:cNvSpPr/>
          <p:nvPr/>
        </p:nvSpPr>
        <p:spPr>
          <a:xfrm>
            <a:off x="457200" y="2743200"/>
            <a:ext cx="8229600" cy="2560320"/>
          </a:xfrm>
          <a:prstGeom prst="rect">
            <a:avLst/>
          </a:prstGeom>
          <a:solidFill>
            <a:srgbClr val="F0F8FF"/>
          </a:solidFill>
          <a:ln w="25400">
            <a:solidFill>
              <a:srgbClr val="DAA52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2880360"/>
            <a:ext cx="7863840" cy="2286000"/>
          </a:xfrm>
          <a:prstGeom prst="rect">
            <a:avLst/>
          </a:prstGeom>
          <a:noFill/>
        </p:spPr>
        <p:txBody>
          <a:bodyPr wrap="square">
            <a:spAutoFit/>
          </a:bodyPr>
          <a:lstStyle/>
          <a:p>
            <a:pPr>
              <a:defRPr sz="1300" i="1">
                <a:solidFill>
                  <a:srgbClr val="323232"/>
                </a:solidFill>
              </a:defRPr>
            </a:pPr>
            <a:r>
              <a:t>West represents our highest volume base at ₹49.2 Cr FYTD. Following appointment slotting bottlenecks at DMart Bhiwandi and Thane DCs in May, logistics interventions lifted July dispatches by +12.1% MoM. Inwarding compliance is now steady at 92%, with dedicated BAs across 120 top doors averaging ₹1.85L/month.</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731520"/>
          </a:xfrm>
          <a:prstGeom prst="rect">
            <a:avLst/>
          </a:prstGeom>
          <a:solidFill>
            <a:srgbClr val="102542"/>
          </a:solidFill>
          <a:ln>
            <a:solidFill>
              <a:srgbClr val="1025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8229600" cy="457200"/>
          </a:xfrm>
          <a:prstGeom prst="rect">
            <a:avLst/>
          </a:prstGeom>
          <a:noFill/>
        </p:spPr>
        <p:txBody>
          <a:bodyPr wrap="none">
            <a:spAutoFit/>
          </a:bodyPr>
          <a:lstStyle/>
          <a:p>
            <a:pPr>
              <a:defRPr sz="2800" b="1">
                <a:solidFill>
                  <a:srgbClr val="DAA520"/>
                </a:solidFill>
              </a:defRPr>
            </a:pPr>
            <a:r>
              <a:t>5B. South-1 Zone Performance — Active Skincare Scaling &amp; Omni-Channel Acceleration</a:t>
            </a:r>
          </a:p>
        </p:txBody>
      </p:sp>
      <p:sp>
        <p:nvSpPr>
          <p:cNvPr id="4" name="Rectangle 3"/>
          <p:cNvSpPr/>
          <p:nvPr/>
        </p:nvSpPr>
        <p:spPr>
          <a:xfrm>
            <a:off x="457200" y="914400"/>
            <a:ext cx="1645920" cy="548640"/>
          </a:xfrm>
          <a:prstGeom prst="rect">
            <a:avLst/>
          </a:prstGeom>
          <a:solidFill>
            <a:srgbClr val="F5F7FA"/>
          </a:solidFill>
          <a:ln w="12700">
            <a:solidFill>
              <a:srgbClr val="1025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960120"/>
            <a:ext cx="1463040" cy="457200"/>
          </a:xfrm>
          <a:prstGeom prst="rect">
            <a:avLst/>
          </a:prstGeom>
          <a:noFill/>
        </p:spPr>
        <p:txBody>
          <a:bodyPr wrap="none">
            <a:spAutoFit/>
          </a:bodyPr>
          <a:lstStyle/>
          <a:p>
            <a:pPr>
              <a:defRPr sz="1200" b="1">
                <a:solidFill>
                  <a:srgbClr val="102542"/>
                </a:solidFill>
              </a:defRPr>
            </a:pPr>
            <a:r>
              <a:t>FYTD: ₹44.40 Cr</a:t>
            </a:r>
          </a:p>
        </p:txBody>
      </p:sp>
      <p:sp>
        <p:nvSpPr>
          <p:cNvPr id="6" name="Rectangle 5"/>
          <p:cNvSpPr/>
          <p:nvPr/>
        </p:nvSpPr>
        <p:spPr>
          <a:xfrm>
            <a:off x="2286000" y="914400"/>
            <a:ext cx="1645920" cy="548640"/>
          </a:xfrm>
          <a:prstGeom prst="rect">
            <a:avLst/>
          </a:prstGeom>
          <a:solidFill>
            <a:srgbClr val="F5F7FA"/>
          </a:solidFill>
          <a:ln w="12700">
            <a:solidFill>
              <a:srgbClr val="2D9B7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377440" y="960120"/>
            <a:ext cx="1463040" cy="457200"/>
          </a:xfrm>
          <a:prstGeom prst="rect">
            <a:avLst/>
          </a:prstGeom>
          <a:noFill/>
        </p:spPr>
        <p:txBody>
          <a:bodyPr wrap="none">
            <a:spAutoFit/>
          </a:bodyPr>
          <a:lstStyle/>
          <a:p>
            <a:pPr>
              <a:defRPr sz="1200" b="1">
                <a:solidFill>
                  <a:srgbClr val="2D9B7F"/>
                </a:solidFill>
              </a:defRPr>
            </a:pPr>
            <a:r>
              <a:t>YoY: +120.3%</a:t>
            </a:r>
          </a:p>
        </p:txBody>
      </p:sp>
      <p:sp>
        <p:nvSpPr>
          <p:cNvPr id="8" name="Rectangle 7"/>
          <p:cNvSpPr/>
          <p:nvPr/>
        </p:nvSpPr>
        <p:spPr>
          <a:xfrm>
            <a:off x="4114800" y="914400"/>
            <a:ext cx="1645920" cy="548640"/>
          </a:xfrm>
          <a:prstGeom prst="rect">
            <a:avLst/>
          </a:prstGeom>
          <a:solidFill>
            <a:srgbClr val="F5F7FA"/>
          </a:solidFill>
          <a:ln w="12700">
            <a:solidFill>
              <a:srgbClr val="DAA52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206240" y="960120"/>
            <a:ext cx="1463040" cy="457200"/>
          </a:xfrm>
          <a:prstGeom prst="rect">
            <a:avLst/>
          </a:prstGeom>
          <a:noFill/>
        </p:spPr>
        <p:txBody>
          <a:bodyPr wrap="none">
            <a:spAutoFit/>
          </a:bodyPr>
          <a:lstStyle/>
          <a:p>
            <a:pPr>
              <a:defRPr sz="1200" b="1">
                <a:solidFill>
                  <a:srgbClr val="DAA520"/>
                </a:solidFill>
              </a:defRPr>
            </a:pPr>
            <a:r>
              <a:t>Share: 24.4%</a:t>
            </a:r>
          </a:p>
        </p:txBody>
      </p:sp>
      <p:sp>
        <p:nvSpPr>
          <p:cNvPr id="10" name="TextBox 9"/>
          <p:cNvSpPr txBox="1"/>
          <p:nvPr/>
        </p:nvSpPr>
        <p:spPr>
          <a:xfrm>
            <a:off x="457200" y="1645920"/>
            <a:ext cx="8229600" cy="365760"/>
          </a:xfrm>
          <a:prstGeom prst="rect">
            <a:avLst/>
          </a:prstGeom>
          <a:noFill/>
        </p:spPr>
        <p:txBody>
          <a:bodyPr wrap="square">
            <a:spAutoFit/>
          </a:bodyPr>
          <a:lstStyle/>
          <a:p>
            <a:pPr>
              <a:defRPr sz="1100">
                <a:solidFill>
                  <a:srgbClr val="323232"/>
                </a:solidFill>
              </a:defRPr>
            </a:pPr>
            <a:r>
              <a:t>Apr: ₹11.21Cr | May: ₹10.92Cr | Jun: ₹10.85Cr | Jul: ₹11.42Cr</a:t>
            </a:r>
          </a:p>
        </p:txBody>
      </p:sp>
      <p:sp>
        <p:nvSpPr>
          <p:cNvPr id="11" name="TextBox 10"/>
          <p:cNvSpPr txBox="1"/>
          <p:nvPr/>
        </p:nvSpPr>
        <p:spPr>
          <a:xfrm>
            <a:off x="457200" y="2194560"/>
            <a:ext cx="4114800" cy="365760"/>
          </a:xfrm>
          <a:prstGeom prst="rect">
            <a:avLst/>
          </a:prstGeom>
          <a:noFill/>
        </p:spPr>
        <p:txBody>
          <a:bodyPr wrap="square">
            <a:spAutoFit/>
          </a:bodyPr>
          <a:lstStyle/>
          <a:p>
            <a:pPr>
              <a:defRPr sz="1100" b="1">
                <a:solidFill>
                  <a:srgbClr val="102542"/>
                </a:solidFill>
              </a:defRPr>
            </a:pPr>
            <a:r>
              <a:t>Top Accounts: Reliance Smart (45%) | Apollo Pharmacy (35%) | Q-Commerce (20%)</a:t>
            </a:r>
          </a:p>
        </p:txBody>
      </p:sp>
      <p:sp>
        <p:nvSpPr>
          <p:cNvPr id="12" name="Rectangle 11"/>
          <p:cNvSpPr/>
          <p:nvPr/>
        </p:nvSpPr>
        <p:spPr>
          <a:xfrm>
            <a:off x="457200" y="2743200"/>
            <a:ext cx="8229600" cy="2560320"/>
          </a:xfrm>
          <a:prstGeom prst="rect">
            <a:avLst/>
          </a:prstGeom>
          <a:solidFill>
            <a:srgbClr val="F0F8FF"/>
          </a:solidFill>
          <a:ln w="25400">
            <a:solidFill>
              <a:srgbClr val="DAA52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2880360"/>
            <a:ext cx="7863840" cy="2286000"/>
          </a:xfrm>
          <a:prstGeom prst="rect">
            <a:avLst/>
          </a:prstGeom>
          <a:noFill/>
        </p:spPr>
        <p:txBody>
          <a:bodyPr wrap="square">
            <a:spAutoFit/>
          </a:bodyPr>
          <a:lstStyle/>
          <a:p>
            <a:pPr>
              <a:defRPr sz="1300" i="1">
                <a:solidFill>
                  <a:srgbClr val="323232"/>
                </a:solidFill>
              </a:defRPr>
            </a:pPr>
            <a:r>
              <a:t>South-1 is our star growth territory (+120.3% YoY to ₹44.4 Cr), fueled by rapid consumer adoption of The Derma Co. active serums in Bangalore and Chennai. Apollo Pharmacy modern stores and Q-Commerce dark stores are driving a high offtake-to-primary ratio (1.18x), with Hosur DC maintaining a 94.5% fill rate.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731520"/>
          </a:xfrm>
          <a:prstGeom prst="rect">
            <a:avLst/>
          </a:prstGeom>
          <a:solidFill>
            <a:srgbClr val="102542"/>
          </a:solidFill>
          <a:ln>
            <a:solidFill>
              <a:srgbClr val="1025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8229600" cy="457200"/>
          </a:xfrm>
          <a:prstGeom prst="rect">
            <a:avLst/>
          </a:prstGeom>
          <a:noFill/>
        </p:spPr>
        <p:txBody>
          <a:bodyPr wrap="none">
            <a:spAutoFit/>
          </a:bodyPr>
          <a:lstStyle/>
          <a:p>
            <a:pPr>
              <a:defRPr sz="2800" b="1">
                <a:solidFill>
                  <a:srgbClr val="DAA520"/>
                </a:solidFill>
              </a:defRPr>
            </a:pPr>
            <a:r>
              <a:t>5C. North Zone Performance — Post-Summer Transition &amp; Cleanser Category Dominance</a:t>
            </a:r>
          </a:p>
        </p:txBody>
      </p:sp>
      <p:sp>
        <p:nvSpPr>
          <p:cNvPr id="4" name="Rectangle 3"/>
          <p:cNvSpPr/>
          <p:nvPr/>
        </p:nvSpPr>
        <p:spPr>
          <a:xfrm>
            <a:off x="457200" y="914400"/>
            <a:ext cx="1645920" cy="548640"/>
          </a:xfrm>
          <a:prstGeom prst="rect">
            <a:avLst/>
          </a:prstGeom>
          <a:solidFill>
            <a:srgbClr val="F5F7FA"/>
          </a:solidFill>
          <a:ln w="12700">
            <a:solidFill>
              <a:srgbClr val="1025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960120"/>
            <a:ext cx="1463040" cy="457200"/>
          </a:xfrm>
          <a:prstGeom prst="rect">
            <a:avLst/>
          </a:prstGeom>
          <a:noFill/>
        </p:spPr>
        <p:txBody>
          <a:bodyPr wrap="none">
            <a:spAutoFit/>
          </a:bodyPr>
          <a:lstStyle/>
          <a:p>
            <a:pPr>
              <a:defRPr sz="1200" b="1">
                <a:solidFill>
                  <a:srgbClr val="102542"/>
                </a:solidFill>
              </a:defRPr>
            </a:pPr>
            <a:r>
              <a:t>FYTD: ₹41.33 Cr</a:t>
            </a:r>
          </a:p>
        </p:txBody>
      </p:sp>
      <p:sp>
        <p:nvSpPr>
          <p:cNvPr id="6" name="Rectangle 5"/>
          <p:cNvSpPr/>
          <p:nvPr/>
        </p:nvSpPr>
        <p:spPr>
          <a:xfrm>
            <a:off x="2286000" y="914400"/>
            <a:ext cx="1645920" cy="548640"/>
          </a:xfrm>
          <a:prstGeom prst="rect">
            <a:avLst/>
          </a:prstGeom>
          <a:solidFill>
            <a:srgbClr val="F5F7FA"/>
          </a:solidFill>
          <a:ln w="12700">
            <a:solidFill>
              <a:srgbClr val="2D9B7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377440" y="960120"/>
            <a:ext cx="1463040" cy="457200"/>
          </a:xfrm>
          <a:prstGeom prst="rect">
            <a:avLst/>
          </a:prstGeom>
          <a:noFill/>
        </p:spPr>
        <p:txBody>
          <a:bodyPr wrap="none">
            <a:spAutoFit/>
          </a:bodyPr>
          <a:lstStyle/>
          <a:p>
            <a:pPr>
              <a:defRPr sz="1200" b="1">
                <a:solidFill>
                  <a:srgbClr val="2D9B7F"/>
                </a:solidFill>
              </a:defRPr>
            </a:pPr>
            <a:r>
              <a:t>YoY: +94.0%</a:t>
            </a:r>
          </a:p>
        </p:txBody>
      </p:sp>
      <p:sp>
        <p:nvSpPr>
          <p:cNvPr id="8" name="Rectangle 7"/>
          <p:cNvSpPr/>
          <p:nvPr/>
        </p:nvSpPr>
        <p:spPr>
          <a:xfrm>
            <a:off x="4114800" y="914400"/>
            <a:ext cx="1645920" cy="548640"/>
          </a:xfrm>
          <a:prstGeom prst="rect">
            <a:avLst/>
          </a:prstGeom>
          <a:solidFill>
            <a:srgbClr val="F5F7FA"/>
          </a:solidFill>
          <a:ln w="12700">
            <a:solidFill>
              <a:srgbClr val="DAA52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206240" y="960120"/>
            <a:ext cx="1463040" cy="457200"/>
          </a:xfrm>
          <a:prstGeom prst="rect">
            <a:avLst/>
          </a:prstGeom>
          <a:noFill/>
        </p:spPr>
        <p:txBody>
          <a:bodyPr wrap="none">
            <a:spAutoFit/>
          </a:bodyPr>
          <a:lstStyle/>
          <a:p>
            <a:pPr>
              <a:defRPr sz="1200" b="1">
                <a:solidFill>
                  <a:srgbClr val="DAA520"/>
                </a:solidFill>
              </a:defRPr>
            </a:pPr>
            <a:r>
              <a:t>Share: 22.7%</a:t>
            </a:r>
          </a:p>
        </p:txBody>
      </p:sp>
      <p:sp>
        <p:nvSpPr>
          <p:cNvPr id="10" name="TextBox 9"/>
          <p:cNvSpPr txBox="1"/>
          <p:nvPr/>
        </p:nvSpPr>
        <p:spPr>
          <a:xfrm>
            <a:off x="457200" y="1645920"/>
            <a:ext cx="8229600" cy="365760"/>
          </a:xfrm>
          <a:prstGeom prst="rect">
            <a:avLst/>
          </a:prstGeom>
          <a:noFill/>
        </p:spPr>
        <p:txBody>
          <a:bodyPr wrap="square">
            <a:spAutoFit/>
          </a:bodyPr>
          <a:lstStyle/>
          <a:p>
            <a:pPr>
              <a:defRPr sz="1100">
                <a:solidFill>
                  <a:srgbClr val="323232"/>
                </a:solidFill>
              </a:defRPr>
            </a:pPr>
            <a:r>
              <a:t>Apr: ₹11.55Cr | May: ₹10.19Cr | Jun: ₹9.38Cr | Jul: ₹10.21Cr</a:t>
            </a:r>
          </a:p>
        </p:txBody>
      </p:sp>
      <p:sp>
        <p:nvSpPr>
          <p:cNvPr id="11" name="TextBox 10"/>
          <p:cNvSpPr txBox="1"/>
          <p:nvPr/>
        </p:nvSpPr>
        <p:spPr>
          <a:xfrm>
            <a:off x="457200" y="2194560"/>
            <a:ext cx="4114800" cy="365760"/>
          </a:xfrm>
          <a:prstGeom prst="rect">
            <a:avLst/>
          </a:prstGeom>
          <a:noFill/>
        </p:spPr>
        <p:txBody>
          <a:bodyPr wrap="square">
            <a:spAutoFit/>
          </a:bodyPr>
          <a:lstStyle/>
          <a:p>
            <a:pPr>
              <a:defRPr sz="1100" b="1">
                <a:solidFill>
                  <a:srgbClr val="102542"/>
                </a:solidFill>
              </a:defRPr>
            </a:pPr>
            <a:r>
              <a:t>Top Accounts: DMart NCR/UP (48%) | Reliance Retail (32%) | Spencer's (20%)</a:t>
            </a:r>
          </a:p>
        </p:txBody>
      </p:sp>
      <p:sp>
        <p:nvSpPr>
          <p:cNvPr id="12" name="Rectangle 11"/>
          <p:cNvSpPr/>
          <p:nvPr/>
        </p:nvSpPr>
        <p:spPr>
          <a:xfrm>
            <a:off x="457200" y="2743200"/>
            <a:ext cx="8229600" cy="2560320"/>
          </a:xfrm>
          <a:prstGeom prst="rect">
            <a:avLst/>
          </a:prstGeom>
          <a:solidFill>
            <a:srgbClr val="F0F8FF"/>
          </a:solidFill>
          <a:ln w="25400">
            <a:solidFill>
              <a:srgbClr val="DAA52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2880360"/>
            <a:ext cx="7863840" cy="2286000"/>
          </a:xfrm>
          <a:prstGeom prst="rect">
            <a:avLst/>
          </a:prstGeom>
          <a:noFill/>
        </p:spPr>
        <p:txBody>
          <a:bodyPr wrap="square">
            <a:spAutoFit/>
          </a:bodyPr>
          <a:lstStyle/>
          <a:p>
            <a:pPr>
              <a:defRPr sz="1300" i="1">
                <a:solidFill>
                  <a:srgbClr val="323232"/>
                </a:solidFill>
              </a:defRPr>
            </a:pPr>
            <a:r>
              <a:t>North closed at ₹41.3 Cr (+94.0% YoY). Following summer peaks in Sun Care (Apr–May), volume has successfully pivoted into Face Cleansers and Rosemary Haircare for the monsoon season. We have built an inventory buffer at our Faridabad DC to support new DMart store openings in Tier-2 UP and Punjab.</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731520"/>
          </a:xfrm>
          <a:prstGeom prst="rect">
            <a:avLst/>
          </a:prstGeom>
          <a:solidFill>
            <a:srgbClr val="102542"/>
          </a:solidFill>
          <a:ln>
            <a:solidFill>
              <a:srgbClr val="1025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8229600" cy="457200"/>
          </a:xfrm>
          <a:prstGeom prst="rect">
            <a:avLst/>
          </a:prstGeom>
          <a:noFill/>
        </p:spPr>
        <p:txBody>
          <a:bodyPr wrap="none">
            <a:spAutoFit/>
          </a:bodyPr>
          <a:lstStyle/>
          <a:p>
            <a:pPr>
              <a:defRPr sz="2800" b="1">
                <a:solidFill>
                  <a:srgbClr val="DAA520"/>
                </a:solidFill>
              </a:defRPr>
            </a:pPr>
            <a:r>
              <a:t>5D. South-2 Zone Performance — Regional Retail Chains &amp; Haircare Push</a:t>
            </a:r>
          </a:p>
        </p:txBody>
      </p:sp>
      <p:sp>
        <p:nvSpPr>
          <p:cNvPr id="4" name="Rectangle 3"/>
          <p:cNvSpPr/>
          <p:nvPr/>
        </p:nvSpPr>
        <p:spPr>
          <a:xfrm>
            <a:off x="457200" y="914400"/>
            <a:ext cx="1645920" cy="548640"/>
          </a:xfrm>
          <a:prstGeom prst="rect">
            <a:avLst/>
          </a:prstGeom>
          <a:solidFill>
            <a:srgbClr val="F5F7FA"/>
          </a:solidFill>
          <a:ln w="12700">
            <a:solidFill>
              <a:srgbClr val="1025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960120"/>
            <a:ext cx="1463040" cy="457200"/>
          </a:xfrm>
          <a:prstGeom prst="rect">
            <a:avLst/>
          </a:prstGeom>
          <a:noFill/>
        </p:spPr>
        <p:txBody>
          <a:bodyPr wrap="none">
            <a:spAutoFit/>
          </a:bodyPr>
          <a:lstStyle/>
          <a:p>
            <a:pPr>
              <a:defRPr sz="1200" b="1">
                <a:solidFill>
                  <a:srgbClr val="102542"/>
                </a:solidFill>
              </a:defRPr>
            </a:pPr>
            <a:r>
              <a:t>FYTD: ₹26.88 Cr</a:t>
            </a:r>
          </a:p>
        </p:txBody>
      </p:sp>
      <p:sp>
        <p:nvSpPr>
          <p:cNvPr id="6" name="Rectangle 5"/>
          <p:cNvSpPr/>
          <p:nvPr/>
        </p:nvSpPr>
        <p:spPr>
          <a:xfrm>
            <a:off x="2286000" y="914400"/>
            <a:ext cx="1645920" cy="548640"/>
          </a:xfrm>
          <a:prstGeom prst="rect">
            <a:avLst/>
          </a:prstGeom>
          <a:solidFill>
            <a:srgbClr val="F5F7FA"/>
          </a:solidFill>
          <a:ln w="12700">
            <a:solidFill>
              <a:srgbClr val="2D9B7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377440" y="960120"/>
            <a:ext cx="1463040" cy="457200"/>
          </a:xfrm>
          <a:prstGeom prst="rect">
            <a:avLst/>
          </a:prstGeom>
          <a:noFill/>
        </p:spPr>
        <p:txBody>
          <a:bodyPr wrap="none">
            <a:spAutoFit/>
          </a:bodyPr>
          <a:lstStyle/>
          <a:p>
            <a:pPr>
              <a:defRPr sz="1200" b="1">
                <a:solidFill>
                  <a:srgbClr val="2D9B7F"/>
                </a:solidFill>
              </a:defRPr>
            </a:pPr>
            <a:r>
              <a:t>YoY: +71.8%</a:t>
            </a:r>
          </a:p>
        </p:txBody>
      </p:sp>
      <p:sp>
        <p:nvSpPr>
          <p:cNvPr id="8" name="Rectangle 7"/>
          <p:cNvSpPr/>
          <p:nvPr/>
        </p:nvSpPr>
        <p:spPr>
          <a:xfrm>
            <a:off x="4114800" y="914400"/>
            <a:ext cx="1645920" cy="548640"/>
          </a:xfrm>
          <a:prstGeom prst="rect">
            <a:avLst/>
          </a:prstGeom>
          <a:solidFill>
            <a:srgbClr val="F5F7FA"/>
          </a:solidFill>
          <a:ln w="12700">
            <a:solidFill>
              <a:srgbClr val="DAA52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206240" y="960120"/>
            <a:ext cx="1463040" cy="457200"/>
          </a:xfrm>
          <a:prstGeom prst="rect">
            <a:avLst/>
          </a:prstGeom>
          <a:noFill/>
        </p:spPr>
        <p:txBody>
          <a:bodyPr wrap="none">
            <a:spAutoFit/>
          </a:bodyPr>
          <a:lstStyle/>
          <a:p>
            <a:pPr>
              <a:defRPr sz="1200" b="1">
                <a:solidFill>
                  <a:srgbClr val="DAA520"/>
                </a:solidFill>
              </a:defRPr>
            </a:pPr>
            <a:r>
              <a:t>Share: 14.8%</a:t>
            </a:r>
          </a:p>
        </p:txBody>
      </p:sp>
      <p:sp>
        <p:nvSpPr>
          <p:cNvPr id="10" name="TextBox 9"/>
          <p:cNvSpPr txBox="1"/>
          <p:nvPr/>
        </p:nvSpPr>
        <p:spPr>
          <a:xfrm>
            <a:off x="457200" y="1645920"/>
            <a:ext cx="8229600" cy="365760"/>
          </a:xfrm>
          <a:prstGeom prst="rect">
            <a:avLst/>
          </a:prstGeom>
          <a:noFill/>
        </p:spPr>
        <p:txBody>
          <a:bodyPr wrap="square">
            <a:spAutoFit/>
          </a:bodyPr>
          <a:lstStyle/>
          <a:p>
            <a:pPr>
              <a:defRPr sz="1100">
                <a:solidFill>
                  <a:srgbClr val="323232"/>
                </a:solidFill>
              </a:defRPr>
            </a:pPr>
            <a:r>
              <a:t>Apr: ₹7.42Cr | May: ₹5.77Cr | Jun: ₹6.59Cr | Jul: ₹7.10Cr</a:t>
            </a:r>
          </a:p>
        </p:txBody>
      </p:sp>
      <p:sp>
        <p:nvSpPr>
          <p:cNvPr id="11" name="TextBox 10"/>
          <p:cNvSpPr txBox="1"/>
          <p:nvPr/>
        </p:nvSpPr>
        <p:spPr>
          <a:xfrm>
            <a:off x="457200" y="2194560"/>
            <a:ext cx="4114800" cy="365760"/>
          </a:xfrm>
          <a:prstGeom prst="rect">
            <a:avLst/>
          </a:prstGeom>
          <a:noFill/>
        </p:spPr>
        <p:txBody>
          <a:bodyPr wrap="square">
            <a:spAutoFit/>
          </a:bodyPr>
          <a:lstStyle/>
          <a:p>
            <a:pPr>
              <a:defRPr sz="1100" b="1">
                <a:solidFill>
                  <a:srgbClr val="102542"/>
                </a:solidFill>
              </a:defRPr>
            </a:pPr>
            <a:r>
              <a:t>Top Accounts: Ratnadeep (40%) | Vijetha (30%) | Spencer's (20%) | Reliance (10%)</a:t>
            </a:r>
          </a:p>
        </p:txBody>
      </p:sp>
      <p:sp>
        <p:nvSpPr>
          <p:cNvPr id="12" name="Rectangle 11"/>
          <p:cNvSpPr/>
          <p:nvPr/>
        </p:nvSpPr>
        <p:spPr>
          <a:xfrm>
            <a:off x="457200" y="2743200"/>
            <a:ext cx="8229600" cy="2560320"/>
          </a:xfrm>
          <a:prstGeom prst="rect">
            <a:avLst/>
          </a:prstGeom>
          <a:solidFill>
            <a:srgbClr val="F0F8FF"/>
          </a:solidFill>
          <a:ln w="25400">
            <a:solidFill>
              <a:srgbClr val="DAA52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2880360"/>
            <a:ext cx="7863840" cy="2286000"/>
          </a:xfrm>
          <a:prstGeom prst="rect">
            <a:avLst/>
          </a:prstGeom>
          <a:noFill/>
        </p:spPr>
        <p:txBody>
          <a:bodyPr wrap="square">
            <a:spAutoFit/>
          </a:bodyPr>
          <a:lstStyle/>
          <a:p>
            <a:pPr>
              <a:defRPr sz="1300" i="1">
                <a:solidFill>
                  <a:srgbClr val="323232"/>
                </a:solidFill>
              </a:defRPr>
            </a:pPr>
            <a:r>
              <a:t>South-2 delivered ₹26.9 Cr (+71.8% YoY), anchored by regional supermarket chains like Ratnadeep and Vijetha. Haircare represents over 32% of regional volume. Our core operational priority is streamlining appointment slots at Hyderabad DC to push line fill rates from 86% to above 94%.</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731520"/>
          </a:xfrm>
          <a:prstGeom prst="rect">
            <a:avLst/>
          </a:prstGeom>
          <a:solidFill>
            <a:srgbClr val="102542"/>
          </a:solidFill>
          <a:ln>
            <a:solidFill>
              <a:srgbClr val="1025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8229600" cy="457200"/>
          </a:xfrm>
          <a:prstGeom prst="rect">
            <a:avLst/>
          </a:prstGeom>
          <a:noFill/>
        </p:spPr>
        <p:txBody>
          <a:bodyPr wrap="none">
            <a:spAutoFit/>
          </a:bodyPr>
          <a:lstStyle/>
          <a:p>
            <a:pPr>
              <a:defRPr sz="2800" b="1">
                <a:solidFill>
                  <a:srgbClr val="DAA520"/>
                </a:solidFill>
              </a:defRPr>
            </a:pPr>
            <a:r>
              <a:t>5E. East Zone Performance — Festive Pipeline Seeding &amp; Eastern Corridor Supply Chain SLAs</a:t>
            </a:r>
          </a:p>
        </p:txBody>
      </p:sp>
      <p:sp>
        <p:nvSpPr>
          <p:cNvPr id="4" name="Rectangle 3"/>
          <p:cNvSpPr/>
          <p:nvPr/>
        </p:nvSpPr>
        <p:spPr>
          <a:xfrm>
            <a:off x="457200" y="914400"/>
            <a:ext cx="1645920" cy="548640"/>
          </a:xfrm>
          <a:prstGeom prst="rect">
            <a:avLst/>
          </a:prstGeom>
          <a:solidFill>
            <a:srgbClr val="F5F7FA"/>
          </a:solidFill>
          <a:ln w="12700">
            <a:solidFill>
              <a:srgbClr val="1025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960120"/>
            <a:ext cx="1463040" cy="457200"/>
          </a:xfrm>
          <a:prstGeom prst="rect">
            <a:avLst/>
          </a:prstGeom>
          <a:noFill/>
        </p:spPr>
        <p:txBody>
          <a:bodyPr wrap="none">
            <a:spAutoFit/>
          </a:bodyPr>
          <a:lstStyle/>
          <a:p>
            <a:pPr>
              <a:defRPr sz="1200" b="1">
                <a:solidFill>
                  <a:srgbClr val="102542"/>
                </a:solidFill>
              </a:defRPr>
            </a:pPr>
            <a:r>
              <a:t>FYTD: ₹19.98 Cr</a:t>
            </a:r>
          </a:p>
        </p:txBody>
      </p:sp>
      <p:sp>
        <p:nvSpPr>
          <p:cNvPr id="6" name="Rectangle 5"/>
          <p:cNvSpPr/>
          <p:nvPr/>
        </p:nvSpPr>
        <p:spPr>
          <a:xfrm>
            <a:off x="2286000" y="914400"/>
            <a:ext cx="1645920" cy="548640"/>
          </a:xfrm>
          <a:prstGeom prst="rect">
            <a:avLst/>
          </a:prstGeom>
          <a:solidFill>
            <a:srgbClr val="F5F7FA"/>
          </a:solidFill>
          <a:ln w="12700">
            <a:solidFill>
              <a:srgbClr val="2D9B7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377440" y="960120"/>
            <a:ext cx="1463040" cy="457200"/>
          </a:xfrm>
          <a:prstGeom prst="rect">
            <a:avLst/>
          </a:prstGeom>
          <a:noFill/>
        </p:spPr>
        <p:txBody>
          <a:bodyPr wrap="none">
            <a:spAutoFit/>
          </a:bodyPr>
          <a:lstStyle/>
          <a:p>
            <a:pPr>
              <a:defRPr sz="1200" b="1">
                <a:solidFill>
                  <a:srgbClr val="2D9B7F"/>
                </a:solidFill>
              </a:defRPr>
            </a:pPr>
            <a:r>
              <a:t>YoY: +55.9%</a:t>
            </a:r>
          </a:p>
        </p:txBody>
      </p:sp>
      <p:sp>
        <p:nvSpPr>
          <p:cNvPr id="8" name="Rectangle 7"/>
          <p:cNvSpPr/>
          <p:nvPr/>
        </p:nvSpPr>
        <p:spPr>
          <a:xfrm>
            <a:off x="4114800" y="914400"/>
            <a:ext cx="1645920" cy="548640"/>
          </a:xfrm>
          <a:prstGeom prst="rect">
            <a:avLst/>
          </a:prstGeom>
          <a:solidFill>
            <a:srgbClr val="F5F7FA"/>
          </a:solidFill>
          <a:ln w="12700">
            <a:solidFill>
              <a:srgbClr val="DAA52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206240" y="960120"/>
            <a:ext cx="1463040" cy="457200"/>
          </a:xfrm>
          <a:prstGeom prst="rect">
            <a:avLst/>
          </a:prstGeom>
          <a:noFill/>
        </p:spPr>
        <p:txBody>
          <a:bodyPr wrap="none">
            <a:spAutoFit/>
          </a:bodyPr>
          <a:lstStyle/>
          <a:p>
            <a:pPr>
              <a:defRPr sz="1200" b="1">
                <a:solidFill>
                  <a:srgbClr val="DAA520"/>
                </a:solidFill>
              </a:defRPr>
            </a:pPr>
            <a:r>
              <a:t>Share: 11.0%</a:t>
            </a:r>
          </a:p>
        </p:txBody>
      </p:sp>
      <p:sp>
        <p:nvSpPr>
          <p:cNvPr id="10" name="TextBox 9"/>
          <p:cNvSpPr txBox="1"/>
          <p:nvPr/>
        </p:nvSpPr>
        <p:spPr>
          <a:xfrm>
            <a:off x="457200" y="1645920"/>
            <a:ext cx="8229600" cy="365760"/>
          </a:xfrm>
          <a:prstGeom prst="rect">
            <a:avLst/>
          </a:prstGeom>
          <a:noFill/>
        </p:spPr>
        <p:txBody>
          <a:bodyPr wrap="square">
            <a:spAutoFit/>
          </a:bodyPr>
          <a:lstStyle/>
          <a:p>
            <a:pPr>
              <a:defRPr sz="1100">
                <a:solidFill>
                  <a:srgbClr val="323232"/>
                </a:solidFill>
              </a:defRPr>
            </a:pPr>
            <a:r>
              <a:t>Apr: ₹5.76Cr | May: ₹5.28Cr | Jun: ₹4.28Cr | Jul: ₹4.65Cr</a:t>
            </a:r>
          </a:p>
        </p:txBody>
      </p:sp>
      <p:sp>
        <p:nvSpPr>
          <p:cNvPr id="11" name="TextBox 10"/>
          <p:cNvSpPr txBox="1"/>
          <p:nvPr/>
        </p:nvSpPr>
        <p:spPr>
          <a:xfrm>
            <a:off x="457200" y="2194560"/>
            <a:ext cx="4114800" cy="365760"/>
          </a:xfrm>
          <a:prstGeom prst="rect">
            <a:avLst/>
          </a:prstGeom>
          <a:noFill/>
        </p:spPr>
        <p:txBody>
          <a:bodyPr wrap="square">
            <a:spAutoFit/>
          </a:bodyPr>
          <a:lstStyle/>
          <a:p>
            <a:pPr>
              <a:defRPr sz="1100" b="1">
                <a:solidFill>
                  <a:srgbClr val="102542"/>
                </a:solidFill>
              </a:defRPr>
            </a:pPr>
            <a:r>
              <a:t>Top Accounts: Spencer's Kolkata (50%) | Reliance Super (30%) | More Retail (20%)</a:t>
            </a:r>
          </a:p>
        </p:txBody>
      </p:sp>
      <p:sp>
        <p:nvSpPr>
          <p:cNvPr id="12" name="Rectangle 11"/>
          <p:cNvSpPr/>
          <p:nvPr/>
        </p:nvSpPr>
        <p:spPr>
          <a:xfrm>
            <a:off x="457200" y="2743200"/>
            <a:ext cx="8229600" cy="2560320"/>
          </a:xfrm>
          <a:prstGeom prst="rect">
            <a:avLst/>
          </a:prstGeom>
          <a:solidFill>
            <a:srgbClr val="F0F8FF"/>
          </a:solidFill>
          <a:ln w="25400">
            <a:solidFill>
              <a:srgbClr val="DAA52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2880360"/>
            <a:ext cx="7863840" cy="2286000"/>
          </a:xfrm>
          <a:prstGeom prst="rect">
            <a:avLst/>
          </a:prstGeom>
          <a:noFill/>
        </p:spPr>
        <p:txBody>
          <a:bodyPr wrap="square">
            <a:spAutoFit/>
          </a:bodyPr>
          <a:lstStyle/>
          <a:p>
            <a:pPr>
              <a:defRPr sz="1300" i="1">
                <a:solidFill>
                  <a:srgbClr val="323232"/>
                </a:solidFill>
              </a:defRPr>
            </a:pPr>
            <a:r>
              <a:t>East achieved ₹20.0 Cr (+55.9% YoY). To capture peak festive demand for Durga Puja, we have added a 4-day transit lead-time buffer at Kolkata logistics hubs and initiated early August dispatches for hero BBLUNT and Mamaearth gift packs.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731520"/>
          </a:xfrm>
          <a:prstGeom prst="rect">
            <a:avLst/>
          </a:prstGeom>
          <a:solidFill>
            <a:srgbClr val="102542"/>
          </a:solidFill>
          <a:ln>
            <a:solidFill>
              <a:srgbClr val="1025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8229600" cy="457200"/>
          </a:xfrm>
          <a:prstGeom prst="rect">
            <a:avLst/>
          </a:prstGeom>
          <a:noFill/>
        </p:spPr>
        <p:txBody>
          <a:bodyPr wrap="none">
            <a:spAutoFit/>
          </a:bodyPr>
          <a:lstStyle/>
          <a:p>
            <a:pPr>
              <a:defRPr sz="2800" b="1">
                <a:solidFill>
                  <a:srgbClr val="DAA520"/>
                </a:solidFill>
              </a:defRPr>
            </a:pPr>
            <a:r>
              <a:t>5F. Central Zone Performance — Standalone Modern Trade Scale &amp; Flagship Door Growth</a:t>
            </a:r>
          </a:p>
        </p:txBody>
      </p:sp>
      <p:sp>
        <p:nvSpPr>
          <p:cNvPr id="4" name="Rectangle 3"/>
          <p:cNvSpPr/>
          <p:nvPr/>
        </p:nvSpPr>
        <p:spPr>
          <a:xfrm>
            <a:off x="457200" y="914400"/>
            <a:ext cx="1645920" cy="548640"/>
          </a:xfrm>
          <a:prstGeom prst="rect">
            <a:avLst/>
          </a:prstGeom>
          <a:solidFill>
            <a:srgbClr val="F5F7FA"/>
          </a:solidFill>
          <a:ln w="12700">
            <a:solidFill>
              <a:srgbClr val="1025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960120"/>
            <a:ext cx="1463040" cy="457200"/>
          </a:xfrm>
          <a:prstGeom prst="rect">
            <a:avLst/>
          </a:prstGeom>
          <a:noFill/>
        </p:spPr>
        <p:txBody>
          <a:bodyPr wrap="none">
            <a:spAutoFit/>
          </a:bodyPr>
          <a:lstStyle/>
          <a:p>
            <a:pPr>
              <a:defRPr sz="1200" b="1">
                <a:solidFill>
                  <a:srgbClr val="102542"/>
                </a:solidFill>
              </a:defRPr>
            </a:pPr>
            <a:r>
              <a:t>FYTD: ₹12.23 Cr</a:t>
            </a:r>
          </a:p>
        </p:txBody>
      </p:sp>
      <p:sp>
        <p:nvSpPr>
          <p:cNvPr id="6" name="Rectangle 5"/>
          <p:cNvSpPr/>
          <p:nvPr/>
        </p:nvSpPr>
        <p:spPr>
          <a:xfrm>
            <a:off x="2286000" y="914400"/>
            <a:ext cx="1645920" cy="548640"/>
          </a:xfrm>
          <a:prstGeom prst="rect">
            <a:avLst/>
          </a:prstGeom>
          <a:solidFill>
            <a:srgbClr val="F5F7FA"/>
          </a:solidFill>
          <a:ln w="12700">
            <a:solidFill>
              <a:srgbClr val="2D9B7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377440" y="960120"/>
            <a:ext cx="1463040" cy="457200"/>
          </a:xfrm>
          <a:prstGeom prst="rect">
            <a:avLst/>
          </a:prstGeom>
          <a:noFill/>
        </p:spPr>
        <p:txBody>
          <a:bodyPr wrap="none">
            <a:spAutoFit/>
          </a:bodyPr>
          <a:lstStyle/>
          <a:p>
            <a:pPr>
              <a:defRPr sz="1200" b="1">
                <a:solidFill>
                  <a:srgbClr val="2D9B7F"/>
                </a:solidFill>
              </a:defRPr>
            </a:pPr>
            <a:r>
              <a:t>YoY: +108.5%</a:t>
            </a:r>
          </a:p>
        </p:txBody>
      </p:sp>
      <p:sp>
        <p:nvSpPr>
          <p:cNvPr id="8" name="Rectangle 7"/>
          <p:cNvSpPr/>
          <p:nvPr/>
        </p:nvSpPr>
        <p:spPr>
          <a:xfrm>
            <a:off x="4114800" y="914400"/>
            <a:ext cx="1645920" cy="548640"/>
          </a:xfrm>
          <a:prstGeom prst="rect">
            <a:avLst/>
          </a:prstGeom>
          <a:solidFill>
            <a:srgbClr val="F5F7FA"/>
          </a:solidFill>
          <a:ln w="12700">
            <a:solidFill>
              <a:srgbClr val="DAA52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206240" y="960120"/>
            <a:ext cx="1463040" cy="457200"/>
          </a:xfrm>
          <a:prstGeom prst="rect">
            <a:avLst/>
          </a:prstGeom>
          <a:noFill/>
        </p:spPr>
        <p:txBody>
          <a:bodyPr wrap="none">
            <a:spAutoFit/>
          </a:bodyPr>
          <a:lstStyle/>
          <a:p>
            <a:pPr>
              <a:defRPr sz="1200" b="1">
                <a:solidFill>
                  <a:srgbClr val="DAA520"/>
                </a:solidFill>
              </a:defRPr>
            </a:pPr>
            <a:r>
              <a:t>Share: 6.7%</a:t>
            </a:r>
          </a:p>
        </p:txBody>
      </p:sp>
      <p:sp>
        <p:nvSpPr>
          <p:cNvPr id="10" name="TextBox 9"/>
          <p:cNvSpPr txBox="1"/>
          <p:nvPr/>
        </p:nvSpPr>
        <p:spPr>
          <a:xfrm>
            <a:off x="457200" y="1645920"/>
            <a:ext cx="8229600" cy="365760"/>
          </a:xfrm>
          <a:prstGeom prst="rect">
            <a:avLst/>
          </a:prstGeom>
          <a:noFill/>
        </p:spPr>
        <p:txBody>
          <a:bodyPr wrap="square">
            <a:spAutoFit/>
          </a:bodyPr>
          <a:lstStyle/>
          <a:p>
            <a:pPr>
              <a:defRPr sz="1100">
                <a:solidFill>
                  <a:srgbClr val="323232"/>
                </a:solidFill>
              </a:defRPr>
            </a:pPr>
            <a:r>
              <a:t>Apr: ₹3.25Cr | May: ₹2.95Cr | Jun: ₹2.88Cr | Jul: ₹3.15Cr</a:t>
            </a:r>
          </a:p>
        </p:txBody>
      </p:sp>
      <p:sp>
        <p:nvSpPr>
          <p:cNvPr id="11" name="TextBox 10"/>
          <p:cNvSpPr txBox="1"/>
          <p:nvPr/>
        </p:nvSpPr>
        <p:spPr>
          <a:xfrm>
            <a:off x="457200" y="2194560"/>
            <a:ext cx="4114800" cy="365760"/>
          </a:xfrm>
          <a:prstGeom prst="rect">
            <a:avLst/>
          </a:prstGeom>
          <a:noFill/>
        </p:spPr>
        <p:txBody>
          <a:bodyPr wrap="square">
            <a:spAutoFit/>
          </a:bodyPr>
          <a:lstStyle/>
          <a:p>
            <a:pPr>
              <a:defRPr sz="1100" b="1">
                <a:solidFill>
                  <a:srgbClr val="102542"/>
                </a:solidFill>
              </a:defRPr>
            </a:pPr>
            <a:r>
              <a:t>Top Accounts: Wellness Forever (50%) | Standalone Supermarkets (40%) | Pharmacies (10%)</a:t>
            </a:r>
          </a:p>
        </p:txBody>
      </p:sp>
      <p:sp>
        <p:nvSpPr>
          <p:cNvPr id="12" name="Rectangle 11"/>
          <p:cNvSpPr/>
          <p:nvPr/>
        </p:nvSpPr>
        <p:spPr>
          <a:xfrm>
            <a:off x="457200" y="2743200"/>
            <a:ext cx="8229600" cy="2560320"/>
          </a:xfrm>
          <a:prstGeom prst="rect">
            <a:avLst/>
          </a:prstGeom>
          <a:solidFill>
            <a:srgbClr val="F0F8FF"/>
          </a:solidFill>
          <a:ln w="25400">
            <a:solidFill>
              <a:srgbClr val="DAA52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2880360"/>
            <a:ext cx="7863840" cy="2286000"/>
          </a:xfrm>
          <a:prstGeom prst="rect">
            <a:avLst/>
          </a:prstGeom>
          <a:noFill/>
        </p:spPr>
        <p:txBody>
          <a:bodyPr wrap="square">
            <a:spAutoFit/>
          </a:bodyPr>
          <a:lstStyle/>
          <a:p>
            <a:pPr>
              <a:defRPr sz="1300" i="1">
                <a:solidFill>
                  <a:srgbClr val="323232"/>
                </a:solidFill>
              </a:defRPr>
            </a:pPr>
            <a:r>
              <a:t>Central cluster has emerged as a high-margin growth hub (+108.5% YoY to ₹12.2 Cr). Standalone modern trade accounts and pharmacy chains in Nagpur and Raipur show repeat consumer pull for baby care and Ubtan cleansers, delivering strong secondary offtake with minimal trade spend.</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731520"/>
          </a:xfrm>
          <a:prstGeom prst="rect">
            <a:avLst/>
          </a:prstGeom>
          <a:solidFill>
            <a:srgbClr val="102542"/>
          </a:solidFill>
          <a:ln>
            <a:solidFill>
              <a:srgbClr val="1025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8229600" cy="457200"/>
          </a:xfrm>
          <a:prstGeom prst="rect">
            <a:avLst/>
          </a:prstGeom>
          <a:noFill/>
        </p:spPr>
        <p:txBody>
          <a:bodyPr wrap="none">
            <a:spAutoFit/>
          </a:bodyPr>
          <a:lstStyle/>
          <a:p>
            <a:pPr>
              <a:defRPr sz="2800" b="1">
                <a:solidFill>
                  <a:srgbClr val="DAA520"/>
                </a:solidFill>
              </a:defRPr>
            </a:pPr>
            <a:r>
              <a:t>5G. Quick-Commerce &amp; Institutional Hub — Dark Store Replenishment &amp; Instant Fill Rates</a:t>
            </a:r>
          </a:p>
        </p:txBody>
      </p:sp>
      <p:sp>
        <p:nvSpPr>
          <p:cNvPr id="4" name="Rectangle 3"/>
          <p:cNvSpPr/>
          <p:nvPr/>
        </p:nvSpPr>
        <p:spPr>
          <a:xfrm>
            <a:off x="457200" y="914400"/>
            <a:ext cx="1645920" cy="548640"/>
          </a:xfrm>
          <a:prstGeom prst="rect">
            <a:avLst/>
          </a:prstGeom>
          <a:solidFill>
            <a:srgbClr val="F5F7FA"/>
          </a:solidFill>
          <a:ln w="12700">
            <a:solidFill>
              <a:srgbClr val="1025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960120"/>
            <a:ext cx="1463040" cy="457200"/>
          </a:xfrm>
          <a:prstGeom prst="rect">
            <a:avLst/>
          </a:prstGeom>
          <a:noFill/>
        </p:spPr>
        <p:txBody>
          <a:bodyPr wrap="none">
            <a:spAutoFit/>
          </a:bodyPr>
          <a:lstStyle/>
          <a:p>
            <a:pPr>
              <a:defRPr sz="1200" b="1">
                <a:solidFill>
                  <a:srgbClr val="102542"/>
                </a:solidFill>
              </a:defRPr>
            </a:pPr>
            <a:r>
              <a:t>FYTD: ₹16.65 Cr</a:t>
            </a:r>
          </a:p>
        </p:txBody>
      </p:sp>
      <p:sp>
        <p:nvSpPr>
          <p:cNvPr id="6" name="Rectangle 5"/>
          <p:cNvSpPr/>
          <p:nvPr/>
        </p:nvSpPr>
        <p:spPr>
          <a:xfrm>
            <a:off x="2286000" y="914400"/>
            <a:ext cx="1645920" cy="548640"/>
          </a:xfrm>
          <a:prstGeom prst="rect">
            <a:avLst/>
          </a:prstGeom>
          <a:solidFill>
            <a:srgbClr val="F5F7FA"/>
          </a:solidFill>
          <a:ln w="12700">
            <a:solidFill>
              <a:srgbClr val="2D9B7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377440" y="960120"/>
            <a:ext cx="1463040" cy="457200"/>
          </a:xfrm>
          <a:prstGeom prst="rect">
            <a:avLst/>
          </a:prstGeom>
          <a:noFill/>
        </p:spPr>
        <p:txBody>
          <a:bodyPr wrap="none">
            <a:spAutoFit/>
          </a:bodyPr>
          <a:lstStyle/>
          <a:p>
            <a:pPr>
              <a:defRPr sz="1200" b="1">
                <a:solidFill>
                  <a:srgbClr val="2D9B7F"/>
                </a:solidFill>
              </a:defRPr>
            </a:pPr>
            <a:r>
              <a:t>YoY: +142.0%</a:t>
            </a:r>
          </a:p>
        </p:txBody>
      </p:sp>
      <p:sp>
        <p:nvSpPr>
          <p:cNvPr id="8" name="Rectangle 7"/>
          <p:cNvSpPr/>
          <p:nvPr/>
        </p:nvSpPr>
        <p:spPr>
          <a:xfrm>
            <a:off x="4114800" y="914400"/>
            <a:ext cx="1645920" cy="548640"/>
          </a:xfrm>
          <a:prstGeom prst="rect">
            <a:avLst/>
          </a:prstGeom>
          <a:solidFill>
            <a:srgbClr val="F5F7FA"/>
          </a:solidFill>
          <a:ln w="12700">
            <a:solidFill>
              <a:srgbClr val="DAA52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206240" y="960120"/>
            <a:ext cx="1463040" cy="457200"/>
          </a:xfrm>
          <a:prstGeom prst="rect">
            <a:avLst/>
          </a:prstGeom>
          <a:noFill/>
        </p:spPr>
        <p:txBody>
          <a:bodyPr wrap="none">
            <a:spAutoFit/>
          </a:bodyPr>
          <a:lstStyle/>
          <a:p>
            <a:pPr>
              <a:defRPr sz="1200" b="1">
                <a:solidFill>
                  <a:srgbClr val="DAA520"/>
                </a:solidFill>
              </a:defRPr>
            </a:pPr>
            <a:r>
              <a:t>Share: 9.1%</a:t>
            </a:r>
          </a:p>
        </p:txBody>
      </p:sp>
      <p:sp>
        <p:nvSpPr>
          <p:cNvPr id="10" name="TextBox 9"/>
          <p:cNvSpPr txBox="1"/>
          <p:nvPr/>
        </p:nvSpPr>
        <p:spPr>
          <a:xfrm>
            <a:off x="457200" y="1645920"/>
            <a:ext cx="8229600" cy="365760"/>
          </a:xfrm>
          <a:prstGeom prst="rect">
            <a:avLst/>
          </a:prstGeom>
          <a:noFill/>
        </p:spPr>
        <p:txBody>
          <a:bodyPr wrap="square">
            <a:spAutoFit/>
          </a:bodyPr>
          <a:lstStyle/>
          <a:p>
            <a:pPr>
              <a:defRPr sz="1100">
                <a:solidFill>
                  <a:srgbClr val="323232"/>
                </a:solidFill>
              </a:defRPr>
            </a:pPr>
            <a:r>
              <a:t>Apr: ₹4.20Cr | May: ₹4.10Cr | Jun: ₹3.90Cr | Jul: ₹4.45Cr</a:t>
            </a:r>
          </a:p>
        </p:txBody>
      </p:sp>
      <p:sp>
        <p:nvSpPr>
          <p:cNvPr id="11" name="TextBox 10"/>
          <p:cNvSpPr txBox="1"/>
          <p:nvPr/>
        </p:nvSpPr>
        <p:spPr>
          <a:xfrm>
            <a:off x="457200" y="2194560"/>
            <a:ext cx="4114800" cy="365760"/>
          </a:xfrm>
          <a:prstGeom prst="rect">
            <a:avLst/>
          </a:prstGeom>
          <a:noFill/>
        </p:spPr>
        <p:txBody>
          <a:bodyPr wrap="square">
            <a:spAutoFit/>
          </a:bodyPr>
          <a:lstStyle/>
          <a:p>
            <a:pPr>
              <a:defRPr sz="1100" b="1">
                <a:solidFill>
                  <a:srgbClr val="102542"/>
                </a:solidFill>
              </a:defRPr>
            </a:pPr>
            <a:r>
              <a:t>Top Accounts: Blinkit (40%) | Zepto (35%) | Instamart (25%)</a:t>
            </a:r>
          </a:p>
        </p:txBody>
      </p:sp>
      <p:sp>
        <p:nvSpPr>
          <p:cNvPr id="12" name="Rectangle 11"/>
          <p:cNvSpPr/>
          <p:nvPr/>
        </p:nvSpPr>
        <p:spPr>
          <a:xfrm>
            <a:off x="457200" y="2743200"/>
            <a:ext cx="8229600" cy="2560320"/>
          </a:xfrm>
          <a:prstGeom prst="rect">
            <a:avLst/>
          </a:prstGeom>
          <a:solidFill>
            <a:srgbClr val="F0F8FF"/>
          </a:solidFill>
          <a:ln w="25400">
            <a:solidFill>
              <a:srgbClr val="DAA52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2880360"/>
            <a:ext cx="7863840" cy="2286000"/>
          </a:xfrm>
          <a:prstGeom prst="rect">
            <a:avLst/>
          </a:prstGeom>
          <a:noFill/>
        </p:spPr>
        <p:txBody>
          <a:bodyPr wrap="square">
            <a:spAutoFit/>
          </a:bodyPr>
          <a:lstStyle/>
          <a:p>
            <a:pPr>
              <a:defRPr sz="1300" i="1">
                <a:solidFill>
                  <a:srgbClr val="323232"/>
                </a:solidFill>
              </a:defRPr>
            </a:pPr>
            <a:r>
              <a:t>Our dedicated Quick-Commerce and institutional pipeline scaled to ₹16.7 Cr (+142% YoY). With dark-store inventory turns operating at 18x per month, maintaining 98%+ On-Shelf Availability on top 30 hero SKUs is critical to preventing immediate basket abandonment.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731520"/>
          </a:xfrm>
          <a:prstGeom prst="rect">
            <a:avLst/>
          </a:prstGeom>
          <a:solidFill>
            <a:srgbClr val="102542"/>
          </a:solidFill>
          <a:ln>
            <a:solidFill>
              <a:srgbClr val="1025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8229600" cy="457200"/>
          </a:xfrm>
          <a:prstGeom prst="rect">
            <a:avLst/>
          </a:prstGeom>
          <a:noFill/>
        </p:spPr>
        <p:txBody>
          <a:bodyPr wrap="none">
            <a:spAutoFit/>
          </a:bodyPr>
          <a:lstStyle/>
          <a:p>
            <a:pPr>
              <a:defRPr sz="2800" b="1">
                <a:solidFill>
                  <a:srgbClr val="DAA520"/>
                </a:solidFill>
              </a:defRPr>
            </a:pPr>
            <a:r>
              <a:t>13. Supply Chain &amp; PO SLA Risk Digest</a:t>
            </a:r>
          </a:p>
        </p:txBody>
      </p:sp>
      <p:sp>
        <p:nvSpPr>
          <p:cNvPr id="4" name="TextBox 3"/>
          <p:cNvSpPr txBox="1"/>
          <p:nvPr/>
        </p:nvSpPr>
        <p:spPr>
          <a:xfrm>
            <a:off x="457200" y="1097280"/>
            <a:ext cx="8229600" cy="5029200"/>
          </a:xfrm>
          <a:prstGeom prst="rect">
            <a:avLst/>
          </a:prstGeom>
          <a:noFill/>
        </p:spPr>
        <p:txBody>
          <a:bodyPr wrap="square">
            <a:spAutoFit/>
          </a:bodyPr>
          <a:lstStyle/>
          <a:p>
            <a:pPr>
              <a:defRPr sz="1050">
                <a:solidFill>
                  <a:srgbClr val="323232"/>
                </a:solidFill>
              </a:defRPr>
            </a:pPr>
            <a:r>
              <a:t>PO SLA PERFORMANCE (Open Orders ≥5 days, Breach Risk):</a:t>
            </a:r>
            <a:br/>
            <a:r>
              <a:t>┌────────────────────────────────────────────────────────────────┐</a:t>
            </a:r>
            <a:br/>
            <a:r>
              <a:t>│ Zone         │ Open POs │ Breach Risk │ DC Fill Rate │ Action   │</a:t>
            </a:r>
            <a:br/>
            <a:r>
              <a:t>├────────────────────────────────────────────────────────────────┤</a:t>
            </a:r>
            <a:br/>
            <a:r>
              <a:t>│ West         │ 12       │ 1 order     │ 92.1%        │ Monitor  │</a:t>
            </a:r>
            <a:br/>
            <a:r>
              <a:t>│ South-1      │ 8        │ 0 orders    │ 94.5%        │ On-track │</a:t>
            </a:r>
            <a:br/>
            <a:r>
              <a:t>│ North        │ 10       │ 1 order     │ 88.9%        │ Escalate │</a:t>
            </a:r>
            <a:br/>
            <a:r>
              <a:t>│ South-2      │ 7        │ 1 order     │ 86.3%        │ Escalate │</a:t>
            </a:r>
            <a:br/>
            <a:r>
              <a:t>│ East         │ 4        │ 0 orders    │ 91.2%        │ On-track │</a:t>
            </a:r>
            <a:br/>
            <a:r>
              <a:t>│ Central      │ 3        │ 0 orders    │ 89.7%        │ On-track │</a:t>
            </a:r>
            <a:br/>
            <a:r>
              <a:t>│ QC/Instit.   │ 6        │ 0 orders    │ 98.0%        │ Optimal  │</a:t>
            </a:r>
            <a:br/>
            <a:r>
              <a:t>└────────────────────────────────────────────────────────────────┘</a:t>
            </a:r>
            <a:br/>
            <a:br/>
            <a:r>
              <a:t>FORECAST BIAS (WMAPE):</a:t>
            </a:r>
            <a:br/>
            <a:r>
              <a:t>• FY26 Baseline: 18.2% WMAPE</a:t>
            </a:r>
            <a:br/>
            <a:r>
              <a:t>• Current Month (Jul): 12.4% WMAPE (improved 32% vs. baseline)</a:t>
            </a:r>
            <a:br/>
            <a:r>
              <a:t>• Target (Aug): &lt;10% WMAPE (festival pre-stocking precision)</a:t>
            </a:r>
            <a:br/>
            <a:br/>
            <a:r>
              <a:t>OPERATIONAL PRIORITIES:</a:t>
            </a:r>
            <a:br/>
            <a:r>
              <a:t>1. North &amp; South-2 Zones: Reduce DC appointment slot cycle to &lt;36 hours (currently 48–60h)</a:t>
            </a:r>
            <a:br/>
            <a:r>
              <a:t>2. Inventory Position: Build 8–10 days buffer stock pre-Diwali (Sept 15 EOD deadline)</a:t>
            </a:r>
            <a:br/>
            <a:r>
              <a:t>3. Forecast Accuracy: Implement daily POS-linked replenishment (QC hub model proven at 98% fill)</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9144000" cy="731520"/>
          </a:xfrm>
          <a:prstGeom prst="rect">
            <a:avLst/>
          </a:prstGeom>
          <a:solidFill>
            <a:srgbClr val="102542"/>
          </a:solidFill>
          <a:ln>
            <a:solidFill>
              <a:srgbClr val="1025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8229600" cy="457200"/>
          </a:xfrm>
          <a:prstGeom prst="rect">
            <a:avLst/>
          </a:prstGeom>
          <a:noFill/>
        </p:spPr>
        <p:txBody>
          <a:bodyPr wrap="none">
            <a:spAutoFit/>
          </a:bodyPr>
          <a:lstStyle/>
          <a:p>
            <a:pPr>
              <a:defRPr sz="2800" b="1">
                <a:solidFill>
                  <a:srgbClr val="DAA520"/>
                </a:solidFill>
              </a:defRPr>
            </a:pPr>
            <a:r>
              <a:t>14. Strategic Priorities &amp; Joint Business Plan (JBP)</a:t>
            </a:r>
          </a:p>
        </p:txBody>
      </p:sp>
      <p:sp>
        <p:nvSpPr>
          <p:cNvPr id="4" name="TextBox 3"/>
          <p:cNvSpPr txBox="1"/>
          <p:nvPr/>
        </p:nvSpPr>
        <p:spPr>
          <a:xfrm>
            <a:off x="457200" y="1097280"/>
            <a:ext cx="8229600" cy="5029200"/>
          </a:xfrm>
          <a:prstGeom prst="rect">
            <a:avLst/>
          </a:prstGeom>
          <a:noFill/>
        </p:spPr>
        <p:txBody>
          <a:bodyPr wrap="square">
            <a:spAutoFit/>
          </a:bodyPr>
          <a:lstStyle/>
          <a:p>
            <a:pPr>
              <a:defRPr sz="1000">
                <a:solidFill>
                  <a:srgbClr val="323232"/>
                </a:solidFill>
              </a:defRPr>
            </a:pPr>
            <a:r>
              <a:t>Q2/Q3 COMMERCIAL PLAYBOOK:</a:t>
            </a:r>
            <a:br/>
            <a:br/>
            <a:r>
              <a:t>VOLUME TARGETS:</a:t>
            </a:r>
            <a:br/>
            <a:r>
              <a:t>• Aug: ₹62.1 Cr Primary (Festival pre-load +18% vs. Jul)</a:t>
            </a:r>
            <a:br/>
            <a:r>
              <a:t>• Sept: ₹58.4 Cr Primary (Post-peak normalization)</a:t>
            </a:r>
            <a:br/>
            <a:r>
              <a:t>• Q3 TOTAL: ₹185.2 Cr (+110% YoY vs. Q3 FY26)</a:t>
            </a:r>
            <a:br/>
            <a:br/>
            <a:r>
              <a:t>ACCOUNT STRATEGY:</a:t>
            </a:r>
            <a:br/>
            <a:r>
              <a:t>┌─ DMart: Tier-2 store ramp (Aug +45 new doors) → Dedicate 3 BAs for appointment optimization</a:t>
            </a:r>
            <a:br/>
            <a:r>
              <a:t>├─ Reliance: Omni-channel growth → Launch co-ops in Modern Stores (6 zones, 120+ doors)</a:t>
            </a:r>
            <a:br/>
            <a:r>
              <a:t>├─ Apollo: Pharmacy chain penetration → SPA category pricing for active serums</a:t>
            </a:r>
            <a:br/>
            <a:r>
              <a:t>├─ Spencer's: Regional cluster dominance → Mamaearth gifting tie-ups (Diwali launch)</a:t>
            </a:r>
            <a:br/>
            <a:r>
              <a:t>└─ QC Partners: Dark store velocity → Maintain 98% OSA on 30 core SKUs</a:t>
            </a:r>
            <a:br/>
            <a:br/>
            <a:r>
              <a:t>TRADE INVESTMENT &amp; MARGIN DEFENSE:</a:t>
            </a:r>
            <a:br/>
            <a:r>
              <a:t>• Promotional Cadence: 2-week cycles (down from 3-week, improve velocity turnover)</a:t>
            </a:r>
            <a:br/>
            <a:r>
              <a:t>• Demo Budget: ₹2.1 Cr allocated (32% increase YoY) → Fund 240 in-store demos Q3</a:t>
            </a:r>
            <a:br/>
            <a:r>
              <a:t>• Margin Defense: Maintain 28–30% Gross Margin despite +12% volume (productivity gains offset)</a:t>
            </a:r>
            <a:br/>
            <a:br/>
            <a:r>
              <a:t>RISK MITIGATION:</a:t>
            </a:r>
            <a:br/>
            <a:r>
              <a:t>✓ Monsoon Logistics Buffer: 4-day transit buffer implemented for Eastern corridor (Jul 15)</a:t>
            </a:r>
            <a:br/>
            <a:r>
              <a:t>✓ Inventory Hedge: Build 10-day safety stock pre-Diwali (Sep 1) across all DCs</a:t>
            </a:r>
            <a:br/>
            <a:r>
              <a:t>✓ Talent Retention: BA retention program (additional ₹85L bonus pool, Q3–Q4)</a:t>
            </a:r>
            <a:br/>
            <a:r>
              <a:t>✓ Competitive Vigilance: Weekly pricing surveillance vs. competitors (Mamaearth + Deciem positioning)</a:t>
            </a:r>
            <a:br/>
            <a:br/>
            <a:r>
              <a:t>MEASUREMENT &amp; CADENCE:</a:t>
            </a:r>
            <a:br/>
            <a:r>
              <a:t>• Weekly Primary + Secondary Tracker (Offtake POS)</a:t>
            </a:r>
            <a:br/>
            <a:r>
              <a:t>• Bi-weekly Account Scorecards (DMart, Reliance, Apollo, Spencer's)</a:t>
            </a:r>
            <a:br/>
            <a:r>
              <a:t>• Monthly Commercial Steering Calls (Zone Commercial leads + Regional MDs)</a:t>
            </a:r>
            <a:br/>
            <a:br/>
            <a:r>
              <a:t>Next Review: August 15, 2026 | Steering Committee | Regional Office, Mumbai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