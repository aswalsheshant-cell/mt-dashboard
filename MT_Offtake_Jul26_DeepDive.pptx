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 Offtake (₹ Cr)</c:v>
                </c:pt>
              </c:strCache>
            </c:strRef>
          </c:tx>
          <c:spPr>
            <a:solidFill>
              <a:srgbClr val="1A34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345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89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1E3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Apr-26</c:v>
                  </c:pt>
                  <c:pt idx="1">
                    <c:v>May-26</c:v>
                  </c:pt>
                  <c:pt idx="2">
                    <c:v>Jun-26</c:v>
                  </c:pt>
                  <c:pt idx="3">
                    <c:v>Jul-26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35.89</c:v>
                </c:pt>
                <c:pt idx="1">
                  <c:v>40.19</c:v>
                </c:pt>
                <c:pt idx="2">
                  <c:v>38.4</c:v>
                </c:pt>
                <c:pt idx="3">
                  <c:v>36.06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B"/>
        </a:solidFill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eB2B Offtake</c:v>
                </c:pt>
              </c:strCache>
            </c:strRef>
          </c:tx>
          <c:spPr>
            <a:solidFill>
              <a:srgbClr val="1B7A6E"/>
            </a:solidFill>
            <a:ln w="31750" cap="flat">
              <a:solidFill>
                <a:srgbClr val="1B7A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7A6E"/>
              </a:solidFill>
              <a:ln w="9525" cap="flat">
                <a:solidFill>
                  <a:srgbClr val="1B7A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1.64</c:v>
                </c:pt>
                <c:pt idx="1">
                  <c:v>1.68</c:v>
                </c:pt>
                <c:pt idx="2">
                  <c:v>1.73</c:v>
                </c:pt>
                <c:pt idx="3">
                  <c:v>2.29</c:v>
                </c:pt>
                <c:pt idx="4">
                  <c:v>2.08</c:v>
                </c:pt>
                <c:pt idx="5">
                  <c:v>2.17</c:v>
                </c:pt>
                <c:pt idx="6">
                  <c:v>2.07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B"/>
        </a:solidFill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share (%)</c:v>
                </c:pt>
              </c:strCache>
            </c:strRef>
          </c:tx>
          <c:spPr>
            <a:solidFill>
              <a:srgbClr val="8A9B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B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B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9B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9A1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Himalaya</c:v>
                  </c:pt>
                  <c:pt idx="1">
                    <c:v>Garnier</c:v>
                  </c:pt>
                  <c:pt idx="2">
                    <c:v>Pond's</c:v>
                  </c:pt>
                  <c:pt idx="3">
                    <c:v>Mamaearth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22.6</c:v>
                </c:pt>
                <c:pt idx="1">
                  <c:v>14.2</c:v>
                </c:pt>
                <c:pt idx="2">
                  <c:v>13.8</c:v>
                </c:pt>
                <c:pt idx="3">
                  <c:v>10.5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3459"/>
        </a:solidFill>
        <a:ln>
          <a:noFill/>
        </a:ln>
        <a:effectLst/>
      </c:spPr>
    </c:plotArea>
    <c:plotVisOnly val="1"/>
    <c:dispBlanksAs val="span"/>
  </c:chart>
  <c:spPr>
    <a:solidFill>
      <a:srgbClr val="1A345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share (%)</c:v>
                </c:pt>
              </c:strCache>
            </c:strRef>
          </c:tx>
          <c:spPr>
            <a:solidFill>
              <a:srgbClr val="8A9B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B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B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7A6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Dove</c:v>
                  </c:pt>
                  <c:pt idx="1">
                    <c:v>H&amp;S</c:v>
                  </c:pt>
                  <c:pt idx="2">
                    <c:v>Mamaearth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16.6</c:v>
                </c:pt>
                <c:pt idx="1">
                  <c:v>13</c:v>
                </c:pt>
                <c:pt idx="2">
                  <c:v>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B"/>
        </a:solidFill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Mamaearth (₹ Cr)</c:v>
                </c:pt>
              </c:strCache>
            </c:strRef>
          </c:tx>
          <c:spPr>
            <a:solidFill>
              <a:srgbClr val="0D1E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Face Cleanser</c:v>
                  </c:pt>
                  <c:pt idx="1">
                    <c:v>Shampoo</c:v>
                  </c:pt>
                  <c:pt idx="2">
                    <c:v>Sun Care</c:v>
                  </c:pt>
                  <c:pt idx="3">
                    <c:v>Face Serum</c:v>
                  </c:pt>
                  <c:pt idx="4">
                    <c:v>Body Care*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8.53</c:v>
                </c:pt>
                <c:pt idx="1">
                  <c:v>6.95</c:v>
                </c:pt>
                <c:pt idx="2">
                  <c:v>1.3</c:v>
                </c:pt>
                <c:pt idx="3">
                  <c:v>0</c:v>
                </c:pt>
                <c:pt idx="4">
                  <c:v>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The Derma Co. (₹ Cr)</c:v>
                </c:pt>
              </c:strCache>
            </c:strRef>
          </c:tx>
          <c:spPr>
            <a:solidFill>
              <a:srgbClr val="1B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Face Cleanser</c:v>
                  </c:pt>
                  <c:pt idx="1">
                    <c:v>Shampoo</c:v>
                  </c:pt>
                  <c:pt idx="2">
                    <c:v>Sun Care</c:v>
                  </c:pt>
                  <c:pt idx="3">
                    <c:v>Face Serum</c:v>
                  </c:pt>
                  <c:pt idx="4">
                    <c:v>Body Care*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7.13</c:v>
                </c:pt>
                <c:pt idx="1">
                  <c:v>0</c:v>
                </c:pt>
                <c:pt idx="2">
                  <c:v>1.99</c:v>
                </c:pt>
                <c:pt idx="3">
                  <c:v>0.63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E3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E3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FY'26-27 FYTD (₹L)</c:v>
                </c:pt>
              </c:strCache>
            </c:strRef>
          </c:tx>
          <c:spPr>
            <a:solidFill>
              <a:srgbClr val="0D1E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1E3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89C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9A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A9BB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West</c:v>
                  </c:pt>
                  <c:pt idx="1">
                    <c:v>North</c:v>
                  </c:pt>
                  <c:pt idx="2">
                    <c:v>South-1</c:v>
                  </c:pt>
                  <c:pt idx="3">
                    <c:v>South-2</c:v>
                  </c:pt>
                  <c:pt idx="4">
                    <c:v>East</c:v>
                  </c:pt>
                  <c:pt idx="5">
                    <c:v>Central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3732.52</c:v>
                </c:pt>
                <c:pt idx="1">
                  <c:v>3339.92</c:v>
                </c:pt>
                <c:pt idx="2">
                  <c:v>3308.35</c:v>
                </c:pt>
                <c:pt idx="3">
                  <c:v>2063.89</c:v>
                </c:pt>
                <c:pt idx="4">
                  <c:v>1528.6</c:v>
                </c:pt>
                <c:pt idx="5">
                  <c:v>211.77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6FB"/>
        </a:solidFill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eB2B Offtake</c:v>
                </c:pt>
              </c:strCache>
            </c:strRef>
          </c:tx>
          <c:spPr>
            <a:solidFill>
              <a:srgbClr val="1B7A6E"/>
            </a:solidFill>
            <a:ln w="31750" cap="flat">
              <a:solidFill>
                <a:srgbClr val="1B7A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7A6E"/>
              </a:solidFill>
              <a:ln w="9525" cap="flat">
                <a:solidFill>
                  <a:srgbClr val="1B7A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1.64</c:v>
                </c:pt>
                <c:pt idx="1">
                  <c:v>1.68</c:v>
                </c:pt>
                <c:pt idx="2">
                  <c:v>1.73</c:v>
                </c:pt>
                <c:pt idx="3">
                  <c:v>2.29</c:v>
                </c:pt>
                <c:pt idx="4">
                  <c:v>2.08</c:v>
                </c:pt>
                <c:pt idx="5">
                  <c:v>2.17</c:v>
                </c:pt>
                <c:pt idx="6">
                  <c:v>2.07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2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9FC"/>
        </a:solidFill>
        <a:ln>
          <a:noFill/>
        </a:ln>
        <a:effectLst/>
      </c:spPr>
    </c:plotArea>
    <c:plotVisOnly val="1"/>
    <c:dispBlanksAs val="span"/>
  </c:chart>
  <c:spPr>
    <a:solidFill>
      <a:srgbClr val="F8F9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DC Face Cleanser</c:v>
                </c:pt>
              </c:strCache>
            </c:strRef>
          </c:tx>
          <c:spPr>
            <a:solidFill>
              <a:srgbClr val="C49A1A"/>
            </a:solidFill>
            <a:ln w="38100" cap="flat">
              <a:solidFill>
                <a:srgbClr val="C49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9A1A"/>
              </a:solidFill>
              <a:ln w="9525" cap="flat">
                <a:solidFill>
                  <a:srgbClr val="C49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3459"/>
        </a:solidFill>
        <a:ln>
          <a:noFill/>
        </a:ln>
        <a:effectLst/>
      </c:spPr>
    </c:plotArea>
    <c:plotVisOnly val="1"/>
    <c:dispBlanksAs val="span"/>
  </c:chart>
  <c:spPr>
    <a:solidFill>
      <a:srgbClr val="1A345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July 2026 — MT Offtake Executive Summary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47472" y="56692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All-channel offtake ₹ Cr  ·  MT + eB2B + SIS  ·  FY'26-27  ·  All 4 months confirmed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89120" y="1463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· MT Analytics · FY'26-27 · Data: pipeline v2.4.0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47472" y="841248"/>
            <a:ext cx="1371600" cy="2743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969264"/>
            <a:ext cx="1627632" cy="1170432"/>
          </a:xfrm>
          <a:prstGeom prst="rect">
            <a:avLst/>
          </a:prstGeom>
          <a:solidFill>
            <a:srgbClr val="1A3459"/>
          </a:solidFill>
          <a:ln/>
          <a:effectLst>
            <a:outerShdw sx="100000" sy="100000" kx="0" ky="0" algn="bl" rotWithShape="0" blurRad="50800" dist="25400" dir="2700000">
              <a:srgbClr val="8E8E8E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" y="1060704"/>
            <a:ext cx="1481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₹36.06 Cr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83464" y="1648115"/>
            <a:ext cx="1517904" cy="28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Jul-26 Total NSV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83464" y="1929018"/>
            <a:ext cx="1517904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3,606 L · 18.95L units · ASP ₹179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993392" y="969264"/>
            <a:ext cx="1627632" cy="1170432"/>
          </a:xfrm>
          <a:prstGeom prst="rect">
            <a:avLst/>
          </a:prstGeom>
          <a:solidFill>
            <a:srgbClr val="1A3459"/>
          </a:solidFill>
          <a:ln/>
          <a:effectLst>
            <a:outerShdw sx="100000" sy="100000" kx="0" ky="0" algn="bl" rotWithShape="0" blurRad="50800" dist="25400" dir="2700000">
              <a:srgbClr val="8E8E8E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66544" y="1060704"/>
            <a:ext cx="1481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₹150.55 Cr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048256" y="1648115"/>
            <a:ext cx="1517904" cy="28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FYTD Apr–Jul NSV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48256" y="1929018"/>
            <a:ext cx="1517904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15,055 L · Q1+Jul · All 4 months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758184" y="969264"/>
            <a:ext cx="1627632" cy="1170432"/>
          </a:xfrm>
          <a:prstGeom prst="rect">
            <a:avLst/>
          </a:prstGeom>
          <a:solidFill>
            <a:srgbClr val="1A3459"/>
          </a:solidFill>
          <a:ln/>
          <a:effectLst>
            <a:outerShdw sx="100000" sy="100000" kx="0" ky="0" algn="bl" rotWithShape="0" blurRad="50800" dist="25400" dir="2700000">
              <a:srgbClr val="8E8E8E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31336" y="1060704"/>
            <a:ext cx="1481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₹24.49 Cr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13048" y="1648115"/>
            <a:ext cx="1517904" cy="28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Jul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13048" y="1929018"/>
            <a:ext cx="1517904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· 66% brand share · conv 73.4%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522976" y="969264"/>
            <a:ext cx="1627632" cy="1170432"/>
          </a:xfrm>
          <a:prstGeom prst="rect">
            <a:avLst/>
          </a:prstGeom>
          <a:solidFill>
            <a:srgbClr val="1A3459"/>
          </a:solidFill>
          <a:ln/>
          <a:effectLst>
            <a:outerShdw sx="100000" sy="100000" kx="0" ky="0" algn="bl" rotWithShape="0" blurRad="50800" dist="25400" dir="2700000">
              <a:srgbClr val="8E8E8E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96128" y="1060704"/>
            <a:ext cx="1481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₹11.03 Cr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77840" y="1648115"/>
            <a:ext cx="1517904" cy="28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 Co. Jul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577840" y="1929018"/>
            <a:ext cx="1517904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· 29.7% share · Face Cleaner ↑217%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287768" y="969264"/>
            <a:ext cx="1627632" cy="1170432"/>
          </a:xfrm>
          <a:prstGeom prst="rect">
            <a:avLst/>
          </a:prstGeom>
          <a:solidFill>
            <a:srgbClr val="1A3459"/>
          </a:solidFill>
          <a:ln/>
          <a:effectLst>
            <a:outerShdw sx="100000" sy="100000" kx="0" ky="0" algn="bl" rotWithShape="0" blurRad="50800" dist="25400" dir="2700000">
              <a:srgbClr val="8E8E8E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60920" y="1060704"/>
            <a:ext cx="1481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₹15.66 Cr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42632" y="1648115"/>
            <a:ext cx="1517904" cy="28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Jul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42632" y="1929018"/>
            <a:ext cx="1517904" cy="21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 ₹8.53 + DC ₹7.13 · Category #1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28600" y="228600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FYTD Zone Momentum (YoY % vs FY26 full-year)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" y="2599319"/>
            <a:ext cx="822960" cy="692521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" y="2324999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+62%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" y="331012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359152" y="2662276"/>
            <a:ext cx="822960" cy="629564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1" name="Text 29"/>
          <p:cNvSpPr/>
          <p:nvPr/>
        </p:nvSpPr>
        <p:spPr>
          <a:xfrm>
            <a:off x="1993392" y="238795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+57%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993392" y="331012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123944" y="2694031"/>
            <a:ext cx="822960" cy="597809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4" name="Text 32"/>
          <p:cNvSpPr/>
          <p:nvPr/>
        </p:nvSpPr>
        <p:spPr>
          <a:xfrm>
            <a:off x="3758184" y="2419711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+54%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58184" y="331012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888736" y="2992936"/>
            <a:ext cx="822960" cy="298904"/>
          </a:xfrm>
          <a:prstGeom prst="rect">
            <a:avLst/>
          </a:prstGeom>
          <a:solidFill>
            <a:srgbClr val="1B7A6E"/>
          </a:solidFill>
          <a:ln/>
        </p:spPr>
      </p:sp>
      <p:sp>
        <p:nvSpPr>
          <p:cNvPr id="37" name="Text 35"/>
          <p:cNvSpPr/>
          <p:nvPr/>
        </p:nvSpPr>
        <p:spPr>
          <a:xfrm>
            <a:off x="5522976" y="271861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+27%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22976" y="331012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653528" y="2942415"/>
            <a:ext cx="822960" cy="349425"/>
          </a:xfrm>
          <a:prstGeom prst="rect">
            <a:avLst/>
          </a:prstGeom>
          <a:solidFill>
            <a:srgbClr val="1B7A6E"/>
          </a:solidFill>
          <a:ln/>
        </p:spPr>
      </p:sp>
      <p:sp>
        <p:nvSpPr>
          <p:cNvPr id="40" name="Text 38"/>
          <p:cNvSpPr/>
          <p:nvPr/>
        </p:nvSpPr>
        <p:spPr>
          <a:xfrm>
            <a:off x="7287768" y="2668095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+31%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287768" y="331012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28600" y="3547872"/>
            <a:ext cx="8686800" cy="566928"/>
          </a:xfrm>
          <a:prstGeom prst="rect">
            <a:avLst/>
          </a:prstGeom>
          <a:solidFill>
            <a:srgbClr val="132A48"/>
          </a:solidFill>
          <a:ln/>
        </p:spPr>
      </p:sp>
      <p:sp>
        <p:nvSpPr>
          <p:cNvPr id="43" name="Shape 41"/>
          <p:cNvSpPr/>
          <p:nvPr/>
        </p:nvSpPr>
        <p:spPr>
          <a:xfrm>
            <a:off x="228600" y="3547872"/>
            <a:ext cx="164592" cy="566928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" y="35753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Recovery Signal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" y="376732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conversion stabilised at 72.2% after Jun dip  ·  Derma Co. Face Cleanser +47.6% MoM (₹4.83→₹7.13 Cr)  ·  Shampoo holds steady at ₹6.95 Cr  ·  North+East gap = ₹7.97 Cr recoverable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28600" y="4480560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mt_price_volume.json + july_mt_channel_split.json + july_mt_chart_series.json · pipeline v2.4.0 · 2026-08-19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Performance Matrix — July 2026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47472" y="56692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· eB2B (FSN/Nykaa) · SIS  ·  Primary, Offtake, Conversion %  ·  Monthly trend Apr–Jul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89120" y="1463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· MT Analytics · FY'26-27 · Data: pipeline v2.4.0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47472" y="841248"/>
            <a:ext cx="1371600" cy="2743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969264"/>
            <a:ext cx="2743200" cy="2011680"/>
          </a:xfrm>
          <a:prstGeom prst="rect">
            <a:avLst/>
          </a:prstGeom>
          <a:solidFill>
            <a:srgbClr val="1A3459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38100" dist="12700" dir="2700000">
              <a:srgbClr val="8E8E8E">
                <a:alpha val="7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6070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(MT)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353312"/>
            <a:ext cx="2194560" cy="146304"/>
          </a:xfrm>
          <a:prstGeom prst="rect">
            <a:avLst/>
          </a:prstGeom>
          <a:solidFill>
            <a:srgbClr val="D8DDE8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53312"/>
            <a:ext cx="2065081" cy="146304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361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 of total offtake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77393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24712" y="177393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₹47.02 Cr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04825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24712" y="204825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₹33.96 Cr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3225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%: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24712" y="232257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259689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24712" y="259689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18688" y="969264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38100" dist="12700" dir="2700000">
              <a:srgbClr val="8E8E8E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28416" y="106070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(FSN/Nykaa)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328416" y="1353312"/>
            <a:ext cx="2194560" cy="146304"/>
          </a:xfrm>
          <a:prstGeom prst="rect">
            <a:avLst/>
          </a:prstGeom>
          <a:solidFill>
            <a:srgbClr val="D8DDE8"/>
          </a:solidFill>
          <a:ln/>
        </p:spPr>
      </p:sp>
      <p:sp>
        <p:nvSpPr>
          <p:cNvPr id="22" name="Shape 20"/>
          <p:cNvSpPr/>
          <p:nvPr/>
        </p:nvSpPr>
        <p:spPr>
          <a:xfrm>
            <a:off x="3328416" y="1353312"/>
            <a:ext cx="125090" cy="146304"/>
          </a:xfrm>
          <a:prstGeom prst="rect">
            <a:avLst/>
          </a:prstGeom>
          <a:solidFill>
            <a:srgbClr val="1B7A6E"/>
          </a:solidFill>
          <a:ln/>
        </p:spPr>
      </p:sp>
      <p:sp>
        <p:nvSpPr>
          <p:cNvPr id="23" name="Text 21"/>
          <p:cNvSpPr/>
          <p:nvPr/>
        </p:nvSpPr>
        <p:spPr>
          <a:xfrm>
            <a:off x="3328416" y="15361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5.7% of total offtake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28416" y="177393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087368" y="177393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₹2.20 Cr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28416" y="204825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087368" y="204825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28416" y="23225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%: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087368" y="232257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28416" y="259689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087368" y="259689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81344" y="969264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  <a:effectLst>
            <a:outerShdw sx="100000" sy="100000" kx="0" ky="0" algn="bl" rotWithShape="0" blurRad="38100" dist="12700" dir="2700000">
              <a:srgbClr val="8E8E8E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91072" y="106070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91072" y="1353312"/>
            <a:ext cx="2194560" cy="146304"/>
          </a:xfrm>
          <a:prstGeom prst="rect">
            <a:avLst/>
          </a:prstGeom>
          <a:solidFill>
            <a:srgbClr val="D8DDE8"/>
          </a:solidFill>
          <a:ln/>
        </p:spPr>
      </p:sp>
      <p:sp>
        <p:nvSpPr>
          <p:cNvPr id="35" name="Shape 33"/>
          <p:cNvSpPr/>
          <p:nvPr/>
        </p:nvSpPr>
        <p:spPr>
          <a:xfrm>
            <a:off x="6291072" y="1353312"/>
            <a:ext cx="2195" cy="146304"/>
          </a:xfrm>
          <a:prstGeom prst="rect">
            <a:avLst/>
          </a:prstGeom>
          <a:solidFill>
            <a:srgbClr val="8A9BB2"/>
          </a:solidFill>
          <a:ln/>
        </p:spPr>
      </p:sp>
      <p:sp>
        <p:nvSpPr>
          <p:cNvPr id="36" name="Text 34"/>
          <p:cNvSpPr/>
          <p:nvPr/>
        </p:nvSpPr>
        <p:spPr>
          <a:xfrm>
            <a:off x="6291072" y="1536192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 of total offtake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91072" y="177393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50024" y="177393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91072" y="204825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50024" y="204825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₹0.03 Cr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91072" y="23225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%: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50024" y="232257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91072" y="259689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50024" y="2596896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56032" y="30723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Monthly Offtake Trend (₹ Cr)</a:t>
            </a:r>
            <a:endParaRPr lang="en-US" sz="95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256032" y="3310128"/>
          <a:ext cx="50292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7" name="Text 44"/>
          <p:cNvSpPr/>
          <p:nvPr/>
        </p:nvSpPr>
        <p:spPr>
          <a:xfrm>
            <a:off x="5486400" y="30723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Monthly Trend (₹ Cr) — Jan to Jul</a:t>
            </a:r>
            <a:endParaRPr lang="en-US" sz="950" dirty="0"/>
          </a:p>
        </p:txBody>
      </p:sp>
      <p:graphicFrame>
        <p:nvGraphicFramePr>
          <p:cNvPr id="48" name="Chart 1" descr=""/>
          <p:cNvGraphicFramePr/>
          <p:nvPr/>
        </p:nvGraphicFramePr>
        <p:xfrm>
          <a:off x="5486400" y="3310128"/>
          <a:ext cx="3401568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9" name="Text 45"/>
          <p:cNvSpPr/>
          <p:nvPr/>
        </p:nvSpPr>
        <p:spPr>
          <a:xfrm>
            <a:off x="256032" y="4800600"/>
            <a:ext cx="8631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rebalancing story: MT primary ₹47.02 Cr vs offtake ₹33.96 Cr → ₹13.06 Cr pipeline in trade. Monitor Reliance (₹7.60 Cr gap) and DMart (₹4.28 Cr gap) DOI vs plan.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 Market Share Review — July 2026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47472" y="56692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Nielsen/Internal WD data · Face Wash value share · Shampoo value share · WD / L3M / SoG metrics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89120" y="1463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· MT Analytics · FY'26-27 · Data: pipeline v2.4.0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47472" y="841248"/>
            <a:ext cx="1371600" cy="2743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960120"/>
            <a:ext cx="4114800" cy="3310128"/>
          </a:xfrm>
          <a:prstGeom prst="rect">
            <a:avLst/>
          </a:prstGeom>
          <a:solidFill>
            <a:srgbClr val="1A3459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024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— Value Share %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25880"/>
          <a:ext cx="393192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347472" y="3090672"/>
            <a:ext cx="914400" cy="502920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10" name="Text 7"/>
          <p:cNvSpPr/>
          <p:nvPr/>
        </p:nvSpPr>
        <p:spPr>
          <a:xfrm>
            <a:off x="347472" y="3127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#4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47472" y="3383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335024" y="3090672"/>
            <a:ext cx="914400" cy="502920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13" name="Text 10"/>
          <p:cNvSpPr/>
          <p:nvPr/>
        </p:nvSpPr>
        <p:spPr>
          <a:xfrm>
            <a:off x="1335024" y="3127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10.5%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35024" y="3383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322576" y="3090672"/>
            <a:ext cx="914400" cy="502920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16" name="Text 13"/>
          <p:cNvSpPr/>
          <p:nvPr/>
        </p:nvSpPr>
        <p:spPr>
          <a:xfrm>
            <a:off x="2322576" y="3127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+1.2pp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322576" y="3383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+YoY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10128" y="3090672"/>
            <a:ext cx="914400" cy="502920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19" name="Text 16"/>
          <p:cNvSpPr/>
          <p:nvPr/>
        </p:nvSpPr>
        <p:spPr>
          <a:xfrm>
            <a:off x="3310128" y="3127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−12.1pp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310128" y="3383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Gap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47472" y="3657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 losing −1.6pp YoY. Mamaearth gaining +1.2pp → opportunity to close gap through Q2 activation.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0" y="960120"/>
            <a:ext cx="4315968" cy="3310128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63440" y="1024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Value Share %</a:t>
            </a:r>
            <a:endParaRPr lang="en-US" sz="11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4645152" y="1325880"/>
          <a:ext cx="4169664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4645152" y="2788920"/>
            <a:ext cx="978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45152" y="2825496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#7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4645152" y="3081528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5687568" y="2788920"/>
            <a:ext cx="978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687568" y="2825496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3.7%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5687568" y="3081528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6729984" y="2788920"/>
            <a:ext cx="978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729984" y="2825496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+0.3pp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729984" y="3081528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L3M Δ</a:t>
            </a:r>
            <a:endParaRPr lang="en-US" sz="800" dirty="0"/>
          </a:p>
        </p:txBody>
      </p:sp>
      <p:sp>
        <p:nvSpPr>
          <p:cNvPr id="34" name="Shape 30"/>
          <p:cNvSpPr/>
          <p:nvPr/>
        </p:nvSpPr>
        <p:spPr>
          <a:xfrm>
            <a:off x="7772400" y="2788920"/>
            <a:ext cx="9784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772400" y="2825496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−12.9pp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7772400" y="3081528"/>
            <a:ext cx="978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#1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4645152" y="3383280"/>
            <a:ext cx="4169664" cy="658368"/>
          </a:xfrm>
          <a:prstGeom prst="rect">
            <a:avLst/>
          </a:prstGeom>
          <a:solidFill>
            <a:srgbClr val="FEF9E7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700016" y="341985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Jul Market Share data pending Nielsen full-month file.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L3M directional shown. WD expansion focus: target +200 stores West &amp; South-1 in Q2.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256032" y="454456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L3M · WD = Weighted Distribution · SoG = Share of Growth · L3M = Last 3 months rolling average · Internal source for WD data.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Portfolio Dynamics — July 2026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47472" y="56692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&amp; Offtake ₹ Cr · Category trends Feb–Jul · Emerging brand momentum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89120" y="1463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· MT Analytics · FY'26-27 · Data: pipeline v2.4.0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47472" y="841248"/>
            <a:ext cx="1371600" cy="2743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950976"/>
            <a:ext cx="4242816" cy="3090672"/>
          </a:xfrm>
          <a:prstGeom prst="rect">
            <a:avLst/>
          </a:prstGeom>
          <a:solidFill>
            <a:srgbClr val="1A3459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42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Mamaearth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90672" y="10424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66.0% brand share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353312"/>
            <a:ext cx="1261872" cy="502920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38988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₹33.38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6459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55648" y="1353312"/>
            <a:ext cx="1261872" cy="502920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13" name="Text 11"/>
          <p:cNvSpPr/>
          <p:nvPr/>
        </p:nvSpPr>
        <p:spPr>
          <a:xfrm>
            <a:off x="1755648" y="138988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₹24.49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55648" y="16459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27248" y="1353312"/>
            <a:ext cx="1261872" cy="502920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16" name="Text 14"/>
          <p:cNvSpPr/>
          <p:nvPr/>
        </p:nvSpPr>
        <p:spPr>
          <a:xfrm>
            <a:off x="3127248" y="138988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₹73.4%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27248" y="16459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84048" y="1938528"/>
            <a:ext cx="3986784" cy="621792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199339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— ₹8.53 Cr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224942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peak May ₹9.63 → Jul ₹8.53 (−12% MoM seasonality)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2596896"/>
            <a:ext cx="3986784" cy="621792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5176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₹6.95 Cr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90779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steady growth ₹4.81→₹6.95 (+44% in 5M)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84048" y="3255264"/>
            <a:ext cx="3986784" cy="621792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31012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— ₹1.30 Cr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56616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post-season dip from peak ₹3.10 Apr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18304" y="950976"/>
            <a:ext cx="4242816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042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Derma Co.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52944" y="10424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29.7% brand share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353312"/>
            <a:ext cx="1261872" cy="5029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138988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₹15.19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16459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217920" y="1353312"/>
            <a:ext cx="1261872" cy="5029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138988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₹11.03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17920" y="16459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589520" y="1353312"/>
            <a:ext cx="1261872" cy="5029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0" y="1389888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₹72.6%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89520" y="1645920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46320" y="1938528"/>
            <a:ext cx="3986784" cy="621792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40" name="Text 38"/>
          <p:cNvSpPr/>
          <p:nvPr/>
        </p:nvSpPr>
        <p:spPr>
          <a:xfrm>
            <a:off x="4919472" y="199339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— ₹7.13 Cr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19472" y="2249424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+217% in 5M (Feb ₹2.25→Jul ₹7.13) — Fastest growing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46320" y="2596896"/>
            <a:ext cx="3986784" cy="621792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43" name="Text 41"/>
          <p:cNvSpPr/>
          <p:nvPr/>
        </p:nvSpPr>
        <p:spPr>
          <a:xfrm>
            <a:off x="4919472" y="265176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 — ₹1.99 Cr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19472" y="2907792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May ₹3.18 → Jul ₹1.99 (post-season)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846320" y="3255264"/>
            <a:ext cx="3986784" cy="621792"/>
          </a:xfrm>
          <a:prstGeom prst="rect">
            <a:avLst/>
          </a:prstGeom>
          <a:solidFill>
            <a:srgbClr val="F8F9FC"/>
          </a:solidFill>
          <a:ln/>
        </p:spPr>
      </p:sp>
      <p:sp>
        <p:nvSpPr>
          <p:cNvPr id="46" name="Text 44"/>
          <p:cNvSpPr/>
          <p:nvPr/>
        </p:nvSpPr>
        <p:spPr>
          <a:xfrm>
            <a:off x="4919472" y="3310128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 — ₹0.63 Cr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19472" y="3566160"/>
            <a:ext cx="382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₹0.56–₹0.69 range, hold strategy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56032" y="41330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Brands — July Offtake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56032" y="4370832"/>
            <a:ext cx="2743200" cy="530352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44074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47472" y="46268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₹0.48 Cr · OFT &gt; Primary — demand pull signal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18688" y="4370832"/>
            <a:ext cx="2743200" cy="530352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10128" y="44074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310128" y="46268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₹0.06 Cr · Low conv — assortment review needed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81344" y="4370832"/>
            <a:ext cx="2743200" cy="530352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72784" y="44074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Sheth's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72784" y="46268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₹0.03 Cr · Zero primary — monitor billing start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778240" y="4133088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Portfolio offtake share:</a:t>
            </a: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256032" y="4160520"/>
            <a:ext cx="5697078" cy="16459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60" name="Text 58"/>
          <p:cNvSpPr/>
          <p:nvPr/>
        </p:nvSpPr>
        <p:spPr>
          <a:xfrm>
            <a:off x="292608" y="4160520"/>
            <a:ext cx="56422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5953110" y="4160520"/>
            <a:ext cx="2563685" cy="164592"/>
          </a:xfrm>
          <a:prstGeom prst="rect">
            <a:avLst/>
          </a:prstGeom>
          <a:solidFill>
            <a:srgbClr val="1B7A6E"/>
          </a:solidFill>
          <a:ln/>
        </p:spPr>
      </p:sp>
      <p:sp>
        <p:nvSpPr>
          <p:cNvPr id="62" name="Text 60"/>
          <p:cNvSpPr/>
          <p:nvPr/>
        </p:nvSpPr>
        <p:spPr>
          <a:xfrm>
            <a:off x="5989686" y="4160520"/>
            <a:ext cx="25088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516795" y="4160520"/>
            <a:ext cx="112215" cy="16459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64" name="Shape 62"/>
          <p:cNvSpPr/>
          <p:nvPr/>
        </p:nvSpPr>
        <p:spPr>
          <a:xfrm>
            <a:off x="8629010" y="4160520"/>
            <a:ext cx="258958" cy="164592"/>
          </a:xfrm>
          <a:prstGeom prst="rect">
            <a:avLst/>
          </a:prstGeom>
          <a:solidFill>
            <a:srgbClr val="D8DDE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Category Analysis — July 2026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47472" y="56692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MT offtake by category ₹ Cr  ·  6-month trend Feb–Jul  ·  MoM and 5-month CAGR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89120" y="1463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· MT Analytics · FY'26-27 · Data: pipeline v2.4.0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47472" y="841248"/>
            <a:ext cx="1371600" cy="27432"/>
          </a:xfrm>
          <a:prstGeom prst="rect">
            <a:avLst/>
          </a:prstGeom>
          <a:solidFill>
            <a:srgbClr val="C49A1A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256032" y="969264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532120" y="969264"/>
            <a:ext cx="3355848" cy="347472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8" name="Text 5"/>
          <p:cNvSpPr/>
          <p:nvPr/>
        </p:nvSpPr>
        <p:spPr>
          <a:xfrm>
            <a:off x="5577840" y="1005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29400" y="1005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₹Cr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680960" y="1005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 CAGR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32120" y="1316736"/>
            <a:ext cx="3355848" cy="548640"/>
          </a:xfrm>
          <a:prstGeom prst="rect">
            <a:avLst/>
          </a:prstGeom>
          <a:solidFill>
            <a:srgbClr val="1A3459"/>
          </a:solidFill>
          <a:ln/>
        </p:spPr>
      </p:sp>
      <p:sp>
        <p:nvSpPr>
          <p:cNvPr id="12" name="Text 9"/>
          <p:cNvSpPr/>
          <p:nvPr/>
        </p:nvSpPr>
        <p:spPr>
          <a:xfrm>
            <a:off x="5577840" y="14538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601968" y="14538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₹15.66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635240" y="14538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+14.7%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77840" y="166420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MH −12% MoM seasonal; DC +47.6% MoM — structural shift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532120" y="1883664"/>
            <a:ext cx="3355848" cy="548640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17" name="Text 14"/>
          <p:cNvSpPr/>
          <p:nvPr/>
        </p:nvSpPr>
        <p:spPr>
          <a:xfrm>
            <a:off x="5577840" y="20208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601968" y="20208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₹6.95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635240" y="20208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+7.5%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577840" y="223113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MH steady growth +44% vs Feb; DC not in category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532120" y="2450592"/>
            <a:ext cx="3355848" cy="548640"/>
          </a:xfrm>
          <a:prstGeom prst="rect">
            <a:avLst/>
          </a:prstGeom>
          <a:solidFill>
            <a:srgbClr val="1A3459"/>
          </a:solidFill>
          <a:ln/>
        </p:spPr>
      </p:sp>
      <p:sp>
        <p:nvSpPr>
          <p:cNvPr id="22" name="Text 19"/>
          <p:cNvSpPr/>
          <p:nvPr/>
        </p:nvSpPr>
        <p:spPr>
          <a:xfrm>
            <a:off x="5577840" y="25877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601968" y="25877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₹3.29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635240" y="25877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−12.4%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577840" y="27980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Post-season dip both brands; Apr–May peak period ended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532120" y="3017520"/>
            <a:ext cx="3355848" cy="548640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27" name="Text 24"/>
          <p:cNvSpPr/>
          <p:nvPr/>
        </p:nvSpPr>
        <p:spPr>
          <a:xfrm>
            <a:off x="5577840" y="3154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601968" y="3154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₹0.63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635240" y="3154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577840" y="336499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Stable DC-only; no volume movement signal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532120" y="3584448"/>
            <a:ext cx="3355848" cy="548640"/>
          </a:xfrm>
          <a:prstGeom prst="rect">
            <a:avLst/>
          </a:prstGeom>
          <a:solidFill>
            <a:srgbClr val="1A3459"/>
          </a:solidFill>
          <a:ln/>
        </p:spPr>
      </p:sp>
      <p:sp>
        <p:nvSpPr>
          <p:cNvPr id="32" name="Text 29"/>
          <p:cNvSpPr/>
          <p:nvPr/>
        </p:nvSpPr>
        <p:spPr>
          <a:xfrm>
            <a:off x="5577840" y="3721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Care*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601968" y="3721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₹3.30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635240" y="3721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577840" y="393192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*Estimated residual from brand total; article-level TBD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256032" y="4352544"/>
            <a:ext cx="8631936" cy="384048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37" name="Text 34"/>
          <p:cNvSpPr/>
          <p:nvPr/>
        </p:nvSpPr>
        <p:spPr>
          <a:xfrm>
            <a:off x="347472" y="4389120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Face Cleanser is the growth engine: Honasa ₹15.66 Cr Jul (+47.6% DC MoM surge). Protect MH share; accelerate DC distribution to White-space outlets in West &amp; North.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Zonal Performance — July 2026 &amp; FYTD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47472" y="56692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NSV ₹ Cr · Units · ASP Index · Conv % · FYTD YoY%  ·  Sorted by Jul NSV (descending)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89120" y="1463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· MT Analytics · FY'26-27 · Data: pipeline v2.4.0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47472" y="841248"/>
            <a:ext cx="1371600" cy="2743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960120"/>
            <a:ext cx="2816352" cy="1920240"/>
          </a:xfrm>
          <a:prstGeom prst="rect">
            <a:avLst/>
          </a:prstGeom>
          <a:solidFill>
            <a:srgbClr val="1A3459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33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21992" y="1051560"/>
            <a:ext cx="749808" cy="25603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9" name="Text 7"/>
          <p:cNvSpPr/>
          <p:nvPr/>
        </p:nvSpPr>
        <p:spPr>
          <a:xfrm>
            <a:off x="2221992" y="10698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344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₹8.27 Cr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17099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offtake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1929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1671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234440" y="1929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34440" y="21671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103120" y="1929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1671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Idx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2386584"/>
            <a:ext cx="2596896" cy="384048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" y="2423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FYTD ₹37.3L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10512" y="2423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+31.5% YoY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960120"/>
            <a:ext cx="2816352" cy="1920240"/>
          </a:xfrm>
          <a:prstGeom prst="rect">
            <a:avLst/>
          </a:prstGeom>
          <a:solidFill>
            <a:srgbClr val="F8F9FC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033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South-1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221992" y="1051560"/>
            <a:ext cx="749808" cy="25603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24" name="Text 22"/>
          <p:cNvSpPr/>
          <p:nvPr/>
        </p:nvSpPr>
        <p:spPr>
          <a:xfrm>
            <a:off x="2221992" y="10698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1344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₹8.18 Cr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5760" y="17099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offtake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65760" y="1929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21671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234440" y="1929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34440" y="21671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103120" y="1929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03120" y="21671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Idx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65760" y="2386584"/>
            <a:ext cx="2596896" cy="384048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" y="2423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FYTD ₹33.1L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810512" y="2423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+56.7% YoY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27832" y="960120"/>
            <a:ext cx="2816352" cy="1920240"/>
          </a:xfrm>
          <a:prstGeom prst="rect">
            <a:avLst/>
          </a:prstGeom>
          <a:solidFill>
            <a:srgbClr val="1A3459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1033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193792" y="1051560"/>
            <a:ext cx="749808" cy="256032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39" name="Text 37"/>
          <p:cNvSpPr/>
          <p:nvPr/>
        </p:nvSpPr>
        <p:spPr>
          <a:xfrm>
            <a:off x="5193792" y="10698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37560" y="1344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₹6.97 Cr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337560" y="17099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offtake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337560" y="1929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37560" y="21671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206240" y="1929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₹185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206240" y="21671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074920" y="192938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74920" y="21671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Idx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337560" y="2386584"/>
            <a:ext cx="2596896" cy="384048"/>
          </a:xfrm>
          <a:prstGeom prst="rect">
            <a:avLst/>
          </a:prstGeom>
          <a:solidFill>
            <a:srgbClr val="162B4A"/>
          </a:solidFill>
          <a:ln/>
        </p:spPr>
      </p:sp>
      <p:sp>
        <p:nvSpPr>
          <p:cNvPr id="49" name="Text 47"/>
          <p:cNvSpPr/>
          <p:nvPr/>
        </p:nvSpPr>
        <p:spPr>
          <a:xfrm>
            <a:off x="3392424" y="2423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FYTD ₹33.4L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82312" y="2423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+62.4% YoY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27832" y="2990088"/>
            <a:ext cx="2816352" cy="1920240"/>
          </a:xfrm>
          <a:prstGeom prst="rect">
            <a:avLst/>
          </a:prstGeom>
          <a:solidFill>
            <a:srgbClr val="F8F9FC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3756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South-2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193792" y="3081528"/>
            <a:ext cx="749808" cy="25603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54" name="Text 52"/>
          <p:cNvSpPr/>
          <p:nvPr/>
        </p:nvSpPr>
        <p:spPr>
          <a:xfrm>
            <a:off x="5193792" y="309981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337560" y="33741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₹4.87 Cr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3337560" y="3739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offtake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337560" y="3959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2.8L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337560" y="41970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206240" y="3959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206240" y="41970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5074920" y="3959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074920" y="41970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Idx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337560" y="4416552"/>
            <a:ext cx="2596896" cy="384048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64" name="Text 62"/>
          <p:cNvSpPr/>
          <p:nvPr/>
        </p:nvSpPr>
        <p:spPr>
          <a:xfrm>
            <a:off x="3392424" y="4453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FYTD ₹20.6L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782312" y="4453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+26.9% YoY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199632" y="2990088"/>
            <a:ext cx="2816352" cy="1920240"/>
          </a:xfrm>
          <a:prstGeom prst="rect">
            <a:avLst/>
          </a:prstGeom>
          <a:solidFill>
            <a:srgbClr val="F8F9FC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0936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East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8165592" y="3081528"/>
            <a:ext cx="749808" cy="256032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69" name="Text 67"/>
          <p:cNvSpPr/>
          <p:nvPr/>
        </p:nvSpPr>
        <p:spPr>
          <a:xfrm>
            <a:off x="8165592" y="309981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309360" y="33741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₹3.54 Cr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6309360" y="3739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offtake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309360" y="3959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1.8L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309360" y="41970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7178040" y="3959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₹193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178040" y="41970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8046720" y="3959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046720" y="41970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Idx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6309360" y="4416552"/>
            <a:ext cx="2596896" cy="384048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79" name="Text 77"/>
          <p:cNvSpPr/>
          <p:nvPr/>
        </p:nvSpPr>
        <p:spPr>
          <a:xfrm>
            <a:off x="6364224" y="4453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FYTD ₹15.3L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7754112" y="4453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+53.8% YoY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199632" y="2990088"/>
            <a:ext cx="2816352" cy="1920240"/>
          </a:xfrm>
          <a:prstGeom prst="rect">
            <a:avLst/>
          </a:prstGeom>
          <a:solidFill>
            <a:srgbClr val="F8F9FC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30936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8165592" y="3081528"/>
            <a:ext cx="749808" cy="25603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84" name="Text 82"/>
          <p:cNvSpPr/>
          <p:nvPr/>
        </p:nvSpPr>
        <p:spPr>
          <a:xfrm>
            <a:off x="8165592" y="309981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309360" y="337413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₹2.12 Cr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6309360" y="3739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offtake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6309360" y="3959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1.2L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6309360" y="41970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7178040" y="3959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₹170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7178040" y="41970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8046720" y="3959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046720" y="419709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Idx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6309360" y="4416552"/>
            <a:ext cx="2596896" cy="384048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94" name="Text 92"/>
          <p:cNvSpPr/>
          <p:nvPr/>
        </p:nvSpPr>
        <p:spPr>
          <a:xfrm>
            <a:off x="6364224" y="4453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FYTD ₹2.1L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7754112" y="4453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50" dirty="0"/>
          </a:p>
        </p:txBody>
      </p:sp>
      <p:graphicFrame>
        <p:nvGraphicFramePr>
          <p:cNvPr id="96" name="Chart 0" descr=""/>
          <p:cNvGraphicFramePr/>
          <p:nvPr/>
        </p:nvGraphicFramePr>
        <p:xfrm>
          <a:off x="256032" y="3017520"/>
          <a:ext cx="8631936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7" name="Text 94"/>
          <p:cNvSpPr/>
          <p:nvPr/>
        </p:nvSpPr>
        <p:spPr>
          <a:xfrm>
            <a:off x="256032" y="4407408"/>
            <a:ext cx="8631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is the velocity leader (highest conv 86.3%). North leads FYTD volume (+62.4% YoY) but lags on conversion. East requires structural fix: Conv 49.9% = demand or DOI issue.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Shopper Activation &amp; Strategic Priorities — Q2 FY'26-27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47472" y="56692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action blocks · Pack-size strategy · Merchandising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89120" y="1463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EAA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· MT Analytics · FY'26-27 · Data: pipeline v2.4.0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47472" y="841248"/>
            <a:ext cx="1371600" cy="2743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969264"/>
            <a:ext cx="8631936" cy="896112"/>
          </a:xfrm>
          <a:prstGeom prst="rect">
            <a:avLst/>
          </a:prstGeom>
          <a:solidFill>
            <a:srgbClr val="1A3459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969264"/>
            <a:ext cx="457200" cy="896112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2618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0241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North &amp; East Conversion  ·  ₹7.97 Cr Gap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28930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North 61.3% / East 49.9% — DOI check first; OOS or scheme pullback likely cause.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41248" y="142646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NKAM action: reactivate listing in stores billing zero; push next primary order.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41248" y="156362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Trade Marketing: run 2-week visibility drive (shelf + gondola ends) in both zones.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41248" y="170078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Target: bring both zones to ≥72% conversion (MT average) by Aug-26. Owner: RKAM + TM.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1929384"/>
            <a:ext cx="8631936" cy="896112"/>
          </a:xfrm>
          <a:prstGeom prst="rect">
            <a:avLst/>
          </a:prstGeom>
          <a:solidFill>
            <a:srgbClr val="1A3459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" y="1929384"/>
            <a:ext cx="457200" cy="89611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" y="22219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198424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Mamaearth Face Cleanser + Scale Derma Co.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24942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MH Face Cleanser: −12% MoM (₹9.65→₹8.53). Seasonality vs distribution — verify active stores.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41248" y="238658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DC Face Cleanser: +47.6% MoM (₹4.83→₹7.13 Cr) — fastest growing SKU in portfolio.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41248" y="252374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Strategy: Defend MH shelf position; expand DC to 500+ new outlets in North &amp; South-2.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41248" y="266090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Action: Category team to file planogram update for DC in all top-20 chains. Owner: Cat + KAM.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2889504"/>
            <a:ext cx="8631936" cy="896112"/>
          </a:xfrm>
          <a:prstGeom prst="rect">
            <a:avLst/>
          </a:prstGeom>
          <a:solidFill>
            <a:srgbClr val="1A3459"/>
          </a:solidFill>
          <a:ln/>
        </p:spPr>
      </p:sp>
      <p:sp>
        <p:nvSpPr>
          <p:cNvPr id="23" name="Shape 21"/>
          <p:cNvSpPr/>
          <p:nvPr/>
        </p:nvSpPr>
        <p:spPr>
          <a:xfrm>
            <a:off x="256032" y="2889504"/>
            <a:ext cx="457200" cy="896112"/>
          </a:xfrm>
          <a:prstGeom prst="rect">
            <a:avLst/>
          </a:prstGeom>
          <a:solidFill>
            <a:srgbClr val="1B7A6E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" y="31821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29443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 Recovery  ·  ₹7.60 Cr Gap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20954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Reliance primary ₹15.66 Cr vs offtake ₹8.06 Cr = 51.5% conv — worst account.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41248" y="334670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Pipeline risk: ₹7.60 Cr loaded into Reliance but not selling. Ageing stock / scheme mismatch.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41248" y="348386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Action: NKAM + Supply to conduct full DOI audit at Reliance stores by 31-Aug.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41248" y="362102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Trade Marketing to propose mid-shelf activation for Aug to clear excess inventory.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849624"/>
            <a:ext cx="8631936" cy="896112"/>
          </a:xfrm>
          <a:prstGeom prst="rect">
            <a:avLst/>
          </a:prstGeom>
          <a:solidFill>
            <a:srgbClr val="1A3459"/>
          </a:solidFill>
          <a:ln/>
        </p:spPr>
      </p:sp>
      <p:sp>
        <p:nvSpPr>
          <p:cNvPr id="31" name="Shape 29"/>
          <p:cNvSpPr/>
          <p:nvPr/>
        </p:nvSpPr>
        <p:spPr>
          <a:xfrm>
            <a:off x="256032" y="3849624"/>
            <a:ext cx="457200" cy="896112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2" name="Text 30"/>
          <p:cNvSpPr/>
          <p:nvPr/>
        </p:nvSpPr>
        <p:spPr>
          <a:xfrm>
            <a:off x="256032" y="41422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7240" y="39044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Pack-Size &amp; Premiumisation — ASP ₹179.2 (+4.4% YoY)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1248" y="416966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East ASP Index 108, South-1 105 — premium mix holding strong in high-ASP zones.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41248" y="430682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West ASP Index 93 — check if large packs (150ml+) are being replaced by smaller SKUs.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41248" y="444398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Shampoo: grow ₹6.95 Cr base by introducing 400ml/700ml in North &amp; South-1 high-ASP doors.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41248" y="4581144"/>
            <a:ext cx="7955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A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Target: overall ASP ₹182+ by Oct-26 through pack-size mix shift. Owner: Category.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56032" y="4773168"/>
            <a:ext cx="8631936" cy="29260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Text 37"/>
          <p:cNvSpPr/>
          <p:nvPr/>
        </p:nvSpPr>
        <p:spPr>
          <a:xfrm>
            <a:off x="347472" y="4800600"/>
            <a:ext cx="8449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Merchandising: Gondola ends → Face Cleanser &amp; Shampoo prioritised  ·  Off-shelf display → Derma Co. for West &amp; South-1  ·  Digital shelf: Ensure 4+ images + A+ on FSN/Nykaa top SKUs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Insights &amp; Forward Signals — July 2026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47472" y="56692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premiumisation · eB2B deep dive · Derma Co. spike analysis · 5 forward signals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89120" y="14630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· MT Analytics · FY'26-27 · Data: pipeline v2.4.0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47472" y="841248"/>
            <a:ext cx="1371600" cy="27432"/>
          </a:xfrm>
          <a:prstGeom prst="rect">
            <a:avLst/>
          </a:prstGeom>
          <a:solidFill>
            <a:srgbClr val="C49A1A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96012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05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 Premiumisation Trend (₹)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487043"/>
            <a:ext cx="822960" cy="42748"/>
          </a:xfrm>
          <a:prstGeom prst="rect">
            <a:avLst/>
          </a:prstGeom>
          <a:solidFill>
            <a:srgbClr val="3A89C9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2618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₹171.7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18470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71600" y="1441780"/>
            <a:ext cx="822960" cy="88011"/>
          </a:xfrm>
          <a:prstGeom prst="rect">
            <a:avLst/>
          </a:prstGeom>
          <a:solidFill>
            <a:srgbClr val="3A89C9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12618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₹173.5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71600" y="18470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59152" y="1801368"/>
            <a:ext cx="822960" cy="91440"/>
          </a:xfrm>
          <a:prstGeom prst="rect">
            <a:avLst/>
          </a:prstGeom>
          <a:solidFill>
            <a:srgbClr val="D8DDE8"/>
          </a:solidFill>
          <a:ln/>
        </p:spPr>
      </p:sp>
      <p:sp>
        <p:nvSpPr>
          <p:cNvPr id="15" name="Text 13"/>
          <p:cNvSpPr/>
          <p:nvPr/>
        </p:nvSpPr>
        <p:spPr>
          <a:xfrm>
            <a:off x="2359152" y="12618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59152" y="18470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346704" y="1298448"/>
            <a:ext cx="822960" cy="231343"/>
          </a:xfrm>
          <a:prstGeom prst="rect">
            <a:avLst/>
          </a:prstGeom>
          <a:solidFill>
            <a:srgbClr val="3A89C9"/>
          </a:solidFill>
          <a:ln/>
        </p:spPr>
      </p:sp>
      <p:sp>
        <p:nvSpPr>
          <p:cNvPr id="18" name="Text 16"/>
          <p:cNvSpPr/>
          <p:nvPr/>
        </p:nvSpPr>
        <p:spPr>
          <a:xfrm>
            <a:off x="3346704" y="12618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₹179.2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346704" y="18470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7472" y="20665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+4.4% Apr→Jul · Realisation stable 41.6–42.9%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90288" y="960120"/>
            <a:ext cx="4297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10058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(FSN/Nykaa) Trend — Jan to Jul ₹ Cr</a:t>
            </a:r>
            <a:endParaRPr lang="en-US" sz="10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645152" y="1207008"/>
          <a:ext cx="4169664" cy="1078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256032" y="2414016"/>
            <a:ext cx="4160520" cy="1883664"/>
          </a:xfrm>
          <a:prstGeom prst="rect">
            <a:avLst/>
          </a:prstGeom>
          <a:solidFill>
            <a:srgbClr val="1A3459"/>
          </a:solidFill>
          <a:ln/>
        </p:spPr>
      </p:sp>
      <p:sp>
        <p:nvSpPr>
          <p:cNvPr id="25" name="Text 22"/>
          <p:cNvSpPr/>
          <p:nvPr/>
        </p:nvSpPr>
        <p:spPr>
          <a:xfrm>
            <a:off x="347472" y="2468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Derma Co. Face Cleanser — Structural Growth Story</a:t>
            </a:r>
            <a:endParaRPr lang="en-US" sz="1000" dirty="0"/>
          </a:p>
        </p:txBody>
      </p:sp>
      <p:graphicFrame>
        <p:nvGraphicFramePr>
          <p:cNvPr id="26" name="Chart 1" descr=""/>
          <p:cNvGraphicFramePr/>
          <p:nvPr/>
        </p:nvGraphicFramePr>
        <p:xfrm>
          <a:off x="292608" y="2761488"/>
          <a:ext cx="2560320" cy="1261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 23"/>
          <p:cNvSpPr/>
          <p:nvPr/>
        </p:nvSpPr>
        <p:spPr>
          <a:xfrm>
            <a:off x="2926080" y="2761488"/>
            <a:ext cx="1417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+217% in 5M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 ₹2.25→Jul ₹7.13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49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= MH Face Cleanser 83%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590288" y="2414016"/>
            <a:ext cx="4297680" cy="1883664"/>
          </a:xfrm>
          <a:prstGeom prst="rect">
            <a:avLst/>
          </a:prstGeom>
          <a:solidFill>
            <a:srgbClr val="F4F6FB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681728" y="2468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Forward-Looking Signals for Aug-Sep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681728" y="2761488"/>
            <a:ext cx="237744" cy="274320"/>
          </a:xfrm>
          <a:prstGeom prst="rect">
            <a:avLst/>
          </a:prstGeom>
          <a:solidFill>
            <a:srgbClr val="CC3333"/>
          </a:solidFill>
          <a:ln/>
        </p:spPr>
      </p:sp>
      <p:sp>
        <p:nvSpPr>
          <p:cNvPr id="31" name="Text 27"/>
          <p:cNvSpPr/>
          <p:nvPr/>
        </p:nvSpPr>
        <p:spPr>
          <a:xfrm>
            <a:off x="4681728" y="27797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4974336" y="27797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North+East conv &lt;62% → OOS/scheme fix must close before Sep planning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681728" y="3108960"/>
            <a:ext cx="237744" cy="274320"/>
          </a:xfrm>
          <a:prstGeom prst="rect">
            <a:avLst/>
          </a:prstGeom>
          <a:solidFill>
            <a:srgbClr val="2E7D52"/>
          </a:solidFill>
          <a:ln/>
        </p:spPr>
      </p:sp>
      <p:sp>
        <p:nvSpPr>
          <p:cNvPr id="34" name="Text 30"/>
          <p:cNvSpPr/>
          <p:nvPr/>
        </p:nvSpPr>
        <p:spPr>
          <a:xfrm>
            <a:off x="4681728" y="3127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4974336" y="31272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Face Cleanser trajectory → ₹8–9 Cr possible in Aug if listings expand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4681728" y="3456432"/>
            <a:ext cx="237744" cy="2743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7" name="Text 33"/>
          <p:cNvSpPr/>
          <p:nvPr/>
        </p:nvSpPr>
        <p:spPr>
          <a:xfrm>
            <a:off x="4681728" y="34747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4974336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DOI risk → audit needed before Sep primary loading starts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4681728" y="3803904"/>
            <a:ext cx="237744" cy="274320"/>
          </a:xfrm>
          <a:prstGeom prst="rect">
            <a:avLst/>
          </a:prstGeom>
          <a:solidFill>
            <a:srgbClr val="1B7A6E"/>
          </a:solidFill>
          <a:ln/>
        </p:spPr>
      </p:sp>
      <p:sp>
        <p:nvSpPr>
          <p:cNvPr id="40" name="Text 36"/>
          <p:cNvSpPr/>
          <p:nvPr/>
        </p:nvSpPr>
        <p:spPr>
          <a:xfrm>
            <a:off x="4681728" y="3822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50" dirty="0"/>
          </a:p>
        </p:txBody>
      </p:sp>
      <p:sp>
        <p:nvSpPr>
          <p:cNvPr id="41" name="Text 37"/>
          <p:cNvSpPr/>
          <p:nvPr/>
        </p:nvSpPr>
        <p:spPr>
          <a:xfrm>
            <a:off x="4974336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₹6.95 Cr steady → 400ml introduction to push ASP above ₹185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4681728" y="4151376"/>
            <a:ext cx="237744" cy="274320"/>
          </a:xfrm>
          <a:prstGeom prst="rect">
            <a:avLst/>
          </a:prstGeom>
          <a:solidFill>
            <a:srgbClr val="3A89C9"/>
          </a:solidFill>
          <a:ln/>
        </p:spPr>
      </p:sp>
      <p:sp>
        <p:nvSpPr>
          <p:cNvPr id="43" name="Text 39"/>
          <p:cNvSpPr/>
          <p:nvPr/>
        </p:nvSpPr>
        <p:spPr>
          <a:xfrm>
            <a:off x="4681728" y="41696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4974336" y="4169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Active EANs 198 (vs peak 222 Jan) → relist top-20 delisted SKUs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256032" y="4370832"/>
            <a:ext cx="8631936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6" name="Text 42"/>
          <p:cNvSpPr/>
          <p:nvPr/>
        </p:nvSpPr>
        <p:spPr>
          <a:xfrm>
            <a:off x="347472" y="4407408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9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Gaps: Reliance ₹7.60 Cr (51.5% conv)  ·  DMart ₹4.28 Cr (76.5% conv)  ·  Metro ₹1.35 Cr (26.6% conv)  ·  Total recoverable above 25% floor: ₹6.22 Cr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256032" y="481888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5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mt_price_volume.json · july_mt_channel_split.json · july_mt_chart_series.json (pipeline v2.4.0) · eB2B Active EANs from chart series "11" · Account gaps from chart series "16"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2026-08-19T08:51:05Z</dcterms:created>
  <dcterms:modified xsi:type="dcterms:W3CDTF">2026-08-19T08:51:05Z</dcterms:modified>
</cp:coreProperties>
</file>