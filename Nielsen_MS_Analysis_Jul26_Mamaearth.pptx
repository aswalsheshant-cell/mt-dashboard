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A9D8F"/>
                </a:solidFill>
              </a:rPr>
              <a:t>NIELSEN MARKET SHARE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Facewash &amp; Shampoo — Urban Modern Trade India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774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FFFFFF"/>
                </a:solidFill>
              </a:rPr>
              <a:t>July 2026 | Nielsen Retail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MAMAEARTH #4 IN FACEWASH · 11.2% MARKET SHARE · +47.7% YoY · +2,671 NEW STORES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3840480"/>
            <a:ext cx="4873752" cy="73152"/>
          </a:xfrm>
          <a:prstGeom prst="rect">
            <a:avLst/>
          </a:prstGeom>
          <a:solidFill>
            <a:srgbClr val="D47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114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CCCCCC"/>
                </a:solidFill>
              </a:rPr>
              <a:t>Strategic Review for Category &amp; Commercial Leadership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4864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Prepared: September 2026  |  Source: Nielsen Retail Intelligence — IN Urban MT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EXECUTIVE SUMMARY  |  July 2026 Market Share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731520"/>
            <a:ext cx="2743200" cy="11887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80467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FACEWASH CATEGORY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05156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₹82.3 Cr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55448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+16.2% YoY | Jul 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108960" y="731520"/>
            <a:ext cx="2743200" cy="1188720"/>
          </a:xfrm>
          <a:prstGeom prst="rect">
            <a:avLst/>
          </a:prstGeom>
          <a:solidFill>
            <a:srgbClr val="00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0" y="80467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MAMAEARTH NSV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4679" y="105156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₹9.2 Cr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4679" y="155448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+47.7% YoY  |  #4 Brand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731520"/>
            <a:ext cx="2743200" cy="1188720"/>
          </a:xfrm>
          <a:prstGeom prst="rect">
            <a:avLst/>
          </a:prstGeom>
          <a:solidFill>
            <a:srgbClr val="D47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79" y="80467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MARKET SHARE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59" y="105156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11.2%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59" y="155448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+2.4pp YoY  |  ⚠ MoM Dip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61120" y="731520"/>
            <a:ext cx="2926080" cy="1188720"/>
          </a:xfrm>
          <a:prstGeom prst="rect">
            <a:avLst/>
          </a:prstGeom>
          <a:solidFill>
            <a:srgbClr val="1A6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52560" y="80467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SHAMPOO CATEGORY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6840" y="105156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₹155.9 Cr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06840" y="155448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+5.1% YoY | Jul 26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" y="2057400"/>
            <a:ext cx="2743200" cy="118872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213055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WEIGHTED DISTRIBUTION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" y="237744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89.2%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" y="288036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+6.4pp YoY (was 82.8%)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108960" y="2057400"/>
            <a:ext cx="2743200" cy="1188720"/>
          </a:xfrm>
          <a:prstGeom prst="rect">
            <a:avLst/>
          </a:prstGeom>
          <a:solidFill>
            <a:srgbClr val="00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0" y="213055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STORES RETAILING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54679" y="237744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13,097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54679" y="288036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+2,671 new stores YoY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2057400"/>
            <a:ext cx="2743200" cy="1188720"/>
          </a:xfrm>
          <a:prstGeom prst="rect">
            <a:avLst/>
          </a:prstGeom>
          <a:solidFill>
            <a:srgbClr val="D47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26479" y="213055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GAP TO #3 POND'S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0759" y="237744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1.8pp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59" y="288036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₹1.5 Cr NSV gap — closing fast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961120" y="2057400"/>
            <a:ext cx="2926080" cy="11887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52560" y="213055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ANNUALIZED NSV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06840" y="237744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₹93.2 Cr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06840" y="288036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LMAT +56.0% YoY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82880" y="3383280"/>
            <a:ext cx="11823192" cy="3657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4320" y="35204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</a:rPr>
              <a:t>HEADLINE INSIGHTS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82880" y="3840480"/>
            <a:ext cx="384048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4320" y="3886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</a:rPr>
              <a:t>🚀 Mamaearth grows 3× faster than category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4320" y="425196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47.7% vs 16.2% YoY — gaining share from legacy players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60520" y="3840480"/>
            <a:ext cx="384048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251959" y="3886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</a:rPr>
              <a:t>⚠️ Jul 26 MoM dip needs diagnosis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59" y="425196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-3.2% MoM NSV despite +0% category movement — investigate store-level sell-out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138159" y="3840480"/>
            <a:ext cx="384048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29599" y="3886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</a:rPr>
              <a:t>🎯 Pond's overtake within reach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599" y="425196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1.8pp MS gap / ₹1.5 Cr NSV — 2-3 months at current growth trajectory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4320" y="653796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444444"/>
                </a:solidFill>
              </a:rPr>
              <a:t>Source: Nielsen Retail Intelligence, IN Urban Modern Trade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MAMAEARTH FW — MARKET SHARE JOURNEY  |  Apr 2025 → Jul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777240"/>
            <a:ext cx="1188720" cy="3474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822960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Metric</a:t>
            </a:r>
          </a:p>
        </p:txBody>
      </p:sp>
      <p:sp>
        <p:nvSpPr>
          <p:cNvPr id="6" name="Rectangle 5"/>
          <p:cNvSpPr/>
          <p:nvPr/>
        </p:nvSpPr>
        <p:spPr>
          <a:xfrm>
            <a:off x="1417320" y="777240"/>
            <a:ext cx="1188720" cy="3474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822960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Apr 25</a:t>
            </a:r>
          </a:p>
        </p:txBody>
      </p:sp>
      <p:sp>
        <p:nvSpPr>
          <p:cNvPr id="8" name="Rectangle 7"/>
          <p:cNvSpPr/>
          <p:nvPr/>
        </p:nvSpPr>
        <p:spPr>
          <a:xfrm>
            <a:off x="2651760" y="777240"/>
            <a:ext cx="1188720" cy="3474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97480" y="822960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Jul 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86200" y="777240"/>
            <a:ext cx="1188720" cy="3474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31920" y="822960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Oct 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0640" y="777240"/>
            <a:ext cx="1188720" cy="3474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822960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Jan 26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5080" y="777240"/>
            <a:ext cx="1188720" cy="3474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822960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Apr 26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89520" y="777240"/>
            <a:ext cx="1188720" cy="3474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35240" y="822960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May 26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23960" y="777240"/>
            <a:ext cx="1188720" cy="3474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0" y="822960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Jun 26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058400" y="777240"/>
            <a:ext cx="1188720" cy="34747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04120" y="822960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Jul 26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161288"/>
            <a:ext cx="1188720" cy="3200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8600" y="1197864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NSV (₹ Cr)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417320" y="1161288"/>
            <a:ext cx="1188720" cy="320040"/>
          </a:xfrm>
          <a:prstGeom prst="rect">
            <a:avLst/>
          </a:prstGeom>
          <a:solidFill>
            <a:srgbClr val="E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63040" y="1197864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</a:rPr>
              <a:t>₹5.4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51760" y="1161288"/>
            <a:ext cx="1188720" cy="320040"/>
          </a:xfrm>
          <a:prstGeom prst="rect">
            <a:avLst/>
          </a:prstGeom>
          <a:solidFill>
            <a:srgbClr val="E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97480" y="1197864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</a:rPr>
              <a:t>₹6.2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86200" y="1161288"/>
            <a:ext cx="1188720" cy="320040"/>
          </a:xfrm>
          <a:prstGeom prst="rect">
            <a:avLst/>
          </a:prstGeom>
          <a:solidFill>
            <a:srgbClr val="E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931920" y="1197864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</a:rPr>
              <a:t>₹6.5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120640" y="1161288"/>
            <a:ext cx="1188720" cy="320040"/>
          </a:xfrm>
          <a:prstGeom prst="rect">
            <a:avLst/>
          </a:prstGeom>
          <a:solidFill>
            <a:srgbClr val="E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66360" y="1197864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</a:rPr>
              <a:t>₹7.9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5080" y="1161288"/>
            <a:ext cx="1188720" cy="320040"/>
          </a:xfrm>
          <a:prstGeom prst="rect">
            <a:avLst/>
          </a:prstGeom>
          <a:solidFill>
            <a:srgbClr val="E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1197864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</a:rPr>
              <a:t>₹8.8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89520" y="1161288"/>
            <a:ext cx="1188720" cy="320040"/>
          </a:xfrm>
          <a:prstGeom prst="rect">
            <a:avLst/>
          </a:prstGeom>
          <a:solidFill>
            <a:srgbClr val="E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35240" y="1197864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</a:rPr>
              <a:t>₹9.6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823960" y="1161288"/>
            <a:ext cx="1188720" cy="320040"/>
          </a:xfrm>
          <a:prstGeom prst="rect">
            <a:avLst/>
          </a:prstGeom>
          <a:solidFill>
            <a:srgbClr val="E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869680" y="1197864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</a:rPr>
              <a:t>₹9.5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058400" y="1161288"/>
            <a:ext cx="1188720" cy="320040"/>
          </a:xfrm>
          <a:prstGeom prst="rect">
            <a:avLst/>
          </a:prstGeom>
          <a:solidFill>
            <a:srgbClr val="E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104120" y="1197864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444444"/>
                </a:solidFill>
              </a:rPr>
              <a:t>₹9.2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2880" y="1508760"/>
            <a:ext cx="1188720" cy="3200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28600" y="1545336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MS % (Value)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417320" y="1508760"/>
            <a:ext cx="118872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463040" y="1545336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</a:rPr>
              <a:t>8.1%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651760" y="1508760"/>
            <a:ext cx="118872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697480" y="1545336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</a:rPr>
              <a:t>8.8%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886200" y="1508760"/>
            <a:ext cx="118872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931920" y="1545336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</a:rPr>
              <a:t>9.2%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120640" y="1508760"/>
            <a:ext cx="118872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66360" y="1545336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</a:rPr>
              <a:t>11.6%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355080" y="1508760"/>
            <a:ext cx="118872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00800" y="1545336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</a:rPr>
              <a:t>11.6%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89520" y="1508760"/>
            <a:ext cx="118872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635240" y="1545336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</a:rPr>
              <a:t>11.6%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823960" y="1508760"/>
            <a:ext cx="118872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869680" y="1545336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</a:rPr>
              <a:t>11.6%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058400" y="1508760"/>
            <a:ext cx="118872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104120" y="1545336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7A4A"/>
                </a:solidFill>
              </a:rPr>
              <a:t>11.2%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82880" y="1856232"/>
            <a:ext cx="1188720" cy="3200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28600" y="1892808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WD %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417320" y="1856232"/>
            <a:ext cx="1188720" cy="320040"/>
          </a:xfrm>
          <a:prstGeom prst="rect">
            <a:avLst/>
          </a:prstGeom>
          <a:solidFill>
            <a:srgbClr val="E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463040" y="1892808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</a:rPr>
              <a:t>81.3%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651760" y="1856232"/>
            <a:ext cx="1188720" cy="320040"/>
          </a:xfrm>
          <a:prstGeom prst="rect">
            <a:avLst/>
          </a:prstGeom>
          <a:solidFill>
            <a:srgbClr val="E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697480" y="1892808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</a:rPr>
              <a:t>82.8%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886200" y="1856232"/>
            <a:ext cx="1188720" cy="320040"/>
          </a:xfrm>
          <a:prstGeom prst="rect">
            <a:avLst/>
          </a:prstGeom>
          <a:solidFill>
            <a:srgbClr val="E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931920" y="1892808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</a:rPr>
              <a:t>79.1%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120640" y="1856232"/>
            <a:ext cx="1188720" cy="320040"/>
          </a:xfrm>
          <a:prstGeom prst="rect">
            <a:avLst/>
          </a:prstGeom>
          <a:solidFill>
            <a:srgbClr val="E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166360" y="1892808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</a:rPr>
              <a:t>85.0%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55080" y="1856232"/>
            <a:ext cx="1188720" cy="320040"/>
          </a:xfrm>
          <a:prstGeom prst="rect">
            <a:avLst/>
          </a:prstGeom>
          <a:solidFill>
            <a:srgbClr val="E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1892808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</a:rPr>
              <a:t>86.9%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589520" y="1856232"/>
            <a:ext cx="1188720" cy="320040"/>
          </a:xfrm>
          <a:prstGeom prst="rect">
            <a:avLst/>
          </a:prstGeom>
          <a:solidFill>
            <a:srgbClr val="E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635240" y="1892808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</a:rPr>
              <a:t>87.1%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823960" y="1856232"/>
            <a:ext cx="1188720" cy="320040"/>
          </a:xfrm>
          <a:prstGeom prst="rect">
            <a:avLst/>
          </a:prstGeom>
          <a:solidFill>
            <a:srgbClr val="E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869680" y="1892808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</a:rPr>
              <a:t>87.0%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0058400" y="1856232"/>
            <a:ext cx="1188720" cy="320040"/>
          </a:xfrm>
          <a:prstGeom prst="rect">
            <a:avLst/>
          </a:prstGeom>
          <a:solidFill>
            <a:srgbClr val="E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0104120" y="1892808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444444"/>
                </a:solidFill>
              </a:rPr>
              <a:t>89.2%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82880" y="2203704"/>
            <a:ext cx="1188720" cy="3200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28600" y="2240280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Stores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417320" y="2203704"/>
            <a:ext cx="118872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463040" y="2240280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</a:rPr>
              <a:t>9,905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651760" y="2203704"/>
            <a:ext cx="118872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697480" y="2240280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</a:rPr>
              <a:t>10,425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886200" y="2203704"/>
            <a:ext cx="118872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931920" y="2240280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</a:rPr>
              <a:t>10,502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120640" y="2203704"/>
            <a:ext cx="118872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166360" y="2240280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</a:rPr>
              <a:t>12,144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355080" y="2203704"/>
            <a:ext cx="118872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400800" y="2240280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</a:rPr>
              <a:t>12,876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589520" y="2203704"/>
            <a:ext cx="118872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635240" y="2240280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</a:rPr>
              <a:t>13,022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823960" y="2203704"/>
            <a:ext cx="118872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869680" y="2240280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</a:rPr>
              <a:t>13,170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0058400" y="2203704"/>
            <a:ext cx="118872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0104120" y="2240280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444444"/>
                </a:solidFill>
              </a:rPr>
              <a:t>13,096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82880" y="2377440"/>
            <a:ext cx="2926080" cy="1005840"/>
          </a:xfrm>
          <a:prstGeom prst="rect">
            <a:avLst/>
          </a:prstGeom>
          <a:solidFill>
            <a:srgbClr val="00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274320" y="2423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SHARE ACCELERATION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274320" y="269748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8.1% → 11.6% in 9 months
Consistent upward trajectory</a:t>
            </a:r>
          </a:p>
        </p:txBody>
      </p:sp>
      <p:sp>
        <p:nvSpPr>
          <p:cNvPr id="97" name="Rectangle 96"/>
          <p:cNvSpPr/>
          <p:nvPr/>
        </p:nvSpPr>
        <p:spPr>
          <a:xfrm>
            <a:off x="3154680" y="2377440"/>
            <a:ext cx="2926080" cy="1005840"/>
          </a:xfrm>
          <a:prstGeom prst="rect">
            <a:avLst/>
          </a:prstGeom>
          <a:solidFill>
            <a:srgbClr val="D47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3246120" y="2423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JUL 26 FLAG ⚠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246120" y="269748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11.2% — dipped 0.4pp from Jun peak
Investigate sell-out velocity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26480" y="2377440"/>
            <a:ext cx="2926080" cy="100584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217920" y="2423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DISTRIBUTION ENGINE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217920" y="269748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82.8% → 89.2% WD (+6.4pp)
2,671 new stores activated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9098280" y="2377440"/>
            <a:ext cx="2926080" cy="10058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9189719" y="2423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VELOCITY GAP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189719" y="269748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PDO ₹7,025 vs Himalaya ₹9,177
31% velocity gap to close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82880" y="3520440"/>
            <a:ext cx="11795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INSIGHT: Mamaearth's fastest growth phase was Jan-Mar 26 (11.3-11.6% MS) driven by WD expansion. Jul 26 plateau is a signal — investigate whether this is seasonal or distribution saturation. The velocity gap (₹7K vs ₹9.2K/store for Himalaya) is the next lever to unlock.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74320" y="653796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444444"/>
                </a:solidFill>
              </a:rPr>
              <a:t>Source: Nielsen Retail Intelligence, IN Urban Modern Trade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FACEWASH COMPETITIVE LANDSCAPE  |  July 2026 — Urban MT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" y="777240"/>
            <a:ext cx="475488" cy="3474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73736" y="822960"/>
            <a:ext cx="4297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Rank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777240"/>
            <a:ext cx="1618488" cy="3474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822960"/>
            <a:ext cx="15727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Brand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777240"/>
            <a:ext cx="1115568" cy="3474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22576" y="822960"/>
            <a:ext cx="10698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NSV (₹Cr)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9000" y="777240"/>
            <a:ext cx="749808" cy="3474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65576" y="822960"/>
            <a:ext cx="704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MS%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777240"/>
            <a:ext cx="841247" cy="3474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42816" y="822960"/>
            <a:ext cx="7955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MS Δpp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74920" y="777240"/>
            <a:ext cx="749808" cy="3474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11496" y="822960"/>
            <a:ext cx="704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YoY%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52160" y="777240"/>
            <a:ext cx="932688" cy="3474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88736" y="822960"/>
            <a:ext cx="8869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Stores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12280" y="777240"/>
            <a:ext cx="658368" cy="3474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48856" y="822960"/>
            <a:ext cx="6126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WD%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98080" y="777240"/>
            <a:ext cx="1115568" cy="3474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34656" y="822960"/>
            <a:ext cx="10698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PDO ₹/store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7160" y="1161288"/>
            <a:ext cx="475488" cy="35661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73736" y="1216152"/>
            <a:ext cx="4297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44444"/>
                </a:solidFill>
              </a:rPr>
              <a:t>#1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1161288"/>
            <a:ext cx="1618488" cy="35661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1216152"/>
            <a:ext cx="15727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44444"/>
                </a:solidFill>
              </a:rPr>
              <a:t>HIMALAYA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0" y="1161288"/>
            <a:ext cx="1115568" cy="35661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322576" y="1216152"/>
            <a:ext cx="10698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44444"/>
                </a:solidFill>
              </a:rPr>
              <a:t>₹18.7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429000" y="1161288"/>
            <a:ext cx="749808" cy="35661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65576" y="1216152"/>
            <a:ext cx="704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44444"/>
                </a:solidFill>
              </a:rPr>
              <a:t>22.8%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06240" y="1161288"/>
            <a:ext cx="841247" cy="35661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42816" y="1216152"/>
            <a:ext cx="7955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C0392B"/>
                </a:solidFill>
              </a:rPr>
              <a:t>-0.4pp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74920" y="1161288"/>
            <a:ext cx="749808" cy="35661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11496" y="1216152"/>
            <a:ext cx="704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07A4A"/>
                </a:solidFill>
              </a:rPr>
              <a:t>+13.9%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852160" y="1161288"/>
            <a:ext cx="932688" cy="35661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88736" y="1216152"/>
            <a:ext cx="8869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44444"/>
                </a:solidFill>
              </a:rPr>
              <a:t>20,376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12280" y="1161288"/>
            <a:ext cx="658368" cy="35661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48856" y="1216152"/>
            <a:ext cx="6126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44444"/>
                </a:solidFill>
              </a:rPr>
              <a:t>99.5%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98080" y="1161288"/>
            <a:ext cx="1115568" cy="35661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34656" y="1216152"/>
            <a:ext cx="10698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44444"/>
                </a:solidFill>
              </a:rPr>
              <a:t>₹9,177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37160" y="1545336"/>
            <a:ext cx="475488" cy="3566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73736" y="1600200"/>
            <a:ext cx="4297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44444"/>
                </a:solidFill>
              </a:rPr>
              <a:t>#2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" y="1545336"/>
            <a:ext cx="1618488" cy="3566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1600200"/>
            <a:ext cx="15727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44444"/>
                </a:solidFill>
              </a:rPr>
              <a:t>GARNIER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286000" y="1545336"/>
            <a:ext cx="1115568" cy="3566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322576" y="1600200"/>
            <a:ext cx="10698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44444"/>
                </a:solidFill>
              </a:rPr>
              <a:t>₹10.9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429000" y="1545336"/>
            <a:ext cx="749808" cy="3566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465576" y="1600200"/>
            <a:ext cx="704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44444"/>
                </a:solidFill>
              </a:rPr>
              <a:t>13.3%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206240" y="1545336"/>
            <a:ext cx="841247" cy="3566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242816" y="1600200"/>
            <a:ext cx="7955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C0392B"/>
                </a:solidFill>
              </a:rPr>
              <a:t>-1.2pp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74920" y="1545336"/>
            <a:ext cx="749808" cy="3566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111496" y="1600200"/>
            <a:ext cx="704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07A4A"/>
                </a:solidFill>
              </a:rPr>
              <a:t>+6.6%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852160" y="1545336"/>
            <a:ext cx="932688" cy="3566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888736" y="1600200"/>
            <a:ext cx="8869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44444"/>
                </a:solidFill>
              </a:rPr>
              <a:t>17,042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812280" y="1545336"/>
            <a:ext cx="658368" cy="3566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848856" y="1600200"/>
            <a:ext cx="6126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44444"/>
                </a:solidFill>
              </a:rPr>
              <a:t>88.5%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498080" y="1545336"/>
            <a:ext cx="1115568" cy="3566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34656" y="1600200"/>
            <a:ext cx="10698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44444"/>
                </a:solidFill>
              </a:rPr>
              <a:t>₹6,396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1929384"/>
            <a:ext cx="475488" cy="35661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73736" y="1984248"/>
            <a:ext cx="4297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44444"/>
                </a:solidFill>
              </a:rPr>
              <a:t>#3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40080" y="1929384"/>
            <a:ext cx="1618488" cy="35661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76656" y="1984248"/>
            <a:ext cx="15727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44444"/>
                </a:solidFill>
              </a:rPr>
              <a:t>POND'S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286000" y="1929384"/>
            <a:ext cx="1115568" cy="35661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322576" y="1984248"/>
            <a:ext cx="10698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44444"/>
                </a:solidFill>
              </a:rPr>
              <a:t>₹10.7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429000" y="1929384"/>
            <a:ext cx="749808" cy="35661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465576" y="1984248"/>
            <a:ext cx="704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44444"/>
                </a:solidFill>
              </a:rPr>
              <a:t>13.0%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206240" y="1929384"/>
            <a:ext cx="841247" cy="35661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242816" y="1984248"/>
            <a:ext cx="7955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C0392B"/>
                </a:solidFill>
              </a:rPr>
              <a:t>-1.1pp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074920" y="1929384"/>
            <a:ext cx="749808" cy="35661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111496" y="1984248"/>
            <a:ext cx="704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07A4A"/>
                </a:solidFill>
              </a:rPr>
              <a:t>+6.9%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852160" y="1929384"/>
            <a:ext cx="932688" cy="35661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888736" y="1984248"/>
            <a:ext cx="8869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44444"/>
                </a:solidFill>
              </a:rPr>
              <a:t>18,231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812280" y="1929384"/>
            <a:ext cx="658368" cy="35661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848856" y="1984248"/>
            <a:ext cx="6126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44444"/>
                </a:solidFill>
              </a:rPr>
              <a:t>97.5%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498080" y="1929384"/>
            <a:ext cx="1115568" cy="35661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534656" y="1984248"/>
            <a:ext cx="10698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44444"/>
                </a:solidFill>
              </a:rPr>
              <a:t>₹5,869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37160" y="2313432"/>
            <a:ext cx="475488" cy="356616"/>
          </a:xfrm>
          <a:prstGeom prst="rect">
            <a:avLst/>
          </a:prstGeom>
          <a:solidFill>
            <a:srgbClr val="E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73736" y="2368296"/>
            <a:ext cx="4297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D1B2A"/>
                </a:solidFill>
              </a:rPr>
              <a:t>#4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40080" y="2313432"/>
            <a:ext cx="1618488" cy="356616"/>
          </a:xfrm>
          <a:prstGeom prst="rect">
            <a:avLst/>
          </a:prstGeom>
          <a:solidFill>
            <a:srgbClr val="E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76656" y="2368296"/>
            <a:ext cx="15727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D1B2A"/>
                </a:solidFill>
              </a:rPr>
              <a:t>MAMAEARTH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286000" y="2313432"/>
            <a:ext cx="1115568" cy="356616"/>
          </a:xfrm>
          <a:prstGeom prst="rect">
            <a:avLst/>
          </a:prstGeom>
          <a:solidFill>
            <a:srgbClr val="E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322576" y="2368296"/>
            <a:ext cx="10698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D1B2A"/>
                </a:solidFill>
              </a:rPr>
              <a:t>₹9.2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429000" y="2313432"/>
            <a:ext cx="749808" cy="356616"/>
          </a:xfrm>
          <a:prstGeom prst="rect">
            <a:avLst/>
          </a:prstGeom>
          <a:solidFill>
            <a:srgbClr val="E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465576" y="2368296"/>
            <a:ext cx="704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D1B2A"/>
                </a:solidFill>
              </a:rPr>
              <a:t>11.2%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206240" y="2313432"/>
            <a:ext cx="841247" cy="356616"/>
          </a:xfrm>
          <a:prstGeom prst="rect">
            <a:avLst/>
          </a:prstGeom>
          <a:solidFill>
            <a:srgbClr val="E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242816" y="2368296"/>
            <a:ext cx="7955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07A4A"/>
                </a:solidFill>
              </a:rPr>
              <a:t>+2.4pp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074920" y="2313432"/>
            <a:ext cx="749808" cy="356616"/>
          </a:xfrm>
          <a:prstGeom prst="rect">
            <a:avLst/>
          </a:prstGeom>
          <a:solidFill>
            <a:srgbClr val="E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111496" y="2368296"/>
            <a:ext cx="704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07A4A"/>
                </a:solidFill>
              </a:rPr>
              <a:t>+47.7%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852160" y="2313432"/>
            <a:ext cx="932688" cy="356616"/>
          </a:xfrm>
          <a:prstGeom prst="rect">
            <a:avLst/>
          </a:prstGeom>
          <a:solidFill>
            <a:srgbClr val="E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888736" y="2368296"/>
            <a:ext cx="8869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D1B2A"/>
                </a:solidFill>
              </a:rPr>
              <a:t>13,097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812280" y="2313432"/>
            <a:ext cx="658368" cy="356616"/>
          </a:xfrm>
          <a:prstGeom prst="rect">
            <a:avLst/>
          </a:prstGeom>
          <a:solidFill>
            <a:srgbClr val="E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848856" y="2368296"/>
            <a:ext cx="6126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D1B2A"/>
                </a:solidFill>
              </a:rPr>
              <a:t>89.2%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498080" y="2313432"/>
            <a:ext cx="1115568" cy="356616"/>
          </a:xfrm>
          <a:prstGeom prst="rect">
            <a:avLst/>
          </a:prstGeom>
          <a:solidFill>
            <a:srgbClr val="E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34656" y="2368296"/>
            <a:ext cx="10698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D1B2A"/>
                </a:solidFill>
              </a:rPr>
              <a:t>₹7,025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37160" y="2697480"/>
            <a:ext cx="475488" cy="35661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73736" y="2752344"/>
            <a:ext cx="4297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44444"/>
                </a:solidFill>
              </a:rPr>
              <a:t>#5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40080" y="2697480"/>
            <a:ext cx="1618488" cy="35661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76656" y="2752344"/>
            <a:ext cx="15727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44444"/>
                </a:solidFill>
              </a:rPr>
              <a:t>CLEAN&amp;CLEAR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286000" y="2697480"/>
            <a:ext cx="1115568" cy="35661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322576" y="2752344"/>
            <a:ext cx="10698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44444"/>
                </a:solidFill>
              </a:rPr>
              <a:t>₹6.3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429000" y="2697480"/>
            <a:ext cx="749808" cy="35661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465576" y="2752344"/>
            <a:ext cx="704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44444"/>
                </a:solidFill>
              </a:rPr>
              <a:t>7.7%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206240" y="2697480"/>
            <a:ext cx="841247" cy="35661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242816" y="2752344"/>
            <a:ext cx="7955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C0392B"/>
                </a:solidFill>
              </a:rPr>
              <a:t>+0.0pp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5074920" y="2697480"/>
            <a:ext cx="749808" cy="35661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5111496" y="2752344"/>
            <a:ext cx="704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07A4A"/>
                </a:solidFill>
              </a:rPr>
              <a:t>+15.7%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5852160" y="2697480"/>
            <a:ext cx="932688" cy="35661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5888736" y="2752344"/>
            <a:ext cx="8869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44444"/>
                </a:solidFill>
              </a:rPr>
              <a:t>16,479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812280" y="2697480"/>
            <a:ext cx="658368" cy="35661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848856" y="2752344"/>
            <a:ext cx="6126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44444"/>
                </a:solidFill>
              </a:rPr>
              <a:t>97.0%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498080" y="2697480"/>
            <a:ext cx="1115568" cy="35661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34656" y="2752344"/>
            <a:ext cx="10698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44444"/>
                </a:solidFill>
              </a:rPr>
              <a:t>₹3,823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37160" y="3081528"/>
            <a:ext cx="475488" cy="3566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73736" y="3136392"/>
            <a:ext cx="4297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44444"/>
                </a:solidFill>
              </a:rPr>
              <a:t>#6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40080" y="3081528"/>
            <a:ext cx="1618488" cy="3566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676656" y="3136392"/>
            <a:ext cx="15727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44444"/>
                </a:solidFill>
              </a:rPr>
              <a:t>JOY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2286000" y="3081528"/>
            <a:ext cx="1115568" cy="3566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2322576" y="3136392"/>
            <a:ext cx="10698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44444"/>
                </a:solidFill>
              </a:rPr>
              <a:t>₹5.5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429000" y="3081528"/>
            <a:ext cx="749808" cy="3566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3465576" y="3136392"/>
            <a:ext cx="704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44444"/>
                </a:solidFill>
              </a:rPr>
              <a:t>6.7%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4206240" y="3081528"/>
            <a:ext cx="841247" cy="3566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4242816" y="3136392"/>
            <a:ext cx="7955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07A4A"/>
                </a:solidFill>
              </a:rPr>
              <a:t>+0.1pp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5074920" y="3081528"/>
            <a:ext cx="749808" cy="3566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5111496" y="3136392"/>
            <a:ext cx="704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07A4A"/>
                </a:solidFill>
              </a:rPr>
              <a:t>+17.7%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5852160" y="3081528"/>
            <a:ext cx="932688" cy="3566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5888736" y="3136392"/>
            <a:ext cx="8869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44444"/>
                </a:solidFill>
              </a:rPr>
              <a:t>9,277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6812280" y="3081528"/>
            <a:ext cx="658368" cy="3566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6848856" y="3136392"/>
            <a:ext cx="6126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44444"/>
                </a:solidFill>
              </a:rPr>
              <a:t>75.1%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7498080" y="3081528"/>
            <a:ext cx="1115568" cy="3566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7534656" y="3136392"/>
            <a:ext cx="10698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44444"/>
                </a:solidFill>
              </a:rPr>
              <a:t>₹5,924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137160" y="3465576"/>
            <a:ext cx="475488" cy="35661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73736" y="3520440"/>
            <a:ext cx="4297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44444"/>
                </a:solidFill>
              </a:rPr>
              <a:t>#7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640080" y="3465576"/>
            <a:ext cx="1618488" cy="35661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676656" y="3520440"/>
            <a:ext cx="15727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44444"/>
                </a:solidFill>
              </a:rPr>
              <a:t>LAKME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2286000" y="3465576"/>
            <a:ext cx="1115568" cy="35661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2322576" y="3520440"/>
            <a:ext cx="10698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44444"/>
                </a:solidFill>
              </a:rPr>
              <a:t>₹3.3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3429000" y="3465576"/>
            <a:ext cx="749808" cy="35661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3465576" y="3520440"/>
            <a:ext cx="704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44444"/>
                </a:solidFill>
              </a:rPr>
              <a:t>4.0%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4206240" y="3465576"/>
            <a:ext cx="841247" cy="35661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4242816" y="3520440"/>
            <a:ext cx="7955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07A4A"/>
                </a:solidFill>
              </a:rPr>
              <a:t>+0.5pp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5074920" y="3465576"/>
            <a:ext cx="749808" cy="35661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5111496" y="3520440"/>
            <a:ext cx="704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07A4A"/>
                </a:solidFill>
              </a:rPr>
              <a:t>+35.0%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5852160" y="3465576"/>
            <a:ext cx="932688" cy="35661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5888736" y="3520440"/>
            <a:ext cx="8869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44444"/>
                </a:solidFill>
              </a:rPr>
              <a:t>9,699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6812280" y="3465576"/>
            <a:ext cx="658368" cy="35661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6848856" y="3520440"/>
            <a:ext cx="6126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44444"/>
                </a:solidFill>
              </a:rPr>
              <a:t>77.8%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7498080" y="3465576"/>
            <a:ext cx="1115568" cy="35661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7534656" y="3520440"/>
            <a:ext cx="10698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44444"/>
                </a:solidFill>
              </a:rPr>
              <a:t>₹3,403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137160" y="3849624"/>
            <a:ext cx="475488" cy="3566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173736" y="3904487"/>
            <a:ext cx="4297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44444"/>
                </a:solidFill>
              </a:rPr>
              <a:t>#8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640080" y="3849624"/>
            <a:ext cx="1618488" cy="3566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676656" y="3904487"/>
            <a:ext cx="15727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44444"/>
                </a:solidFill>
              </a:rPr>
              <a:t>NIVEA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2286000" y="3849624"/>
            <a:ext cx="1115568" cy="3566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2322576" y="3904487"/>
            <a:ext cx="10698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44444"/>
                </a:solidFill>
              </a:rPr>
              <a:t>₹2.8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3429000" y="3849624"/>
            <a:ext cx="749808" cy="3566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3465576" y="3904487"/>
            <a:ext cx="704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44444"/>
                </a:solidFill>
              </a:rPr>
              <a:t>3.4%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4206240" y="3849624"/>
            <a:ext cx="841247" cy="3566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4242816" y="3904487"/>
            <a:ext cx="7955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C0392B"/>
                </a:solidFill>
              </a:rPr>
              <a:t>-1.7pp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5074920" y="3849624"/>
            <a:ext cx="749808" cy="3566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5111496" y="3904487"/>
            <a:ext cx="704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C0392B"/>
                </a:solidFill>
              </a:rPr>
              <a:t>-21.1%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5852160" y="3849624"/>
            <a:ext cx="932688" cy="3566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5888736" y="3904487"/>
            <a:ext cx="8869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44444"/>
                </a:solidFill>
              </a:rPr>
              <a:t>12,535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6812280" y="3849624"/>
            <a:ext cx="658368" cy="3566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6848856" y="3904487"/>
            <a:ext cx="6126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44444"/>
                </a:solidFill>
              </a:rPr>
              <a:t>85.3%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7498080" y="3849624"/>
            <a:ext cx="1115568" cy="3566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7534656" y="3904487"/>
            <a:ext cx="10698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44444"/>
                </a:solidFill>
              </a:rPr>
              <a:t>₹2,233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137160" y="2313432"/>
            <a:ext cx="475488" cy="356616"/>
          </a:xfrm>
          <a:prstGeom prst="rect">
            <a:avLst/>
          </a:prstGeom>
          <a:solidFill>
            <a:srgbClr val="00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137160" y="2359152"/>
            <a:ext cx="4754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★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137160" y="4297680"/>
            <a:ext cx="11795760" cy="128016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274320" y="437083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</a:rPr>
              <a:t>STRATEGIC READ: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274320" y="4617720"/>
            <a:ext cx="11612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• Himalaya untouchable (#1, 99.5% WD) — focus on #3 Pond's gap (1.8pp, ₹1.5 Cr)
• Garnier/Pond's/Nivea all losing share — Mamaearth is the primary beneficiary
• Simple (+363%), Cetaphil (+5580%) &amp; The Derma Co (+3568%) = emerging D2C threat in premium segment
• Mamaearth PDO (₹7,025) beats Garnier (₹6,396) and Pond's (₹5,869) — per-store velocity advantage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274320" y="653796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444444"/>
                </a:solidFill>
              </a:rPr>
              <a:t>Source: Nielsen Retail Intelligence, IN Urban Modern Trade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PACK SIZE STRATEGY  |  Facewash Premiumization Signal — Jul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73152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2A"/>
                </a:solidFill>
              </a:rPr>
              <a:t>FACEWASH — Value by Pack Size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97280"/>
            <a:ext cx="749808" cy="30175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9456" y="1133856"/>
            <a:ext cx="70408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Pack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120" y="1097280"/>
            <a:ext cx="658368" cy="30175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6696" y="1133856"/>
            <a:ext cx="6126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₹ Cr</a:t>
            </a:r>
          </a:p>
        </p:txBody>
      </p:sp>
      <p:sp>
        <p:nvSpPr>
          <p:cNvPr id="9" name="Rectangle 8"/>
          <p:cNvSpPr/>
          <p:nvPr/>
        </p:nvSpPr>
        <p:spPr>
          <a:xfrm>
            <a:off x="1645920" y="1097280"/>
            <a:ext cx="566928" cy="30175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82496" y="1133856"/>
            <a:ext cx="5212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MS%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40280" y="1097280"/>
            <a:ext cx="704088" cy="30175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76856" y="1133856"/>
            <a:ext cx="6583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YoY%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71800" y="1097280"/>
            <a:ext cx="658368" cy="30175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08376" y="1133856"/>
            <a:ext cx="6126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MoM%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0" y="1097280"/>
            <a:ext cx="1664208" cy="30175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94176" y="1133856"/>
            <a:ext cx="161848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Signal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426464"/>
            <a:ext cx="749808" cy="301752"/>
          </a:xfrm>
          <a:prstGeom prst="rect">
            <a:avLst/>
          </a:prstGeom>
          <a:solidFill>
            <a:srgbClr val="E8F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9456" y="1463040"/>
            <a:ext cx="70408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D1B2A"/>
                </a:solidFill>
              </a:rPr>
              <a:t>150 ml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0120" y="1426464"/>
            <a:ext cx="658368" cy="301752"/>
          </a:xfrm>
          <a:prstGeom prst="rect">
            <a:avLst/>
          </a:prstGeom>
          <a:solidFill>
            <a:srgbClr val="E8F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6" y="1463040"/>
            <a:ext cx="6126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444444"/>
                </a:solidFill>
              </a:rPr>
              <a:t>₹32.1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45920" y="1426464"/>
            <a:ext cx="566928" cy="301752"/>
          </a:xfrm>
          <a:prstGeom prst="rect">
            <a:avLst/>
          </a:prstGeom>
          <a:solidFill>
            <a:srgbClr val="E8F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82496" y="1463040"/>
            <a:ext cx="5212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444444"/>
                </a:solidFill>
              </a:rPr>
              <a:t>39.1%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40280" y="1426464"/>
            <a:ext cx="704088" cy="301752"/>
          </a:xfrm>
          <a:prstGeom prst="rect">
            <a:avLst/>
          </a:prstGeom>
          <a:solidFill>
            <a:srgbClr val="E8F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276856" y="1463040"/>
            <a:ext cx="6583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07A4A"/>
                </a:solidFill>
              </a:rPr>
              <a:t>+59.7%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71800" y="1426464"/>
            <a:ext cx="658368" cy="301752"/>
          </a:xfrm>
          <a:prstGeom prst="rect">
            <a:avLst/>
          </a:prstGeom>
          <a:solidFill>
            <a:srgbClr val="E8F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08376" y="1463040"/>
            <a:ext cx="6126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44444"/>
                </a:solidFill>
              </a:rPr>
              <a:t>+3.2%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0" y="1426464"/>
            <a:ext cx="1664208" cy="301752"/>
          </a:xfrm>
          <a:prstGeom prst="rect">
            <a:avLst/>
          </a:prstGeom>
          <a:solidFill>
            <a:srgbClr val="E8F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94176" y="1463040"/>
            <a:ext cx="161848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44444"/>
                </a:solidFill>
              </a:rPr>
              <a:t>🔺 Fastest growing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82880" y="1755648"/>
            <a:ext cx="749808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19456" y="1792224"/>
            <a:ext cx="70408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D1B2A"/>
                </a:solidFill>
              </a:rPr>
              <a:t>100 ml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0120" y="1755648"/>
            <a:ext cx="658368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6696" y="1792224"/>
            <a:ext cx="6126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44444"/>
                </a:solidFill>
              </a:rPr>
              <a:t>₹24.0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645920" y="1755648"/>
            <a:ext cx="566928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682496" y="1792224"/>
            <a:ext cx="5212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44444"/>
                </a:solidFill>
              </a:rPr>
              <a:t>29.2%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240280" y="1755648"/>
            <a:ext cx="704088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276856" y="1792224"/>
            <a:ext cx="6583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C0392B"/>
                </a:solidFill>
              </a:rPr>
              <a:t>-9.8%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971800" y="1755648"/>
            <a:ext cx="658368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008376" y="1792224"/>
            <a:ext cx="6126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44444"/>
                </a:solidFill>
              </a:rPr>
              <a:t>-2.0%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0" y="1755648"/>
            <a:ext cx="1664208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94176" y="1792224"/>
            <a:ext cx="161848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44444"/>
                </a:solidFill>
              </a:rPr>
              <a:t>🔻 Declining — consumer shift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82880" y="2084832"/>
            <a:ext cx="749808" cy="30175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19456" y="2121408"/>
            <a:ext cx="70408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D1B2A"/>
                </a:solidFill>
              </a:rPr>
              <a:t>50 ml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60120" y="2084832"/>
            <a:ext cx="658368" cy="30175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96696" y="2121408"/>
            <a:ext cx="6126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44444"/>
                </a:solidFill>
              </a:rPr>
              <a:t>₹14.9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645920" y="2084832"/>
            <a:ext cx="566928" cy="30175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682496" y="2121408"/>
            <a:ext cx="5212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44444"/>
                </a:solidFill>
              </a:rPr>
              <a:t>18.1%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240280" y="2084832"/>
            <a:ext cx="704088" cy="30175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276856" y="2121408"/>
            <a:ext cx="6583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07A4A"/>
                </a:solidFill>
              </a:rPr>
              <a:t>+11.2%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971800" y="2084832"/>
            <a:ext cx="658368" cy="30175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008376" y="2121408"/>
            <a:ext cx="6126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44444"/>
                </a:solidFill>
              </a:rPr>
              <a:t>+1.4%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657600" y="2084832"/>
            <a:ext cx="1664208" cy="30175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694176" y="2121408"/>
            <a:ext cx="161848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44444"/>
                </a:solidFill>
              </a:rPr>
              <a:t>Steady — trial/travel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82880" y="2414016"/>
            <a:ext cx="749808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19456" y="2450592"/>
            <a:ext cx="70408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D1B2A"/>
                </a:solidFill>
              </a:rPr>
              <a:t>200 ml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0120" y="2414016"/>
            <a:ext cx="658368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96696" y="2450592"/>
            <a:ext cx="6126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44444"/>
                </a:solidFill>
              </a:rPr>
              <a:t>₹4.8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645920" y="2414016"/>
            <a:ext cx="566928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682496" y="2450592"/>
            <a:ext cx="5212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44444"/>
                </a:solidFill>
              </a:rPr>
              <a:t>5.8%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240280" y="2414016"/>
            <a:ext cx="704088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276856" y="2450592"/>
            <a:ext cx="6583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C0392B"/>
                </a:solidFill>
              </a:rPr>
              <a:t>-26.2%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971800" y="2414016"/>
            <a:ext cx="658368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008376" y="2450592"/>
            <a:ext cx="6126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44444"/>
                </a:solidFill>
              </a:rPr>
              <a:t>-12.7%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657600" y="2414016"/>
            <a:ext cx="1664208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694176" y="2450592"/>
            <a:ext cx="161848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44444"/>
                </a:solidFill>
              </a:rPr>
              <a:t>🔻 Heavy decline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82880" y="2743200"/>
            <a:ext cx="749808" cy="30175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19456" y="2779776"/>
            <a:ext cx="70408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D1B2A"/>
                </a:solidFill>
              </a:rPr>
              <a:t>125 ml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60120" y="2743200"/>
            <a:ext cx="658368" cy="30175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96696" y="2779776"/>
            <a:ext cx="6126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44444"/>
                </a:solidFill>
              </a:rPr>
              <a:t>₹2.0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645920" y="2743200"/>
            <a:ext cx="566928" cy="30175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82496" y="2779776"/>
            <a:ext cx="5212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44444"/>
                </a:solidFill>
              </a:rPr>
              <a:t>2.4%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240280" y="2743200"/>
            <a:ext cx="704088" cy="30175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276856" y="2779776"/>
            <a:ext cx="6583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07A4A"/>
                </a:solidFill>
              </a:rPr>
              <a:t>+400%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971800" y="2743200"/>
            <a:ext cx="658368" cy="30175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08376" y="2779776"/>
            <a:ext cx="6126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44444"/>
                </a:solidFill>
              </a:rPr>
              <a:t>+5.3%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657600" y="2743200"/>
            <a:ext cx="1664208" cy="30175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694176" y="2779776"/>
            <a:ext cx="161848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44444"/>
                </a:solidFill>
              </a:rPr>
              <a:t>🔺 New entrant, surging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82880" y="3072384"/>
            <a:ext cx="749808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19456" y="3108960"/>
            <a:ext cx="70408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D1B2A"/>
                </a:solidFill>
              </a:rPr>
              <a:t>Others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960120" y="3072384"/>
            <a:ext cx="658368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996696" y="3108960"/>
            <a:ext cx="6126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44444"/>
                </a:solidFill>
              </a:rPr>
              <a:t>₹4.5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645920" y="3072384"/>
            <a:ext cx="566928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682496" y="3108960"/>
            <a:ext cx="5212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44444"/>
                </a:solidFill>
              </a:rPr>
              <a:t>5.4%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240280" y="3072384"/>
            <a:ext cx="704088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276856" y="3108960"/>
            <a:ext cx="6583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44444"/>
                </a:solidFill>
              </a:rPr>
              <a:t>mixed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971800" y="3072384"/>
            <a:ext cx="658368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08376" y="3108960"/>
            <a:ext cx="6126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44444"/>
                </a:solidFill>
              </a:rPr>
              <a:t>mixed</a:t>
            </a:r>
          </a:p>
        </p:txBody>
      </p:sp>
      <p:sp>
        <p:nvSpPr>
          <p:cNvPr id="87" name="Rectangle 86"/>
          <p:cNvSpPr/>
          <p:nvPr/>
        </p:nvSpPr>
        <p:spPr>
          <a:xfrm>
            <a:off x="3657600" y="3072384"/>
            <a:ext cx="1664208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3694176" y="3108960"/>
            <a:ext cx="161848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44444"/>
                </a:solidFill>
              </a:rPr>
              <a:t>Niche segments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126480" y="731520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2A"/>
                </a:solidFill>
              </a:rPr>
              <a:t>SHAMPOO — Value by Pack Size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26480" y="1097280"/>
            <a:ext cx="749808" cy="30175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63056" y="1133856"/>
            <a:ext cx="70408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Pack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903720" y="1097280"/>
            <a:ext cx="658368" cy="30175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940296" y="1133856"/>
            <a:ext cx="6126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₹ Cr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589520" y="1097280"/>
            <a:ext cx="566928" cy="30175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626096" y="1133856"/>
            <a:ext cx="5212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MS%</a:t>
            </a:r>
          </a:p>
        </p:txBody>
      </p:sp>
      <p:sp>
        <p:nvSpPr>
          <p:cNvPr id="96" name="Rectangle 95"/>
          <p:cNvSpPr/>
          <p:nvPr/>
        </p:nvSpPr>
        <p:spPr>
          <a:xfrm>
            <a:off x="8183879" y="1097280"/>
            <a:ext cx="704088" cy="30175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220455" y="1133856"/>
            <a:ext cx="6583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YoY%</a:t>
            </a:r>
          </a:p>
        </p:txBody>
      </p:sp>
      <p:sp>
        <p:nvSpPr>
          <p:cNvPr id="98" name="Rectangle 97"/>
          <p:cNvSpPr/>
          <p:nvPr/>
        </p:nvSpPr>
        <p:spPr>
          <a:xfrm>
            <a:off x="8915400" y="1097280"/>
            <a:ext cx="2258568" cy="30175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8951976" y="1133856"/>
            <a:ext cx="22128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Signal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26480" y="1426464"/>
            <a:ext cx="749808" cy="301752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163056" y="1463040"/>
            <a:ext cx="70408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D1B2A"/>
                </a:solidFill>
              </a:rPr>
              <a:t>650 ml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903720" y="1426464"/>
            <a:ext cx="658368" cy="301752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940296" y="1463040"/>
            <a:ext cx="6126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444444"/>
                </a:solidFill>
              </a:rPr>
              <a:t>₹40.5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89520" y="1426464"/>
            <a:ext cx="566928" cy="301752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626096" y="1463040"/>
            <a:ext cx="5212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444444"/>
                </a:solidFill>
              </a:rPr>
              <a:t>26.0%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8183879" y="1426464"/>
            <a:ext cx="704088" cy="301752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8220455" y="1463040"/>
            <a:ext cx="6583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07A4A"/>
                </a:solidFill>
              </a:rPr>
              <a:t>+13.4%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8915400" y="1426464"/>
            <a:ext cx="2258568" cy="301752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8951976" y="1463040"/>
            <a:ext cx="22128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444444"/>
                </a:solidFill>
              </a:rPr>
              <a:t>🏆 #1 pack — growing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126480" y="1755648"/>
            <a:ext cx="749808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163056" y="1792224"/>
            <a:ext cx="70408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D1B2A"/>
                </a:solidFill>
              </a:rPr>
              <a:t>340 ml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903720" y="1755648"/>
            <a:ext cx="658368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940296" y="1792224"/>
            <a:ext cx="6126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44444"/>
                </a:solidFill>
              </a:rPr>
              <a:t>₹23.6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589520" y="1755648"/>
            <a:ext cx="566928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626096" y="1792224"/>
            <a:ext cx="5212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44444"/>
                </a:solidFill>
              </a:rPr>
              <a:t>15.1%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8183879" y="1755648"/>
            <a:ext cx="704088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8220455" y="1792224"/>
            <a:ext cx="6583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C0392B"/>
                </a:solidFill>
              </a:rPr>
              <a:t>-22.4%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8915400" y="1755648"/>
            <a:ext cx="2258568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8951976" y="1792224"/>
            <a:ext cx="22128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44444"/>
                </a:solidFill>
              </a:rPr>
              <a:t>🔻 Declining — losing to 650ml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126480" y="2084832"/>
            <a:ext cx="749808" cy="30175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163056" y="2121408"/>
            <a:ext cx="70408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D1B2A"/>
                </a:solidFill>
              </a:rPr>
              <a:t>180 ml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6903720" y="2084832"/>
            <a:ext cx="658368" cy="30175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6940296" y="2121408"/>
            <a:ext cx="6126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44444"/>
                </a:solidFill>
              </a:rPr>
              <a:t>₹22.3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7589520" y="2084832"/>
            <a:ext cx="566928" cy="30175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7626096" y="2121408"/>
            <a:ext cx="5212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44444"/>
                </a:solidFill>
              </a:rPr>
              <a:t>14.3%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8183879" y="2084832"/>
            <a:ext cx="704088" cy="30175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8220455" y="2121408"/>
            <a:ext cx="6583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07A4A"/>
                </a:solidFill>
              </a:rPr>
              <a:t>+1.8%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8915400" y="2084832"/>
            <a:ext cx="2258568" cy="30175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8951976" y="2121408"/>
            <a:ext cx="22128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44444"/>
                </a:solidFill>
              </a:rPr>
              <a:t>Stable mid-size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6126480" y="2414016"/>
            <a:ext cx="749808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6163056" y="2450592"/>
            <a:ext cx="70408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D1B2A"/>
                </a:solidFill>
              </a:rPr>
              <a:t>1000 ml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6903720" y="2414016"/>
            <a:ext cx="658368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6940296" y="2450592"/>
            <a:ext cx="6126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44444"/>
                </a:solidFill>
              </a:rPr>
              <a:t>₹20.7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7589520" y="2414016"/>
            <a:ext cx="566928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7626096" y="2450592"/>
            <a:ext cx="5212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44444"/>
                </a:solidFill>
              </a:rPr>
              <a:t>13.3%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8183879" y="2414016"/>
            <a:ext cx="704088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8220455" y="2450592"/>
            <a:ext cx="6583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07A4A"/>
                </a:solidFill>
              </a:rPr>
              <a:t>+58.0%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8915400" y="2414016"/>
            <a:ext cx="2258568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8951976" y="2450592"/>
            <a:ext cx="22128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44444"/>
                </a:solidFill>
              </a:rPr>
              <a:t>🔺 Premiumization leader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6126480" y="2743200"/>
            <a:ext cx="749808" cy="30175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6163056" y="2779776"/>
            <a:ext cx="70408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D1B2A"/>
                </a:solidFill>
              </a:rPr>
              <a:t>400 ml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6903720" y="2743200"/>
            <a:ext cx="658368" cy="30175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6940296" y="2779776"/>
            <a:ext cx="6126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44444"/>
                </a:solidFill>
              </a:rPr>
              <a:t>₹7.2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7589520" y="2743200"/>
            <a:ext cx="566928" cy="30175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7626096" y="2779776"/>
            <a:ext cx="5212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44444"/>
                </a:solidFill>
              </a:rPr>
              <a:t>4.6%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8183879" y="2743200"/>
            <a:ext cx="704088" cy="30175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8220455" y="2779776"/>
            <a:ext cx="6583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07A4A"/>
                </a:solidFill>
              </a:rPr>
              <a:t>+35.8%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8915400" y="2743200"/>
            <a:ext cx="2258568" cy="30175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8951976" y="2779776"/>
            <a:ext cx="22128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44444"/>
                </a:solidFill>
              </a:rPr>
              <a:t>Growing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6126480" y="3072384"/>
            <a:ext cx="749808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6163056" y="3108960"/>
            <a:ext cx="70408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D1B2A"/>
                </a:solidFill>
              </a:rPr>
              <a:t>200 ml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6903720" y="3072384"/>
            <a:ext cx="658368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6940296" y="3108960"/>
            <a:ext cx="6126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44444"/>
                </a:solidFill>
              </a:rPr>
              <a:t>₹6.1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7589520" y="3072384"/>
            <a:ext cx="566928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7626096" y="3108960"/>
            <a:ext cx="5212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44444"/>
                </a:solidFill>
              </a:rPr>
              <a:t>3.9%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8183879" y="3072384"/>
            <a:ext cx="704088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8220455" y="3108960"/>
            <a:ext cx="6583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07A4A"/>
                </a:solidFill>
              </a:rPr>
              <a:t>+8.9%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8915400" y="3072384"/>
            <a:ext cx="2258568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8951976" y="3108960"/>
            <a:ext cx="22128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44444"/>
                </a:solidFill>
              </a:rPr>
              <a:t>Steady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6126480" y="3401568"/>
            <a:ext cx="749808" cy="30175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6163056" y="3438144"/>
            <a:ext cx="70408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D1B2A"/>
                </a:solidFill>
              </a:rPr>
              <a:t>Others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6903720" y="3401568"/>
            <a:ext cx="658368" cy="30175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6940296" y="3438144"/>
            <a:ext cx="6126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44444"/>
                </a:solidFill>
              </a:rPr>
              <a:t>₹35.5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7589520" y="3401568"/>
            <a:ext cx="566928" cy="30175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7626096" y="3438144"/>
            <a:ext cx="5212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44444"/>
                </a:solidFill>
              </a:rPr>
              <a:t>22.8%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8183879" y="3401568"/>
            <a:ext cx="704088" cy="30175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8220455" y="3438144"/>
            <a:ext cx="6583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44444"/>
                </a:solidFill>
              </a:rPr>
              <a:t>mixed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8915400" y="3401568"/>
            <a:ext cx="2258568" cy="30175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8951976" y="3438144"/>
            <a:ext cx="22128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44444"/>
                </a:solidFill>
              </a:rPr>
              <a:t>Fragmented tail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182880" y="4480560"/>
            <a:ext cx="11795760" cy="1188720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320040" y="455371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47E00"/>
                </a:solidFill>
              </a:rPr>
              <a:t>📦 PACK SIZE STRATEGY ACTIONS: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320040" y="4846320"/>
            <a:ext cx="11521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FACEWASH: Shift investment to 150ml — the +59.7% YoY growth signals consumer premiumization. Reduce 200ml dependence (-26.2%). Track 125ml acceleration. | SHAMPOO: Category is premiumizing into large packs. 1000ml (+58% YoY) &amp; 650ml (#1 pack) are the growth engines. Small pack (≤100ml) at just 4.6% — avoid over-investing in trial packs for modern trade.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274320" y="653796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444444"/>
                </a:solidFill>
              </a:rPr>
              <a:t>Source: Nielsen Retail Intelligence, IN Urban Modern Trade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OPPORTUNITY SIZING  |  Mamaearth Facewash — Growth Levers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777240"/>
            <a:ext cx="5760720" cy="2377440"/>
          </a:xfrm>
          <a:prstGeom prst="rect">
            <a:avLst/>
          </a:prstGeom>
          <a:solidFill>
            <a:srgbClr val="00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86868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🎯 Reach 15% MS
(Match Garnier)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417319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₹+3.1 Cr/month
~₹38 Cr annualized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874519"/>
            <a:ext cx="557784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96596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Mamaearth at 11.2% vs Garnier at 13.3%
Needs: ₹3.1 Cr incremental/month
Timeline: 6-8 months at current pace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777240"/>
            <a:ext cx="5760720" cy="2377440"/>
          </a:xfrm>
          <a:prstGeom prst="rect">
            <a:avLst/>
          </a:prstGeom>
          <a:solidFill>
            <a:srgbClr val="1A6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86868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🏪 Close Dist Gap
(Match Clean &amp; Clear)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417319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₹+2.1 Cr uplift
if WD reaches 97%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874519"/>
            <a:ext cx="557784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96596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WD gap: 89.2% → 97% = +7.8pp
~+1,154 additional stores needed
PDO maintained at ₹7,025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3337560"/>
            <a:ext cx="5760720" cy="2377440"/>
          </a:xfrm>
          <a:prstGeom prst="rect">
            <a:avLst/>
          </a:prstGeom>
          <a:solidFill>
            <a:srgbClr val="D47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342900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⚡ Improve PDO
(Velocity = Himalaya)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977639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₹+28.5 Cr/month
potential (13K stores)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434840"/>
            <a:ext cx="557784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452628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Gap: ₹7,025 vs ₹9,179/store = 31%
Focus: in-store visibility, POSM
Timeline: 3-6 month activation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3337560"/>
            <a:ext cx="5760720" cy="237744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342900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🔺 150ml Leadership
(Lead the pack shift)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3977639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Category at ₹32.1 Cr
in 150ml — growing fast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4434840"/>
            <a:ext cx="557784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452628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150ml now 39.1% of FW category
+59.7% YoY — fastest growing SKU
First mover advantage in premiumization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653796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444444"/>
                </a:solidFill>
              </a:rPr>
              <a:t>Source: Nielsen Retail Intelligence, IN Urban Modern Trade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ACTION PLAN  |  Facewash &amp; Shampoo — Nielsen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777240"/>
            <a:ext cx="576072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822960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IMMEDIATE (Aug-Sep 26)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143000"/>
            <a:ext cx="5760720" cy="12801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1143000"/>
            <a:ext cx="320040" cy="12801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16002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1615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</a:rPr>
              <a:t>Diagnose Jul 26 NSV dip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527048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NSV fell -3.2% MoM despite +0% category — check store-level sell-out by chain/zone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10312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444444"/>
                </a:solidFill>
              </a:rPr>
              <a:t>Owner: Category Manager  |  By: WD 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" y="2514600"/>
            <a:ext cx="576072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82880" y="2514600"/>
            <a:ext cx="320040" cy="12801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8600" y="29718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58775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</a:rPr>
              <a:t>Audit 150ml distribution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898648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150ml is +59.7% YoY — ensure Mamaearth has full range in this pack across all 13K stores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47472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444444"/>
                </a:solidFill>
              </a:rPr>
              <a:t>Owner: Sales Ops  |  By: WD 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" y="3886200"/>
            <a:ext cx="5760720" cy="12801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82880" y="3886200"/>
            <a:ext cx="320040" cy="12801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8600" y="43434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95935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</a:rPr>
              <a:t>PDO activation plan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270248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₹7,025 vs Himalaya ₹9,177 — deploy POSM + in-store activations to lift velocity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84632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444444"/>
                </a:solidFill>
              </a:rPr>
              <a:t>Owner: Trade Mktg  |  By: WD 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200" y="777240"/>
            <a:ext cx="5760720" cy="320040"/>
          </a:xfrm>
          <a:prstGeom prst="rect">
            <a:avLst/>
          </a:prstGeom>
          <a:solidFill>
            <a:srgbClr val="D47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822960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SHORT-TERM (Oct-Dec 26)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72200" y="1143000"/>
            <a:ext cx="5760720" cy="12801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72200" y="1143000"/>
            <a:ext cx="320040" cy="1280160"/>
          </a:xfrm>
          <a:prstGeom prst="rect">
            <a:avLst/>
          </a:prstGeom>
          <a:solidFill>
            <a:srgbClr val="D47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0" y="16002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121615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</a:rPr>
              <a:t>Distribution push to 95% WD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1527048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Close gap to Clean &amp; Clear (97%): add ~1,000 stores, focus on Tier-2 MT formats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210312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444444"/>
                </a:solidFill>
              </a:rPr>
              <a:t>Owner: Sales Lead  |  By: Q3 26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72200" y="2514600"/>
            <a:ext cx="576072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72200" y="2514600"/>
            <a:ext cx="320040" cy="1280160"/>
          </a:xfrm>
          <a:prstGeom prst="rect">
            <a:avLst/>
          </a:prstGeom>
          <a:solidFill>
            <a:srgbClr val="D47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20" y="29718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37960" y="258775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</a:rPr>
              <a:t>Pond's competitive raid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60" y="2898648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1.8pp / ₹1.5 Cr gap — targeted promotional support in Modern Trade to overtake #3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37960" y="347472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444444"/>
                </a:solidFill>
              </a:rPr>
              <a:t>Owner: Commercial  |  By: Oct 26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72200" y="3886200"/>
            <a:ext cx="5760720" cy="12801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72200" y="3886200"/>
            <a:ext cx="320040" cy="1280160"/>
          </a:xfrm>
          <a:prstGeom prst="rect">
            <a:avLst/>
          </a:prstGeom>
          <a:solidFill>
            <a:srgbClr val="D47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17920" y="43434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37960" y="395935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</a:rPr>
              <a:t>Shampoo 1L opportunity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37960" y="4270248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1000ml +58% YoY — confirm Mamaearth SKU presence and visibility in this segment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37960" y="484632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444444"/>
                </a:solidFill>
              </a:rPr>
              <a:t>Owner: Category Mgr  |  By: Q3 26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4320" y="653796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444444"/>
                </a:solidFill>
              </a:rPr>
              <a:t>Source: Nielsen Retail Intelligence, IN Urban Modern Trade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A9D8F"/>
                </a:solidFill>
              </a:rPr>
              <a:t>SUMMARY SCORECARD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Mamaearth Facewash — Jul 2026 Nielsen Report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3566160" cy="365760"/>
          </a:xfrm>
          <a:prstGeom prst="rect">
            <a:avLst/>
          </a:prstGeom>
          <a:solidFill>
            <a:srgbClr val="00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7373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✅ STRENGTHS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• Growing 3× faster than category: +47.7% YoY vs +16.2%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8892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• Gained +2.4pp market share YoY — now at 11.2% (#4)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42900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• +2,671 new stores / +6.4pp weighted distribution expansion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69079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• Premium pricing maintained: ₹1.70/ml (+6.2% YoY) accepted by trade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1691640"/>
            <a:ext cx="3566160" cy="365760"/>
          </a:xfrm>
          <a:prstGeom prst="rect">
            <a:avLst/>
          </a:prstGeom>
          <a:solidFill>
            <a:srgbClr val="D47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79" y="17373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⚠️ WATCHPOINTS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79" y="214884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• Jul 26 MoM dip: -3.2% NSV vs flat category — needs root cause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79" y="278892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• PDO gap: ₹7,025 vs Himalaya ₹9,177 — 31% velocity deficit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79" y="342900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• D2C insurgents: Simple (+363%), The Derma Co (+3568%) gaining fast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79" y="4069079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• Distribution ceiling approaching — quality &gt; quantity next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55279" y="1691640"/>
            <a:ext cx="3566160" cy="365760"/>
          </a:xfrm>
          <a:prstGeom prst="rect">
            <a:avLst/>
          </a:prstGeom>
          <a:solidFill>
            <a:srgbClr val="1A6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19" y="17373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🎯 PRIORITIES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19" y="214884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• Overtake Pond's (#3) — 1.8pp gap, ₹1.5 Cr/month NSV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19" y="278892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• 150ml leadership — fastest growing pack, premiumization wave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19" y="342900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• PDO activation — POSM + in-store to close Himalaya velocity gap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19" y="4069079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• Shampoo: 1000ml presence — +58% YoY, premiumization opportunity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5836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999999"/>
                </a:solidFill>
              </a:rPr>
              <a:t>Source: Nielsen Retail Intelligence | IN Urban Modern Trade | July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