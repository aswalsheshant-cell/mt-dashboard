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drawing1.xml" ContentType="application/vnd.openxmlformats-officedocument.drawingml.chartshapes+xml"/>
  <Override PartName="/ppt/drawings/drawing2.xml" ContentType="application/vnd.openxmlformats-officedocument.drawingml.chartshap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9" r:id="rId4"/>
    <p:sldId id="270" r:id="rId11"/>
    <p:sldId id="271" r:id="rId12"/>
    <p:sldId id="272" r:id="rId13"/>
    <p:sldId id="273" r:id="rId14"/>
    <p:sldId id="274" r:id="rId15"/>
    <p:sldId id="275" r:id="rId16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6FBF8"/>
    <a:srgbClr val="289C83"/>
    <a:srgbClr val="1E7461"/>
    <a:srgbClr val="70F4BB"/>
    <a:srgbClr val="2DAD92"/>
    <a:srgbClr val="2EB094"/>
    <a:srgbClr val="6DD9C2"/>
    <a:srgbClr val="CC99FF"/>
    <a:srgbClr val="FFFF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75446" autoAdjust="0"/>
  </p:normalViewPr>
  <p:slideViewPr>
    <p:cSldViewPr snapToGrid="0" snapToObjects="1">
      <p:cViewPr>
        <p:scale>
          <a:sx n="66" d="100"/>
          <a:sy n="66" d="100"/>
        </p:scale>
        <p:origin x="1312" y="-1556"/>
      </p:cViewPr>
      <p:guideLst>
        <p:guide orient="horz" pos="3366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728" y="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Relationship Id="rId2" Type="http://schemas.openxmlformats.org/officeDocument/2006/relationships/chartUserShapes" Target="../drawings/drawing1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Relationship Id="rId2" Type="http://schemas.openxmlformats.org/officeDocument/2006/relationships/chartUserShapes" Target="../drawings/drawing2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2466</c:v>
                </c:pt>
                <c:pt idx="1">
                  <c:v>3039</c:v>
                </c:pt>
                <c:pt idx="2">
                  <c:v>2761</c:v>
                </c:pt>
                <c:pt idx="3">
                  <c:v>3234</c:v>
                </c:pt>
                <c:pt idx="4">
                  <c:v>3589</c:v>
                </c:pt>
                <c:pt idx="5">
                  <c:v>4019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DA-4911-B739-110D1015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D-mart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897</c:v>
                </c:pt>
                <c:pt idx="1">
                  <c:v>967</c:v>
                </c:pt>
                <c:pt idx="2">
                  <c:v>928</c:v>
                </c:pt>
                <c:pt idx="3">
                  <c:v>1226</c:v>
                </c:pt>
                <c:pt idx="4">
                  <c:v>1258</c:v>
                </c:pt>
                <c:pt idx="5">
                  <c:v>1518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DA-4911-B739-110D1015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Reliance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715</c:v>
                </c:pt>
                <c:pt idx="1">
                  <c:v>900</c:v>
                </c:pt>
                <c:pt idx="2">
                  <c:v>757</c:v>
                </c:pt>
                <c:pt idx="3">
                  <c:v>805</c:v>
                </c:pt>
                <c:pt idx="4">
                  <c:v>868</c:v>
                </c:pt>
                <c:pt idx="5">
                  <c:v>990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DA-4911-B739-110D101530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Apollo</c:v>
                </c:pt>
              </c:strCache>
            </c:strRef>
          </c:tx>
          <c:spPr>
            <a:ln w="25400" cap="flat">
              <a:solidFill>
                <a:srgbClr val="7E57C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7E57C2"/>
              </a:solidFill>
              <a:ln w="9525" cap="flat">
                <a:solidFill>
                  <a:srgbClr val="7E57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272</c:v>
                </c:pt>
                <c:pt idx="1">
                  <c:v>534</c:v>
                </c:pt>
                <c:pt idx="2">
                  <c:v>511</c:v>
                </c:pt>
                <c:pt idx="3">
                  <c:v>570</c:v>
                </c:pt>
                <c:pt idx="4">
                  <c:v>699</c:v>
                </c:pt>
                <c:pt idx="5">
                  <c:v>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DA-4911-B739-110D1015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8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915217200568166"/>
          <c:y val="3.4679707782406567E-2"/>
          <c:w val="0.85273961525591291"/>
          <c:h val="0.6612299369996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numCache>
                <c:formatCode>General</c:formatCode>
                <c:ptCount val="10"/>
                <c:pt idx="0">
                  <c:v>1518</c:v>
                </c:pt>
                <c:pt idx="1">
                  <c:v>990</c:v>
                </c:pt>
                <c:pt idx="2">
                  <c:v>751</c:v>
                </c:pt>
                <c:pt idx="3">
                  <c:v>208</c:v>
                </c:pt>
                <c:pt idx="4">
                  <c:v>102</c:v>
                </c:pt>
                <c:pt idx="5">
                  <c:v>87</c:v>
                </c:pt>
                <c:pt idx="6">
                  <c:v>116</c:v>
                </c:pt>
                <c:pt idx="7">
                  <c:v>48</c:v>
                </c:pt>
                <c:pt idx="8">
                  <c:v>46</c:v>
                </c:pt>
                <c:pt idx="9">
                  <c:v>55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D3-4E7A-940E-55667ED1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52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04850073429631"/>
          <c:y val="3.8657366043831007E-2"/>
          <c:w val="0.67892894986336516"/>
          <c:h val="0.918810526792167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AF-4EE4-884F-89762958C52C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AF-4EE4-884F-89762958C52C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AF-4EE4-884F-89762958C52C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AF-4EE4-884F-89762958C52C}"/>
              </c:ext>
            </c:extLst>
          </c:dPt>
          <c:dPt>
            <c:idx val="4"/>
            <c:invertIfNegative val="0"/>
            <c:bubble3D val="0"/>
            <c:spPr>
              <a:solidFill>
                <a:srgbClr val="8B45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AF-4EE4-884F-89762958C52C}"/>
              </c:ext>
            </c:extLst>
          </c:dPt>
          <c:dPt>
            <c:idx val="5"/>
            <c:invertIfNegative val="0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AF-4EE4-884F-89762958C52C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AF-4EE4-884F-89762958C52C}"/>
              </c:ext>
            </c:extLst>
          </c:dPt>
          <c:dLbls>
            <c:dLbl>
              <c:idx val="0"/>
              <c:layout>
                <c:manualLayout>
                  <c:x val="0"/>
                  <c:y val="-2.3348756093794394E-3"/>
                </c:manualLayout>
              </c:layout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38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181186600728544"/>
                      <c:h val="0.1874654061099505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5AF-4EE4-884F-89762958C52C}"/>
                </c:ext>
              </c:extLst>
            </c:dLbl>
            <c:dLbl>
              <c:idx val="1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AF-4EE4-884F-89762958C52C}"/>
                </c:ext>
              </c:extLst>
            </c:dLbl>
            <c:dLbl>
              <c:idx val="2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19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AF-4EE4-884F-89762958C52C}"/>
                </c:ext>
              </c:extLst>
            </c:dLbl>
            <c:dLbl>
              <c:idx val="3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AF-4EE4-884F-89762958C52C}"/>
                </c:ext>
              </c:extLst>
            </c:dLbl>
            <c:dLbl>
              <c:idx val="4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AF-4EE4-884F-89762958C52C}"/>
                </c:ext>
              </c:extLst>
            </c:dLbl>
            <c:dLbl>
              <c:idx val="5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AF-4EE4-884F-89762958C52C}"/>
                </c:ext>
              </c:extLst>
            </c:dLbl>
            <c:dLbl>
              <c:idx val="6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AF-4EE4-884F-89762958C52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-120000"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37.9</c:v>
                </c:pt>
                <c:pt idx="1">
                  <c:v>24.7</c:v>
                </c:pt>
                <c:pt idx="2">
                  <c:v>18.7</c:v>
                </c:pt>
                <c:pt idx="3">
                  <c:v>5.2</c:v>
                </c:pt>
                <c:pt idx="4">
                  <c:v>2.9</c:v>
                </c:pt>
                <c:pt idx="5">
                  <c:v>2.5</c:v>
                </c:pt>
                <c:pt idx="6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AF-4EE4-884F-89762958C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83303023"/>
        <c:axId val="1483303503"/>
      </c:barChart>
      <c:valAx>
        <c:axId val="148330350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83303023"/>
        <c:crosses val="autoZero"/>
        <c:crossBetween val="between"/>
      </c:valAx>
      <c:catAx>
        <c:axId val="148330302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8330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5779382112253881E-2"/>
          <c:y val="0.25109876483050692"/>
          <c:w val="0.95226512081418879"/>
          <c:h val="0.58272136520231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865</c:v>
                </c:pt>
                <c:pt idx="1">
                  <c:v>836</c:v>
                </c:pt>
                <c:pt idx="2">
                  <c:v>810</c:v>
                </c:pt>
                <c:pt idx="3">
                  <c:v>903</c:v>
                </c:pt>
                <c:pt idx="4">
                  <c:v>756</c:v>
                </c:pt>
                <c:pt idx="5">
                  <c:v>867</c:v>
                </c:pt>
                <c:pt idx="6">
                  <c:v>803</c:v>
                </c:pt>
                <c:pt idx="7">
                  <c:v>768</c:v>
                </c:pt>
                <c:pt idx="8">
                  <c:v>843</c:v>
                </c:pt>
                <c:pt idx="9">
                  <c:v>828</c:v>
                </c:pt>
                <c:pt idx="10">
                  <c:v>935</c:v>
                </c:pt>
                <c:pt idx="11">
                  <c:v>1000</c:v>
                </c:pt>
                <c:pt idx="12">
                  <c:v>1112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CF4-4797-A596-F34506455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104286522012647E-2"/>
          <c:y val="0.2510982201560491"/>
          <c:w val="0.94901638652967191"/>
          <c:h val="0.59937219626576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92549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516</c:v>
                </c:pt>
                <c:pt idx="1">
                  <c:v>491</c:v>
                </c:pt>
                <c:pt idx="2">
                  <c:v>509</c:v>
                </c:pt>
                <c:pt idx="3">
                  <c:v>635</c:v>
                </c:pt>
                <c:pt idx="4">
                  <c:v>489</c:v>
                </c:pt>
                <c:pt idx="5">
                  <c:v>601</c:v>
                </c:pt>
                <c:pt idx="6">
                  <c:v>534</c:v>
                </c:pt>
                <c:pt idx="7">
                  <c:v>633</c:v>
                </c:pt>
                <c:pt idx="8">
                  <c:v>701</c:v>
                </c:pt>
                <c:pt idx="9">
                  <c:v>570</c:v>
                </c:pt>
                <c:pt idx="10">
                  <c:v>630</c:v>
                </c:pt>
                <c:pt idx="11">
                  <c:v>715</c:v>
                </c:pt>
                <c:pt idx="12">
                  <c:v>787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721-4F38-B758-5A355A01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120629355289873E-2"/>
          <c:y val="0.26949285491099939"/>
          <c:w val="0.91851889873353298"/>
          <c:h val="0.4615901404049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211</c:v>
                </c:pt>
                <c:pt idx="1">
                  <c:v>144</c:v>
                </c:pt>
                <c:pt idx="2">
                  <c:v>101</c:v>
                </c:pt>
                <c:pt idx="3">
                  <c:v>94</c:v>
                </c:pt>
                <c:pt idx="4">
                  <c:v>87</c:v>
                </c:pt>
                <c:pt idx="5">
                  <c:v>103</c:v>
                </c:pt>
                <c:pt idx="6">
                  <c:v>91</c:v>
                </c:pt>
                <c:pt idx="7">
                  <c:v>92</c:v>
                </c:pt>
                <c:pt idx="8">
                  <c:v>109</c:v>
                </c:pt>
                <c:pt idx="9">
                  <c:v>166</c:v>
                </c:pt>
                <c:pt idx="10">
                  <c:v>306</c:v>
                </c:pt>
                <c:pt idx="11">
                  <c:v>364</c:v>
                </c:pt>
                <c:pt idx="12">
                  <c:v>352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EDF-4B4A-BEFA-A31E29BCC0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750" b="1"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5011820330969264E-2"/>
          <c:y val="0.21971123666038919"/>
          <c:w val="0.86984838331378789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44</c:v>
                </c:pt>
                <c:pt idx="1">
                  <c:v>47</c:v>
                </c:pt>
                <c:pt idx="2">
                  <c:v>56</c:v>
                </c:pt>
                <c:pt idx="3">
                  <c:v>70</c:v>
                </c:pt>
                <c:pt idx="4">
                  <c:v>73</c:v>
                </c:pt>
                <c:pt idx="5">
                  <c:v>90</c:v>
                </c:pt>
                <c:pt idx="6">
                  <c:v>106</c:v>
                </c:pt>
                <c:pt idx="7">
                  <c:v>171</c:v>
                </c:pt>
                <c:pt idx="8">
                  <c:v>307</c:v>
                </c:pt>
                <c:pt idx="9">
                  <c:v>281</c:v>
                </c:pt>
                <c:pt idx="10">
                  <c:v>340</c:v>
                </c:pt>
                <c:pt idx="11">
                  <c:v>405</c:v>
                </c:pt>
                <c:pt idx="12">
                  <c:v>557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396-4471-9054-2499F13A8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0401757689893282"/>
          <c:w val="0.86393821782915436"/>
          <c:h val="0.64645335646603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94</c:v>
                </c:pt>
                <c:pt idx="1">
                  <c:v>85</c:v>
                </c:pt>
                <c:pt idx="2">
                  <c:v>73</c:v>
                </c:pt>
                <c:pt idx="3">
                  <c:v>77</c:v>
                </c:pt>
                <c:pt idx="4">
                  <c:v>76</c:v>
                </c:pt>
                <c:pt idx="5">
                  <c:v>85</c:v>
                </c:pt>
                <c:pt idx="6">
                  <c:v>90</c:v>
                </c:pt>
                <c:pt idx="7">
                  <c:v>104</c:v>
                </c:pt>
                <c:pt idx="8">
                  <c:v>123</c:v>
                </c:pt>
                <c:pt idx="9">
                  <c:v>135</c:v>
                </c:pt>
                <c:pt idx="10">
                  <c:v>245</c:v>
                </c:pt>
                <c:pt idx="11">
                  <c:v>334</c:v>
                </c:pt>
                <c:pt idx="12">
                  <c:v>429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AB6-4B7C-9B2B-EC9BDF7BA2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3486625342045011E-2"/>
          <c:y val="0.19617074701820464"/>
          <c:w val="0.93486020364475708"/>
          <c:h val="0.65430018634676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63</c:v>
                </c:pt>
                <c:pt idx="1">
                  <c:v>60</c:v>
                </c:pt>
                <c:pt idx="2">
                  <c:v>64</c:v>
                </c:pt>
                <c:pt idx="3">
                  <c:v>71</c:v>
                </c:pt>
                <c:pt idx="4">
                  <c:v>58</c:v>
                </c:pt>
                <c:pt idx="5">
                  <c:v>69</c:v>
                </c:pt>
                <c:pt idx="6">
                  <c:v>75</c:v>
                </c:pt>
                <c:pt idx="7">
                  <c:v>92</c:v>
                </c:pt>
                <c:pt idx="8">
                  <c:v>92</c:v>
                </c:pt>
                <c:pt idx="9">
                  <c:v>78</c:v>
                </c:pt>
                <c:pt idx="10">
                  <c:v>80</c:v>
                </c:pt>
                <c:pt idx="11">
                  <c:v>96</c:v>
                </c:pt>
                <c:pt idx="12">
                  <c:v>92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6E10-4B2C-9E7C-D3436EF760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411</c:v>
                </c:pt>
                <c:pt idx="1">
                  <c:v>934</c:v>
                </c:pt>
                <c:pt idx="2">
                  <c:v>894</c:v>
                </c:pt>
                <c:pt idx="3">
                  <c:v>554</c:v>
                </c:pt>
                <c:pt idx="4">
                  <c:v>1017</c:v>
                </c:pt>
                <c:pt idx="5">
                  <c:v>208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1E1-4A86-928A-6318F3BF6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78200483091799E-2"/>
          <c:y val="6.2499999999999986E-2"/>
          <c:w val="0.6145229468599035"/>
          <c:h val="0.8973985890652558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F-4732-9B05-022234032F3D}"/>
              </c:ext>
            </c:extLst>
          </c:dPt>
          <c:dPt>
            <c:idx val="1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F-4732-9B05-022234032F3D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F-4732-9B05-022234032F3D}"/>
              </c:ext>
            </c:extLst>
          </c:dPt>
          <c:dPt>
            <c:idx val="3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9F-4732-9B05-022234032F3D}"/>
              </c:ext>
            </c:extLst>
          </c:dPt>
          <c:dPt>
            <c:idx val="4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9F-4732-9B05-022234032F3D}"/>
              </c:ext>
            </c:extLst>
          </c:dPt>
          <c:dPt>
            <c:idx val="5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9F-4732-9B05-022234032F3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F-4732-9B05-022234032F3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F-4732-9B05-022234032F3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F-4732-9B05-022234032F3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F-4732-9B05-022234032F3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F-4732-9B05-022234032F3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9F-4732-9B05-022234032F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numCache>
                <c:formatCode>General</c:formatCode>
                <c:ptCount val="6"/>
                <c:pt idx="0">
                  <c:v>10.3</c:v>
                </c:pt>
                <c:pt idx="1">
                  <c:v>23.2</c:v>
                </c:pt>
                <c:pt idx="2">
                  <c:v>22.3</c:v>
                </c:pt>
                <c:pt idx="3">
                  <c:v>13.8</c:v>
                </c:pt>
                <c:pt idx="4">
                  <c:v>25.3</c:v>
                </c:pt>
                <c:pt idx="5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9F-4732-9B05-022234032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18297101449281"/>
          <c:y val="4.7062610229276887E-2"/>
          <c:w val="0.24980978260869566"/>
          <c:h val="0.90027513227513223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en-US"/>
    </a:p>
  </c:tx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5421926234492152E-2"/>
          <c:y val="0.26864134364336634"/>
          <c:w val="0.93170112609475297"/>
          <c:h val="0.58182914472188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92</c:v>
                </c:pt>
                <c:pt idx="1">
                  <c:v>97</c:v>
                </c:pt>
                <c:pt idx="2">
                  <c:v>102</c:v>
                </c:pt>
                <c:pt idx="3">
                  <c:v>105</c:v>
                </c:pt>
                <c:pt idx="4">
                  <c:v>107</c:v>
                </c:pt>
                <c:pt idx="5">
                  <c:v>106</c:v>
                </c:pt>
                <c:pt idx="6">
                  <c:v>105</c:v>
                </c:pt>
                <c:pt idx="7">
                  <c:v>105</c:v>
                </c:pt>
                <c:pt idx="8">
                  <c:v>106</c:v>
                </c:pt>
                <c:pt idx="9">
                  <c:v>109</c:v>
                </c:pt>
                <c:pt idx="10">
                  <c:v>114</c:v>
                </c:pt>
                <c:pt idx="11">
                  <c:v>120</c:v>
                </c:pt>
                <c:pt idx="12">
                  <c:v>132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4928814803513822E-2"/>
          <c:y val="0.21060446415131887"/>
          <c:w val="0.90237313469136882"/>
          <c:h val="0.59819576648034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69</c:v>
                </c:pt>
                <c:pt idx="1">
                  <c:v>75</c:v>
                </c:pt>
                <c:pt idx="2">
                  <c:v>80</c:v>
                </c:pt>
                <c:pt idx="3">
                  <c:v>84</c:v>
                </c:pt>
                <c:pt idx="4">
                  <c:v>87</c:v>
                </c:pt>
                <c:pt idx="5">
                  <c:v>88</c:v>
                </c:pt>
                <c:pt idx="6">
                  <c:v>89</c:v>
                </c:pt>
                <c:pt idx="7">
                  <c:v>90</c:v>
                </c:pt>
                <c:pt idx="8">
                  <c:v>92</c:v>
                </c:pt>
                <c:pt idx="9">
                  <c:v>95</c:v>
                </c:pt>
                <c:pt idx="10">
                  <c:v>101</c:v>
                </c:pt>
                <c:pt idx="11">
                  <c:v>108</c:v>
                </c:pt>
                <c:pt idx="12">
                  <c:v>122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853393475036016E-2"/>
          <c:y val="0.20540967764644144"/>
          <c:w val="0.92341816753503314"/>
          <c:h val="0.62561357251195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15</c:v>
                </c:pt>
                <c:pt idx="3">
                  <c:v>16</c:v>
                </c:pt>
                <c:pt idx="4">
                  <c:v>17</c:v>
                </c:pt>
                <c:pt idx="5">
                  <c:v>19</c:v>
                </c:pt>
                <c:pt idx="6">
                  <c:v>20</c:v>
                </c:pt>
                <c:pt idx="7">
                  <c:v>22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30</c:v>
                </c:pt>
                <c:pt idx="12">
                  <c:v>36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6365675834534624"/>
          <c:w val="0.92972068460169122"/>
          <c:h val="0.5478889942766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287637383212361E-2"/>
          <c:y val="0.25504911390463525"/>
          <c:w val="0.92958685215902304"/>
          <c:h val="0.5483802317332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14</c:v>
                </c:pt>
                <c:pt idx="10">
                  <c:v>15</c:v>
                </c:pt>
                <c:pt idx="11">
                  <c:v>15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6896996038139206E-2"/>
          <c:y val="0.22413394136912687"/>
          <c:w val="0.93013806859507275"/>
          <c:h val="0.58741140543328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738344308678995E-2"/>
          <c:y val="0.25219642803472847"/>
          <c:w val="0.94379813555378289"/>
          <c:h val="0.60647312393168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202</c:v>
                </c:pt>
                <c:pt idx="1">
                  <c:v>191</c:v>
                </c:pt>
                <c:pt idx="2">
                  <c:v>187</c:v>
                </c:pt>
                <c:pt idx="3">
                  <c:v>227</c:v>
                </c:pt>
                <c:pt idx="4">
                  <c:v>177</c:v>
                </c:pt>
                <c:pt idx="5">
                  <c:v>199</c:v>
                </c:pt>
                <c:pt idx="6">
                  <c:v>182</c:v>
                </c:pt>
                <c:pt idx="7">
                  <c:v>181</c:v>
                </c:pt>
                <c:pt idx="8">
                  <c:v>198</c:v>
                </c:pt>
                <c:pt idx="9">
                  <c:v>195</c:v>
                </c:pt>
                <c:pt idx="10">
                  <c:v>228</c:v>
                </c:pt>
                <c:pt idx="11">
                  <c:v>245</c:v>
                </c:pt>
                <c:pt idx="12">
                  <c:v>262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8.933430277358391E-2"/>
          <c:w val="0.93375367464054193"/>
          <c:h val="0.74772363790767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122</c:v>
                </c:pt>
                <c:pt idx="1">
                  <c:v>102</c:v>
                </c:pt>
                <c:pt idx="2">
                  <c:v>114</c:v>
                </c:pt>
                <c:pt idx="3">
                  <c:v>160</c:v>
                </c:pt>
                <c:pt idx="4">
                  <c:v>109</c:v>
                </c:pt>
                <c:pt idx="5">
                  <c:v>136</c:v>
                </c:pt>
                <c:pt idx="6">
                  <c:v>119</c:v>
                </c:pt>
                <c:pt idx="7">
                  <c:v>146</c:v>
                </c:pt>
                <c:pt idx="8">
                  <c:v>171</c:v>
                </c:pt>
                <c:pt idx="9">
                  <c:v>134</c:v>
                </c:pt>
                <c:pt idx="10">
                  <c:v>146</c:v>
                </c:pt>
                <c:pt idx="11">
                  <c:v>176</c:v>
                </c:pt>
                <c:pt idx="12">
                  <c:v>188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085690813967721E-2"/>
          <c:y val="0.16478363112192507"/>
          <c:w val="0.94842686584444846"/>
          <c:h val="0.67227378153162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59</c:v>
                </c:pt>
                <c:pt idx="1">
                  <c:v>45</c:v>
                </c:pt>
                <c:pt idx="2">
                  <c:v>26</c:v>
                </c:pt>
                <c:pt idx="3">
                  <c:v>23</c:v>
                </c:pt>
                <c:pt idx="4">
                  <c:v>21</c:v>
                </c:pt>
                <c:pt idx="5">
                  <c:v>23</c:v>
                </c:pt>
                <c:pt idx="6">
                  <c:v>20</c:v>
                </c:pt>
                <c:pt idx="7">
                  <c:v>22</c:v>
                </c:pt>
                <c:pt idx="8">
                  <c:v>22</c:v>
                </c:pt>
                <c:pt idx="9">
                  <c:v>40</c:v>
                </c:pt>
                <c:pt idx="10">
                  <c:v>72</c:v>
                </c:pt>
                <c:pt idx="11">
                  <c:v>86</c:v>
                </c:pt>
                <c:pt idx="12">
                  <c:v>89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31309240053509868"/>
          <c:w val="0.86737027670079103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18</c:v>
                </c:pt>
                <c:pt idx="4">
                  <c:v>21</c:v>
                </c:pt>
                <c:pt idx="5">
                  <c:v>27</c:v>
                </c:pt>
                <c:pt idx="6">
                  <c:v>29</c:v>
                </c:pt>
                <c:pt idx="7">
                  <c:v>43</c:v>
                </c:pt>
                <c:pt idx="8">
                  <c:v>67</c:v>
                </c:pt>
                <c:pt idx="9">
                  <c:v>63</c:v>
                </c:pt>
                <c:pt idx="10">
                  <c:v>84</c:v>
                </c:pt>
                <c:pt idx="11">
                  <c:v>94</c:v>
                </c:pt>
                <c:pt idx="12">
                  <c:v>132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4E-2"/>
          <c:y val="0.28013530574193035"/>
          <c:w val="0.92972068460169122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12</c:v>
                </c:pt>
                <c:pt idx="3">
                  <c:v>13</c:v>
                </c:pt>
                <c:pt idx="4">
                  <c:v>11</c:v>
                </c:pt>
                <c:pt idx="5">
                  <c:v>15</c:v>
                </c:pt>
                <c:pt idx="6">
                  <c:v>14</c:v>
                </c:pt>
                <c:pt idx="7">
                  <c:v>17</c:v>
                </c:pt>
                <c:pt idx="8">
                  <c:v>18</c:v>
                </c:pt>
                <c:pt idx="9">
                  <c:v>26</c:v>
                </c:pt>
                <c:pt idx="10">
                  <c:v>54</c:v>
                </c:pt>
                <c:pt idx="11">
                  <c:v>68</c:v>
                </c:pt>
                <c:pt idx="12">
                  <c:v>92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038461797987842"/>
          <c:w val="0.92972068460169122"/>
          <c:h val="0.61116066910033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10</c:v>
                </c:pt>
                <c:pt idx="7">
                  <c:v>13</c:v>
                </c:pt>
                <c:pt idx="8">
                  <c:v>14</c:v>
                </c:pt>
                <c:pt idx="9">
                  <c:v>12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131</c:v>
                </c:pt>
                <c:pt idx="1">
                  <c:v>123</c:v>
                </c:pt>
                <c:pt idx="2">
                  <c:v>119</c:v>
                </c:pt>
                <c:pt idx="3">
                  <c:v>144</c:v>
                </c:pt>
                <c:pt idx="4">
                  <c:v>128</c:v>
                </c:pt>
                <c:pt idx="5">
                  <c:v>137</c:v>
                </c:pt>
                <c:pt idx="6">
                  <c:v>126</c:v>
                </c:pt>
                <c:pt idx="7">
                  <c:v>129</c:v>
                </c:pt>
                <c:pt idx="8">
                  <c:v>138</c:v>
                </c:pt>
                <c:pt idx="9">
                  <c:v>136</c:v>
                </c:pt>
                <c:pt idx="10">
                  <c:v>144</c:v>
                </c:pt>
                <c:pt idx="11">
                  <c:v>162</c:v>
                </c:pt>
                <c:pt idx="12">
                  <c:v>189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18678990579931179"/>
          <c:w val="0.90162823401020409"/>
          <c:h val="0.57278379627942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105</c:v>
                </c:pt>
                <c:pt idx="1">
                  <c:v>104</c:v>
                </c:pt>
                <c:pt idx="2">
                  <c:v>108</c:v>
                </c:pt>
                <c:pt idx="3">
                  <c:v>128</c:v>
                </c:pt>
                <c:pt idx="4">
                  <c:v>108</c:v>
                </c:pt>
                <c:pt idx="5">
                  <c:v>124</c:v>
                </c:pt>
                <c:pt idx="6">
                  <c:v>107</c:v>
                </c:pt>
                <c:pt idx="7">
                  <c:v>125</c:v>
                </c:pt>
                <c:pt idx="8">
                  <c:v>143</c:v>
                </c:pt>
                <c:pt idx="9">
                  <c:v>119</c:v>
                </c:pt>
                <c:pt idx="10">
                  <c:v>130</c:v>
                </c:pt>
                <c:pt idx="11">
                  <c:v>139</c:v>
                </c:pt>
                <c:pt idx="12">
                  <c:v>170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589468483624795E-2"/>
          <c:y val="0.22163312522741269"/>
          <c:w val="0.91737162397150918"/>
          <c:h val="0.59314727645133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32</c:v>
                </c:pt>
                <c:pt idx="1">
                  <c:v>23</c:v>
                </c:pt>
                <c:pt idx="2">
                  <c:v>20</c:v>
                </c:pt>
                <c:pt idx="3">
                  <c:v>21</c:v>
                </c:pt>
                <c:pt idx="4">
                  <c:v>21</c:v>
                </c:pt>
                <c:pt idx="5">
                  <c:v>22</c:v>
                </c:pt>
                <c:pt idx="6">
                  <c:v>20</c:v>
                </c:pt>
                <c:pt idx="7">
                  <c:v>22</c:v>
                </c:pt>
                <c:pt idx="8">
                  <c:v>28</c:v>
                </c:pt>
                <c:pt idx="9">
                  <c:v>32</c:v>
                </c:pt>
                <c:pt idx="10">
                  <c:v>51</c:v>
                </c:pt>
                <c:pt idx="11">
                  <c:v>70</c:v>
                </c:pt>
                <c:pt idx="12">
                  <c:v>70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7302474766413348"/>
          <c:w val="0.92914325522157026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17</c:v>
                </c:pt>
                <c:pt idx="3">
                  <c:v>20</c:v>
                </c:pt>
                <c:pt idx="4">
                  <c:v>20</c:v>
                </c:pt>
                <c:pt idx="5">
                  <c:v>23</c:v>
                </c:pt>
                <c:pt idx="6">
                  <c:v>30</c:v>
                </c:pt>
                <c:pt idx="7">
                  <c:v>45</c:v>
                </c:pt>
                <c:pt idx="8">
                  <c:v>68</c:v>
                </c:pt>
                <c:pt idx="9">
                  <c:v>58</c:v>
                </c:pt>
                <c:pt idx="10">
                  <c:v>65</c:v>
                </c:pt>
                <c:pt idx="11">
                  <c:v>85</c:v>
                </c:pt>
                <c:pt idx="12">
                  <c:v>116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3069966355217797"/>
          <c:w val="0.92957621646821498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29</c:v>
                </c:pt>
                <c:pt idx="1">
                  <c:v>30</c:v>
                </c:pt>
                <c:pt idx="2">
                  <c:v>29</c:v>
                </c:pt>
                <c:pt idx="3">
                  <c:v>31</c:v>
                </c:pt>
                <c:pt idx="4">
                  <c:v>33</c:v>
                </c:pt>
                <c:pt idx="5">
                  <c:v>28</c:v>
                </c:pt>
                <c:pt idx="6">
                  <c:v>31</c:v>
                </c:pt>
                <c:pt idx="7">
                  <c:v>40</c:v>
                </c:pt>
                <c:pt idx="8">
                  <c:v>48</c:v>
                </c:pt>
                <c:pt idx="9">
                  <c:v>40</c:v>
                </c:pt>
                <c:pt idx="10">
                  <c:v>72</c:v>
                </c:pt>
                <c:pt idx="11">
                  <c:v>115</c:v>
                </c:pt>
                <c:pt idx="12">
                  <c:v>131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6478547396584139"/>
          <c:w val="0.92957621646821498"/>
          <c:h val="0.646760278656129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16</c:v>
                </c:pt>
                <c:pt idx="1">
                  <c:v>16</c:v>
                </c:pt>
                <c:pt idx="2">
                  <c:v>18</c:v>
                </c:pt>
                <c:pt idx="3">
                  <c:v>20</c:v>
                </c:pt>
                <c:pt idx="4">
                  <c:v>17</c:v>
                </c:pt>
                <c:pt idx="5">
                  <c:v>20</c:v>
                </c:pt>
                <c:pt idx="6">
                  <c:v>21</c:v>
                </c:pt>
                <c:pt idx="7">
                  <c:v>27</c:v>
                </c:pt>
                <c:pt idx="8">
                  <c:v>28</c:v>
                </c:pt>
                <c:pt idx="9">
                  <c:v>24</c:v>
                </c:pt>
                <c:pt idx="10">
                  <c:v>24</c:v>
                </c:pt>
                <c:pt idx="11">
                  <c:v>28</c:v>
                </c:pt>
                <c:pt idx="12">
                  <c:v>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194841625148085E-2"/>
          <c:y val="0.20309637175823234"/>
          <c:w val="0.92479277329480847"/>
          <c:h val="0.6473743047456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96</c:v>
                </c:pt>
                <c:pt idx="1">
                  <c:v>108</c:v>
                </c:pt>
                <c:pt idx="2">
                  <c:v>102</c:v>
                </c:pt>
                <c:pt idx="3">
                  <c:v>98</c:v>
                </c:pt>
                <c:pt idx="4">
                  <c:v>87</c:v>
                </c:pt>
                <c:pt idx="5">
                  <c:v>100</c:v>
                </c:pt>
                <c:pt idx="6">
                  <c:v>93</c:v>
                </c:pt>
                <c:pt idx="7">
                  <c:v>91</c:v>
                </c:pt>
                <c:pt idx="8">
                  <c:v>104</c:v>
                </c:pt>
                <c:pt idx="9">
                  <c:v>101</c:v>
                </c:pt>
                <c:pt idx="10">
                  <c:v>115</c:v>
                </c:pt>
                <c:pt idx="11">
                  <c:v>121</c:v>
                </c:pt>
                <c:pt idx="12">
                  <c:v>144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21241486149059391"/>
          <c:w val="0.90162823401020409"/>
          <c:h val="0.579644542637888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76</c:v>
                </c:pt>
                <c:pt idx="1">
                  <c:v>81</c:v>
                </c:pt>
                <c:pt idx="2">
                  <c:v>80</c:v>
                </c:pt>
                <c:pt idx="3">
                  <c:v>84</c:v>
                </c:pt>
                <c:pt idx="4">
                  <c:v>74</c:v>
                </c:pt>
                <c:pt idx="5">
                  <c:v>95</c:v>
                </c:pt>
                <c:pt idx="6">
                  <c:v>87</c:v>
                </c:pt>
                <c:pt idx="7">
                  <c:v>104</c:v>
                </c:pt>
                <c:pt idx="8">
                  <c:v>108</c:v>
                </c:pt>
                <c:pt idx="9">
                  <c:v>92</c:v>
                </c:pt>
                <c:pt idx="10">
                  <c:v>103</c:v>
                </c:pt>
                <c:pt idx="11">
                  <c:v>110</c:v>
                </c:pt>
                <c:pt idx="12">
                  <c:v>119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20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11</c:v>
                </c:pt>
                <c:pt idx="6">
                  <c:v>9</c:v>
                </c:pt>
                <c:pt idx="7">
                  <c:v>9</c:v>
                </c:pt>
                <c:pt idx="8">
                  <c:v>12</c:v>
                </c:pt>
                <c:pt idx="9">
                  <c:v>14</c:v>
                </c:pt>
                <c:pt idx="10">
                  <c:v>31</c:v>
                </c:pt>
                <c:pt idx="11">
                  <c:v>38</c:v>
                </c:pt>
                <c:pt idx="12">
                  <c:v>40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598184245730175"/>
          <c:w val="0.92957621646821498"/>
          <c:h val="0.59732463646637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14</c:v>
                </c:pt>
                <c:pt idx="8">
                  <c:v>28</c:v>
                </c:pt>
                <c:pt idx="9">
                  <c:v>21</c:v>
                </c:pt>
                <c:pt idx="10">
                  <c:v>29</c:v>
                </c:pt>
                <c:pt idx="11">
                  <c:v>42</c:v>
                </c:pt>
                <c:pt idx="12">
                  <c:v>62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2246038985388589"/>
          <c:w val="0.89257420499319096"/>
          <c:h val="0.58908536276808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8</c:v>
                </c:pt>
                <c:pt idx="6">
                  <c:v>9</c:v>
                </c:pt>
                <c:pt idx="7">
                  <c:v>13</c:v>
                </c:pt>
                <c:pt idx="8">
                  <c:v>17</c:v>
                </c:pt>
                <c:pt idx="9">
                  <c:v>15</c:v>
                </c:pt>
                <c:pt idx="10">
                  <c:v>25</c:v>
                </c:pt>
                <c:pt idx="11">
                  <c:v>35</c:v>
                </c:pt>
                <c:pt idx="12">
                  <c:v>57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17302474766413348"/>
          <c:w val="0.86737027670079103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8</c:v>
                </c:pt>
                <c:pt idx="10">
                  <c:v>8</c:v>
                </c:pt>
                <c:pt idx="11">
                  <c:v>10</c:v>
                </c:pt>
                <c:pt idx="12">
                  <c:v>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movingAvg"/>
            <c:period val="2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273</c:v>
                </c:pt>
                <c:pt idx="1">
                  <c:v>258</c:v>
                </c:pt>
                <c:pt idx="2">
                  <c:v>229</c:v>
                </c:pt>
                <c:pt idx="3">
                  <c:v>257</c:v>
                </c:pt>
                <c:pt idx="4">
                  <c:v>216</c:v>
                </c:pt>
                <c:pt idx="5">
                  <c:v>287</c:v>
                </c:pt>
                <c:pt idx="6">
                  <c:v>248</c:v>
                </c:pt>
                <c:pt idx="7">
                  <c:v>217</c:v>
                </c:pt>
                <c:pt idx="8">
                  <c:v>225</c:v>
                </c:pt>
                <c:pt idx="9">
                  <c:v>224</c:v>
                </c:pt>
                <c:pt idx="10">
                  <c:v>260</c:v>
                </c:pt>
                <c:pt idx="11">
                  <c:v>259</c:v>
                </c:pt>
                <c:pt idx="12">
                  <c:v>290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453133187050578E-2"/>
          <c:y val="0.19954296804295799"/>
          <c:w val="0.91470400990001632"/>
          <c:h val="0.62003499386601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name>12</c:nam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130</c:v>
                </c:pt>
                <c:pt idx="1">
                  <c:v>133</c:v>
                </c:pt>
                <c:pt idx="2">
                  <c:v>128</c:v>
                </c:pt>
                <c:pt idx="3">
                  <c:v>149</c:v>
                </c:pt>
                <c:pt idx="4">
                  <c:v>120</c:v>
                </c:pt>
                <c:pt idx="5">
                  <c:v>168</c:v>
                </c:pt>
                <c:pt idx="6">
                  <c:v>140</c:v>
                </c:pt>
                <c:pt idx="7">
                  <c:v>155</c:v>
                </c:pt>
                <c:pt idx="8">
                  <c:v>162</c:v>
                </c:pt>
                <c:pt idx="9">
                  <c:v>142</c:v>
                </c:pt>
                <c:pt idx="10">
                  <c:v>164</c:v>
                </c:pt>
                <c:pt idx="11">
                  <c:v>169</c:v>
                </c:pt>
                <c:pt idx="12">
                  <c:v>175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64</c:v>
                </c:pt>
                <c:pt idx="1">
                  <c:v>34</c:v>
                </c:pt>
                <c:pt idx="2">
                  <c:v>19</c:v>
                </c:pt>
                <c:pt idx="3">
                  <c:v>20</c:v>
                </c:pt>
                <c:pt idx="4">
                  <c:v>18</c:v>
                </c:pt>
                <c:pt idx="5">
                  <c:v>30</c:v>
                </c:pt>
                <c:pt idx="6">
                  <c:v>22</c:v>
                </c:pt>
                <c:pt idx="7">
                  <c:v>20</c:v>
                </c:pt>
                <c:pt idx="8">
                  <c:v>23</c:v>
                </c:pt>
                <c:pt idx="9">
                  <c:v>45</c:v>
                </c:pt>
                <c:pt idx="10">
                  <c:v>107</c:v>
                </c:pt>
                <c:pt idx="11">
                  <c:v>103</c:v>
                </c:pt>
                <c:pt idx="12">
                  <c:v>88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8126402136242553"/>
          <c:w val="0.92914325522157026"/>
          <c:h val="0.613803183862960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18</c:v>
                </c:pt>
                <c:pt idx="4">
                  <c:v>18</c:v>
                </c:pt>
                <c:pt idx="5">
                  <c:v>24</c:v>
                </c:pt>
                <c:pt idx="6">
                  <c:v>25</c:v>
                </c:pt>
                <c:pt idx="7">
                  <c:v>52</c:v>
                </c:pt>
                <c:pt idx="8">
                  <c:v>124</c:v>
                </c:pt>
                <c:pt idx="9">
                  <c:v>119</c:v>
                </c:pt>
                <c:pt idx="10">
                  <c:v>140</c:v>
                </c:pt>
                <c:pt idx="11">
                  <c:v>152</c:v>
                </c:pt>
                <c:pt idx="12">
                  <c:v>215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069966355217797"/>
          <c:w val="0.86737027670079103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22</c:v>
                </c:pt>
                <c:pt idx="1">
                  <c:v>15</c:v>
                </c:pt>
                <c:pt idx="2">
                  <c:v>13</c:v>
                </c:pt>
                <c:pt idx="3">
                  <c:v>14</c:v>
                </c:pt>
                <c:pt idx="4">
                  <c:v>13</c:v>
                </c:pt>
                <c:pt idx="5">
                  <c:v>23</c:v>
                </c:pt>
                <c:pt idx="6">
                  <c:v>23</c:v>
                </c:pt>
                <c:pt idx="7">
                  <c:v>24</c:v>
                </c:pt>
                <c:pt idx="8">
                  <c:v>26</c:v>
                </c:pt>
                <c:pt idx="9">
                  <c:v>38</c:v>
                </c:pt>
                <c:pt idx="10">
                  <c:v>74</c:v>
                </c:pt>
                <c:pt idx="11">
                  <c:v>85</c:v>
                </c:pt>
                <c:pt idx="12">
                  <c:v>119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2246038985388589"/>
          <c:w val="0.92972068460169122"/>
          <c:h val="0.564367541673208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18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15</c:v>
                </c:pt>
                <c:pt idx="5">
                  <c:v>19</c:v>
                </c:pt>
                <c:pt idx="6">
                  <c:v>21</c:v>
                </c:pt>
                <c:pt idx="7">
                  <c:v>20</c:v>
                </c:pt>
                <c:pt idx="8">
                  <c:v>20</c:v>
                </c:pt>
                <c:pt idx="9">
                  <c:v>19</c:v>
                </c:pt>
                <c:pt idx="10">
                  <c:v>19</c:v>
                </c:pt>
                <c:pt idx="11">
                  <c:v>22</c:v>
                </c:pt>
                <c:pt idx="12">
                  <c:v>19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 marL="0" algn="ctr" defTabSz="914400" rtl="0" eaLnBrk="1" latinLnBrk="0" hangingPunct="1">
        <a:defRPr lang="en-US" sz="900" kern="1200">
          <a:solidFill>
            <a:srgbClr val="2E8B57"/>
          </a:solidFill>
          <a:latin typeface="+mn-lt"/>
          <a:ea typeface="+mn-ea"/>
          <a:cs typeface="+mn-cs"/>
        </a:defRPr>
      </a:pPr>
      <a:endParaRPr lang="en-US"/>
    </a:p>
  </c:txPr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3447513047785683E-2"/>
          <c:y val="0.26843902853901647"/>
          <c:w val="0.91533270220863006"/>
          <c:h val="0.58203184700749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70</c:v>
                </c:pt>
                <c:pt idx="1">
                  <c:v>74</c:v>
                </c:pt>
                <c:pt idx="2">
                  <c:v>93</c:v>
                </c:pt>
                <c:pt idx="3">
                  <c:v>73</c:v>
                </c:pt>
                <c:pt idx="4">
                  <c:v>68</c:v>
                </c:pt>
                <c:pt idx="5">
                  <c:v>64</c:v>
                </c:pt>
                <c:pt idx="6">
                  <c:v>74</c:v>
                </c:pt>
                <c:pt idx="7">
                  <c:v>68</c:v>
                </c:pt>
                <c:pt idx="8">
                  <c:v>71</c:v>
                </c:pt>
                <c:pt idx="9">
                  <c:v>74</c:v>
                </c:pt>
                <c:pt idx="10">
                  <c:v>73</c:v>
                </c:pt>
                <c:pt idx="11">
                  <c:v>93</c:v>
                </c:pt>
                <c:pt idx="12">
                  <c:v>96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031813811643551E-2"/>
          <c:y val="0.23254205288042903"/>
          <c:w val="0.92098159106617783"/>
          <c:h val="0.546935653192926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  <c:pt idx="5">
                  <c:v>13</c:v>
                </c:pt>
                <c:pt idx="6">
                  <c:v>14</c:v>
                </c:pt>
                <c:pt idx="7">
                  <c:v>14</c:v>
                </c:pt>
                <c:pt idx="8">
                  <c:v>12</c:v>
                </c:pt>
                <c:pt idx="9">
                  <c:v>12</c:v>
                </c:pt>
                <c:pt idx="10">
                  <c:v>11</c:v>
                </c:pt>
                <c:pt idx="11">
                  <c:v>14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25367281326153923"/>
          <c:w val="0.88706785213551886"/>
          <c:h val="0.56110752760391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22</c:v>
                </c:pt>
                <c:pt idx="1">
                  <c:v>16</c:v>
                </c:pt>
                <c:pt idx="2">
                  <c:v>14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10</c:v>
                </c:pt>
                <c:pt idx="7">
                  <c:v>10</c:v>
                </c:pt>
                <c:pt idx="8">
                  <c:v>12</c:v>
                </c:pt>
                <c:pt idx="9">
                  <c:v>19</c:v>
                </c:pt>
                <c:pt idx="10">
                  <c:v>26</c:v>
                </c:pt>
                <c:pt idx="11">
                  <c:v>37</c:v>
                </c:pt>
                <c:pt idx="12">
                  <c:v>29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997508031646125"/>
          <c:w val="0.89064537276137967"/>
          <c:h val="0.57157014750391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15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7189603204363832"/>
          <c:w val="0.89257420499319096"/>
          <c:h val="0.539649720578332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10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4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16</c:v>
                </c:pt>
                <c:pt idx="12">
                  <c:v>12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8871814369160476"/>
          <c:w val="0.92741141023499118"/>
          <c:h val="0.522827895232126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17</c:v>
                </c:pt>
                <c:pt idx="8">
                  <c:v>11</c:v>
                </c:pt>
                <c:pt idx="9">
                  <c:v>10</c:v>
                </c:pt>
                <c:pt idx="10">
                  <c:v>9</c:v>
                </c:pt>
                <c:pt idx="11">
                  <c:v>13</c:v>
                </c:pt>
                <c:pt idx="12">
                  <c:v>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0.13544</cdr:x>
      <cdr:y>0.03437</cdr:y>
    </cdr:from>
    <cdr:to>
      <cdr:x>0.4784</cdr:x>
      <cdr:y>0.20956</cdr:y>
    </cdr:to>
    <cdr:sp macro="" textlink="">
      <cdr:nvSpPr>
        <cdr:cNvPr id="2" name="Text 5">
          <a:extLst xmlns:a="http://schemas.openxmlformats.org/drawingml/2006/main">
            <a:ext uri="{FF2B5EF4-FFF2-40B4-BE49-F238E27FC236}">
              <a16:creationId xmlns:a16="http://schemas.microsoft.com/office/drawing/2014/main" id="{573815EF-2900-A007-314E-40A00F1BF0E4}"/>
            </a:ext>
          </a:extLst>
        </cdr:cNvPr>
        <cdr:cNvSpPr/>
      </cdr:nvSpPr>
      <cdr:spPr>
        <a:xfrm xmlns:a="http://schemas.openxmlformats.org/drawingml/2006/main">
          <a:off x="318896" y="47036"/>
          <a:ext cx="807483" cy="2397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b="1" kern="1200" dirty="0">
              <a:solidFill>
                <a:schemeClr val="tx1"/>
              </a:solidFill>
              <a:effectLst/>
            </a:rPr>
            <a:t>Sun Care</a:t>
          </a:r>
          <a:endParaRPr lang="en-IN" sz="1400" dirty="0">
            <a:solidFill>
              <a:schemeClr val="tx1"/>
            </a:solidFill>
            <a:effectLst/>
          </a:endParaRPr>
        </a:p>
      </cdr:txBody>
    </cdr:sp>
  </cdr:relSizeAnchor>
  <cdr:relSizeAnchor xmlns:cdr="http://schemas.openxmlformats.org/drawingml/2006/chartDrawing">
    <cdr:from>
      <cdr:x>0.51536</cdr:x>
      <cdr:y>0.03243</cdr:y>
    </cdr:from>
    <cdr:to>
      <cdr:x>0.66517</cdr:x>
      <cdr:y>0.223</cdr:y>
    </cdr:to>
    <cdr:sp macro="" textlink="">
      <cdr:nvSpPr>
        <cdr:cNvPr id="3" name="Text 6">
          <a:extLst xmlns:a="http://schemas.openxmlformats.org/drawingml/2006/main">
            <a:ext uri="{FF2B5EF4-FFF2-40B4-BE49-F238E27FC236}">
              <a16:creationId xmlns:a16="http://schemas.microsoft.com/office/drawing/2014/main" id="{B8CC834D-A1C0-16B8-D31E-8DF1A466C48C}"/>
            </a:ext>
          </a:extLst>
        </cdr:cNvPr>
        <cdr:cNvSpPr/>
      </cdr:nvSpPr>
      <cdr:spPr>
        <a:xfrm xmlns:a="http://schemas.openxmlformats.org/drawingml/2006/main">
          <a:off x="1213397" y="44374"/>
          <a:ext cx="352719" cy="26079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US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GOLY </a:t>
          </a:r>
          <a:endParaRPr lang="en-IN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IN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▲ 356</a:t>
          </a:r>
          <a:endParaRPr lang="en-US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0.74517</cdr:x>
      <cdr:y>0.04669</cdr:y>
    </cdr:from>
    <cdr:to>
      <cdr:x>0.97788</cdr:x>
      <cdr:y>0.185</cdr:y>
    </cdr:to>
    <cdr:sp macro="" textlink="">
      <cdr:nvSpPr>
        <cdr:cNvPr id="4" name="Text 7">
          <a:extLst xmlns:a="http://schemas.openxmlformats.org/drawingml/2006/main">
            <a:ext uri="{FF2B5EF4-FFF2-40B4-BE49-F238E27FC236}">
              <a16:creationId xmlns:a16="http://schemas.microsoft.com/office/drawing/2014/main" id="{4ED6EDAE-5A2F-8C7E-D267-522D20C6C37E}"/>
            </a:ext>
          </a:extLst>
        </cdr:cNvPr>
        <cdr:cNvSpPr/>
      </cdr:nvSpPr>
      <cdr:spPr>
        <a:xfrm xmlns:a="http://schemas.openxmlformats.org/drawingml/2006/main">
          <a:off x="1754487" y="63894"/>
          <a:ext cx="547895" cy="1892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sz="800" b="1">
              <a:solidFill>
                <a:srgbClr val="2E8B57"/>
              </a:solidFill>
              <a:latin typeface="Calibri"/>
            </a:rPr>
            <a:t>MoM </a:t>
          </a:r>
          <a:r>
            <a:rPr sz="800" b="1">
              <a:solidFill>
                <a:srgbClr val="008A3D"/>
              </a:solidFill>
              <a:latin typeface="Calibri"/>
            </a:rPr>
            <a:t>▲ </a:t>
          </a:r>
          <a:r>
            <a:rPr lang="en-IN" sz="800" b="1">
              <a:solidFill>
                <a:srgbClr val="008A3D"/>
              </a:solidFill>
              <a:latin typeface="Calibri"/>
            </a:rPr>
            <a:t>2</a:t>
          </a:r>
          <a:r>
            <a:rPr sz="800" b="1">
              <a:solidFill>
                <a:srgbClr val="008A3D"/>
              </a:solidFill>
              <a:latin typeface="Calibri"/>
            </a:rPr>
            <a:t>8%</a:t>
          </a:r>
          <a:endParaRPr lang="en-US" sz="800" b="1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0.14434</cdr:x>
      <cdr:y>0.02919</cdr:y>
    </cdr:from>
    <cdr:to>
      <cdr:x>0.60225</cdr:x>
      <cdr:y>0.21399</cdr:y>
    </cdr:to>
    <cdr:sp macro="" textlink="">
      <cdr:nvSpPr>
        <cdr:cNvPr id="2" name="Text 13">
          <a:extLst xmlns:a="http://schemas.openxmlformats.org/drawingml/2006/main">
            <a:ext uri="{FF2B5EF4-FFF2-40B4-BE49-F238E27FC236}">
              <a16:creationId xmlns:a16="http://schemas.microsoft.com/office/drawing/2014/main" id="{23EF3F87-F6D1-78AB-3C0F-B06F73797DE8}"/>
            </a:ext>
          </a:extLst>
        </cdr:cNvPr>
        <cdr:cNvSpPr/>
      </cdr:nvSpPr>
      <cdr:spPr>
        <a:xfrm xmlns:a="http://schemas.openxmlformats.org/drawingml/2006/main">
          <a:off x="320271" y="39940"/>
          <a:ext cx="1016000" cy="25290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1400" b="1" dirty="0">
              <a:solidFill>
                <a:srgbClr val="111827"/>
              </a:solidFill>
              <a:latin typeface="Calibri"/>
            </a:rPr>
            <a:t>Face Serum</a:t>
          </a:r>
          <a:endParaRPr lang="en-US" sz="1400" b="1" dirty="0">
            <a:latin typeface="+mj-lt"/>
          </a:endParaRPr>
        </a:p>
      </cdr:txBody>
    </cdr:sp>
  </cdr:relSizeAnchor>
  <cdr:relSizeAnchor xmlns:cdr="http://schemas.openxmlformats.org/drawingml/2006/chartDrawing">
    <cdr:from>
      <cdr:x>0.58556</cdr:x>
      <cdr:y>0.00022</cdr:y>
    </cdr:from>
    <cdr:to>
      <cdr:x>0.75841</cdr:x>
      <cdr:y>0.20438</cdr:y>
    </cdr:to>
    <cdr:sp macro="" textlink="">
      <cdr:nvSpPr>
        <cdr:cNvPr id="3" name="Text 14">
          <a:extLst xmlns:a="http://schemas.openxmlformats.org/drawingml/2006/main">
            <a:ext uri="{FF2B5EF4-FFF2-40B4-BE49-F238E27FC236}">
              <a16:creationId xmlns:a16="http://schemas.microsoft.com/office/drawing/2014/main" id="{CAEB6D30-513C-DF28-759F-EF186C248833}"/>
            </a:ext>
          </a:extLst>
        </cdr:cNvPr>
        <cdr:cNvSpPr/>
      </cdr:nvSpPr>
      <cdr:spPr>
        <a:xfrm xmlns:a="http://schemas.openxmlformats.org/drawingml/2006/main">
          <a:off x="1299229" y="299"/>
          <a:ext cx="383521" cy="2794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2E8B57"/>
              </a:solidFill>
              <a:latin typeface="Calibri"/>
            </a:rPr>
            <a:t>GOLY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008A3D"/>
              </a:solidFill>
              <a:latin typeface="Calibri"/>
            </a:rPr>
            <a:t>▲ 46%</a:t>
          </a:r>
          <a:endParaRPr lang="en-US" sz="900" b="1">
            <a:latin typeface="+mj-lt"/>
          </a:endParaRPr>
        </a:p>
      </cdr:txBody>
    </cdr:sp>
  </cdr:relSizeAnchor>
  <cdr:relSizeAnchor xmlns:cdr="http://schemas.openxmlformats.org/drawingml/2006/chartDrawing">
    <cdr:from>
      <cdr:x>0.81281</cdr:x>
      <cdr:y>0.0095</cdr:y>
    </cdr:from>
    <cdr:to>
      <cdr:x>0.9771</cdr:x>
      <cdr:y>0.18698</cdr:y>
    </cdr:to>
    <cdr:sp macro="" textlink="">
      <cdr:nvSpPr>
        <cdr:cNvPr id="4" name="Text 15">
          <a:extLst xmlns:a="http://schemas.openxmlformats.org/drawingml/2006/main">
            <a:ext uri="{FF2B5EF4-FFF2-40B4-BE49-F238E27FC236}">
              <a16:creationId xmlns:a16="http://schemas.microsoft.com/office/drawing/2014/main" id="{38043CDA-B4CC-0A63-1373-A029921B3813}"/>
            </a:ext>
          </a:extLst>
        </cdr:cNvPr>
        <cdr:cNvSpPr/>
      </cdr:nvSpPr>
      <cdr:spPr>
        <a:xfrm xmlns:a="http://schemas.openxmlformats.org/drawingml/2006/main">
          <a:off x="1803456" y="12999"/>
          <a:ext cx="364535" cy="2428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D03A3A"/>
              </a:solidFill>
              <a:latin typeface="Calibri"/>
            </a:rPr>
            <a:t>MoM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C00000"/>
              </a:solidFill>
              <a:latin typeface="Calibri"/>
            </a:rPr>
            <a:t>▼ 4%</a:t>
          </a:r>
          <a:endParaRPr lang="en-US" sz="900" b="1">
            <a:latin typeface="+mj-lt"/>
          </a:endParaRPr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899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Relationship Id="rId8" Type="http://schemas.openxmlformats.org/officeDocument/2006/relationships/chart" Target="../charts/chart9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1" Type="http://schemas.openxmlformats.org/officeDocument/2006/relationships/image" Target="../media/image3.jpeg"/><Relationship Id="rId12" Type="http://schemas.openxmlformats.org/officeDocument/2006/relationships/image" Target="../media/image4.jpg"/><Relationship Id="rId13" Type="http://schemas.openxmlformats.org/officeDocument/2006/relationships/image" Target="../media/image5.png"/><Relationship Id="rId1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chart" Target="../charts/chart21.xml"/><Relationship Id="rId6" Type="http://schemas.openxmlformats.org/officeDocument/2006/relationships/chart" Target="../charts/chart22.xml"/><Relationship Id="rId7" Type="http://schemas.openxmlformats.org/officeDocument/2006/relationships/chart" Target="../charts/chart23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Relationship Id="rId5" Type="http://schemas.openxmlformats.org/officeDocument/2006/relationships/chart" Target="../charts/chart27.xml"/><Relationship Id="rId6" Type="http://schemas.openxmlformats.org/officeDocument/2006/relationships/chart" Target="../charts/chart28.xml"/><Relationship Id="rId7" Type="http://schemas.openxmlformats.org/officeDocument/2006/relationships/chart" Target="../charts/chart29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0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Relationship Id="rId5" Type="http://schemas.openxmlformats.org/officeDocument/2006/relationships/chart" Target="../charts/chart33.xml"/><Relationship Id="rId6" Type="http://schemas.openxmlformats.org/officeDocument/2006/relationships/chart" Target="../charts/chart34.xml"/><Relationship Id="rId7" Type="http://schemas.openxmlformats.org/officeDocument/2006/relationships/chart" Target="../charts/chart35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6.xml"/><Relationship Id="rId3" Type="http://schemas.openxmlformats.org/officeDocument/2006/relationships/chart" Target="../charts/chart37.xml"/><Relationship Id="rId4" Type="http://schemas.openxmlformats.org/officeDocument/2006/relationships/chart" Target="../charts/chart38.xml"/><Relationship Id="rId5" Type="http://schemas.openxmlformats.org/officeDocument/2006/relationships/chart" Target="../charts/chart39.xml"/><Relationship Id="rId6" Type="http://schemas.openxmlformats.org/officeDocument/2006/relationships/chart" Target="../charts/chart40.xml"/><Relationship Id="rId7" Type="http://schemas.openxmlformats.org/officeDocument/2006/relationships/chart" Target="../charts/chart4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chart" Target="../charts/chart44.xml"/><Relationship Id="rId5" Type="http://schemas.openxmlformats.org/officeDocument/2006/relationships/chart" Target="../charts/chart45.xml"/><Relationship Id="rId6" Type="http://schemas.openxmlformats.org/officeDocument/2006/relationships/chart" Target="../charts/chart46.xml"/><Relationship Id="rId7" Type="http://schemas.openxmlformats.org/officeDocument/2006/relationships/chart" Target="../charts/chart47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8.xml"/><Relationship Id="rId3" Type="http://schemas.openxmlformats.org/officeDocument/2006/relationships/chart" Target="../charts/chart49.xml"/><Relationship Id="rId4" Type="http://schemas.openxmlformats.org/officeDocument/2006/relationships/chart" Target="../charts/chart50.xml"/><Relationship Id="rId5" Type="http://schemas.openxmlformats.org/officeDocument/2006/relationships/chart" Target="../charts/chart51.xml"/><Relationship Id="rId6" Type="http://schemas.openxmlformats.org/officeDocument/2006/relationships/chart" Target="../charts/chart52.xml"/><Relationship Id="rId7" Type="http://schemas.openxmlformats.org/officeDocument/2006/relationships/chart" Target="../charts/chart53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 — JUL'26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SUMMARY &amp; KEY INSIGHTS JUL’26</a:t>
            </a:r>
            <a:endParaRPr lang="en-US" sz="1600" b="1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673" y="727947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0480" y="831732"/>
            <a:ext cx="1650113" cy="64820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553" y="95599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Jul'26 NSV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689" y="107234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40.67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99465" y="831733"/>
            <a:ext cx="1645920" cy="648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090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Jun'26 NSV</a:t>
            </a:r>
            <a:endParaRPr lang="en-US" sz="800" b="1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090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41.97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9090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MoM ▼ 3.1%</a:t>
            </a:r>
            <a:endParaRPr lang="en-US" sz="900" b="1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55113" y="831733"/>
            <a:ext cx="1645920" cy="631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2826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L3M Avg</a:t>
            </a:r>
            <a:endParaRPr lang="en-US" sz="800" b="1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26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40.53 Cr</a:t>
            </a:r>
            <a:endParaRPr lang="en-US" b="1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2826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Apr–Jul ▲ 0.5%</a:t>
            </a:r>
            <a:endParaRPr lang="en-US" sz="900" b="1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8193" y="848317"/>
            <a:ext cx="1645920" cy="631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5625" y="904885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YoY Growth</a:t>
            </a:r>
            <a:endParaRPr lang="en-US" sz="800" b="1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625" y="1060333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—</a:t>
            </a:r>
            <a:endParaRPr lang="en-US" b="1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625" y="1307221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YoY n/a</a:t>
            </a:r>
            <a:endParaRPr lang="en-US" sz="900" b="1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39" y="1576925"/>
            <a:ext cx="3886201" cy="3077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5A85"/>
                </a:solidFill>
                <a:latin typeface="Calibri"/>
              </a:rPr>
              <a:t>Monthly and Top-3 Chain NSV Sales Trend </a:t>
            </a:r>
          </a:p>
        </p:txBody>
      </p:sp>
      <p:sp>
        <p:nvSpPr>
          <p:cNvPr id="23" name="Shape 21"/>
          <p:cNvSpPr/>
          <p:nvPr/>
        </p:nvSpPr>
        <p:spPr>
          <a:xfrm flipV="1">
            <a:off x="329564" y="1863590"/>
            <a:ext cx="6908829" cy="9894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2065221601"/>
              </p:ext>
            </p:extLst>
          </p:nvPr>
        </p:nvGraphicFramePr>
        <p:xfrm>
          <a:off x="320040" y="1969505"/>
          <a:ext cx="3886200" cy="3442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4"/>
          <p:cNvSpPr/>
          <p:nvPr/>
        </p:nvSpPr>
        <p:spPr>
          <a:xfrm>
            <a:off x="316865" y="5494159"/>
            <a:ext cx="6893433" cy="133680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MT Offtake: ₹40.67 Cr total (₹34.15 Cr MT geographic, excl eB2B+SIS). Reliance drove a ₹1.42 Cr MoM decline; all other chains combined grew. South-1 leads zone ranking at ₹8.21 Cr. TDC at 30% share — portfolio continues widening.</a:t>
            </a:r>
          </a:p>
        </p:txBody>
      </p:sp>
      <p:sp>
        <p:nvSpPr>
          <p:cNvPr id="34" name="Text 3"/>
          <p:cNvSpPr/>
          <p:nvPr/>
        </p:nvSpPr>
        <p:spPr>
          <a:xfrm>
            <a:off x="320037" y="6853636"/>
            <a:ext cx="6879816" cy="2242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Chain-wise Monthly Performance Snapshot</a:t>
            </a:r>
            <a:endParaRPr lang="en-US" sz="108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3785686" y="9278795"/>
            <a:ext cx="22320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txBody>
          <a:bodyPr wrap="square" anchor="t">
            <a:normAutofit fontScale="25000" lnSpcReduction="20000"/>
          </a:bodyPr>
          <a:lstStyle/>
          <a:p>
            <a:endParaRPr lang="en-IN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62" name="Chart 0"/>
          <p:cNvGraphicFramePr/>
          <p:nvPr>
            <p:extLst>
              <p:ext uri="{D42A27DB-BD31-4B8C-83A1-F6EECF244321}">
                <p14:modId xmlns:p14="http://schemas.microsoft.com/office/powerpoint/2010/main" val="1419950149"/>
              </p:ext>
            </p:extLst>
          </p:nvPr>
        </p:nvGraphicFramePr>
        <p:xfrm>
          <a:off x="4343400" y="3888147"/>
          <a:ext cx="2820571" cy="1524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B156FE4-172B-BA3D-9CDC-FAB8090CC183}"/>
              </a:ext>
            </a:extLst>
          </p:cNvPr>
          <p:cNvSpPr txBox="1"/>
          <p:nvPr/>
        </p:nvSpPr>
        <p:spPr>
          <a:xfrm>
            <a:off x="4315306" y="1576925"/>
            <a:ext cx="2894992" cy="2965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>
              <a:defRPr sz="1200" b="1">
                <a:solidFill>
                  <a:srgbClr val="1F5A85"/>
                </a:solidFill>
                <a:latin typeface="Calibr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dirty="0"/>
              <a:t>May’26 Chain Sales Contribution % &amp; Sales</a:t>
            </a:r>
            <a:endParaRPr lang="en-IN" dirty="0"/>
          </a:p>
        </p:txBody>
      </p:sp>
      <p:graphicFrame>
        <p:nvGraphicFramePr>
          <p:cNvPr id="27" name="Chart 1">
            <a:extLst>
              <a:ext uri="{FF2B5EF4-FFF2-40B4-BE49-F238E27FC236}">
                <a16:creationId xmlns:a16="http://schemas.microsoft.com/office/drawing/2014/main" id="{4D338C2C-F060-A690-F2A5-A0B1ADED7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64542"/>
              </p:ext>
            </p:extLst>
          </p:nvPr>
        </p:nvGraphicFramePr>
        <p:xfrm>
          <a:off x="4343400" y="1955311"/>
          <a:ext cx="2820571" cy="1868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 5">
            <a:extLst>
              <a:ext uri="{FF2B5EF4-FFF2-40B4-BE49-F238E27FC236}">
                <a16:creationId xmlns:a16="http://schemas.microsoft.com/office/drawing/2014/main" id="{6EEBAD4D-E994-6642-BFEF-9B00F3852BDA}"/>
              </a:ext>
            </a:extLst>
          </p:cNvPr>
          <p:cNvSpPr/>
          <p:nvPr/>
        </p:nvSpPr>
        <p:spPr>
          <a:xfrm>
            <a:off x="490121" y="133867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IN" sz="900" b="1" dirty="0">
                <a:solidFill>
                  <a:srgbClr val="176C5D"/>
                </a:solidFill>
                <a:latin typeface="Calibri"/>
              </a:rPr>
              <a:t>Highest-ever</a:t>
            </a:r>
            <a:r>
              <a:rPr lang="en-IN" sz="1100" b="1" dirty="0">
                <a:solidFill>
                  <a:srgbClr val="176C5D"/>
                </a:solidFill>
                <a:latin typeface="Calibri"/>
              </a:rPr>
              <a:t> NSV</a:t>
            </a:r>
            <a:endParaRPr lang="en-US" sz="1100" b="1" dirty="0">
              <a:solidFill>
                <a:srgbClr val="176C5D"/>
              </a:solidFill>
              <a:latin typeface="+mj-lt"/>
            </a:endParaRPr>
          </a:p>
        </p:txBody>
      </p:sp>
      <p:sp>
        <p:nvSpPr>
          <p:cNvPr id="157" name="Text 29">
            <a:extLst>
              <a:ext uri="{FF2B5EF4-FFF2-40B4-BE49-F238E27FC236}">
                <a16:creationId xmlns:a16="http://schemas.microsoft.com/office/drawing/2014/main" id="{98442E13-B18C-754F-25D8-06BBAE4BA342}"/>
              </a:ext>
            </a:extLst>
          </p:cNvPr>
          <p:cNvSpPr/>
          <p:nvPr/>
        </p:nvSpPr>
        <p:spPr>
          <a:xfrm>
            <a:off x="11982318" y="8910803"/>
            <a:ext cx="411120" cy="109440"/>
          </a:xfrm>
          <a:prstGeom prst="rect">
            <a:avLst/>
          </a:prstGeom>
          <a:noFill/>
          <a:ln w="0">
            <a:noFill/>
          </a:ln>
          <a:effectLst/>
        </p:spPr>
        <p:txBody>
          <a:bodyPr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0" b="0" i="0" u="none" strike="noStrike" kern="0" cap="none" spc="0" normalizeH="0" baseline="0" noProof="0">
                <a:ln>
                  <a:noFill/>
                </a:ln>
                <a:solidFill>
                  <a:srgbClr val="8C8C86"/>
                </a:solidFill>
                <a:effectLst/>
                <a:uLnTx/>
                <a:uFillTx/>
                <a:latin typeface="Calibri"/>
                <a:ea typeface="Aptos"/>
                <a:cs typeface="+mn-cs"/>
              </a:rPr>
              <a:t>04</a:t>
            </a:r>
            <a:endParaRPr kumimoji="0" lang="en-US" sz="680" b="0" i="0" u="none" strike="noStrike" kern="0" cap="none" spc="0" normalizeH="0" baseline="0" noProof="0">
              <a:ln>
                <a:noFill/>
              </a:ln>
              <a:solidFill>
                <a:srgbClr val="1A1F2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9E58AC1-33D2-CB7D-1A58-5B3335E7E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318543"/>
              </p:ext>
            </p:extLst>
          </p:nvPr>
        </p:nvGraphicFramePr>
        <p:xfrm>
          <a:off x="320040" y="7127525"/>
          <a:ext cx="6879813" cy="3453320"/>
        </p:xfrm>
        <a:graphic>
          <a:graphicData uri="http://schemas.openxmlformats.org/drawingml/2006/table">
            <a:tbl>
              <a:tblPr/>
              <a:tblGrid>
                <a:gridCol w="803482">
                  <a:extLst>
                    <a:ext uri="{9D8B030D-6E8A-4147-A177-3AD203B41FA5}">
                      <a16:colId xmlns:a16="http://schemas.microsoft.com/office/drawing/2014/main" val="1838313960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50666695"/>
                    </a:ext>
                  </a:extLst>
                </a:gridCol>
                <a:gridCol w="535654">
                  <a:extLst>
                    <a:ext uri="{9D8B030D-6E8A-4147-A177-3AD203B41FA5}">
                      <a16:colId xmlns:a16="http://schemas.microsoft.com/office/drawing/2014/main" val="3063166510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2768301204"/>
                    </a:ext>
                  </a:extLst>
                </a:gridCol>
                <a:gridCol w="585873">
                  <a:extLst>
                    <a:ext uri="{9D8B030D-6E8A-4147-A177-3AD203B41FA5}">
                      <a16:colId xmlns:a16="http://schemas.microsoft.com/office/drawing/2014/main" val="3413074066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672052579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277892322"/>
                    </a:ext>
                  </a:extLst>
                </a:gridCol>
                <a:gridCol w="636090">
                  <a:extLst>
                    <a:ext uri="{9D8B030D-6E8A-4147-A177-3AD203B41FA5}">
                      <a16:colId xmlns:a16="http://schemas.microsoft.com/office/drawing/2014/main" val="1105121212"/>
                    </a:ext>
                  </a:extLst>
                </a:gridCol>
                <a:gridCol w="669568">
                  <a:extLst>
                    <a:ext uri="{9D8B030D-6E8A-4147-A177-3AD203B41FA5}">
                      <a16:colId xmlns:a16="http://schemas.microsoft.com/office/drawing/2014/main" val="1902174447"/>
                    </a:ext>
                  </a:extLst>
                </a:gridCol>
                <a:gridCol w="719786">
                  <a:extLst>
                    <a:ext uri="{9D8B030D-6E8A-4147-A177-3AD203B41FA5}">
                      <a16:colId xmlns:a16="http://schemas.microsoft.com/office/drawing/2014/main" val="1849337359"/>
                    </a:ext>
                  </a:extLst>
                </a:gridCol>
                <a:gridCol w="619350">
                  <a:extLst>
                    <a:ext uri="{9D8B030D-6E8A-4147-A177-3AD203B41FA5}">
                      <a16:colId xmlns:a16="http://schemas.microsoft.com/office/drawing/2014/main" val="2525690762"/>
                    </a:ext>
                  </a:extLst>
                </a:gridCol>
              </a:tblGrid>
              <a:tr h="1446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L3M </a:t>
                      </a:r>
                      <a:b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Avg(FMA)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868616"/>
                  </a:ext>
                </a:extLst>
              </a:tr>
              <a:tr h="212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59251"/>
                  </a:ext>
                </a:extLst>
              </a:tr>
              <a:tr h="76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1,518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1,137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4516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771512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535608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465649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Wellness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0483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5608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815765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63629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Delhi RMT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748315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44793"/>
                  </a:ext>
                </a:extLst>
              </a:tr>
              <a:tr h="252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56%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12943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56967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Vmm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15363"/>
                  </a:ext>
                </a:extLst>
              </a:tr>
              <a:tr h="2829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21406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2795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3273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62%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042144"/>
                  </a:ext>
                </a:extLst>
              </a:tr>
            </a:tbl>
          </a:graphicData>
        </a:graphic>
      </p:graphicFrame>
      <p:sp>
        <p:nvSpPr>
          <p:cNvPr id="21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650" dirty="0">
              <a:latin typeface="+mj-lt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22330" y="3344609"/>
            <a:ext cx="7134838" cy="29139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58354" y="3447979"/>
            <a:ext cx="67197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Mamaearth — Top 3 Sub-category Monthly Trend (NSV)</a:t>
            </a:r>
            <a:endParaRPr lang="en-US" sz="1600" dirty="0">
              <a:latin typeface="+mj-lt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746952" y="3757079"/>
            <a:ext cx="563590" cy="197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b="1" dirty="0">
              <a:latin typeface="+mj-lt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310541" y="3737538"/>
            <a:ext cx="584737" cy="217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▲29%</a:t>
            </a:r>
            <a:endParaRPr lang="en-US" sz="900" b="1" dirty="0">
              <a:latin typeface="+mj-lt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793618" y="3741302"/>
            <a:ext cx="429221" cy="203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11%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27" name="Chart 0"/>
          <p:cNvGraphicFramePr/>
          <p:nvPr>
            <p:extLst>
              <p:ext uri="{D42A27DB-BD31-4B8C-83A1-F6EECF244321}">
                <p14:modId xmlns:p14="http://schemas.microsoft.com/office/powerpoint/2010/main" val="2150354223"/>
              </p:ext>
            </p:extLst>
          </p:nvPr>
        </p:nvGraphicFramePr>
        <p:xfrm>
          <a:off x="210851" y="3703011"/>
          <a:ext cx="2323982" cy="1365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8" name="Text 9"/>
          <p:cNvSpPr/>
          <p:nvPr/>
        </p:nvSpPr>
        <p:spPr>
          <a:xfrm>
            <a:off x="2893646" y="3749587"/>
            <a:ext cx="781916" cy="197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b="1" dirty="0">
              <a:latin typeface="+mj-lt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517968" y="3757079"/>
            <a:ext cx="631660" cy="19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GOLY ▲ 53%</a:t>
            </a:r>
            <a:endParaRPr lang="en-US" sz="900" b="1" dirty="0">
              <a:latin typeface="+mj-lt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4305437" y="3741022"/>
            <a:ext cx="429635" cy="23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2" name="Chart 1"/>
          <p:cNvGraphicFramePr/>
          <p:nvPr>
            <p:extLst>
              <p:ext uri="{D42A27DB-BD31-4B8C-83A1-F6EECF244321}">
                <p14:modId xmlns:p14="http://schemas.microsoft.com/office/powerpoint/2010/main" val="2651253694"/>
              </p:ext>
            </p:extLst>
          </p:nvPr>
        </p:nvGraphicFramePr>
        <p:xfrm>
          <a:off x="2672857" y="3707938"/>
          <a:ext cx="2323982" cy="137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3" name="Text 13"/>
          <p:cNvSpPr/>
          <p:nvPr/>
        </p:nvSpPr>
        <p:spPr>
          <a:xfrm>
            <a:off x="5486475" y="3767568"/>
            <a:ext cx="727073" cy="237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6076907" y="3771849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67%</a:t>
            </a:r>
            <a:endParaRPr lang="en-US" sz="900" b="1" dirty="0">
              <a:latin typeface="+mj-lt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571329" y="3778708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3%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7" name="Chart 2"/>
          <p:cNvGraphicFramePr/>
          <p:nvPr>
            <p:extLst>
              <p:ext uri="{D42A27DB-BD31-4B8C-83A1-F6EECF244321}">
                <p14:modId xmlns:p14="http://schemas.microsoft.com/office/powerpoint/2010/main" val="1233770975"/>
              </p:ext>
            </p:extLst>
          </p:nvPr>
        </p:nvGraphicFramePr>
        <p:xfrm>
          <a:off x="5118084" y="3683583"/>
          <a:ext cx="2268449" cy="1385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8" name="Shape 17"/>
          <p:cNvSpPr/>
          <p:nvPr/>
        </p:nvSpPr>
        <p:spPr>
          <a:xfrm>
            <a:off x="201322" y="5760752"/>
            <a:ext cx="7117927" cy="317201"/>
          </a:xfrm>
          <a:prstGeom prst="rect">
            <a:avLst/>
          </a:prstGeom>
          <a:solidFill>
            <a:srgbClr val="2D9B7F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The Derma Co. — Top 3 Sub-category Monthly Trend (NSV)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144" name="Chart 3"/>
          <p:cNvGraphicFramePr/>
          <p:nvPr>
            <p:extLst>
              <p:ext uri="{D42A27DB-BD31-4B8C-83A1-F6EECF244321}">
                <p14:modId xmlns:p14="http://schemas.microsoft.com/office/powerpoint/2010/main" val="2955252500"/>
              </p:ext>
            </p:extLst>
          </p:nvPr>
        </p:nvGraphicFramePr>
        <p:xfrm>
          <a:off x="215343" y="6089741"/>
          <a:ext cx="2323808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9" name="Chart 4"/>
          <p:cNvGraphicFramePr/>
          <p:nvPr>
            <p:extLst>
              <p:ext uri="{D42A27DB-BD31-4B8C-83A1-F6EECF244321}">
                <p14:modId xmlns:p14="http://schemas.microsoft.com/office/powerpoint/2010/main" val="688849826"/>
              </p:ext>
            </p:extLst>
          </p:nvPr>
        </p:nvGraphicFramePr>
        <p:xfrm>
          <a:off x="2658102" y="6107760"/>
          <a:ext cx="2354473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4" name="Chart 5"/>
          <p:cNvGraphicFramePr/>
          <p:nvPr>
            <p:extLst>
              <p:ext uri="{D42A27DB-BD31-4B8C-83A1-F6EECF244321}">
                <p14:modId xmlns:p14="http://schemas.microsoft.com/office/powerpoint/2010/main" val="3438448836"/>
              </p:ext>
            </p:extLst>
          </p:nvPr>
        </p:nvGraphicFramePr>
        <p:xfrm>
          <a:off x="5110835" y="6112627"/>
          <a:ext cx="2218791" cy="1368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81" name="Text 5">
            <a:extLst>
              <a:ext uri="{FF2B5EF4-FFF2-40B4-BE49-F238E27FC236}">
                <a16:creationId xmlns:a16="http://schemas.microsoft.com/office/drawing/2014/main" id="{573815EF-2900-A007-314E-40A00F1BF0E4}"/>
              </a:ext>
            </a:extLst>
          </p:cNvPr>
          <p:cNvSpPr/>
          <p:nvPr/>
        </p:nvSpPr>
        <p:spPr>
          <a:xfrm>
            <a:off x="547229" y="6193741"/>
            <a:ext cx="638856" cy="252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400" b="1" dirty="0">
              <a:latin typeface="+mj-lt"/>
            </a:endParaRPr>
          </a:p>
        </p:txBody>
      </p:sp>
      <p:sp>
        <p:nvSpPr>
          <p:cNvPr id="182" name="Text 6">
            <a:extLst>
              <a:ext uri="{FF2B5EF4-FFF2-40B4-BE49-F238E27FC236}">
                <a16:creationId xmlns:a16="http://schemas.microsoft.com/office/drawing/2014/main" id="{B8CC834D-A1C0-16B8-D31E-8DF1A466C48C}"/>
              </a:ext>
            </a:extLst>
          </p:cNvPr>
          <p:cNvSpPr/>
          <p:nvPr/>
        </p:nvSpPr>
        <p:spPr>
          <a:xfrm>
            <a:off x="1076354" y="6197429"/>
            <a:ext cx="638856" cy="211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GOLY ▲ 1166%</a:t>
            </a:r>
            <a:endParaRPr lang="en-US" sz="800" b="1" dirty="0">
              <a:latin typeface="+mj-lt"/>
            </a:endParaRPr>
          </a:p>
        </p:txBody>
      </p:sp>
      <p:sp>
        <p:nvSpPr>
          <p:cNvPr id="183" name="Text 7">
            <a:extLst>
              <a:ext uri="{FF2B5EF4-FFF2-40B4-BE49-F238E27FC236}">
                <a16:creationId xmlns:a16="http://schemas.microsoft.com/office/drawing/2014/main" id="{4ED6EDAE-5A2F-8C7E-D267-522D20C6C37E}"/>
              </a:ext>
            </a:extLst>
          </p:cNvPr>
          <p:cNvSpPr/>
          <p:nvPr/>
        </p:nvSpPr>
        <p:spPr>
          <a:xfrm>
            <a:off x="1787285" y="6185199"/>
            <a:ext cx="468946" cy="19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MoM ▲ 38%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1F24257-30D4-F248-BEAF-DBFBE20CBC3A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Brand &amp; Category Segment Deep-Dive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3600" dirty="0">
              <a:latin typeface="+mj-lt"/>
            </a:endParaRPr>
          </a:p>
        </p:txBody>
      </p:sp>
      <p:pic>
        <p:nvPicPr>
          <p:cNvPr id="1026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BA9504-2B9F-2470-AAE9-2FFBDC611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5919" y="616070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2530F3C-DA5C-5821-322F-8F943099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6" y="6191803"/>
            <a:ext cx="170596" cy="36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21">
            <a:extLst>
              <a:ext uri="{FF2B5EF4-FFF2-40B4-BE49-F238E27FC236}">
                <a16:creationId xmlns:a16="http://schemas.microsoft.com/office/drawing/2014/main" id="{A263EF77-1531-A74F-2720-119E0ADC41D3}"/>
              </a:ext>
            </a:extLst>
          </p:cNvPr>
          <p:cNvSpPr/>
          <p:nvPr/>
        </p:nvSpPr>
        <p:spPr>
          <a:xfrm>
            <a:off x="222330" y="5164954"/>
            <a:ext cx="7091574" cy="531272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800" dirty="0">
                <a:latin typeface="Calibri"/>
              </a:rPr>
              <a:t>Rice Dewy Bright Face Wash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Face Wash portfolio with NSV of ₹5.40 Cr.</a:t>
            </a:r>
          </a:p>
          <a:p>
            <a:r>
              <a:rPr lang="en-US" sz="800" dirty="0">
                <a:latin typeface="Calibri"/>
              </a:rPr>
              <a:t>Onion Shampoo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Shampoo portfolio with NSV of ₹4.56 Cr.</a:t>
            </a:r>
            <a:endParaRPr lang="en-US" sz="8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800" dirty="0">
                <a:latin typeface="Calibri"/>
              </a:rPr>
              <a:t>Ultra Light Sunscreen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leads the Suncare portfolio with NSV of ₹1.62 Cr. 2</a:t>
            </a:r>
          </a:p>
          <a:p>
            <a:endParaRPr lang="en-IN" sz="8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7D2BC999-FEEF-16FE-42C3-05699746AAC4}"/>
              </a:ext>
            </a:extLst>
          </p:cNvPr>
          <p:cNvSpPr/>
          <p:nvPr/>
        </p:nvSpPr>
        <p:spPr>
          <a:xfrm>
            <a:off x="227675" y="7524842"/>
            <a:ext cx="7101951" cy="49051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endParaRPr lang="en-IN" dirty="0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8B84603B-62AF-1A90-CB4A-FDDD812008BB}"/>
              </a:ext>
            </a:extLst>
          </p:cNvPr>
          <p:cNvSpPr/>
          <p:nvPr/>
        </p:nvSpPr>
        <p:spPr>
          <a:xfrm>
            <a:off x="234663" y="7557942"/>
            <a:ext cx="7101951" cy="53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900" dirty="0">
                <a:latin typeface="Calibri"/>
              </a:rPr>
              <a:t>1% Salicylic FW follows with NSV of ₹285 Lacs., contribute 6.4% of May’26 NSV within 1 year of launch	.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Calibri"/>
              </a:rPr>
              <a:t>Hyaluronic Acid leads the pack and contributes 96% of total Suncare sales, with NSV of ₹411 Lacs.</a:t>
            </a:r>
            <a:endParaRPr lang="en-IN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latin typeface="Calibri"/>
              </a:rPr>
              <a:t>5% Niacinamide Serum leads with NSV of ₹28 Lacs, followed by Vitamin C Serum at ₹23 Lacs.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494E4-7AF4-BACF-7B7D-D4CC530B66A3}"/>
              </a:ext>
            </a:extLst>
          </p:cNvPr>
          <p:cNvSpPr txBox="1"/>
          <p:nvPr/>
        </p:nvSpPr>
        <p:spPr>
          <a:xfrm>
            <a:off x="200735" y="8084035"/>
            <a:ext cx="7097667" cy="215444"/>
          </a:xfrm>
          <a:prstGeom prst="rect">
            <a:avLst/>
          </a:prstGeom>
          <a:solidFill>
            <a:srgbClr val="2D9B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VOLUME VS. VALUE DECOMPOSITION — JUL'26 VS MAY'25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1" name="Picture 10" descr="A bottle of rice face wash  Description automatically generated">
            <a:extLst>
              <a:ext uri="{FF2B5EF4-FFF2-40B4-BE49-F238E27FC236}">
                <a16:creationId xmlns:a16="http://schemas.microsoft.com/office/drawing/2014/main" id="{9C671B61-DB31-0587-EDD3-C43226FF5A3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809" t="6059" r="29332" b="4208"/>
          <a:stretch/>
        </p:blipFill>
        <p:spPr>
          <a:xfrm>
            <a:off x="320040" y="3777030"/>
            <a:ext cx="172162" cy="355054"/>
          </a:xfrm>
          <a:prstGeom prst="rect">
            <a:avLst/>
          </a:prstGeom>
        </p:spPr>
      </p:pic>
      <p:pic>
        <p:nvPicPr>
          <p:cNvPr id="13" name="Picture 12" descr="A yellow bottle of sunscreen  Description automatically generated">
            <a:extLst>
              <a:ext uri="{FF2B5EF4-FFF2-40B4-BE49-F238E27FC236}">
                <a16:creationId xmlns:a16="http://schemas.microsoft.com/office/drawing/2014/main" id="{428F7BD9-F94D-E689-E889-BB0445012F6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069" t="9042" r="31762" b="9272"/>
          <a:stretch/>
        </p:blipFill>
        <p:spPr>
          <a:xfrm>
            <a:off x="5248859" y="3777030"/>
            <a:ext cx="146146" cy="330068"/>
          </a:xfrm>
          <a:prstGeom prst="rect">
            <a:avLst/>
          </a:prstGeom>
        </p:spPr>
      </p:pic>
      <p:pic>
        <p:nvPicPr>
          <p:cNvPr id="14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69A52EB1-ABE9-6C46-A7E5-35B36BFF98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154431" y="6181264"/>
            <a:ext cx="221578" cy="38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3495C88-1D2A-861C-04CC-A94B48070B1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19608" b="483"/>
          <a:stretch/>
        </p:blipFill>
        <p:spPr>
          <a:xfrm>
            <a:off x="2705178" y="3764389"/>
            <a:ext cx="181821" cy="3866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48C78F8-7256-D531-06D7-F8E7EEBA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71957"/>
              </p:ext>
            </p:extLst>
          </p:nvPr>
        </p:nvGraphicFramePr>
        <p:xfrm>
          <a:off x="182540" y="8390919"/>
          <a:ext cx="7105485" cy="1093408"/>
        </p:xfrm>
        <a:graphic>
          <a:graphicData uri="http://schemas.openxmlformats.org/drawingml/2006/table">
            <a:tbl>
              <a:tblPr/>
              <a:tblGrid>
                <a:gridCol w="772746">
                  <a:extLst>
                    <a:ext uri="{9D8B030D-6E8A-4147-A177-3AD203B41FA5}">
                      <a16:colId xmlns:a16="http://schemas.microsoft.com/office/drawing/2014/main" val="7783453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65270024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5547112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6436525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34832599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19156438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282017378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3633227043"/>
                    </a:ext>
                  </a:extLst>
                </a:gridCol>
              </a:tblGrid>
              <a:tr h="18912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341585"/>
                  </a:ext>
                </a:extLst>
              </a:tr>
              <a:tr h="313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346606"/>
                  </a:ext>
                </a:extLst>
              </a:tr>
              <a:tr h="23975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6,23,925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7,85,723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26%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49942"/>
                  </a:ext>
                </a:extLst>
              </a:tr>
              <a:tr h="17139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2,75,067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3,57,736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53%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23973"/>
                  </a:ext>
                </a:extLst>
              </a:tr>
              <a:tr h="1773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1,12,028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1,67,158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67%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12%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179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7581020-ECB9-622E-A63B-C206AEA9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895920"/>
              </p:ext>
            </p:extLst>
          </p:nvPr>
        </p:nvGraphicFramePr>
        <p:xfrm>
          <a:off x="158540" y="9604799"/>
          <a:ext cx="7162797" cy="984250"/>
        </p:xfrm>
        <a:graphic>
          <a:graphicData uri="http://schemas.openxmlformats.org/drawingml/2006/table">
            <a:tbl>
              <a:tblPr/>
              <a:tblGrid>
                <a:gridCol w="778979">
                  <a:extLst>
                    <a:ext uri="{9D8B030D-6E8A-4147-A177-3AD203B41FA5}">
                      <a16:colId xmlns:a16="http://schemas.microsoft.com/office/drawing/2014/main" val="187985350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16742566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0873403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67184648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96042857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794637982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151274359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1193925391"/>
                    </a:ext>
                  </a:extLst>
                </a:gridCol>
              </a:tblGrid>
              <a:tr h="155673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The Derma co.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276058"/>
                  </a:ext>
                </a:extLst>
              </a:tr>
              <a:tr h="30511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86649"/>
                  </a:ext>
                </a:extLst>
              </a:tr>
              <a:tr h="17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22,592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4,28,182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1795%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1164%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74450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29,103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1,62,541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459%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357%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851478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22,124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30,097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46%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213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79E92E9-62D0-7467-97E8-BE362246B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18215"/>
              </p:ext>
            </p:extLst>
          </p:nvPr>
        </p:nvGraphicFramePr>
        <p:xfrm>
          <a:off x="183651" y="572366"/>
          <a:ext cx="7164935" cy="1627184"/>
        </p:xfrm>
        <a:graphic>
          <a:graphicData uri="http://schemas.openxmlformats.org/drawingml/2006/table">
            <a:tbl>
              <a:tblPr/>
              <a:tblGrid>
                <a:gridCol w="1148808">
                  <a:extLst>
                    <a:ext uri="{9D8B030D-6E8A-4147-A177-3AD203B41FA5}">
                      <a16:colId xmlns:a16="http://schemas.microsoft.com/office/drawing/2014/main" val="3848970531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1522408997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226368320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828023372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3845673820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4180414308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3702109773"/>
                    </a:ext>
                  </a:extLst>
                </a:gridCol>
                <a:gridCol w="695331">
                  <a:extLst>
                    <a:ext uri="{9D8B030D-6E8A-4147-A177-3AD203B41FA5}">
                      <a16:colId xmlns:a16="http://schemas.microsoft.com/office/drawing/2014/main" val="3174125610"/>
                    </a:ext>
                  </a:extLst>
                </a:gridCol>
                <a:gridCol w="483709">
                  <a:extLst>
                    <a:ext uri="{9D8B030D-6E8A-4147-A177-3AD203B41FA5}">
                      <a16:colId xmlns:a16="http://schemas.microsoft.com/office/drawing/2014/main" val="3399407347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443509617"/>
                    </a:ext>
                  </a:extLst>
                </a:gridCol>
                <a:gridCol w="680215">
                  <a:extLst>
                    <a:ext uri="{9D8B030D-6E8A-4147-A177-3AD203B41FA5}">
                      <a16:colId xmlns:a16="http://schemas.microsoft.com/office/drawing/2014/main" val="2768538990"/>
                    </a:ext>
                  </a:extLst>
                </a:gridCol>
              </a:tblGrid>
              <a:tr h="444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Avg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</a:t>
                      </a:r>
                      <a:b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96166"/>
                  </a:ext>
                </a:extLst>
              </a:tr>
              <a:tr h="226982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Mamaearth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2,836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19567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The Derma Co.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61%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405%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68965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Aqualogica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411830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Emerging Brands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33%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77323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Portfolio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2,466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3,039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2,761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3,589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4,019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3,195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860741"/>
                  </a:ext>
                </a:extLst>
              </a:tr>
            </a:tbl>
          </a:graphicData>
        </a:graphic>
      </p:graphicFrame>
      <p:sp>
        <p:nvSpPr>
          <p:cNvPr id="20" name="Shape 21">
            <a:extLst>
              <a:ext uri="{FF2B5EF4-FFF2-40B4-BE49-F238E27FC236}">
                <a16:creationId xmlns:a16="http://schemas.microsoft.com/office/drawing/2014/main" id="{5B7DF914-149A-FC9E-7E02-630EAAC9B064}"/>
              </a:ext>
            </a:extLst>
          </p:cNvPr>
          <p:cNvSpPr/>
          <p:nvPr/>
        </p:nvSpPr>
        <p:spPr>
          <a:xfrm>
            <a:off x="208385" y="2216475"/>
            <a:ext cx="7140201" cy="1031161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Strategic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Brand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Portfolio</a:t>
            </a:r>
          </a:p>
          <a:p>
            <a:endParaRPr lang="en-US" sz="1000" b="1" dirty="0">
              <a:solidFill>
                <a:srgbClr val="1F7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the portfolio Leader at 70.6% share, growing a steady +30% YoY. </a:t>
            </a:r>
          </a:p>
          <a:p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fastest scaling brand now 27.4% of NSV vs single digits a </a:t>
            </a:r>
            <a:r>
              <a:rPr lang="en-US" sz="1000" dirty="0" err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ago, on a genuinely low FY25 base.</a:t>
            </a: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to show positive structural growth, with ▲13% YoY, ▲7% MoM, and ▲25% vs L3M average. However, its current contribution remains relatively small, so it is not yet materially influencing the overall portfolio trajectory.</a:t>
            </a:r>
            <a:endParaRPr lang="en-IN" sz="10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07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Zone Performance Summary</a:t>
            </a:r>
            <a:endParaRPr lang="en-US" sz="1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Zone share, May’26 NSV and growth view</a:t>
            </a:r>
            <a:endParaRPr lang="en-US" sz="6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3612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Zone May’26 NSV and Share</a:t>
            </a:r>
            <a:endParaRPr lang="en-US" sz="16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5895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276853806"/>
              </p:ext>
            </p:extLst>
          </p:nvPr>
        </p:nvGraphicFramePr>
        <p:xfrm>
          <a:off x="320040" y="823920"/>
          <a:ext cx="345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82652588"/>
              </p:ext>
            </p:extLst>
          </p:nvPr>
        </p:nvGraphicFramePr>
        <p:xfrm>
          <a:off x="3911760" y="850392"/>
          <a:ext cx="3312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144576"/>
            <a:ext cx="69227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Zone Summary</a:t>
            </a:r>
            <a:endParaRPr lang="en-US" dirty="0">
              <a:latin typeface="+mj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0040" y="3418895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329184" y="5389561"/>
            <a:ext cx="6903719" cy="51637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numCol="1" spcCol="720000" rtlCol="0" anchor="t">
            <a:noAutofit/>
          </a:bodyPr>
          <a:lstStyle/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Zone Insights | May’26</a:t>
            </a:r>
            <a:endParaRPr lang="en-US" dirty="0">
              <a:solidFill>
                <a:srgbClr val="1E746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West remained the largest zone</a:t>
            </a:r>
            <a:r>
              <a:rPr lang="en-US" sz="1400" dirty="0">
                <a:latin typeface="Calibri"/>
              </a:rPr>
              <a:t> with NSV of </a:t>
            </a:r>
            <a:r>
              <a:rPr lang="en-US" sz="1400" b="1" dirty="0">
                <a:latin typeface="Calibri"/>
              </a:rPr>
              <a:t>₹1,017 Lacs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25.3%</a:t>
            </a:r>
            <a:r>
              <a:rPr lang="en-US" sz="1400" dirty="0">
                <a:latin typeface="Calibri"/>
              </a:rPr>
              <a:t> to overall MT offtake.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North and South-1 emerged as the next key growth bases</a:t>
            </a:r>
            <a:r>
              <a:rPr lang="en-US" sz="1400" dirty="0">
                <a:latin typeface="Calibri"/>
              </a:rPr>
              <a:t>, strengthening the national growth mix beyond West.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South-1 delivered the strongest YoY growth at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▲84%, </a:t>
            </a:r>
            <a:r>
              <a:rPr lang="en-US" sz="1400" dirty="0">
                <a:latin typeface="Calibri"/>
              </a:rPr>
              <a:t>indicating strong scale-up momentum in the region.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Dmart</a:t>
            </a:r>
            <a:r>
              <a:rPr lang="en-US" sz="1400" b="1" dirty="0">
                <a:latin typeface="Calibri"/>
              </a:rPr>
              <a:t> is the #1 chain in 3 out of 5 zones</a:t>
            </a:r>
            <a:r>
              <a:rPr lang="en-US" sz="1400" dirty="0">
                <a:latin typeface="Calibri"/>
              </a:rPr>
              <a:t>: North, South-2 and West. This confirms </a:t>
            </a:r>
            <a:r>
              <a:rPr lang="en-US" sz="1400" dirty="0" err="1">
                <a:latin typeface="Calibri"/>
              </a:rPr>
              <a:t>Dmart</a:t>
            </a:r>
            <a:r>
              <a:rPr lang="en-US" sz="1400" dirty="0">
                <a:latin typeface="Calibri"/>
              </a:rPr>
              <a:t> as a national growth engine, not limited to one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Apollo leads South-1 and ranks #2/#3 in three other zones</a:t>
            </a:r>
            <a:r>
              <a:rPr lang="en-US" sz="1400" dirty="0">
                <a:latin typeface="Calibri"/>
              </a:rPr>
              <a:t>, showing repeatable pharmacy-channel momentum across regions, largely driven by </a:t>
            </a:r>
            <a:r>
              <a:rPr lang="en-US" sz="1400" b="1" dirty="0">
                <a:latin typeface="Calibri"/>
              </a:rPr>
              <a:t>The Derma Co.</a:t>
            </a:r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Brand &amp; Category Repeats Across </a:t>
            </a:r>
            <a:r>
              <a:rPr lang="en-US" b="1" dirty="0">
                <a:solidFill>
                  <a:schemeClr val="bg1"/>
                </a:solidFill>
                <a:latin typeface="Calibri"/>
              </a:rPr>
              <a:t>Zones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The Derma Co. achieved its highest-ever monthly NSV of ₹1,100 Lacs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27.4%</a:t>
            </a:r>
            <a:r>
              <a:rPr lang="en-US" sz="1400" dirty="0">
                <a:latin typeface="Calibri"/>
              </a:rPr>
              <a:t> to the portfolio. The brand grew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▲404% </a:t>
            </a:r>
            <a:r>
              <a:rPr lang="en-US" sz="1400" b="1" dirty="0">
                <a:latin typeface="Calibri"/>
              </a:rPr>
              <a:t>YoY</a:t>
            </a:r>
            <a:r>
              <a:rPr lang="en-US" sz="1400" dirty="0">
                <a:latin typeface="Calibri"/>
              </a:rPr>
              <a:t>, making it the fastest-scaling growth engine in the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Face Cleanser and Sun Care remained the top 2 growth drivers for The Derma Co. in 5 out of 6 zones</a:t>
            </a:r>
            <a:r>
              <a:rPr lang="en-US" sz="1400" dirty="0">
                <a:latin typeface="Calibri"/>
              </a:rPr>
              <a:t>, making them the clearest scale-up levers. </a:t>
            </a:r>
            <a:r>
              <a:rPr lang="en-US" sz="1400" dirty="0">
                <a:solidFill>
                  <a:srgbClr val="404040"/>
                </a:solidFill>
                <a:latin typeface="Calibri"/>
              </a:rPr>
              <a:t>FSN is the only chain growing materially slower than the network (+18.9% YoY).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Mamaearth</a:t>
            </a:r>
            <a:r>
              <a:rPr lang="en-US" sz="1400" b="1" dirty="0">
                <a:latin typeface="Calibri"/>
              </a:rPr>
              <a:t> Face Cleanser and Shampoo ranked as the #1/#2 sub-categories by value across every zone</a:t>
            </a:r>
            <a:r>
              <a:rPr lang="en-US" sz="1400" dirty="0">
                <a:latin typeface="Calibri"/>
              </a:rPr>
              <a:t>, confirming their role as stable national anchors.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Sun Care emerged as the fastest seasonal mover across zones</a:t>
            </a:r>
            <a:r>
              <a:rPr lang="en-US" sz="1400" dirty="0">
                <a:latin typeface="Calibri"/>
              </a:rPr>
              <a:t>, supported by strong summer-led demand and visibility execution.</a:t>
            </a:r>
          </a:p>
        </p:txBody>
      </p:sp>
      <p:sp>
        <p:nvSpPr>
          <p:cNvPr id="68" name="Shape 64"/>
          <p:cNvSpPr/>
          <p:nvPr/>
        </p:nvSpPr>
        <p:spPr>
          <a:xfrm>
            <a:off x="320039" y="559191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a16:creationId xmlns:a16="http://schemas.microsoft.com/office/drawing/2014/main" id="{22C0EF99-FAAB-CACA-AEC1-CA5D7B9E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43092"/>
              </p:ext>
            </p:extLst>
          </p:nvPr>
        </p:nvGraphicFramePr>
        <p:xfrm>
          <a:off x="320040" y="3510335"/>
          <a:ext cx="6903719" cy="1854608"/>
        </p:xfrm>
        <a:graphic>
          <a:graphicData uri="http://schemas.openxmlformats.org/drawingml/2006/table">
            <a:tbl>
              <a:tblPr/>
              <a:tblGrid>
                <a:gridCol w="867302">
                  <a:extLst>
                    <a:ext uri="{9D8B030D-6E8A-4147-A177-3AD203B41FA5}">
                      <a16:colId xmlns:a16="http://schemas.microsoft.com/office/drawing/2014/main" val="1796692111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4130509951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826358126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54505304"/>
                    </a:ext>
                  </a:extLst>
                </a:gridCol>
                <a:gridCol w="659149">
                  <a:extLst>
                    <a:ext uri="{9D8B030D-6E8A-4147-A177-3AD203B41FA5}">
                      <a16:colId xmlns:a16="http://schemas.microsoft.com/office/drawing/2014/main" val="816571884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555739565"/>
                    </a:ext>
                  </a:extLst>
                </a:gridCol>
                <a:gridCol w="624457">
                  <a:extLst>
                    <a:ext uri="{9D8B030D-6E8A-4147-A177-3AD203B41FA5}">
                      <a16:colId xmlns:a16="http://schemas.microsoft.com/office/drawing/2014/main" val="2296702728"/>
                    </a:ext>
                  </a:extLst>
                </a:gridCol>
                <a:gridCol w="503035">
                  <a:extLst>
                    <a:ext uri="{9D8B030D-6E8A-4147-A177-3AD203B41FA5}">
                      <a16:colId xmlns:a16="http://schemas.microsoft.com/office/drawing/2014/main" val="3831480518"/>
                    </a:ext>
                  </a:extLst>
                </a:gridCol>
                <a:gridCol w="797917">
                  <a:extLst>
                    <a:ext uri="{9D8B030D-6E8A-4147-A177-3AD203B41FA5}">
                      <a16:colId xmlns:a16="http://schemas.microsoft.com/office/drawing/2014/main" val="1086156123"/>
                    </a:ext>
                  </a:extLst>
                </a:gridCol>
                <a:gridCol w="711187">
                  <a:extLst>
                    <a:ext uri="{9D8B030D-6E8A-4147-A177-3AD203B41FA5}">
                      <a16:colId xmlns:a16="http://schemas.microsoft.com/office/drawing/2014/main" val="8595106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 Share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</a:t>
                      </a: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Avg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33305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East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10%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876577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North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630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746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3069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84%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97152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224738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West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1,017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1867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FSN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190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348988"/>
                  </a:ext>
                </a:extLst>
              </a:tr>
            </a:tbl>
          </a:graphicData>
        </a:graphic>
      </p:graphicFrame>
      <p:sp>
        <p:nvSpPr>
          <p:cNvPr id="15" name="Shape 64">
            <a:extLst>
              <a:ext uri="{FF2B5EF4-FFF2-40B4-BE49-F238E27FC236}">
                <a16:creationId xmlns:a16="http://schemas.microsoft.com/office/drawing/2014/main" id="{E7CD4EB2-142A-8EFA-51E0-5F02C7C991AA}"/>
              </a:ext>
            </a:extLst>
          </p:cNvPr>
          <p:cNvSpPr/>
          <p:nvPr/>
        </p:nvSpPr>
        <p:spPr>
          <a:xfrm>
            <a:off x="320039" y="841147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16" name="Shape 64">
            <a:extLst>
              <a:ext uri="{FF2B5EF4-FFF2-40B4-BE49-F238E27FC236}">
                <a16:creationId xmlns:a16="http://schemas.microsoft.com/office/drawing/2014/main" id="{E050BDAA-C913-441A-CD85-620B427F4BF7}"/>
              </a:ext>
            </a:extLst>
          </p:cNvPr>
          <p:cNvSpPr/>
          <p:nvPr/>
        </p:nvSpPr>
        <p:spPr>
          <a:xfrm>
            <a:off x="320039" y="8183192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2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3 / 9</a:t>
            </a:r>
          </a:p>
        </p:txBody>
      </p:sp>
    </p:spTree>
    <p:extLst>
      <p:ext uri="{BB962C8B-B14F-4D97-AF65-F5344CB8AC3E}">
        <p14:creationId xmlns:p14="http://schemas.microsoft.com/office/powerpoint/2010/main" val="270740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17874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EAST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411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322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33702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East Zone Jul'26 NSV: ₹3.55 Cr
Mamaearth ₹2.91 Cr — Face Cleanser ₹1.21 Cr (42%), Shampoo ₹0.94 Cr (32%), Sun Care ₹0.17 Cr
The Derma Co. ₹0.60 Cr — Face Cleanser ₹0.40 Cr (66%), Sun Care ₹0.11 Cr, Face Serum ₹0.07 Cr
Chains: DMart dominates; Reliance ₹8.06 Cr (national, East subset in zone total)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72158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440324"/>
            <a:ext cx="6926523" cy="27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East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707667" y="387017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1159597" y="3861039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43%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633843" y="387291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971664"/>
              </p:ext>
            </p:extLst>
          </p:nvPr>
        </p:nvGraphicFramePr>
        <p:xfrm>
          <a:off x="180438" y="3792416"/>
          <a:ext cx="2261355" cy="155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942073" y="3861040"/>
            <a:ext cx="666595" cy="1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651854" y="3914645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77%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4056373" y="3910824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13%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920728"/>
              </p:ext>
            </p:extLst>
          </p:nvPr>
        </p:nvGraphicFramePr>
        <p:xfrm>
          <a:off x="2508399" y="3803422"/>
          <a:ext cx="2261355" cy="1567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5306248" y="388846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885786" y="390717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▲157%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352373" y="388791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247040"/>
              </p:ext>
            </p:extLst>
          </p:nvPr>
        </p:nvGraphicFramePr>
        <p:xfrm>
          <a:off x="4830879" y="3790132"/>
          <a:ext cx="2308335" cy="1562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43690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329765" y="55321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East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643883" y="596560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1203373" y="6004948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▲500%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776670" y="5981324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071956"/>
              </p:ext>
            </p:extLst>
          </p:nvPr>
        </p:nvGraphicFramePr>
        <p:xfrm>
          <a:off x="196505" y="5838726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823294" y="593770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412706" y="5946619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▲125%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4140153" y="5928351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789875"/>
              </p:ext>
            </p:extLst>
          </p:nvPr>
        </p:nvGraphicFramePr>
        <p:xfrm>
          <a:off x="2487615" y="5833529"/>
          <a:ext cx="2467498" cy="1541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489018" y="5906220"/>
            <a:ext cx="670727" cy="12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6173226" y="5916969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3A3A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 b="1">
                <a:solidFill>
                  <a:srgbClr val="C00000"/>
                </a:solidFill>
                <a:latin typeface="Calibri"/>
              </a:rPr>
              <a:t>▼ 22%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591667" y="5927470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243054"/>
              </p:ext>
            </p:extLst>
          </p:nvPr>
        </p:nvGraphicFramePr>
        <p:xfrm>
          <a:off x="4886313" y="5890361"/>
          <a:ext cx="2241504" cy="1490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47328"/>
              </p:ext>
            </p:extLst>
          </p:nvPr>
        </p:nvGraphicFramePr>
        <p:xfrm>
          <a:off x="212691" y="1934878"/>
          <a:ext cx="6961092" cy="1502231"/>
        </p:xfrm>
        <a:graphic>
          <a:graphicData uri="http://schemas.openxmlformats.org/drawingml/2006/table">
            <a:tbl>
              <a:tblPr firstRow="1" firstCol="1" bandRow="1"/>
              <a:tblGrid>
                <a:gridCol w="1183119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47342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4455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373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28199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596026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VMM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108%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120%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Frankros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200%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900%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65%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-20552" y="3870"/>
            <a:chExt cx="6977611" cy="2032500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-20552" y="124955"/>
              <a:ext cx="6917094" cy="1911415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39662" y="1160579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6520" y="115928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18276" y="1173474"/>
              <a:ext cx="1624852" cy="501735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28092" y="110147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23661" y="124881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493229" y="1124742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35859" y="111997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205600" y="1209710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East delivered its highest month at 411, ▲28% vs L3M and ▲55% vs May-25.</a:t>
              </a:r>
              <a:br/>
              <a:r>
                <a:rPr sz="720" b="1">
                  <a:latin typeface="Calibri"/>
                </a:rPr>
                <a:t>Chain Highlights: Reliance leads; Apollo is the fastest YoY chain.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8826" y="1290444"/>
              <a:ext cx="793772" cy="3662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000" y="1343191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5835" y="1101478"/>
              <a:ext cx="1450088" cy="542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ines2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Reliance, VMM,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Apollo,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More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Retail,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   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21014" y="1216290"/>
              <a:ext cx="1056474" cy="29882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804280" y="1367557"/>
              <a:ext cx="771797" cy="25826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264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701317" y="1373977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800" b="1" dirty="0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800" b="1" dirty="0">
                  <a:solidFill>
                    <a:srgbClr val="008A3D"/>
                  </a:solidFill>
                  <a:latin typeface="+mj-lt"/>
                </a:rPr>
                <a:t>▲ 33%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23316" y="1145938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6044531" y="1279512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411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East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5D280CFA-196A-3384-28EB-93A0BA900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563955" y="5910322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BE51A77-E98C-BDE1-B461-8EF8CA19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20" y="5924618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4F8FFE7C-A843-B300-DFB8-A8926A046F0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59645" y="3868252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1D587756-29C5-809E-CF12-295DC55BCF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4989647" y="386982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A9AAA02-2587-3BB3-DAF9-87AFAEE2284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5084" y="5922266"/>
            <a:ext cx="199186" cy="28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B12E3AF0-7D3C-DD22-4BD1-3C667E370C4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84778" y="3872916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4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EAST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7747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439487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NORTH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934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23.2%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746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North Zone Jul'26 NSV: ₹6.98 Cr
Mamaearth ₹4.73 Cr — Face Cleanser ₹2.01 Cr (42%), Shampoo ₹1.50 Cr (32%), Sun Care ₹0.36 Cr
The Derma Co. ₹2.12 Cr — Face Cleanser ₹1.45 Cr (69%), Sun Care ₹0.46 Cr, Face Serum ₹0.13 Cr
Reliance North at 44.9% conversion — weakest in national pack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North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36150" y="3893837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79525" y="389383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153771" y="3905713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27936" y="3893837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951180"/>
              </p:ext>
            </p:extLst>
          </p:nvPr>
        </p:nvGraphicFramePr>
        <p:xfrm>
          <a:off x="201072" y="3821157"/>
          <a:ext cx="2222757" cy="1551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48050" y="3903537"/>
            <a:ext cx="56028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40756" y="3893642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54%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45275" y="3889821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116738" y="3891974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331227"/>
              </p:ext>
            </p:extLst>
          </p:nvPr>
        </p:nvGraphicFramePr>
        <p:xfrm>
          <a:off x="2523196" y="3793964"/>
          <a:ext cx="2246183" cy="1604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73035" y="3855509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52573" y="3874219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19160" y="3854959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47628" y="3903536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009613"/>
              </p:ext>
            </p:extLst>
          </p:nvPr>
        </p:nvGraphicFramePr>
        <p:xfrm>
          <a:off x="4830879" y="3790131"/>
          <a:ext cx="2308335" cy="1621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North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336150" y="5868172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30315" y="5868171"/>
            <a:ext cx="472126" cy="24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▲1806%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38663" y="5883530"/>
            <a:ext cx="426367" cy="17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808405" y="5874585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9"/>
                </a:solidFill>
                <a:latin typeface="Calibri"/>
              </a:rPr>
              <a:t>Jul'26 132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062141"/>
              </p:ext>
            </p:extLst>
          </p:nvPr>
        </p:nvGraphicFramePr>
        <p:xfrm>
          <a:off x="176687" y="5845570"/>
          <a:ext cx="2239919" cy="1467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622149" y="586817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91647" y="5935615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▲440%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73150" y="5898208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37%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092264" y="5888238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147632"/>
              </p:ext>
            </p:extLst>
          </p:nvPr>
        </p:nvGraphicFramePr>
        <p:xfrm>
          <a:off x="2495147" y="5860056"/>
          <a:ext cx="2274232" cy="148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359" y="5889642"/>
            <a:ext cx="566347" cy="22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38385" y="5902135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▲ 108</a:t>
            </a:r>
            <a:r>
              <a:rPr sz="900" b="1" dirty="0">
                <a:solidFill>
                  <a:schemeClr val="accent6"/>
                </a:solidFill>
                <a:latin typeface="Calibri"/>
              </a:rPr>
              <a:t>%</a:t>
            </a:r>
            <a:endParaRPr lang="en-US" sz="9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181996" y="5921103"/>
            <a:ext cx="406179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8786" y="5910603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4314941"/>
              </p:ext>
            </p:extLst>
          </p:nvPr>
        </p:nvGraphicFramePr>
        <p:xfrm>
          <a:off x="4841314" y="5860591"/>
          <a:ext cx="2297900" cy="1481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17857"/>
              </p:ext>
            </p:extLst>
          </p:nvPr>
        </p:nvGraphicFramePr>
        <p:xfrm>
          <a:off x="212691" y="1934878"/>
          <a:ext cx="6937466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81624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712382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701748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661828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517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10743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175%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Sancus(Rmt)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North delivered its highest month at 934, ▲25% vs L3M and ▲65% vs May-25.</a:t>
              </a:r>
              <a:br/>
              <a:r>
                <a:rPr sz="720" b="1">
                  <a:latin typeface="Calibri"/>
                </a:rPr>
                <a:t>Chain Highlights: Dmart leads; Lulu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351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283%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Apollo,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934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North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CC605FCE-57BA-7B47-6E90-8EBD86A16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A730C5E-E798-81D5-75C0-4C35B37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46B54BB-96BF-7217-5F2F-E405108670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62229" y="4058927"/>
            <a:ext cx="160778" cy="331576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C57FB264-BADA-5D6D-D810-BA4B7ED19AC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90937" y="404943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7A701BDC-8A3B-26A0-68C1-222B6656CC5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9134" y="6182848"/>
            <a:ext cx="216398" cy="29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8F50D39-E171-3A04-74AD-B0885657394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5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NORTH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3507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SOUTH-1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894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22.3%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674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84%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South-1 Zone Jul'26 NSV: ₹8.21 Cr — largest zone
Mamaearth ₹5.25 Cr — Face Cleanser ₹1.67 Cr (32%), Shampoo ₹1.62 Cr (31%), Sun Care ₹0.46 Cr
The Derma Co. ₹2.77 Cr — Face Cleanser ₹1.51 Cr (54%), Sun Care ₹0.86 Cr, Face Serum ₹0.28 Cr
Apollo South-1 is strongest pipeline with best-in-class fill rates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South-1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80785" y="3895964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24160" y="389596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098406" y="390784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31573" y="389596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213460"/>
              </p:ext>
            </p:extLst>
          </p:nvPr>
        </p:nvGraphicFramePr>
        <p:xfrm>
          <a:off x="157837" y="3808086"/>
          <a:ext cx="2246288" cy="1594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654206" cy="1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63%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065483"/>
              </p:ext>
            </p:extLst>
          </p:nvPr>
        </p:nvGraphicFramePr>
        <p:xfrm>
          <a:off x="2513908" y="3792892"/>
          <a:ext cx="2251646" cy="162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0447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122%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97696" y="3845293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0%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48232"/>
              </p:ext>
            </p:extLst>
          </p:nvPr>
        </p:nvGraphicFramePr>
        <p:xfrm>
          <a:off x="4862830" y="3792360"/>
          <a:ext cx="2276384" cy="161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South-1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▲772%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0006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069807"/>
              </p:ext>
            </p:extLst>
          </p:nvPr>
        </p:nvGraphicFramePr>
        <p:xfrm>
          <a:off x="169808" y="5838529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▲351%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14%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Jul'26 131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141323"/>
              </p:ext>
            </p:extLst>
          </p:nvPr>
        </p:nvGraphicFramePr>
        <p:xfrm>
          <a:off x="2518289" y="5857060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4096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19368" y="5910762"/>
            <a:ext cx="439416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94%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31403" y="588771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639313" y="591063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511334"/>
              </p:ext>
            </p:extLst>
          </p:nvPr>
        </p:nvGraphicFramePr>
        <p:xfrm>
          <a:off x="4887847" y="5856915"/>
          <a:ext cx="2251367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85162"/>
              </p:ext>
            </p:extLst>
          </p:nvPr>
        </p:nvGraphicFramePr>
        <p:xfrm>
          <a:off x="212691" y="1934878"/>
          <a:ext cx="699667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696366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398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475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348%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34709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189%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South-1 delivered its highest month at 894, ▲33% vs L3M and ▲84% vs May-25.</a:t>
              </a:r>
              <a:br/>
              <a:r>
                <a:rPr sz="720" b="1">
                  <a:latin typeface="Calibri"/>
                </a:rPr>
                <a:t>Chain Highlights: Apollo leads and is also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292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189%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Apollo, Dmart,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894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South-1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9009A3B-EB3E-6343-D608-A81EA6B34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48382" y="6198211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89F3E15F-5CB2-DEA2-068B-752C22B9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45" y="6156575"/>
            <a:ext cx="240883" cy="51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94E6A19-320A-A66F-4669-6DEE7233F7A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193864" y="3919244"/>
            <a:ext cx="177369" cy="365792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DFA487F3-EFDB-3AC1-1F3C-F5EB48156D7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4745" y="4059965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FDD0B690-73C1-A54D-0365-B948D81A60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7082" y="6176980"/>
            <a:ext cx="216398" cy="2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64871C3D-C720-F171-B5B1-F79694721C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49882" y="3936894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6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SOUTH-1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351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19409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SOUTH-2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554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13.8%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421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South-2 Zone Jul'26 NSV: ₹4.93 Cr
Mamaearth ₹3.75 Cr — Face Cleanser ₹1.35 Cr (36%), Shampoo ₹1.18 Cr (32%), Baby Soap ₹0.33 Cr
The Derma Co. ₹1.12 Cr — Face Cleanser ₹0.66 Cr (58%), Sun Care ₹0.31 Cr, Face Serum ₹0.11 Cr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South-2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39393" y="3859485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25701" y="387696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19%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144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139199"/>
              </p:ext>
            </p:extLst>
          </p:nvPr>
        </p:nvGraphicFramePr>
        <p:xfrm>
          <a:off x="275452" y="3805495"/>
          <a:ext cx="2174502" cy="1577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27675" cy="21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8%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78340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041184"/>
              </p:ext>
            </p:extLst>
          </p:nvPr>
        </p:nvGraphicFramePr>
        <p:xfrm>
          <a:off x="2466165" y="3818106"/>
          <a:ext cx="2262902" cy="1572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105%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40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4364795"/>
              </p:ext>
            </p:extLst>
          </p:nvPr>
        </p:nvGraphicFramePr>
        <p:xfrm>
          <a:off x="4824542" y="3822384"/>
          <a:ext cx="2239704" cy="159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South-2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2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700600" y="5940913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▲137%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98916" y="5948266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48%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911918" y="5925157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44965"/>
              </p:ext>
            </p:extLst>
          </p:nvPr>
        </p:nvGraphicFramePr>
        <p:xfrm>
          <a:off x="222457" y="5887849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10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76423" y="5977197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▲509%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91642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57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761459"/>
              </p:ext>
            </p:extLst>
          </p:nvPr>
        </p:nvGraphicFramePr>
        <p:xfrm>
          <a:off x="2559720" y="5887161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9" y="5906220"/>
            <a:ext cx="4822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73501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124%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8076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197638"/>
              </p:ext>
            </p:extLst>
          </p:nvPr>
        </p:nvGraphicFramePr>
        <p:xfrm>
          <a:off x="4943104" y="5865915"/>
          <a:ext cx="2160299" cy="1485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94944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290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347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97%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63577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154%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608%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6350" y="3870"/>
            <a:chExt cx="6966733" cy="2115978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124115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2796" y="1239245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63010" y="118013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36657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13123" y="1216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20651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22959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52796" y="332578"/>
              <a:ext cx="6697232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South-2 delivered its highest month at 554, ▲31% vs L3M and ▲73% vs May-25.</a:t>
              </a:r>
              <a:br/>
              <a:r>
                <a:rPr sz="720" b="1">
                  <a:latin typeface="Calibri"/>
                </a:rPr>
                <a:t>Chain Highlights: Dmart leads; Lulu is the fastest YoY chain.</a:t>
              </a:r>
              <a:endParaRPr lang="en-IN" sz="900" b="1" dirty="0">
                <a:solidFill>
                  <a:srgbClr val="008A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7009" y="1299505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900158" y="1299505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3307" y="1299505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86458" y="1239246"/>
              <a:ext cx="507902" cy="1567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206736" y="151909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218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89435" y="1508346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608%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71128" y="149515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Apollo,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86457" y="1477583"/>
              <a:ext cx="776292" cy="21760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554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South-2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76197D-AD93-4DDB-527A-826CAC8A3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35703" y="6189696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20B312B-5A1E-869A-616E-4DE5477B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53" y="6195781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6B07053-A2FC-8A2A-646C-006FD076BE9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15430" y="4054143"/>
            <a:ext cx="176977" cy="36498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E7063FFB-AF00-4EC3-116F-9FDCBC3737E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6620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2FCF8E9C-AD85-A765-DA2E-933646335E0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6572" y="625749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5DC5B903-423D-700E-B3D3-6618C69CDFE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831164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7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SOUTH-2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48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106685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WEST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1016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25.3%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840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56%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West Zone Jul'26 NSV: ₹7.81 Cr — #2 zone
Mamaearth ₹4.66 Cr — Face Cleanser ₹2.29 Cr (49%), Shampoo ₹1.46 Cr (31%), Sun Care ₹0.20 Cr
The Derma Co. ₹3.08 Cr — Face Cleanser ₹2.34 Cr (76%), Sun Care ₹0.49 Cr, Face Serum ₹0.19 Cr
TDC highest zone share at 39.5% — West leads TDC penetration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West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97088" y="386832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133426"/>
              </p:ext>
            </p:extLst>
          </p:nvPr>
        </p:nvGraphicFramePr>
        <p:xfrm>
          <a:off x="183307" y="3764101"/>
          <a:ext cx="2199629" cy="1665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560284" cy="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35%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Jul'26 175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521053"/>
              </p:ext>
            </p:extLst>
          </p:nvPr>
        </p:nvGraphicFramePr>
        <p:xfrm>
          <a:off x="2479234" y="3793296"/>
          <a:ext cx="2340212" cy="1615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3469" y="3814391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GOLY ▲ 36%</a:t>
            </a:r>
            <a:endParaRPr lang="en-US" sz="900" dirty="0">
              <a:solidFill>
                <a:srgbClr val="008A3D"/>
              </a:solidFill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45600" y="3813003"/>
            <a:ext cx="372097" cy="25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607284" y="3835214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032755"/>
              </p:ext>
            </p:extLst>
          </p:nvPr>
        </p:nvGraphicFramePr>
        <p:xfrm>
          <a:off x="4849544" y="3784478"/>
          <a:ext cx="2289670" cy="1634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West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151297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65684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▲154%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42%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41769" y="5942106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Jul'26 215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19304"/>
              </p:ext>
            </p:extLst>
          </p:nvPr>
        </p:nvGraphicFramePr>
        <p:xfrm>
          <a:off x="195474" y="5885531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▲438%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559707"/>
              </p:ext>
            </p:extLst>
          </p:nvPr>
        </p:nvGraphicFramePr>
        <p:xfrm>
          <a:off x="2540771" y="5853797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2089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494277" y="5902783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3%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11518" y="5894702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893104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016938"/>
              </p:ext>
            </p:extLst>
          </p:nvPr>
        </p:nvGraphicFramePr>
        <p:xfrm>
          <a:off x="4930324" y="5845469"/>
          <a:ext cx="2208890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07983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623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599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265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228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160641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Wellness Forever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Record: West delivered its highest month at 1,016, ▲21% vs L3M and ▲56% vs May-25.</a:t>
              </a:r>
              <a:br/>
              <a:r>
                <a:rPr sz="720" b="1">
                  <a:latin typeface="Calibri"/>
                </a:rPr>
                <a:t>Chain Highlights: Dmart leads; Apollo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680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190%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Wellness Forever,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1016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West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24EC375-466C-1E5E-393B-8C29536D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91822" y="6140803"/>
            <a:ext cx="273352" cy="52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161C536-80FD-9961-8E04-8082E882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4" y="6127059"/>
            <a:ext cx="258710" cy="54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2A96077C-6535-1BA6-1932-080A080D14E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595728" y="3978098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5F184DD5-9108-696F-E933-1BFB2A3EC6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9833" y="4108504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9B376C6-8357-1D4B-54F0-C817E2645CE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5998691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323C633E-FBC6-BA2C-6E89-D6F1CF8790D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03372" y="387970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8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WEST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934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2714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PAN INDIA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208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190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FSN (eB2B) Jul'26 NSV: ₹2.07 Cr — excluded from MT geographic total
Reported separately as eB2B channel; not included in zone-level comparisons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FSN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23599" y="382768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33088" y="3852861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292031" y="384654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945864"/>
              </p:ext>
            </p:extLst>
          </p:nvPr>
        </p:nvGraphicFramePr>
        <p:xfrm>
          <a:off x="206934" y="3823862"/>
          <a:ext cx="2145904" cy="1544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578157" cy="20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C00000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C00000"/>
                </a:solidFill>
                <a:latin typeface="Calibri"/>
              </a:rPr>
              <a:t>▼ 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063866"/>
              </p:ext>
            </p:extLst>
          </p:nvPr>
        </p:nvGraphicFramePr>
        <p:xfrm>
          <a:off x="2462348" y="3819086"/>
          <a:ext cx="2269291" cy="1555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71688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27322" y="3848028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28%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75171" y="3845068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552875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494362"/>
              </p:ext>
            </p:extLst>
          </p:nvPr>
        </p:nvGraphicFramePr>
        <p:xfrm>
          <a:off x="4846340" y="3822048"/>
          <a:ext cx="2292874" cy="1578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FSN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▲289%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6%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544212"/>
              </p:ext>
            </p:extLst>
          </p:nvPr>
        </p:nvGraphicFramePr>
        <p:xfrm>
          <a:off x="202493" y="5866606"/>
          <a:ext cx="2202696" cy="149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▲21%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922085"/>
              </p:ext>
            </p:extLst>
          </p:nvPr>
        </p:nvGraphicFramePr>
        <p:xfrm>
          <a:off x="2481652" y="5883569"/>
          <a:ext cx="2202539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457591" cy="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67649" y="591905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9%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5150" y="5920716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26%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Jul'26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568867"/>
              </p:ext>
            </p:extLst>
          </p:nvPr>
        </p:nvGraphicFramePr>
        <p:xfrm>
          <a:off x="4885674" y="5849534"/>
          <a:ext cx="2202539" cy="153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08320"/>
              </p:ext>
            </p:extLst>
          </p:nvPr>
        </p:nvGraphicFramePr>
        <p:xfrm>
          <a:off x="212691" y="1934878"/>
          <a:ext cx="7111999" cy="1515139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968042"/>
              </p:ext>
            </p:extLst>
          </p:nvPr>
        </p:nvGraphicFramePr>
        <p:xfrm>
          <a:off x="212691" y="7854061"/>
          <a:ext cx="6984190" cy="624135"/>
        </p:xfrm>
        <a:graphic>
          <a:graphicData uri="http://schemas.openxmlformats.org/drawingml/2006/table">
            <a:tbl>
              <a:tblPr firstRow="1" firstCol="1" bandRow="1"/>
              <a:tblGrid>
                <a:gridCol w="1694693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18961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79307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160207" y="8477611"/>
            <a:ext cx="6979007" cy="1800117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17410" y="99945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60710" y="422664"/>
              <a:ext cx="6830732" cy="4016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US" sz="1000" b="1" dirty="0">
                <a:solidFill>
                  <a:srgbClr val="008A3D"/>
                </a:solidFill>
                <a:latin typeface="+mj-lt"/>
              </a:endParaRPr>
            </a:p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lang="en-US" sz="1000" b="1" dirty="0">
                  <a:solidFill>
                    <a:srgbClr val="008A3D"/>
                  </a:solidFill>
                  <a:latin typeface="+mj-lt"/>
                </a:rPr>
                <a:t>Chain Highlights:-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</a:t>
              </a:r>
              <a:r>
                <a:rPr lang="en-IN" sz="1000" b="1" dirty="0">
                  <a:solidFill>
                    <a:srgbClr val="008A3D"/>
                  </a:solidFill>
                  <a:latin typeface="+mj-lt"/>
                </a:rPr>
                <a:t>FSN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delivered its highest month in May-26 at 208. Growth stood at ▲ 9% vs L3M and ▲ 19% vs May-25.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536601" y="1090664"/>
              <a:ext cx="726380" cy="34397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1050" b="1" spc="-20" dirty="0">
                  <a:solidFill>
                    <a:srgbClr val="008A3D"/>
                  </a:solidFill>
                  <a:latin typeface="+mj-lt"/>
                  <a:ea typeface="Arial MT"/>
                  <a:cs typeface="Calibri"/>
                </a:rPr>
                <a:t> </a:t>
              </a:r>
              <a:r>
                <a:rPr lang="en-US" sz="10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2143903" y="1099759"/>
              <a:ext cx="1532948" cy="16725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10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761172" y="1043625"/>
              <a:ext cx="1168712" cy="354674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78517" y="1043625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584951" y="1339470"/>
              <a:ext cx="537105" cy="21832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208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198660" y="1310254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1000" b="1">
                  <a:solidFill>
                    <a:srgbClr val="1A1F29"/>
                  </a:solidFill>
                  <a:latin typeface="+mj-lt"/>
                </a:rPr>
                <a:t>Fsn  - </a:t>
              </a:r>
              <a:r>
                <a:rPr sz="10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4098907" y="127311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800" b="1" dirty="0" err="1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endParaRPr lang="en-IN" sz="8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945211" y="1128270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Apr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FSN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4BE8139-2075-BC6E-0940-50B79B227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9582" y="614134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D881498-56FC-10C0-FDB6-091E08A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0" y="6117127"/>
            <a:ext cx="250009" cy="53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A5DAAE7-0169-95A1-212F-58E9249A222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73490" y="3994891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9DE6E2BB-07EE-B005-FD4B-E99B9E93CC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0437" y="4098642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094DAE43-E77F-2907-9047-54F182B6F84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79482" y="6228467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866C70B2-E3E3-89B3-E64D-23E1FC17146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12414" y="385015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9 / 9</a:t>
            </a:r>
          </a:p>
        </p:txBody>
      </p:sp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FSN (EB2B) ZONE DEEP DIVE — JUL'26</a:t>
            </a: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6664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50B6C4-5EBD-4264-AAD9-BB7370E2CA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bc1b8ae-cf64-4a9a-a118-f38019ee01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24409</TotalTime>
  <Words>7386</Words>
  <Application>Microsoft Office PowerPoint</Application>
  <PresentationFormat>Custom</PresentationFormat>
  <Paragraphs>2440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Offtake Performance Report - May 2026</dc:title>
  <dc:subject>Corrected arrow colour formatting and PDF export</dc:subject>
  <dc:creator>OpenAI</dc:creator>
  <cp:lastModifiedBy>Sheshant  Singh Aswal</cp:lastModifiedBy>
  <cp:revision>55</cp:revision>
  <dcterms:created xsi:type="dcterms:W3CDTF">2026-06-21T08:36:32Z</dcterms:created>
  <dcterms:modified xsi:type="dcterms:W3CDTF">2026-07-22T12:12:30Z</dcterms:modified>
</cp:coreProperties>
</file>