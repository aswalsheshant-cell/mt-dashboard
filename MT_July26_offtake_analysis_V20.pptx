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35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</p:sldIdLst>
  <p:sldSz cx="6858000" cy="12192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752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10.0524</c:v>
                </c:pt>
                <c:pt idx="1">
                  <c:v>9.7986000000000004</c:v>
                </c:pt>
                <c:pt idx="2">
                  <c:v>11.9527</c:v>
                </c:pt>
                <c:pt idx="3">
                  <c:v>6.8914</c:v>
                </c:pt>
                <c:pt idx="4">
                  <c:v>7.8305999999999996</c:v>
                </c:pt>
                <c:pt idx="5">
                  <c:v>2.6873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4-425F-A239-11A4EE23EF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West</c:v>
                </c:pt>
                <c:pt idx="1">
                  <c:v>S-1</c:v>
                </c:pt>
                <c:pt idx="2">
                  <c:v>North</c:v>
                </c:pt>
                <c:pt idx="3">
                  <c:v>S-2</c:v>
                </c:pt>
                <c:pt idx="4">
                  <c:v>East</c:v>
                </c:pt>
                <c:pt idx="5">
                  <c:v>Central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8.2768999999999995</c:v>
                </c:pt>
                <c:pt idx="1">
                  <c:v>8.1885999999999992</c:v>
                </c:pt>
                <c:pt idx="2">
                  <c:v>6.9873000000000003</c:v>
                </c:pt>
                <c:pt idx="3">
                  <c:v>4.9101999999999997</c:v>
                </c:pt>
                <c:pt idx="4">
                  <c:v>3.5510999999999999</c:v>
                </c:pt>
                <c:pt idx="5">
                  <c:v>2.1177000000000001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24-425F-A239-11A4EE23E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riser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33.96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5F-41BA-9F74-F10A07991B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5F-41BA-9F74-F10A07991B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converted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1">
                  <c:v>13.06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E5F-41BA-9F74-F10A07991B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MT 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Primary</c:v>
                </c:pt>
                <c:pt idx="1">
                  <c:v>Gap</c:v>
                </c:pt>
                <c:pt idx="2">
                  <c:v>Offtake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2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E5F-41BA-9F74-F10A07991B5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</c:v>
                </c:pt>
              </c:strCache>
            </c:strRef>
          </c:tx>
          <c:spPr>
            <a:solidFill>
              <a:srgbClr val="2B9A6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South-2</c:v>
                </c:pt>
                <c:pt idx="1">
                  <c:v>East</c:v>
                </c:pt>
                <c:pt idx="2">
                  <c:v>North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2.5499999999999998</c:v>
                </c:pt>
                <c:pt idx="2">
                  <c:v>2.79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27-4D01-BC60-646769FA59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</c:v>
                </c:pt>
                <c:pt idx="1">
                  <c:v>42.32</c:v>
                </c:pt>
                <c:pt idx="2">
                  <c:v>39.409999999999997</c:v>
                </c:pt>
                <c:pt idx="3">
                  <c:v>47.02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22-425A-8DBD-B0548E73719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33.6</c:v>
                </c:pt>
                <c:pt idx="1">
                  <c:v>38.11</c:v>
                </c:pt>
                <c:pt idx="2">
                  <c:v>36.04</c:v>
                </c:pt>
                <c:pt idx="3">
                  <c:v>33.96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22-425A-8DBD-B0548E7371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2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</c:v>
                </c:pt>
              </c:strCache>
            </c:strRef>
          </c:tx>
          <c:spPr>
            <a:ln w="3175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90.1</c:v>
                </c:pt>
                <c:pt idx="2">
                  <c:v>91.4</c:v>
                </c:pt>
                <c:pt idx="3">
                  <c:v>72.2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B4-4A5B-BE1F-36FC5692046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A8-4512-8A97-8E01BC2C56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South-1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2B9A66"/>
              </a:solidFill>
              <a:ln w="9525" cap="flat">
                <a:solidFill>
                  <a:srgbClr val="2B9A66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1">
                  <c:v>86.3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5A8-4512-8A97-8E01BC2C563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South-2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Sheet1!$D$2:$D$6</c:f>
              <c:numCache>
                <c:formatCode>General</c:formatCode>
                <c:ptCount val="5"/>
                <c:pt idx="2">
                  <c:v>72.400000000000006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95A8-4512-8A97-8E01BC2C563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North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Sheet1!$E$2:$E$6</c:f>
              <c:numCache>
                <c:formatCode>General</c:formatCode>
                <c:ptCount val="5"/>
                <c:pt idx="3">
                  <c:v>61.2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95A8-4512-8A97-8E01BC2C563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East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9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-19.5</c:v>
                </c:pt>
                <c:pt idx="1">
                  <c:v>-10.5</c:v>
                </c:pt>
                <c:pt idx="2">
                  <c:v>4.3</c:v>
                </c:pt>
                <c:pt idx="3">
                  <c:v>16.399999999999999</c:v>
                </c:pt>
                <c:pt idx="4">
                  <c:v>62.8</c:v>
                </c:pt>
              </c:numCache>
            </c:numRef>
          </c:xVal>
          <c:yVal>
            <c:numRef>
              <c:f>Sheet1!$F$2:$F$6</c:f>
              <c:numCache>
                <c:formatCode>General</c:formatCode>
                <c:ptCount val="5"/>
                <c:pt idx="4">
                  <c:v>49.9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95A8-4512-8A97-8E01BC2C56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70"/>
          <c:min val="-30"/>
        </c:scaling>
        <c:delete val="0"/>
        <c:axPos val="b"/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640" b="0" i="0" u="none" strike="noStrike">
                    <a:solidFill>
                      <a:srgbClr val="000000"/>
                    </a:solidFill>
                    <a:latin typeface="Arial"/>
                  </a:rPr>
                  <a:t>July primary vs Q1 monthly run-rate, %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95"/>
          <c:min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64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sz="640" b="0" i="0" u="none" strike="noStrike">
                    <a:solidFill>
                      <a:srgbClr val="000000"/>
                    </a:solidFill>
                    <a:latin typeface="Arial"/>
                  </a:rPr>
                  <a:t>July conversion %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2.0929000000000002</c:v>
                </c:pt>
                <c:pt idx="1">
                  <c:v>2.4540000000000002</c:v>
                </c:pt>
                <c:pt idx="2">
                  <c:v>2.423</c:v>
                </c:pt>
                <c:pt idx="3">
                  <c:v>2.726</c:v>
                </c:pt>
                <c:pt idx="4">
                  <c:v>2.8988</c:v>
                </c:pt>
                <c:pt idx="5">
                  <c:v>2.3895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20-43D6-A1C4-29A793905B8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1.3294999999999999</c:v>
                </c:pt>
                <c:pt idx="1">
                  <c:v>1.5492999999999999</c:v>
                </c:pt>
                <c:pt idx="2">
                  <c:v>1.5924</c:v>
                </c:pt>
                <c:pt idx="3">
                  <c:v>1.6361000000000001</c:v>
                </c:pt>
                <c:pt idx="4">
                  <c:v>1.7881</c:v>
                </c:pt>
                <c:pt idx="5">
                  <c:v>1.5283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20-43D6-A1C4-29A793905B8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0.43780000000000002</c:v>
                </c:pt>
                <c:pt idx="1">
                  <c:v>1.0265</c:v>
                </c:pt>
                <c:pt idx="2">
                  <c:v>0.96630000000000005</c:v>
                </c:pt>
                <c:pt idx="3">
                  <c:v>0.81499999999999995</c:v>
                </c:pt>
                <c:pt idx="4">
                  <c:v>0.45989999999999998</c:v>
                </c:pt>
                <c:pt idx="5">
                  <c:v>0.219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20-43D6-A1C4-29A793905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1.1236999999999999</c:v>
                </c:pt>
                <c:pt idx="1">
                  <c:v>1.3265</c:v>
                </c:pt>
                <c:pt idx="2">
                  <c:v>1.4202999999999999</c:v>
                </c:pt>
                <c:pt idx="3">
                  <c:v>2.0396000000000001</c:v>
                </c:pt>
                <c:pt idx="4">
                  <c:v>2.1850999999999998</c:v>
                </c:pt>
                <c:pt idx="5">
                  <c:v>2.8435999999999999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79-4A42-93FB-85E95D63FF1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0.34839999999999999</c:v>
                </c:pt>
                <c:pt idx="1">
                  <c:v>0.66469999999999996</c:v>
                </c:pt>
                <c:pt idx="2">
                  <c:v>0.72799999999999998</c:v>
                </c:pt>
                <c:pt idx="3">
                  <c:v>1.0665</c:v>
                </c:pt>
                <c:pt idx="4">
                  <c:v>0.67220000000000002</c:v>
                </c:pt>
                <c:pt idx="5">
                  <c:v>0.55030000000000001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79-4A42-93FB-85E95D63FF1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0.1706</c:v>
                </c:pt>
                <c:pt idx="1">
                  <c:v>0.17150000000000001</c:v>
                </c:pt>
                <c:pt idx="2">
                  <c:v>0.19769999999999999</c:v>
                </c:pt>
                <c:pt idx="3">
                  <c:v>0.16719999999999999</c:v>
                </c:pt>
                <c:pt idx="4">
                  <c:v>0.16289999999999999</c:v>
                </c:pt>
                <c:pt idx="5">
                  <c:v>0.21809999999999999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79-4A42-93FB-85E95D63FF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0.93620000000000003</c:v>
                </c:pt>
                <c:pt idx="1">
                  <c:v>1.0264</c:v>
                </c:pt>
                <c:pt idx="2">
                  <c:v>1.0769</c:v>
                </c:pt>
                <c:pt idx="3">
                  <c:v>1.2856000000000001</c:v>
                </c:pt>
                <c:pt idx="4">
                  <c:v>1.1223000000000001</c:v>
                </c:pt>
                <c:pt idx="5">
                  <c:v>1.1188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CC-4D01-B3DB-C89081673C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0.86029999999999995</c:v>
                </c:pt>
                <c:pt idx="1">
                  <c:v>0.95230000000000004</c:v>
                </c:pt>
                <c:pt idx="2">
                  <c:v>0.96319999999999995</c:v>
                </c:pt>
                <c:pt idx="3">
                  <c:v>1.2141</c:v>
                </c:pt>
                <c:pt idx="4">
                  <c:v>1.2798</c:v>
                </c:pt>
                <c:pt idx="5">
                  <c:v>1.2277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CC-4D01-B3DB-C89081673C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0.2641</c:v>
                </c:pt>
                <c:pt idx="1">
                  <c:v>0.37880000000000003</c:v>
                </c:pt>
                <c:pt idx="2">
                  <c:v>0.45669999999999999</c:v>
                </c:pt>
                <c:pt idx="3">
                  <c:v>0.47549999999999998</c:v>
                </c:pt>
                <c:pt idx="4">
                  <c:v>0.33460000000000001</c:v>
                </c:pt>
                <c:pt idx="5">
                  <c:v>0.32190000000000002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CC-4D01-B3DB-C89081673C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0.3679</c:v>
                </c:pt>
                <c:pt idx="1">
                  <c:v>0.3982</c:v>
                </c:pt>
                <c:pt idx="2">
                  <c:v>0.51939999999999997</c:v>
                </c:pt>
                <c:pt idx="3">
                  <c:v>0.77159999999999995</c:v>
                </c:pt>
                <c:pt idx="4">
                  <c:v>0.7147</c:v>
                </c:pt>
                <c:pt idx="5">
                  <c:v>1.1801999999999999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134-4232-8562-06BE020CE1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0.25290000000000001</c:v>
                </c:pt>
                <c:pt idx="1">
                  <c:v>0.43330000000000002</c:v>
                </c:pt>
                <c:pt idx="2">
                  <c:v>0.64580000000000004</c:v>
                </c:pt>
                <c:pt idx="3">
                  <c:v>0.81379999999999997</c:v>
                </c:pt>
                <c:pt idx="4">
                  <c:v>0.50660000000000005</c:v>
                </c:pt>
                <c:pt idx="5">
                  <c:v>0.60699999999999998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134-4232-8562-06BE020CE17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0.1424</c:v>
                </c:pt>
                <c:pt idx="1">
                  <c:v>0.14560000000000001</c:v>
                </c:pt>
                <c:pt idx="2">
                  <c:v>0.16650000000000001</c:v>
                </c:pt>
                <c:pt idx="3">
                  <c:v>0.19170000000000001</c:v>
                </c:pt>
                <c:pt idx="4">
                  <c:v>0.19370000000000001</c:v>
                </c:pt>
                <c:pt idx="5">
                  <c:v>0.18659999999999999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134-4232-8562-06BE020CE1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1.7192000000000001</c:v>
                </c:pt>
                <c:pt idx="1">
                  <c:v>2.0834999999999999</c:v>
                </c:pt>
                <c:pt idx="2">
                  <c:v>2.2320000000000002</c:v>
                </c:pt>
                <c:pt idx="3">
                  <c:v>2.4319000000000002</c:v>
                </c:pt>
                <c:pt idx="4">
                  <c:v>2.2778</c:v>
                </c:pt>
                <c:pt idx="5">
                  <c:v>2.0918999999999999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52-4FA4-8926-86A77B0F37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1.2172000000000001</c:v>
                </c:pt>
                <c:pt idx="1">
                  <c:v>1.3299000000000001</c:v>
                </c:pt>
                <c:pt idx="2">
                  <c:v>1.6309</c:v>
                </c:pt>
                <c:pt idx="3">
                  <c:v>1.7503</c:v>
                </c:pt>
                <c:pt idx="4">
                  <c:v>1.6847000000000001</c:v>
                </c:pt>
                <c:pt idx="5">
                  <c:v>1.6785000000000001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52-4FA4-8926-86A77B0F37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0.38600000000000001</c:v>
                </c:pt>
                <c:pt idx="1">
                  <c:v>0.65549999999999997</c:v>
                </c:pt>
                <c:pt idx="2">
                  <c:v>0.76939999999999997</c:v>
                </c:pt>
                <c:pt idx="3">
                  <c:v>0.79</c:v>
                </c:pt>
                <c:pt idx="4">
                  <c:v>0.56469999999999998</c:v>
                </c:pt>
                <c:pt idx="5">
                  <c:v>0.34589999999999999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52-4FA4-8926-86A77B0F37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0.48770000000000002</c:v>
                </c:pt>
                <c:pt idx="1">
                  <c:v>0.66400000000000003</c:v>
                </c:pt>
                <c:pt idx="2">
                  <c:v>0.7389</c:v>
                </c:pt>
                <c:pt idx="3">
                  <c:v>1.0867</c:v>
                </c:pt>
                <c:pt idx="4">
                  <c:v>1.1125</c:v>
                </c:pt>
                <c:pt idx="5">
                  <c:v>1.4138999999999999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A5-4D9A-A10F-39D191CFA8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0.21360000000000001</c:v>
                </c:pt>
                <c:pt idx="1">
                  <c:v>0.42380000000000001</c:v>
                </c:pt>
                <c:pt idx="2">
                  <c:v>0.47799999999999998</c:v>
                </c:pt>
                <c:pt idx="3">
                  <c:v>0.7077</c:v>
                </c:pt>
                <c:pt idx="4">
                  <c:v>0.51100000000000001</c:v>
                </c:pt>
                <c:pt idx="5">
                  <c:v>0.36380000000000001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3A5-4D9A-A10F-39D191CFA8F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7.3300000000000004E-2</c:v>
                </c:pt>
                <c:pt idx="1">
                  <c:v>0.10009999999999999</c:v>
                </c:pt>
                <c:pt idx="2">
                  <c:v>0.1125</c:v>
                </c:pt>
                <c:pt idx="3">
                  <c:v>0.10970000000000001</c:v>
                </c:pt>
                <c:pt idx="4">
                  <c:v>9.9599999999999994E-2</c:v>
                </c:pt>
                <c:pt idx="5">
                  <c:v>0.1021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3A5-4D9A-A10F-39D191CFA8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0.72889999999999999</c:v>
                </c:pt>
                <c:pt idx="1">
                  <c:v>0.88519999999999999</c:v>
                </c:pt>
                <c:pt idx="2">
                  <c:v>0.88719999999999999</c:v>
                </c:pt>
                <c:pt idx="3">
                  <c:v>1.0779000000000001</c:v>
                </c:pt>
                <c:pt idx="4">
                  <c:v>1.2270000000000001</c:v>
                </c:pt>
                <c:pt idx="5">
                  <c:v>1.0426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B81-4BDA-84B7-A0E6DBDF1A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0.66139999999999999</c:v>
                </c:pt>
                <c:pt idx="1">
                  <c:v>0.78239999999999998</c:v>
                </c:pt>
                <c:pt idx="2">
                  <c:v>0.84009999999999996</c:v>
                </c:pt>
                <c:pt idx="3">
                  <c:v>0.87409999999999999</c:v>
                </c:pt>
                <c:pt idx="4">
                  <c:v>0.99519999999999997</c:v>
                </c:pt>
                <c:pt idx="5">
                  <c:v>0.94230000000000003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B81-4BDA-84B7-A0E6DBDF1AF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0.121</c:v>
                </c:pt>
                <c:pt idx="1">
                  <c:v>0.247</c:v>
                </c:pt>
                <c:pt idx="2">
                  <c:v>0.28129999999999999</c:v>
                </c:pt>
                <c:pt idx="3">
                  <c:v>0.28570000000000001</c:v>
                </c:pt>
                <c:pt idx="4">
                  <c:v>0.20019999999999999</c:v>
                </c:pt>
                <c:pt idx="5">
                  <c:v>0.1361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B81-4BDA-84B7-A0E6DBDF1A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0.1124</c:v>
                </c:pt>
                <c:pt idx="1">
                  <c:v>0.18770000000000001</c:v>
                </c:pt>
                <c:pt idx="2">
                  <c:v>0.29349999999999998</c:v>
                </c:pt>
                <c:pt idx="3">
                  <c:v>0.4778</c:v>
                </c:pt>
                <c:pt idx="4">
                  <c:v>0.503</c:v>
                </c:pt>
                <c:pt idx="5">
                  <c:v>0.55940000000000001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49-49CE-8D13-2C551CA463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8.6099999999999996E-2</c:v>
                </c:pt>
                <c:pt idx="1">
                  <c:v>0.12609999999999999</c:v>
                </c:pt>
                <c:pt idx="2">
                  <c:v>0.1731</c:v>
                </c:pt>
                <c:pt idx="3">
                  <c:v>0.36299999999999999</c:v>
                </c:pt>
                <c:pt idx="4">
                  <c:v>0.20449999999999999</c:v>
                </c:pt>
                <c:pt idx="5">
                  <c:v>0.1963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49-49CE-8D13-2C551CA4632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</c:v>
                </c:pt>
                <c:pt idx="1">
                  <c:v>3.85E-2</c:v>
                </c:pt>
                <c:pt idx="2">
                  <c:v>4.5400000000000003E-2</c:v>
                </c:pt>
                <c:pt idx="3">
                  <c:v>4.8599999999999997E-2</c:v>
                </c:pt>
                <c:pt idx="4">
                  <c:v>4.3299999999999998E-2</c:v>
                </c:pt>
                <c:pt idx="5">
                  <c:v>5.16E-2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749-49CE-8D13-2C551CA463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0.8135</c:v>
                </c:pt>
                <c:pt idx="1">
                  <c:v>0.99319999999999997</c:v>
                </c:pt>
                <c:pt idx="2">
                  <c:v>1.0006999999999999</c:v>
                </c:pt>
                <c:pt idx="3">
                  <c:v>1.1479999999999999</c:v>
                </c:pt>
                <c:pt idx="4">
                  <c:v>1.0489999999999999</c:v>
                </c:pt>
                <c:pt idx="5">
                  <c:v>1.3383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1F-439A-B6AE-FAFBB10954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5400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6.0600000000000001E-2</c:v>
                </c:pt>
                <c:pt idx="1">
                  <c:v>7.9500000000000001E-2</c:v>
                </c:pt>
                <c:pt idx="2">
                  <c:v>0.1159</c:v>
                </c:pt>
                <c:pt idx="3">
                  <c:v>0.11310000000000001</c:v>
                </c:pt>
                <c:pt idx="4">
                  <c:v>0.15429999999999999</c:v>
                </c:pt>
                <c:pt idx="5">
                  <c:v>0.47299999999999998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C62-4977-B05D-CB42C9DEF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0.54459999999999997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2B-4596-B890-EDE62F739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0.39810000000000001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2B-4596-B890-EDE62F73934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9.1800000000000007E-2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2B-4596-B890-EDE62F739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0.66110000000000002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DD-4621-BF3E-FE75443B17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0.18060000000000001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DD-4621-BF3E-FE75443B17B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1.84E-2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DD-4621-BF3E-FE75443B1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CAA-4574-95CF-22ECFD1A4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C1-4846-9524-E7ED095839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CC8-47E6-A804-4A6027A7CEB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CC8-47E6-A804-4A6027A7CEB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CC8-47E6-A804-4A6027A7CEBD}"/>
              </c:ext>
            </c:extLst>
          </c:dPt>
          <c:dPt>
            <c:idx val="3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C8-47E6-A804-4A6027A7CEB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6.43</c:v>
                </c:pt>
                <c:pt idx="1">
                  <c:v>1.42</c:v>
                </c:pt>
                <c:pt idx="2">
                  <c:v>19.3</c:v>
                </c:pt>
                <c:pt idx="3">
                  <c:v>-0.64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C8-47E6-A804-4A6027A7CE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SIS primary</c:v>
                </c:pt>
              </c:strCache>
            </c:strRef>
          </c:tx>
          <c:spPr>
            <a:solidFill>
              <a:srgbClr val="D6544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86-4852-8AC4-6D9705EE32ED}"/>
              </c:ext>
            </c:extLst>
          </c:dPt>
          <c:dPt>
            <c:idx val="1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986-4852-8AC4-6D9705EE32ED}"/>
              </c:ext>
            </c:extLst>
          </c:dPt>
          <c:dPt>
            <c:idx val="2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86-4852-8AC4-6D9705EE32ED}"/>
              </c:ext>
            </c:extLst>
          </c:dPt>
          <c:dPt>
            <c:idx val="3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86-4852-8AC4-6D9705EE32ED}"/>
              </c:ext>
            </c:extLst>
          </c:dPt>
          <c:dPt>
            <c:idx val="4"/>
            <c:invertIfNegative val="0"/>
            <c:bubble3D val="0"/>
            <c:spPr>
              <a:solidFill>
                <a:srgbClr val="28A5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86-4852-8AC4-6D9705EE32ED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4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BBlunt</c:v>
                </c:pt>
                <c:pt idx="1">
                  <c:v>Aqualogica</c:v>
                </c:pt>
                <c:pt idx="2">
                  <c:v>Mamaearth</c:v>
                </c:pt>
                <c:pt idx="3">
                  <c:v>Lumineve</c:v>
                </c:pt>
                <c:pt idx="4">
                  <c:v>The Derma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-0.4</c:v>
                </c:pt>
                <c:pt idx="1">
                  <c:v>3.79</c:v>
                </c:pt>
                <c:pt idx="2">
                  <c:v>3.87</c:v>
                </c:pt>
                <c:pt idx="3">
                  <c:v>7.69</c:v>
                </c:pt>
                <c:pt idx="4">
                  <c:v>11.57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986-4852-8AC4-6D9705EE32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  <c:min val="-4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Offtake</c:v>
                </c:pt>
              </c:strCache>
            </c:strRef>
          </c:tx>
          <c:spPr>
            <a:ln w="2857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1.6357999999999999</c:v>
                </c:pt>
                <c:pt idx="1">
                  <c:v>1.6812</c:v>
                </c:pt>
                <c:pt idx="2">
                  <c:v>1.7321</c:v>
                </c:pt>
                <c:pt idx="3">
                  <c:v>2.2883</c:v>
                </c:pt>
                <c:pt idx="4">
                  <c:v>2.0787</c:v>
                </c:pt>
                <c:pt idx="5">
                  <c:v>2.1667000000000001</c:v>
                </c:pt>
                <c:pt idx="6">
                  <c:v>2.0663999999999998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1D-4F4C-A0C6-C9E8698930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EANs</c:v>
                </c:pt>
              </c:strCache>
            </c:strRef>
          </c:tx>
          <c:spPr>
            <a:ln w="28575" cap="flat">
              <a:solidFill>
                <a:srgbClr val="F2B84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2B84B"/>
              </a:solidFill>
              <a:ln w="9525" cap="flat">
                <a:solidFill>
                  <a:srgbClr val="F2B84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 i="0" u="none" strike="noStrike">
                    <a:solidFill>
                      <a:srgbClr val="5F716E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222</c:v>
                </c:pt>
                <c:pt idx="1">
                  <c:v>217</c:v>
                </c:pt>
                <c:pt idx="2">
                  <c:v>203</c:v>
                </c:pt>
                <c:pt idx="3">
                  <c:v>196</c:v>
                </c:pt>
                <c:pt idx="4">
                  <c:v>190</c:v>
                </c:pt>
                <c:pt idx="5">
                  <c:v>200</c:v>
                </c:pt>
                <c:pt idx="6">
                  <c:v>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9B3-4322-B250-4C8291CAE52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mix %</c:v>
                </c:pt>
              </c:strCache>
            </c:strRef>
          </c:tx>
          <c:spPr>
            <a:solidFill>
              <a:srgbClr val="F2B84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B3-468B-9B1C-3A6195113713}"/>
              </c:ext>
            </c:extLst>
          </c:dPt>
          <c:dPt>
            <c:idx val="1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B3-468B-9B1C-3A6195113713}"/>
              </c:ext>
            </c:extLst>
          </c:dPt>
          <c:dPt>
            <c:idx val="2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B3-468B-9B1C-3A6195113713}"/>
              </c:ext>
            </c:extLst>
          </c:dPt>
          <c:dPt>
            <c:idx val="3"/>
            <c:invertIfNegative val="0"/>
            <c:bubble3D val="0"/>
            <c:spPr>
              <a:solidFill>
                <a:srgbClr val="2B9A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B3-468B-9B1C-3A6195113713}"/>
              </c:ext>
            </c:extLst>
          </c:dPt>
          <c:dPt>
            <c:idx val="4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EB3-468B-9B1C-3A6195113713}"/>
              </c:ext>
            </c:extLst>
          </c:dPt>
          <c:dPt>
            <c:idx val="5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EB3-468B-9B1C-3A6195113713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South-2</c:v>
                </c:pt>
                <c:pt idx="1">
                  <c:v>West</c:v>
                </c:pt>
                <c:pt idx="2">
                  <c:v>South-1</c:v>
                </c:pt>
                <c:pt idx="3">
                  <c:v>Central</c:v>
                </c:pt>
                <c:pt idx="4">
                  <c:v>North</c:v>
                </c:pt>
                <c:pt idx="5">
                  <c:v>East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6.37</c:v>
                </c:pt>
                <c:pt idx="1">
                  <c:v>6.58</c:v>
                </c:pt>
                <c:pt idx="2">
                  <c:v>7.88</c:v>
                </c:pt>
                <c:pt idx="3">
                  <c:v>8.5399999999999991</c:v>
                </c:pt>
                <c:pt idx="4">
                  <c:v>9.24</c:v>
                </c:pt>
                <c:pt idx="5">
                  <c:v>10.23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EB3-468B-9B1C-3A6195113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NPI offtake</c:v>
                </c:pt>
              </c:strCache>
            </c:strRef>
          </c:tx>
          <c:spPr>
            <a:solidFill>
              <a:srgbClr val="5F71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78-4453-A693-2D6136F49F1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078-4453-A693-2D6136F49F19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078-4453-A693-2D6136F49F1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078-4453-A693-2D6136F49F19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078-4453-A693-2D6136F49F19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078-4453-A693-2D6136F49F19}"/>
              </c:ext>
            </c:extLst>
          </c:dPt>
          <c:dPt>
            <c:idx val="6"/>
            <c:invertIfNegative val="0"/>
            <c:bubble3D val="0"/>
            <c:spPr>
              <a:solidFill>
                <a:srgbClr val="F2B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078-4453-A693-2D6136F49F19}"/>
              </c:ext>
            </c:extLst>
          </c:dPt>
          <c:dPt>
            <c:idx val="7"/>
            <c:invertIfNegative val="0"/>
            <c:bubble3D val="0"/>
            <c:spPr>
              <a:solidFill>
                <a:srgbClr val="D6544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078-4453-A693-2D6136F49F19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2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Sancus</c:v>
                </c:pt>
                <c:pt idx="1">
                  <c:v>Wellness</c:v>
                </c:pt>
                <c:pt idx="2">
                  <c:v>Metro</c:v>
                </c:pt>
                <c:pt idx="3">
                  <c:v>Health &amp; Glow</c:v>
                </c:pt>
                <c:pt idx="4">
                  <c:v>FSN / Nykaa</c:v>
                </c:pt>
                <c:pt idx="5">
                  <c:v>Lulu</c:v>
                </c:pt>
                <c:pt idx="6">
                  <c:v>DMart</c:v>
                </c:pt>
                <c:pt idx="7">
                  <c:v>Reliance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0.03</c:v>
                </c:pt>
                <c:pt idx="1">
                  <c:v>0.04</c:v>
                </c:pt>
                <c:pt idx="2">
                  <c:v>0.05</c:v>
                </c:pt>
                <c:pt idx="3">
                  <c:v>0.06</c:v>
                </c:pt>
                <c:pt idx="4">
                  <c:v>0.13</c:v>
                </c:pt>
                <c:pt idx="5">
                  <c:v>0.18</c:v>
                </c:pt>
                <c:pt idx="6">
                  <c:v>0.98</c:v>
                </c:pt>
                <c:pt idx="7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078-4453-A693-2D6136F49F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6"/>
        </c:scaling>
        <c:delete val="0"/>
        <c:axPos val="b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18.253599999999999</c:v>
                </c:pt>
                <c:pt idx="1">
                  <c:v>15.6615</c:v>
                </c:pt>
                <c:pt idx="2">
                  <c:v>7.2003000000000004</c:v>
                </c:pt>
                <c:pt idx="3">
                  <c:v>2.0790000000000002</c:v>
                </c:pt>
                <c:pt idx="4">
                  <c:v>0</c:v>
                </c:pt>
                <c:pt idx="5">
                  <c:v>0.48549999999999999</c:v>
                </c:pt>
                <c:pt idx="6">
                  <c:v>0.2203</c:v>
                </c:pt>
                <c:pt idx="7">
                  <c:v>1.8449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75-4787-9B66-A0FA7F7AF2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7.1816000000000004</c:v>
                </c:pt>
                <c:pt idx="3">
                  <c:v>2.0663999999999998</c:v>
                </c:pt>
                <c:pt idx="4">
                  <c:v>1.6977</c:v>
                </c:pt>
                <c:pt idx="5">
                  <c:v>0.72089999999999999</c:v>
                </c:pt>
                <c:pt idx="6">
                  <c:v>0.5081</c:v>
                </c:pt>
                <c:pt idx="7">
                  <c:v>0.48580000000000001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75-4787-9B66-A0FA7F7AF2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33.380000000000003</c:v>
                </c:pt>
                <c:pt idx="1">
                  <c:v>15.19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C2-4165-813A-B550A36DC9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60" b="0" i="0" u="none" strike="noStrike">
                    <a:solidFill>
                      <a:srgbClr val="183B3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Mamaearth</c:v>
                </c:pt>
                <c:pt idx="1">
                  <c:v>The Derma Co.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24.49</c:v>
                </c:pt>
                <c:pt idx="1">
                  <c:v>11.03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C2-4165-813A-B550A36DC9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7.0274000000000001</c:v>
                </c:pt>
                <c:pt idx="1">
                  <c:v>8.1684999999999999</c:v>
                </c:pt>
                <c:pt idx="2">
                  <c:v>8.5474999999999994</c:v>
                </c:pt>
                <c:pt idx="3">
                  <c:v>9.6257000000000001</c:v>
                </c:pt>
                <c:pt idx="4">
                  <c:v>9.6513000000000009</c:v>
                </c:pt>
                <c:pt idx="5">
                  <c:v>8.5257000000000005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C5-40BA-AD3E-4189D14A0F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4.8066000000000004</c:v>
                </c:pt>
                <c:pt idx="1">
                  <c:v>5.3825000000000003</c:v>
                </c:pt>
                <c:pt idx="2">
                  <c:v>6.1124999999999998</c:v>
                </c:pt>
                <c:pt idx="3">
                  <c:v>6.6802999999999999</c:v>
                </c:pt>
                <c:pt idx="4">
                  <c:v>6.8695000000000004</c:v>
                </c:pt>
                <c:pt idx="5">
                  <c:v>6.9504000000000001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C5-40BA-AD3E-4189D14A0F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1.5518000000000001</c:v>
                </c:pt>
                <c:pt idx="1">
                  <c:v>2.7323</c:v>
                </c:pt>
                <c:pt idx="2">
                  <c:v>3.0950000000000002</c:v>
                </c:pt>
                <c:pt idx="3">
                  <c:v>2.9542999999999999</c:v>
                </c:pt>
                <c:pt idx="4">
                  <c:v>1.9910000000000001</c:v>
                </c:pt>
                <c:pt idx="5">
                  <c:v>1.304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BC5-40BA-AD3E-4189D14A0F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5400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2.2515000000000001</c:v>
                </c:pt>
                <c:pt idx="1">
                  <c:v>2.7532000000000001</c:v>
                </c:pt>
                <c:pt idx="2">
                  <c:v>3.2366999999999999</c:v>
                </c:pt>
                <c:pt idx="3">
                  <c:v>4.6281999999999996</c:v>
                </c:pt>
                <c:pt idx="4">
                  <c:v>4.8318000000000003</c:v>
                </c:pt>
                <c:pt idx="5">
                  <c:v>7.1311999999999998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9-43F6-B26A-A9D14D6D0C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5400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1.0422</c:v>
                </c:pt>
                <c:pt idx="1">
                  <c:v>1.8093999999999999</c:v>
                </c:pt>
                <c:pt idx="2">
                  <c:v>2.274</c:v>
                </c:pt>
                <c:pt idx="3">
                  <c:v>3.1776</c:v>
                </c:pt>
                <c:pt idx="4">
                  <c:v>2.0478999999999998</c:v>
                </c:pt>
                <c:pt idx="5">
                  <c:v>1.9915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9-43F6-B26A-A9D14D6D0C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5400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0.5635</c:v>
                </c:pt>
                <c:pt idx="1">
                  <c:v>0.57479999999999998</c:v>
                </c:pt>
                <c:pt idx="2">
                  <c:v>0.69379999999999997</c:v>
                </c:pt>
                <c:pt idx="3">
                  <c:v>0.66069999999999995</c:v>
                </c:pt>
                <c:pt idx="4">
                  <c:v>0.66349999999999998</c:v>
                </c:pt>
                <c:pt idx="5">
                  <c:v>0.62849999999999995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9-43F6-B26A-A9D14D6D0C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1ED8C7-3132-4FB6-8450-13F504C9AD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Shampoo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CDB34D3E-D190-4FF3-A4B9-CDDFF65337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CD28AA4-2138-4D60-B182-04D0B34399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542B95-F80D-4B42-9398-FC0A8FF09E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Sun Care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6298605-46DC-4B2D-9433-726791A6CCA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 Serum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B44F0B3E-458B-4530-AC26-2E01346C47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 Cleanser (TDC)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2.25</c:v>
                </c:pt>
                <c:pt idx="1">
                  <c:v>2.75</c:v>
                </c:pt>
                <c:pt idx="2">
                  <c:v>3.24</c:v>
                </c:pt>
                <c:pt idx="3">
                  <c:v>4.63</c:v>
                </c:pt>
                <c:pt idx="4">
                  <c:v>4.83</c:v>
                </c:pt>
                <c:pt idx="5">
                  <c:v>7.13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1FA88FC1-A494-4354-884B-E481A60BE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 Face Cleanser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7.03</c:v>
                </c:pt>
                <c:pt idx="1">
                  <c:v>8.17</c:v>
                </c:pt>
                <c:pt idx="2">
                  <c:v>8.55</c:v>
                </c:pt>
                <c:pt idx="3">
                  <c:v>9.63</c:v>
                </c:pt>
                <c:pt idx="4">
                  <c:v>9.65</c:v>
                </c:pt>
                <c:pt idx="5">
                  <c:v>8.53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8C4DA805-D11C-4020-8C12-0D9136EE6D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Shampoo (ME)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4.81</c:v>
                </c:pt>
                <c:pt idx="1">
                  <c:v>5.38</c:v>
                </c:pt>
                <c:pt idx="2">
                  <c:v>6.11</c:v>
                </c:pt>
                <c:pt idx="3">
                  <c:v>6.68</c:v>
                </c:pt>
                <c:pt idx="4">
                  <c:v>6.87</c:v>
                </c:pt>
                <c:pt idx="5">
                  <c:v>6.95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ECE1025E-A46A-4C4F-BFFF-07DBC1B383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TDC Sun Care</c:v>
                </c:pt>
              </c:strCache>
            </c:strRef>
          </c:tx>
          <c:spPr>
            <a:ln w="22225" cap="flat">
              <a:solidFill>
                <a:srgbClr val="28A5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8A596"/>
              </a:solidFill>
              <a:ln w="9525" cap="flat">
                <a:solidFill>
                  <a:srgbClr val="28A59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1.04</c:v>
                </c:pt>
                <c:pt idx="1">
                  <c:v>1.81</c:v>
                </c:pt>
                <c:pt idx="2">
                  <c:v>2.27</c:v>
                </c:pt>
                <c:pt idx="3">
                  <c:v>3.18</c:v>
                </c:pt>
                <c:pt idx="4">
                  <c:v>2.05</c:v>
                </c:pt>
                <c:pt idx="5">
                  <c:v>1.99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DE776A80-C46F-4B45-A899-4003A8C06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TDC Face Serum</c:v>
                </c:pt>
              </c:strCache>
            </c:strRef>
          </c:tx>
          <c:spPr>
            <a:ln w="22225" cap="flat">
              <a:solidFill>
                <a:srgbClr val="2E7D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A8"/>
              </a:solidFill>
              <a:ln w="9525" cap="flat">
                <a:solidFill>
                  <a:srgbClr val="2E7DA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0.56</c:v>
                </c:pt>
                <c:pt idx="1">
                  <c:v>0.57</c:v>
                </c:pt>
                <c:pt idx="2">
                  <c:v>0.69</c:v>
                </c:pt>
                <c:pt idx="3">
                  <c:v>0.66</c:v>
                </c:pt>
                <c:pt idx="4">
                  <c:v>0.66</c:v>
                </c:pt>
                <c:pt idx="5">
                  <c:v>0.63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281E92CC-BEEE-4C6D-8428-42D1E50E98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 Sun Care</c:v>
                </c:pt>
              </c:strCache>
            </c:strRef>
          </c:tx>
          <c:spPr>
            <a:ln w="22225" cap="flat">
              <a:solidFill>
                <a:srgbClr val="D654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544D"/>
              </a:solidFill>
              <a:ln w="9525" cap="flat">
                <a:solidFill>
                  <a:srgbClr val="D6544D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Feb 26</c:v>
                </c:pt>
                <c:pt idx="1">
                  <c:v>Mar 26</c:v>
                </c:pt>
                <c:pt idx="2">
                  <c:v>Apr 26</c:v>
                </c:pt>
                <c:pt idx="3">
                  <c:v>May 26</c:v>
                </c:pt>
                <c:pt idx="4">
                  <c:v>Jun 26</c:v>
                </c:pt>
                <c:pt idx="5">
                  <c:v>Jul 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1.55</c:v>
                </c:pt>
                <c:pt idx="1">
                  <c:v>2.73</c:v>
                </c:pt>
                <c:pt idx="2">
                  <c:v>3.1</c:v>
                </c:pt>
                <c:pt idx="3">
                  <c:v>2.95</c:v>
                </c:pt>
                <c:pt idx="4">
                  <c:v>1.99</c:v>
                </c:pt>
                <c:pt idx="5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4EA3F1D7-9170-4D87-B55B-A32017B226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58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15.16</c:v>
                </c:pt>
                <c:pt idx="1">
                  <c:v>17.23</c:v>
                </c:pt>
                <c:pt idx="2">
                  <c:v>9.65</c:v>
                </c:pt>
                <c:pt idx="3">
                  <c:v>0.21</c:v>
                </c:pt>
                <c:pt idx="4">
                  <c:v>0.75</c:v>
                </c:pt>
                <c:pt idx="5">
                  <c:v>0.48</c:v>
                </c:pt>
                <c:pt idx="6">
                  <c:v>0.43</c:v>
                </c:pt>
                <c:pt idx="7">
                  <c:v>1.84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C9694A98-F30F-4F2C-869A-E5D3EFDDF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Offtake</c:v>
                </c:pt>
              </c:strCache>
            </c:strRef>
          </c:tx>
          <c:spPr>
            <a:solidFill>
              <a:srgbClr val="28A596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DMart</c:v>
                </c:pt>
                <c:pt idx="1">
                  <c:v>Reliance</c:v>
                </c:pt>
                <c:pt idx="2">
                  <c:v>Apollo</c:v>
                </c:pt>
                <c:pt idx="3">
                  <c:v>FSN / Nykaa</c:v>
                </c:pt>
                <c:pt idx="4">
                  <c:v>Lulu</c:v>
                </c:pt>
                <c:pt idx="5">
                  <c:v>Wellness Forever</c:v>
                </c:pt>
                <c:pt idx="6">
                  <c:v>Health &amp; Glow</c:v>
                </c:pt>
                <c:pt idx="7">
                  <c:v>Metro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13.9672</c:v>
                </c:pt>
                <c:pt idx="1">
                  <c:v>8.0564</c:v>
                </c:pt>
                <c:pt idx="2">
                  <c:v>7.1816</c:v>
                </c:pt>
                <c:pt idx="3">
                  <c:v>2.0664</c:v>
                </c:pt>
                <c:pt idx="4">
                  <c:v>1.6977</c:v>
                </c:pt>
                <c:pt idx="5">
                  <c:v>0.7209</c:v>
                </c:pt>
                <c:pt idx="6">
                  <c:v>0.5081</c:v>
                </c:pt>
                <c:pt idx="7">
                  <c:v>0.4858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21571B24-BC26-4D8B-A2A5-D351837E41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Jul'25 (LY)</c:v>
                </c:pt>
              </c:strCache>
            </c:strRef>
          </c:tx>
          <c:spPr>
            <a:solidFill>
              <a:srgbClr val="9FBCD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6.1</c:v>
                </c:pt>
                <c:pt idx="1">
                  <c:v>8.0</c:v>
                </c:pt>
                <c:pt idx="2">
                  <c:v>4.77</c:v>
                </c:pt>
                <c:pt idx="3">
                  <c:v>0.88</c:v>
                </c:pt>
                <c:pt idx="4">
                  <c:v>0.88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Jul'26 (TY)</c:v>
                </c:pt>
              </c:strCache>
            </c:strRef>
          </c:tx>
          <c:spPr>
            <a:solidFill>
              <a:srgbClr val="2E7DA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Reliance</c:v>
                </c:pt>
                <c:pt idx="1">
                  <c:v>DMart</c:v>
                </c:pt>
                <c:pt idx="2">
                  <c:v>Apollo</c:v>
                </c:pt>
                <c:pt idx="3">
                  <c:v>Metro</c:v>
                </c:pt>
                <c:pt idx="4">
                  <c:v>Lulu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17.23</c:v>
                </c:pt>
                <c:pt idx="1">
                  <c:v>15.16</c:v>
                </c:pt>
                <c:pt idx="2">
                  <c:v>9.65</c:v>
                </c:pt>
                <c:pt idx="3">
                  <c:v>1.84</c:v>
                </c:pt>
                <c:pt idx="4">
                  <c:v>0.75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F0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20" b="0" i="0" u="none" strike="noStrike">
                <a:solidFill>
                  <a:srgbClr val="5F71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640">
              <a:solidFill>
                <a:srgbClr val="5F716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5.xml"/><Relationship Id="rId4" Type="http://schemas.openxmlformats.org/officeDocument/2006/relationships/chart" Target="../charts/chart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25.xml"/><Relationship Id="rId4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28.xml"/><Relationship Id="rId4" Type="http://schemas.openxmlformats.org/officeDocument/2006/relationships/chart" Target="../charts/chart29.xml"/><Relationship Id="rId5" Type="http://schemas.openxmlformats.org/officeDocument/2006/relationships/chart" Target="../charts/chart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3.xml"/><Relationship Id="rId4" Type="http://schemas.openxmlformats.org/officeDocument/2006/relationships/chart" Target="../charts/chart3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chart" Target="../charts/chart3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Modern Trade Growth Command Centre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Honasa Consumer | Primary, offtake, portfolio and execution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05840"/>
          </a:xfrm>
          <a:prstGeom prst="roundRect">
            <a:avLst>
              <a:gd name="adj" fmla="val 272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 of MT offtake is recoverable at your own internal benchmark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1700784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 MT offtake  •  73.4% MT conversion  •  ₹13.11 Cr MT gap  •  incl. eB2B ₹2.07 Cr and SIS ₹0.03 Cr sub-channels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84632" y="1938528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(geographic zones + eB2B + SIS sub-channels). If North, East and South-2 converted at the rate West and South-1 already achieve, MT geographic conversion moves 72.2% → 85.5% with no additional primary; that represents ₹6.22 Cr of recoverable offtake from the existing load.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65176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56616" y="2779776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zone (₹ Cr)</a:t>
            </a:r>
            <a:endParaRPr lang="en-US" sz="72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38328" y="2980944"/>
          <a:ext cx="18714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356616" y="4535424"/>
            <a:ext cx="1834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South-1 convert 82–84%. North and East convert 46–59% on more primary.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2420112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>
            <a:off x="2420112" y="2414016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2502408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 GAP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2511552" y="2779776"/>
            <a:ext cx="1834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billed and not yet sold through</a:t>
            </a:r>
            <a:endParaRPr lang="en-US" sz="740" dirty="0"/>
          </a:p>
        </p:txBody>
      </p:sp>
      <p:graphicFrame>
        <p:nvGraphicFramePr>
          <p:cNvPr id="34" name="Chart 1"/>
          <p:cNvGraphicFramePr/>
          <p:nvPr/>
        </p:nvGraphicFramePr>
        <p:xfrm>
          <a:off x="2456688" y="3017520"/>
          <a:ext cx="1944624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Text 31"/>
          <p:cNvSpPr/>
          <p:nvPr/>
        </p:nvSpPr>
        <p:spPr>
          <a:xfrm>
            <a:off x="2529840" y="4553712"/>
            <a:ext cx="1798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and East hold ₹7.97 Cr of the gap — 61% of it in two zones. eB2B (₹2.20 Cr) and SIS are MT sub-channels with their own pages; zone benchmark uses geographic accounts only.</a:t>
            </a:r>
            <a:endParaRPr lang="en-US" sz="680" dirty="0"/>
          </a:p>
        </p:txBody>
      </p:sp>
      <p:sp>
        <p:nvSpPr>
          <p:cNvPr id="36" name="Shape 32"/>
          <p:cNvSpPr/>
          <p:nvPr/>
        </p:nvSpPr>
        <p:spPr>
          <a:xfrm>
            <a:off x="4575048" y="2414016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3"/>
          <p:cNvSpPr/>
          <p:nvPr/>
        </p:nvSpPr>
        <p:spPr>
          <a:xfrm>
            <a:off x="4575048" y="2414016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4"/>
          <p:cNvSpPr/>
          <p:nvPr/>
        </p:nvSpPr>
        <p:spPr>
          <a:xfrm>
            <a:off x="4657344" y="243230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PRIZE</a:t>
            </a:r>
            <a:endParaRPr lang="en-US" sz="700" dirty="0"/>
          </a:p>
        </p:txBody>
      </p:sp>
      <p:sp>
        <p:nvSpPr>
          <p:cNvPr id="39" name="Text 35"/>
          <p:cNvSpPr/>
          <p:nvPr/>
        </p:nvSpPr>
        <p:spPr>
          <a:xfrm>
            <a:off x="4666488" y="2779776"/>
            <a:ext cx="1834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900" dirty="0"/>
          </a:p>
        </p:txBody>
      </p:sp>
      <p:sp>
        <p:nvSpPr>
          <p:cNvPr id="40" name="Text 36"/>
          <p:cNvSpPr/>
          <p:nvPr/>
        </p:nvSpPr>
        <p:spPr>
          <a:xfrm>
            <a:off x="4666488" y="3163824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no extra primary</a:t>
            </a:r>
            <a:endParaRPr lang="en-US" sz="680" dirty="0"/>
          </a:p>
        </p:txBody>
      </p:sp>
      <p:sp>
        <p:nvSpPr>
          <p:cNvPr id="41" name="Text 37"/>
          <p:cNvSpPr/>
          <p:nvPr/>
        </p:nvSpPr>
        <p:spPr>
          <a:xfrm>
            <a:off x="4666488" y="3383280"/>
            <a:ext cx="1834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by zone (₹ Cr)</a:t>
            </a:r>
            <a:endParaRPr lang="en-US" sz="720" dirty="0"/>
          </a:p>
        </p:txBody>
      </p:sp>
      <p:graphicFrame>
        <p:nvGraphicFramePr>
          <p:cNvPr id="42" name="Chart 2"/>
          <p:cNvGraphicFramePr/>
          <p:nvPr/>
        </p:nvGraphicFramePr>
        <p:xfrm>
          <a:off x="4593336" y="3584448"/>
          <a:ext cx="1944624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3" name="Text 38"/>
          <p:cNvSpPr/>
          <p:nvPr/>
        </p:nvSpPr>
        <p:spPr>
          <a:xfrm>
            <a:off x="4666488" y="4626864"/>
            <a:ext cx="1834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+0.05 and Central +0.13 are below the ₹0.25 Cr floor.</a:t>
            </a:r>
            <a:endParaRPr lang="en-US" sz="620" dirty="0"/>
          </a:p>
        </p:txBody>
      </p:sp>
      <p:sp>
        <p:nvSpPr>
          <p:cNvPr id="44" name="Shape 39"/>
          <p:cNvSpPr/>
          <p:nvPr/>
        </p:nvSpPr>
        <p:spPr>
          <a:xfrm>
            <a:off x="265176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0"/>
          <p:cNvSpPr/>
          <p:nvPr/>
        </p:nvSpPr>
        <p:spPr>
          <a:xfrm>
            <a:off x="265176" y="517550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1"/>
          <p:cNvSpPr/>
          <p:nvPr/>
        </p:nvSpPr>
        <p:spPr>
          <a:xfrm>
            <a:off x="347472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ONE-ACCOUNT MONTH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356616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700" dirty="0"/>
          </a:p>
        </p:txBody>
      </p:sp>
      <p:sp>
        <p:nvSpPr>
          <p:cNvPr id="48" name="Text 43"/>
          <p:cNvSpPr/>
          <p:nvPr/>
        </p:nvSpPr>
        <p:spPr>
          <a:xfrm>
            <a:off x="356616" y="5888736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June → July</a:t>
            </a:r>
            <a:endParaRPr lang="en-US" sz="680" dirty="0"/>
          </a:p>
        </p:txBody>
      </p:sp>
      <p:sp>
        <p:nvSpPr>
          <p:cNvPr id="49" name="Shape 44"/>
          <p:cNvSpPr/>
          <p:nvPr/>
        </p:nvSpPr>
        <p:spPr>
          <a:xfrm>
            <a:off x="374904" y="61767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5"/>
          <p:cNvSpPr/>
          <p:nvPr/>
        </p:nvSpPr>
        <p:spPr>
          <a:xfrm>
            <a:off x="493776" y="612648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fell ₹1.29 Cr month on month.</a:t>
            </a:r>
            <a:endParaRPr lang="en-US" sz="690" dirty="0"/>
          </a:p>
        </p:txBody>
      </p:sp>
      <p:sp>
        <p:nvSpPr>
          <p:cNvPr id="51" name="Shape 46"/>
          <p:cNvSpPr/>
          <p:nvPr/>
        </p:nvSpPr>
        <p:spPr>
          <a:xfrm>
            <a:off x="374904" y="656082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7"/>
          <p:cNvSpPr/>
          <p:nvPr/>
        </p:nvSpPr>
        <p:spPr>
          <a:xfrm>
            <a:off x="493776" y="65105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combined, grew ₹0.13 Cr.</a:t>
            </a:r>
            <a:endParaRPr lang="en-US" sz="690" dirty="0"/>
          </a:p>
        </p:txBody>
      </p:sp>
      <p:sp>
        <p:nvSpPr>
          <p:cNvPr id="53" name="Shape 48"/>
          <p:cNvSpPr/>
          <p:nvPr/>
        </p:nvSpPr>
        <p:spPr>
          <a:xfrm>
            <a:off x="374904" y="694486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49"/>
          <p:cNvSpPr/>
          <p:nvPr/>
        </p:nvSpPr>
        <p:spPr>
          <a:xfrm>
            <a:off x="493776" y="68945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broad softening — it is one account.</a:t>
            </a:r>
            <a:endParaRPr lang="en-US" sz="690" dirty="0"/>
          </a:p>
        </p:txBody>
      </p:sp>
      <p:sp>
        <p:nvSpPr>
          <p:cNvPr id="55" name="Shape 50"/>
          <p:cNvSpPr/>
          <p:nvPr/>
        </p:nvSpPr>
        <p:spPr>
          <a:xfrm>
            <a:off x="2420112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1"/>
          <p:cNvSpPr/>
          <p:nvPr/>
        </p:nvSpPr>
        <p:spPr>
          <a:xfrm>
            <a:off x="2420112" y="5175504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2"/>
          <p:cNvSpPr/>
          <p:nvPr/>
        </p:nvSpPr>
        <p:spPr>
          <a:xfrm>
            <a:off x="2502408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MIS-TARGETED</a:t>
            </a:r>
            <a:endParaRPr lang="en-US" sz="700" dirty="0"/>
          </a:p>
        </p:txBody>
      </p:sp>
      <p:sp>
        <p:nvSpPr>
          <p:cNvPr id="58" name="Text 53"/>
          <p:cNvSpPr/>
          <p:nvPr/>
        </p:nvSpPr>
        <p:spPr>
          <a:xfrm>
            <a:off x="2511552" y="5541264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00" dirty="0"/>
          </a:p>
        </p:txBody>
      </p:sp>
      <p:sp>
        <p:nvSpPr>
          <p:cNvPr id="59" name="Text 54"/>
          <p:cNvSpPr/>
          <p:nvPr/>
        </p:nvSpPr>
        <p:spPr>
          <a:xfrm>
            <a:off x="2529840" y="5888736"/>
            <a:ext cx="179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NPI value sits in the two worst-converting accounts</a:t>
            </a:r>
            <a:endParaRPr lang="en-US" sz="680" dirty="0"/>
          </a:p>
        </p:txBody>
      </p:sp>
      <p:sp>
        <p:nvSpPr>
          <p:cNvPr id="60" name="Shape 55"/>
          <p:cNvSpPr/>
          <p:nvPr/>
        </p:nvSpPr>
        <p:spPr>
          <a:xfrm>
            <a:off x="2529840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6"/>
          <p:cNvSpPr/>
          <p:nvPr/>
        </p:nvSpPr>
        <p:spPr>
          <a:xfrm>
            <a:off x="2648712" y="6217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alone holds 47.1% of NPI at 51.4% conversion.</a:t>
            </a:r>
            <a:endParaRPr lang="en-US" sz="690" dirty="0"/>
          </a:p>
        </p:txBody>
      </p:sp>
      <p:sp>
        <p:nvSpPr>
          <p:cNvPr id="62" name="Shape 57"/>
          <p:cNvSpPr/>
          <p:nvPr/>
        </p:nvSpPr>
        <p:spPr>
          <a:xfrm>
            <a:off x="2529840" y="66339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8"/>
          <p:cNvSpPr/>
          <p:nvPr/>
        </p:nvSpPr>
        <p:spPr>
          <a:xfrm>
            <a:off x="2648712" y="6583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runs the highest NPI mix (10.2%) on the worst flow (49.9%).</a:t>
            </a:r>
            <a:endParaRPr lang="en-US" sz="690" dirty="0"/>
          </a:p>
        </p:txBody>
      </p:sp>
      <p:sp>
        <p:nvSpPr>
          <p:cNvPr id="64" name="Shape 59"/>
          <p:cNvSpPr/>
          <p:nvPr/>
        </p:nvSpPr>
        <p:spPr>
          <a:xfrm>
            <a:off x="2529840" y="6999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0"/>
          <p:cNvSpPr/>
          <p:nvPr/>
        </p:nvSpPr>
        <p:spPr>
          <a:xfrm>
            <a:off x="2648712" y="6949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will read as product failure when they are flow failure.</a:t>
            </a:r>
            <a:endParaRPr lang="en-US" sz="690" dirty="0"/>
          </a:p>
        </p:txBody>
      </p:sp>
      <p:sp>
        <p:nvSpPr>
          <p:cNvPr id="66" name="Shape 61"/>
          <p:cNvSpPr/>
          <p:nvPr/>
        </p:nvSpPr>
        <p:spPr>
          <a:xfrm>
            <a:off x="4575048" y="5175504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2"/>
          <p:cNvSpPr/>
          <p:nvPr/>
        </p:nvSpPr>
        <p:spPr>
          <a:xfrm>
            <a:off x="4575048" y="517550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3"/>
          <p:cNvSpPr/>
          <p:nvPr/>
        </p:nvSpPr>
        <p:spPr>
          <a:xfrm>
            <a:off x="4657344" y="51937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ENGINES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4684776" y="562813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5"/>
          <p:cNvSpPr/>
          <p:nvPr/>
        </p:nvSpPr>
        <p:spPr>
          <a:xfrm>
            <a:off x="4803648" y="55778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₹8.27 Cr at 85.2% — national benchmark.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4684776" y="599389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67"/>
          <p:cNvSpPr/>
          <p:nvPr/>
        </p:nvSpPr>
        <p:spPr>
          <a:xfrm>
            <a:off x="4803648" y="594360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₹8.18 Cr at 86.3% — best flow in the country.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4684776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69"/>
          <p:cNvSpPr/>
          <p:nvPr/>
        </p:nvSpPr>
        <p:spPr>
          <a:xfrm>
            <a:off x="4803648" y="63093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₹4.41 Cr gap — largest recovery pool.</a:t>
            </a:r>
            <a:endParaRPr lang="en-US" sz="700" dirty="0"/>
          </a:p>
        </p:txBody>
      </p:sp>
      <p:sp>
        <p:nvSpPr>
          <p:cNvPr id="75" name="Shape 70"/>
          <p:cNvSpPr/>
          <p:nvPr/>
        </p:nvSpPr>
        <p:spPr>
          <a:xfrm>
            <a:off x="4684776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1"/>
          <p:cNvSpPr/>
          <p:nvPr/>
        </p:nvSpPr>
        <p:spPr>
          <a:xfrm>
            <a:off x="4803648" y="66751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49.9% conversion — weakest flow, highest NPI mix.</a:t>
            </a:r>
            <a:endParaRPr lang="en-US" sz="700" dirty="0"/>
          </a:p>
        </p:txBody>
      </p:sp>
      <p:sp>
        <p:nvSpPr>
          <p:cNvPr id="77" name="Shape 72"/>
          <p:cNvSpPr/>
          <p:nvPr/>
        </p:nvSpPr>
        <p:spPr>
          <a:xfrm>
            <a:off x="4684776" y="70911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3"/>
          <p:cNvSpPr/>
          <p:nvPr/>
        </p:nvSpPr>
        <p:spPr>
          <a:xfrm>
            <a:off x="4803648" y="70408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now clears the floor at +₹0.90 Cr recoverable.</a:t>
            </a:r>
            <a:endParaRPr lang="en-US" sz="700" dirty="0"/>
          </a:p>
        </p:txBody>
      </p:sp>
      <p:sp>
        <p:nvSpPr>
          <p:cNvPr id="79" name="Shape 74"/>
          <p:cNvSpPr/>
          <p:nvPr/>
        </p:nvSpPr>
        <p:spPr>
          <a:xfrm>
            <a:off x="265176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MOVES</a:t>
            </a:r>
            <a:endParaRPr lang="en-US" sz="700" dirty="0"/>
          </a:p>
        </p:txBody>
      </p:sp>
      <p:sp>
        <p:nvSpPr>
          <p:cNvPr id="82" name="Shape 77"/>
          <p:cNvSpPr/>
          <p:nvPr/>
        </p:nvSpPr>
        <p:spPr>
          <a:xfrm>
            <a:off x="374904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493776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map Lulu, Wellness and H&amp;G primary — ₹2.23 Cr blind.</a:t>
            </a:r>
            <a:endParaRPr lang="en-US" sz="700" dirty="0"/>
          </a:p>
        </p:txBody>
      </p:sp>
      <p:sp>
        <p:nvSpPr>
          <p:cNvPr id="84" name="Shape 79"/>
          <p:cNvSpPr/>
          <p:nvPr/>
        </p:nvSpPr>
        <p:spPr>
          <a:xfrm>
            <a:off x="374904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93776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0–30d: cap East and North primary at trailing 3-month offtake.</a:t>
            </a:r>
            <a:endParaRPr lang="en-US" sz="700" dirty="0"/>
          </a:p>
        </p:txBody>
      </p:sp>
      <p:sp>
        <p:nvSpPr>
          <p:cNvPr id="86" name="Shape 81"/>
          <p:cNvSpPr/>
          <p:nvPr/>
        </p:nvSpPr>
        <p:spPr>
          <a:xfrm>
            <a:off x="374904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93776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31–60d: Reliance recovery loop across North, East and Central.</a:t>
            </a:r>
            <a:endParaRPr lang="en-US" sz="700" dirty="0"/>
          </a:p>
        </p:txBody>
      </p:sp>
      <p:sp>
        <p:nvSpPr>
          <p:cNvPr id="88" name="Shape 83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93776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61–90d: reset loading rules by verified conversion, not by target.</a:t>
            </a:r>
            <a:endParaRPr lang="en-US" sz="700" dirty="0"/>
          </a:p>
        </p:txBody>
      </p:sp>
      <p:sp>
        <p:nvSpPr>
          <p:cNvPr id="90" name="Shape 85"/>
          <p:cNvSpPr/>
          <p:nvPr/>
        </p:nvSpPr>
        <p:spPr>
          <a:xfrm>
            <a:off x="374904" y="99258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93776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already proven.</a:t>
            </a:r>
            <a:endParaRPr lang="en-US" sz="700" dirty="0"/>
          </a:p>
        </p:txBody>
      </p:sp>
      <p:sp>
        <p:nvSpPr>
          <p:cNvPr id="92" name="Shape 87"/>
          <p:cNvSpPr/>
          <p:nvPr/>
        </p:nvSpPr>
        <p:spPr>
          <a:xfrm>
            <a:off x="2420112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8"/>
          <p:cNvSpPr/>
          <p:nvPr/>
        </p:nvSpPr>
        <p:spPr>
          <a:xfrm>
            <a:off x="2420112" y="793699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502408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SCOREBOARD</a:t>
            </a:r>
            <a:endParaRPr lang="en-US" sz="700" dirty="0"/>
          </a:p>
        </p:txBody>
      </p:sp>
      <p:sp>
        <p:nvSpPr>
          <p:cNvPr id="95" name="Shape 90"/>
          <p:cNvSpPr/>
          <p:nvPr/>
        </p:nvSpPr>
        <p:spPr>
          <a:xfrm>
            <a:off x="2529840" y="838962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48712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— the one metric. 72.2% → 85.5%.</a:t>
            </a:r>
            <a:endParaRPr lang="en-US" sz="700" dirty="0"/>
          </a:p>
        </p:txBody>
      </p:sp>
      <p:sp>
        <p:nvSpPr>
          <p:cNvPr id="97" name="Shape 92"/>
          <p:cNvSpPr/>
          <p:nvPr/>
        </p:nvSpPr>
        <p:spPr>
          <a:xfrm>
            <a:off x="2529840" y="8773668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48712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−₹2.78 Cr and East −₹2.54 Cr against benchmark, weekly.</a:t>
            </a:r>
            <a:endParaRPr lang="en-US" sz="700" dirty="0"/>
          </a:p>
        </p:txBody>
      </p:sp>
      <p:sp>
        <p:nvSpPr>
          <p:cNvPr id="99" name="Shape 94"/>
          <p:cNvSpPr/>
          <p:nvPr/>
        </p:nvSpPr>
        <p:spPr>
          <a:xfrm>
            <a:off x="2529840" y="915771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2648712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 above 95% in priority stores.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2529840" y="954176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2648712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Unmapped chains: zero before the August pack ships.</a:t>
            </a:r>
            <a:endParaRPr lang="en-US" sz="700" dirty="0"/>
          </a:p>
        </p:txBody>
      </p:sp>
      <p:sp>
        <p:nvSpPr>
          <p:cNvPr id="103" name="Shape 98"/>
          <p:cNvSpPr/>
          <p:nvPr/>
        </p:nvSpPr>
        <p:spPr>
          <a:xfrm>
            <a:off x="2529840" y="99258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2648712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purity: no eB2B or SIS value inside any MT zone.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4575048" y="7936992"/>
            <a:ext cx="2017776" cy="261518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1"/>
          <p:cNvSpPr/>
          <p:nvPr/>
        </p:nvSpPr>
        <p:spPr>
          <a:xfrm>
            <a:off x="4575048" y="793699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2"/>
          <p:cNvSpPr/>
          <p:nvPr/>
        </p:nvSpPr>
        <p:spPr>
          <a:xfrm>
            <a:off x="4657344" y="795528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SAFEGUARDS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4684776" y="838962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4803648" y="8339328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gap is not inventory or stock cover — it is unconverted billing.</a:t>
            </a:r>
            <a:endParaRPr lang="en-US" sz="700" dirty="0"/>
          </a:p>
        </p:txBody>
      </p:sp>
      <p:sp>
        <p:nvSpPr>
          <p:cNvPr id="110" name="Shape 105"/>
          <p:cNvSpPr/>
          <p:nvPr/>
        </p:nvSpPr>
        <p:spPr>
          <a:xfrm>
            <a:off x="4684776" y="877366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4803648" y="8723376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above 100% is a timing or stock signal, never a success.</a:t>
            </a:r>
            <a:endParaRPr lang="en-US" sz="700" dirty="0"/>
          </a:p>
        </p:txBody>
      </p:sp>
      <p:sp>
        <p:nvSpPr>
          <p:cNvPr id="112" name="Shape 107"/>
          <p:cNvSpPr/>
          <p:nvPr/>
        </p:nvSpPr>
        <p:spPr>
          <a:xfrm>
            <a:off x="4684776" y="915771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8"/>
          <p:cNvSpPr/>
          <p:nvPr/>
        </p:nvSpPr>
        <p:spPr>
          <a:xfrm>
            <a:off x="4803648" y="9107424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is shown below a ₹0.25 Cr materiality floor.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4684776" y="954176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0"/>
          <p:cNvSpPr/>
          <p:nvPr/>
        </p:nvSpPr>
        <p:spPr>
          <a:xfrm>
            <a:off x="4803648" y="9491472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99.7% averages 121–149% zone errors — do not quote it.</a:t>
            </a:r>
            <a:endParaRPr lang="en-US" sz="700" dirty="0"/>
          </a:p>
        </p:txBody>
      </p:sp>
      <p:sp>
        <p:nvSpPr>
          <p:cNvPr id="116" name="Shape 111"/>
          <p:cNvSpPr/>
          <p:nvPr/>
        </p:nvSpPr>
        <p:spPr>
          <a:xfrm>
            <a:off x="4684776" y="99258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2"/>
          <p:cNvSpPr/>
          <p:nvPr/>
        </p:nvSpPr>
        <p:spPr>
          <a:xfrm>
            <a:off x="4803648" y="9875520"/>
            <a:ext cx="1679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YoY or target claim without a matched comparator.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Q1 FY27: Modern Trade grew 66.6% to ₹107.75 Cr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in review | Apr–Jun 2026 vs Apr–Jun 2025 | Modern Trade accounts only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₹107.75 Cr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₹64.69 Cr in Q1 FY26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GROWTH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+66.6%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read was +63.6%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MT PRIMARY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₹129.73 Cr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== MT, three months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CONVERSION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83.1%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fell to 72.2%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93192" y="230428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Q1 NOTE ON THE BASE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June pack reported Q1 at ₹114.39 Cr and +63.6% on a total MT base. Nykaa (FSN) (eB2B sub-channel) grew only 25% against the network’s 67%, dragging the blended headline. The geographic zone base grew 66.6%. Both bases are valid; quote the total MT (₹107.75 Cr, 66.6%) for zone-improvement commentary.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65176" y="29809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74904" y="29992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— Q1 FY27 vs Q1 FY26 (MODERN TRADE ONLY)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328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20040" y="3346704"/>
            <a:ext cx="10824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46" name="Text 44"/>
          <p:cNvSpPr/>
          <p:nvPr/>
        </p:nvSpPr>
        <p:spPr>
          <a:xfrm>
            <a:off x="151220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FY26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2429256" y="3346704"/>
            <a:ext cx="8073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3346306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4217504" y="3346704"/>
            <a:ext cx="5780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4905292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5776490" y="3346704"/>
            <a:ext cx="7614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5844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38953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58444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151220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18.77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2429256" y="358444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29.05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3346306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+55%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217504" y="358444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27.0%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4905292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60" name="Text 58"/>
          <p:cNvSpPr/>
          <p:nvPr/>
        </p:nvSpPr>
        <p:spPr>
          <a:xfrm>
            <a:off x="5776490" y="358444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265176" y="4206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0040" y="3895344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151220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15.83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429256" y="3895344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26.41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346306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17504" y="3895344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905292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776490" y="3895344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420624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45171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4206240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51220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13.56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429256" y="4206240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24.89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3346306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4217504" y="4206240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905292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5776490" y="4206240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320040" y="4517136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80" name="Text 78"/>
          <p:cNvSpPr/>
          <p:nvPr/>
        </p:nvSpPr>
        <p:spPr>
          <a:xfrm>
            <a:off x="151220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9.52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2429256" y="4517136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15.76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3346306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+66%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4217504" y="4517136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4905292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5776490" y="4517136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265176" y="482803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265176" y="51389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20040" y="4828032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89" name="Text 87"/>
          <p:cNvSpPr/>
          <p:nvPr/>
        </p:nvSpPr>
        <p:spPr>
          <a:xfrm>
            <a:off x="151220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7.01</a:t>
            </a:r>
            <a:endParaRPr lang="en-US" sz="740" dirty="0"/>
          </a:p>
        </p:txBody>
      </p:sp>
      <p:sp>
        <p:nvSpPr>
          <p:cNvPr id="90" name="Text 88"/>
          <p:cNvSpPr/>
          <p:nvPr/>
        </p:nvSpPr>
        <p:spPr>
          <a:xfrm>
            <a:off x="2429256" y="4828032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11.73</a:t>
            </a:r>
            <a:endParaRPr lang="en-US" sz="740" dirty="0"/>
          </a:p>
        </p:txBody>
      </p:sp>
      <p:sp>
        <p:nvSpPr>
          <p:cNvPr id="91" name="Text 89"/>
          <p:cNvSpPr/>
          <p:nvPr/>
        </p:nvSpPr>
        <p:spPr>
          <a:xfrm>
            <a:off x="3346306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+67%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4217504" y="4828032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740" dirty="0"/>
          </a:p>
        </p:txBody>
      </p:sp>
      <p:sp>
        <p:nvSpPr>
          <p:cNvPr id="93" name="Text 91"/>
          <p:cNvSpPr/>
          <p:nvPr/>
        </p:nvSpPr>
        <p:spPr>
          <a:xfrm>
            <a:off x="4905292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94" name="Text 92"/>
          <p:cNvSpPr/>
          <p:nvPr/>
        </p:nvSpPr>
        <p:spPr>
          <a:xfrm>
            <a:off x="5776490" y="4828032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320040" y="5138928"/>
            <a:ext cx="10824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MT</a:t>
            </a:r>
            <a:endParaRPr lang="en-US" sz="740" dirty="0"/>
          </a:p>
        </p:txBody>
      </p:sp>
      <p:sp>
        <p:nvSpPr>
          <p:cNvPr id="97" name="Text 95"/>
          <p:cNvSpPr/>
          <p:nvPr/>
        </p:nvSpPr>
        <p:spPr>
          <a:xfrm>
            <a:off x="151220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64.69</a:t>
            </a:r>
            <a:endParaRPr lang="en-US" sz="740" dirty="0"/>
          </a:p>
        </p:txBody>
      </p:sp>
      <p:sp>
        <p:nvSpPr>
          <p:cNvPr id="98" name="Text 96"/>
          <p:cNvSpPr/>
          <p:nvPr/>
        </p:nvSpPr>
        <p:spPr>
          <a:xfrm>
            <a:off x="2429256" y="5138928"/>
            <a:ext cx="80732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107.75</a:t>
            </a:r>
            <a:endParaRPr lang="en-US" sz="740" dirty="0"/>
          </a:p>
        </p:txBody>
      </p:sp>
      <p:sp>
        <p:nvSpPr>
          <p:cNvPr id="99" name="Text 97"/>
          <p:cNvSpPr/>
          <p:nvPr/>
        </p:nvSpPr>
        <p:spPr>
          <a:xfrm>
            <a:off x="3346306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+66.6%</a:t>
            </a:r>
            <a:endParaRPr lang="en-US" sz="740" dirty="0"/>
          </a:p>
        </p:txBody>
      </p:sp>
      <p:sp>
        <p:nvSpPr>
          <p:cNvPr id="100" name="Text 98"/>
          <p:cNvSpPr/>
          <p:nvPr/>
        </p:nvSpPr>
        <p:spPr>
          <a:xfrm>
            <a:off x="4217504" y="5138928"/>
            <a:ext cx="5780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740" dirty="0"/>
          </a:p>
        </p:txBody>
      </p:sp>
      <p:sp>
        <p:nvSpPr>
          <p:cNvPr id="101" name="Text 99"/>
          <p:cNvSpPr/>
          <p:nvPr/>
        </p:nvSpPr>
        <p:spPr>
          <a:xfrm>
            <a:off x="4905292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83.1%</a:t>
            </a:r>
            <a:endParaRPr lang="en-US" sz="740" dirty="0"/>
          </a:p>
        </p:txBody>
      </p:sp>
      <p:sp>
        <p:nvSpPr>
          <p:cNvPr id="102" name="Text 100"/>
          <p:cNvSpPr/>
          <p:nvPr/>
        </p:nvSpPr>
        <p:spPr>
          <a:xfrm>
            <a:off x="5776490" y="5138928"/>
            <a:ext cx="76147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</a:t>
            </a:r>
            <a:endParaRPr lang="en-US" sz="740" dirty="0"/>
          </a:p>
        </p:txBody>
      </p:sp>
      <p:sp>
        <p:nvSpPr>
          <p:cNvPr id="103" name="Text 101"/>
          <p:cNvSpPr/>
          <p:nvPr/>
        </p:nvSpPr>
        <p:spPr>
          <a:xfrm>
            <a:off x="265176" y="5504688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carried no primary in Apr–Jun and appears from July, so it has no Q1 comparative. eB2B (FSN) grew 25% to ₹6.53 Cr and is reported on page 13.</a:t>
            </a:r>
            <a:endParaRPr lang="en-US" sz="660" dirty="0"/>
          </a:p>
        </p:txBody>
      </p:sp>
      <p:sp>
        <p:nvSpPr>
          <p:cNvPr id="104" name="Shape 102"/>
          <p:cNvSpPr/>
          <p:nvPr/>
        </p:nvSpPr>
        <p:spPr>
          <a:xfrm>
            <a:off x="265176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265176" y="5815584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47472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— Q1 FY27 (₹ Cr)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374904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</a:t>
            </a:r>
            <a:endParaRPr lang="en-US" sz="720" dirty="0"/>
          </a:p>
        </p:txBody>
      </p:sp>
      <p:sp>
        <p:nvSpPr>
          <p:cNvPr id="108" name="Text 106"/>
          <p:cNvSpPr/>
          <p:nvPr/>
        </p:nvSpPr>
        <p:spPr>
          <a:xfrm>
            <a:off x="1874520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26.00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86584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42.32</a:t>
            </a:r>
            <a:endParaRPr lang="en-US" sz="720" dirty="0"/>
          </a:p>
        </p:txBody>
      </p:sp>
      <p:sp>
        <p:nvSpPr>
          <p:cNvPr id="110" name="Text 108"/>
          <p:cNvSpPr/>
          <p:nvPr/>
        </p:nvSpPr>
        <p:spPr>
          <a:xfrm>
            <a:off x="2898648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+63%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374904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112" name="Text 110"/>
          <p:cNvSpPr/>
          <p:nvPr/>
        </p:nvSpPr>
        <p:spPr>
          <a:xfrm>
            <a:off x="1874520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19.08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2386584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28.06</a:t>
            </a:r>
            <a:endParaRPr lang="en-US" sz="720" dirty="0"/>
          </a:p>
        </p:txBody>
      </p:sp>
      <p:sp>
        <p:nvSpPr>
          <p:cNvPr id="114" name="Text 112"/>
          <p:cNvSpPr/>
          <p:nvPr/>
        </p:nvSpPr>
        <p:spPr>
          <a:xfrm>
            <a:off x="2898648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374904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116" name="Text 114"/>
          <p:cNvSpPr/>
          <p:nvPr/>
        </p:nvSpPr>
        <p:spPr>
          <a:xfrm>
            <a:off x="1874520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7.93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2386584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21.73</a:t>
            </a:r>
            <a:endParaRPr lang="en-US" sz="720" dirty="0"/>
          </a:p>
        </p:txBody>
      </p:sp>
      <p:sp>
        <p:nvSpPr>
          <p:cNvPr id="118" name="Text 116"/>
          <p:cNvSpPr/>
          <p:nvPr/>
        </p:nvSpPr>
        <p:spPr>
          <a:xfrm>
            <a:off x="2898648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+174%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374904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120" name="Text 118"/>
          <p:cNvSpPr/>
          <p:nvPr/>
        </p:nvSpPr>
        <p:spPr>
          <a:xfrm>
            <a:off x="1874520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1.24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2386584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720" dirty="0"/>
          </a:p>
        </p:txBody>
      </p:sp>
      <p:sp>
        <p:nvSpPr>
          <p:cNvPr id="122" name="Text 120"/>
          <p:cNvSpPr/>
          <p:nvPr/>
        </p:nvSpPr>
        <p:spPr>
          <a:xfrm>
            <a:off x="2898648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+169%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374904" y="738835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124" name="Text 122"/>
          <p:cNvSpPr/>
          <p:nvPr/>
        </p:nvSpPr>
        <p:spPr>
          <a:xfrm>
            <a:off x="1874520" y="7388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2.49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2386584" y="738835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2.91</a:t>
            </a:r>
            <a:endParaRPr lang="en-US" sz="720" dirty="0"/>
          </a:p>
        </p:txBody>
      </p:sp>
      <p:sp>
        <p:nvSpPr>
          <p:cNvPr id="126" name="Text 124"/>
          <p:cNvSpPr/>
          <p:nvPr/>
        </p:nvSpPr>
        <p:spPr>
          <a:xfrm>
            <a:off x="2898648" y="73883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374904" y="76992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added ₹13.80 Cr — the largest absolute gain of any account, off a base a third of DMart’s.</a:t>
            </a:r>
            <a:endParaRPr lang="en-US" sz="660" dirty="0"/>
          </a:p>
        </p:txBody>
      </p:sp>
      <p:sp>
        <p:nvSpPr>
          <p:cNvPr id="128" name="Shape 126"/>
          <p:cNvSpPr/>
          <p:nvPr/>
        </p:nvSpPr>
        <p:spPr>
          <a:xfrm>
            <a:off x="3502152" y="5815584"/>
            <a:ext cx="3090672" cy="2139696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27"/>
          <p:cNvSpPr/>
          <p:nvPr/>
        </p:nvSpPr>
        <p:spPr>
          <a:xfrm>
            <a:off x="3502152" y="5815584"/>
            <a:ext cx="3090672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3584448" y="5833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— Q1 FY27 (₹ Cr)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3611880" y="618134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20" dirty="0"/>
          </a:p>
        </p:txBody>
      </p:sp>
      <p:sp>
        <p:nvSpPr>
          <p:cNvPr id="132" name="Text 130"/>
          <p:cNvSpPr/>
          <p:nvPr/>
        </p:nvSpPr>
        <p:spPr>
          <a:xfrm>
            <a:off x="5111496" y="61813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5623560" y="6181344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82.54</a:t>
            </a:r>
            <a:endParaRPr lang="en-US" sz="720" dirty="0"/>
          </a:p>
        </p:txBody>
      </p:sp>
      <p:sp>
        <p:nvSpPr>
          <p:cNvPr id="134" name="Text 132"/>
          <p:cNvSpPr/>
          <p:nvPr/>
        </p:nvSpPr>
        <p:spPr>
          <a:xfrm>
            <a:off x="6135624" y="61813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3611880" y="648309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5111496" y="64830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6.34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5623560" y="648309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29.51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6135624" y="64830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+365%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3611880" y="678484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20" dirty="0"/>
          </a:p>
        </p:txBody>
      </p:sp>
      <p:sp>
        <p:nvSpPr>
          <p:cNvPr id="140" name="Text 138"/>
          <p:cNvSpPr/>
          <p:nvPr/>
        </p:nvSpPr>
        <p:spPr>
          <a:xfrm>
            <a:off x="5111496" y="67848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5623560" y="67848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6135624" y="6784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</a:t>
            </a:r>
            <a:endParaRPr lang="en-US" sz="700" dirty="0"/>
          </a:p>
        </p:txBody>
      </p:sp>
      <p:sp>
        <p:nvSpPr>
          <p:cNvPr id="143" name="Text 141"/>
          <p:cNvSpPr/>
          <p:nvPr/>
        </p:nvSpPr>
        <p:spPr>
          <a:xfrm>
            <a:off x="3611880" y="70866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brands</a:t>
            </a:r>
            <a:endParaRPr lang="en-US" sz="720" dirty="0"/>
          </a:p>
        </p:txBody>
      </p:sp>
      <p:sp>
        <p:nvSpPr>
          <p:cNvPr id="144" name="Text 142"/>
          <p:cNvSpPr/>
          <p:nvPr/>
        </p:nvSpPr>
        <p:spPr>
          <a:xfrm>
            <a:off x="5111496" y="7086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5623560" y="708660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720" dirty="0"/>
          </a:p>
        </p:txBody>
      </p:sp>
      <p:sp>
        <p:nvSpPr>
          <p:cNvPr id="146" name="Text 144"/>
          <p:cNvSpPr/>
          <p:nvPr/>
        </p:nvSpPr>
        <p:spPr>
          <a:xfrm>
            <a:off x="6135624" y="7086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700" dirty="0"/>
          </a:p>
        </p:txBody>
      </p:sp>
      <p:sp>
        <p:nvSpPr>
          <p:cNvPr id="147" name="Text 145"/>
          <p:cNvSpPr/>
          <p:nvPr/>
        </p:nvSpPr>
        <p:spPr>
          <a:xfrm>
            <a:off x="3611880" y="7479792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added ₹23.17 Cr — 54% of all Q1 growth — off a base one tenth of Mamaearth’s. Its scale-up is the quarter’s biggest commercial event.</a:t>
            </a:r>
            <a:endParaRPr lang="en-US" sz="680" dirty="0"/>
          </a:p>
        </p:txBody>
      </p:sp>
      <p:sp>
        <p:nvSpPr>
          <p:cNvPr id="148" name="Shape 146"/>
          <p:cNvSpPr/>
          <p:nvPr/>
        </p:nvSpPr>
        <p:spPr>
          <a:xfrm>
            <a:off x="265176" y="81015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4904" y="81198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READOUT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356616" y="85176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475488" y="846734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grew more than 55% and South-1 led at +84%. Growth is broad-based, not carried by one geography.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356616" y="890168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475488" y="885139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at +365% supplied 54% of the quarter’s growth on a tenth of Mamaearth’s base — the portfolio is genuinely widening.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356616" y="92857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475488" y="923544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+174% is the fastest material account, now ₹21.73 Cr and ahead of its Q1 FY26 position by ₹13.80 Cr.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6616" y="96697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475488" y="961948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converted at 83.1%; July converted at 72.2% — and the two zones that led Q1 conversion fell hardest. Page 3 explains why.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did not break — it is the quarter-opening load, and April did the same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July conversion fell | monthly Modern Trade flow, Apr–Jul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cut from the Apr/May/Jun month sources with Channel == MT · Q1 FY26 comparatives from the June 2026 MT offtake pack, restated MT-only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969264"/>
          </a:xfrm>
          <a:prstGeom prst="roundRect">
            <a:avLst>
              <a:gd name="adj" fmla="val 2830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5331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Conversion collapses in the first month of every quarter, then recovers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1682496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70.0%   →   May 90.1%   →   Jun 91.4%   →   Jul 72.2%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1920240"/>
            <a:ext cx="5888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opened Q1 with ₹48.00 Cr of primary against ₹33.60 Cr of offtake. July opened Q2 with ₹47.02 Cr against ₹33.96 Cr. The two months are the same event, one quarter apart. Reading July on its own turns a billing rhythm into a performance crisis.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265176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primary vs offtake by month (₹ Cr)</a:t>
            </a:r>
            <a:endParaRPr lang="en-US" sz="72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246888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Text 23"/>
          <p:cNvSpPr/>
          <p:nvPr/>
        </p:nvSpPr>
        <p:spPr>
          <a:xfrm>
            <a:off x="3502152" y="237744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flow conversion by month (%)</a:t>
            </a:r>
            <a:endParaRPr lang="en-US" sz="720" dirty="0"/>
          </a:p>
        </p:txBody>
      </p:sp>
      <p:graphicFrame>
        <p:nvGraphicFramePr>
          <p:cNvPr id="27" name="Chart 1"/>
          <p:cNvGraphicFramePr/>
          <p:nvPr/>
        </p:nvGraphicFramePr>
        <p:xfrm>
          <a:off x="3483864" y="2578608"/>
          <a:ext cx="3090672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8" name="Shape 24"/>
          <p:cNvSpPr/>
          <p:nvPr/>
        </p:nvSpPr>
        <p:spPr>
          <a:xfrm>
            <a:off x="265176" y="426110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5"/>
          <p:cNvSpPr/>
          <p:nvPr/>
        </p:nvSpPr>
        <p:spPr>
          <a:xfrm>
            <a:off x="374904" y="4279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ZONES THAT LOADED HARDEST CONVERTED WORST</a:t>
            </a:r>
            <a:endParaRPr lang="en-US" sz="720" dirty="0"/>
          </a:p>
        </p:txBody>
      </p:sp>
      <p:sp>
        <p:nvSpPr>
          <p:cNvPr id="30" name="Shape 26"/>
          <p:cNvSpPr/>
          <p:nvPr/>
        </p:nvSpPr>
        <p:spPr>
          <a:xfrm>
            <a:off x="265176" y="460857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7"/>
          <p:cNvSpPr/>
          <p:nvPr/>
        </p:nvSpPr>
        <p:spPr>
          <a:xfrm>
            <a:off x="32004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32" name="Text 28"/>
          <p:cNvSpPr/>
          <p:nvPr/>
        </p:nvSpPr>
        <p:spPr>
          <a:xfrm>
            <a:off x="1374648" y="4626864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MONTHLY AVG PRIMARY</a:t>
            </a:r>
            <a:endParaRPr lang="en-US" sz="660" dirty="0"/>
          </a:p>
        </p:txBody>
      </p:sp>
      <p:sp>
        <p:nvSpPr>
          <p:cNvPr id="33" name="Text 29"/>
          <p:cNvSpPr/>
          <p:nvPr/>
        </p:nvSpPr>
        <p:spPr>
          <a:xfrm>
            <a:off x="2956560" y="4626864"/>
            <a:ext cx="94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</a:t>
            </a:r>
            <a:endParaRPr lang="en-US" sz="660" dirty="0"/>
          </a:p>
        </p:txBody>
      </p:sp>
      <p:sp>
        <p:nvSpPr>
          <p:cNvPr id="34" name="Text 30"/>
          <p:cNvSpPr/>
          <p:nvPr/>
        </p:nvSpPr>
        <p:spPr>
          <a:xfrm>
            <a:off x="4011168" y="4626864"/>
            <a:ext cx="8569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vs Q1</a:t>
            </a:r>
            <a:endParaRPr lang="en-US" sz="660" dirty="0"/>
          </a:p>
        </p:txBody>
      </p:sp>
      <p:sp>
        <p:nvSpPr>
          <p:cNvPr id="35" name="Text 31"/>
          <p:cNvSpPr/>
          <p:nvPr/>
        </p:nvSpPr>
        <p:spPr>
          <a:xfrm>
            <a:off x="4977892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CONV.</a:t>
            </a:r>
            <a:endParaRPr lang="en-US" sz="660" dirty="0"/>
          </a:p>
        </p:txBody>
      </p:sp>
      <p:sp>
        <p:nvSpPr>
          <p:cNvPr id="36" name="Text 32"/>
          <p:cNvSpPr/>
          <p:nvPr/>
        </p:nvSpPr>
        <p:spPr>
          <a:xfrm>
            <a:off x="5812790" y="4626864"/>
            <a:ext cx="7251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CONV.</a:t>
            </a:r>
            <a:endParaRPr lang="en-US" sz="660" dirty="0"/>
          </a:p>
        </p:txBody>
      </p:sp>
      <p:sp>
        <p:nvSpPr>
          <p:cNvPr id="37" name="Shape 33"/>
          <p:cNvSpPr/>
          <p:nvPr/>
        </p:nvSpPr>
        <p:spPr>
          <a:xfrm>
            <a:off x="265176" y="4864608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4"/>
          <p:cNvSpPr/>
          <p:nvPr/>
        </p:nvSpPr>
        <p:spPr>
          <a:xfrm>
            <a:off x="265176" y="51572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/>
          <p:nvPr/>
        </p:nvSpPr>
        <p:spPr>
          <a:xfrm>
            <a:off x="32004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0" name="Text 36"/>
          <p:cNvSpPr/>
          <p:nvPr/>
        </p:nvSpPr>
        <p:spPr>
          <a:xfrm>
            <a:off x="1374648" y="4864608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4.36</a:t>
            </a:r>
            <a:endParaRPr lang="en-US" sz="740" dirty="0"/>
          </a:p>
        </p:txBody>
      </p:sp>
      <p:sp>
        <p:nvSpPr>
          <p:cNvPr id="41" name="Text 37"/>
          <p:cNvSpPr/>
          <p:nvPr/>
        </p:nvSpPr>
        <p:spPr>
          <a:xfrm>
            <a:off x="2956560" y="4864608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2" name="Text 38"/>
          <p:cNvSpPr/>
          <p:nvPr/>
        </p:nvSpPr>
        <p:spPr>
          <a:xfrm>
            <a:off x="4011168" y="4864608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+62.8%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4977892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740" dirty="0"/>
          </a:p>
        </p:txBody>
      </p:sp>
      <p:sp>
        <p:nvSpPr>
          <p:cNvPr id="44" name="Text 40"/>
          <p:cNvSpPr/>
          <p:nvPr/>
        </p:nvSpPr>
        <p:spPr>
          <a:xfrm>
            <a:off x="5812790" y="4864608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5" name="Shape 41"/>
          <p:cNvSpPr/>
          <p:nvPr/>
        </p:nvSpPr>
        <p:spPr>
          <a:xfrm>
            <a:off x="265176" y="54498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2"/>
          <p:cNvSpPr/>
          <p:nvPr/>
        </p:nvSpPr>
        <p:spPr>
          <a:xfrm>
            <a:off x="32004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47" name="Text 43"/>
          <p:cNvSpPr/>
          <p:nvPr/>
        </p:nvSpPr>
        <p:spPr>
          <a:xfrm>
            <a:off x="1374648" y="5157216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9.78</a:t>
            </a:r>
            <a:endParaRPr lang="en-US" sz="740" dirty="0"/>
          </a:p>
        </p:txBody>
      </p:sp>
      <p:sp>
        <p:nvSpPr>
          <p:cNvPr id="48" name="Text 44"/>
          <p:cNvSpPr/>
          <p:nvPr/>
        </p:nvSpPr>
        <p:spPr>
          <a:xfrm>
            <a:off x="2956560" y="5157216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4011168" y="5157216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+16.4%</a:t>
            </a:r>
            <a:endParaRPr lang="en-US" sz="740" dirty="0"/>
          </a:p>
        </p:txBody>
      </p:sp>
      <p:sp>
        <p:nvSpPr>
          <p:cNvPr id="50" name="Text 46"/>
          <p:cNvSpPr/>
          <p:nvPr/>
        </p:nvSpPr>
        <p:spPr>
          <a:xfrm>
            <a:off x="4977892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90.0%</a:t>
            </a:r>
            <a:endParaRPr lang="en-US" sz="740" dirty="0"/>
          </a:p>
        </p:txBody>
      </p:sp>
      <p:sp>
        <p:nvSpPr>
          <p:cNvPr id="51" name="Text 47"/>
          <p:cNvSpPr/>
          <p:nvPr/>
        </p:nvSpPr>
        <p:spPr>
          <a:xfrm>
            <a:off x="5812790" y="5157216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</a:t>
            </a:r>
            <a:endParaRPr lang="en-US" sz="740" dirty="0"/>
          </a:p>
        </p:txBody>
      </p:sp>
      <p:sp>
        <p:nvSpPr>
          <p:cNvPr id="52" name="Shape 48"/>
          <p:cNvSpPr/>
          <p:nvPr/>
        </p:nvSpPr>
        <p:spPr>
          <a:xfrm>
            <a:off x="265176" y="5449824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49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/>
          <p:nvPr/>
        </p:nvSpPr>
        <p:spPr>
          <a:xfrm>
            <a:off x="32004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1374648" y="5449824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6.45</a:t>
            </a:r>
            <a:endParaRPr lang="en-US" sz="740" dirty="0"/>
          </a:p>
        </p:txBody>
      </p:sp>
      <p:sp>
        <p:nvSpPr>
          <p:cNvPr id="56" name="Text 52"/>
          <p:cNvSpPr/>
          <p:nvPr/>
        </p:nvSpPr>
        <p:spPr>
          <a:xfrm>
            <a:off x="2956560" y="5449824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4011168" y="5449824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4977892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81.4%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5812790" y="5449824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350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1374648" y="5742432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10.59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2956560" y="5742432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011168" y="5742432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−10.5%</a:t>
            </a:r>
            <a:endParaRPr lang="en-US" sz="740" dirty="0"/>
          </a:p>
        </p:txBody>
      </p:sp>
      <p:sp>
        <p:nvSpPr>
          <p:cNvPr id="65" name="Text 61"/>
          <p:cNvSpPr/>
          <p:nvPr/>
        </p:nvSpPr>
        <p:spPr>
          <a:xfrm>
            <a:off x="4977892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78.3%</a:t>
            </a:r>
            <a:endParaRPr lang="en-US" sz="740" dirty="0"/>
          </a:p>
        </p:txBody>
      </p:sp>
      <p:sp>
        <p:nvSpPr>
          <p:cNvPr id="66" name="Text 62"/>
          <p:cNvSpPr/>
          <p:nvPr/>
        </p:nvSpPr>
        <p:spPr>
          <a:xfrm>
            <a:off x="5812790" y="5742432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67" name="Shape 63"/>
          <p:cNvSpPr/>
          <p:nvPr/>
        </p:nvSpPr>
        <p:spPr>
          <a:xfrm>
            <a:off x="265176" y="6035040"/>
            <a:ext cx="6327648" cy="292608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4"/>
          <p:cNvSpPr/>
          <p:nvPr/>
        </p:nvSpPr>
        <p:spPr>
          <a:xfrm>
            <a:off x="265176" y="6327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5"/>
          <p:cNvSpPr/>
          <p:nvPr/>
        </p:nvSpPr>
        <p:spPr>
          <a:xfrm>
            <a:off x="32004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1374648" y="6035040"/>
            <a:ext cx="1472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12.06</a:t>
            </a:r>
            <a:endParaRPr lang="en-US" sz="740" dirty="0"/>
          </a:p>
        </p:txBody>
      </p:sp>
      <p:sp>
        <p:nvSpPr>
          <p:cNvPr id="71" name="Text 67"/>
          <p:cNvSpPr/>
          <p:nvPr/>
        </p:nvSpPr>
        <p:spPr>
          <a:xfrm>
            <a:off x="2956560" y="6035040"/>
            <a:ext cx="94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2" name="Text 68"/>
          <p:cNvSpPr/>
          <p:nvPr/>
        </p:nvSpPr>
        <p:spPr>
          <a:xfrm>
            <a:off x="4011168" y="6035040"/>
            <a:ext cx="856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−19.5%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4977892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5812790" y="6035040"/>
            <a:ext cx="7251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265176" y="6382512"/>
            <a:ext cx="6327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July load against each zone’s own Q1 run-rate. The order is monotonic: every zone that billed above its Q1 average lost conversion, every zone that billed below it gained. Assortment, pricing and execution do not move that cleanly.</a:t>
            </a:r>
            <a:endParaRPr lang="en-US" sz="680" dirty="0"/>
          </a:p>
        </p:txBody>
      </p:sp>
      <p:sp>
        <p:nvSpPr>
          <p:cNvPr id="76" name="Text 72"/>
          <p:cNvSpPr/>
          <p:nvPr/>
        </p:nvSpPr>
        <p:spPr>
          <a:xfrm>
            <a:off x="265176" y="6711696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load against each zone’s own Q1 run-rate (x) versus July conversion (y)</a:t>
            </a:r>
            <a:endParaRPr lang="en-US" sz="720" dirty="0"/>
          </a:p>
        </p:txBody>
      </p:sp>
      <p:graphicFrame>
        <p:nvGraphicFramePr>
          <p:cNvPr id="77" name="Chart 2"/>
          <p:cNvGraphicFramePr/>
          <p:nvPr/>
        </p:nvGraphicFramePr>
        <p:xfrm>
          <a:off x="246888" y="6912864"/>
          <a:ext cx="6327648" cy="1517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8" name="Text 73"/>
          <p:cNvSpPr/>
          <p:nvPr/>
        </p:nvSpPr>
        <p:spPr>
          <a:xfrm>
            <a:off x="265176" y="8467344"/>
            <a:ext cx="6327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points, one per zone. The downward slope is the finding: conversion falls as the zone bills further above its own quarterly rate.</a:t>
            </a:r>
            <a:endParaRPr lang="en-US" sz="660" dirty="0"/>
          </a:p>
        </p:txBody>
      </p:sp>
      <p:sp>
        <p:nvSpPr>
          <p:cNvPr id="79" name="Shape 74"/>
          <p:cNvSpPr/>
          <p:nvPr/>
        </p:nvSpPr>
        <p:spPr>
          <a:xfrm>
            <a:off x="265176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Shape 75"/>
          <p:cNvSpPr/>
          <p:nvPr/>
        </p:nvSpPr>
        <p:spPr>
          <a:xfrm>
            <a:off x="265176" y="877824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6"/>
          <p:cNvSpPr/>
          <p:nvPr/>
        </p:nvSpPr>
        <p:spPr>
          <a:xfrm>
            <a:off x="347472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CHANGES</a:t>
            </a:r>
            <a:endParaRPr lang="en-US" sz="700" dirty="0"/>
          </a:p>
        </p:txBody>
      </p:sp>
      <p:sp>
        <p:nvSpPr>
          <p:cNvPr id="82" name="Text 77"/>
          <p:cNvSpPr/>
          <p:nvPr/>
        </p:nvSpPr>
        <p:spPr>
          <a:xfrm>
            <a:off x="356616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 is not broken</a:t>
            </a:r>
            <a:endParaRPr lang="en-US" sz="1150" dirty="0"/>
          </a:p>
        </p:txBody>
      </p:sp>
      <p:sp>
        <p:nvSpPr>
          <p:cNvPr id="83" name="Shape 78"/>
          <p:cNvSpPr/>
          <p:nvPr/>
        </p:nvSpPr>
        <p:spPr>
          <a:xfrm>
            <a:off x="374904" y="95417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79"/>
          <p:cNvSpPr/>
          <p:nvPr/>
        </p:nvSpPr>
        <p:spPr>
          <a:xfrm>
            <a:off x="493776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converted at 89.7% across Q1 — second best in the country.</a:t>
            </a:r>
            <a:endParaRPr lang="en-US" sz="690" dirty="0"/>
          </a:p>
        </p:txBody>
      </p:sp>
      <p:sp>
        <p:nvSpPr>
          <p:cNvPr id="85" name="Shape 80"/>
          <p:cNvSpPr/>
          <p:nvPr/>
        </p:nvSpPr>
        <p:spPr>
          <a:xfrm>
            <a:off x="374904" y="988923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1"/>
          <p:cNvSpPr/>
          <p:nvPr/>
        </p:nvSpPr>
        <p:spPr>
          <a:xfrm>
            <a:off x="493776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July primary is 62.8% above its own Q1 monthly run-rate.</a:t>
            </a:r>
            <a:endParaRPr lang="en-US" sz="690" dirty="0"/>
          </a:p>
        </p:txBody>
      </p:sp>
      <p:sp>
        <p:nvSpPr>
          <p:cNvPr id="87" name="Shape 82"/>
          <p:cNvSpPr/>
          <p:nvPr/>
        </p:nvSpPr>
        <p:spPr>
          <a:xfrm>
            <a:off x="374904" y="10236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3"/>
          <p:cNvSpPr/>
          <p:nvPr/>
        </p:nvSpPr>
        <p:spPr>
          <a:xfrm>
            <a:off x="493776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49.9% read on a 63% load spike is arithmetic, not an execution failure.</a:t>
            </a:r>
            <a:endParaRPr lang="en-US" sz="690" dirty="0"/>
          </a:p>
        </p:txBody>
      </p:sp>
      <p:sp>
        <p:nvSpPr>
          <p:cNvPr id="89" name="Shape 84"/>
          <p:cNvSpPr/>
          <p:nvPr/>
        </p:nvSpPr>
        <p:spPr>
          <a:xfrm>
            <a:off x="2410968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5"/>
          <p:cNvSpPr/>
          <p:nvPr/>
        </p:nvSpPr>
        <p:spPr>
          <a:xfrm>
            <a:off x="2410968" y="877824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2493264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TRUE</a:t>
            </a:r>
            <a:endParaRPr lang="en-US" sz="700" dirty="0"/>
          </a:p>
        </p:txBody>
      </p:sp>
      <p:sp>
        <p:nvSpPr>
          <p:cNvPr id="92" name="Text 87"/>
          <p:cNvSpPr/>
          <p:nvPr/>
        </p:nvSpPr>
        <p:spPr>
          <a:xfrm>
            <a:off x="2502408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stock is real</a:t>
            </a:r>
            <a:endParaRPr lang="en-US" sz="1150" dirty="0"/>
          </a:p>
        </p:txBody>
      </p:sp>
      <p:sp>
        <p:nvSpPr>
          <p:cNvPr id="93" name="Shape 88"/>
          <p:cNvSpPr/>
          <p:nvPr/>
        </p:nvSpPr>
        <p:spPr>
          <a:xfrm>
            <a:off x="2520696" y="954176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89"/>
          <p:cNvSpPr/>
          <p:nvPr/>
        </p:nvSpPr>
        <p:spPr>
          <a:xfrm>
            <a:off x="2639568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 is billed and not yet sold through, whatever caused it.</a:t>
            </a:r>
            <a:endParaRPr lang="en-US" sz="690" dirty="0"/>
          </a:p>
        </p:txBody>
      </p:sp>
      <p:sp>
        <p:nvSpPr>
          <p:cNvPr id="95" name="Shape 90"/>
          <p:cNvSpPr/>
          <p:nvPr/>
        </p:nvSpPr>
        <p:spPr>
          <a:xfrm>
            <a:off x="2520696" y="9889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2639568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either sells in August or it suppresses the next order.</a:t>
            </a:r>
            <a:endParaRPr lang="en-US" sz="690" dirty="0"/>
          </a:p>
        </p:txBody>
      </p:sp>
      <p:sp>
        <p:nvSpPr>
          <p:cNvPr id="97" name="Shape 92"/>
          <p:cNvSpPr/>
          <p:nvPr/>
        </p:nvSpPr>
        <p:spPr>
          <a:xfrm>
            <a:off x="2520696" y="102367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3"/>
          <p:cNvSpPr/>
          <p:nvPr/>
        </p:nvSpPr>
        <p:spPr>
          <a:xfrm>
            <a:off x="2639568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₹6.22 Cr benchmark gap stands as an August recovery target.</a:t>
            </a:r>
            <a:endParaRPr lang="en-US" sz="690" dirty="0"/>
          </a:p>
        </p:txBody>
      </p:sp>
      <p:sp>
        <p:nvSpPr>
          <p:cNvPr id="99" name="Shape 94"/>
          <p:cNvSpPr/>
          <p:nvPr/>
        </p:nvSpPr>
        <p:spPr>
          <a:xfrm>
            <a:off x="4556760" y="8778240"/>
            <a:ext cx="2036064" cy="1719072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5"/>
          <p:cNvSpPr/>
          <p:nvPr/>
        </p:nvSpPr>
        <p:spPr>
          <a:xfrm>
            <a:off x="4556760" y="877824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6"/>
          <p:cNvSpPr/>
          <p:nvPr/>
        </p:nvSpPr>
        <p:spPr>
          <a:xfrm>
            <a:off x="4639056" y="879652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DIFFERENTLY</a:t>
            </a:r>
            <a:endParaRPr lang="en-US" sz="700" dirty="0"/>
          </a:p>
        </p:txBody>
      </p:sp>
      <p:sp>
        <p:nvSpPr>
          <p:cNvPr id="102" name="Text 97"/>
          <p:cNvSpPr/>
          <p:nvPr/>
        </p:nvSpPr>
        <p:spPr>
          <a:xfrm>
            <a:off x="4648200" y="9144000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the quarter</a:t>
            </a:r>
            <a:endParaRPr lang="en-US" sz="1150" dirty="0"/>
          </a:p>
        </p:txBody>
      </p:sp>
      <p:sp>
        <p:nvSpPr>
          <p:cNvPr id="103" name="Shape 98"/>
          <p:cNvSpPr/>
          <p:nvPr/>
        </p:nvSpPr>
        <p:spPr>
          <a:xfrm>
            <a:off x="4666488" y="95417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99"/>
          <p:cNvSpPr/>
          <p:nvPr/>
        </p:nvSpPr>
        <p:spPr>
          <a:xfrm>
            <a:off x="4785360" y="949147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conversion on a rolling quarter, never on the opening month.</a:t>
            </a:r>
            <a:endParaRPr lang="en-US" sz="690" dirty="0"/>
          </a:p>
        </p:txBody>
      </p:sp>
      <p:sp>
        <p:nvSpPr>
          <p:cNvPr id="105" name="Shape 100"/>
          <p:cNvSpPr/>
          <p:nvPr/>
        </p:nvSpPr>
        <p:spPr>
          <a:xfrm>
            <a:off x="4666488" y="988923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1"/>
          <p:cNvSpPr/>
          <p:nvPr/>
        </p:nvSpPr>
        <p:spPr>
          <a:xfrm>
            <a:off x="4785360" y="9838944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month-1 primary at the trailing quarterly run-rate, by zone.</a:t>
            </a:r>
            <a:endParaRPr lang="en-US" sz="690" dirty="0"/>
          </a:p>
        </p:txBody>
      </p:sp>
      <p:sp>
        <p:nvSpPr>
          <p:cNvPr id="107" name="Shape 102"/>
          <p:cNvSpPr/>
          <p:nvPr/>
        </p:nvSpPr>
        <p:spPr>
          <a:xfrm>
            <a:off x="4666488" y="102367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3"/>
          <p:cNvSpPr/>
          <p:nvPr/>
        </p:nvSpPr>
        <p:spPr>
          <a:xfrm>
            <a:off x="4785360" y="10186416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Re-read East and North in the August pack before funding any intervention.</a:t>
            </a:r>
            <a:endParaRPr lang="en-US" sz="690" dirty="0"/>
          </a:p>
        </p:txBody>
      </p:sp>
      <p:sp>
        <p:nvSpPr>
          <p:cNvPr id="109" name="Shape 104"/>
          <p:cNvSpPr/>
          <p:nvPr/>
        </p:nvSpPr>
        <p:spPr>
          <a:xfrm>
            <a:off x="265176" y="10643616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Text 105"/>
          <p:cNvSpPr/>
          <p:nvPr/>
        </p:nvSpPr>
        <p:spPr>
          <a:xfrm>
            <a:off x="393192" y="10716768"/>
            <a:ext cx="6071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REST OF THIS PACK WITH THIS IN MIND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pages that follow report July on its own, because that is the month under review. Every July conversion figure in them is depressed by the quarter-opening load shown above. Use them to locate where the billed stock sits — not to rank zone capability. Q1 already did that, and it ranked North and East first.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Convert reporting into a State × Chain × SKU growth engine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| measures in force now, and the fields still to be reconciled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validated growth levers are live; SAH / WD / PDO / OOS fields not yet field-reconciled for July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without field reconciliation treat stock-timing noise as demand signal and risk driving wrong actions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SAH, WD and OOS for August cycle; add PDO by state-chain; publish validated diagnostic by 31-Aug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| 31-Aug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841248"/>
          </a:xfrm>
          <a:prstGeom prst="roundRect">
            <a:avLst>
              <a:gd name="adj" fmla="val 326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decision is not "push more primary" — it is "find proven demand constrained by execution."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173736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rules below are live on July data. SAH, PDO, OOS and stock fields join only after reconciliation — they are named as gaps, not quoted as findings.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65176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METRIC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56616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conversion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74904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93776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÷ primary on comparable mapped cuts.</a:t>
            </a:r>
            <a:endParaRPr lang="en-US" sz="690" dirty="0"/>
          </a:p>
        </p:txBody>
      </p:sp>
      <p:sp>
        <p:nvSpPr>
          <p:cNvPr id="29" name="Shape 27"/>
          <p:cNvSpPr/>
          <p:nvPr/>
        </p:nvSpPr>
        <p:spPr>
          <a:xfrm>
            <a:off x="374904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93776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KPI is supporting, not equal.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374904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93776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73.4% → above 85% this quarter.</a:t>
            </a:r>
            <a:endParaRPr lang="en-US" sz="690" dirty="0"/>
          </a:p>
        </p:txBody>
      </p:sp>
      <p:sp>
        <p:nvSpPr>
          <p:cNvPr id="33" name="Shape 31"/>
          <p:cNvSpPr/>
          <p:nvPr/>
        </p:nvSpPr>
        <p:spPr>
          <a:xfrm>
            <a:off x="374904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3776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by zone and chain — never as a national average alone.</a:t>
            </a:r>
            <a:endParaRPr lang="en-US" sz="690" dirty="0"/>
          </a:p>
        </p:txBody>
      </p:sp>
      <p:sp>
        <p:nvSpPr>
          <p:cNvPr id="35" name="Shape 33"/>
          <p:cNvSpPr/>
          <p:nvPr/>
        </p:nvSpPr>
        <p:spPr>
          <a:xfrm>
            <a:off x="2420112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420112" y="2231136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502408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511552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2529840" y="30312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648712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growth % is shown, ranked or coloured below this base.</a:t>
            </a:r>
            <a:endParaRPr lang="en-US" sz="690" dirty="0"/>
          </a:p>
        </p:txBody>
      </p:sp>
      <p:sp>
        <p:nvSpPr>
          <p:cNvPr id="41" name="Shape 39"/>
          <p:cNvSpPr/>
          <p:nvPr/>
        </p:nvSpPr>
        <p:spPr>
          <a:xfrm>
            <a:off x="2529840" y="33969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648712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43" name="Shape 41"/>
          <p:cNvSpPr/>
          <p:nvPr/>
        </p:nvSpPr>
        <p:spPr>
          <a:xfrm>
            <a:off x="2529840" y="37627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648712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8 of 13 rows from the chain scorecard.</a:t>
            </a:r>
            <a:endParaRPr lang="en-US" sz="690" dirty="0"/>
          </a:p>
        </p:txBody>
      </p:sp>
      <p:sp>
        <p:nvSpPr>
          <p:cNvPr id="45" name="Shape 43"/>
          <p:cNvSpPr/>
          <p:nvPr/>
        </p:nvSpPr>
        <p:spPr>
          <a:xfrm>
            <a:off x="2529840" y="4128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2648712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 ₹1 lakh move outranking a ₹1.42 Cr decline.</a:t>
            </a:r>
            <a:endParaRPr lang="en-US" sz="690" dirty="0"/>
          </a:p>
        </p:txBody>
      </p:sp>
      <p:sp>
        <p:nvSpPr>
          <p:cNvPr id="47" name="Shape 45"/>
          <p:cNvSpPr/>
          <p:nvPr/>
        </p:nvSpPr>
        <p:spPr>
          <a:xfrm>
            <a:off x="4575048" y="2231136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575048" y="2231136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57344" y="2249424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PRODUCTIVITY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4666488" y="2596896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SPD = share ÷ WD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4684776" y="30312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03648" y="298094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weighted distribution.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4684776" y="33969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4803648" y="334670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0.118 · Shampoo 0.045 · TDC FW 0.015.</a:t>
            </a:r>
            <a:endParaRPr lang="en-US" sz="690" dirty="0"/>
          </a:p>
        </p:txBody>
      </p:sp>
      <p:sp>
        <p:nvSpPr>
          <p:cNvPr id="55" name="Shape 53"/>
          <p:cNvSpPr/>
          <p:nvPr/>
        </p:nvSpPr>
        <p:spPr>
          <a:xfrm>
            <a:off x="4684776" y="37627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803648" y="371246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SPD on wide WD means fix the shelf, not add doors.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4684776" y="412851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4803648" y="4078224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with PDO once store-count fields reconcile.</a:t>
            </a:r>
            <a:endParaRPr lang="en-US" sz="690" dirty="0"/>
          </a:p>
        </p:txBody>
      </p:sp>
      <p:sp>
        <p:nvSpPr>
          <p:cNvPr id="59" name="Shape 57"/>
          <p:cNvSpPr/>
          <p:nvPr/>
        </p:nvSpPr>
        <p:spPr>
          <a:xfrm>
            <a:off x="265176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265176" y="4809744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47472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GROSS, NEVER NET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56616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gap lines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374904" y="560984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gap = billed but unsold. ₹13.27 Cr.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374904" y="5975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gap = sold but unmapped. ₹2.23 Cr.</a:t>
            </a:r>
            <a:endParaRPr lang="en-US" sz="690" dirty="0"/>
          </a:p>
        </p:txBody>
      </p:sp>
      <p:sp>
        <p:nvSpPr>
          <p:cNvPr id="67" name="Shape 65"/>
          <p:cNvSpPr/>
          <p:nvPr/>
        </p:nvSpPr>
        <p:spPr>
          <a:xfrm>
            <a:off x="374904" y="634136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Netting them hid ₹2.06 Cr of recoverable value.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670712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and zone gaps must share one stated base.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2420112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420112" y="4809744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2502408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× FLOW RULE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511552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Scale / Fix / Hold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2529840" y="560984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2648712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up + offtake up → scale.</a:t>
            </a:r>
            <a:endParaRPr lang="en-US" sz="690" dirty="0"/>
          </a:p>
        </p:txBody>
      </p:sp>
      <p:sp>
        <p:nvSpPr>
          <p:cNvPr id="77" name="Shape 75"/>
          <p:cNvSpPr/>
          <p:nvPr/>
        </p:nvSpPr>
        <p:spPr>
          <a:xfrm>
            <a:off x="2529840" y="5975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2648712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up + offtake weak → stop loading.</a:t>
            </a:r>
            <a:endParaRPr lang="en-US" sz="690" dirty="0"/>
          </a:p>
        </p:txBody>
      </p:sp>
      <p:sp>
        <p:nvSpPr>
          <p:cNvPr id="79" name="Shape 77"/>
          <p:cNvSpPr/>
          <p:nvPr/>
        </p:nvSpPr>
        <p:spPr>
          <a:xfrm>
            <a:off x="2529840" y="634136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48712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up + supply weak → replenish.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9840" y="670712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48712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down → validate competitor or OOS transfer first.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4575048" y="4809744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4575048" y="4809744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657344" y="482803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BEFORE YOU ACT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666488" y="5175504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Expected value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4684776" y="560984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803648" y="555955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every action by ₹ at stake × likelihood × cost.</a:t>
            </a:r>
            <a:endParaRPr lang="en-US" sz="690" dirty="0"/>
          </a:p>
        </p:txBody>
      </p:sp>
      <p:sp>
        <p:nvSpPr>
          <p:cNvPr id="89" name="Shape 87"/>
          <p:cNvSpPr/>
          <p:nvPr/>
        </p:nvSpPr>
        <p:spPr>
          <a:xfrm>
            <a:off x="4684776" y="597560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803648" y="592531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a zone that already performs, not a target.</a:t>
            </a:r>
            <a:endParaRPr lang="en-US" sz="690" dirty="0"/>
          </a:p>
        </p:txBody>
      </p:sp>
      <p:sp>
        <p:nvSpPr>
          <p:cNvPr id="91" name="Shape 89"/>
          <p:cNvSpPr/>
          <p:nvPr/>
        </p:nvSpPr>
        <p:spPr>
          <a:xfrm>
            <a:off x="4684776" y="634136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803648" y="629107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do-nothing baseline so an action can be killed.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84776" y="670712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803648" y="6656832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 only after a controlled pilot.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265176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265176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347472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AVAILABILITY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356616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Must-stock first</a:t>
            </a:r>
            <a:endParaRPr lang="en-US" sz="1150" dirty="0"/>
          </a:p>
        </p:txBody>
      </p:sp>
      <p:sp>
        <p:nvSpPr>
          <p:cNvPr id="99" name="Shape 97"/>
          <p:cNvSpPr/>
          <p:nvPr/>
        </p:nvSpPr>
        <p:spPr>
          <a:xfrm>
            <a:off x="374904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93776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hero availability %, not SKU count.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374904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493776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#1 hero should fail the assortment score outright.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374904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tail follows proven heroes — never leads them.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availability before any discounting.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420112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2420112" y="7388352"/>
            <a:ext cx="2017776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502408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2511552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pack roles</a:t>
            </a:r>
            <a:endParaRPr lang="en-US" sz="1150" dirty="0"/>
          </a:p>
        </p:txBody>
      </p:sp>
      <p:sp>
        <p:nvSpPr>
          <p:cNvPr id="111" name="Shape 109"/>
          <p:cNvSpPr/>
          <p:nvPr/>
        </p:nvSpPr>
        <p:spPr>
          <a:xfrm>
            <a:off x="2529840" y="81884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2648712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core-volume · premium upgrade · dead.</a:t>
            </a:r>
            <a:endParaRPr lang="en-US" sz="690" dirty="0"/>
          </a:p>
        </p:txBody>
      </p:sp>
      <p:sp>
        <p:nvSpPr>
          <p:cNvPr id="113" name="Shape 111"/>
          <p:cNvSpPr/>
          <p:nvPr/>
        </p:nvSpPr>
        <p:spPr>
          <a:xfrm>
            <a:off x="2529840" y="85542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2648712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format gets every pack.</a:t>
            </a:r>
            <a:endParaRPr lang="en-US" sz="690" dirty="0"/>
          </a:p>
        </p:txBody>
      </p:sp>
      <p:sp>
        <p:nvSpPr>
          <p:cNvPr id="115" name="Shape 113"/>
          <p:cNvSpPr/>
          <p:nvPr/>
        </p:nvSpPr>
        <p:spPr>
          <a:xfrm>
            <a:off x="2529840" y="891997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48712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dead packs before adding new ones.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9840" y="92857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48712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 pack on sales per store, not listings won.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4575048" y="7388352"/>
            <a:ext cx="2017776" cy="2432304"/>
          </a:xfrm>
          <a:prstGeom prst="roundRect">
            <a:avLst>
              <a:gd name="adj" fmla="val 90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8"/>
          <p:cNvSpPr/>
          <p:nvPr/>
        </p:nvSpPr>
        <p:spPr>
          <a:xfrm>
            <a:off x="4575048" y="7388352"/>
            <a:ext cx="2017776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657344" y="740664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FIELDS STILL MISSING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4666488" y="7754112"/>
            <a:ext cx="1834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Reconcile first</a:t>
            </a:r>
            <a:endParaRPr lang="en-US" sz="1150" dirty="0"/>
          </a:p>
        </p:txBody>
      </p:sp>
      <p:sp>
        <p:nvSpPr>
          <p:cNvPr id="123" name="Shape 121"/>
          <p:cNvSpPr/>
          <p:nvPr/>
        </p:nvSpPr>
        <p:spPr>
          <a:xfrm>
            <a:off x="4684776" y="818845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4803648" y="813816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25" name="Shape 123"/>
          <p:cNvSpPr/>
          <p:nvPr/>
        </p:nvSpPr>
        <p:spPr>
          <a:xfrm>
            <a:off x="4684776" y="855421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4803648" y="850392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them, cause is inferred and not measured.</a:t>
            </a:r>
            <a:endParaRPr lang="en-US" sz="690" dirty="0"/>
          </a:p>
        </p:txBody>
      </p:sp>
      <p:sp>
        <p:nvSpPr>
          <p:cNvPr id="127" name="Shape 125"/>
          <p:cNvSpPr/>
          <p:nvPr/>
        </p:nvSpPr>
        <p:spPr>
          <a:xfrm>
            <a:off x="4684776" y="891997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803648" y="886968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factless store × article × month table supplies the denominator.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84776" y="9285732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803648" y="9235440"/>
            <a:ext cx="1679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claim until these tie to source.</a:t>
            </a:r>
            <a:endParaRPr lang="en-US" sz="69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shelf is already wide — Mamaearth is under-earning on it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| share and weighted distribution, MAT Jun 2026 | pack detail May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MT share rose to 3.7%; Nielsen RMS MAT Jun-26 confirms demand pull — weighted distribution running ahead of value share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is the fastest-growing segment in MT — delay in expanding controlled pack pilots codes early-mover advantage to competitors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controlled pack pilots (top 3 formats) in DMart and Apollo; protect Face Wash hero EAN availability above 95% in top-100 stores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/ Apollo | Pilots by 15-Sep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RMS June 2026 value share · Market_Share_By_PackSize_June26 · share-per-point derived as value share ÷ weighted distribution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10.5%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share · 89.0% WD · SPD #4 of 6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3.7%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share · 81.5% WD · SPD #6 of 6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 WD — a genuine width gap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AT PEER RATE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+7.9 pts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categories, no new doors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1480" y="23225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Garnier holds the same shelf we do and earns 3.7 share points more from it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4632" y="2596896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90.3% weighted distribution → 14.2% share.  Mamaearth 89.0% → 10.5%. Distribution is not the constraint in Face Wash, and it is not the constraint in Shampoo either — we hold 81.5% of the shelf and earn the lowest share per point of the top six brands.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65176" y="30906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74904" y="31089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PER POINT OF DISTRIBUTION — RANKED (MAT JUN 2026)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65176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265176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48" name="Text 46"/>
          <p:cNvSpPr/>
          <p:nvPr/>
        </p:nvSpPr>
        <p:spPr>
          <a:xfrm>
            <a:off x="1450774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49" name="Text 47"/>
          <p:cNvSpPr/>
          <p:nvPr/>
        </p:nvSpPr>
        <p:spPr>
          <a:xfrm>
            <a:off x="1948296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50" name="Text 48"/>
          <p:cNvSpPr/>
          <p:nvPr/>
        </p:nvSpPr>
        <p:spPr>
          <a:xfrm>
            <a:off x="240059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51" name="Text 49"/>
          <p:cNvSpPr/>
          <p:nvPr/>
        </p:nvSpPr>
        <p:spPr>
          <a:xfrm>
            <a:off x="2898113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52" name="Shape 50"/>
          <p:cNvSpPr/>
          <p:nvPr/>
        </p:nvSpPr>
        <p:spPr>
          <a:xfrm>
            <a:off x="265176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Himalaya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1450774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22.6%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1948296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40059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99.8%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898113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0.226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65176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20040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450774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14.2%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948296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40059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2898113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0.157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65176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65176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320040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Pond's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1450774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948296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240059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98.8%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898113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5176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320040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1450774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10.5%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948296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240059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898113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0.118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65176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265176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Clear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1450774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1948296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40059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2898113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65176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20040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450774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0.4%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1948296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240059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27.3%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2898113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0.015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02152" y="34381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720" dirty="0"/>
          </a:p>
        </p:txBody>
      </p:sp>
      <p:sp>
        <p:nvSpPr>
          <p:cNvPr id="92" name="Shape 90"/>
          <p:cNvSpPr/>
          <p:nvPr/>
        </p:nvSpPr>
        <p:spPr>
          <a:xfrm>
            <a:off x="3502152" y="3621024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3557016" y="3639312"/>
            <a:ext cx="10210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94" name="Text 92"/>
          <p:cNvSpPr/>
          <p:nvPr/>
        </p:nvSpPr>
        <p:spPr>
          <a:xfrm>
            <a:off x="4687750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660" dirty="0"/>
          </a:p>
        </p:txBody>
      </p:sp>
      <p:sp>
        <p:nvSpPr>
          <p:cNvPr id="95" name="Text 93"/>
          <p:cNvSpPr/>
          <p:nvPr/>
        </p:nvSpPr>
        <p:spPr>
          <a:xfrm>
            <a:off x="5185272" y="3639312"/>
            <a:ext cx="34256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endParaRPr lang="en-US" sz="660" dirty="0"/>
          </a:p>
        </p:txBody>
      </p:sp>
      <p:sp>
        <p:nvSpPr>
          <p:cNvPr id="96" name="Text 94"/>
          <p:cNvSpPr/>
          <p:nvPr/>
        </p:nvSpPr>
        <p:spPr>
          <a:xfrm>
            <a:off x="5637566" y="3639312"/>
            <a:ext cx="387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</a:t>
            </a:r>
            <a:endParaRPr lang="en-US" sz="660" dirty="0"/>
          </a:p>
        </p:txBody>
      </p:sp>
      <p:sp>
        <p:nvSpPr>
          <p:cNvPr id="97" name="Text 95"/>
          <p:cNvSpPr/>
          <p:nvPr/>
        </p:nvSpPr>
        <p:spPr>
          <a:xfrm>
            <a:off x="6135089" y="3639312"/>
            <a:ext cx="4028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</a:t>
            </a:r>
            <a:endParaRPr lang="en-US" sz="660" dirty="0"/>
          </a:p>
        </p:txBody>
      </p:sp>
      <p:sp>
        <p:nvSpPr>
          <p:cNvPr id="98" name="Shape 96"/>
          <p:cNvSpPr/>
          <p:nvPr/>
        </p:nvSpPr>
        <p:spPr>
          <a:xfrm>
            <a:off x="3502152" y="3877056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3502152" y="411480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3557016" y="387705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4687750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16.6%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5185272" y="387705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5637566" y="387705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6135089" y="387705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0.166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3502152" y="435254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3557016" y="4114800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L'Oréal Paris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687750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700" dirty="0"/>
          </a:p>
        </p:txBody>
      </p:sp>
      <p:sp>
        <p:nvSpPr>
          <p:cNvPr id="108" name="Text 106"/>
          <p:cNvSpPr/>
          <p:nvPr/>
        </p:nvSpPr>
        <p:spPr>
          <a:xfrm>
            <a:off x="5185272" y="4114800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5637566" y="4114800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6135089" y="4114800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0.140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3502152" y="4352544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3502152" y="459028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3557016" y="4352544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&amp; Shoulders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87750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5185272" y="4352544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5637566" y="4352544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99.6%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35089" y="4352544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0.131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02152" y="4828032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3557016" y="4590288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Sunsilk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4687750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5185272" y="4590288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5637566" y="4590288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135089" y="4590288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3502152" y="482803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3502152" y="506577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3557016" y="4828032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Plus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4687750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5185272" y="4828032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5637566" y="4828032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6135089" y="4828032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0.097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3502152" y="530352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3557016" y="5065776"/>
            <a:ext cx="102100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4687750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3.7%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5185272" y="5065776"/>
            <a:ext cx="34256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5637566" y="5065776"/>
            <a:ext cx="3877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81.5%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6135089" y="5065776"/>
            <a:ext cx="40287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0.045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265176" y="5358384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SPD = value share ÷ weighted distribution: the share each point of shelf presence earns. Numeric distribution (ND) is not supplied in any source we hold, so share = ND × (WD ÷ ND) × SPD can only be read on its last term — we cannot yet tell whether 89.0% WD means most stores or a few very large ones. SPD here is a hand-cut stand-in for the MS vs TDP Index already written in PowerBI/DAX/05_TDP_Measures.dax, which cannot run until the TDP feed exists.</a:t>
            </a:r>
            <a:endParaRPr lang="en-US" sz="650" dirty="0"/>
          </a:p>
        </p:txBody>
      </p:sp>
      <p:sp>
        <p:nvSpPr>
          <p:cNvPr id="138" name="Shape 136"/>
          <p:cNvSpPr/>
          <p:nvPr/>
        </p:nvSpPr>
        <p:spPr>
          <a:xfrm>
            <a:off x="265176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265176" y="5760720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47472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WASH — CLOSE TO GARNIER</a:t>
            </a:r>
            <a:endParaRPr lang="en-US" sz="700" dirty="0"/>
          </a:p>
        </p:txBody>
      </p:sp>
      <p:sp>
        <p:nvSpPr>
          <p:cNvPr id="141" name="Text 139"/>
          <p:cNvSpPr/>
          <p:nvPr/>
        </p:nvSpPr>
        <p:spPr>
          <a:xfrm>
            <a:off x="356616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+3.7 pts  ·  ~₹3.0 Cr / month</a:t>
            </a:r>
            <a:endParaRPr lang="en-US" sz="1250" dirty="0"/>
          </a:p>
        </p:txBody>
      </p:sp>
      <p:sp>
        <p:nvSpPr>
          <p:cNvPr id="142" name="Text 140"/>
          <p:cNvSpPr/>
          <p:nvPr/>
        </p:nvSpPr>
        <p:spPr>
          <a:xfrm>
            <a:off x="356616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Face Wash ≈ ₹81 Cr / month, so one share point is worth ₹0.81 Cr</a:t>
            </a:r>
            <a:endParaRPr lang="en-US" sz="630" dirty="0"/>
          </a:p>
        </p:txBody>
      </p:sp>
      <p:sp>
        <p:nvSpPr>
          <p:cNvPr id="143" name="Shape 141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Garnier earns 14.2% on 90.3% WD; we earn 10.5% on 89.0%.</a:t>
            </a:r>
            <a:endParaRPr lang="en-US" sz="690" dirty="0"/>
          </a:p>
        </p:txBody>
      </p:sp>
      <p:sp>
        <p:nvSpPr>
          <p:cNvPr id="145" name="Shape 143"/>
          <p:cNvSpPr/>
          <p:nvPr/>
        </p:nvSpPr>
        <p:spPr>
          <a:xfrm>
            <a:off x="374904" y="6954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493776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shelf, 26% less share per point. The gap is velocity, not reach.</a:t>
            </a:r>
            <a:endParaRPr lang="en-US" sz="690" dirty="0"/>
          </a:p>
        </p:txBody>
      </p:sp>
      <p:sp>
        <p:nvSpPr>
          <p:cNvPr id="147" name="Shape 145"/>
          <p:cNvSpPr/>
          <p:nvPr/>
        </p:nvSpPr>
        <p:spPr>
          <a:xfrm>
            <a:off x="3502152" y="5760720"/>
            <a:ext cx="3090672" cy="1444752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3502152" y="576072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584448" y="5779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REACH THE WEAKEST PEER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3593592" y="6126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+4.2 pts  ·  ~₹6.9 Cr / month</a:t>
            </a:r>
            <a:endParaRPr lang="en-US" sz="1250" dirty="0"/>
          </a:p>
        </p:txBody>
      </p:sp>
      <p:sp>
        <p:nvSpPr>
          <p:cNvPr id="151" name="Text 149"/>
          <p:cNvSpPr/>
          <p:nvPr/>
        </p:nvSpPr>
        <p:spPr>
          <a:xfrm>
            <a:off x="3593592" y="6419088"/>
            <a:ext cx="2907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MT Shampoo ≈ ₹164 Cr / month, so one share point is worth ₹1.64 Cr</a:t>
            </a:r>
            <a:endParaRPr lang="en-US" sz="630" dirty="0"/>
          </a:p>
        </p:txBody>
      </p:sp>
      <p:sp>
        <p:nvSpPr>
          <p:cNvPr id="152" name="Shape 150"/>
          <p:cNvSpPr/>
          <p:nvPr/>
        </p:nvSpPr>
        <p:spPr>
          <a:xfrm>
            <a:off x="3611880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6620256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Sunsilk's 0.097 — the weakest of the five peers — 81.5% WD yields 7.9%.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3611880" y="6954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3730752" y="6903720"/>
            <a:ext cx="2752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conservative benchmark; the peer median is 0.131.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265176" y="73334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74904" y="735177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ARCHITECTURE — WHERE THE VOLUME ACTUALLY SITS (MAY 2026)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65176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Wash</a:t>
            </a:r>
            <a:endParaRPr lang="en-US" sz="720" dirty="0"/>
          </a:p>
        </p:txBody>
      </p:sp>
      <p:sp>
        <p:nvSpPr>
          <p:cNvPr id="159" name="Shape 157"/>
          <p:cNvSpPr/>
          <p:nvPr/>
        </p:nvSpPr>
        <p:spPr>
          <a:xfrm>
            <a:off x="265176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0" name="Text 158"/>
          <p:cNvSpPr/>
          <p:nvPr/>
        </p:nvSpPr>
        <p:spPr>
          <a:xfrm>
            <a:off x="320040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61" name="Text 159"/>
          <p:cNvSpPr/>
          <p:nvPr/>
        </p:nvSpPr>
        <p:spPr>
          <a:xfrm>
            <a:off x="1323505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62" name="Text 160"/>
          <p:cNvSpPr/>
          <p:nvPr/>
        </p:nvSpPr>
        <p:spPr>
          <a:xfrm>
            <a:off x="1945653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63" name="Text 161"/>
          <p:cNvSpPr/>
          <p:nvPr/>
        </p:nvSpPr>
        <p:spPr>
          <a:xfrm>
            <a:off x="2668148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64" name="Shape 162"/>
          <p:cNvSpPr/>
          <p:nvPr/>
        </p:nvSpPr>
        <p:spPr>
          <a:xfrm>
            <a:off x="265176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265176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6" name="Text 164"/>
          <p:cNvSpPr/>
          <p:nvPr/>
        </p:nvSpPr>
        <p:spPr>
          <a:xfrm>
            <a:off x="320040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1323505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700" dirty="0"/>
          </a:p>
        </p:txBody>
      </p:sp>
      <p:sp>
        <p:nvSpPr>
          <p:cNvPr id="168" name="Text 166"/>
          <p:cNvSpPr/>
          <p:nvPr/>
        </p:nvSpPr>
        <p:spPr>
          <a:xfrm>
            <a:off x="1945653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5.53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2668148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+98%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265176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1" name="Text 169"/>
          <p:cNvSpPr/>
          <p:nvPr/>
        </p:nvSpPr>
        <p:spPr>
          <a:xfrm>
            <a:off x="320040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ml</a:t>
            </a:r>
            <a:endParaRPr lang="en-US" sz="700" dirty="0"/>
          </a:p>
        </p:txBody>
      </p:sp>
      <p:sp>
        <p:nvSpPr>
          <p:cNvPr id="172" name="Text 170"/>
          <p:cNvSpPr/>
          <p:nvPr/>
        </p:nvSpPr>
        <p:spPr>
          <a:xfrm>
            <a:off x="1323505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1945653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1.96</a:t>
            </a:r>
            <a:endParaRPr lang="en-US" sz="700" dirty="0"/>
          </a:p>
        </p:txBody>
      </p:sp>
      <p:sp>
        <p:nvSpPr>
          <p:cNvPr id="174" name="Text 172"/>
          <p:cNvSpPr/>
          <p:nvPr/>
        </p:nvSpPr>
        <p:spPr>
          <a:xfrm>
            <a:off x="2668148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−11%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65176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6" name="Shape 174"/>
          <p:cNvSpPr/>
          <p:nvPr/>
        </p:nvSpPr>
        <p:spPr>
          <a:xfrm>
            <a:off x="265176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7" name="Text 175"/>
          <p:cNvSpPr/>
          <p:nvPr/>
        </p:nvSpPr>
        <p:spPr>
          <a:xfrm>
            <a:off x="320040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ml</a:t>
            </a:r>
            <a:endParaRPr lang="en-US" sz="700" dirty="0"/>
          </a:p>
        </p:txBody>
      </p:sp>
      <p:sp>
        <p:nvSpPr>
          <p:cNvPr id="178" name="Text 176"/>
          <p:cNvSpPr/>
          <p:nvPr/>
        </p:nvSpPr>
        <p:spPr>
          <a:xfrm>
            <a:off x="1323505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1945653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1.06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2668148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181" name="Shape 179"/>
          <p:cNvSpPr/>
          <p:nvPr/>
        </p:nvSpPr>
        <p:spPr>
          <a:xfrm>
            <a:off x="265176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2" name="Text 180"/>
          <p:cNvSpPr/>
          <p:nvPr/>
        </p:nvSpPr>
        <p:spPr>
          <a:xfrm>
            <a:off x="320040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ml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1323505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1945653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2668148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3502152" y="768096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</a:t>
            </a:r>
            <a:endParaRPr lang="en-US" sz="720" dirty="0"/>
          </a:p>
        </p:txBody>
      </p:sp>
      <p:sp>
        <p:nvSpPr>
          <p:cNvPr id="187" name="Shape 185"/>
          <p:cNvSpPr/>
          <p:nvPr/>
        </p:nvSpPr>
        <p:spPr>
          <a:xfrm>
            <a:off x="3502152" y="7863840"/>
            <a:ext cx="3090672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3557016" y="7882128"/>
            <a:ext cx="89373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660" dirty="0"/>
          </a:p>
        </p:txBody>
      </p:sp>
      <p:sp>
        <p:nvSpPr>
          <p:cNvPr id="189" name="Text 187"/>
          <p:cNvSpPr/>
          <p:nvPr/>
        </p:nvSpPr>
        <p:spPr>
          <a:xfrm>
            <a:off x="4560481" y="7882128"/>
            <a:ext cx="512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190" name="Text 188"/>
          <p:cNvSpPr/>
          <p:nvPr/>
        </p:nvSpPr>
        <p:spPr>
          <a:xfrm>
            <a:off x="5182629" y="7882128"/>
            <a:ext cx="6127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191" name="Text 189"/>
          <p:cNvSpPr/>
          <p:nvPr/>
        </p:nvSpPr>
        <p:spPr>
          <a:xfrm>
            <a:off x="5905124" y="7882128"/>
            <a:ext cx="632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660" dirty="0"/>
          </a:p>
        </p:txBody>
      </p:sp>
      <p:sp>
        <p:nvSpPr>
          <p:cNvPr id="192" name="Shape 190"/>
          <p:cNvSpPr/>
          <p:nvPr/>
        </p:nvSpPr>
        <p:spPr>
          <a:xfrm>
            <a:off x="3502152" y="8119872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3" name="Shape 191"/>
          <p:cNvSpPr/>
          <p:nvPr/>
        </p:nvSpPr>
        <p:spPr>
          <a:xfrm>
            <a:off x="3502152" y="8357616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4" name="Text 192"/>
          <p:cNvSpPr/>
          <p:nvPr/>
        </p:nvSpPr>
        <p:spPr>
          <a:xfrm>
            <a:off x="3557016" y="8119872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ml</a:t>
            </a:r>
            <a:endParaRPr lang="en-US" sz="700" dirty="0"/>
          </a:p>
        </p:txBody>
      </p:sp>
      <p:sp>
        <p:nvSpPr>
          <p:cNvPr id="195" name="Text 193"/>
          <p:cNvSpPr/>
          <p:nvPr/>
        </p:nvSpPr>
        <p:spPr>
          <a:xfrm>
            <a:off x="4560481" y="8119872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700" dirty="0"/>
          </a:p>
        </p:txBody>
      </p:sp>
      <p:sp>
        <p:nvSpPr>
          <p:cNvPr id="196" name="Text 194"/>
          <p:cNvSpPr/>
          <p:nvPr/>
        </p:nvSpPr>
        <p:spPr>
          <a:xfrm>
            <a:off x="5182629" y="8119872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4.96</a:t>
            </a:r>
            <a:endParaRPr lang="en-US" sz="700" dirty="0"/>
          </a:p>
        </p:txBody>
      </p:sp>
      <p:sp>
        <p:nvSpPr>
          <p:cNvPr id="197" name="Text 195"/>
          <p:cNvSpPr/>
          <p:nvPr/>
        </p:nvSpPr>
        <p:spPr>
          <a:xfrm>
            <a:off x="5905124" y="8119872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700" dirty="0"/>
          </a:p>
        </p:txBody>
      </p:sp>
      <p:sp>
        <p:nvSpPr>
          <p:cNvPr id="198" name="Shape 196"/>
          <p:cNvSpPr/>
          <p:nvPr/>
        </p:nvSpPr>
        <p:spPr>
          <a:xfrm>
            <a:off x="3502152" y="8595360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9" name="Text 197"/>
          <p:cNvSpPr/>
          <p:nvPr/>
        </p:nvSpPr>
        <p:spPr>
          <a:xfrm>
            <a:off x="3557016" y="8357616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ml</a:t>
            </a:r>
            <a:endParaRPr lang="en-US" sz="700" dirty="0"/>
          </a:p>
        </p:txBody>
      </p:sp>
      <p:sp>
        <p:nvSpPr>
          <p:cNvPr id="200" name="Text 198"/>
          <p:cNvSpPr/>
          <p:nvPr/>
        </p:nvSpPr>
        <p:spPr>
          <a:xfrm>
            <a:off x="4560481" y="8357616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182629" y="8357616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700" dirty="0"/>
          </a:p>
        </p:txBody>
      </p:sp>
      <p:sp>
        <p:nvSpPr>
          <p:cNvPr id="202" name="Text 200"/>
          <p:cNvSpPr/>
          <p:nvPr/>
        </p:nvSpPr>
        <p:spPr>
          <a:xfrm>
            <a:off x="5905124" y="8357616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−7%</a:t>
            </a:r>
            <a:endParaRPr lang="en-US" sz="700" dirty="0"/>
          </a:p>
        </p:txBody>
      </p:sp>
      <p:sp>
        <p:nvSpPr>
          <p:cNvPr id="203" name="Shape 201"/>
          <p:cNvSpPr/>
          <p:nvPr/>
        </p:nvSpPr>
        <p:spPr>
          <a:xfrm>
            <a:off x="3502152" y="8595360"/>
            <a:ext cx="3090672" cy="23774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4" name="Shape 202"/>
          <p:cNvSpPr/>
          <p:nvPr/>
        </p:nvSpPr>
        <p:spPr>
          <a:xfrm>
            <a:off x="3502152" y="8833104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5" name="Text 203"/>
          <p:cNvSpPr/>
          <p:nvPr/>
        </p:nvSpPr>
        <p:spPr>
          <a:xfrm>
            <a:off x="3557016" y="8595360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ml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4560481" y="8595360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700" dirty="0"/>
          </a:p>
        </p:txBody>
      </p:sp>
      <p:sp>
        <p:nvSpPr>
          <p:cNvPr id="207" name="Text 205"/>
          <p:cNvSpPr/>
          <p:nvPr/>
        </p:nvSpPr>
        <p:spPr>
          <a:xfrm>
            <a:off x="5182629" y="8595360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905124" y="8595360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00" dirty="0"/>
          </a:p>
        </p:txBody>
      </p:sp>
      <p:sp>
        <p:nvSpPr>
          <p:cNvPr id="209" name="Shape 207"/>
          <p:cNvSpPr/>
          <p:nvPr/>
        </p:nvSpPr>
        <p:spPr>
          <a:xfrm>
            <a:off x="3502152" y="9070848"/>
            <a:ext cx="3090672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0" name="Text 208"/>
          <p:cNvSpPr/>
          <p:nvPr/>
        </p:nvSpPr>
        <p:spPr>
          <a:xfrm>
            <a:off x="3557016" y="8833104"/>
            <a:ext cx="89373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ml</a:t>
            </a:r>
            <a:endParaRPr lang="en-US" sz="700" dirty="0"/>
          </a:p>
        </p:txBody>
      </p:sp>
      <p:sp>
        <p:nvSpPr>
          <p:cNvPr id="211" name="Text 209"/>
          <p:cNvSpPr/>
          <p:nvPr/>
        </p:nvSpPr>
        <p:spPr>
          <a:xfrm>
            <a:off x="4560481" y="8833104"/>
            <a:ext cx="5124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700" dirty="0"/>
          </a:p>
        </p:txBody>
      </p:sp>
      <p:sp>
        <p:nvSpPr>
          <p:cNvPr id="212" name="Text 210"/>
          <p:cNvSpPr/>
          <p:nvPr/>
        </p:nvSpPr>
        <p:spPr>
          <a:xfrm>
            <a:off x="5182629" y="8833104"/>
            <a:ext cx="6127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5905124" y="8833104"/>
            <a:ext cx="6328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+151%</a:t>
            </a:r>
            <a:endParaRPr lang="en-US" sz="700" dirty="0"/>
          </a:p>
        </p:txBody>
      </p:sp>
      <p:sp>
        <p:nvSpPr>
          <p:cNvPr id="214" name="Shape 212"/>
          <p:cNvSpPr/>
          <p:nvPr/>
        </p:nvSpPr>
        <p:spPr>
          <a:xfrm>
            <a:off x="265176" y="9363456"/>
            <a:ext cx="6327648" cy="1152144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5" name="Shape 213"/>
          <p:cNvSpPr/>
          <p:nvPr/>
        </p:nvSpPr>
        <p:spPr>
          <a:xfrm>
            <a:off x="265176" y="9363456"/>
            <a:ext cx="6327648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6" name="Text 214"/>
          <p:cNvSpPr/>
          <p:nvPr/>
        </p:nvSpPr>
        <p:spPr>
          <a:xfrm>
            <a:off x="347472" y="9381744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READ — ONE HERO, TWO DECLINING PACKS, ONE CONCENTRATION RISK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374904" y="979779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8" name="Text 216"/>
          <p:cNvSpPr/>
          <p:nvPr/>
        </p:nvSpPr>
        <p:spPr>
          <a:xfrm>
            <a:off x="493776" y="974750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150 ml: 58% of Mamaearth Face Wash at +98% YoY. A chain-level delisting or stock gap on this one pack is a brand-level event, so it leads the hero-SKU OSA target.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374904" y="1007211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0" name="Text 218"/>
          <p:cNvSpPr/>
          <p:nvPr/>
        </p:nvSpPr>
        <p:spPr>
          <a:xfrm>
            <a:off x="493776" y="1002182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100 ml and Shampoo 250 ml: 21% and 13% of their brands, both declining on value and share. Check availability and promo cover before reading either as demand.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374904" y="103464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2" name="Text 220"/>
          <p:cNvSpPr/>
          <p:nvPr/>
        </p:nvSpPr>
        <p:spPr>
          <a:xfrm>
            <a:off x="493776" y="10296144"/>
            <a:ext cx="5989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400 ml concentration: 76% of Mamaearth Shampoo sits in a single pack. 650 ml is the only credible second pack and it is new.</a:t>
            </a:r>
            <a:endParaRPr lang="en-US" sz="720" dirty="0"/>
          </a:p>
        </p:txBody>
      </p:sp>
      <p:sp>
        <p:nvSpPr>
          <p:cNvPr id="223" name="Shape 221"/>
          <p:cNvSpPr/>
          <p:nvPr/>
        </p:nvSpPr>
        <p:spPr>
          <a:xfrm>
            <a:off x="265176" y="10625328"/>
            <a:ext cx="6327648" cy="768096"/>
          </a:xfrm>
          <a:prstGeom prst="roundRect">
            <a:avLst>
              <a:gd name="adj" fmla="val 3571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4" name="Text 222"/>
          <p:cNvSpPr/>
          <p:nvPr/>
        </p:nvSpPr>
        <p:spPr>
          <a:xfrm>
            <a:off x="393192" y="10680192"/>
            <a:ext cx="60716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— RATE BEFORE REACH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two declining packs first, then run the shampoo velocity pilot in South-1 — the only zone where shampoo out-sells cleanser. Expand The Derma Co. Face Wash, where 27.3% WD is the one genuine width gap in the portfolio. Hold the large-format entry: 340 ml (₹261 Cr), 1000 ml (₹216 Cr) and 580 ml (₹64 Cr) are ₹541 Cr of pool we do not touch, but Dove covers 250/340/400/1000 ml and Head &amp; Shoulders 180/250/400/580 ml — these pools are contested, not empty. Entering them is a slow share-steal against an entrenched leader, and adding formats while under-earning per point spends listing fees to dilute a thin rate further.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zones convert at 86% — that rate is worth ₹6.22 Cr applied to the other three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portfolio | contribution, conversion and recoverable value at the internal benchmark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Jul-26: ₹36.06 Cr (+64.2% YoY vs Jul-25 ₹21.96 Cr); L3M May–Jul ₹114.86 Cr (+65.8% YoY); Reliance Paisa Vasool event drove pipeline draw-forward — same event expected mid-Aug; North + East hold 70.5% of recoverable gap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and South sustaining at 82–84% conversion; concentrating intervention on North and East yields the highest recovery per rupee of commercial effort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Reliance Aug-26 offtake in first week (Paisa Vasool effect expected ~40% MoM vs Jul; per LY pattern); run weekly ZSM gap closure on DMart and non-Reliance exceptions from 22-Aug; Reliance EAN-store review after Aug read is confirmed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+ East ZSM | Weekly from 22-Aug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 NOTE: Central zone now includes MP (reclassified from North), CG (reclassified from West), and Vidarbha MH (reclassified from West) effective Aug-21 2026. Jul-26 compiled figures above reflect pre-correction data; refreshed numbers pending next compiled offtake sheet export.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SCORECARD — RANKED BY RECOVERABLE VALUE, NOT BY SIZE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60" dirty="0"/>
          </a:p>
        </p:txBody>
      </p:sp>
      <p:sp>
        <p:nvSpPr>
          <p:cNvPr id="24" name="Text 22"/>
          <p:cNvSpPr/>
          <p:nvPr/>
        </p:nvSpPr>
        <p:spPr>
          <a:xfrm>
            <a:off x="1325122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25" name="Text 23"/>
          <p:cNvSpPr/>
          <p:nvPr/>
        </p:nvSpPr>
        <p:spPr>
          <a:xfrm>
            <a:off x="2111708" y="1627632"/>
            <a:ext cx="6768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26" name="Text 24"/>
          <p:cNvSpPr/>
          <p:nvPr/>
        </p:nvSpPr>
        <p:spPr>
          <a:xfrm>
            <a:off x="2898294" y="1627632"/>
            <a:ext cx="5195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3527563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4209271" y="1627632"/>
            <a:ext cx="5719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890979" y="1627632"/>
            <a:ext cx="895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896061" y="1627632"/>
            <a:ext cx="6418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1865376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2212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1325122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2111708" y="186537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6.97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2898294" y="186537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3527563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61.3%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4209271" y="186537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4890979" y="186537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+2.79 Cr</a:t>
            </a:r>
            <a:endParaRPr lang="en-US" sz="740" dirty="0"/>
          </a:p>
        </p:txBody>
      </p:sp>
      <p:sp>
        <p:nvSpPr>
          <p:cNvPr id="40" name="Text 38"/>
          <p:cNvSpPr/>
          <p:nvPr/>
        </p:nvSpPr>
        <p:spPr>
          <a:xfrm>
            <a:off x="5896061" y="186537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265176" y="25603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325122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7.10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2111708" y="2212848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2898294" y="2212848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3527563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4209271" y="2212848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3.56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4890979" y="2212848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+2.55 Cr</a:t>
            </a:r>
            <a:endParaRPr lang="en-US" sz="740" dirty="0"/>
          </a:p>
        </p:txBody>
      </p:sp>
      <p:sp>
        <p:nvSpPr>
          <p:cNvPr id="49" name="Text 47"/>
          <p:cNvSpPr/>
          <p:nvPr/>
        </p:nvSpPr>
        <p:spPr>
          <a:xfrm>
            <a:off x="5896061" y="2212848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65176" y="2560320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65176" y="29077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</a:t>
            </a:r>
            <a:endParaRPr lang="en-US" sz="740" dirty="0"/>
          </a:p>
        </p:txBody>
      </p:sp>
      <p:sp>
        <p:nvSpPr>
          <p:cNvPr id="53" name="Text 51"/>
          <p:cNvSpPr/>
          <p:nvPr/>
        </p:nvSpPr>
        <p:spPr>
          <a:xfrm>
            <a:off x="1325122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6.73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2111708" y="2560320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898294" y="2560320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</a:t>
            </a:r>
            <a:endParaRPr lang="en-US" sz="740" dirty="0"/>
          </a:p>
        </p:txBody>
      </p:sp>
      <p:sp>
        <p:nvSpPr>
          <p:cNvPr id="56" name="Text 54"/>
          <p:cNvSpPr/>
          <p:nvPr/>
        </p:nvSpPr>
        <p:spPr>
          <a:xfrm>
            <a:off x="3527563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72.4%</a:t>
            </a:r>
            <a:endParaRPr lang="en-US" sz="740" dirty="0"/>
          </a:p>
        </p:txBody>
      </p:sp>
      <p:sp>
        <p:nvSpPr>
          <p:cNvPr id="57" name="Text 55"/>
          <p:cNvSpPr/>
          <p:nvPr/>
        </p:nvSpPr>
        <p:spPr>
          <a:xfrm>
            <a:off x="4209271" y="2560320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</a:t>
            </a:r>
            <a:endParaRPr lang="en-US" sz="740" dirty="0"/>
          </a:p>
        </p:txBody>
      </p:sp>
      <p:sp>
        <p:nvSpPr>
          <p:cNvPr id="58" name="Text 56"/>
          <p:cNvSpPr/>
          <p:nvPr/>
        </p:nvSpPr>
        <p:spPr>
          <a:xfrm>
            <a:off x="4890979" y="2560320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+0.90 Cr</a:t>
            </a:r>
            <a:endParaRPr lang="en-US" sz="740" dirty="0"/>
          </a:p>
        </p:txBody>
      </p:sp>
      <p:sp>
        <p:nvSpPr>
          <p:cNvPr id="59" name="Text 57"/>
          <p:cNvSpPr/>
          <p:nvPr/>
        </p:nvSpPr>
        <p:spPr>
          <a:xfrm>
            <a:off x="5896061" y="2560320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65176" y="32552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320040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1325122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2.62</a:t>
            </a:r>
            <a:endParaRPr lang="en-US" sz="740" dirty="0"/>
          </a:p>
        </p:txBody>
      </p:sp>
      <p:sp>
        <p:nvSpPr>
          <p:cNvPr id="63" name="Text 61"/>
          <p:cNvSpPr/>
          <p:nvPr/>
        </p:nvSpPr>
        <p:spPr>
          <a:xfrm>
            <a:off x="2111708" y="2907792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2898294" y="2907792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3527563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80.9%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4209271" y="2907792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890979" y="2907792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68" name="Text 66"/>
          <p:cNvSpPr/>
          <p:nvPr/>
        </p:nvSpPr>
        <p:spPr>
          <a:xfrm>
            <a:off x="5896061" y="2907792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265176" y="3255264"/>
            <a:ext cx="6327648" cy="347472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65176" y="360273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20040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740" dirty="0"/>
          </a:p>
        </p:txBody>
      </p:sp>
      <p:sp>
        <p:nvSpPr>
          <p:cNvPr id="72" name="Text 70"/>
          <p:cNvSpPr/>
          <p:nvPr/>
        </p:nvSpPr>
        <p:spPr>
          <a:xfrm>
            <a:off x="1325122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2111708" y="3255264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8.27</a:t>
            </a:r>
            <a:endParaRPr lang="en-US" sz="740" dirty="0"/>
          </a:p>
        </p:txBody>
      </p:sp>
      <p:sp>
        <p:nvSpPr>
          <p:cNvPr id="74" name="Text 72"/>
          <p:cNvSpPr/>
          <p:nvPr/>
        </p:nvSpPr>
        <p:spPr>
          <a:xfrm>
            <a:off x="2898294" y="3255264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</a:t>
            </a:r>
            <a:endParaRPr lang="en-US" sz="740" dirty="0"/>
          </a:p>
        </p:txBody>
      </p:sp>
      <p:sp>
        <p:nvSpPr>
          <p:cNvPr id="75" name="Text 73"/>
          <p:cNvSpPr/>
          <p:nvPr/>
        </p:nvSpPr>
        <p:spPr>
          <a:xfrm>
            <a:off x="3527563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4209271" y="3255264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</a:t>
            </a:r>
            <a:endParaRPr lang="en-US" sz="740" dirty="0"/>
          </a:p>
        </p:txBody>
      </p:sp>
      <p:sp>
        <p:nvSpPr>
          <p:cNvPr id="77" name="Text 75"/>
          <p:cNvSpPr/>
          <p:nvPr/>
        </p:nvSpPr>
        <p:spPr>
          <a:xfrm>
            <a:off x="4890979" y="3255264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78" name="Text 76"/>
          <p:cNvSpPr/>
          <p:nvPr/>
        </p:nvSpPr>
        <p:spPr>
          <a:xfrm>
            <a:off x="5896061" y="3255264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79" name="Shape 77"/>
          <p:cNvSpPr/>
          <p:nvPr/>
        </p:nvSpPr>
        <p:spPr>
          <a:xfrm>
            <a:off x="265176" y="3950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20040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</a:t>
            </a:r>
            <a:endParaRPr lang="en-US" sz="740" dirty="0"/>
          </a:p>
        </p:txBody>
      </p:sp>
      <p:sp>
        <p:nvSpPr>
          <p:cNvPr id="81" name="Text 79"/>
          <p:cNvSpPr/>
          <p:nvPr/>
        </p:nvSpPr>
        <p:spPr>
          <a:xfrm>
            <a:off x="1325122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9.48</a:t>
            </a:r>
            <a:endParaRPr lang="en-US" sz="740" dirty="0"/>
          </a:p>
        </p:txBody>
      </p:sp>
      <p:sp>
        <p:nvSpPr>
          <p:cNvPr id="82" name="Text 80"/>
          <p:cNvSpPr/>
          <p:nvPr/>
        </p:nvSpPr>
        <p:spPr>
          <a:xfrm>
            <a:off x="2111708" y="3602736"/>
            <a:ext cx="67685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8.18</a:t>
            </a:r>
            <a:endParaRPr lang="en-US" sz="740" dirty="0"/>
          </a:p>
        </p:txBody>
      </p:sp>
      <p:sp>
        <p:nvSpPr>
          <p:cNvPr id="83" name="Text 81"/>
          <p:cNvSpPr/>
          <p:nvPr/>
        </p:nvSpPr>
        <p:spPr>
          <a:xfrm>
            <a:off x="2898294" y="3602736"/>
            <a:ext cx="519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</a:t>
            </a:r>
            <a:endParaRPr lang="en-US" sz="740" dirty="0"/>
          </a:p>
        </p:txBody>
      </p:sp>
      <p:sp>
        <p:nvSpPr>
          <p:cNvPr id="84" name="Text 82"/>
          <p:cNvSpPr/>
          <p:nvPr/>
        </p:nvSpPr>
        <p:spPr>
          <a:xfrm>
            <a:off x="3527563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740" dirty="0"/>
          </a:p>
        </p:txBody>
      </p:sp>
      <p:sp>
        <p:nvSpPr>
          <p:cNvPr id="85" name="Text 83"/>
          <p:cNvSpPr/>
          <p:nvPr/>
        </p:nvSpPr>
        <p:spPr>
          <a:xfrm>
            <a:off x="4209271" y="3602736"/>
            <a:ext cx="5719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</a:t>
            </a:r>
            <a:endParaRPr lang="en-US" sz="740" dirty="0"/>
          </a:p>
        </p:txBody>
      </p:sp>
      <p:sp>
        <p:nvSpPr>
          <p:cNvPr id="86" name="Text 84"/>
          <p:cNvSpPr/>
          <p:nvPr/>
        </p:nvSpPr>
        <p:spPr>
          <a:xfrm>
            <a:off x="4890979" y="3602736"/>
            <a:ext cx="89535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740" dirty="0"/>
          </a:p>
        </p:txBody>
      </p:sp>
      <p:sp>
        <p:nvSpPr>
          <p:cNvPr id="87" name="Text 85"/>
          <p:cNvSpPr/>
          <p:nvPr/>
        </p:nvSpPr>
        <p:spPr>
          <a:xfrm>
            <a:off x="5896061" y="3602736"/>
            <a:ext cx="64189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740" dirty="0"/>
          </a:p>
        </p:txBody>
      </p:sp>
      <p:sp>
        <p:nvSpPr>
          <p:cNvPr id="88" name="Text 86"/>
          <p:cNvSpPr/>
          <p:nvPr/>
        </p:nvSpPr>
        <p:spPr>
          <a:xfrm>
            <a:off x="265176" y="4023360"/>
            <a:ext cx="632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= 85.73%, the mean MT conversion of West (85.2%) and South-1 (86.3%). Recoverable = primary × benchmark − actual offtake, holding primary flat; components are rounded to two decimals while the ₹6.22 Cr pool is computed on unrounded values. Zone gaps sum to ₹13.06 Cr. The previous pack headlined ₹13.11 Cr on a blended base that carried the Nykaa (FSN) eB2B account inside MT zone sales; that account is now reported as its own channel.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265176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65176" y="4480560"/>
            <a:ext cx="2017776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47472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THE POOL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56616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₹6.22 Cr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356616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North, East and South-2 at benchmark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4904" y="54635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₹2.78 Cr — highest primary, third-worst flow.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58110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₹2.54 Cr — worst flow, highest NPI mix.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615848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₹0.90 Cr — newly above the floor once eB2B left its primary.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420112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2420112" y="4480560"/>
            <a:ext cx="2017776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2502408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THE ENGINES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2511552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₹16.45 Cr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2511552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South-1 offtake</a:t>
            </a:r>
            <a:endParaRPr lang="en-US" sz="680" dirty="0"/>
          </a:p>
        </p:txBody>
      </p:sp>
      <p:sp>
        <p:nvSpPr>
          <p:cNvPr id="105" name="Shape 103"/>
          <p:cNvSpPr/>
          <p:nvPr/>
        </p:nvSpPr>
        <p:spPr>
          <a:xfrm>
            <a:off x="2529840" y="54635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2648712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of national MT offtake at 85–86% conversion.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2529840" y="58110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2648712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pool here — the rate is already the benchmark.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2529840" y="6158484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2648712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spend flat; redirect field capacity to North.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4575048" y="4480560"/>
            <a:ext cx="2017776" cy="192024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4575048" y="4480560"/>
            <a:ext cx="2017776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4657344" y="4498848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ONE CELL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4666488" y="4846320"/>
            <a:ext cx="1834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₹0.90 Cr</a:t>
            </a:r>
            <a:endParaRPr lang="en-US" sz="1600" dirty="0"/>
          </a:p>
        </p:txBody>
      </p:sp>
      <p:sp>
        <p:nvSpPr>
          <p:cNvPr id="115" name="Text 113"/>
          <p:cNvSpPr/>
          <p:nvPr/>
        </p:nvSpPr>
        <p:spPr>
          <a:xfrm>
            <a:off x="4666488" y="5193792"/>
            <a:ext cx="1834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South-2, almost all DMart</a:t>
            </a:r>
            <a:endParaRPr lang="en-US" sz="680" dirty="0"/>
          </a:p>
        </p:txBody>
      </p:sp>
      <p:sp>
        <p:nvSpPr>
          <p:cNvPr id="116" name="Shape 114"/>
          <p:cNvSpPr/>
          <p:nvPr/>
        </p:nvSpPr>
        <p:spPr>
          <a:xfrm>
            <a:off x="4684776" y="54635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4803648" y="5413248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45.1% against 94–95% in West and Central.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4684776" y="58110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803648" y="5760720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DC or fill problem, not a chain relationship problem.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84776" y="615848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803648" y="6108192"/>
            <a:ext cx="1679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as a single-account audit, not a zone programme.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265176" y="654710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374904" y="656539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ACTIONS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356616" y="6963156"/>
            <a:ext cx="50292" cy="50292"/>
          </a:xfrm>
          <a:prstGeom prst="ellipse">
            <a:avLst/>
          </a:prstGeom>
          <a:solidFill>
            <a:srgbClr val="183B3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5488" y="6912864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North and East: weekly chain × state × hero-EAN gap closure against a ₹2.78 Cr and ₹2.54 Cr target. Owner: zone ZSMs.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356616" y="734720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475488" y="7296912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South-2: now clears the floor at ₹0.90 Cr. Audit DMart DC-to-store fill against the West benchmark. Owner: NKAM DMart + Supply, 22 Aug.</a:t>
            </a:r>
            <a:endParaRPr lang="en-US" sz="760" dirty="0"/>
          </a:p>
        </p:txBody>
      </p:sp>
      <p:sp>
        <p:nvSpPr>
          <p:cNvPr id="128" name="Shape 126"/>
          <p:cNvSpPr/>
          <p:nvPr/>
        </p:nvSpPr>
        <p:spPr>
          <a:xfrm>
            <a:off x="356616" y="773125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475488" y="7680960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— West, South-1: hold hero-SKU OSA, avoid unnecessary loading, document DMart West cadence as the national template.</a:t>
            </a:r>
            <a:endParaRPr lang="en-US" sz="760" dirty="0"/>
          </a:p>
        </p:txBody>
      </p:sp>
      <p:sp>
        <p:nvSpPr>
          <p:cNvPr id="130" name="Shape 128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9"/>
          <p:cNvSpPr/>
          <p:nvPr/>
        </p:nvSpPr>
        <p:spPr>
          <a:xfrm>
            <a:off x="475488" y="8065008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Exception-report — Central and West: ₹0.13 Cr and ₹0.05 Cr recoverable are below the ₹0.25 Cr floor; keep them out of the weekly review.</a:t>
            </a:r>
            <a:endParaRPr lang="en-US" sz="760" dirty="0"/>
          </a:p>
        </p:txBody>
      </p:sp>
      <p:sp>
        <p:nvSpPr>
          <p:cNvPr id="132" name="Shape 130"/>
          <p:cNvSpPr/>
          <p:nvPr/>
        </p:nvSpPr>
        <p:spPr>
          <a:xfrm>
            <a:off x="356616" y="8499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75488" y="8449056"/>
            <a:ext cx="6025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— eB2B (₹2.20 Cr) and SIS now report as their own channels on pages 13 and 14, outside every MT zone figure.</a:t>
            </a:r>
            <a:endParaRPr lang="en-US" sz="760" dirty="0"/>
          </a:p>
        </p:txBody>
      </p:sp>
      <p:sp>
        <p:nvSpPr>
          <p:cNvPr id="134" name="Shape 132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CONVERSION PROBLEM AND NOT A DEMAND PROBLEM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265176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265176" y="9253728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347472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PORTFOLIO, SIX DIFFERENT OUTCOMES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374904" y="970635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493776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zone sells the same brands, packs and price list.</a:t>
            </a:r>
            <a:endParaRPr lang="en-US" sz="710" dirty="0"/>
          </a:p>
        </p:txBody>
      </p:sp>
      <p:sp>
        <p:nvSpPr>
          <p:cNvPr id="141" name="Shape 139"/>
          <p:cNvSpPr/>
          <p:nvPr/>
        </p:nvSpPr>
        <p:spPr>
          <a:xfrm>
            <a:off x="374904" y="1005382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493776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still ranges from 49.9% to 86.3% — a 38-point spread.</a:t>
            </a:r>
            <a:endParaRPr lang="en-US" sz="710" dirty="0"/>
          </a:p>
        </p:txBody>
      </p:sp>
      <p:sp>
        <p:nvSpPr>
          <p:cNvPr id="143" name="Shape 141"/>
          <p:cNvSpPr/>
          <p:nvPr/>
        </p:nvSpPr>
        <p:spPr>
          <a:xfrm>
            <a:off x="374904" y="104013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493776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rules out product, pricing and proposition, and leaves execution.</a:t>
            </a:r>
            <a:endParaRPr lang="en-US" sz="710" dirty="0"/>
          </a:p>
        </p:txBody>
      </p:sp>
      <p:sp>
        <p:nvSpPr>
          <p:cNvPr id="145" name="Shape 143"/>
          <p:cNvSpPr/>
          <p:nvPr/>
        </p:nvSpPr>
        <p:spPr>
          <a:xfrm>
            <a:off x="3502152" y="9253728"/>
            <a:ext cx="3090672" cy="1517904"/>
          </a:xfrm>
          <a:prstGeom prst="roundRect">
            <a:avLst>
              <a:gd name="adj" fmla="val 120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3502152" y="9253728"/>
            <a:ext cx="3090672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3584448" y="92720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THIS READ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3611880" y="97063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3730752" y="9656064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stock by chain — a gap can also be trade inventory in transit.</a:t>
            </a:r>
            <a:endParaRPr lang="en-US" sz="710" dirty="0"/>
          </a:p>
        </p:txBody>
      </p:sp>
      <p:sp>
        <p:nvSpPr>
          <p:cNvPr id="150" name="Shape 148"/>
          <p:cNvSpPr/>
          <p:nvPr/>
        </p:nvSpPr>
        <p:spPr>
          <a:xfrm>
            <a:off x="3611880" y="100538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730752" y="10003536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and OSA by store — the direct test of the execution hypothesis.</a:t>
            </a:r>
            <a:endParaRPr lang="en-US" sz="710" dirty="0"/>
          </a:p>
        </p:txBody>
      </p:sp>
      <p:sp>
        <p:nvSpPr>
          <p:cNvPr id="152" name="Shape 150"/>
          <p:cNvSpPr/>
          <p:nvPr/>
        </p:nvSpPr>
        <p:spPr>
          <a:xfrm>
            <a:off x="3611880" y="10401300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Text 151"/>
          <p:cNvSpPr/>
          <p:nvPr/>
        </p:nvSpPr>
        <p:spPr>
          <a:xfrm>
            <a:off x="3730752" y="10351008"/>
            <a:ext cx="2752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1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both reconcile, this page sizes an opportunity; it does not prove a cause.</a:t>
            </a:r>
            <a:endParaRPr lang="en-US" sz="7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West: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₹8.28 Cr conversion; DMart West 94.2% is the best DMart rate nationally; Reliance West 54.5% is the only exception; Wellness Forever 134.8% is a timing signal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West’s 94.2% conversion proves EAN availability discipline works; Reliance West has 45% of billed inventory not selling through — recoverable with store-level action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map Reliance West EAN-store failures; restore top-10 declining articles by 30-Aug; hold Wellness Forever loading until timing discrepancy is explained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West + NKAM Wellness | 30-Aug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₹9.71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₹8.27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₹1.44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DMart execution as the national template • Reliance is the only weak cell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West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West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West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West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West-specific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West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West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South-1: Protect and convert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₹9.48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₹8.18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86.3%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₹1.30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conversion in the country • Apollo cadence is the transferable asset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Apollo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DMart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₹2.31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Lulu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₹1.22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Karnataka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₹4.10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Tamil Nadu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₹2.63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Kerala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₹1.17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₹5.24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₹1.12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₹2.76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₹0.61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₹0.64 Cr · 7.9% of zone — highest NPI value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 conversion is the best zone in the country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sets the internal benchmark used to size the national recovery pool. It is not an outlier month — chain conversion is even across all three top accounts.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South-1 as the reference zone in every gap-closure target, not an external aspiration.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at ₹2.84 Cr and 81.0% is the most replicable model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Pharmacy-format cadence — small, frequent, tightly assorted orders — is the mechanism behind Apollo's near-parity flow nationally.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order-frequency and assortment-depth profile as a scoring template for other accounts.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₹1.22 Cr sits in the zone with no primary mapped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is the account the national scorecard ranks +46.5% and marks Scale. Its primary is unmapped nationally, so that growth claim cannot be verified.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Lulu billing mapping before any Lulu-based recommendation goes to the field.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zone where Mamaearth Shampoo out-sells Face Cleanser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₹1.23 Cr against Face Cleanser ₹1.12 Cr. Every other zone is cleanser-led, so South-1 is the natural proving ground for the shampoo range.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shampoo pack pilot here first, measured on sales per store, not listings added.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 · Sep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hold 77.8% — the widest base in the country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chain concentration of any zone. Demand is spread across formats rather than resting on one hypermarket relationship.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South-1 account mix as the target shape for East rebuilding.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alone is 50.1% of zone offtake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Single-state dependence is the one structural risk in an otherwise strong zone; Kerala at ₹1.17 Cr is materially under-developed against its retail base.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Kerala distribution white space in ₹ before the Q3 target reset.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RKAM · 15 Sep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South-1 NPI mix 7.9% | Highest national conversion — the cadence to export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North: Q1 best converter, July loaded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₹11.38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₹6.97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20.5%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61.3%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₹4.41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90.0% across Q1 — the best zone • July primary 16.4% above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₹2.53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44.9%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Delhi NCR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₹1.97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Rajasthan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Punjab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₹1.55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₹4.74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₹0.35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₹2.12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₹0.10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 · 9.2% of zone — second-highest NPI mix on the second-worst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₹2.78 Cr is recoverable at the internal benchmark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bills the most primary in the country (₹11.38 Cr) and converts it worst but one. At the West / South-1 benchmark of 85.73% the zone would deliver ₹9.75 Cr instead of ₹6.97 Cr.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₹2.78 Cr as the North recovery target and review it weekly against actuals.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North converts at 44.9% — the worst material cell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₹2.40 Cr of offtake this single chain-zone cell explains the bulk of the zone shortfall. DMart North at 77.9% and Apollo at 98.3% show the geography is not the constraint.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incremental loading into Reliance North until conversion clears 65% for two consecutive weeks.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immediate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portfolio, three different conversion outcomes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98.3%, DMart 77.9%, Reliance 44.9% — identical range in one geography. That rules out demand, pricing and assortment, and points at account-level replenishment.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store-level OSA audit on Reliance North hero EANs; compare against Apollo North cadence.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RKAM + Trade Marketing · 25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is 9.2% into a 61.3%-converting zone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products are being placed where sell-through is weakest. NPI carries the least shelf history and the highest liquidation risk, so it is the worst payload for a weak pipe.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further NPI allocation to North until zone conversion clears 70%.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NCR, Rajasthan and Punjab are evenly matched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₹1.97 / ₹1.67 / ₹1.55 Cr no single state carries the zone, so recovery has to be run per chain, not per state.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exception list at chain × state × hero-EAN, not state level.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20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at ₹1.68 Cr is strongest in the country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is the largest shampoo zone by value despite the conversion problem, so the demand signal is real and the loss is downstream of it.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shampoo hero-EAN availability first when OSA effort is prioritised.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Supply · from 18 Aug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NPI mix 9.2% | ₹2.78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South-2: Isolated chain problem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₹6.73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₹4.87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₹1.85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weak cell (DMart) inside an otherwise functioning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₹1.95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45.1%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₹1.64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Reliance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Telangana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Andhra Pradesh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₹2.35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₹3.74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₹1.11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₹0.20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₹0.31 Cr · 6.4% of zone — lowest NPI value nationally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converts at 45.1% — half its national rate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runs 94.2% in West and 77.9% in North. At 45.1% here the account is behaving unlike itself, which points at a regional DC or fill problem rather than the chain relationship.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DMart South-2 DC-to-store fill rate against the West benchmark.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South-2 reported at 148.5% conversion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ratio in the pack. Offtake exceeding primary by half means opening stock or a billing-period mismatch, not performance — and it inflates the zone average.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Apollo South-2 opening stock and billing cut-off before quoting zone conversion.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 recoverable, almost all of it inside DMart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benchmark conversion the zone delivers ₹5.72 Cr against ₹4.91 Cr actual. The DMart cell alone accounts for the majority of the shortfall.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the South-2 recovery as a single-account project, not a zone programme.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RKAM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material states in the zone cut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 ₹2.56 Cr and Andhra Pradesh ₹2.35 Cr are the whole zone. The source pack described "top three states at 100%" while listing two — a reporting artefact worth correcting.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state-count logic in the build script.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under-developed at ₹1.11 Cr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22.6% of zone offtake against 39.4% in West. The gap is distribution-led rather than demand-led given TDC strength in neighbouring South-1.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the TDC listing white space in South-2 Apollo and Reliance doors.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RKAM · 15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NPI exposure nationally at 6.4%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conversion unresolved, low new-product exposure is the correct posture — this zone is not carrying launch risk on top of a fill problem.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NPI allocation flat until DMart fill is fixed.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NPI mix 6.4% | ₹0.90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East: Q1 star, July load spike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₹3.54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10.4%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49.9%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₹3.56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89.7% across Q1 • July primary is 62.8% above its own Q1 run-rate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FSN/Nykaa offtake, Jan–Jul 2026 (₹ Cr)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FSN/Nykaa EANs — range is contracting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Reliance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₹2.16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Apollo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₹0.80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Vishal Mega Mart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₹0.17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West Bengal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₹1.56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Odisha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₹0.60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Bihar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₹0.49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₹2.91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₹1.34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₹1.18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₹0.60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₹0.47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₹0.36 Cr · 10.2% of zone — the highest NPI mix on the worst conversion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 recoverable — the largest pool in the pack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bills ₹7.10 Cr and sells ₹3.54 Cr. At the West / South-1 benchmark the same billing delivers ₹6.08 Cr. This single zone is half the national opportunity.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₹2.54 Cr as the East recovery target with weekly owner review.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 · weekly from 18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East at 52.9% carries 60.9% of the zone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dominates a zone that does not convert. Reliance runs 44.9% in North and 51.2% in Central too — this is a national account pattern surfacing hardest where it has most share.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East the lead case in the national Reliance recovery loop.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RISK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NPI mix nationally into the worst-converting zone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10.2% of East offtake is new product, against 6.4% in South-2. New products are being launched hardest where sell-through is weakest — the launch will read as a product failure when it is a flow failure.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60%; protect only listed hero EANs.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 · immediate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outruns selling by more than 2:1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gap this size over one month is a loading pattern, not an availability gap. Continued primary at this rate builds trade stock that will suppress future orders.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primary at trailing three-month offtake until the gap closes.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 · immediate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three top chains cannot be flow-tested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reports above 100% and Vishal Mega Mart has no mapped primary, so only Reliance in this zone has a verifiable conversion figure.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Vishal Mega Mart billing and reconcile Apollo East opening stock.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is barely present at ₹0.60 Cr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is 16.9% of East offtake against 39.4% in West. Fixing flow before adding TDC distribution avoids compounding the problem.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TDC expansion in East until zone conversion clears 60%.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 review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NPI mix 10.2% | ₹2.54 Cr recoverable at the West / South-1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Central: MP + CG + Vidarbha — zone now fully mapped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re-mapped. MP (North→Central), CG (West→Central), Vidarbha MH (West→Central). Jul-26: Primary ₹2.62 Cr, Offtake ₹2.12 Cr (MP+CG; Vidarbha adds ~₹0.50 Cr from corrected raw source — compiled offtake sheet refresh pending).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was invisible in all leadership dashboards — MP reported under North, CG and Vidarbha under West. FY26 true Central offtake = ₹17.0 Cr (+68.9% YoY), fastest-growing zone in MT.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to set standalone FY27 zone targets (MP+CG+Vidarbha). NKAM to unlock 1,168 NPI EPD SKUs across Wellness, Apollo, Reliance and DMart in Vidarbha stores.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NKAM (Wellness, Apollo, Reliance, DMart) · 5 Sep 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₹2.62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₹2.12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₹0.50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zone, sound flow — manage for cost, not intervention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₹1.41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₹0.46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51.2%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Apollo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Madhya Pradesh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₹1.68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Chhattisgarh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₹0.44 Cr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₹1.25 Cr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₹0.40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₹0.82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₹0.66</a:t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₹0.02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₹0.18 Cr · 8.5% of zone</a:t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recoverable (compiled Jul-26) — Vidarbha correction adds ~₹0.50 Cr primary and offtake once compiled sheet refreshed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re-mapped (MP+CG+Vidarbha). Jul-26 figures above reflect pre-correction compiled source. FY26 true Central = ₹17.0 Cr (+68.9% YoY). FY27 4M true Central = ₹10.2 Cr. Once compiled offtake refreshed, Central will rank above East in zone size.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Central by exception only; drop it from the weekly gap review.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 pack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Central converts at 95.3% — best in the country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ahead of DMart West. Two zones now show DMart above 94%, which makes the 45.1% in South-2 clearly anomalous rather than a chain-wide characteristic.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Central and West together when scoping the DMart South-2 fill audit.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22 Aug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Central at 51.2% repeats the national pattern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zone where Reliance sits near 50% while other accounts in the same geography clear 78%. The consistency is the evidence.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the Reliance national loop; no separate zone action.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+ CG + Vidarbha MH now form the zone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₹1.68 Cr (Jul-26) | CG ₹0.44 Cr | Vidarbha MH ~₹0.50 Cr (FY27 4M: ₹1.65 Cr). Zone now spans three geographic clusters — MP heartland, CG border towns, Vidarbha district stores.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Central as three clusters: MP (Bhopal+Indore), CG (Raipur), Vidarbha (Nagpur+Amravati). Assign sub-RKAM or area manager per cluster.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RKAM · Sep planning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TDC share of any zone at 38.7%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₹0.82 Cr against Mamaearth ₹1.25 Cr. Central over-indexes on TDC Face Cleanser relative to its size.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Central TDC assortment as the reference for South-2 TDC expansion.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Sep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Central reported at 137.7%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zone where Apollo exceeds 100%. The national Apollo figure of 99.7% is an average of wide zone-level errors, not a measured parity.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quoting Apollo national conversion until the zone figures reconcile.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mix 8.5% (Jul-26 compiled) | 1,168 Vidarbha NPI SKUs now attributed to Central (Wellness 501, Reliance 346, Apollo 240, DMart 81)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vs. AFTER — CENTRAL ZONE ACTIVATED IN ALL DASHBOARDS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audit result | MP + CG + Vidarbha reclassification | FY25–FY27 | Source: 21 pipeline files corrected, Aug-21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(Incorrect): MP reported under NORTH zone | CG reported under WEST zone | Vidarbha MH reported under WEST zone | Central zone = ₹0 in every leadership dashboard since FY25. North FY26 inflated +₹12.3 Cr (MP). West FY26 inflated +₹4.7 Cr (CG) +₹1.65 Cr (Vidarbha).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(Corrected): Central FY25 = ₹10.1 Cr | Central FY26 = ₹17.0 Cr (+68.9% YoY) — fastest-growing zone in MT | FY27 4M (Apr–Jul) = ₹10.2 Cr | 22,265 rows reclassified across 21 files (3 offtake CSVs + 15 primary CSVs + 3 master files).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IMMEDIATE: RKAM Central to set standalone FY27 NSV targets by 5-Sep. NKAM to run EPD billing unlock across 1,168 Vidarbha SKUs by 31-Aug. MT Analyst to refresh compiled offtake sheet post Power BI re-export.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Central + NKAM + MT Analyst · Deadlines: 31-Aug, 5-Sep, 5-Sep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CustomerCode_Zone_State_Mapping.csv, ZoneStateMaster.csv, 3 offtake CSVs, 15 primary monthly CSVs, ShipToMaster.csv, Primary_ShipTo_FY25-26_to_May26.csv, dashboard/data.js | All corrections committed to git | Aug-21 2026;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FIXED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22,265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21 files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CENTRAL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₹17.0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(was ₹0)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+68.9%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FY25→FY26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4M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₹10.2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Apr–Jul 2026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STATE BREAKDOWN (FY26 CORRECTED)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MP: ₹12.3 Cr FY26 (+64.8% YoY) | CG: ₹4.7 Cr FY26 (+80.5% YoY) | Vidarbha MH: ₹1.65 Cr FY27 4M (no FY25/FY26 history)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What dashboards showed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What the data now shows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RULE LAYERS CORRECTED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CSVs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6,179 + 6,217 rows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CSVs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files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9,406 + 352 rows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&amp; Mapping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files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+ 23 + 1 row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IMPACT SUMMARY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FY26 restated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₹58.3 Cr (was ₹70.6 Cr)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FY26 restated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₹76.9 Cr (was ₹81.6 Cr)</a:t>
            </a:r>
            <a:endParaRPr lang="en-US" sz="700" dirty="0"/>
          </a:p>
        </p:txBody>
      </p:sp>
      <p:sp>
        <p:nvSpPr>
          <p:cNvPr id="66" name="Shape 62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3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4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— ZONE TABLE</a:t>
            </a:r>
            <a:endParaRPr lang="en-US" sz="700" dirty="0"/>
          </a:p>
        </p:txBody>
      </p:sp>
      <p:sp>
        <p:nvSpPr>
          <p:cNvPr id="69" name="Text 65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680" dirty="0"/>
          </a:p>
        </p:txBody>
      </p:sp>
      <p:sp>
        <p:nvSpPr>
          <p:cNvPr id="70" name="Text 66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(Before)</a:t>
            </a:r>
            <a:endParaRPr lang="en-US" sz="630" dirty="0"/>
          </a:p>
        </p:txBody>
      </p:sp>
      <p:sp>
        <p:nvSpPr>
          <p:cNvPr id="71" name="Text 67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(After)</a:t>
            </a:r>
            <a:endParaRPr lang="en-US" sz="630" dirty="0"/>
          </a:p>
        </p:txBody>
      </p:sp>
      <p:sp>
        <p:nvSpPr>
          <p:cNvPr id="72" name="Text 68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₹70.6 Cr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₹58.3 Cr</a:t>
            </a:r>
            <a:endParaRPr lang="en-US" sz="680" dirty="0"/>
          </a:p>
        </p:txBody>
      </p:sp>
      <p:sp>
        <p:nvSpPr>
          <p:cNvPr id="77" name="Text 73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−₹12.3 Cr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30" dirty="0"/>
          </a:p>
        </p:txBody>
      </p:sp>
      <p:sp>
        <p:nvSpPr>
          <p:cNvPr id="79" name="Text 75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−₹4.7 Cr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₹81.6 Cr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₹76.9 Cr</a:t>
            </a:r>
            <a:endParaRPr lang="en-US" sz="630" dirty="0"/>
          </a:p>
        </p:txBody>
      </p:sp>
      <p:sp>
        <p:nvSpPr>
          <p:cNvPr id="83" name="Shape 79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FY26 restated: ₹0 → ₹17.0 Cr (+₹17.0 Cr added)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660" dirty="0"/>
          </a:p>
        </p:txBody>
      </p:sp>
      <p:sp>
        <p:nvSpPr>
          <p:cNvPr id="85" name="Shape 81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SCORECARD — ALL VALIDATIONS PASS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4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620" dirty="0"/>
          </a:p>
        </p:txBody>
      </p:sp>
      <p:sp>
        <p:nvSpPr>
          <p:cNvPr id="90" name="Text 86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MP-North and zero CG-West rows remain in any source file (automated PASS). All changes committed to version control — reversible with git revert HEAD~5.</a:t>
            </a:r>
            <a:endParaRPr lang="en-US" sz="740" dirty="0"/>
          </a:p>
        </p:txBody>
      </p:sp>
      <p:sp>
        <p:nvSpPr>
          <p:cNvPr id="91" name="Text 87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post-remap validation script on every corrected file. Result: PASS. Zero residual mismatch. All changes committed to version control (reversible with one git revert).</a:t>
            </a:r>
            <a:endParaRPr lang="en-US" sz="650" dirty="0"/>
          </a:p>
        </p:txBody>
      </p:sp>
      <p:sp>
        <p:nvSpPr>
          <p:cNvPr id="92" name="Shape 88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89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Central in all zone scorecards from Sep-26 review cycle.</a:t>
            </a:r>
            <a:endParaRPr lang="en-US" sz="600" dirty="0"/>
          </a:p>
        </p:txBody>
      </p:sp>
      <p:sp>
        <p:nvSpPr>
          <p:cNvPr id="94" name="Text 90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from Sep-26</a:t>
            </a:r>
            <a:endParaRPr lang="en-US" sz="620" dirty="0"/>
          </a:p>
        </p:txBody>
      </p:sp>
      <p:sp>
        <p:nvSpPr>
          <p:cNvPr id="95" name="Shape 91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Shape 92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3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UNLOCKED</a:t>
            </a:r>
            <a:endParaRPr lang="en-US" sz="620" dirty="0"/>
          </a:p>
        </p:txBody>
      </p:sp>
      <p:sp>
        <p:nvSpPr>
          <p:cNvPr id="98" name="Text 94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₹8–10 L/month from EPD billing unlock (1,001 EPD SKUs across Wellness + Apollo + Reliance + DMart in Vidarbha)</a:t>
            </a:r>
            <a:endParaRPr lang="en-US" sz="740" dirty="0"/>
          </a:p>
        </p:txBody>
      </p:sp>
      <p:sp>
        <p:nvSpPr>
          <p:cNvPr id="99" name="Text 95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₹3–5 L/month from range extension at DMart Central (81 → 150 SKUs). ₹5–7 L/month from 10 new Wellness stores in Nagpur. Total annualised opportunity: ₹19–26 Cr.</a:t>
            </a:r>
            <a:endParaRPr lang="en-US" sz="650" dirty="0"/>
          </a:p>
        </p:txBody>
      </p:sp>
      <p:sp>
        <p:nvSpPr>
          <p:cNvPr id="100" name="Shape 96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run EPD billing unlock across all 4 chains by 31-Aug. BD to onboard 10 new Wellness stores by 31-Oct.</a:t>
            </a:r>
            <a:endParaRPr lang="en-US" sz="600" dirty="0"/>
          </a:p>
        </p:txBody>
      </p:sp>
      <p:sp>
        <p:nvSpPr>
          <p:cNvPr id="102" name="Text 98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+ BD · 31-Aug / 31-Oct</a:t>
            </a:r>
            <a:endParaRPr lang="en-US" sz="620" dirty="0"/>
          </a:p>
        </p:txBody>
      </p:sp>
      <p:sp>
        <p:nvSpPr>
          <p:cNvPr id="103" name="Shape 99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100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ACTION</a:t>
            </a:r>
            <a:endParaRPr lang="en-US" sz="620" dirty="0"/>
          </a:p>
        </p:txBody>
      </p:sp>
      <p:sp>
        <p:nvSpPr>
          <p:cNvPr id="106" name="Text 102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FY25/FY26 Central still blank — pre-aggregated workbook not yet re-exported</a:t>
            </a:r>
            <a:endParaRPr lang="en-US" sz="740" dirty="0"/>
          </a:p>
        </p:txBody>
      </p:sp>
      <p:sp>
        <p:nvSpPr>
          <p:cNvPr id="107" name="Text 103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pre-aggregated compiled workbook (Primary_FY202426_10.xlsx) is gitignored and has not been re-exported from Power BI Desktop yet. Until then, Power BI dashboards still show Central FY25/FY26 = ₹0.</a:t>
            </a:r>
            <a:endParaRPr lang="en-US" sz="650" dirty="0"/>
          </a:p>
        </p:txBody>
      </p:sp>
      <p:sp>
        <p:nvSpPr>
          <p:cNvPr id="108" name="Shape 104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to re-export Primary_FY202426_10.xlsx from Power BI Desktop after refreshing with updated mapping CSVs. One-day task.</a:t>
            </a:r>
            <a:endParaRPr lang="en-US" sz="600" dirty="0"/>
          </a:p>
        </p:txBody>
      </p:sp>
      <p:sp>
        <p:nvSpPr>
          <p:cNvPr id="110" name="Text 106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· 5 Sep 2026</a:t>
            </a:r>
            <a:endParaRPr lang="en-US" sz="620" dirty="0"/>
          </a:p>
        </p:txBody>
      </p:sp>
      <p:sp>
        <p:nvSpPr>
          <p:cNvPr id="111" name="Shape 107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08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09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PIPELINE LAYERS</a:t>
            </a:r>
            <a:endParaRPr lang="en-US" sz="620" dirty="0"/>
          </a:p>
        </p:txBody>
      </p:sp>
      <p:sp>
        <p:nvSpPr>
          <p:cNvPr id="114" name="Text 110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22,265 rows reclassified across 6 data layers</a:t>
            </a:r>
            <a:endParaRPr lang="en-US" sz="740" dirty="0"/>
          </a:p>
        </p:txBody>
      </p:sp>
      <p:sp>
        <p:nvSpPr>
          <p:cNvPr id="115" name="Text 111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CSVs (Apr+May+Jul): 6,179 + 6,217 + 1,815 rows. Primary (15 months): 9,406 rows. Primary ShipTo: 352 rows. CustomerCode map: 88 codes. ShipTo Master: 23 rows. ZoneStateMaster: +1 row.</a:t>
            </a:r>
            <a:endParaRPr lang="en-US" sz="650" dirty="0"/>
          </a:p>
        </p:txBody>
      </p:sp>
      <p:sp>
        <p:nvSpPr>
          <p:cNvPr id="116" name="Shape 112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7" name="Text 113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in version control. Revert: git revert HEAD~5. QA: all 19 data files PASS (zero MP-North, zero CG-West remaining).</a:t>
            </a:r>
            <a:endParaRPr lang="en-US" sz="600" dirty="0"/>
          </a:p>
        </p:txBody>
      </p:sp>
      <p:sp>
        <p:nvSpPr>
          <p:cNvPr id="118" name="Text 114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claude/offtake-pipeline-blocks-diagnosis-24403o</a:t>
            </a:r>
            <a:endParaRPr lang="en-US" sz="620" dirty="0"/>
          </a:p>
        </p:txBody>
      </p:sp>
      <p:sp>
        <p:nvSpPr>
          <p:cNvPr id="119" name="Shape 115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Shape 116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7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NPI PIPELINE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1,168 SKUs now attributed to Central (Vidarbha remap)</a:t>
            </a:r>
            <a:endParaRPr lang="en-US" sz="740" dirty="0"/>
          </a:p>
        </p:txBody>
      </p:sp>
      <p:sp>
        <p:nvSpPr>
          <p:cNvPr id="123" name="Text 119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501 | Reliance 346 | Apollo 240 | DMart 81. Status: 86% EPD (listed, not billing). Opportunity: ₹8–10 L/month at 50% billing unlock.</a:t>
            </a:r>
            <a:endParaRPr lang="en-US" sz="650" dirty="0"/>
          </a:p>
        </p:txBody>
      </p:sp>
      <p:sp>
        <p:nvSpPr>
          <p:cNvPr id="124" name="Shape 120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5" name="Text 121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to pull store-level billing report for EPD SKUs and flag zero-billing by 31-Aug.</a:t>
            </a:r>
            <a:endParaRPr lang="en-US" sz="600" dirty="0"/>
          </a:p>
        </p:txBody>
      </p:sp>
      <p:sp>
        <p:nvSpPr>
          <p:cNvPr id="126" name="Text 122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All Chains · 31-Aug</a:t>
            </a:r>
            <a:endParaRPr lang="en-US" sz="620" dirty="0"/>
          </a:p>
        </p:txBody>
      </p:sp>
      <p:sp>
        <p:nvSpPr>
          <p:cNvPr id="127" name="Shape 123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Shape 124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5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GOVERNANCE RULE</a:t>
            </a:r>
            <a:endParaRPr lang="en-US" sz="620" dirty="0"/>
          </a:p>
        </p:txBody>
      </p:sp>
      <p:sp>
        <p:nvSpPr>
          <p:cNvPr id="130" name="Text 126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= MP + CG + Vidarbha. No other state.</a:t>
            </a:r>
            <a:endParaRPr lang="en-US" sz="740" dirty="0"/>
          </a:p>
        </p:txBody>
      </p:sp>
      <p:sp>
        <p:nvSpPr>
          <p:cNvPr id="131" name="Text 127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(₹5.24L FY27), Mumbai (₹2.42L FY27) and Gujarat (₹2.15L FY27) rows appear in Central in raw CSVs — these are data anomalies from city mis-coding. Analyst to investigate and reclassify before next compiled sheet export.</a:t>
            </a:r>
            <a:endParaRPr lang="en-US" sz="650" dirty="0"/>
          </a:p>
        </p:txBody>
      </p:sp>
      <p:sp>
        <p:nvSpPr>
          <p:cNvPr id="132" name="Shape 128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Text 129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ZoneStateMaster validation before each monthly compiled sheet to ensure no state leaks into wrong zone.</a:t>
            </a:r>
            <a:endParaRPr lang="en-US" sz="600" dirty="0"/>
          </a:p>
        </p:txBody>
      </p:sp>
      <p:sp>
        <p:nvSpPr>
          <p:cNvPr id="134" name="Text 130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Analyst · monthly cadence</a:t>
            </a:r>
            <a:endParaRPr lang="en-US" sz="620" dirty="0"/>
          </a:p>
        </p:txBody>
      </p:sp>
      <p:sp>
        <p:nvSpPr>
          <p:cNvPr id="135" name="Text 131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remediate_mp_cg_central_zone.py + remediate_vidarbha_central_zone.py + patch_data_js_central_fy2526.py | All scripts committed | Aug-21 2026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eB2B: MT digital sub-channel — marketplace and eB2B accounts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July 2026 | ₹ Cr | reported outside Modern Trade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billing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94.1%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₹0.13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• MT digital sub-channel • formerly mis-labelled "Pan India" zone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Nykaa (FSN)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Eremedium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₹0.00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offtake feed</a:t>
            </a:r>
            <a:endParaRPr lang="en-US" sz="620" dirty="0"/>
          </a:p>
        </p:txBody>
      </p:sp>
      <p:sp>
        <p:nvSpPr>
          <p:cNvPr id="56" name="Shape 52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3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Pan India (no geography)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58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59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₹1.65 Cr</a:t>
            </a:r>
            <a:endParaRPr lang="en-US" sz="680" dirty="0"/>
          </a:p>
        </p:txBody>
      </p:sp>
      <p:sp>
        <p:nvSpPr>
          <p:cNvPr id="65" name="Text 61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6" name="Text 62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67" name="Text 63"/>
          <p:cNvSpPr/>
          <p:nvPr/>
        </p:nvSpPr>
        <p:spPr>
          <a:xfrm>
            <a:off x="4648200" y="5294376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₹0.37 Cr</a:t>
            </a:r>
            <a:endParaRPr lang="en-US" sz="680" dirty="0"/>
          </a:p>
        </p:txBody>
      </p:sp>
      <p:sp>
        <p:nvSpPr>
          <p:cNvPr id="68" name="Text 64"/>
          <p:cNvSpPr/>
          <p:nvPr/>
        </p:nvSpPr>
        <p:spPr>
          <a:xfrm>
            <a:off x="4684776" y="5468112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sub-category split</a:t>
            </a:r>
            <a:endParaRPr lang="en-US" sz="630" dirty="0"/>
          </a:p>
        </p:txBody>
      </p:sp>
      <p:sp>
        <p:nvSpPr>
          <p:cNvPr id="69" name="Text 65"/>
          <p:cNvSpPr/>
          <p:nvPr/>
        </p:nvSpPr>
        <p:spPr>
          <a:xfrm>
            <a:off x="6007608" y="5468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630" dirty="0"/>
          </a:p>
        </p:txBody>
      </p:sp>
      <p:sp>
        <p:nvSpPr>
          <p:cNvPr id="70" name="Shape 66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7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₹0.13 Cr · 6.3% of channel</a:t>
            </a:r>
            <a:endParaRPr lang="en-US" sz="660" dirty="0"/>
          </a:p>
        </p:txBody>
      </p:sp>
      <p:sp>
        <p:nvSpPr>
          <p:cNvPr id="72" name="Shape 68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69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74" name="Shape 70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1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2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SUB-CHANNEL</a:t>
            </a:r>
            <a:endParaRPr lang="en-US" sz="620" dirty="0"/>
          </a:p>
        </p:txBody>
      </p:sp>
      <p:sp>
        <p:nvSpPr>
          <p:cNvPr id="77" name="Text 73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is part of MT — reported on its own page for clarity</a:t>
            </a:r>
            <a:endParaRPr lang="en-US" sz="740" dirty="0"/>
          </a:p>
        </p:txBody>
      </p:sp>
      <p:sp>
        <p:nvSpPr>
          <p:cNvPr id="78" name="Text 74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Nykaa (FSN) + Eremedium are classified eB2B in the channel master. Their replenishment model is near-real-time (94.1% July flow), so blending them into the geographic zone conversion benchmark would artificially inflate it. They count in total MT; excluded only from the zone benchmark.</a:t>
            </a:r>
            <a:endParaRPr lang="en-US" sz="650" dirty="0"/>
          </a:p>
        </p:txBody>
      </p:sp>
      <p:sp>
        <p:nvSpPr>
          <p:cNvPr id="79" name="Shape 75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6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eB2B in national MT totals (₹49.21 Cr primary, ₹36.10 Cr offtake). Report zone conversion on geographic MT only.</a:t>
            </a:r>
            <a:endParaRPr lang="en-US" sz="600" dirty="0"/>
          </a:p>
        </p:txBody>
      </p:sp>
      <p:sp>
        <p:nvSpPr>
          <p:cNvPr id="81" name="Text 77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82" name="Shape 78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IDENTITY</a:t>
            </a:r>
            <a:endParaRPr lang="en-US" sz="620" dirty="0"/>
          </a:p>
        </p:txBody>
      </p:sp>
      <p:sp>
        <p:nvSpPr>
          <p:cNvPr id="85" name="Text 81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"Pan India" was a mis-label — corrected to eB2B sub-channel</a:t>
            </a:r>
            <a:endParaRPr lang="en-US" sz="740" dirty="0"/>
          </a:p>
        </p:txBody>
      </p:sp>
      <p:sp>
        <p:nvSpPr>
          <p:cNvPr id="86" name="Text 82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offtake for the former "Pan India" zone (860.01 L) equals the Nykaa (FSN) account exactly, 1:1. It is not a geography; it is the eB2B digital channel. The label is now corrected; the value stays inside total MT.</a:t>
            </a:r>
            <a:endParaRPr lang="en-US" sz="650" dirty="0"/>
          </a:p>
        </p:txBody>
      </p:sp>
      <p:sp>
        <p:nvSpPr>
          <p:cNvPr id="87" name="Shape 83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quote "Pan India" as a geographic zone. Always report as eB2B sub-channel of MT.</a:t>
            </a:r>
            <a:endParaRPr lang="en-US" sz="600" dirty="0"/>
          </a:p>
        </p:txBody>
      </p:sp>
      <p:sp>
        <p:nvSpPr>
          <p:cNvPr id="89" name="Text 85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applied Aug pack</a:t>
            </a:r>
            <a:endParaRPr lang="en-US" sz="620" dirty="0"/>
          </a:p>
        </p:txBody>
      </p:sp>
      <p:sp>
        <p:nvSpPr>
          <p:cNvPr id="90" name="Shape 86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7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620" dirty="0"/>
          </a:p>
        </p:txBody>
      </p:sp>
      <p:sp>
        <p:nvSpPr>
          <p:cNvPr id="93" name="Text 89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B2C sits inside this number and cannot be split</a:t>
            </a:r>
            <a:endParaRPr lang="en-US" sz="740" dirty="0"/>
          </a:p>
        </p:txBody>
      </p:sp>
      <p:sp>
        <p:nvSpPr>
          <p:cNvPr id="94" name="Text 90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combines FSN (B2C marketplace) with Nykaa SS (eB2B) at article level. Carry the whole account under eB2B until separated feeds exist.</a:t>
            </a:r>
            <a:endParaRPr lang="en-US" sz="650" dirty="0"/>
          </a:p>
        </p:txBody>
      </p:sp>
      <p:sp>
        <p:nvSpPr>
          <p:cNvPr id="95" name="Shape 91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separated FSN and Nykaa SS feeds from the data owner.</a:t>
            </a:r>
            <a:endParaRPr lang="en-US" sz="600" dirty="0"/>
          </a:p>
        </p:txBody>
      </p:sp>
      <p:sp>
        <p:nvSpPr>
          <p:cNvPr id="97" name="Text 93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98" name="Shape 94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Shape 95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101" name="Text 97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 July flow, 97.8% across FY27 to date</a:t>
            </a:r>
            <a:endParaRPr lang="en-US" sz="740" dirty="0"/>
          </a:p>
        </p:txBody>
      </p:sp>
      <p:sp>
        <p:nvSpPr>
          <p:cNvPr id="102" name="Text 98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runs close to real time, so billing and selling stay in step. A useful ceiling, but the model does not transfer to hypermarket accounts.</a:t>
            </a:r>
            <a:endParaRPr lang="en-US" sz="650" dirty="0"/>
          </a:p>
        </p:txBody>
      </p:sp>
      <p:sp>
        <p:nvSpPr>
          <p:cNvPr id="103" name="Shape 99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0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eB2B flow on its own line; never blend it into the MT conversion rate.</a:t>
            </a:r>
            <a:endParaRPr lang="en-US" sz="600" dirty="0"/>
          </a:p>
        </p:txBody>
      </p:sp>
      <p:sp>
        <p:nvSpPr>
          <p:cNvPr id="105" name="Text 101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standing</a:t>
            </a:r>
            <a:endParaRPr lang="en-US" sz="620" dirty="0"/>
          </a:p>
        </p:txBody>
      </p:sp>
      <p:sp>
        <p:nvSpPr>
          <p:cNvPr id="106" name="Shape 102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Shape 103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4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620" dirty="0"/>
          </a:p>
        </p:txBody>
      </p:sp>
      <p:sp>
        <p:nvSpPr>
          <p:cNvPr id="109" name="Text 105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₹2.07 Cr is down 4.6% on June</a:t>
            </a:r>
            <a:endParaRPr lang="en-US" sz="740" dirty="0"/>
          </a:p>
        </p:txBody>
      </p:sp>
      <p:sp>
        <p:nvSpPr>
          <p:cNvPr id="110" name="Text 106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since. Active EANs fell from 222 in January to 198 in July, so range contraction tracks the softness.</a:t>
            </a:r>
            <a:endParaRPr lang="en-US" sz="650" dirty="0"/>
          </a:p>
        </p:txBody>
      </p:sp>
      <p:sp>
        <p:nvSpPr>
          <p:cNvPr id="111" name="Shape 107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drift before treating it as demand.</a:t>
            </a:r>
            <a:endParaRPr lang="en-US" sz="600" dirty="0"/>
          </a:p>
        </p:txBody>
      </p:sp>
      <p:sp>
        <p:nvSpPr>
          <p:cNvPr id="113" name="Text 109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FSN · 31 Aug</a:t>
            </a:r>
            <a:endParaRPr lang="en-US" sz="620" dirty="0"/>
          </a:p>
        </p:txBody>
      </p:sp>
      <p:sp>
        <p:nvSpPr>
          <p:cNvPr id="114" name="Shape 110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1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17" name="Text 113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Sub-category split returns zero against a ₹1.65 Cr brand total</a:t>
            </a:r>
            <a:endParaRPr lang="en-US" sz="740" dirty="0"/>
          </a:p>
        </p:txBody>
      </p:sp>
      <p:sp>
        <p:nvSpPr>
          <p:cNvPr id="118" name="Text 114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printed ₹0.00 Cr for all three Mamaearth sub-categories while the brand total read ₹1.65 Cr — a broken rollup, not a real result.</a:t>
            </a:r>
            <a:endParaRPr lang="en-US" sz="650" dirty="0"/>
          </a:p>
        </p:txBody>
      </p:sp>
      <p:sp>
        <p:nvSpPr>
          <p:cNvPr id="119" name="Shape 115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eB2B sub-category rollup in the build script before publishing this page again.</a:t>
            </a:r>
            <a:endParaRPr lang="en-US" sz="600" dirty="0"/>
          </a:p>
        </p:txBody>
      </p:sp>
      <p:sp>
        <p:nvSpPr>
          <p:cNvPr id="121" name="Text 117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22" name="Text 118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· FY27 to date: primary ₹8.79 Cr, offtake ₹8.60 Cr, 97.8% flow · included in total MT; excluded from geographic zone conversion benchmark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SIS: MT shop-in-shop sub-channel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view | Shop-in-Shop | FY27 to date | ₹ Lakh | MT sub-channel — reported separately from geographic zones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SIS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₹26.52 L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to date, net of returns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₹29.64 L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MRN returns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RETURNS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−₹4.55 L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15.3% of gross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PRIMARY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0.14%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FY27 all-channel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but real — report on its own line, never inside an MT zone figure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month (₹ Lakh, FY27)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6148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primary by brand (₹ Lakh, FY27)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62656"/>
          <a:ext cx="3090672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809744"/>
            <a:ext cx="6327648" cy="256032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4"/>
          <p:cNvSpPr/>
          <p:nvPr/>
        </p:nvSpPr>
        <p:spPr>
          <a:xfrm>
            <a:off x="374904" y="48280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ACCOUNTS — FY27 TO DATE</a:t>
            </a:r>
            <a:endParaRPr lang="en-US" sz="720" dirty="0"/>
          </a:p>
        </p:txBody>
      </p:sp>
      <p:sp>
        <p:nvSpPr>
          <p:cNvPr id="49" name="Shape 45"/>
          <p:cNvSpPr/>
          <p:nvPr/>
        </p:nvSpPr>
        <p:spPr>
          <a:xfrm>
            <a:off x="265176" y="51572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175504"/>
            <a:ext cx="16981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2127939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(₹ L)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3303074" y="5175504"/>
            <a:ext cx="1065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(₹ L)</a:t>
            </a:r>
            <a:endParaRPr lang="en-US" sz="660" dirty="0"/>
          </a:p>
        </p:txBody>
      </p:sp>
      <p:sp>
        <p:nvSpPr>
          <p:cNvPr id="53" name="Text 49"/>
          <p:cNvSpPr/>
          <p:nvPr/>
        </p:nvSpPr>
        <p:spPr>
          <a:xfrm>
            <a:off x="4478209" y="5175504"/>
            <a:ext cx="205975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54" name="Shape 50"/>
          <p:cNvSpPr/>
          <p:nvPr/>
        </p:nvSpPr>
        <p:spPr>
          <a:xfrm>
            <a:off x="265176" y="541324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1"/>
          <p:cNvSpPr/>
          <p:nvPr/>
        </p:nvSpPr>
        <p:spPr>
          <a:xfrm>
            <a:off x="265176" y="574243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320040" y="5413248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</a:t>
            </a:r>
            <a:endParaRPr lang="en-US" sz="740" dirty="0"/>
          </a:p>
        </p:txBody>
      </p:sp>
      <p:sp>
        <p:nvSpPr>
          <p:cNvPr id="57" name="Text 53"/>
          <p:cNvSpPr/>
          <p:nvPr/>
        </p:nvSpPr>
        <p:spPr>
          <a:xfrm>
            <a:off x="2127939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23.38</a:t>
            </a:r>
            <a:endParaRPr lang="en-US" sz="740" dirty="0"/>
          </a:p>
        </p:txBody>
      </p:sp>
      <p:sp>
        <p:nvSpPr>
          <p:cNvPr id="58" name="Text 54"/>
          <p:cNvSpPr/>
          <p:nvPr/>
        </p:nvSpPr>
        <p:spPr>
          <a:xfrm>
            <a:off x="3303074" y="5413248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40" dirty="0"/>
          </a:p>
        </p:txBody>
      </p:sp>
      <p:sp>
        <p:nvSpPr>
          <p:cNvPr id="59" name="Text 55"/>
          <p:cNvSpPr/>
          <p:nvPr/>
        </p:nvSpPr>
        <p:spPr>
          <a:xfrm>
            <a:off x="4478209" y="5413248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SIS account; no offtake feed</a:t>
            </a:r>
            <a:endParaRPr lang="en-US" sz="740" dirty="0"/>
          </a:p>
        </p:txBody>
      </p:sp>
      <p:sp>
        <p:nvSpPr>
          <p:cNvPr id="60" name="Shape 56"/>
          <p:cNvSpPr/>
          <p:nvPr/>
        </p:nvSpPr>
        <p:spPr>
          <a:xfrm>
            <a:off x="265176" y="60716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5742432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</a:t>
            </a:r>
            <a:endParaRPr lang="en-US" sz="740" dirty="0"/>
          </a:p>
        </p:txBody>
      </p:sp>
      <p:sp>
        <p:nvSpPr>
          <p:cNvPr id="62" name="Text 58"/>
          <p:cNvSpPr/>
          <p:nvPr/>
        </p:nvSpPr>
        <p:spPr>
          <a:xfrm>
            <a:off x="2127939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4.87</a:t>
            </a:r>
            <a:endParaRPr lang="en-US" sz="740" dirty="0"/>
          </a:p>
        </p:txBody>
      </p:sp>
      <p:sp>
        <p:nvSpPr>
          <p:cNvPr id="63" name="Text 59"/>
          <p:cNvSpPr/>
          <p:nvPr/>
        </p:nvSpPr>
        <p:spPr>
          <a:xfrm>
            <a:off x="3303074" y="5742432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</a:t>
            </a:r>
            <a:endParaRPr lang="en-US" sz="740" dirty="0"/>
          </a:p>
        </p:txBody>
      </p:sp>
      <p:sp>
        <p:nvSpPr>
          <p:cNvPr id="64" name="Text 60"/>
          <p:cNvSpPr/>
          <p:nvPr/>
        </p:nvSpPr>
        <p:spPr>
          <a:xfrm>
            <a:off x="4478209" y="5742432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account with both sides mapped</a:t>
            </a:r>
            <a:endParaRPr lang="en-US" sz="740" dirty="0"/>
          </a:p>
        </p:txBody>
      </p:sp>
      <p:sp>
        <p:nvSpPr>
          <p:cNvPr id="65" name="Shape 61"/>
          <p:cNvSpPr/>
          <p:nvPr/>
        </p:nvSpPr>
        <p:spPr>
          <a:xfrm>
            <a:off x="265176" y="607161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2"/>
          <p:cNvSpPr/>
          <p:nvPr/>
        </p:nvSpPr>
        <p:spPr>
          <a:xfrm>
            <a:off x="265176" y="64008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3"/>
          <p:cNvSpPr/>
          <p:nvPr/>
        </p:nvSpPr>
        <p:spPr>
          <a:xfrm>
            <a:off x="320040" y="6071616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Broadway</a:t>
            </a:r>
            <a:endParaRPr lang="en-US" sz="740" dirty="0"/>
          </a:p>
        </p:txBody>
      </p:sp>
      <p:sp>
        <p:nvSpPr>
          <p:cNvPr id="68" name="Text 64"/>
          <p:cNvSpPr/>
          <p:nvPr/>
        </p:nvSpPr>
        <p:spPr>
          <a:xfrm>
            <a:off x="2127939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−1.73</a:t>
            </a:r>
            <a:endParaRPr lang="en-US" sz="740" dirty="0"/>
          </a:p>
        </p:txBody>
      </p:sp>
      <p:sp>
        <p:nvSpPr>
          <p:cNvPr id="69" name="Text 65"/>
          <p:cNvSpPr/>
          <p:nvPr/>
        </p:nvSpPr>
        <p:spPr>
          <a:xfrm>
            <a:off x="3303074" y="6071616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40" dirty="0"/>
          </a:p>
        </p:txBody>
      </p:sp>
      <p:sp>
        <p:nvSpPr>
          <p:cNvPr id="70" name="Text 66"/>
          <p:cNvSpPr/>
          <p:nvPr/>
        </p:nvSpPr>
        <p:spPr>
          <a:xfrm>
            <a:off x="4478209" y="6071616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negative — returns exceed billing</a:t>
            </a:r>
            <a:endParaRPr lang="en-US" sz="740" dirty="0"/>
          </a:p>
        </p:txBody>
      </p:sp>
      <p:sp>
        <p:nvSpPr>
          <p:cNvPr id="71" name="Shape 67"/>
          <p:cNvSpPr/>
          <p:nvPr/>
        </p:nvSpPr>
        <p:spPr>
          <a:xfrm>
            <a:off x="265176" y="67299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400800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740" dirty="0"/>
          </a:p>
        </p:txBody>
      </p:sp>
      <p:sp>
        <p:nvSpPr>
          <p:cNvPr id="73" name="Text 69"/>
          <p:cNvSpPr/>
          <p:nvPr/>
        </p:nvSpPr>
        <p:spPr>
          <a:xfrm>
            <a:off x="2127939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billed</a:t>
            </a:r>
            <a:endParaRPr lang="en-US" sz="740" dirty="0"/>
          </a:p>
        </p:txBody>
      </p:sp>
      <p:sp>
        <p:nvSpPr>
          <p:cNvPr id="74" name="Text 70"/>
          <p:cNvSpPr/>
          <p:nvPr/>
        </p:nvSpPr>
        <p:spPr>
          <a:xfrm>
            <a:off x="3303074" y="6400800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</a:t>
            </a:r>
            <a:endParaRPr lang="en-US" sz="740" dirty="0"/>
          </a:p>
        </p:txBody>
      </p:sp>
      <p:sp>
        <p:nvSpPr>
          <p:cNvPr id="75" name="Text 71"/>
          <p:cNvSpPr/>
          <p:nvPr/>
        </p:nvSpPr>
        <p:spPr>
          <a:xfrm>
            <a:off x="4478209" y="6400800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with no SIS primary</a:t>
            </a:r>
            <a:endParaRPr lang="en-US" sz="740" dirty="0"/>
          </a:p>
        </p:txBody>
      </p:sp>
      <p:sp>
        <p:nvSpPr>
          <p:cNvPr id="76" name="Shape 72"/>
          <p:cNvSpPr/>
          <p:nvPr/>
        </p:nvSpPr>
        <p:spPr>
          <a:xfrm>
            <a:off x="265176" y="672998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3"/>
          <p:cNvSpPr/>
          <p:nvPr/>
        </p:nvSpPr>
        <p:spPr>
          <a:xfrm>
            <a:off x="265176" y="70591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4"/>
          <p:cNvSpPr/>
          <p:nvPr/>
        </p:nvSpPr>
        <p:spPr>
          <a:xfrm>
            <a:off x="320040" y="6729984"/>
            <a:ext cx="16981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Basket</a:t>
            </a:r>
            <a:endParaRPr lang="en-US" sz="740" dirty="0"/>
          </a:p>
        </p:txBody>
      </p:sp>
      <p:sp>
        <p:nvSpPr>
          <p:cNvPr id="79" name="Text 75"/>
          <p:cNvSpPr/>
          <p:nvPr/>
        </p:nvSpPr>
        <p:spPr>
          <a:xfrm>
            <a:off x="2127939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in FY27</a:t>
            </a:r>
            <a:endParaRPr lang="en-US" sz="740" dirty="0"/>
          </a:p>
        </p:txBody>
      </p:sp>
      <p:sp>
        <p:nvSpPr>
          <p:cNvPr id="80" name="Text 76"/>
          <p:cNvSpPr/>
          <p:nvPr/>
        </p:nvSpPr>
        <p:spPr>
          <a:xfrm>
            <a:off x="3303074" y="6729984"/>
            <a:ext cx="106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740" dirty="0"/>
          </a:p>
        </p:txBody>
      </p:sp>
      <p:sp>
        <p:nvSpPr>
          <p:cNvPr id="81" name="Text 77"/>
          <p:cNvSpPr/>
          <p:nvPr/>
        </p:nvSpPr>
        <p:spPr>
          <a:xfrm>
            <a:off x="4478209" y="6729984"/>
            <a:ext cx="20597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account, dormant in FY27</a:t>
            </a:r>
            <a:endParaRPr lang="en-US" sz="740" dirty="0"/>
          </a:p>
        </p:txBody>
      </p:sp>
      <p:sp>
        <p:nvSpPr>
          <p:cNvPr id="82" name="Shape 78"/>
          <p:cNvSpPr/>
          <p:nvPr/>
        </p:nvSpPr>
        <p:spPr>
          <a:xfrm>
            <a:off x="265176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Shape 79"/>
          <p:cNvSpPr/>
          <p:nvPr/>
        </p:nvSpPr>
        <p:spPr>
          <a:xfrm>
            <a:off x="265176" y="7242048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0"/>
          <p:cNvSpPr/>
          <p:nvPr/>
        </p:nvSpPr>
        <p:spPr>
          <a:xfrm>
            <a:off x="347472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IN MT TOTAL</a:t>
            </a:r>
            <a:endParaRPr lang="en-US" sz="700" dirty="0"/>
          </a:p>
        </p:txBody>
      </p:sp>
      <p:sp>
        <p:nvSpPr>
          <p:cNvPr id="85" name="Text 81"/>
          <p:cNvSpPr/>
          <p:nvPr/>
        </p:nvSpPr>
        <p:spPr>
          <a:xfrm>
            <a:off x="356616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₹0.04 Cr</a:t>
            </a:r>
            <a:endParaRPr lang="en-US" sz="1500" dirty="0"/>
          </a:p>
        </p:txBody>
      </p:sp>
      <p:sp>
        <p:nvSpPr>
          <p:cNvPr id="86" name="Text 82"/>
          <p:cNvSpPr/>
          <p:nvPr/>
        </p:nvSpPr>
        <p:spPr>
          <a:xfrm>
            <a:off x="356616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offtake within MT — immaterial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374904" y="822502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493776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Stop, Lifestyle and Broadway offtake sits inside the six geographic zones.</a:t>
            </a:r>
            <a:endParaRPr lang="en-US" sz="690" dirty="0"/>
          </a:p>
        </p:txBody>
      </p:sp>
      <p:sp>
        <p:nvSpPr>
          <p:cNvPr id="89" name="Shape 85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6"/>
          <p:cNvSpPr/>
          <p:nvPr/>
        </p:nvSpPr>
        <p:spPr>
          <a:xfrm>
            <a:off x="493776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is 0.02% of total MT offtake — included in ₹36.10 Cr national MT figure.</a:t>
            </a:r>
            <a:endParaRPr lang="en-US" sz="690" dirty="0"/>
          </a:p>
        </p:txBody>
      </p:sp>
      <p:sp>
        <p:nvSpPr>
          <p:cNvPr id="91" name="Shape 87"/>
          <p:cNvSpPr/>
          <p:nvPr/>
        </p:nvSpPr>
        <p:spPr>
          <a:xfrm>
            <a:off x="374904" y="8993124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88"/>
          <p:cNvSpPr/>
          <p:nvPr/>
        </p:nvSpPr>
        <p:spPr>
          <a:xfrm>
            <a:off x="493776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on this page for transparency; zone conversion benchmark excludes SIS accounts.</a:t>
            </a:r>
            <a:endParaRPr lang="en-US" sz="690" dirty="0"/>
          </a:p>
        </p:txBody>
      </p:sp>
      <p:sp>
        <p:nvSpPr>
          <p:cNvPr id="93" name="Shape 89"/>
          <p:cNvSpPr/>
          <p:nvPr/>
        </p:nvSpPr>
        <p:spPr>
          <a:xfrm>
            <a:off x="2410968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0"/>
          <p:cNvSpPr/>
          <p:nvPr/>
        </p:nvSpPr>
        <p:spPr>
          <a:xfrm>
            <a:off x="2410968" y="724204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2493264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RETURNS FIRST</a:t>
            </a:r>
            <a:endParaRPr lang="en-US" sz="700" dirty="0"/>
          </a:p>
        </p:txBody>
      </p:sp>
      <p:sp>
        <p:nvSpPr>
          <p:cNvPr id="96" name="Text 92"/>
          <p:cNvSpPr/>
          <p:nvPr/>
        </p:nvSpPr>
        <p:spPr>
          <a:xfrm>
            <a:off x="2502408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15.3%</a:t>
            </a:r>
            <a:endParaRPr lang="en-US" sz="1500" dirty="0"/>
          </a:p>
        </p:txBody>
      </p:sp>
      <p:sp>
        <p:nvSpPr>
          <p:cNvPr id="97" name="Text 93"/>
          <p:cNvSpPr/>
          <p:nvPr/>
        </p:nvSpPr>
        <p:spPr>
          <a:xfrm>
            <a:off x="2502408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MRN as a share of gross</a:t>
            </a:r>
            <a:endParaRPr lang="en-US" sz="660" dirty="0"/>
          </a:p>
        </p:txBody>
      </p:sp>
      <p:sp>
        <p:nvSpPr>
          <p:cNvPr id="98" name="Shape 94"/>
          <p:cNvSpPr/>
          <p:nvPr/>
        </p:nvSpPr>
        <p:spPr>
          <a:xfrm>
            <a:off x="2520696" y="822502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639568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₹29.64 L becomes ₹26.52 L net of ₹4.55 L returns.</a:t>
            </a:r>
            <a:endParaRPr lang="en-US" sz="690" dirty="0"/>
          </a:p>
        </p:txBody>
      </p:sp>
      <p:sp>
        <p:nvSpPr>
          <p:cNvPr id="100" name="Shape 96"/>
          <p:cNvSpPr/>
          <p:nvPr/>
        </p:nvSpPr>
        <p:spPr>
          <a:xfrm>
            <a:off x="2520696" y="86090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7"/>
          <p:cNvSpPr/>
          <p:nvPr/>
        </p:nvSpPr>
        <p:spPr>
          <a:xfrm>
            <a:off x="2639568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net negative (−₹0.64 L): returns exceeded billing that month.</a:t>
            </a:r>
            <a:endParaRPr lang="en-US" sz="690" dirty="0"/>
          </a:p>
        </p:txBody>
      </p:sp>
      <p:sp>
        <p:nvSpPr>
          <p:cNvPr id="102" name="Shape 98"/>
          <p:cNvSpPr/>
          <p:nvPr/>
        </p:nvSpPr>
        <p:spPr>
          <a:xfrm>
            <a:off x="2520696" y="899312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639568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quote SIS net; the gross figure overstates by 11.8%.</a:t>
            </a:r>
            <a:endParaRPr lang="en-US" sz="690" dirty="0"/>
          </a:p>
        </p:txBody>
      </p:sp>
      <p:sp>
        <p:nvSpPr>
          <p:cNvPr id="104" name="Shape 100"/>
          <p:cNvSpPr/>
          <p:nvPr/>
        </p:nvSpPr>
        <p:spPr>
          <a:xfrm>
            <a:off x="4556760" y="7242048"/>
            <a:ext cx="2036064" cy="2103120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5" name="Shape 101"/>
          <p:cNvSpPr/>
          <p:nvPr/>
        </p:nvSpPr>
        <p:spPr>
          <a:xfrm>
            <a:off x="4556760" y="7242048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2"/>
          <p:cNvSpPr/>
          <p:nvPr/>
        </p:nvSpPr>
        <p:spPr>
          <a:xfrm>
            <a:off x="4639056" y="726033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700" dirty="0"/>
          </a:p>
        </p:txBody>
      </p:sp>
      <p:sp>
        <p:nvSpPr>
          <p:cNvPr id="107" name="Text 103"/>
          <p:cNvSpPr/>
          <p:nvPr/>
        </p:nvSpPr>
        <p:spPr>
          <a:xfrm>
            <a:off x="4648200" y="7607808"/>
            <a:ext cx="1853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662 rows</a:t>
            </a:r>
            <a:endParaRPr lang="en-US" sz="1500" dirty="0"/>
          </a:p>
        </p:txBody>
      </p:sp>
      <p:sp>
        <p:nvSpPr>
          <p:cNvPr id="108" name="Text 104"/>
          <p:cNvSpPr/>
          <p:nvPr/>
        </p:nvSpPr>
        <p:spPr>
          <a:xfrm>
            <a:off x="4648200" y="795528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not row-capped</a:t>
            </a:r>
            <a:endParaRPr lang="en-US" sz="660" dirty="0"/>
          </a:p>
        </p:txBody>
      </p:sp>
      <p:sp>
        <p:nvSpPr>
          <p:cNvPr id="109" name="Shape 105"/>
          <p:cNvSpPr/>
          <p:nvPr/>
        </p:nvSpPr>
        <p:spPr>
          <a:xfrm>
            <a:off x="4666488" y="822502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6"/>
          <p:cNvSpPr/>
          <p:nvPr/>
        </p:nvSpPr>
        <p:spPr>
          <a:xfrm>
            <a:off x="4785360" y="8174736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exact-duplicate invoice lines detected, not deduplicated.</a:t>
            </a:r>
            <a:endParaRPr lang="en-US" sz="690" dirty="0"/>
          </a:p>
        </p:txBody>
      </p:sp>
      <p:sp>
        <p:nvSpPr>
          <p:cNvPr id="111" name="Shape 107"/>
          <p:cNvSpPr/>
          <p:nvPr/>
        </p:nvSpPr>
        <p:spPr>
          <a:xfrm>
            <a:off x="4666488" y="86090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08"/>
          <p:cNvSpPr/>
          <p:nvPr/>
        </p:nvSpPr>
        <p:spPr>
          <a:xfrm>
            <a:off x="4785360" y="8558784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₹2.48 L — checked and judged negligible, but unresolved.</a:t>
            </a:r>
            <a:endParaRPr lang="en-US" sz="690" dirty="0"/>
          </a:p>
        </p:txBody>
      </p:sp>
      <p:sp>
        <p:nvSpPr>
          <p:cNvPr id="113" name="Shape 109"/>
          <p:cNvSpPr/>
          <p:nvPr/>
        </p:nvSpPr>
        <p:spPr>
          <a:xfrm>
            <a:off x="4666488" y="8993124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0"/>
          <p:cNvSpPr/>
          <p:nvPr/>
        </p:nvSpPr>
        <p:spPr>
          <a:xfrm>
            <a:off x="4785360" y="8942832"/>
            <a:ext cx="1697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Azorte has primary and no offtake; Lifestyle the reverse.</a:t>
            </a:r>
            <a:endParaRPr lang="en-US" sz="690" dirty="0"/>
          </a:p>
        </p:txBody>
      </p:sp>
      <p:sp>
        <p:nvSpPr>
          <p:cNvPr id="115" name="Shape 111"/>
          <p:cNvSpPr/>
          <p:nvPr/>
        </p:nvSpPr>
        <p:spPr>
          <a:xfrm>
            <a:off x="265176" y="94914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2"/>
          <p:cNvSpPr/>
          <p:nvPr/>
        </p:nvSpPr>
        <p:spPr>
          <a:xfrm>
            <a:off x="374904" y="95097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STRUCTURE</a:t>
            </a:r>
            <a:endParaRPr lang="en-US" sz="720" dirty="0"/>
          </a:p>
        </p:txBody>
      </p:sp>
      <p:sp>
        <p:nvSpPr>
          <p:cNvPr id="117" name="Shape 113"/>
          <p:cNvSpPr/>
          <p:nvPr/>
        </p:nvSpPr>
        <p:spPr>
          <a:xfrm>
            <a:off x="356616" y="9907524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4"/>
          <p:cNvSpPr/>
          <p:nvPr/>
        </p:nvSpPr>
        <p:spPr>
          <a:xfrm>
            <a:off x="475488" y="9857232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 (total) → geographic zones + eB2B sub-channel + SIS sub-channel = ₹49.21 Cr primary, ₹36.10 Cr offtake.</a:t>
            </a:r>
            <a:endParaRPr lang="en-US" sz="700" dirty="0"/>
          </a:p>
        </p:txBody>
      </p:sp>
      <p:sp>
        <p:nvSpPr>
          <p:cNvPr id="119" name="Shape 115"/>
          <p:cNvSpPr/>
          <p:nvPr/>
        </p:nvSpPr>
        <p:spPr>
          <a:xfrm>
            <a:off x="356616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6"/>
          <p:cNvSpPr/>
          <p:nvPr/>
        </p:nvSpPr>
        <p:spPr>
          <a:xfrm>
            <a:off x="475488" y="10149840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zones (6) → MT store accounts. Used for zone conversion benchmark and gap analysis. Primary ₹47.02 Cr, offtake ₹33.96 Cr.</a:t>
            </a:r>
            <a:endParaRPr lang="en-US" sz="700" dirty="0"/>
          </a:p>
        </p:txBody>
      </p:sp>
      <p:sp>
        <p:nvSpPr>
          <p:cNvPr id="121" name="Shape 117"/>
          <p:cNvSpPr/>
          <p:nvPr/>
        </p:nvSpPr>
        <p:spPr>
          <a:xfrm>
            <a:off x="356616" y="10492740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18"/>
          <p:cNvSpPr/>
          <p:nvPr/>
        </p:nvSpPr>
        <p:spPr>
          <a:xfrm>
            <a:off x="475488" y="10442448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→ Nykaa (FSN) and Eremedium. FY27 primary ₹8.79 Cr, offtake ₹8.60 Cr. Formerly mis-labelled "Pan India" zone.</a:t>
            </a:r>
            <a:endParaRPr lang="en-US" sz="700" dirty="0"/>
          </a:p>
        </p:txBody>
      </p:sp>
      <p:sp>
        <p:nvSpPr>
          <p:cNvPr id="123" name="Shape 119"/>
          <p:cNvSpPr/>
          <p:nvPr/>
        </p:nvSpPr>
        <p:spPr>
          <a:xfrm>
            <a:off x="356616" y="10785348"/>
            <a:ext cx="50292" cy="50292"/>
          </a:xfrm>
          <a:prstGeom prst="ellipse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0"/>
          <p:cNvSpPr/>
          <p:nvPr/>
        </p:nvSpPr>
        <p:spPr>
          <a:xfrm>
            <a:off x="475488" y="10735056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sub-channel → Azorte, Shoppers Stop, Broadway, Lifestyle. FY27 net primary ₹0.27 Cr. Included in total MT.</a:t>
            </a:r>
            <a:endParaRPr lang="en-US" sz="700" dirty="0"/>
          </a:p>
        </p:txBody>
      </p:sp>
      <p:sp>
        <p:nvSpPr>
          <p:cNvPr id="125" name="Shape 121"/>
          <p:cNvSpPr/>
          <p:nvPr/>
        </p:nvSpPr>
        <p:spPr>
          <a:xfrm>
            <a:off x="356616" y="110779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2"/>
          <p:cNvSpPr/>
          <p:nvPr/>
        </p:nvSpPr>
        <p:spPr>
          <a:xfrm>
            <a:off x="475488" y="11027664"/>
            <a:ext cx="6025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held in scripts/data/channel_master.json. No channel is merged or rolled into another without a business decision.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July is a Reliance problem — every other chain combined grew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growth and risk | June–July 2026 | ranked by ₹ change above a ₹0.25 Cr materiality floor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1060704"/>
          </a:xfrm>
          <a:prstGeom prst="roundRect">
            <a:avLst>
              <a:gd name="adj" fmla="val 258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71600"/>
            <a:ext cx="5998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Modern Trade fell ₹1.29 Cr month on month. Reliance accounts for ₹1.42 Cr of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comparable chain, added together, grew ₹0.13 Cr.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1956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pack ranked this table by MoM %, which put Sasta Sundar (+127.8% on a ₹1 lakh base) at the top and a ₹1.42 Cr decline in mid-table. Ranked by rupee change, the month has one story.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65176" y="246888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74904" y="248716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CHAINS — ₹0.25 Cr FLOOR, RANKED BY RUPEE CHANGE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265176" y="281635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" y="2834640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18745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2788920" y="2834640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3703320" y="2834640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CHANGE</a:t>
            </a:r>
            <a:endParaRPr lang="en-US" sz="660" dirty="0"/>
          </a:p>
        </p:txBody>
      </p:sp>
      <p:sp>
        <p:nvSpPr>
          <p:cNvPr id="31" name="Text 29"/>
          <p:cNvSpPr/>
          <p:nvPr/>
        </p:nvSpPr>
        <p:spPr>
          <a:xfrm>
            <a:off x="4709160" y="283464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%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5532120" y="283464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265176" y="307238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65176" y="34381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07238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18745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₹9.48 Cr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2788920" y="307238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₹8.06 Cr</a:t>
            </a:r>
            <a:endParaRPr lang="en-US" sz="760" dirty="0"/>
          </a:p>
        </p:txBody>
      </p:sp>
      <p:sp>
        <p:nvSpPr>
          <p:cNvPr id="38" name="Text 36"/>
          <p:cNvSpPr/>
          <p:nvPr/>
        </p:nvSpPr>
        <p:spPr>
          <a:xfrm>
            <a:off x="3703320" y="307238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−1.42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4709160" y="307238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−15.0%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5532120" y="30723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— lead case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265176" y="38039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2004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60" dirty="0"/>
          </a:p>
        </p:txBody>
      </p:sp>
      <p:sp>
        <p:nvSpPr>
          <p:cNvPr id="43" name="Text 41"/>
          <p:cNvSpPr/>
          <p:nvPr/>
        </p:nvSpPr>
        <p:spPr>
          <a:xfrm>
            <a:off x="18745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₹1.16 Cr</a:t>
            </a:r>
            <a:endParaRPr lang="en-US" sz="760" dirty="0"/>
          </a:p>
        </p:txBody>
      </p:sp>
      <p:sp>
        <p:nvSpPr>
          <p:cNvPr id="44" name="Text 42"/>
          <p:cNvSpPr/>
          <p:nvPr/>
        </p:nvSpPr>
        <p:spPr>
          <a:xfrm>
            <a:off x="2788920" y="343814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₹1.70 Cr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3703320" y="343814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+0.54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4709160" y="34381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</a:t>
            </a:r>
            <a:endParaRPr lang="en-US" sz="760" dirty="0"/>
          </a:p>
        </p:txBody>
      </p:sp>
      <p:sp>
        <p:nvSpPr>
          <p:cNvPr id="47" name="Text 45"/>
          <p:cNvSpPr/>
          <p:nvPr/>
        </p:nvSpPr>
        <p:spPr>
          <a:xfrm>
            <a:off x="5532120" y="343814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— no mapped primary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265176" y="3803904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65176" y="41696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320040" y="380390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60" dirty="0"/>
          </a:p>
        </p:txBody>
      </p:sp>
      <p:sp>
        <p:nvSpPr>
          <p:cNvPr id="51" name="Text 49"/>
          <p:cNvSpPr/>
          <p:nvPr/>
        </p:nvSpPr>
        <p:spPr>
          <a:xfrm>
            <a:off x="18745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₹14.56 Cr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2788920" y="380390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₹14.33 Cr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3703320" y="3803904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4709160" y="380390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−1.5%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5532120" y="38039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6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— largest account</a:t>
            </a:r>
            <a:endParaRPr lang="en-US" sz="760" dirty="0"/>
          </a:p>
        </p:txBody>
      </p:sp>
      <p:sp>
        <p:nvSpPr>
          <p:cNvPr id="56" name="Shape 54"/>
          <p:cNvSpPr/>
          <p:nvPr/>
        </p:nvSpPr>
        <p:spPr>
          <a:xfrm>
            <a:off x="265176" y="4297680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F4F9F8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74904" y="4343400"/>
            <a:ext cx="6108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6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  </a:t>
            </a: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chains moved less than ₹0.25 Cr and are excluded from ranking: Wellness Forever −0.08, Metro −0.12, Vishal Mega Mart +0.05, More Retail −0.03, Health &amp; Glow −0.01, V-Mart −0.01, Spencer +0.01, Arambagh −0.01, Ratandeep 0.00, Sasta Sundar +0.01, Sumo Save +0.01. Combined they moved −₹0.19 Cr.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265176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265176" y="4846320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47472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−₹1.42 Cr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56616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Reliance, June → July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374904" y="58658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3776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Shampoo and Sun Care carry most of the fall.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74904" y="62682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93776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converts 51.4% nationally — 44.9% in North, 52.9% in East.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74904" y="667054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is the pattern; the zones are where it shows.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410968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2410968" y="4846320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2493264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UNVERIFIED GROWTH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2502408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+₹0.54 Cr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2502408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on ₹0 mapped primary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520696" y="5865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2639568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"Scale" in the source pack on a +46.5% MoM read.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2520696" y="62682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639568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 is joined to this account, so flow cannot be tested.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20696" y="667054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2639568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recommendation until the billing route is mapped.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56760" y="4846320"/>
            <a:ext cx="2036064" cy="2249424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556760" y="4846320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4639056" y="4864608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BOOK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648200" y="5212080"/>
            <a:ext cx="1853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+₹0.13 Cr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4648200" y="5577840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chains except Reliance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666488" y="586587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4785360" y="5815584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−₹0.23 Cr on a ₹14.33 Cr base is normal variation.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4666488" y="62682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785360" y="6217920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 account shows a material decline.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666488" y="667054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4785360" y="6620256"/>
            <a:ext cx="1697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launch a broad recovery programme for a single-account month.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265176" y="724204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74904" y="726033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READOUT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356616" y="76581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5488" y="7607808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explains the month. Run a Reliance recovery loop, not a Modern Trade recovery programme.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356616" y="8060436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5488" y="8010144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comparable set covers ₹26.90 Cr of ₹33.96 Cr national MT offtake — 79.2%. Chains with missing July feeds are data gaps, not de-growth, and stay outside the ranking.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356616" y="846277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5488" y="8412480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chains — Lulu, Wellness Forever, Health &amp; Glow — show offtake against unmapped primary. Their growth reads cannot be verified and must not drive field action.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6616" y="8865108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475488" y="8814816"/>
            <a:ext cx="6025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Reinstate percentage ranking only above the ₹0.25 Cr floor; below it, report absolute change.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265176" y="9418320"/>
            <a:ext cx="6327648" cy="603504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100"/>
          <p:cNvSpPr/>
          <p:nvPr/>
        </p:nvSpPr>
        <p:spPr>
          <a:xfrm>
            <a:off x="393192" y="9500616"/>
            <a:ext cx="6071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ACTING ON THIS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is not a trend. Reliance −15.0% is measured against June alone, and a single extreme month partly reverts on its own. Re-run this comparison against a rolling three-month base before committing trade spend, so the recovery programme is sized against the underlying rate rather than against one month of noise.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Fix the specific commercial loophole — not the whole account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recovery plan | evidence, action, success KPI and value at stake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74904" y="1280160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RECOVERY LOOP — ORDERED BY VALUE AT STAKE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265176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65176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56616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failure, not demand failure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6616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56616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6616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51.4% nationally — 44.9% North, 52.9% East, 51.2% Central. Same weakness in every zone it operates.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56616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56616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incremental loading until conversion clears 65%; run hero-EAN OSA audit against the Apollo cadence.</a:t>
            </a:r>
            <a:endParaRPr lang="en-US" sz="680" dirty="0"/>
          </a:p>
        </p:txBody>
      </p:sp>
      <p:sp>
        <p:nvSpPr>
          <p:cNvPr id="31" name="Text 29"/>
          <p:cNvSpPr/>
          <p:nvPr/>
        </p:nvSpPr>
        <p:spPr>
          <a:xfrm>
            <a:off x="356616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51.4% → 76.5% (DMart parity)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56616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 · 25 Aug</a:t>
            </a:r>
            <a:endParaRPr lang="en-US" sz="620" dirty="0"/>
          </a:p>
        </p:txBody>
      </p:sp>
      <p:sp>
        <p:nvSpPr>
          <p:cNvPr id="33" name="Shape 31"/>
          <p:cNvSpPr/>
          <p:nvPr/>
        </p:nvSpPr>
        <p:spPr>
          <a:xfrm>
            <a:off x="2410968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10968" y="1609344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93264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502408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behaving unlike the account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502408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2502408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502408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converts 94.2% in West and 95.3% in Central, but 45.1% in South-2 — a regional break, not a chain issue.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2502408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502408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DC-to-store fill rate and top-SKU store availability against the West benchmark.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2502408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South-2 conversion to 80%+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502408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 · 22 Aug</a:t>
            </a:r>
            <a:endParaRPr lang="en-US" sz="620" dirty="0"/>
          </a:p>
        </p:txBody>
      </p:sp>
      <p:sp>
        <p:nvSpPr>
          <p:cNvPr id="44" name="Shape 42"/>
          <p:cNvSpPr/>
          <p:nvPr/>
        </p:nvSpPr>
        <p:spPr>
          <a:xfrm>
            <a:off x="4556760" y="1609344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56760" y="1609344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639056" y="1627632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648200" y="1975104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claim without a primary join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48200" y="2286000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648200" y="252374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648200" y="266090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+46.5% MoM on ₹1.70 Cr offtake with zero mapped primary. The growth may be real or a mapping artefact.</a:t>
            </a:r>
            <a:endParaRPr lang="en-US" sz="680" dirty="0"/>
          </a:p>
        </p:txBody>
      </p:sp>
      <p:sp>
        <p:nvSpPr>
          <p:cNvPr id="51" name="Text 49"/>
          <p:cNvSpPr/>
          <p:nvPr/>
        </p:nvSpPr>
        <p:spPr>
          <a:xfrm>
            <a:off x="4648200" y="310896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48200" y="3246120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Lulu billing route before any field instruction is issued on this account.</a:t>
            </a:r>
            <a:endParaRPr lang="en-US" sz="680" dirty="0"/>
          </a:p>
        </p:txBody>
      </p:sp>
      <p:sp>
        <p:nvSpPr>
          <p:cNvPr id="53" name="Text 51"/>
          <p:cNvSpPr/>
          <p:nvPr/>
        </p:nvSpPr>
        <p:spPr>
          <a:xfrm>
            <a:off x="4648200" y="3822192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mapped and flow computable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648200" y="407822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265176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265176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347472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 below the floor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₹0.12 Cr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56616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356616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20.5% MoM but only ₹0.12 Cr in absolute terms — more SKUs on lower sales per SKU.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356616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356616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range expansion and remove non-productive EANs; no separate recovery programme.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356616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 SKU and per store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356616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Metro · Sep cycle</a:t>
            </a:r>
            <a:endParaRPr lang="en-US" sz="620" dirty="0"/>
          </a:p>
        </p:txBody>
      </p:sp>
      <p:sp>
        <p:nvSpPr>
          <p:cNvPr id="66" name="Shape 64"/>
          <p:cNvSpPr/>
          <p:nvPr/>
        </p:nvSpPr>
        <p:spPr>
          <a:xfrm>
            <a:off x="2410968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410968" y="440740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2493264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2502408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cadence worth exporting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2502408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2502408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502408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Near-parity flow nationally. Zone figures read 121–149%, so the model is sound but the stock reconciliation is not.</a:t>
            </a:r>
            <a:endParaRPr lang="en-US" sz="680" dirty="0"/>
          </a:p>
        </p:txBody>
      </p:sp>
      <p:sp>
        <p:nvSpPr>
          <p:cNvPr id="73" name="Text 71"/>
          <p:cNvSpPr/>
          <p:nvPr/>
        </p:nvSpPr>
        <p:spPr>
          <a:xfrm>
            <a:off x="2502408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2502408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order frequency and assortment depth as a scoring template; reconcile opening stock.</a:t>
            </a:r>
            <a:endParaRPr lang="en-US" sz="680" dirty="0"/>
          </a:p>
        </p:txBody>
      </p:sp>
      <p:sp>
        <p:nvSpPr>
          <p:cNvPr id="75" name="Text 73"/>
          <p:cNvSpPr/>
          <p:nvPr/>
        </p:nvSpPr>
        <p:spPr>
          <a:xfrm>
            <a:off x="2502408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published and applied to 2 accounts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2502408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 · 31 Aug</a:t>
            </a:r>
            <a:endParaRPr lang="en-US" sz="620" dirty="0"/>
          </a:p>
        </p:txBody>
      </p:sp>
      <p:sp>
        <p:nvSpPr>
          <p:cNvPr id="77" name="Shape 75"/>
          <p:cNvSpPr/>
          <p:nvPr/>
        </p:nvSpPr>
        <p:spPr>
          <a:xfrm>
            <a:off x="4556760" y="4407408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4556760" y="440740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639056" y="442569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H&amp;G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4648200" y="4773168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above unmapped primary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648200" y="5084064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₹0.53 Cr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648200" y="532180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648200" y="545896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show more offtake than mapped primary — ₹0.24 Cr and ₹0.29 Cr of negative gap that nets against real shortfalls.</a:t>
            </a:r>
            <a:endParaRPr lang="en-US" sz="680" dirty="0"/>
          </a:p>
        </p:txBody>
      </p:sp>
      <p:sp>
        <p:nvSpPr>
          <p:cNvPr id="84" name="Text 82"/>
          <p:cNvSpPr/>
          <p:nvPr/>
        </p:nvSpPr>
        <p:spPr>
          <a:xfrm>
            <a:off x="4648200" y="5907024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4648200" y="6044184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both billing routes; report gross positive and gross negative gap separately.</a:t>
            </a:r>
            <a:endParaRPr lang="en-US" sz="680" dirty="0"/>
          </a:p>
        </p:txBody>
      </p:sp>
      <p:sp>
        <p:nvSpPr>
          <p:cNvPr id="86" name="Text 84"/>
          <p:cNvSpPr/>
          <p:nvPr/>
        </p:nvSpPr>
        <p:spPr>
          <a:xfrm>
            <a:off x="4648200" y="6620256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unmapped material chains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4648200" y="6876288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88" name="Shape 86"/>
          <p:cNvSpPr/>
          <p:nvPr/>
        </p:nvSpPr>
        <p:spPr>
          <a:xfrm>
            <a:off x="265176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65176" y="7205472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347472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/ NYKAA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56616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Protect, and stop netting it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356616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₹2.07 Cr</a:t>
            </a:r>
            <a:endParaRPr lang="en-US" sz="600" dirty="0"/>
          </a:p>
        </p:txBody>
      </p:sp>
      <p:sp>
        <p:nvSpPr>
          <p:cNvPr id="93" name="Text 91"/>
          <p:cNvSpPr/>
          <p:nvPr/>
        </p:nvSpPr>
        <p:spPr>
          <a:xfrm>
            <a:off x="356616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356616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 flow, but July down 4.6% on June and active EANs down from 222 to 198 since January.</a:t>
            </a:r>
            <a:endParaRPr lang="en-US" sz="680" dirty="0"/>
          </a:p>
        </p:txBody>
      </p:sp>
      <p:sp>
        <p:nvSpPr>
          <p:cNvPr id="95" name="Text 93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96" name="Text 94"/>
          <p:cNvSpPr/>
          <p:nvPr/>
        </p:nvSpPr>
        <p:spPr>
          <a:xfrm>
            <a:off x="356616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the 24 delisted EANs explain the softness; report outside geographic gap arithmetic.</a:t>
            </a:r>
            <a:endParaRPr lang="en-US" sz="680" dirty="0"/>
          </a:p>
        </p:txBody>
      </p:sp>
      <p:sp>
        <p:nvSpPr>
          <p:cNvPr id="97" name="Text 95"/>
          <p:cNvSpPr/>
          <p:nvPr/>
        </p:nvSpPr>
        <p:spPr>
          <a:xfrm>
            <a:off x="356616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above 95%, return to ₹2.17 Cr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356616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FSN + Analyst · 31 Aug</a:t>
            </a:r>
            <a:endParaRPr lang="en-US" sz="620" dirty="0"/>
          </a:p>
        </p:txBody>
      </p:sp>
      <p:sp>
        <p:nvSpPr>
          <p:cNvPr id="99" name="Shape 97"/>
          <p:cNvSpPr/>
          <p:nvPr/>
        </p:nvSpPr>
        <p:spPr>
          <a:xfrm>
            <a:off x="2410968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410968" y="720547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2493264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MEGA MART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2502408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outrunning execution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2502408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₹0.05 Cr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2502408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05" name="Text 103"/>
          <p:cNvSpPr/>
          <p:nvPr/>
        </p:nvSpPr>
        <p:spPr>
          <a:xfrm>
            <a:off x="2502408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up 10.2% and offtake up 18.2%, but the account carries no mapped primary in the East cut.</a:t>
            </a:r>
            <a:endParaRPr lang="en-US" sz="680" dirty="0"/>
          </a:p>
        </p:txBody>
      </p:sp>
      <p:sp>
        <p:nvSpPr>
          <p:cNvPr id="106" name="Text 104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2502408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fill rate before adding doors; map primary.</a:t>
            </a:r>
            <a:endParaRPr lang="en-US" sz="680" dirty="0"/>
          </a:p>
        </p:txBody>
      </p:sp>
      <p:sp>
        <p:nvSpPr>
          <p:cNvPr id="108" name="Text 106"/>
          <p:cNvSpPr/>
          <p:nvPr/>
        </p:nvSpPr>
        <p:spPr>
          <a:xfrm>
            <a:off x="2502408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 and sales per new door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2502408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RKAM East · Sep cycle</a:t>
            </a:r>
            <a:endParaRPr lang="en-US" sz="620" dirty="0"/>
          </a:p>
        </p:txBody>
      </p:sp>
      <p:sp>
        <p:nvSpPr>
          <p:cNvPr id="110" name="Shape 108"/>
          <p:cNvSpPr/>
          <p:nvPr/>
        </p:nvSpPr>
        <p:spPr>
          <a:xfrm>
            <a:off x="4556760" y="7205472"/>
            <a:ext cx="2036064" cy="267004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4556760" y="7205472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4639056" y="722376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4648200" y="7571232"/>
            <a:ext cx="1853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chains, ₹0.19 Cr combined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648200" y="7882128"/>
            <a:ext cx="1853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  </a:t>
            </a:r>
            <a:r>
              <a:rPr lang="en-US" sz="800" b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floor</a:t>
            </a:r>
            <a:endParaRPr lang="en-US" sz="600" dirty="0"/>
          </a:p>
        </p:txBody>
      </p:sp>
      <p:sp>
        <p:nvSpPr>
          <p:cNvPr id="115" name="Text 113"/>
          <p:cNvSpPr/>
          <p:nvPr/>
        </p:nvSpPr>
        <p:spPr>
          <a:xfrm>
            <a:off x="4648200" y="8119872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00" dirty="0"/>
          </a:p>
        </p:txBody>
      </p:sp>
      <p:sp>
        <p:nvSpPr>
          <p:cNvPr id="116" name="Text 114"/>
          <p:cNvSpPr/>
          <p:nvPr/>
        </p:nvSpPr>
        <p:spPr>
          <a:xfrm>
            <a:off x="4648200" y="8257032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remaining chain moved less than ₹0.25 Cr. Percentage swings here are arithmetic, not commercial signal.</a:t>
            </a:r>
            <a:endParaRPr lang="en-US" sz="680" dirty="0"/>
          </a:p>
        </p:txBody>
      </p:sp>
      <p:sp>
        <p:nvSpPr>
          <p:cNvPr id="117" name="Text 115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600" dirty="0"/>
          </a:p>
        </p:txBody>
      </p:sp>
      <p:sp>
        <p:nvSpPr>
          <p:cNvPr id="118" name="Text 116"/>
          <p:cNvSpPr/>
          <p:nvPr/>
        </p:nvSpPr>
        <p:spPr>
          <a:xfrm>
            <a:off x="4648200" y="8842248"/>
            <a:ext cx="1853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8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by exception only; no named recovery action.</a:t>
            </a:r>
            <a:endParaRPr lang="en-US" sz="680" dirty="0"/>
          </a:p>
        </p:txBody>
      </p:sp>
      <p:sp>
        <p:nvSpPr>
          <p:cNvPr id="119" name="Text 117"/>
          <p:cNvSpPr/>
          <p:nvPr/>
        </p:nvSpPr>
        <p:spPr>
          <a:xfrm>
            <a:off x="4648200" y="9418320"/>
            <a:ext cx="1853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 </a:t>
            </a:r>
            <a:r>
              <a:rPr lang="en-US" sz="6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weekly review</a:t>
            </a:r>
            <a:endParaRPr lang="en-US" sz="600" dirty="0"/>
          </a:p>
        </p:txBody>
      </p:sp>
      <p:sp>
        <p:nvSpPr>
          <p:cNvPr id="120" name="Text 118"/>
          <p:cNvSpPr/>
          <p:nvPr/>
        </p:nvSpPr>
        <p:spPr>
          <a:xfrm>
            <a:off x="4648200" y="967435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standing</a:t>
            </a:r>
            <a:endParaRPr lang="en-US" sz="620" dirty="0"/>
          </a:p>
        </p:txBody>
      </p:sp>
      <p:sp>
        <p:nvSpPr>
          <p:cNvPr id="121" name="Shape 119"/>
          <p:cNvSpPr/>
          <p:nvPr/>
        </p:nvSpPr>
        <p:spPr>
          <a:xfrm>
            <a:off x="265176" y="10003536"/>
            <a:ext cx="6327648" cy="402336"/>
          </a:xfrm>
          <a:prstGeom prst="roundRect">
            <a:avLst>
              <a:gd name="adj" fmla="val 4545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374904" y="10058400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and DMart South-2 carry ₹4.73 Cr of the ₹6.22 Cr recovery pool between them — 81%. Both are single-account audits that can start this week. The three mapping fixes cost analyst time only and unblock everything else, so they run first.</a:t>
            </a:r>
            <a:endParaRPr lang="en-US" sz="6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eB2B account detail: Nykaa (FSN) holds 99.4% flow on a contracting range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eB2B sub-channel | account deep dive | January–July 2026 | MT sub-channel — see page 13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₹2.08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+ Nykaa SS, eB2B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₹2.07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outside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99.4%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+27.0 pp vs MT (72.4%)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265176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Offtake, Jan–Jul 2026 (₹ Cr)</a:t>
            </a:r>
            <a:endParaRPr lang="en-US" sz="72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246888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Text 34"/>
          <p:cNvSpPr/>
          <p:nvPr/>
        </p:nvSpPr>
        <p:spPr>
          <a:xfrm>
            <a:off x="3502152" y="224942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EANs — 222 in January, 198 in July</a:t>
            </a:r>
            <a:endParaRPr lang="en-US" sz="720" dirty="0"/>
          </a:p>
        </p:txBody>
      </p:sp>
      <p:graphicFrame>
        <p:nvGraphicFramePr>
          <p:cNvPr id="38" name="Chart 1"/>
          <p:cNvGraphicFramePr/>
          <p:nvPr/>
        </p:nvGraphicFramePr>
        <p:xfrm>
          <a:off x="3483864" y="2450592"/>
          <a:ext cx="3090672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9" name="Shape 35"/>
          <p:cNvSpPr/>
          <p:nvPr/>
        </p:nvSpPr>
        <p:spPr>
          <a:xfrm>
            <a:off x="265176" y="4315968"/>
            <a:ext cx="6327648" cy="5486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6"/>
          <p:cNvSpPr/>
          <p:nvPr/>
        </p:nvSpPr>
        <p:spPr>
          <a:xfrm>
            <a:off x="411480" y="43891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peaked at ₹2.29 Cr in April and has drifted to ₹2.07 Cr. Across the same period the active range fell from 222 EANs to 198 — a 10.8% contraction. Test delisting before calling this a demand decline.</a:t>
            </a:r>
            <a:endParaRPr lang="en-US" sz="760" dirty="0"/>
          </a:p>
        </p:txBody>
      </p:sp>
      <p:sp>
        <p:nvSpPr>
          <p:cNvPr id="41" name="Shape 37"/>
          <p:cNvSpPr/>
          <p:nvPr/>
        </p:nvSpPr>
        <p:spPr>
          <a:xfrm>
            <a:off x="265176" y="499262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8"/>
          <p:cNvSpPr/>
          <p:nvPr/>
        </p:nvSpPr>
        <p:spPr>
          <a:xfrm>
            <a:off x="374904" y="50109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ENGINES — TOP EIGHT BY JULY OFFTAKE</a:t>
            </a:r>
            <a:endParaRPr lang="en-US" sz="720" dirty="0"/>
          </a:p>
        </p:txBody>
      </p:sp>
      <p:sp>
        <p:nvSpPr>
          <p:cNvPr id="43" name="Shape 39"/>
          <p:cNvSpPr/>
          <p:nvPr/>
        </p:nvSpPr>
        <p:spPr>
          <a:xfrm>
            <a:off x="265176" y="534009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0"/>
          <p:cNvSpPr/>
          <p:nvPr/>
        </p:nvSpPr>
        <p:spPr>
          <a:xfrm>
            <a:off x="320040" y="5358384"/>
            <a:ext cx="1368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5" name="Text 41"/>
          <p:cNvSpPr/>
          <p:nvPr/>
        </p:nvSpPr>
        <p:spPr>
          <a:xfrm>
            <a:off x="566572" y="5358384"/>
            <a:ext cx="37526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6" name="Text 42"/>
          <p:cNvSpPr/>
          <p:nvPr/>
        </p:nvSpPr>
        <p:spPr>
          <a:xfrm>
            <a:off x="4428902" y="5358384"/>
            <a:ext cx="8763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OFFTAKE</a:t>
            </a:r>
            <a:endParaRPr lang="en-US" sz="660" dirty="0"/>
          </a:p>
        </p:txBody>
      </p:sp>
      <p:sp>
        <p:nvSpPr>
          <p:cNvPr id="47" name="Text 43"/>
          <p:cNvSpPr/>
          <p:nvPr/>
        </p:nvSpPr>
        <p:spPr>
          <a:xfrm>
            <a:off x="5415029" y="5358384"/>
            <a:ext cx="11229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660" dirty="0"/>
          </a:p>
        </p:txBody>
      </p:sp>
      <p:sp>
        <p:nvSpPr>
          <p:cNvPr id="48" name="Shape 44"/>
          <p:cNvSpPr/>
          <p:nvPr/>
        </p:nvSpPr>
        <p:spPr>
          <a:xfrm>
            <a:off x="265176" y="559612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5"/>
          <p:cNvSpPr/>
          <p:nvPr/>
        </p:nvSpPr>
        <p:spPr>
          <a:xfrm>
            <a:off x="265176" y="5907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6"/>
          <p:cNvSpPr/>
          <p:nvPr/>
        </p:nvSpPr>
        <p:spPr>
          <a:xfrm>
            <a:off x="320040" y="559612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51" name="Text 47"/>
          <p:cNvSpPr/>
          <p:nvPr/>
        </p:nvSpPr>
        <p:spPr>
          <a:xfrm>
            <a:off x="566572" y="559612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100 ml</a:t>
            </a:r>
            <a:endParaRPr lang="en-US" sz="720" dirty="0"/>
          </a:p>
        </p:txBody>
      </p:sp>
      <p:sp>
        <p:nvSpPr>
          <p:cNvPr id="52" name="Text 48"/>
          <p:cNvSpPr/>
          <p:nvPr/>
        </p:nvSpPr>
        <p:spPr>
          <a:xfrm>
            <a:off x="4428902" y="559612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₹0.27 Cr</a:t>
            </a:r>
            <a:endParaRPr lang="en-US" sz="720" dirty="0"/>
          </a:p>
        </p:txBody>
      </p:sp>
      <p:sp>
        <p:nvSpPr>
          <p:cNvPr id="53" name="Text 49"/>
          <p:cNvSpPr/>
          <p:nvPr/>
        </p:nvSpPr>
        <p:spPr>
          <a:xfrm>
            <a:off x="5415029" y="559612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4" name="Shape 50"/>
          <p:cNvSpPr/>
          <p:nvPr/>
        </p:nvSpPr>
        <p:spPr>
          <a:xfrm>
            <a:off x="265176" y="621792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590702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2"/>
          <p:cNvSpPr/>
          <p:nvPr/>
        </p:nvSpPr>
        <p:spPr>
          <a:xfrm>
            <a:off x="566572" y="590702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Face Wash 50 ml</a:t>
            </a:r>
            <a:endParaRPr lang="en-US" sz="720" dirty="0"/>
          </a:p>
        </p:txBody>
      </p:sp>
      <p:sp>
        <p:nvSpPr>
          <p:cNvPr id="57" name="Text 53"/>
          <p:cNvSpPr/>
          <p:nvPr/>
        </p:nvSpPr>
        <p:spPr>
          <a:xfrm>
            <a:off x="4428902" y="590702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₹0.19 Cr</a:t>
            </a:r>
            <a:endParaRPr lang="en-US" sz="720" dirty="0"/>
          </a:p>
        </p:txBody>
      </p:sp>
      <p:sp>
        <p:nvSpPr>
          <p:cNvPr id="58" name="Text 54"/>
          <p:cNvSpPr/>
          <p:nvPr/>
        </p:nvSpPr>
        <p:spPr>
          <a:xfrm>
            <a:off x="5415029" y="590702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— protect OSA</a:t>
            </a:r>
            <a:endParaRPr lang="en-US" sz="720" dirty="0"/>
          </a:p>
        </p:txBody>
      </p:sp>
      <p:sp>
        <p:nvSpPr>
          <p:cNvPr id="59" name="Shape 55"/>
          <p:cNvSpPr/>
          <p:nvPr/>
        </p:nvSpPr>
        <p:spPr>
          <a:xfrm>
            <a:off x="265176" y="6217920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65176" y="652881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320040" y="621792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62" name="Text 58"/>
          <p:cNvSpPr/>
          <p:nvPr/>
        </p:nvSpPr>
        <p:spPr>
          <a:xfrm>
            <a:off x="566572" y="621792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with Turmeric</a:t>
            </a:r>
            <a:endParaRPr lang="en-US" sz="720" dirty="0"/>
          </a:p>
        </p:txBody>
      </p:sp>
      <p:sp>
        <p:nvSpPr>
          <p:cNvPr id="63" name="Text 59"/>
          <p:cNvSpPr/>
          <p:nvPr/>
        </p:nvSpPr>
        <p:spPr>
          <a:xfrm>
            <a:off x="4428902" y="621792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₹0.14 Cr</a:t>
            </a:r>
            <a:endParaRPr lang="en-US" sz="720" dirty="0"/>
          </a:p>
        </p:txBody>
      </p:sp>
      <p:sp>
        <p:nvSpPr>
          <p:cNvPr id="64" name="Text 60"/>
          <p:cNvSpPr/>
          <p:nvPr/>
        </p:nvSpPr>
        <p:spPr>
          <a:xfrm>
            <a:off x="5415029" y="621792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65" name="Shape 61"/>
          <p:cNvSpPr/>
          <p:nvPr/>
        </p:nvSpPr>
        <p:spPr>
          <a:xfrm>
            <a:off x="265176" y="683971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2"/>
          <p:cNvSpPr/>
          <p:nvPr/>
        </p:nvSpPr>
        <p:spPr>
          <a:xfrm>
            <a:off x="320040" y="6528816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67" name="Text 63"/>
          <p:cNvSpPr/>
          <p:nvPr/>
        </p:nvSpPr>
        <p:spPr>
          <a:xfrm>
            <a:off x="566572" y="6528816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Face Wash with Vitamin C</a:t>
            </a:r>
            <a:endParaRPr lang="en-US" sz="720" dirty="0"/>
          </a:p>
        </p:txBody>
      </p:sp>
      <p:sp>
        <p:nvSpPr>
          <p:cNvPr id="68" name="Text 64"/>
          <p:cNvSpPr/>
          <p:nvPr/>
        </p:nvSpPr>
        <p:spPr>
          <a:xfrm>
            <a:off x="4428902" y="6528816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₹0.09 Cr</a:t>
            </a:r>
            <a:endParaRPr lang="en-US" sz="720" dirty="0"/>
          </a:p>
        </p:txBody>
      </p:sp>
      <p:sp>
        <p:nvSpPr>
          <p:cNvPr id="69" name="Text 65"/>
          <p:cNvSpPr/>
          <p:nvPr/>
        </p:nvSpPr>
        <p:spPr>
          <a:xfrm>
            <a:off x="5415029" y="6528816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0" name="Shape 66"/>
          <p:cNvSpPr/>
          <p:nvPr/>
        </p:nvSpPr>
        <p:spPr>
          <a:xfrm>
            <a:off x="265176" y="683971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7"/>
          <p:cNvSpPr/>
          <p:nvPr/>
        </p:nvSpPr>
        <p:spPr>
          <a:xfrm>
            <a:off x="265176" y="7150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8"/>
          <p:cNvSpPr/>
          <p:nvPr/>
        </p:nvSpPr>
        <p:spPr>
          <a:xfrm>
            <a:off x="320040" y="6839712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73" name="Text 69"/>
          <p:cNvSpPr/>
          <p:nvPr/>
        </p:nvSpPr>
        <p:spPr>
          <a:xfrm>
            <a:off x="566572" y="6839712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Face Wash</a:t>
            </a:r>
            <a:endParaRPr lang="en-US" sz="720" dirty="0"/>
          </a:p>
        </p:txBody>
      </p:sp>
      <p:sp>
        <p:nvSpPr>
          <p:cNvPr id="74" name="Text 70"/>
          <p:cNvSpPr/>
          <p:nvPr/>
        </p:nvSpPr>
        <p:spPr>
          <a:xfrm>
            <a:off x="4428902" y="6839712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75" name="Text 71"/>
          <p:cNvSpPr/>
          <p:nvPr/>
        </p:nvSpPr>
        <p:spPr>
          <a:xfrm>
            <a:off x="5415029" y="6839712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volume</a:t>
            </a:r>
            <a:endParaRPr lang="en-US" sz="720" dirty="0"/>
          </a:p>
        </p:txBody>
      </p:sp>
      <p:sp>
        <p:nvSpPr>
          <p:cNvPr id="76" name="Shape 72"/>
          <p:cNvSpPr/>
          <p:nvPr/>
        </p:nvSpPr>
        <p:spPr>
          <a:xfrm>
            <a:off x="265176" y="74615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150608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78" name="Text 74"/>
          <p:cNvSpPr/>
          <p:nvPr/>
        </p:nvSpPr>
        <p:spPr>
          <a:xfrm>
            <a:off x="566572" y="7150608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Ubtan Natural Glow Face Wash 50 ml</a:t>
            </a:r>
            <a:endParaRPr lang="en-US" sz="720" dirty="0"/>
          </a:p>
        </p:txBody>
      </p:sp>
      <p:sp>
        <p:nvSpPr>
          <p:cNvPr id="79" name="Text 75"/>
          <p:cNvSpPr/>
          <p:nvPr/>
        </p:nvSpPr>
        <p:spPr>
          <a:xfrm>
            <a:off x="4428902" y="7150608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0" name="Text 76"/>
          <p:cNvSpPr/>
          <p:nvPr/>
        </p:nvSpPr>
        <p:spPr>
          <a:xfrm>
            <a:off x="5415029" y="7150608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pack</a:t>
            </a:r>
            <a:endParaRPr lang="en-US" sz="720" dirty="0"/>
          </a:p>
        </p:txBody>
      </p:sp>
      <p:sp>
        <p:nvSpPr>
          <p:cNvPr id="81" name="Shape 77"/>
          <p:cNvSpPr/>
          <p:nvPr/>
        </p:nvSpPr>
        <p:spPr>
          <a:xfrm>
            <a:off x="265176" y="746150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78"/>
          <p:cNvSpPr/>
          <p:nvPr/>
        </p:nvSpPr>
        <p:spPr>
          <a:xfrm>
            <a:off x="265176" y="77724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9"/>
          <p:cNvSpPr/>
          <p:nvPr/>
        </p:nvSpPr>
        <p:spPr>
          <a:xfrm>
            <a:off x="320040" y="7461504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84" name="Text 80"/>
          <p:cNvSpPr/>
          <p:nvPr/>
        </p:nvSpPr>
        <p:spPr>
          <a:xfrm>
            <a:off x="566572" y="7461504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C Daily Glow Sunscreen 50 g</a:t>
            </a:r>
            <a:endParaRPr lang="en-US" sz="720" dirty="0"/>
          </a:p>
        </p:txBody>
      </p:sp>
      <p:sp>
        <p:nvSpPr>
          <p:cNvPr id="85" name="Text 81"/>
          <p:cNvSpPr/>
          <p:nvPr/>
        </p:nvSpPr>
        <p:spPr>
          <a:xfrm>
            <a:off x="4428902" y="7461504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₹0.08 Cr</a:t>
            </a:r>
            <a:endParaRPr lang="en-US" sz="720" dirty="0"/>
          </a:p>
        </p:txBody>
      </p:sp>
      <p:sp>
        <p:nvSpPr>
          <p:cNvPr id="86" name="Text 82"/>
          <p:cNvSpPr/>
          <p:nvPr/>
        </p:nvSpPr>
        <p:spPr>
          <a:xfrm>
            <a:off x="5415029" y="7461504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</a:t>
            </a:r>
            <a:endParaRPr lang="en-US" sz="720" dirty="0"/>
          </a:p>
        </p:txBody>
      </p:sp>
      <p:sp>
        <p:nvSpPr>
          <p:cNvPr id="87" name="Shape 83"/>
          <p:cNvSpPr/>
          <p:nvPr/>
        </p:nvSpPr>
        <p:spPr>
          <a:xfrm>
            <a:off x="265176" y="808329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20040" y="7772400"/>
            <a:ext cx="1368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89" name="Text 85"/>
          <p:cNvSpPr/>
          <p:nvPr/>
        </p:nvSpPr>
        <p:spPr>
          <a:xfrm>
            <a:off x="566572" y="7772400"/>
            <a:ext cx="375260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Onion Hair Fall Control Shampoo</a:t>
            </a:r>
            <a:endParaRPr lang="en-US" sz="720" dirty="0"/>
          </a:p>
        </p:txBody>
      </p:sp>
      <p:sp>
        <p:nvSpPr>
          <p:cNvPr id="90" name="Text 86"/>
          <p:cNvSpPr/>
          <p:nvPr/>
        </p:nvSpPr>
        <p:spPr>
          <a:xfrm>
            <a:off x="4428902" y="7772400"/>
            <a:ext cx="8763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₹0.07 Cr</a:t>
            </a:r>
            <a:endParaRPr lang="en-US" sz="720" dirty="0"/>
          </a:p>
        </p:txBody>
      </p:sp>
      <p:sp>
        <p:nvSpPr>
          <p:cNvPr id="91" name="Text 87"/>
          <p:cNvSpPr/>
          <p:nvPr/>
        </p:nvSpPr>
        <p:spPr>
          <a:xfrm>
            <a:off x="5415029" y="7772400"/>
            <a:ext cx="11229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Cross-category entry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265176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265176" y="8266176"/>
            <a:ext cx="3090672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47472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CALL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74904" y="8700516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493776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two Rice Face Wash SKUs — 22% of account offtake.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74904" y="9011412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493776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the 4.6% June–July softness back to ₹2.17 Cr.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74904" y="9322308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493776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flow above 95% as the account benchmark.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3502152" y="8266176"/>
            <a:ext cx="3090672" cy="1335024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98"/>
          <p:cNvSpPr/>
          <p:nvPr/>
        </p:nvSpPr>
        <p:spPr>
          <a:xfrm>
            <a:off x="3502152" y="8266176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3584448" y="8284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ACCOUNT CAREFULLY</a:t>
            </a:r>
            <a:endParaRPr lang="en-US" sz="700" dirty="0"/>
          </a:p>
        </p:txBody>
      </p:sp>
      <p:sp>
        <p:nvSpPr>
          <p:cNvPr id="104" name="Shape 100"/>
          <p:cNvSpPr/>
          <p:nvPr/>
        </p:nvSpPr>
        <p:spPr>
          <a:xfrm>
            <a:off x="3611880" y="870051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1"/>
          <p:cNvSpPr/>
          <p:nvPr/>
        </p:nvSpPr>
        <p:spPr>
          <a:xfrm>
            <a:off x="3730752" y="8650224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— neither can be attributed.</a:t>
            </a:r>
            <a:endParaRPr lang="en-US" sz="720" dirty="0"/>
          </a:p>
        </p:txBody>
      </p:sp>
      <p:sp>
        <p:nvSpPr>
          <p:cNvPr id="106" name="Shape 102"/>
          <p:cNvSpPr/>
          <p:nvPr/>
        </p:nvSpPr>
        <p:spPr>
          <a:xfrm>
            <a:off x="3611880" y="9011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3730752" y="8961120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replenishment is near real-time; 99.4% is not transferable to hypermarkets.</a:t>
            </a:r>
            <a:endParaRPr lang="en-US" sz="720" dirty="0"/>
          </a:p>
        </p:txBody>
      </p:sp>
      <p:sp>
        <p:nvSpPr>
          <p:cNvPr id="108" name="Shape 104"/>
          <p:cNvSpPr/>
          <p:nvPr/>
        </p:nvSpPr>
        <p:spPr>
          <a:xfrm>
            <a:off x="3611880" y="9322308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5"/>
          <p:cNvSpPr/>
          <p:nvPr/>
        </p:nvSpPr>
        <p:spPr>
          <a:xfrm>
            <a:off x="3730752" y="92720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₹2.07 Cr is eB2B and sits outside MT zone sales entirely.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NPI is ₹2.82 Cr — and 82% of it sits in the two accounts that convert worst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 introduction | contribution by zone and chain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₹2.82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7.82% of July offtake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2410968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410968" y="1261872"/>
            <a:ext cx="64008" cy="859536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66416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TWO ACCOUNTS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566416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82.4%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2566416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47.1% + DMart 35.3%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56760" y="1261872"/>
            <a:ext cx="2036064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556760" y="1261872"/>
            <a:ext cx="64008" cy="859536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712208" y="1353312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EANs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4712208" y="1536192"/>
            <a:ext cx="179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58 / 60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4712208" y="1865376"/>
            <a:ext cx="1798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finalised with zero sale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65176" y="2231136"/>
            <a:ext cx="6327648" cy="713232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12700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1480" y="230428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New products are being launched through the weakest pipes in the network.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" y="2578608"/>
            <a:ext cx="5888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holds 47.1% of all NPI value and converts at 51.4%. East runs the highest NPI mix in the country (10.2%) on the worst flow (49.9%). A launch that fails here will be read as a product failure when it is a flow failure.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65176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mix by zone (%), coloured by zone flow conversion</a:t>
            </a:r>
            <a:endParaRPr lang="en-US" sz="72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246888" y="3291840"/>
          <a:ext cx="3090672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 37"/>
          <p:cNvSpPr/>
          <p:nvPr/>
        </p:nvSpPr>
        <p:spPr>
          <a:xfrm>
            <a:off x="265176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colour is zone flow conversion: green above 78%, amber 70–78%, red below 60%. The two red zones carry the highest NPI exposure.</a:t>
            </a:r>
            <a:endParaRPr lang="en-US" sz="640" dirty="0"/>
          </a:p>
        </p:txBody>
      </p:sp>
      <p:sp>
        <p:nvSpPr>
          <p:cNvPr id="41" name="Text 38"/>
          <p:cNvSpPr/>
          <p:nvPr/>
        </p:nvSpPr>
        <p:spPr>
          <a:xfrm>
            <a:off x="3502152" y="3090672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offtake by chain (₹ Cr)</a:t>
            </a:r>
            <a:endParaRPr lang="en-US" sz="720" dirty="0"/>
          </a:p>
        </p:txBody>
      </p:sp>
      <p:graphicFrame>
        <p:nvGraphicFramePr>
          <p:cNvPr id="42" name="Chart 1"/>
          <p:cNvGraphicFramePr/>
          <p:nvPr/>
        </p:nvGraphicFramePr>
        <p:xfrm>
          <a:off x="3447288" y="3291840"/>
          <a:ext cx="3127248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3" name="Text 39"/>
          <p:cNvSpPr/>
          <p:nvPr/>
        </p:nvSpPr>
        <p:spPr>
          <a:xfrm>
            <a:off x="3502152" y="530352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4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₹1.30 Cr and DMart ₹0.98 Cr together are 82.4% of all NPI value. Converted from a source series reported in ₹ lakh.</a:t>
            </a:r>
            <a:endParaRPr lang="en-US" sz="640" dirty="0"/>
          </a:p>
        </p:txBody>
      </p:sp>
      <p:sp>
        <p:nvSpPr>
          <p:cNvPr id="44" name="Shape 40"/>
          <p:cNvSpPr/>
          <p:nvPr/>
        </p:nvSpPr>
        <p:spPr>
          <a:xfrm>
            <a:off x="265176" y="56144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/>
          <p:nvPr/>
        </p:nvSpPr>
        <p:spPr>
          <a:xfrm>
            <a:off x="374904" y="563270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NPI ARTICLES — FULL NAMES, JULY OFFTAKE</a:t>
            </a:r>
            <a:endParaRPr lang="en-US" sz="720" dirty="0"/>
          </a:p>
        </p:txBody>
      </p:sp>
      <p:sp>
        <p:nvSpPr>
          <p:cNvPr id="46" name="Shape 42"/>
          <p:cNvSpPr/>
          <p:nvPr/>
        </p:nvSpPr>
        <p:spPr>
          <a:xfrm>
            <a:off x="265176" y="596188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/>
          <p:nvPr/>
        </p:nvSpPr>
        <p:spPr>
          <a:xfrm>
            <a:off x="320040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48" name="Text 44"/>
          <p:cNvSpPr/>
          <p:nvPr/>
        </p:nvSpPr>
        <p:spPr>
          <a:xfrm>
            <a:off x="539315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49" name="Text 45"/>
          <p:cNvSpPr/>
          <p:nvPr/>
        </p:nvSpPr>
        <p:spPr>
          <a:xfrm>
            <a:off x="2967002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0" name="Text 46"/>
          <p:cNvSpPr/>
          <p:nvPr/>
        </p:nvSpPr>
        <p:spPr>
          <a:xfrm>
            <a:off x="3483864" y="5980176"/>
            <a:ext cx="1095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51" name="Text 47"/>
          <p:cNvSpPr/>
          <p:nvPr/>
        </p:nvSpPr>
        <p:spPr>
          <a:xfrm>
            <a:off x="3703139" y="5980176"/>
            <a:ext cx="2317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</a:t>
            </a:r>
            <a:endParaRPr lang="en-US" sz="660" dirty="0"/>
          </a:p>
        </p:txBody>
      </p:sp>
      <p:sp>
        <p:nvSpPr>
          <p:cNvPr id="52" name="Text 48"/>
          <p:cNvSpPr/>
          <p:nvPr/>
        </p:nvSpPr>
        <p:spPr>
          <a:xfrm>
            <a:off x="6130826" y="5980176"/>
            <a:ext cx="4071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Cr</a:t>
            </a:r>
            <a:endParaRPr lang="en-US" sz="660" dirty="0"/>
          </a:p>
        </p:txBody>
      </p:sp>
      <p:sp>
        <p:nvSpPr>
          <p:cNvPr id="53" name="Shape 49"/>
          <p:cNvSpPr/>
          <p:nvPr/>
        </p:nvSpPr>
        <p:spPr>
          <a:xfrm>
            <a:off x="265176" y="621792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0"/>
          <p:cNvSpPr/>
          <p:nvPr/>
        </p:nvSpPr>
        <p:spPr>
          <a:xfrm>
            <a:off x="265176" y="64922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1"/>
          <p:cNvSpPr/>
          <p:nvPr/>
        </p:nvSpPr>
        <p:spPr>
          <a:xfrm>
            <a:off x="320040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56" name="Text 52"/>
          <p:cNvSpPr/>
          <p:nvPr/>
        </p:nvSpPr>
        <p:spPr>
          <a:xfrm>
            <a:off x="539315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Fall Control Shampoo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2967002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3483864" y="621792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59" name="Text 55"/>
          <p:cNvSpPr/>
          <p:nvPr/>
        </p:nvSpPr>
        <p:spPr>
          <a:xfrm>
            <a:off x="3703139" y="621792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Onion Hair Oil 200 ml</a:t>
            </a:r>
            <a:endParaRPr lang="en-US" sz="700" dirty="0"/>
          </a:p>
        </p:txBody>
      </p:sp>
      <p:sp>
        <p:nvSpPr>
          <p:cNvPr id="60" name="Text 56"/>
          <p:cNvSpPr/>
          <p:nvPr/>
        </p:nvSpPr>
        <p:spPr>
          <a:xfrm>
            <a:off x="6130826" y="621792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700" dirty="0"/>
          </a:p>
        </p:txBody>
      </p:sp>
      <p:sp>
        <p:nvSpPr>
          <p:cNvPr id="61" name="Shape 57"/>
          <p:cNvSpPr/>
          <p:nvPr/>
        </p:nvSpPr>
        <p:spPr>
          <a:xfrm>
            <a:off x="265176" y="67665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58"/>
          <p:cNvSpPr/>
          <p:nvPr/>
        </p:nvSpPr>
        <p:spPr>
          <a:xfrm>
            <a:off x="320040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539315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Gentle Cleansing Shampoo 400 ml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967002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483864" y="649224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3703139" y="649224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Multani Mitti Face Wash 100 ml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6130826" y="649224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265176" y="6766560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265176" y="704088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320040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539315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Vitamin C Daily Glow Sunscreen</a:t>
            </a:r>
            <a:endParaRPr lang="en-US" sz="700" dirty="0"/>
          </a:p>
        </p:txBody>
      </p:sp>
      <p:sp>
        <p:nvSpPr>
          <p:cNvPr id="72" name="Text 68"/>
          <p:cNvSpPr/>
          <p:nvPr/>
        </p:nvSpPr>
        <p:spPr>
          <a:xfrm>
            <a:off x="2967002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700" dirty="0"/>
          </a:p>
        </p:txBody>
      </p:sp>
      <p:sp>
        <p:nvSpPr>
          <p:cNvPr id="73" name="Text 69"/>
          <p:cNvSpPr/>
          <p:nvPr/>
        </p:nvSpPr>
        <p:spPr>
          <a:xfrm>
            <a:off x="3483864" y="676656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74" name="Text 70"/>
          <p:cNvSpPr/>
          <p:nvPr/>
        </p:nvSpPr>
        <p:spPr>
          <a:xfrm>
            <a:off x="3703139" y="676656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Lemon Anti-Dandruff Shampoo</a:t>
            </a:r>
            <a:endParaRPr lang="en-US" sz="700" dirty="0"/>
          </a:p>
        </p:txBody>
      </p:sp>
      <p:sp>
        <p:nvSpPr>
          <p:cNvPr id="75" name="Text 71"/>
          <p:cNvSpPr/>
          <p:nvPr/>
        </p:nvSpPr>
        <p:spPr>
          <a:xfrm>
            <a:off x="6130826" y="676656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</a:t>
            </a:r>
            <a:endParaRPr lang="en-US" sz="700" dirty="0"/>
          </a:p>
        </p:txBody>
      </p:sp>
      <p:sp>
        <p:nvSpPr>
          <p:cNvPr id="76" name="Shape 72"/>
          <p:cNvSpPr/>
          <p:nvPr/>
        </p:nvSpPr>
        <p:spPr>
          <a:xfrm>
            <a:off x="265176" y="731520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3"/>
          <p:cNvSpPr/>
          <p:nvPr/>
        </p:nvSpPr>
        <p:spPr>
          <a:xfrm>
            <a:off x="320040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78" name="Text 74"/>
          <p:cNvSpPr/>
          <p:nvPr/>
        </p:nvSpPr>
        <p:spPr>
          <a:xfrm>
            <a:off x="539315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Rosemary Anti-Hair Fall Shampoo</a:t>
            </a:r>
            <a:endParaRPr lang="en-US" sz="700" dirty="0"/>
          </a:p>
        </p:txBody>
      </p:sp>
      <p:sp>
        <p:nvSpPr>
          <p:cNvPr id="79" name="Text 75"/>
          <p:cNvSpPr/>
          <p:nvPr/>
        </p:nvSpPr>
        <p:spPr>
          <a:xfrm>
            <a:off x="2967002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0" name="Text 76"/>
          <p:cNvSpPr/>
          <p:nvPr/>
        </p:nvSpPr>
        <p:spPr>
          <a:xfrm>
            <a:off x="3483864" y="7040880"/>
            <a:ext cx="109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81" name="Text 77"/>
          <p:cNvSpPr/>
          <p:nvPr/>
        </p:nvSpPr>
        <p:spPr>
          <a:xfrm>
            <a:off x="3703139" y="7040880"/>
            <a:ext cx="2317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Rice Water Dewy Sunscreen 80 g</a:t>
            </a:r>
            <a:endParaRPr lang="en-US" sz="700" dirty="0"/>
          </a:p>
        </p:txBody>
      </p:sp>
      <p:sp>
        <p:nvSpPr>
          <p:cNvPr id="82" name="Text 78"/>
          <p:cNvSpPr/>
          <p:nvPr/>
        </p:nvSpPr>
        <p:spPr>
          <a:xfrm>
            <a:off x="6130826" y="7040880"/>
            <a:ext cx="4071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83" name="Shape 79"/>
          <p:cNvSpPr/>
          <p:nvPr/>
        </p:nvSpPr>
        <p:spPr>
          <a:xfrm>
            <a:off x="265176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Shape 80"/>
          <p:cNvSpPr/>
          <p:nvPr/>
        </p:nvSpPr>
        <p:spPr>
          <a:xfrm>
            <a:off x="265176" y="7498080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1"/>
          <p:cNvSpPr/>
          <p:nvPr/>
        </p:nvSpPr>
        <p:spPr>
          <a:xfrm>
            <a:off x="347472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ZERO-SALE FINALISED EANs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374904" y="7950708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3"/>
          <p:cNvSpPr/>
          <p:nvPr/>
        </p:nvSpPr>
        <p:spPr>
          <a:xfrm>
            <a:off x="493776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 Cherry Red Hair Colour 130 g</a:t>
            </a:r>
            <a:endParaRPr lang="en-US" sz="720" dirty="0"/>
          </a:p>
        </p:txBody>
      </p:sp>
      <p:sp>
        <p:nvSpPr>
          <p:cNvPr id="88" name="Shape 84"/>
          <p:cNvSpPr/>
          <p:nvPr/>
        </p:nvSpPr>
        <p:spPr>
          <a:xfrm>
            <a:off x="374904" y="8279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5"/>
          <p:cNvSpPr/>
          <p:nvPr/>
        </p:nvSpPr>
        <p:spPr>
          <a:xfrm>
            <a:off x="493776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20% Actives Peptide–Stem Cell Hair Serum</a:t>
            </a:r>
            <a:endParaRPr lang="en-US" sz="720" dirty="0"/>
          </a:p>
        </p:txBody>
      </p:sp>
      <p:sp>
        <p:nvSpPr>
          <p:cNvPr id="90" name="Shape 86"/>
          <p:cNvSpPr/>
          <p:nvPr/>
        </p:nvSpPr>
        <p:spPr>
          <a:xfrm>
            <a:off x="374904" y="8609076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493776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listing, stock receipt, OSA and launch visibility before any further loading.</a:t>
            </a:r>
            <a:endParaRPr lang="en-US" sz="720" dirty="0"/>
          </a:p>
        </p:txBody>
      </p:sp>
      <p:sp>
        <p:nvSpPr>
          <p:cNvPr id="92" name="Shape 88"/>
          <p:cNvSpPr/>
          <p:nvPr/>
        </p:nvSpPr>
        <p:spPr>
          <a:xfrm>
            <a:off x="3502152" y="7498080"/>
            <a:ext cx="3090672" cy="1481328"/>
          </a:xfrm>
          <a:prstGeom prst="roundRect">
            <a:avLst>
              <a:gd name="adj" fmla="val 123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Shape 89"/>
          <p:cNvSpPr/>
          <p:nvPr/>
        </p:nvSpPr>
        <p:spPr>
          <a:xfrm>
            <a:off x="3502152" y="7498080"/>
            <a:ext cx="3090672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0"/>
          <p:cNvSpPr/>
          <p:nvPr/>
        </p:nvSpPr>
        <p:spPr>
          <a:xfrm>
            <a:off x="3584448" y="75163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RULE</a:t>
            </a:r>
            <a:endParaRPr lang="en-US" sz="700" dirty="0"/>
          </a:p>
        </p:txBody>
      </p:sp>
      <p:sp>
        <p:nvSpPr>
          <p:cNvPr id="95" name="Shape 91"/>
          <p:cNvSpPr/>
          <p:nvPr/>
        </p:nvSpPr>
        <p:spPr>
          <a:xfrm>
            <a:off x="3611880" y="7950708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2"/>
          <p:cNvSpPr/>
          <p:nvPr/>
        </p:nvSpPr>
        <p:spPr>
          <a:xfrm>
            <a:off x="3730752" y="7900416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until conversion clears 60%.</a:t>
            </a:r>
            <a:endParaRPr lang="en-US" sz="720" dirty="0"/>
          </a:p>
        </p:txBody>
      </p:sp>
      <p:sp>
        <p:nvSpPr>
          <p:cNvPr id="97" name="Shape 93"/>
          <p:cNvSpPr/>
          <p:nvPr/>
        </p:nvSpPr>
        <p:spPr>
          <a:xfrm>
            <a:off x="3611880" y="8279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4"/>
          <p:cNvSpPr/>
          <p:nvPr/>
        </p:nvSpPr>
        <p:spPr>
          <a:xfrm>
            <a:off x="3730752" y="8229600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North NPI allocation until conversion clears 70%.</a:t>
            </a:r>
            <a:endParaRPr lang="en-US" sz="720" dirty="0"/>
          </a:p>
        </p:txBody>
      </p:sp>
      <p:sp>
        <p:nvSpPr>
          <p:cNvPr id="99" name="Shape 95"/>
          <p:cNvSpPr/>
          <p:nvPr/>
        </p:nvSpPr>
        <p:spPr>
          <a:xfrm>
            <a:off x="3611880" y="86090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6"/>
          <p:cNvSpPr/>
          <p:nvPr/>
        </p:nvSpPr>
        <p:spPr>
          <a:xfrm>
            <a:off x="3730752" y="8558784"/>
            <a:ext cx="2752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new launches through West, South-1 and Apollo first — the pipes that already convert.</a:t>
            </a:r>
            <a:endParaRPr lang="en-US" sz="720" dirty="0"/>
          </a:p>
        </p:txBody>
      </p:sp>
      <p:sp>
        <p:nvSpPr>
          <p:cNvPr id="101" name="Shape 97"/>
          <p:cNvSpPr/>
          <p:nvPr/>
        </p:nvSpPr>
        <p:spPr>
          <a:xfrm>
            <a:off x="265176" y="9107424"/>
            <a:ext cx="6327648" cy="566928"/>
          </a:xfrm>
          <a:prstGeom prst="roundRect">
            <a:avLst>
              <a:gd name="adj" fmla="val 4839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Text 98"/>
          <p:cNvSpPr/>
          <p:nvPr/>
        </p:nvSpPr>
        <p:spPr>
          <a:xfrm>
            <a:off x="393192" y="9180576"/>
            <a:ext cx="607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THAT IS MISSING   </a:t>
            </a: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is currently judged on offtake alone, which cannot separate a weak product from a weak pipe. Report every launch as offtake per selling store against the zone conversion it was placed into. Until that split exists, a slow NPI in East and a slow NPI in West look identical on this page — and they need opposite decisions.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chains hold ₹13.27 Cr of gap; three more hide ₹2.23 Cr behind unmapped primary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deep dive | gross positive and gross negative gap | July 2026 | ₹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Lulu bills through an unmapped route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₹7.61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 conversion — largest single gap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₹4.29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 conversion — concentrated in South-2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99.7%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parity, but zone figures need reconciling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15.66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+7.61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18.25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Recover, concentrated in South-2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−1.70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not mapped — cannot test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−0.29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route incomplete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₹13.27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in three chains. This is the recoverable pool — 90.7% of it in DMart and Reliance alone.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₹2.23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with no primary joined, in three chains. Not performance — a mapping defect that was previously netted against the pool above.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attack North and East first — ₹3.92 Cr recoverable at DMart parity. Convert billed inventory through hero-SKU visibility and replenishment, not new loading.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attack South-2 first, then North. Review top-SKU store availability and DC-to-store fill; West and Central prove the account can run above 94%.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protect the cadence and reconcile zone-level opening stock so the 99.7% national figure becomes quotable.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Health &amp; Glow, Wellness Forever: map primary before any commercial conclusion. Three chains and ₹2.23 Cr are currently unreadable.</a:t>
            </a:r>
            <a:endParaRPr lang="en-US" sz="7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brands carry 98.4% of offtake; Face Cleanser alone carries a third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and sub-category architecture | July 2026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offtake, the two engine brands (₹ Cr)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3840480" cy="1700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4251960" y="1261872"/>
            <a:ext cx="2340864" cy="2066544"/>
          </a:xfrm>
          <a:prstGeom prst="roundRect">
            <a:avLst>
              <a:gd name="adj" fmla="val 88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251960" y="1261872"/>
            <a:ext cx="23408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334256" y="128016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GAP, TWICE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343400" y="1627632"/>
            <a:ext cx="2157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₹13.05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343400" y="1975104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gap across both engines</a:t>
            </a:r>
            <a:endParaRPr lang="en-US" sz="680" dirty="0"/>
          </a:p>
        </p:txBody>
      </p:sp>
      <p:sp>
        <p:nvSpPr>
          <p:cNvPr id="27" name="Shape 24"/>
          <p:cNvSpPr/>
          <p:nvPr/>
        </p:nvSpPr>
        <p:spPr>
          <a:xfrm>
            <a:off x="4361688" y="22448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480560" y="219456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₹8.89 Cr at 73.4% conversion.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361688" y="26106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80560" y="256032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₹4.16 Cr at 72.6%.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361688" y="297637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/>
          <p:nvPr/>
        </p:nvSpPr>
        <p:spPr>
          <a:xfrm>
            <a:off x="4480560" y="29260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0.8 pp of each other — the constraint is the channel, not the brand.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5176" y="34564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320040" y="3474720"/>
            <a:ext cx="13229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752715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2548646" y="3474720"/>
            <a:ext cx="68620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3344576" y="3474720"/>
            <a:ext cx="5668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4021117" y="3474720"/>
            <a:ext cx="9249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OFFTAKE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5055827" y="3474720"/>
            <a:ext cx="14821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0" name="Shape 37"/>
          <p:cNvSpPr/>
          <p:nvPr/>
        </p:nvSpPr>
        <p:spPr>
          <a:xfrm>
            <a:off x="265176" y="371246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8"/>
          <p:cNvSpPr/>
          <p:nvPr/>
        </p:nvSpPr>
        <p:spPr>
          <a:xfrm>
            <a:off x="265176" y="398678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320040" y="371246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752715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33.38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2548646" y="371246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24.49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344576" y="371246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4021117" y="371246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5055827" y="371246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protect hero EANs</a:t>
            </a:r>
            <a:endParaRPr lang="en-US" sz="700" dirty="0"/>
          </a:p>
        </p:txBody>
      </p:sp>
      <p:sp>
        <p:nvSpPr>
          <p:cNvPr id="48" name="Shape 45"/>
          <p:cNvSpPr/>
          <p:nvPr/>
        </p:nvSpPr>
        <p:spPr>
          <a:xfrm>
            <a:off x="265176" y="426110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320040" y="398678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</a:t>
            </a:r>
            <a:endParaRPr lang="en-US" sz="700" dirty="0"/>
          </a:p>
        </p:txBody>
      </p:sp>
      <p:sp>
        <p:nvSpPr>
          <p:cNvPr id="50" name="Text 47"/>
          <p:cNvSpPr/>
          <p:nvPr/>
        </p:nvSpPr>
        <p:spPr>
          <a:xfrm>
            <a:off x="1752715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15.19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2548646" y="398678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11.03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3344576" y="398678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4021117" y="398678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30.6%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5055827" y="398678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₹4.16 Cr gap — same flow problem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265176" y="426110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3"/>
          <p:cNvSpPr/>
          <p:nvPr/>
        </p:nvSpPr>
        <p:spPr>
          <a:xfrm>
            <a:off x="265176" y="45354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4"/>
          <p:cNvSpPr/>
          <p:nvPr/>
        </p:nvSpPr>
        <p:spPr>
          <a:xfrm>
            <a:off x="320040" y="426110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endParaRPr lang="en-US" sz="700" dirty="0"/>
          </a:p>
        </p:txBody>
      </p:sp>
      <p:sp>
        <p:nvSpPr>
          <p:cNvPr id="58" name="Text 55"/>
          <p:cNvSpPr/>
          <p:nvPr/>
        </p:nvSpPr>
        <p:spPr>
          <a:xfrm>
            <a:off x="1752715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2548646" y="426110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00" dirty="0"/>
          </a:p>
        </p:txBody>
      </p:sp>
      <p:sp>
        <p:nvSpPr>
          <p:cNvPr id="60" name="Text 57"/>
          <p:cNvSpPr/>
          <p:nvPr/>
        </p:nvSpPr>
        <p:spPr>
          <a:xfrm>
            <a:off x="3344576" y="426110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100%</a:t>
            </a:r>
            <a:endParaRPr lang="en-US" sz="700" dirty="0"/>
          </a:p>
        </p:txBody>
      </p:sp>
      <p:sp>
        <p:nvSpPr>
          <p:cNvPr id="61" name="Text 58"/>
          <p:cNvSpPr/>
          <p:nvPr/>
        </p:nvSpPr>
        <p:spPr>
          <a:xfrm>
            <a:off x="4021117" y="426110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1.3%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055827" y="426110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 timing — validate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65176" y="48097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1"/>
          <p:cNvSpPr/>
          <p:nvPr/>
        </p:nvSpPr>
        <p:spPr>
          <a:xfrm>
            <a:off x="320040" y="453542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BBLUNT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1752715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700" dirty="0"/>
          </a:p>
        </p:txBody>
      </p:sp>
      <p:sp>
        <p:nvSpPr>
          <p:cNvPr id="66" name="Text 63"/>
          <p:cNvSpPr/>
          <p:nvPr/>
        </p:nvSpPr>
        <p:spPr>
          <a:xfrm>
            <a:off x="2548646" y="453542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344576" y="453542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35.2%</a:t>
            </a:r>
            <a:endParaRPr lang="en-US" sz="700" dirty="0"/>
          </a:p>
        </p:txBody>
      </p:sp>
      <p:sp>
        <p:nvSpPr>
          <p:cNvPr id="68" name="Text 65"/>
          <p:cNvSpPr/>
          <p:nvPr/>
        </p:nvSpPr>
        <p:spPr>
          <a:xfrm>
            <a:off x="4021117" y="453542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0.2%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5055827" y="453542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materiality floor</a:t>
            </a:r>
            <a:endParaRPr lang="en-US" sz="700" dirty="0"/>
          </a:p>
        </p:txBody>
      </p:sp>
      <p:sp>
        <p:nvSpPr>
          <p:cNvPr id="70" name="Shape 67"/>
          <p:cNvSpPr/>
          <p:nvPr/>
        </p:nvSpPr>
        <p:spPr>
          <a:xfrm>
            <a:off x="265176" y="4809744"/>
            <a:ext cx="6327648" cy="27432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8"/>
          <p:cNvSpPr/>
          <p:nvPr/>
        </p:nvSpPr>
        <p:spPr>
          <a:xfrm>
            <a:off x="265176" y="50840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69"/>
          <p:cNvSpPr/>
          <p:nvPr/>
        </p:nvSpPr>
        <p:spPr>
          <a:xfrm>
            <a:off x="320040" y="4809744"/>
            <a:ext cx="13229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Sheth's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1752715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700" dirty="0"/>
          </a:p>
        </p:txBody>
      </p:sp>
      <p:sp>
        <p:nvSpPr>
          <p:cNvPr id="74" name="Text 71"/>
          <p:cNvSpPr/>
          <p:nvPr/>
        </p:nvSpPr>
        <p:spPr>
          <a:xfrm>
            <a:off x="2548646" y="4809744"/>
            <a:ext cx="686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3344576" y="4809744"/>
            <a:ext cx="5668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700" dirty="0"/>
          </a:p>
        </p:txBody>
      </p:sp>
      <p:sp>
        <p:nvSpPr>
          <p:cNvPr id="76" name="Text 73"/>
          <p:cNvSpPr/>
          <p:nvPr/>
        </p:nvSpPr>
        <p:spPr>
          <a:xfrm>
            <a:off x="4021117" y="4809744"/>
            <a:ext cx="924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0.1%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055827" y="4809744"/>
            <a:ext cx="1482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mapped primary</a:t>
            </a:r>
            <a:endParaRPr lang="en-US" sz="700" dirty="0"/>
          </a:p>
        </p:txBody>
      </p:sp>
      <p:sp>
        <p:nvSpPr>
          <p:cNvPr id="78" name="Text 75"/>
          <p:cNvSpPr/>
          <p:nvPr/>
        </p:nvSpPr>
        <p:spPr>
          <a:xfrm>
            <a:off x="265176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top 3 sub-categories (₹ Cr, Feb–Jul)</a:t>
            </a:r>
            <a:endParaRPr lang="en-US" sz="720" dirty="0"/>
          </a:p>
        </p:txBody>
      </p:sp>
      <p:graphicFrame>
        <p:nvGraphicFramePr>
          <p:cNvPr id="79" name="Chart 1"/>
          <p:cNvGraphicFramePr/>
          <p:nvPr/>
        </p:nvGraphicFramePr>
        <p:xfrm>
          <a:off x="246888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0" name="Text 76"/>
          <p:cNvSpPr/>
          <p:nvPr/>
        </p:nvSpPr>
        <p:spPr>
          <a:xfrm>
            <a:off x="3502152" y="526694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top 3 sub-categories (₹ Cr, Feb–Jul)</a:t>
            </a:r>
            <a:endParaRPr lang="en-US" sz="720" dirty="0"/>
          </a:p>
        </p:txBody>
      </p:sp>
      <p:graphicFrame>
        <p:nvGraphicFramePr>
          <p:cNvPr id="81" name="Chart 2"/>
          <p:cNvGraphicFramePr/>
          <p:nvPr/>
        </p:nvGraphicFramePr>
        <p:xfrm>
          <a:off x="3483864" y="5468112"/>
          <a:ext cx="3090672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2" name="Shape 77"/>
          <p:cNvSpPr/>
          <p:nvPr/>
        </p:nvSpPr>
        <p:spPr>
          <a:xfrm>
            <a:off x="265176" y="6967728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78"/>
          <p:cNvSpPr/>
          <p:nvPr/>
        </p:nvSpPr>
        <p:spPr>
          <a:xfrm>
            <a:off x="374904" y="698601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IMPLICATIONS</a:t>
            </a:r>
            <a:endParaRPr lang="en-US" sz="720" dirty="0"/>
          </a:p>
        </p:txBody>
      </p:sp>
      <p:sp>
        <p:nvSpPr>
          <p:cNvPr id="84" name="Shape 79"/>
          <p:cNvSpPr/>
          <p:nvPr/>
        </p:nvSpPr>
        <p:spPr>
          <a:xfrm>
            <a:off x="356616" y="738378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0"/>
          <p:cNvSpPr/>
          <p:nvPr/>
        </p:nvSpPr>
        <p:spPr>
          <a:xfrm>
            <a:off x="475488" y="733348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engines convert at the same rate — 73.4% and 72.6%. The flow problem is channel-wide, not brand-specific, so it will not be fixed by brand-level action.</a:t>
            </a:r>
            <a:endParaRPr lang="en-US" sz="740" dirty="0"/>
          </a:p>
        </p:txBody>
      </p:sp>
      <p:sp>
        <p:nvSpPr>
          <p:cNvPr id="86" name="Shape 81"/>
          <p:cNvSpPr/>
          <p:nvPr/>
        </p:nvSpPr>
        <p:spPr>
          <a:xfrm>
            <a:off x="356616" y="774954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2"/>
          <p:cNvSpPr/>
          <p:nvPr/>
        </p:nvSpPr>
        <p:spPr>
          <a:xfrm>
            <a:off x="475488" y="769924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Face Cleanser closed July at ₹8.53 Cr and The Derma Co. Face Cleanser at ₹7.13 Cr. One sub-category is ₹15.66 Cr — 43% of all Modern Trade offtake.</a:t>
            </a:r>
            <a:endParaRPr lang="en-US" sz="740" dirty="0"/>
          </a:p>
        </p:txBody>
      </p:sp>
      <p:sp>
        <p:nvSpPr>
          <p:cNvPr id="88" name="Shape 83"/>
          <p:cNvSpPr/>
          <p:nvPr/>
        </p:nvSpPr>
        <p:spPr>
          <a:xfrm>
            <a:off x="356616" y="8115300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4"/>
          <p:cNvSpPr/>
          <p:nvPr/>
        </p:nvSpPr>
        <p:spPr>
          <a:xfrm>
            <a:off x="475488" y="806500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has climbed every month since February and accelerated sharply into July; Mamaearth Sun Care has turned down since May.</a:t>
            </a:r>
            <a:endParaRPr lang="en-US" sz="740" dirty="0"/>
          </a:p>
        </p:txBody>
      </p:sp>
      <p:sp>
        <p:nvSpPr>
          <p:cNvPr id="90" name="Shape 85"/>
          <p:cNvSpPr/>
          <p:nvPr/>
        </p:nvSpPr>
        <p:spPr>
          <a:xfrm>
            <a:off x="356616" y="84810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6"/>
          <p:cNvSpPr/>
          <p:nvPr/>
        </p:nvSpPr>
        <p:spPr>
          <a:xfrm>
            <a:off x="475488" y="8430768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 shows offtake above primary and Dr. Sheth's has no mapped primary; BBLUNT at ₹0.06 Cr sits below the materiality floor. All three are exception-report only.</a:t>
            </a:r>
            <a:endParaRPr lang="en-US" sz="740" dirty="0"/>
          </a:p>
        </p:txBody>
      </p:sp>
      <p:sp>
        <p:nvSpPr>
          <p:cNvPr id="92" name="Shape 87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88"/>
          <p:cNvSpPr/>
          <p:nvPr/>
        </p:nvSpPr>
        <p:spPr>
          <a:xfrm>
            <a:off x="374904" y="8924544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— WHAT THIS PORTFOLIO SHAPE MEANS</a:t>
            </a:r>
            <a:endParaRPr lang="en-US" sz="720" dirty="0"/>
          </a:p>
        </p:txBody>
      </p:sp>
      <p:sp>
        <p:nvSpPr>
          <p:cNvPr id="94" name="Shape 89"/>
          <p:cNvSpPr/>
          <p:nvPr/>
        </p:nvSpPr>
        <p:spPr>
          <a:xfrm>
            <a:off x="265176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Shape 90"/>
          <p:cNvSpPr/>
          <p:nvPr/>
        </p:nvSpPr>
        <p:spPr>
          <a:xfrm>
            <a:off x="265176" y="925372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1"/>
          <p:cNvSpPr/>
          <p:nvPr/>
        </p:nvSpPr>
        <p:spPr>
          <a:xfrm>
            <a:off x="347472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BRANDS</a:t>
            </a:r>
            <a:endParaRPr lang="en-US" sz="700" dirty="0"/>
          </a:p>
        </p:txBody>
      </p:sp>
      <p:sp>
        <p:nvSpPr>
          <p:cNvPr id="97" name="Text 92"/>
          <p:cNvSpPr/>
          <p:nvPr/>
        </p:nvSpPr>
        <p:spPr>
          <a:xfrm>
            <a:off x="356616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98.4%</a:t>
            </a:r>
            <a:endParaRPr lang="en-US" sz="1500" dirty="0"/>
          </a:p>
        </p:txBody>
      </p:sp>
      <p:sp>
        <p:nvSpPr>
          <p:cNvPr id="98" name="Text 93"/>
          <p:cNvSpPr/>
          <p:nvPr/>
        </p:nvSpPr>
        <p:spPr>
          <a:xfrm>
            <a:off x="356616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offtake</a:t>
            </a:r>
            <a:endParaRPr lang="en-US" sz="660" dirty="0"/>
          </a:p>
        </p:txBody>
      </p:sp>
      <p:sp>
        <p:nvSpPr>
          <p:cNvPr id="99" name="Shape 94"/>
          <p:cNvSpPr/>
          <p:nvPr/>
        </p:nvSpPr>
        <p:spPr>
          <a:xfrm>
            <a:off x="374904" y="10200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5"/>
          <p:cNvSpPr/>
          <p:nvPr/>
        </p:nvSpPr>
        <p:spPr>
          <a:xfrm>
            <a:off x="493776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remaining brands total ₹0.57 Cr — 1.6%.</a:t>
            </a:r>
            <a:endParaRPr lang="en-US" sz="670" dirty="0"/>
          </a:p>
        </p:txBody>
      </p:sp>
      <p:sp>
        <p:nvSpPr>
          <p:cNvPr id="101" name="Shape 96"/>
          <p:cNvSpPr/>
          <p:nvPr/>
        </p:nvSpPr>
        <p:spPr>
          <a:xfrm>
            <a:off x="374904" y="10547604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7"/>
          <p:cNvSpPr/>
          <p:nvPr/>
        </p:nvSpPr>
        <p:spPr>
          <a:xfrm>
            <a:off x="493776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shock to either engine is a channel-level shock.</a:t>
            </a:r>
            <a:endParaRPr lang="en-US" sz="670" dirty="0"/>
          </a:p>
        </p:txBody>
      </p:sp>
      <p:sp>
        <p:nvSpPr>
          <p:cNvPr id="103" name="Shape 98"/>
          <p:cNvSpPr/>
          <p:nvPr/>
        </p:nvSpPr>
        <p:spPr>
          <a:xfrm>
            <a:off x="2410968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Shape 99"/>
          <p:cNvSpPr/>
          <p:nvPr/>
        </p:nvSpPr>
        <p:spPr>
          <a:xfrm>
            <a:off x="2410968" y="925372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0"/>
          <p:cNvSpPr/>
          <p:nvPr/>
        </p:nvSpPr>
        <p:spPr>
          <a:xfrm>
            <a:off x="2493264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SUB-CATEGORY</a:t>
            </a:r>
            <a:endParaRPr lang="en-US" sz="700" dirty="0"/>
          </a:p>
        </p:txBody>
      </p:sp>
      <p:sp>
        <p:nvSpPr>
          <p:cNvPr id="106" name="Text 101"/>
          <p:cNvSpPr/>
          <p:nvPr/>
        </p:nvSpPr>
        <p:spPr>
          <a:xfrm>
            <a:off x="2502408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</a:t>
            </a:r>
            <a:endParaRPr lang="en-US" sz="1500" dirty="0"/>
          </a:p>
        </p:txBody>
      </p:sp>
      <p:sp>
        <p:nvSpPr>
          <p:cNvPr id="107" name="Text 102"/>
          <p:cNvSpPr/>
          <p:nvPr/>
        </p:nvSpPr>
        <p:spPr>
          <a:xfrm>
            <a:off x="2502408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share of offtake</a:t>
            </a:r>
            <a:endParaRPr lang="en-US" sz="660" dirty="0"/>
          </a:p>
        </p:txBody>
      </p:sp>
      <p:sp>
        <p:nvSpPr>
          <p:cNvPr id="108" name="Shape 103"/>
          <p:cNvSpPr/>
          <p:nvPr/>
        </p:nvSpPr>
        <p:spPr>
          <a:xfrm>
            <a:off x="2520696" y="10200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4"/>
          <p:cNvSpPr/>
          <p:nvPr/>
        </p:nvSpPr>
        <p:spPr>
          <a:xfrm>
            <a:off x="2639568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₹15.66 Cr across both brands in one sub-category.</a:t>
            </a:r>
            <a:endParaRPr lang="en-US" sz="670" dirty="0"/>
          </a:p>
        </p:txBody>
      </p:sp>
      <p:sp>
        <p:nvSpPr>
          <p:cNvPr id="110" name="Shape 105"/>
          <p:cNvSpPr/>
          <p:nvPr/>
        </p:nvSpPr>
        <p:spPr>
          <a:xfrm>
            <a:off x="2520696" y="10547604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6"/>
          <p:cNvSpPr/>
          <p:nvPr/>
        </p:nvSpPr>
        <p:spPr>
          <a:xfrm>
            <a:off x="2639568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risk is higher than the brand split suggests.</a:t>
            </a:r>
            <a:endParaRPr lang="en-US" sz="670" dirty="0"/>
          </a:p>
        </p:txBody>
      </p:sp>
      <p:sp>
        <p:nvSpPr>
          <p:cNvPr id="112" name="Shape 107"/>
          <p:cNvSpPr/>
          <p:nvPr/>
        </p:nvSpPr>
        <p:spPr>
          <a:xfrm>
            <a:off x="4556760" y="9253728"/>
            <a:ext cx="2036064" cy="159105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08"/>
          <p:cNvSpPr/>
          <p:nvPr/>
        </p:nvSpPr>
        <p:spPr>
          <a:xfrm>
            <a:off x="4556760" y="9253728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09"/>
          <p:cNvSpPr/>
          <p:nvPr/>
        </p:nvSpPr>
        <p:spPr>
          <a:xfrm>
            <a:off x="4639056" y="927201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TO WATCH</a:t>
            </a:r>
            <a:endParaRPr lang="en-US" sz="700" dirty="0"/>
          </a:p>
        </p:txBody>
      </p:sp>
      <p:sp>
        <p:nvSpPr>
          <p:cNvPr id="115" name="Text 110"/>
          <p:cNvSpPr/>
          <p:nvPr/>
        </p:nvSpPr>
        <p:spPr>
          <a:xfrm>
            <a:off x="4648200" y="961948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Opposite ways</a:t>
            </a:r>
            <a:endParaRPr lang="en-US" sz="1500" dirty="0"/>
          </a:p>
        </p:txBody>
      </p:sp>
      <p:sp>
        <p:nvSpPr>
          <p:cNvPr id="116" name="Text 111"/>
          <p:cNvSpPr/>
          <p:nvPr/>
        </p:nvSpPr>
        <p:spPr>
          <a:xfrm>
            <a:off x="4648200" y="9948672"/>
            <a:ext cx="1853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May</a:t>
            </a:r>
            <a:endParaRPr lang="en-US" sz="660" dirty="0"/>
          </a:p>
        </p:txBody>
      </p:sp>
      <p:sp>
        <p:nvSpPr>
          <p:cNvPr id="117" name="Shape 112"/>
          <p:cNvSpPr/>
          <p:nvPr/>
        </p:nvSpPr>
        <p:spPr>
          <a:xfrm>
            <a:off x="4666488" y="10200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3"/>
          <p:cNvSpPr/>
          <p:nvPr/>
        </p:nvSpPr>
        <p:spPr>
          <a:xfrm>
            <a:off x="4785360" y="10149840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Cleanser has accelerated every month to ₹7.13 Cr.</a:t>
            </a:r>
            <a:endParaRPr lang="en-US" sz="670" dirty="0"/>
          </a:p>
        </p:txBody>
      </p:sp>
      <p:sp>
        <p:nvSpPr>
          <p:cNvPr id="119" name="Shape 114"/>
          <p:cNvSpPr/>
          <p:nvPr/>
        </p:nvSpPr>
        <p:spPr>
          <a:xfrm>
            <a:off x="4666488" y="10547604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5"/>
          <p:cNvSpPr/>
          <p:nvPr/>
        </p:nvSpPr>
        <p:spPr>
          <a:xfrm>
            <a:off x="4785360" y="10497312"/>
            <a:ext cx="1697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7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Mamaearth Sun Care's fall is seasonal before cutting range.</a:t>
            </a:r>
            <a:endParaRPr lang="en-US" sz="67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90-day cadence that converts ₹6.22 Cr without loading a single extra case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Decision-safe definitions, quality gates and authority boundaries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command centre | grain, conformity, coverage and controlled execution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786384"/>
          </a:xfrm>
          <a:prstGeom prst="roundRect">
            <a:avLst>
              <a:gd name="adj" fmla="val 3488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9768" y="13533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this pack to prioritise investigation and owner action — not to infer inventory, causality or autonomous execution.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29768" y="1719072"/>
            <a:ext cx="5998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consequential commercial change remains subject to named human approval.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194560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2128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GRAIN — ONE STATED BASE, NO NETTING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542032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560320"/>
            <a:ext cx="163870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2068469" y="2560320"/>
            <a:ext cx="8061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2984313" y="2560320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566225" y="2560320"/>
            <a:ext cx="1971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265176" y="27980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265176" y="31089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279806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2068469" y="279806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₹49.21 Cr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2984313" y="279806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net value, zone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4566225" y="279806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primary sheet, converted to ₹ Cr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265176" y="34198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20040" y="3108960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720" dirty="0"/>
          </a:p>
        </p:txBody>
      </p:sp>
      <p:sp>
        <p:nvSpPr>
          <p:cNvPr id="38" name="Text 36"/>
          <p:cNvSpPr/>
          <p:nvPr/>
        </p:nvSpPr>
        <p:spPr>
          <a:xfrm>
            <a:off x="2068469" y="3108960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₹36.10 Cr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2984313" y="3108960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NSV, store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4566225" y="3108960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Consumer-facing flow measure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265176" y="34198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265176" y="37307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0040" y="3419856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068469" y="3419856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₹13.27 Cr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2984313" y="3419856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mapped only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566225" y="3419856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the recoverable pool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265176" y="40416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20040" y="3730752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2068469" y="3730752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84313" y="3730752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unmapped primary</a:t>
            </a:r>
            <a:endParaRPr lang="en-US" sz="720" dirty="0"/>
          </a:p>
        </p:txBody>
      </p:sp>
      <p:sp>
        <p:nvSpPr>
          <p:cNvPr id="51" name="Text 49"/>
          <p:cNvSpPr/>
          <p:nvPr/>
        </p:nvSpPr>
        <p:spPr>
          <a:xfrm>
            <a:off x="4566225" y="3730752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join defect — never netted against the pool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265176" y="4041648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65176" y="435254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0040" y="4041648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gap, summed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2068469" y="4041648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₹13.06 Cr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2984313" y="4041648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geographic zones</a:t>
            </a:r>
            <a:endParaRPr lang="en-US" sz="720" dirty="0"/>
          </a:p>
        </p:txBody>
      </p:sp>
      <p:sp>
        <p:nvSpPr>
          <p:cNvPr id="57" name="Text 55"/>
          <p:cNvSpPr/>
          <p:nvPr/>
        </p:nvSpPr>
        <p:spPr>
          <a:xfrm>
            <a:off x="4566225" y="4041648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Pan India, which has no primary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265176" y="46634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352544"/>
            <a:ext cx="16387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2068469" y="4352544"/>
            <a:ext cx="8061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2984313" y="4352544"/>
            <a:ext cx="1472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ratio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566225" y="4352544"/>
            <a:ext cx="19717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from sums — never average zones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65176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265176" y="4828032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47472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DIMENSIONS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6616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breaks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374904" y="562813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93776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Wellness Forever, Health &amp; Glow appear in offtake, not in primary.</a:t>
            </a:r>
            <a:endParaRPr lang="en-US" sz="690" dirty="0"/>
          </a:p>
        </p:txBody>
      </p:sp>
      <p:sp>
        <p:nvSpPr>
          <p:cNvPr id="69" name="Shape 67"/>
          <p:cNvSpPr/>
          <p:nvPr/>
        </p:nvSpPr>
        <p:spPr>
          <a:xfrm>
            <a:off x="374904" y="599389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493776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FSN and Nykaa SS are combined at article level and cannot be separated.</a:t>
            </a:r>
            <a:endParaRPr lang="en-US" sz="690" dirty="0"/>
          </a:p>
        </p:txBody>
      </p:sp>
      <p:sp>
        <p:nvSpPr>
          <p:cNvPr id="71" name="Shape 69"/>
          <p:cNvSpPr/>
          <p:nvPr/>
        </p:nvSpPr>
        <p:spPr>
          <a:xfrm>
            <a:off x="374904" y="635965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93776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 carries no geographic primary by design.</a:t>
            </a:r>
            <a:endParaRPr lang="en-US" sz="690" dirty="0"/>
          </a:p>
        </p:txBody>
      </p:sp>
      <p:sp>
        <p:nvSpPr>
          <p:cNvPr id="73" name="Shape 71"/>
          <p:cNvSpPr/>
          <p:nvPr/>
        </p:nvSpPr>
        <p:spPr>
          <a:xfrm>
            <a:off x="374904" y="6725412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493776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 outer merge surfaces all of these automatically.</a:t>
            </a:r>
            <a:endParaRPr lang="en-US" sz="690" dirty="0"/>
          </a:p>
        </p:txBody>
      </p:sp>
      <p:sp>
        <p:nvSpPr>
          <p:cNvPr id="75" name="Shape 73"/>
          <p:cNvSpPr/>
          <p:nvPr/>
        </p:nvSpPr>
        <p:spPr>
          <a:xfrm>
            <a:off x="2410968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10968" y="4828032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93264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NON-ADDITIVE FACTS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502408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Ratios never sum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2520696" y="562813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2639568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national reads 99.7%; zones read 121%, 138% and 149%.</a:t>
            </a:r>
            <a:endParaRPr lang="en-US" sz="690" dirty="0"/>
          </a:p>
        </p:txBody>
      </p:sp>
      <p:sp>
        <p:nvSpPr>
          <p:cNvPr id="81" name="Shape 79"/>
          <p:cNvSpPr/>
          <p:nvPr/>
        </p:nvSpPr>
        <p:spPr>
          <a:xfrm>
            <a:off x="2520696" y="59938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2639568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figure is averaging error, not measured parity.</a:t>
            </a:r>
            <a:endParaRPr lang="en-US" sz="690" dirty="0"/>
          </a:p>
        </p:txBody>
      </p:sp>
      <p:sp>
        <p:nvSpPr>
          <p:cNvPr id="83" name="Shape 81"/>
          <p:cNvSpPr/>
          <p:nvPr/>
        </p:nvSpPr>
        <p:spPr>
          <a:xfrm>
            <a:off x="2520696" y="635965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2639568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conversion above 100% is stock or timing, never performance.</a:t>
            </a:r>
            <a:endParaRPr lang="en-US" sz="690" dirty="0"/>
          </a:p>
        </p:txBody>
      </p:sp>
      <p:sp>
        <p:nvSpPr>
          <p:cNvPr id="85" name="Shape 83"/>
          <p:cNvSpPr/>
          <p:nvPr/>
        </p:nvSpPr>
        <p:spPr>
          <a:xfrm>
            <a:off x="2520696" y="672541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2639568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quote a ratio without stating its denominator.</a:t>
            </a:r>
            <a:endParaRPr lang="en-US" sz="690" dirty="0"/>
          </a:p>
        </p:txBody>
      </p:sp>
      <p:sp>
        <p:nvSpPr>
          <p:cNvPr id="87" name="Shape 85"/>
          <p:cNvSpPr/>
          <p:nvPr/>
        </p:nvSpPr>
        <p:spPr>
          <a:xfrm>
            <a:off x="4556760" y="4828032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4556760" y="482803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639056" y="484632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648200" y="5193792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79.2%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4666488" y="562813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4785360" y="557784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scorecard covers ₹26.90 Cr of ₹33.96 Cr national MT offtake.</a:t>
            </a:r>
            <a:endParaRPr lang="en-US" sz="690" dirty="0"/>
          </a:p>
        </p:txBody>
      </p:sp>
      <p:sp>
        <p:nvSpPr>
          <p:cNvPr id="93" name="Shape 91"/>
          <p:cNvSpPr/>
          <p:nvPr/>
        </p:nvSpPr>
        <p:spPr>
          <a:xfrm>
            <a:off x="4666488" y="599389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4785360" y="594360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31,355 of 1,97,740 primary and offtake rows are matched.</a:t>
            </a:r>
            <a:endParaRPr lang="en-US" sz="690" dirty="0"/>
          </a:p>
        </p:txBody>
      </p:sp>
      <p:sp>
        <p:nvSpPr>
          <p:cNvPr id="95" name="Shape 93"/>
          <p:cNvSpPr/>
          <p:nvPr/>
        </p:nvSpPr>
        <p:spPr>
          <a:xfrm>
            <a:off x="4666488" y="635965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4785360" y="630936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zone rows: 0. Period: July 2026.</a:t>
            </a:r>
            <a:endParaRPr lang="en-US" sz="690" dirty="0"/>
          </a:p>
        </p:txBody>
      </p:sp>
      <p:sp>
        <p:nvSpPr>
          <p:cNvPr id="97" name="Shape 95"/>
          <p:cNvSpPr/>
          <p:nvPr/>
        </p:nvSpPr>
        <p:spPr>
          <a:xfrm>
            <a:off x="4666488" y="6725412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4785360" y="6675120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missing July feeds are data gaps, not de-growth.</a:t>
            </a:r>
            <a:endParaRPr lang="en-US" sz="690" dirty="0"/>
          </a:p>
        </p:txBody>
      </p:sp>
      <p:sp>
        <p:nvSpPr>
          <p:cNvPr id="99" name="Shape 97"/>
          <p:cNvSpPr/>
          <p:nvPr/>
        </p:nvSpPr>
        <p:spPr>
          <a:xfrm>
            <a:off x="265176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265176" y="73517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347472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 FLOOR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56616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₹0.25 Cr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374904" y="815187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493776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% shown, ranked or coloured below this base.</a:t>
            </a:r>
            <a:endParaRPr lang="en-US" sz="690" dirty="0"/>
          </a:p>
        </p:txBody>
      </p:sp>
      <p:sp>
        <p:nvSpPr>
          <p:cNvPr id="105" name="Shape 103"/>
          <p:cNvSpPr/>
          <p:nvPr/>
        </p:nvSpPr>
        <p:spPr>
          <a:xfrm>
            <a:off x="374904" y="851763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493776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10 of 13 chains from the scorecard ranking.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374904" y="888339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6"/>
          <p:cNvSpPr/>
          <p:nvPr/>
        </p:nvSpPr>
        <p:spPr>
          <a:xfrm>
            <a:off x="493776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zone recovery (₹0.11 Cr) falls below it.</a:t>
            </a:r>
            <a:endParaRPr lang="en-US" sz="690" dirty="0"/>
          </a:p>
        </p:txBody>
      </p:sp>
      <p:sp>
        <p:nvSpPr>
          <p:cNvPr id="109" name="Shape 107"/>
          <p:cNvSpPr/>
          <p:nvPr/>
        </p:nvSpPr>
        <p:spPr>
          <a:xfrm>
            <a:off x="374904" y="9249156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8"/>
          <p:cNvSpPr/>
          <p:nvPr/>
        </p:nvSpPr>
        <p:spPr>
          <a:xfrm>
            <a:off x="493776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floor, report the absolute ₹ change only.</a:t>
            </a:r>
            <a:endParaRPr lang="en-US" sz="690" dirty="0"/>
          </a:p>
        </p:txBody>
      </p:sp>
      <p:sp>
        <p:nvSpPr>
          <p:cNvPr id="111" name="Shape 109"/>
          <p:cNvSpPr/>
          <p:nvPr/>
        </p:nvSpPr>
        <p:spPr>
          <a:xfrm>
            <a:off x="2410968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410968" y="7351776"/>
            <a:ext cx="2036064" cy="274320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493264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RECONCILE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2502408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716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fields</a:t>
            </a:r>
            <a:endParaRPr lang="en-US" sz="1300" dirty="0"/>
          </a:p>
        </p:txBody>
      </p:sp>
      <p:sp>
        <p:nvSpPr>
          <p:cNvPr id="115" name="Shape 113"/>
          <p:cNvSpPr/>
          <p:nvPr/>
        </p:nvSpPr>
        <p:spPr>
          <a:xfrm>
            <a:off x="2520696" y="815187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2639568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SAH, weighted distribution by chain, PDO, OOS, closing stock.</a:t>
            </a:r>
            <a:endParaRPr lang="en-US" sz="690" dirty="0"/>
          </a:p>
        </p:txBody>
      </p:sp>
      <p:sp>
        <p:nvSpPr>
          <p:cNvPr id="117" name="Shape 115"/>
          <p:cNvSpPr/>
          <p:nvPr/>
        </p:nvSpPr>
        <p:spPr>
          <a:xfrm>
            <a:off x="2520696" y="851763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639568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these tie, cause is inferred and not measured.</a:t>
            </a:r>
            <a:endParaRPr lang="en-US" sz="690" dirty="0"/>
          </a:p>
        </p:txBody>
      </p:sp>
      <p:sp>
        <p:nvSpPr>
          <p:cNvPr id="119" name="Shape 117"/>
          <p:cNvSpPr/>
          <p:nvPr/>
        </p:nvSpPr>
        <p:spPr>
          <a:xfrm>
            <a:off x="2520696" y="888339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639568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SAH × share diagnosis is claimed in this pack.</a:t>
            </a:r>
            <a:endParaRPr lang="en-US" sz="690" dirty="0"/>
          </a:p>
        </p:txBody>
      </p:sp>
      <p:sp>
        <p:nvSpPr>
          <p:cNvPr id="121" name="Shape 119"/>
          <p:cNvSpPr/>
          <p:nvPr/>
        </p:nvSpPr>
        <p:spPr>
          <a:xfrm>
            <a:off x="2520696" y="9249156"/>
            <a:ext cx="50292" cy="50292"/>
          </a:xfrm>
          <a:prstGeom prst="ellipse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2639568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pressure and turnover remain out of scope.</a:t>
            </a:r>
            <a:endParaRPr lang="en-US" sz="690" dirty="0"/>
          </a:p>
        </p:txBody>
      </p:sp>
      <p:sp>
        <p:nvSpPr>
          <p:cNvPr id="123" name="Shape 121"/>
          <p:cNvSpPr/>
          <p:nvPr/>
        </p:nvSpPr>
        <p:spPr>
          <a:xfrm>
            <a:off x="4556760" y="7351776"/>
            <a:ext cx="2036064" cy="2395728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4556760" y="7351776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639056" y="73700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4648200" y="77175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Ask first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4666488" y="815187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4785360" y="810158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recommends and sizes; it does not decide.</a:t>
            </a:r>
            <a:endParaRPr lang="en-US" sz="690" dirty="0"/>
          </a:p>
        </p:txBody>
      </p:sp>
      <p:sp>
        <p:nvSpPr>
          <p:cNvPr id="129" name="Shape 127"/>
          <p:cNvSpPr/>
          <p:nvPr/>
        </p:nvSpPr>
        <p:spPr>
          <a:xfrm>
            <a:off x="4666488" y="851763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Text 128"/>
          <p:cNvSpPr/>
          <p:nvPr/>
        </p:nvSpPr>
        <p:spPr>
          <a:xfrm>
            <a:off x="4785360" y="846734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NKAM, RKAM and KAM approve loading, range and distribution.</a:t>
            </a:r>
            <a:endParaRPr lang="en-US" sz="690" dirty="0"/>
          </a:p>
        </p:txBody>
      </p:sp>
      <p:sp>
        <p:nvSpPr>
          <p:cNvPr id="131" name="Shape 129"/>
          <p:cNvSpPr/>
          <p:nvPr/>
        </p:nvSpPr>
        <p:spPr>
          <a:xfrm>
            <a:off x="4666488" y="888339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4785360" y="883310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what changed, the evidence, the owner and the date.</a:t>
            </a:r>
            <a:endParaRPr lang="en-US" sz="690" dirty="0"/>
          </a:p>
        </p:txBody>
      </p:sp>
      <p:sp>
        <p:nvSpPr>
          <p:cNvPr id="133" name="Shape 131"/>
          <p:cNvSpPr/>
          <p:nvPr/>
        </p:nvSpPr>
        <p:spPr>
          <a:xfrm>
            <a:off x="4666488" y="9249156"/>
            <a:ext cx="50292" cy="50292"/>
          </a:xfrm>
          <a:prstGeom prst="ellipse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4785360" y="9198864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or stop when the proof point fails.</a:t>
            </a:r>
            <a:endParaRPr lang="en-US" sz="690" dirty="0"/>
          </a:p>
        </p:txBody>
      </p:sp>
      <p:sp>
        <p:nvSpPr>
          <p:cNvPr id="135" name="Shape 133"/>
          <p:cNvSpPr/>
          <p:nvPr/>
        </p:nvSpPr>
        <p:spPr>
          <a:xfrm>
            <a:off x="265176" y="9930384"/>
            <a:ext cx="6327648" cy="475488"/>
          </a:xfrm>
          <a:prstGeom prst="roundRect">
            <a:avLst>
              <a:gd name="adj" fmla="val 3846"/>
            </a:avLst>
          </a:prstGeom>
          <a:solidFill>
            <a:srgbClr val="FBEDEC"/>
          </a:solidFill>
          <a:ln w="9525">
            <a:solidFill>
              <a:srgbClr val="D654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374904" y="9985248"/>
            <a:ext cx="6108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4000"/>
              </a:lnSpc>
              <a:buNone/>
            </a:pPr>
            <a:r>
              <a:rPr lang="en-US" sz="68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SINCE THE PREVIOUS PACK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sales are now Modern Trade only. eB2B (₹2.20 Cr primary) and SIS are reported as their own channels, cut from the full July source with Channel == MT applied before aggregation. MT primary ₹47.02 Cr, MT offtake ₹33.96 Cr, gap ₹13.06 Cr — and national MT offtake now ties exactly to the sum of the six MT zones.</a:t>
            </a:r>
            <a:endParaRPr lang="en-US" sz="6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National category trends: six months of offtake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MT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₹36.10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100.0% of MT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72.2%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₹13.06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PICTURE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 leads ME; TDC Face Wash is the breakout — +47.6% MoM, new record ₹7.13 Cr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MT National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MT National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MT National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MT National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MT National-specific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MT National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MT National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72.2%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National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TDC Face Wash breakthrough — ₹7.13 Cr, +47.6% MoM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zone deep dive | July 2026 | ₹ Cr | Modern Trade accounts only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65176" y="1261872"/>
            <a:ext cx="64008" cy="859536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20624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420624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7D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₹15.19 Cr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0624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primary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1874520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74520" y="1261872"/>
            <a:ext cx="64008" cy="859536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029968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2029968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8A59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₹11.03 Cr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2029968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 brand mix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3483864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483864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639312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3639312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72.6%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3639312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5093208" y="1261872"/>
            <a:ext cx="1499616" cy="859536"/>
          </a:xfrm>
          <a:prstGeom prst="rect">
            <a:avLst/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093208" y="1261872"/>
            <a:ext cx="64008" cy="859536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48656" y="1353312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5248656" y="153619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₹4.16 Cr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5248656" y="1865376"/>
            <a:ext cx="12618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− offtake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265176" y="2231136"/>
            <a:ext cx="6327648" cy="384048"/>
          </a:xfrm>
          <a:prstGeom prst="roundRect">
            <a:avLst>
              <a:gd name="adj" fmla="val 476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74904" y="2286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kern="0" spc="4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</a:t>
            </a:r>
            <a:endParaRPr lang="en-US" sz="660" dirty="0"/>
          </a:p>
        </p:txBody>
      </p:sp>
      <p:sp>
        <p:nvSpPr>
          <p:cNvPr id="42" name="Text 40"/>
          <p:cNvSpPr/>
          <p:nvPr/>
        </p:nvSpPr>
        <p:spPr>
          <a:xfrm>
            <a:off x="1088136" y="22860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Face Wash ₹7.13 Cr is the fastest-growing MT category — +217% since Feb. Ensure ≥21-day DOI before Aug-10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265176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— top 3 sub-categories (₹ Cr, Feb–Jul)</a:t>
            </a:r>
            <a:endParaRPr lang="en-US" sz="720" dirty="0"/>
          </a:p>
        </p:txBody>
      </p:sp>
      <p:graphicFrame>
        <p:nvGraphicFramePr>
          <p:cNvPr id="44" name="Chart 0"/>
          <p:cNvGraphicFramePr/>
          <p:nvPr/>
        </p:nvGraphicFramePr>
        <p:xfrm>
          <a:off x="246888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" name="Text 42"/>
          <p:cNvSpPr/>
          <p:nvPr/>
        </p:nvSpPr>
        <p:spPr>
          <a:xfrm>
            <a:off x="3502152" y="2743200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— top 3 sub-categories (₹ Cr, Feb–Jul)</a:t>
            </a:r>
            <a:endParaRPr lang="en-US" sz="720" dirty="0"/>
          </a:p>
        </p:txBody>
      </p:sp>
      <p:graphicFrame>
        <p:nvGraphicFramePr>
          <p:cNvPr id="46" name="Chart 1"/>
          <p:cNvGraphicFramePr/>
          <p:nvPr/>
        </p:nvGraphicFramePr>
        <p:xfrm>
          <a:off x="3483864" y="2944368"/>
          <a:ext cx="3090672" cy="1499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7" name="Shape 43"/>
          <p:cNvSpPr/>
          <p:nvPr/>
        </p:nvSpPr>
        <p:spPr>
          <a:xfrm>
            <a:off x="265176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4"/>
          <p:cNvSpPr/>
          <p:nvPr/>
        </p:nvSpPr>
        <p:spPr>
          <a:xfrm>
            <a:off x="265176" y="4553712"/>
            <a:ext cx="2036064" cy="27432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/>
          <p:nvPr/>
        </p:nvSpPr>
        <p:spPr>
          <a:xfrm>
            <a:off x="347472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CHAINS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356616" y="4919472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DMart</a:t>
            </a:r>
            <a:endParaRPr lang="en-US" sz="700" dirty="0"/>
          </a:p>
        </p:txBody>
      </p:sp>
      <p:sp>
        <p:nvSpPr>
          <p:cNvPr id="51" name="Text 47"/>
          <p:cNvSpPr/>
          <p:nvPr/>
        </p:nvSpPr>
        <p:spPr>
          <a:xfrm>
            <a:off x="1588008" y="4919472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₹5.76 Cr</a:t>
            </a:r>
            <a:endParaRPr lang="en-US" sz="700" dirty="0"/>
          </a:p>
        </p:txBody>
      </p:sp>
      <p:sp>
        <p:nvSpPr>
          <p:cNvPr id="52" name="Text 48"/>
          <p:cNvSpPr/>
          <p:nvPr/>
        </p:nvSpPr>
        <p:spPr>
          <a:xfrm>
            <a:off x="1588008" y="5074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620" dirty="0"/>
          </a:p>
        </p:txBody>
      </p:sp>
      <p:sp>
        <p:nvSpPr>
          <p:cNvPr id="53" name="Text 49"/>
          <p:cNvSpPr/>
          <p:nvPr/>
        </p:nvSpPr>
        <p:spPr>
          <a:xfrm>
            <a:off x="356616" y="5266944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Reliance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1588008" y="5266944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₹1.23 Cr</a:t>
            </a:r>
            <a:endParaRPr lang="en-US" sz="700" dirty="0"/>
          </a:p>
        </p:txBody>
      </p:sp>
      <p:sp>
        <p:nvSpPr>
          <p:cNvPr id="55" name="Text 51"/>
          <p:cNvSpPr/>
          <p:nvPr/>
        </p:nvSpPr>
        <p:spPr>
          <a:xfrm>
            <a:off x="1588008" y="542239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620" dirty="0"/>
          </a:p>
        </p:txBody>
      </p:sp>
      <p:sp>
        <p:nvSpPr>
          <p:cNvPr id="56" name="Text 52"/>
          <p:cNvSpPr/>
          <p:nvPr/>
        </p:nvSpPr>
        <p:spPr>
          <a:xfrm>
            <a:off x="356616" y="5614416"/>
            <a:ext cx="1258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Wellness Forever</a:t>
            </a:r>
            <a:endParaRPr lang="en-US" sz="700" dirty="0"/>
          </a:p>
        </p:txBody>
      </p:sp>
      <p:sp>
        <p:nvSpPr>
          <p:cNvPr id="57" name="Text 53"/>
          <p:cNvSpPr/>
          <p:nvPr/>
        </p:nvSpPr>
        <p:spPr>
          <a:xfrm>
            <a:off x="1588008" y="5614416"/>
            <a:ext cx="6217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00" dirty="0"/>
          </a:p>
        </p:txBody>
      </p:sp>
      <p:sp>
        <p:nvSpPr>
          <p:cNvPr id="58" name="Text 54"/>
          <p:cNvSpPr/>
          <p:nvPr/>
        </p:nvSpPr>
        <p:spPr>
          <a:xfrm>
            <a:off x="1588008" y="576986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primary</a:t>
            </a:r>
            <a:endParaRPr lang="en-US" sz="620" dirty="0"/>
          </a:p>
        </p:txBody>
      </p:sp>
      <p:sp>
        <p:nvSpPr>
          <p:cNvPr id="59" name="Shape 55"/>
          <p:cNvSpPr/>
          <p:nvPr/>
        </p:nvSpPr>
        <p:spPr>
          <a:xfrm>
            <a:off x="2410968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6"/>
          <p:cNvSpPr/>
          <p:nvPr/>
        </p:nvSpPr>
        <p:spPr>
          <a:xfrm>
            <a:off x="2410968" y="4553712"/>
            <a:ext cx="2036064" cy="274320"/>
          </a:xfrm>
          <a:prstGeom prst="rect">
            <a:avLst/>
          </a:prstGeom>
          <a:solidFill>
            <a:srgbClr val="2E7D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7"/>
          <p:cNvSpPr/>
          <p:nvPr/>
        </p:nvSpPr>
        <p:spPr>
          <a:xfrm>
            <a:off x="2493264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STATES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2502408" y="4919472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Maharashtra</a:t>
            </a:r>
            <a:endParaRPr lang="en-US" sz="700" dirty="0"/>
          </a:p>
        </p:txBody>
      </p:sp>
      <p:sp>
        <p:nvSpPr>
          <p:cNvPr id="63" name="Text 59"/>
          <p:cNvSpPr/>
          <p:nvPr/>
        </p:nvSpPr>
        <p:spPr>
          <a:xfrm>
            <a:off x="3770376" y="4919472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₹3.43 Cr</a:t>
            </a:r>
            <a:endParaRPr lang="en-US" sz="700" dirty="0"/>
          </a:p>
        </p:txBody>
      </p:sp>
      <p:sp>
        <p:nvSpPr>
          <p:cNvPr id="64" name="Text 60"/>
          <p:cNvSpPr/>
          <p:nvPr/>
        </p:nvSpPr>
        <p:spPr>
          <a:xfrm>
            <a:off x="2502408" y="5248656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Gujarat</a:t>
            </a:r>
            <a:endParaRPr lang="en-US" sz="700" dirty="0"/>
          </a:p>
        </p:txBody>
      </p:sp>
      <p:sp>
        <p:nvSpPr>
          <p:cNvPr id="65" name="Text 61"/>
          <p:cNvSpPr/>
          <p:nvPr/>
        </p:nvSpPr>
        <p:spPr>
          <a:xfrm>
            <a:off x="3770376" y="5248656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₹2.57 Cr</a:t>
            </a:r>
            <a:endParaRPr lang="en-US" sz="700" dirty="0"/>
          </a:p>
        </p:txBody>
      </p:sp>
      <p:sp>
        <p:nvSpPr>
          <p:cNvPr id="66" name="Text 62"/>
          <p:cNvSpPr/>
          <p:nvPr/>
        </p:nvSpPr>
        <p:spPr>
          <a:xfrm>
            <a:off x="2502408" y="5577840"/>
            <a:ext cx="1304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0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Mumbai</a:t>
            </a:r>
            <a:endParaRPr lang="en-US" sz="700" dirty="0"/>
          </a:p>
        </p:txBody>
      </p:sp>
      <p:sp>
        <p:nvSpPr>
          <p:cNvPr id="67" name="Text 63"/>
          <p:cNvSpPr/>
          <p:nvPr/>
        </p:nvSpPr>
        <p:spPr>
          <a:xfrm>
            <a:off x="3770376" y="5577840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₹2.28 Cr</a:t>
            </a:r>
            <a:endParaRPr lang="en-US" sz="700" dirty="0"/>
          </a:p>
        </p:txBody>
      </p:sp>
      <p:sp>
        <p:nvSpPr>
          <p:cNvPr id="68" name="Shape 64"/>
          <p:cNvSpPr/>
          <p:nvPr/>
        </p:nvSpPr>
        <p:spPr>
          <a:xfrm>
            <a:off x="4556760" y="4553712"/>
            <a:ext cx="2036064" cy="1773936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Shape 65"/>
          <p:cNvSpPr/>
          <p:nvPr/>
        </p:nvSpPr>
        <p:spPr>
          <a:xfrm>
            <a:off x="4556760" y="4553712"/>
            <a:ext cx="2036064" cy="274320"/>
          </a:xfrm>
          <a:prstGeom prst="rect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6"/>
          <p:cNvSpPr/>
          <p:nvPr/>
        </p:nvSpPr>
        <p:spPr>
          <a:xfrm>
            <a:off x="4639056" y="4572000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× SUB-CATEGORY</a:t>
            </a:r>
            <a:endParaRPr lang="en-US" sz="700" dirty="0"/>
          </a:p>
        </p:txBody>
      </p:sp>
      <p:sp>
        <p:nvSpPr>
          <p:cNvPr id="71" name="Text 67"/>
          <p:cNvSpPr/>
          <p:nvPr/>
        </p:nvSpPr>
        <p:spPr>
          <a:xfrm>
            <a:off x="4648200" y="49194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8A5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₹4.97 Cr</a:t>
            </a:r>
            <a:endParaRPr lang="en-US" sz="680" dirty="0"/>
          </a:p>
        </p:txBody>
      </p:sp>
      <p:sp>
        <p:nvSpPr>
          <p:cNvPr id="72" name="Text 68"/>
          <p:cNvSpPr/>
          <p:nvPr/>
        </p:nvSpPr>
        <p:spPr>
          <a:xfrm>
            <a:off x="4684776" y="50932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73" name="Text 69"/>
          <p:cNvSpPr/>
          <p:nvPr/>
        </p:nvSpPr>
        <p:spPr>
          <a:xfrm>
            <a:off x="6007608" y="50932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₹2.39</a:t>
            </a:r>
            <a:endParaRPr lang="en-US" sz="630" dirty="0"/>
          </a:p>
        </p:txBody>
      </p:sp>
      <p:sp>
        <p:nvSpPr>
          <p:cNvPr id="74" name="Text 70"/>
          <p:cNvSpPr/>
          <p:nvPr/>
        </p:nvSpPr>
        <p:spPr>
          <a:xfrm>
            <a:off x="4684776" y="52486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</a:t>
            </a:r>
            <a:endParaRPr lang="en-US" sz="630" dirty="0"/>
          </a:p>
        </p:txBody>
      </p:sp>
      <p:sp>
        <p:nvSpPr>
          <p:cNvPr id="75" name="Text 71"/>
          <p:cNvSpPr/>
          <p:nvPr/>
        </p:nvSpPr>
        <p:spPr>
          <a:xfrm>
            <a:off x="6007608" y="52486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₹1.53</a:t>
            </a:r>
            <a:endParaRPr lang="en-US" sz="630" dirty="0"/>
          </a:p>
        </p:txBody>
      </p:sp>
      <p:sp>
        <p:nvSpPr>
          <p:cNvPr id="76" name="Text 72"/>
          <p:cNvSpPr/>
          <p:nvPr/>
        </p:nvSpPr>
        <p:spPr>
          <a:xfrm>
            <a:off x="4684776" y="54041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77" name="Text 73"/>
          <p:cNvSpPr/>
          <p:nvPr/>
        </p:nvSpPr>
        <p:spPr>
          <a:xfrm>
            <a:off x="6007608" y="54041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78" name="Text 74"/>
          <p:cNvSpPr/>
          <p:nvPr/>
        </p:nvSpPr>
        <p:spPr>
          <a:xfrm>
            <a:off x="4648200" y="5605272"/>
            <a:ext cx="1853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80" b="1" dirty="0">
                <a:solidFill>
                  <a:srgbClr val="2E7D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₹3.24 Cr</a:t>
            </a:r>
            <a:endParaRPr lang="en-US" sz="680" dirty="0"/>
          </a:p>
        </p:txBody>
      </p:sp>
      <p:sp>
        <p:nvSpPr>
          <p:cNvPr id="79" name="Text 75"/>
          <p:cNvSpPr/>
          <p:nvPr/>
        </p:nvSpPr>
        <p:spPr>
          <a:xfrm>
            <a:off x="4684776" y="5779008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Cleanser</a:t>
            </a:r>
            <a:endParaRPr lang="en-US" sz="630" dirty="0"/>
          </a:p>
        </p:txBody>
      </p:sp>
      <p:sp>
        <p:nvSpPr>
          <p:cNvPr id="80" name="Text 76"/>
          <p:cNvSpPr/>
          <p:nvPr/>
        </p:nvSpPr>
        <p:spPr>
          <a:xfrm>
            <a:off x="6007608" y="577900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₹2.84</a:t>
            </a:r>
            <a:endParaRPr lang="en-US" sz="630" dirty="0"/>
          </a:p>
        </p:txBody>
      </p:sp>
      <p:sp>
        <p:nvSpPr>
          <p:cNvPr id="81" name="Text 77"/>
          <p:cNvSpPr/>
          <p:nvPr/>
        </p:nvSpPr>
        <p:spPr>
          <a:xfrm>
            <a:off x="4684776" y="5934456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Care</a:t>
            </a:r>
            <a:endParaRPr lang="en-US" sz="630" dirty="0"/>
          </a:p>
        </p:txBody>
      </p:sp>
      <p:sp>
        <p:nvSpPr>
          <p:cNvPr id="82" name="Text 78"/>
          <p:cNvSpPr/>
          <p:nvPr/>
        </p:nvSpPr>
        <p:spPr>
          <a:xfrm>
            <a:off x="6007608" y="5934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₹0.55</a:t>
            </a:r>
            <a:endParaRPr lang="en-US" sz="630" dirty="0"/>
          </a:p>
        </p:txBody>
      </p:sp>
      <p:sp>
        <p:nvSpPr>
          <p:cNvPr id="83" name="Text 79"/>
          <p:cNvSpPr/>
          <p:nvPr/>
        </p:nvSpPr>
        <p:spPr>
          <a:xfrm>
            <a:off x="4684776" y="6089904"/>
            <a:ext cx="1377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3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Serum</a:t>
            </a:r>
            <a:endParaRPr lang="en-US" sz="630" dirty="0"/>
          </a:p>
        </p:txBody>
      </p:sp>
      <p:sp>
        <p:nvSpPr>
          <p:cNvPr id="84" name="Text 80"/>
          <p:cNvSpPr/>
          <p:nvPr/>
        </p:nvSpPr>
        <p:spPr>
          <a:xfrm>
            <a:off x="6007608" y="60899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3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₹0.22</a:t>
            </a:r>
            <a:endParaRPr lang="en-US" sz="630" dirty="0"/>
          </a:p>
        </p:txBody>
      </p:sp>
      <p:sp>
        <p:nvSpPr>
          <p:cNvPr id="85" name="Shape 81"/>
          <p:cNvSpPr/>
          <p:nvPr/>
        </p:nvSpPr>
        <p:spPr>
          <a:xfrm>
            <a:off x="265176" y="6437376"/>
            <a:ext cx="6327648" cy="274320"/>
          </a:xfrm>
          <a:prstGeom prst="roundRect">
            <a:avLst>
              <a:gd name="adj" fmla="val 6667"/>
            </a:avLst>
          </a:prstGeom>
          <a:solidFill>
            <a:srgbClr val="FDF6E6"/>
          </a:solidFill>
          <a:ln w="9525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2"/>
          <p:cNvSpPr/>
          <p:nvPr/>
        </p:nvSpPr>
        <p:spPr>
          <a:xfrm>
            <a:off x="374904" y="647395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  </a:t>
            </a:r>
            <a:r>
              <a:rPr lang="en-US" sz="70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₹0.54 Cr · 6.6% of zone — lowest NPI mix of any zone</a:t>
            </a:r>
            <a:endParaRPr lang="en-US" sz="660" dirty="0"/>
          </a:p>
        </p:txBody>
      </p:sp>
      <p:sp>
        <p:nvSpPr>
          <p:cNvPr id="87" name="Shape 83"/>
          <p:cNvSpPr/>
          <p:nvPr/>
        </p:nvSpPr>
        <p:spPr>
          <a:xfrm>
            <a:off x="265176" y="6821424"/>
            <a:ext cx="6327648" cy="256032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4"/>
          <p:cNvSpPr/>
          <p:nvPr/>
        </p:nvSpPr>
        <p:spPr>
          <a:xfrm>
            <a:off x="374904" y="683971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DIAGNOSED EXCEPTIONS — CAUSE, ACTION AND OWNER</a:t>
            </a:r>
            <a:endParaRPr lang="en-US" sz="720" dirty="0"/>
          </a:p>
        </p:txBody>
      </p:sp>
      <p:sp>
        <p:nvSpPr>
          <p:cNvPr id="89" name="Shape 85"/>
          <p:cNvSpPr/>
          <p:nvPr/>
        </p:nvSpPr>
        <p:spPr>
          <a:xfrm>
            <a:off x="265176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6"/>
          <p:cNvSpPr/>
          <p:nvPr/>
        </p:nvSpPr>
        <p:spPr>
          <a:xfrm>
            <a:off x="265176" y="7168896"/>
            <a:ext cx="2036064" cy="41148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7"/>
          <p:cNvSpPr/>
          <p:nvPr/>
        </p:nvSpPr>
        <p:spPr>
          <a:xfrm>
            <a:off x="356616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20" dirty="0"/>
          </a:p>
        </p:txBody>
      </p:sp>
      <p:sp>
        <p:nvSpPr>
          <p:cNvPr id="92" name="Text 88"/>
          <p:cNvSpPr/>
          <p:nvPr/>
        </p:nvSpPr>
        <p:spPr>
          <a:xfrm>
            <a:off x="356616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The Derma Co. converts at 94.2% on ₹5.76 Cr</a:t>
            </a:r>
            <a:endParaRPr lang="en-US" sz="740" dirty="0"/>
          </a:p>
        </p:txBody>
      </p:sp>
      <p:sp>
        <p:nvSpPr>
          <p:cNvPr id="93" name="Text 89"/>
          <p:cNvSpPr/>
          <p:nvPr/>
        </p:nvSpPr>
        <p:spPr>
          <a:xfrm>
            <a:off x="356616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chain-zone conversion at material scale anywhere in the pack. This is the cadence North and East are being asked to reach.</a:t>
            </a:r>
            <a:endParaRPr lang="en-US" sz="650" dirty="0"/>
          </a:p>
        </p:txBody>
      </p:sp>
      <p:sp>
        <p:nvSpPr>
          <p:cNvPr id="94" name="Shape 90"/>
          <p:cNvSpPr/>
          <p:nvPr/>
        </p:nvSpPr>
        <p:spPr>
          <a:xfrm>
            <a:off x="356616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1"/>
          <p:cNvSpPr/>
          <p:nvPr/>
        </p:nvSpPr>
        <p:spPr>
          <a:xfrm>
            <a:off x="356616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DMart The Derma Co. order and replenishment rhythm as the national standard.</a:t>
            </a:r>
            <a:endParaRPr lang="en-US" sz="600" dirty="0"/>
          </a:p>
        </p:txBody>
      </p:sp>
      <p:sp>
        <p:nvSpPr>
          <p:cNvPr id="96" name="Text 92"/>
          <p:cNvSpPr/>
          <p:nvPr/>
        </p:nvSpPr>
        <p:spPr>
          <a:xfrm>
            <a:off x="356616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· with The Derma Co. RKAM · 20 Aug</a:t>
            </a:r>
            <a:endParaRPr lang="en-US" sz="620" dirty="0"/>
          </a:p>
        </p:txBody>
      </p:sp>
      <p:sp>
        <p:nvSpPr>
          <p:cNvPr id="97" name="Shape 93"/>
          <p:cNvSpPr/>
          <p:nvPr/>
        </p:nvSpPr>
        <p:spPr>
          <a:xfrm>
            <a:off x="2410968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4"/>
          <p:cNvSpPr/>
          <p:nvPr/>
        </p:nvSpPr>
        <p:spPr>
          <a:xfrm>
            <a:off x="2410968" y="7168896"/>
            <a:ext cx="2036064" cy="41148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5"/>
          <p:cNvSpPr/>
          <p:nvPr/>
        </p:nvSpPr>
        <p:spPr>
          <a:xfrm>
            <a:off x="2502408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620" dirty="0"/>
          </a:p>
        </p:txBody>
      </p:sp>
      <p:sp>
        <p:nvSpPr>
          <p:cNvPr id="100" name="Text 96"/>
          <p:cNvSpPr/>
          <p:nvPr/>
        </p:nvSpPr>
        <p:spPr>
          <a:xfrm>
            <a:off x="2502408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The Derma Co. converts at 54.5% on ₹1.23 Cr</a:t>
            </a:r>
            <a:endParaRPr lang="en-US" sz="740" dirty="0"/>
          </a:p>
        </p:txBody>
      </p:sp>
      <p:sp>
        <p:nvSpPr>
          <p:cNvPr id="101" name="Text 97"/>
          <p:cNvSpPr/>
          <p:nvPr/>
        </p:nvSpPr>
        <p:spPr>
          <a:xfrm>
            <a:off x="2502408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weak cell in an otherwise healthy zone, and it matches Reliance behaviour in North, East and Central — the pattern is the account, not the geography.</a:t>
            </a:r>
            <a:endParaRPr lang="en-US" sz="650" dirty="0"/>
          </a:p>
        </p:txBody>
      </p:sp>
      <p:sp>
        <p:nvSpPr>
          <p:cNvPr id="102" name="Shape 98"/>
          <p:cNvSpPr/>
          <p:nvPr/>
        </p:nvSpPr>
        <p:spPr>
          <a:xfrm>
            <a:off x="2502408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99"/>
          <p:cNvSpPr/>
          <p:nvPr/>
        </p:nvSpPr>
        <p:spPr>
          <a:xfrm>
            <a:off x="2502408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into the national Reliance recovery loop rather than running a The Derma Co.-specific fix.</a:t>
            </a:r>
            <a:endParaRPr lang="en-US" sz="600" dirty="0"/>
          </a:p>
        </p:txBody>
      </p:sp>
      <p:sp>
        <p:nvSpPr>
          <p:cNvPr id="104" name="Text 100"/>
          <p:cNvSpPr/>
          <p:nvPr/>
        </p:nvSpPr>
        <p:spPr>
          <a:xfrm>
            <a:off x="2502408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· 25 Aug</a:t>
            </a:r>
            <a:endParaRPr lang="en-US" sz="620" dirty="0"/>
          </a:p>
        </p:txBody>
      </p:sp>
      <p:sp>
        <p:nvSpPr>
          <p:cNvPr id="105" name="Shape 101"/>
          <p:cNvSpPr/>
          <p:nvPr/>
        </p:nvSpPr>
        <p:spPr>
          <a:xfrm>
            <a:off x="4556760" y="7168896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2"/>
          <p:cNvSpPr/>
          <p:nvPr/>
        </p:nvSpPr>
        <p:spPr>
          <a:xfrm>
            <a:off x="4556760" y="7168896"/>
            <a:ext cx="2036064" cy="41148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3"/>
          <p:cNvSpPr/>
          <p:nvPr/>
        </p:nvSpPr>
        <p:spPr>
          <a:xfrm>
            <a:off x="4648200" y="7251192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620" dirty="0"/>
          </a:p>
        </p:txBody>
      </p:sp>
      <p:sp>
        <p:nvSpPr>
          <p:cNvPr id="108" name="Text 104"/>
          <p:cNvSpPr/>
          <p:nvPr/>
        </p:nvSpPr>
        <p:spPr>
          <a:xfrm>
            <a:off x="4648200" y="739749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 shows ₹0.65 Cr offtake, no mapped primary</a:t>
            </a:r>
            <a:endParaRPr lang="en-US" sz="740" dirty="0"/>
          </a:p>
        </p:txBody>
      </p:sp>
      <p:sp>
        <p:nvSpPr>
          <p:cNvPr id="109" name="Text 105"/>
          <p:cNvSpPr/>
          <p:nvPr/>
        </p:nvSpPr>
        <p:spPr>
          <a:xfrm>
            <a:off x="4648200" y="7735824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deck reported this as 134.9% conversion. A ratio above 100% here is an unmapped billing route, not throughput.</a:t>
            </a:r>
            <a:endParaRPr lang="en-US" sz="650" dirty="0"/>
          </a:p>
        </p:txBody>
      </p:sp>
      <p:sp>
        <p:nvSpPr>
          <p:cNvPr id="110" name="Shape 106"/>
          <p:cNvSpPr/>
          <p:nvPr/>
        </p:nvSpPr>
        <p:spPr>
          <a:xfrm>
            <a:off x="4648200" y="8330184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7"/>
          <p:cNvSpPr/>
          <p:nvPr/>
        </p:nvSpPr>
        <p:spPr>
          <a:xfrm>
            <a:off x="4648200" y="8375904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Wellness Forever billing route before the August pack is built.</a:t>
            </a:r>
            <a:endParaRPr lang="en-US" sz="600" dirty="0"/>
          </a:p>
        </p:txBody>
      </p:sp>
      <p:sp>
        <p:nvSpPr>
          <p:cNvPr id="112" name="Text 108"/>
          <p:cNvSpPr/>
          <p:nvPr/>
        </p:nvSpPr>
        <p:spPr>
          <a:xfrm>
            <a:off x="4648200" y="8705088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18 Aug</a:t>
            </a:r>
            <a:endParaRPr lang="en-US" sz="620" dirty="0"/>
          </a:p>
        </p:txBody>
      </p:sp>
      <p:sp>
        <p:nvSpPr>
          <p:cNvPr id="113" name="Shape 109"/>
          <p:cNvSpPr/>
          <p:nvPr/>
        </p:nvSpPr>
        <p:spPr>
          <a:xfrm>
            <a:off x="265176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Shape 110"/>
          <p:cNvSpPr/>
          <p:nvPr/>
        </p:nvSpPr>
        <p:spPr>
          <a:xfrm>
            <a:off x="265176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Text 111"/>
          <p:cNvSpPr/>
          <p:nvPr/>
        </p:nvSpPr>
        <p:spPr>
          <a:xfrm>
            <a:off x="356616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</a:t>
            </a:r>
            <a:endParaRPr lang="en-US" sz="620" dirty="0"/>
          </a:p>
        </p:txBody>
      </p:sp>
      <p:sp>
        <p:nvSpPr>
          <p:cNvPr id="116" name="Text 112"/>
          <p:cNvSpPr/>
          <p:nvPr/>
        </p:nvSpPr>
        <p:spPr>
          <a:xfrm>
            <a:off x="356616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three chains carry 92.5% of zone offtake</a:t>
            </a:r>
            <a:endParaRPr lang="en-US" sz="740" dirty="0"/>
          </a:p>
        </p:txBody>
      </p:sp>
      <p:sp>
        <p:nvSpPr>
          <p:cNvPr id="117" name="Text 113"/>
          <p:cNvSpPr/>
          <p:nvPr/>
        </p:nvSpPr>
        <p:spPr>
          <a:xfrm>
            <a:off x="356616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is high but conversion is healthy, so this reads as focus rather than fragility. It becomes a risk only if DMart execution slips.</a:t>
            </a:r>
            <a:endParaRPr lang="en-US" sz="650" dirty="0"/>
          </a:p>
        </p:txBody>
      </p:sp>
      <p:sp>
        <p:nvSpPr>
          <p:cNvPr id="118" name="Shape 114"/>
          <p:cNvSpPr/>
          <p:nvPr/>
        </p:nvSpPr>
        <p:spPr>
          <a:xfrm>
            <a:off x="356616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9" name="Text 115"/>
          <p:cNvSpPr/>
          <p:nvPr/>
        </p:nvSpPr>
        <p:spPr>
          <a:xfrm>
            <a:off x="356616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DMart The Derma Co. weekly as a single-point-of-failure watch item.</a:t>
            </a:r>
            <a:endParaRPr lang="en-US" sz="600" dirty="0"/>
          </a:p>
        </p:txBody>
      </p:sp>
      <p:sp>
        <p:nvSpPr>
          <p:cNvPr id="120" name="Text 116"/>
          <p:cNvSpPr/>
          <p:nvPr/>
        </p:nvSpPr>
        <p:spPr>
          <a:xfrm>
            <a:off x="356616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RKAM · weekly</a:t>
            </a:r>
            <a:endParaRPr lang="en-US" sz="620" dirty="0"/>
          </a:p>
        </p:txBody>
      </p:sp>
      <p:sp>
        <p:nvSpPr>
          <p:cNvPr id="121" name="Shape 117"/>
          <p:cNvSpPr/>
          <p:nvPr/>
        </p:nvSpPr>
        <p:spPr>
          <a:xfrm>
            <a:off x="2410968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Shape 118"/>
          <p:cNvSpPr/>
          <p:nvPr/>
        </p:nvSpPr>
        <p:spPr>
          <a:xfrm>
            <a:off x="2410968" y="8979408"/>
            <a:ext cx="2036064" cy="41148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19"/>
          <p:cNvSpPr/>
          <p:nvPr/>
        </p:nvSpPr>
        <p:spPr>
          <a:xfrm>
            <a:off x="2502408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620" dirty="0"/>
          </a:p>
        </p:txBody>
      </p:sp>
      <p:sp>
        <p:nvSpPr>
          <p:cNvPr id="124" name="Text 120"/>
          <p:cNvSpPr/>
          <p:nvPr/>
        </p:nvSpPr>
        <p:spPr>
          <a:xfrm>
            <a:off x="2502408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Face Cleanser at ₹2.84 Cr rivals Mamaearth</a:t>
            </a:r>
            <a:endParaRPr lang="en-US" sz="740" dirty="0"/>
          </a:p>
        </p:txBody>
      </p:sp>
      <p:sp>
        <p:nvSpPr>
          <p:cNvPr id="125" name="Text 121"/>
          <p:cNvSpPr/>
          <p:nvPr/>
        </p:nvSpPr>
        <p:spPr>
          <a:xfrm>
            <a:off x="2502408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TDC earns ₹3.24 Cr against Mamaearth's ₹4.97 Cr in this zone — the closest brand parity anywhere, driven almost entirely by one sub-category.</a:t>
            </a:r>
            <a:endParaRPr lang="en-US" sz="650" dirty="0"/>
          </a:p>
        </p:txBody>
      </p:sp>
      <p:sp>
        <p:nvSpPr>
          <p:cNvPr id="126" name="Shape 122"/>
          <p:cNvSpPr/>
          <p:nvPr/>
        </p:nvSpPr>
        <p:spPr>
          <a:xfrm>
            <a:off x="2502408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23"/>
          <p:cNvSpPr/>
          <p:nvPr/>
        </p:nvSpPr>
        <p:spPr>
          <a:xfrm>
            <a:off x="2502408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TDC Face Cleanser shelf space in the DMart The Derma Co. planogram reset.</a:t>
            </a:r>
            <a:endParaRPr lang="en-US" sz="600" dirty="0"/>
          </a:p>
        </p:txBody>
      </p:sp>
      <p:sp>
        <p:nvSpPr>
          <p:cNvPr id="128" name="Text 124"/>
          <p:cNvSpPr/>
          <p:nvPr/>
        </p:nvSpPr>
        <p:spPr>
          <a:xfrm>
            <a:off x="2502408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NKAM DMart · Sep cycle</a:t>
            </a:r>
            <a:endParaRPr lang="en-US" sz="620" dirty="0"/>
          </a:p>
        </p:txBody>
      </p:sp>
      <p:sp>
        <p:nvSpPr>
          <p:cNvPr id="129" name="Shape 125"/>
          <p:cNvSpPr/>
          <p:nvPr/>
        </p:nvSpPr>
        <p:spPr>
          <a:xfrm>
            <a:off x="4556760" y="8979408"/>
            <a:ext cx="2036064" cy="1700784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Shape 126"/>
          <p:cNvSpPr/>
          <p:nvPr/>
        </p:nvSpPr>
        <p:spPr>
          <a:xfrm>
            <a:off x="4556760" y="8979408"/>
            <a:ext cx="2036064" cy="41148"/>
          </a:xfrm>
          <a:prstGeom prst="rect">
            <a:avLst/>
          </a:prstGeom>
          <a:solidFill>
            <a:srgbClr val="5F716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27"/>
          <p:cNvSpPr/>
          <p:nvPr/>
        </p:nvSpPr>
        <p:spPr>
          <a:xfrm>
            <a:off x="4648200" y="9061704"/>
            <a:ext cx="1853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b="1" kern="0" spc="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620" dirty="0"/>
          </a:p>
        </p:txBody>
      </p:sp>
      <p:sp>
        <p:nvSpPr>
          <p:cNvPr id="132" name="Text 128"/>
          <p:cNvSpPr/>
          <p:nvPr/>
        </p:nvSpPr>
        <p:spPr>
          <a:xfrm>
            <a:off x="4648200" y="9208008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already above benchmark — no recovery pool here</a:t>
            </a:r>
            <a:endParaRPr lang="en-US" sz="740" dirty="0"/>
          </a:p>
        </p:txBody>
      </p:sp>
      <p:sp>
        <p:nvSpPr>
          <p:cNvPr id="133" name="Text 129"/>
          <p:cNvSpPr/>
          <p:nvPr/>
        </p:nvSpPr>
        <p:spPr>
          <a:xfrm>
            <a:off x="4648200" y="9546336"/>
            <a:ext cx="1853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72.6% conversion sits at the internal benchmark. Effort spent here returns less than the same effort in North or East.</a:t>
            </a:r>
            <a:endParaRPr lang="en-US" sz="650" dirty="0"/>
          </a:p>
        </p:txBody>
      </p:sp>
      <p:sp>
        <p:nvSpPr>
          <p:cNvPr id="134" name="Shape 130"/>
          <p:cNvSpPr/>
          <p:nvPr/>
        </p:nvSpPr>
        <p:spPr>
          <a:xfrm>
            <a:off x="4648200" y="10140696"/>
            <a:ext cx="1853184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1"/>
          <p:cNvSpPr/>
          <p:nvPr/>
        </p:nvSpPr>
        <p:spPr>
          <a:xfrm>
            <a:off x="4648200" y="1018641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r>
              <a:rPr lang="en-US" sz="66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headcount and trade spend flat; redirect incremental field capacity to North.</a:t>
            </a:r>
            <a:endParaRPr lang="en-US" sz="600" dirty="0"/>
          </a:p>
        </p:txBody>
      </p:sp>
      <p:sp>
        <p:nvSpPr>
          <p:cNvPr id="136" name="Text 132"/>
          <p:cNvSpPr/>
          <p:nvPr/>
        </p:nvSpPr>
        <p:spPr>
          <a:xfrm>
            <a:off x="4648200" y="10515600"/>
            <a:ext cx="1853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2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Sep planning</a:t>
            </a:r>
            <a:endParaRPr lang="en-US" sz="620" dirty="0"/>
          </a:p>
        </p:txBody>
      </p:sp>
      <p:sp>
        <p:nvSpPr>
          <p:cNvPr id="137" name="Text 133"/>
          <p:cNvSpPr/>
          <p:nvPr/>
        </p:nvSpPr>
        <p:spPr>
          <a:xfrm>
            <a:off x="265176" y="10844784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NPI mix 6.6% | Benchmark zone — study DMart execution before copying it elsewhere</a:t>
            </a:r>
            <a:endParaRPr lang="en-US" sz="6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August action register — seven commitments, Aug-31 deadline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 plan | actions ranked by value at stake, with owners and proof points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65176" y="1261872"/>
            <a:ext cx="6327648" cy="658368"/>
          </a:xfrm>
          <a:prstGeom prst="roundRect">
            <a:avLst>
              <a:gd name="adj" fmla="val 4167"/>
            </a:avLst>
          </a:prstGeom>
          <a:solidFill>
            <a:srgbClr val="DFF2ED"/>
          </a:solidFill>
          <a:ln w="12700">
            <a:solidFill>
              <a:srgbClr val="28A5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1335024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6F6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action below is priced. Anything that cannot be priced is a hygiene task, not a growth action.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1627632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do nothing and July repeats — ₹36.10 Cr offtake at 73.4% conversion, with ₹13.27 Cr billed and unsold.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265176" y="2066544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4904" y="208483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RANKED BY VALUE AT STAKE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265176" y="241401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0040" y="2432304"/>
            <a:ext cx="1233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553070" y="2432304"/>
            <a:ext cx="3027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60" dirty="0"/>
          </a:p>
        </p:txBody>
      </p:sp>
      <p:sp>
        <p:nvSpPr>
          <p:cNvPr id="28" name="Text 26"/>
          <p:cNvSpPr/>
          <p:nvPr/>
        </p:nvSpPr>
        <p:spPr>
          <a:xfrm>
            <a:off x="3690006" y="2432304"/>
            <a:ext cx="6969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496646" y="2432304"/>
            <a:ext cx="6072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660" dirty="0"/>
          </a:p>
        </p:txBody>
      </p:sp>
      <p:sp>
        <p:nvSpPr>
          <p:cNvPr id="30" name="Text 28"/>
          <p:cNvSpPr/>
          <p:nvPr/>
        </p:nvSpPr>
        <p:spPr>
          <a:xfrm>
            <a:off x="5213660" y="2432304"/>
            <a:ext cx="13243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265176" y="267004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65176" y="30358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0040" y="26700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53070" y="26700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recovery loop — halt loading, hero-EAN OSA audit across North, East, Central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3690006" y="26700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₹3.92 Cr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4496646" y="26700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5213660" y="26700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 + Supply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65176" y="3401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553070" y="30358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 South-2 DC-to-store fill audit against the West benchmark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690006" y="30358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₹0.90 Cr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4496646" y="30358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43" name="Text 41"/>
          <p:cNvSpPr/>
          <p:nvPr/>
        </p:nvSpPr>
        <p:spPr>
          <a:xfrm>
            <a:off x="5213660" y="30358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DMart + Supply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265176" y="340156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265176" y="37673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20040" y="34015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" dirty="0"/>
          </a:p>
        </p:txBody>
      </p:sp>
      <p:sp>
        <p:nvSpPr>
          <p:cNvPr id="47" name="Text 45"/>
          <p:cNvSpPr/>
          <p:nvPr/>
        </p:nvSpPr>
        <p:spPr>
          <a:xfrm>
            <a:off x="553070" y="34015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East and North primary at trailing three-month offtake until gaps close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3690006" y="34015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₹2.54 Cr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4496646" y="34015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5213660" y="34015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+ Sales lead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65176" y="41330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20040" y="37673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20" dirty="0"/>
          </a:p>
        </p:txBody>
      </p:sp>
      <p:sp>
        <p:nvSpPr>
          <p:cNvPr id="53" name="Text 51"/>
          <p:cNvSpPr/>
          <p:nvPr/>
        </p:nvSpPr>
        <p:spPr>
          <a:xfrm>
            <a:off x="553070" y="37673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Lulu, Wellness Forever and Health &amp; Glow primary routes</a:t>
            </a:r>
            <a:endParaRPr lang="en-US" sz="720" dirty="0"/>
          </a:p>
        </p:txBody>
      </p:sp>
      <p:sp>
        <p:nvSpPr>
          <p:cNvPr id="54" name="Text 52"/>
          <p:cNvSpPr/>
          <p:nvPr/>
        </p:nvSpPr>
        <p:spPr>
          <a:xfrm>
            <a:off x="3690006" y="37673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₹2.23 Cr</a:t>
            </a:r>
            <a:endParaRPr lang="en-US" sz="720" dirty="0"/>
          </a:p>
        </p:txBody>
      </p:sp>
      <p:sp>
        <p:nvSpPr>
          <p:cNvPr id="55" name="Text 53"/>
          <p:cNvSpPr/>
          <p:nvPr/>
        </p:nvSpPr>
        <p:spPr>
          <a:xfrm>
            <a:off x="4496646" y="37673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0–15d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5213660" y="37673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65176" y="413308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65176" y="44988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0040" y="413308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553070" y="413308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incremental NPI into East and North until conversion thresholds clear</a:t>
            </a:r>
            <a:endParaRPr lang="en-US" sz="720" dirty="0"/>
          </a:p>
        </p:txBody>
      </p:sp>
      <p:sp>
        <p:nvSpPr>
          <p:cNvPr id="61" name="Text 59"/>
          <p:cNvSpPr/>
          <p:nvPr/>
        </p:nvSpPr>
        <p:spPr>
          <a:xfrm>
            <a:off x="3690006" y="413308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₹0.65 Cr</a:t>
            </a:r>
            <a:endParaRPr lang="en-US" sz="720" dirty="0"/>
          </a:p>
        </p:txBody>
      </p:sp>
      <p:sp>
        <p:nvSpPr>
          <p:cNvPr id="62" name="Text 60"/>
          <p:cNvSpPr/>
          <p:nvPr/>
        </p:nvSpPr>
        <p:spPr>
          <a:xfrm>
            <a:off x="4496646" y="413308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3" name="Text 61"/>
          <p:cNvSpPr/>
          <p:nvPr/>
        </p:nvSpPr>
        <p:spPr>
          <a:xfrm>
            <a:off x="5213660" y="413308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Supply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265176" y="48646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20040" y="449884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20" dirty="0"/>
          </a:p>
        </p:txBody>
      </p:sp>
      <p:sp>
        <p:nvSpPr>
          <p:cNvPr id="66" name="Text 64"/>
          <p:cNvSpPr/>
          <p:nvPr/>
        </p:nvSpPr>
        <p:spPr>
          <a:xfrm>
            <a:off x="553070" y="449884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chain × state × hero-EAN exception list weekly</a:t>
            </a:r>
            <a:endParaRPr lang="en-US" sz="720" dirty="0"/>
          </a:p>
        </p:txBody>
      </p:sp>
      <p:sp>
        <p:nvSpPr>
          <p:cNvPr id="67" name="Text 65"/>
          <p:cNvSpPr/>
          <p:nvPr/>
        </p:nvSpPr>
        <p:spPr>
          <a:xfrm>
            <a:off x="3690006" y="449884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4496646" y="449884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0–30d</a:t>
            </a:r>
            <a:endParaRPr lang="en-US" sz="720" dirty="0"/>
          </a:p>
        </p:txBody>
      </p:sp>
      <p:sp>
        <p:nvSpPr>
          <p:cNvPr id="69" name="Text 67"/>
          <p:cNvSpPr/>
          <p:nvPr/>
        </p:nvSpPr>
        <p:spPr>
          <a:xfrm>
            <a:off x="5213660" y="449884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70" name="Shape 68"/>
          <p:cNvSpPr/>
          <p:nvPr/>
        </p:nvSpPr>
        <p:spPr>
          <a:xfrm>
            <a:off x="265176" y="486460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65176" y="52303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20040" y="486460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20" dirty="0"/>
          </a:p>
        </p:txBody>
      </p:sp>
      <p:sp>
        <p:nvSpPr>
          <p:cNvPr id="73" name="Text 71"/>
          <p:cNvSpPr/>
          <p:nvPr/>
        </p:nvSpPr>
        <p:spPr>
          <a:xfrm>
            <a:off x="553070" y="486460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Apollo order-cadence template and score two accounts against it</a:t>
            </a:r>
            <a:endParaRPr lang="en-US" sz="720" dirty="0"/>
          </a:p>
        </p:txBody>
      </p:sp>
      <p:sp>
        <p:nvSpPr>
          <p:cNvPr id="74" name="Text 72"/>
          <p:cNvSpPr/>
          <p:nvPr/>
        </p:nvSpPr>
        <p:spPr>
          <a:xfrm>
            <a:off x="3690006" y="486460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4496646" y="486460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76" name="Text 74"/>
          <p:cNvSpPr/>
          <p:nvPr/>
        </p:nvSpPr>
        <p:spPr>
          <a:xfrm>
            <a:off x="5213660" y="486460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 NKAM Apollo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265176" y="559612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320040" y="523036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20" dirty="0"/>
          </a:p>
        </p:txBody>
      </p:sp>
      <p:sp>
        <p:nvSpPr>
          <p:cNvPr id="79" name="Text 77"/>
          <p:cNvSpPr/>
          <p:nvPr/>
        </p:nvSpPr>
        <p:spPr>
          <a:xfrm>
            <a:off x="553070" y="523036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rate-recovery pilot in South-1 — velocity per store, not listings added</a:t>
            </a:r>
            <a:endParaRPr lang="en-US" sz="720" dirty="0"/>
          </a:p>
        </p:txBody>
      </p:sp>
      <p:sp>
        <p:nvSpPr>
          <p:cNvPr id="80" name="Text 78"/>
          <p:cNvSpPr/>
          <p:nvPr/>
        </p:nvSpPr>
        <p:spPr>
          <a:xfrm>
            <a:off x="3690006" y="523036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20" dirty="0"/>
          </a:p>
        </p:txBody>
      </p:sp>
      <p:sp>
        <p:nvSpPr>
          <p:cNvPr id="81" name="Text 79"/>
          <p:cNvSpPr/>
          <p:nvPr/>
        </p:nvSpPr>
        <p:spPr>
          <a:xfrm>
            <a:off x="4496646" y="523036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31–60d</a:t>
            </a:r>
            <a:endParaRPr lang="en-US" sz="720" dirty="0"/>
          </a:p>
        </p:txBody>
      </p:sp>
      <p:sp>
        <p:nvSpPr>
          <p:cNvPr id="82" name="Text 80"/>
          <p:cNvSpPr/>
          <p:nvPr/>
        </p:nvSpPr>
        <p:spPr>
          <a:xfrm>
            <a:off x="5213660" y="523036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South-1 RKAM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265176" y="5596128"/>
            <a:ext cx="6327648" cy="365760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265176" y="596188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320040" y="5596128"/>
            <a:ext cx="1233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" dirty="0"/>
          </a:p>
        </p:txBody>
      </p:sp>
      <p:sp>
        <p:nvSpPr>
          <p:cNvPr id="86" name="Text 84"/>
          <p:cNvSpPr/>
          <p:nvPr/>
        </p:nvSpPr>
        <p:spPr>
          <a:xfrm>
            <a:off x="553070" y="5596128"/>
            <a:ext cx="3027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conversion; retire dead packs before adding new</a:t>
            </a:r>
            <a:endParaRPr lang="en-US" sz="720" dirty="0"/>
          </a:p>
        </p:txBody>
      </p:sp>
      <p:sp>
        <p:nvSpPr>
          <p:cNvPr id="87" name="Text 85"/>
          <p:cNvSpPr/>
          <p:nvPr/>
        </p:nvSpPr>
        <p:spPr>
          <a:xfrm>
            <a:off x="3690006" y="5596128"/>
            <a:ext cx="6969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720" dirty="0"/>
          </a:p>
        </p:txBody>
      </p:sp>
      <p:sp>
        <p:nvSpPr>
          <p:cNvPr id="88" name="Text 86"/>
          <p:cNvSpPr/>
          <p:nvPr/>
        </p:nvSpPr>
        <p:spPr>
          <a:xfrm>
            <a:off x="4496646" y="5596128"/>
            <a:ext cx="6072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61-90d</a:t>
            </a:r>
            <a:endParaRPr lang="en-US" sz="720" dirty="0"/>
          </a:p>
        </p:txBody>
      </p:sp>
      <p:sp>
        <p:nvSpPr>
          <p:cNvPr id="89" name="Text 87"/>
          <p:cNvSpPr/>
          <p:nvPr/>
        </p:nvSpPr>
        <p:spPr>
          <a:xfrm>
            <a:off x="5213660" y="5596128"/>
            <a:ext cx="13243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+ Category</a:t>
            </a:r>
            <a:endParaRPr lang="en-US" sz="720" dirty="0"/>
          </a:p>
        </p:txBody>
      </p:sp>
      <p:sp>
        <p:nvSpPr>
          <p:cNvPr id="90" name="Shape 88"/>
          <p:cNvSpPr/>
          <p:nvPr/>
        </p:nvSpPr>
        <p:spPr>
          <a:xfrm>
            <a:off x="265176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265176" y="6144768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347472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DAYS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56616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Stop the leak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374904" y="692658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93776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Reliance loading below 65% conversion.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374904" y="729234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493776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North and East primary at trailing offtake.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374904" y="765810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93776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three primary-mapping gaps.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374904" y="8023860"/>
            <a:ext cx="50292" cy="50292"/>
          </a:xfrm>
          <a:prstGeom prst="ellipse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493776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first exception list.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2410968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410968" y="6144768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2493264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31–60 DAYS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2502408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 the fix</a:t>
            </a:r>
            <a:endParaRPr lang="en-US" sz="1150" dirty="0"/>
          </a:p>
        </p:txBody>
      </p:sp>
      <p:sp>
        <p:nvSpPr>
          <p:cNvPr id="106" name="Shape 104"/>
          <p:cNvSpPr/>
          <p:nvPr/>
        </p:nvSpPr>
        <p:spPr>
          <a:xfrm>
            <a:off x="2520696" y="692658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2639568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accounts against the Apollo cadence template.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2520696" y="729234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2639568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South-1 shampoo rate pilot.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2520696" y="765810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9568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distribution white space in ₹ using stores × PDO.</a:t>
            </a: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2520696" y="8023860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1"/>
          <p:cNvSpPr/>
          <p:nvPr/>
        </p:nvSpPr>
        <p:spPr>
          <a:xfrm>
            <a:off x="2639568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FSN delisting hypothesis.</a:t>
            </a: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4556760" y="6144768"/>
            <a:ext cx="2036064" cy="2267712"/>
          </a:xfrm>
          <a:prstGeom prst="roundRect">
            <a:avLst>
              <a:gd name="adj" fmla="val 898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4556760" y="6144768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4639056" y="6163056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61–90 DAYS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4648200" y="6510528"/>
            <a:ext cx="1853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Lock it in</a:t>
            </a:r>
            <a:endParaRPr lang="en-US" sz="1150" dirty="0"/>
          </a:p>
        </p:txBody>
      </p:sp>
      <p:sp>
        <p:nvSpPr>
          <p:cNvPr id="118" name="Shape 116"/>
          <p:cNvSpPr/>
          <p:nvPr/>
        </p:nvSpPr>
        <p:spPr>
          <a:xfrm>
            <a:off x="4666488" y="692658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7"/>
          <p:cNvSpPr/>
          <p:nvPr/>
        </p:nvSpPr>
        <p:spPr>
          <a:xfrm>
            <a:off x="4785360" y="687628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loading rules by verified conversion.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4666488" y="729234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1" name="Text 119"/>
          <p:cNvSpPr/>
          <p:nvPr/>
        </p:nvSpPr>
        <p:spPr>
          <a:xfrm>
            <a:off x="4785360" y="724204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Rationalise dead and low-productivity packs.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666488" y="765810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4785360" y="760780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only what offtake has proven.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4666488" y="8023860"/>
            <a:ext cx="50292" cy="50292"/>
          </a:xfrm>
          <a:prstGeom prst="ellipse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3"/>
          <p:cNvSpPr/>
          <p:nvPr/>
        </p:nvSpPr>
        <p:spPr>
          <a:xfrm>
            <a:off x="4785360" y="7973568"/>
            <a:ext cx="1697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69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weekly owner and action receipts.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265176" y="8558784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Text 125"/>
          <p:cNvSpPr/>
          <p:nvPr/>
        </p:nvSpPr>
        <p:spPr>
          <a:xfrm>
            <a:off x="374904" y="8577072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MANAGEMENT SCOREBOARD</a:t>
            </a:r>
            <a:endParaRPr lang="en-US" sz="720" dirty="0"/>
          </a:p>
        </p:txBody>
      </p:sp>
      <p:sp>
        <p:nvSpPr>
          <p:cNvPr id="128" name="Shape 126"/>
          <p:cNvSpPr/>
          <p:nvPr/>
        </p:nvSpPr>
        <p:spPr>
          <a:xfrm>
            <a:off x="265176" y="8906256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20040" y="8924544"/>
            <a:ext cx="21439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660" dirty="0"/>
          </a:p>
        </p:txBody>
      </p:sp>
      <p:sp>
        <p:nvSpPr>
          <p:cNvPr id="130" name="Text 128"/>
          <p:cNvSpPr/>
          <p:nvPr/>
        </p:nvSpPr>
        <p:spPr>
          <a:xfrm>
            <a:off x="2573723" y="8924544"/>
            <a:ext cx="1277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660" dirty="0"/>
          </a:p>
        </p:txBody>
      </p:sp>
      <p:sp>
        <p:nvSpPr>
          <p:cNvPr id="131" name="Text 129"/>
          <p:cNvSpPr/>
          <p:nvPr/>
        </p:nvSpPr>
        <p:spPr>
          <a:xfrm>
            <a:off x="3960605" y="8924544"/>
            <a:ext cx="13638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60" dirty="0"/>
          </a:p>
        </p:txBody>
      </p:sp>
      <p:sp>
        <p:nvSpPr>
          <p:cNvPr id="132" name="Text 130"/>
          <p:cNvSpPr/>
          <p:nvPr/>
        </p:nvSpPr>
        <p:spPr>
          <a:xfrm>
            <a:off x="5434166" y="8924544"/>
            <a:ext cx="11037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JULY</a:t>
            </a:r>
            <a:endParaRPr lang="en-US" sz="660" dirty="0"/>
          </a:p>
        </p:txBody>
      </p:sp>
      <p:sp>
        <p:nvSpPr>
          <p:cNvPr id="133" name="Shape 131"/>
          <p:cNvSpPr/>
          <p:nvPr/>
        </p:nvSpPr>
        <p:spPr>
          <a:xfrm>
            <a:off x="265176" y="9162288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265176" y="949147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916228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conversion — the one metric</a:t>
            </a:r>
            <a:endParaRPr lang="en-US" sz="720" dirty="0"/>
          </a:p>
        </p:txBody>
      </p:sp>
      <p:sp>
        <p:nvSpPr>
          <p:cNvPr id="136" name="Text 134"/>
          <p:cNvSpPr/>
          <p:nvPr/>
        </p:nvSpPr>
        <p:spPr>
          <a:xfrm>
            <a:off x="2573723" y="916228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85%</a:t>
            </a:r>
            <a:endParaRPr lang="en-US" sz="720" dirty="0"/>
          </a:p>
        </p:txBody>
      </p:sp>
      <p:sp>
        <p:nvSpPr>
          <p:cNvPr id="137" name="Text 135"/>
          <p:cNvSpPr/>
          <p:nvPr/>
        </p:nvSpPr>
        <p:spPr>
          <a:xfrm>
            <a:off x="3960605" y="916228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</a:t>
            </a:r>
            <a:endParaRPr lang="en-US" sz="720" dirty="0"/>
          </a:p>
        </p:txBody>
      </p:sp>
      <p:sp>
        <p:nvSpPr>
          <p:cNvPr id="138" name="Text 136"/>
          <p:cNvSpPr/>
          <p:nvPr/>
        </p:nvSpPr>
        <p:spPr>
          <a:xfrm>
            <a:off x="5434166" y="916228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73.4%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65176" y="98206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Text 138"/>
          <p:cNvSpPr/>
          <p:nvPr/>
        </p:nvSpPr>
        <p:spPr>
          <a:xfrm>
            <a:off x="320040" y="9491472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gap vs benchmark</a:t>
            </a:r>
            <a:endParaRPr lang="en-US" sz="720" dirty="0"/>
          </a:p>
        </p:txBody>
      </p:sp>
      <p:sp>
        <p:nvSpPr>
          <p:cNvPr id="141" name="Text 139"/>
          <p:cNvSpPr/>
          <p:nvPr/>
        </p:nvSpPr>
        <p:spPr>
          <a:xfrm>
            <a:off x="2573723" y="9491472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2" name="Text 140"/>
          <p:cNvSpPr/>
          <p:nvPr/>
        </p:nvSpPr>
        <p:spPr>
          <a:xfrm>
            <a:off x="3960605" y="9491472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ZSM</a:t>
            </a:r>
            <a:endParaRPr lang="en-US" sz="720" dirty="0"/>
          </a:p>
        </p:txBody>
      </p:sp>
      <p:sp>
        <p:nvSpPr>
          <p:cNvPr id="143" name="Text 141"/>
          <p:cNvSpPr/>
          <p:nvPr/>
        </p:nvSpPr>
        <p:spPr>
          <a:xfrm>
            <a:off x="5434166" y="9491472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−₹2.78 Cr</a:t>
            </a:r>
            <a:endParaRPr lang="en-US" sz="720" dirty="0"/>
          </a:p>
        </p:txBody>
      </p:sp>
      <p:sp>
        <p:nvSpPr>
          <p:cNvPr id="144" name="Shape 142"/>
          <p:cNvSpPr/>
          <p:nvPr/>
        </p:nvSpPr>
        <p:spPr>
          <a:xfrm>
            <a:off x="265176" y="9820656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Shape 143"/>
          <p:cNvSpPr/>
          <p:nvPr/>
        </p:nvSpPr>
        <p:spPr>
          <a:xfrm>
            <a:off x="265176" y="1014984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44"/>
          <p:cNvSpPr/>
          <p:nvPr/>
        </p:nvSpPr>
        <p:spPr>
          <a:xfrm>
            <a:off x="320040" y="9820656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gap vs benchmark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2573723" y="9820656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weekly</a:t>
            </a:r>
            <a:endParaRPr lang="en-US" sz="720" dirty="0"/>
          </a:p>
        </p:txBody>
      </p:sp>
      <p:sp>
        <p:nvSpPr>
          <p:cNvPr id="148" name="Text 146"/>
          <p:cNvSpPr/>
          <p:nvPr/>
        </p:nvSpPr>
        <p:spPr>
          <a:xfrm>
            <a:off x="3960605" y="9820656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ZSM</a:t>
            </a:r>
            <a:endParaRPr lang="en-US" sz="720" dirty="0"/>
          </a:p>
        </p:txBody>
      </p:sp>
      <p:sp>
        <p:nvSpPr>
          <p:cNvPr id="149" name="Text 147"/>
          <p:cNvSpPr/>
          <p:nvPr/>
        </p:nvSpPr>
        <p:spPr>
          <a:xfrm>
            <a:off x="5434166" y="9820656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−₹2.54 Cr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265176" y="1047902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20040" y="10149840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Hero-SKU OSA, priority stores</a:t>
            </a:r>
            <a:endParaRPr lang="en-US" sz="720" dirty="0"/>
          </a:p>
        </p:txBody>
      </p:sp>
      <p:sp>
        <p:nvSpPr>
          <p:cNvPr id="152" name="Text 150"/>
          <p:cNvSpPr/>
          <p:nvPr/>
        </p:nvSpPr>
        <p:spPr>
          <a:xfrm>
            <a:off x="2573723" y="10149840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95%</a:t>
            </a:r>
            <a:endParaRPr lang="en-US" sz="720" dirty="0"/>
          </a:p>
        </p:txBody>
      </p:sp>
      <p:sp>
        <p:nvSpPr>
          <p:cNvPr id="153" name="Text 151"/>
          <p:cNvSpPr/>
          <p:nvPr/>
        </p:nvSpPr>
        <p:spPr>
          <a:xfrm>
            <a:off x="3960605" y="10149840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+ Supply</a:t>
            </a:r>
            <a:endParaRPr lang="en-US" sz="720" dirty="0"/>
          </a:p>
        </p:txBody>
      </p:sp>
      <p:sp>
        <p:nvSpPr>
          <p:cNvPr id="154" name="Text 152"/>
          <p:cNvSpPr/>
          <p:nvPr/>
        </p:nvSpPr>
        <p:spPr>
          <a:xfrm>
            <a:off x="5434166" y="10149840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</a:t>
            </a:r>
            <a:endParaRPr lang="en-US" sz="720" dirty="0"/>
          </a:p>
        </p:txBody>
      </p:sp>
      <p:sp>
        <p:nvSpPr>
          <p:cNvPr id="155" name="Shape 153"/>
          <p:cNvSpPr/>
          <p:nvPr/>
        </p:nvSpPr>
        <p:spPr>
          <a:xfrm>
            <a:off x="265176" y="10479024"/>
            <a:ext cx="6327648" cy="329184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265176" y="1080820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7" name="Text 155"/>
          <p:cNvSpPr/>
          <p:nvPr/>
        </p:nvSpPr>
        <p:spPr>
          <a:xfrm>
            <a:off x="320040" y="10479024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conversion</a:t>
            </a:r>
            <a:endParaRPr lang="en-US" sz="720" dirty="0"/>
          </a:p>
        </p:txBody>
      </p:sp>
      <p:sp>
        <p:nvSpPr>
          <p:cNvPr id="158" name="Text 156"/>
          <p:cNvSpPr/>
          <p:nvPr/>
        </p:nvSpPr>
        <p:spPr>
          <a:xfrm>
            <a:off x="2573723" y="10479024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65%</a:t>
            </a:r>
            <a:endParaRPr lang="en-US" sz="720" dirty="0"/>
          </a:p>
        </p:txBody>
      </p:sp>
      <p:sp>
        <p:nvSpPr>
          <p:cNvPr id="159" name="Text 157"/>
          <p:cNvSpPr/>
          <p:nvPr/>
        </p:nvSpPr>
        <p:spPr>
          <a:xfrm>
            <a:off x="3960605" y="10479024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NKAM Reliance</a:t>
            </a:r>
            <a:endParaRPr lang="en-US" sz="720" dirty="0"/>
          </a:p>
        </p:txBody>
      </p:sp>
      <p:sp>
        <p:nvSpPr>
          <p:cNvPr id="160" name="Text 158"/>
          <p:cNvSpPr/>
          <p:nvPr/>
        </p:nvSpPr>
        <p:spPr>
          <a:xfrm>
            <a:off x="5434166" y="10479024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51.4%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265176" y="1113739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320040" y="10808208"/>
            <a:ext cx="21439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with unmapped primary</a:t>
            </a:r>
            <a:endParaRPr lang="en-US" sz="720" dirty="0"/>
          </a:p>
        </p:txBody>
      </p:sp>
      <p:sp>
        <p:nvSpPr>
          <p:cNvPr id="163" name="Text 161"/>
          <p:cNvSpPr/>
          <p:nvPr/>
        </p:nvSpPr>
        <p:spPr>
          <a:xfrm>
            <a:off x="2573723" y="10808208"/>
            <a:ext cx="127715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2B9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720" dirty="0"/>
          </a:p>
        </p:txBody>
      </p:sp>
      <p:sp>
        <p:nvSpPr>
          <p:cNvPr id="164" name="Text 162"/>
          <p:cNvSpPr/>
          <p:nvPr/>
        </p:nvSpPr>
        <p:spPr>
          <a:xfrm>
            <a:off x="3960605" y="10808208"/>
            <a:ext cx="13638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20" dirty="0"/>
          </a:p>
        </p:txBody>
      </p:sp>
      <p:sp>
        <p:nvSpPr>
          <p:cNvPr id="165" name="Text 163"/>
          <p:cNvSpPr/>
          <p:nvPr/>
        </p:nvSpPr>
        <p:spPr>
          <a:xfrm>
            <a:off x="5434166" y="10808208"/>
            <a:ext cx="11037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chains</a:t>
            </a:r>
            <a:endParaRPr lang="en-US" sz="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Chain conversion: Reliance at 47% drives ₹9.2 Cr pipeline risk — DMart improved to 92%, Apollo 74%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P&amp;O conversion | July 2026 | ₹ Cr | conversion % = offtake ÷ primary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primary ₹17.23 Cr — 46.8% converted; ₹9.17 Cr unsold. DMart improved to 92.2%; South-2 residual ₹1.19 Cr. Apollo 74.4%; ₹2.47 Cr gap. Lulu, H&amp;G, Wellness: offtake exceeds primary supply.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₹14.18 Cr billed-but-unsold pipeline risk (Reliance ₹9.17, Apollo ₹2.47, DMart ₹1.19, Metro ₹1.35). ₹1.27 Cr supply-constrained upside at Lulu, H&amp;G, and Wellness — demand established, primary not keeping pace.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no new loading; NKAM drives secondary sell-through in North &amp; East. Apollo: NKAM to push SKU-level sell-through; reconcile zone stock. Lulu/H&amp;G/Wellness: scale primary to match pull-through; avoid OOS. DMart: monitor South-2 DC fill.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NKAM (Reliance team). Apollo: NKAM (Apollo team). Lulu / H&amp;G / Wellness: NKAM + Supply Planning. DMart: NKAM. Review at next weekly MT call.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₹9.17 Cr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 — 53.2% unsold; ₹9.17 Cr pipeline risk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₹1.19 Cr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 — improved; South-2 residual ₹1.19 Cr remains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74.4%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₹2.47 Cr pipeline gap; recover zone-level secondary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GAP — POSITIVE AND NEGATIVE REPORTED SEPARATELY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8.06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+9.17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and unsold — recover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13.97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+1.19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parity; South-2 residual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+1.35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dilution,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−0.95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supply; scale primary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Glow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0.43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0.51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Forever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−0.24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&gt; supply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POSITIVE GAP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₹14.18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Billed but not yet sold through, across four chains. Recoverable pool — 64.7% in Reliance, 17.4% in Apollo, 8.4% in DMart, 9.5% in Metro.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NEGATIVE GAP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₹1.27 Cr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 exceeds primary in Lulu, H&amp;G, and Wellness — demand established; primary supply needs scaling, not a mapping defect.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PLAN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Reliance: ₹9.17 Cr pipeline at risk — attack North and East; convert billed inventory through hero-SKU visibility and replenishment. No new loading until secondary improves.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DMart: improved to 92.2%; residual ₹1.19 Cr concentrated in South-2. Review DC-to-store fill and top-SKU store availability in that region.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Apollo: 74.4% conversion with ₹2.47 Cr gap — push NKAM to drive secondary sell-through. Reconcile zone-level stock; national primary is healthy.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Lulu, H&amp;G, Wellness: demand exceeds primary supply — offtake running ahead. Scale primary to match pull-through and avoid OOS. ₹1.27 Cr upside if supply keeps pace.</a:t>
            </a:r>
            <a:endParaRPr lang="en-US" sz="7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1133856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5641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Reliance primary +183% YoY to ₹17.2 Cr — total MT primary doubled to ₹47.0 Cr; Lulu flat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5641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primary: Jul'25 vs Jul'26 | ₹ Cr | allocated via distributor secondary weights | Jul'26 total ₹47.0 Cr vs Jul'25 ₹22.4 Cr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6117336" y="23774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68696" y="4754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20" i="1" dirty="0">
                <a:solidFill>
                  <a:srgbClr val="BFD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  ·  FY27  ·  MT</a:t>
            </a:r>
            <a:endParaRPr lang="en-US" sz="520" dirty="0"/>
          </a:p>
        </p:txBody>
      </p:sp>
      <p:sp>
        <p:nvSpPr>
          <p:cNvPr id="7" name="Shape 5"/>
          <p:cNvSpPr/>
          <p:nvPr/>
        </p:nvSpPr>
        <p:spPr>
          <a:xfrm>
            <a:off x="265176" y="11375136"/>
            <a:ext cx="6327648" cy="420624"/>
          </a:xfrm>
          <a:prstGeom prst="roundRect">
            <a:avLst>
              <a:gd name="adj" fmla="val 6522"/>
            </a:avLst>
          </a:prstGeom>
          <a:solidFill>
            <a:srgbClr val="DFF2ED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74904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01952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901952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819656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429000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3429000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now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346704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56048" y="1143000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60" dirty="0">
                <a:solidFill>
                  <a:srgbClr val="11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4956048" y="11585448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closes it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73752" y="11457432"/>
            <a:ext cx="0" cy="265176"/>
          </a:xfrm>
          <a:prstGeom prst="line">
            <a:avLst/>
          </a:prstGeom>
          <a:noFill/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1887200"/>
            <a:ext cx="6254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Compiled Offtake (Sheet1) · July'26 primary and distributor secondary · values in ₹ Cr · Geographic zone performance uses MT store accounts only. eB2B (Nykaa/FSN) and SIS are MT sub-channels; zone conversion analysis excludes them so the benchmark is internally comparable.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5176" y="1261872"/>
            <a:ext cx="6327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vs Offtake by chain (₹ Cr) — July 2026</a:t>
            </a:r>
            <a:endParaRPr lang="en-US" sz="72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46888" y="1481328"/>
          <a:ext cx="6327648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hape 19"/>
          <p:cNvSpPr/>
          <p:nvPr/>
        </p:nvSpPr>
        <p:spPr>
          <a:xfrm>
            <a:off x="265176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265176" y="3694176"/>
            <a:ext cx="2036064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347472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56616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56616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₹6.10 Cr → ₹17.23 Cr; largest absolute increase in MT primary</a:t>
            </a:r>
            <a:endParaRPr lang="en-US" sz="660" dirty="0"/>
          </a:p>
        </p:txBody>
      </p:sp>
      <p:sp>
        <p:nvSpPr>
          <p:cNvPr id="27" name="Shape 24"/>
          <p:cNvSpPr/>
          <p:nvPr/>
        </p:nvSpPr>
        <p:spPr>
          <a:xfrm>
            <a:off x="2410968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5"/>
          <p:cNvSpPr/>
          <p:nvPr/>
        </p:nvSpPr>
        <p:spPr>
          <a:xfrm>
            <a:off x="2410968" y="3694176"/>
            <a:ext cx="2036064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2493264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502408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+90%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502408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₹8.00 Cr → ₹15.16 Cr; consistent growth across zones</a:t>
            </a:r>
            <a:endParaRPr lang="en-US" sz="660" dirty="0"/>
          </a:p>
        </p:txBody>
      </p:sp>
      <p:sp>
        <p:nvSpPr>
          <p:cNvPr id="32" name="Shape 29"/>
          <p:cNvSpPr/>
          <p:nvPr/>
        </p:nvSpPr>
        <p:spPr>
          <a:xfrm>
            <a:off x="4556760" y="3694176"/>
            <a:ext cx="2036064" cy="932688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0"/>
          <p:cNvSpPr/>
          <p:nvPr/>
        </p:nvSpPr>
        <p:spPr>
          <a:xfrm>
            <a:off x="4556760" y="3694176"/>
            <a:ext cx="2036064" cy="274320"/>
          </a:xfrm>
          <a:prstGeom prst="rect">
            <a:avLst/>
          </a:prstGeom>
          <a:solidFill>
            <a:srgbClr val="2B9A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/>
          <p:nvPr/>
        </p:nvSpPr>
        <p:spPr>
          <a:xfrm>
            <a:off x="4639056" y="3712464"/>
            <a:ext cx="1871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648200" y="4059936"/>
            <a:ext cx="1853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B9A6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+102%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4648200" y="4389120"/>
            <a:ext cx="1853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6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₹4.77 Cr → ₹9.65 Cr; strong YoY on direct billing</a:t>
            </a:r>
            <a:endParaRPr lang="en-US" sz="660" dirty="0"/>
          </a:p>
        </p:txBody>
      </p:sp>
      <p:sp>
        <p:nvSpPr>
          <p:cNvPr id="37" name="Shape 34"/>
          <p:cNvSpPr/>
          <p:nvPr/>
        </p:nvSpPr>
        <p:spPr>
          <a:xfrm>
            <a:off x="265176" y="4773168"/>
            <a:ext cx="6327648" cy="256032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/>
          <p:nvPr/>
        </p:nvSpPr>
        <p:spPr>
          <a:xfrm>
            <a:off x="374904" y="4791456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PRIMARY — JUL'25 vs JUL'26 (₹ Cr)</a:t>
            </a:r>
            <a:endParaRPr lang="en-US" sz="720" dirty="0"/>
          </a:p>
        </p:txBody>
      </p:sp>
      <p:sp>
        <p:nvSpPr>
          <p:cNvPr id="39" name="Shape 36"/>
          <p:cNvSpPr/>
          <p:nvPr/>
        </p:nvSpPr>
        <p:spPr>
          <a:xfrm>
            <a:off x="265176" y="512064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20040" y="5138928"/>
            <a:ext cx="1332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660" dirty="0"/>
          </a:p>
        </p:txBody>
      </p:sp>
      <p:sp>
        <p:nvSpPr>
          <p:cNvPr id="41" name="Text 38"/>
          <p:cNvSpPr/>
          <p:nvPr/>
        </p:nvSpPr>
        <p:spPr>
          <a:xfrm>
            <a:off x="1761783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</a:t>
            </a:r>
            <a:endParaRPr lang="en-US" sz="660" dirty="0"/>
          </a:p>
        </p:txBody>
      </p:sp>
      <p:sp>
        <p:nvSpPr>
          <p:cNvPr id="42" name="Text 39"/>
          <p:cNvSpPr/>
          <p:nvPr/>
        </p:nvSpPr>
        <p:spPr>
          <a:xfrm>
            <a:off x="2562751" y="5138928"/>
            <a:ext cx="691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3363719" y="5138928"/>
            <a:ext cx="651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₹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4124638" y="5138928"/>
            <a:ext cx="571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%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4805461" y="5138928"/>
            <a:ext cx="17324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" b="1" kern="0" spc="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60" dirty="0"/>
          </a:p>
        </p:txBody>
      </p:sp>
      <p:sp>
        <p:nvSpPr>
          <p:cNvPr id="46" name="Shape 43"/>
          <p:cNvSpPr/>
          <p:nvPr/>
        </p:nvSpPr>
        <p:spPr>
          <a:xfrm>
            <a:off x="265176" y="5376672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4"/>
          <p:cNvSpPr/>
          <p:nvPr/>
        </p:nvSpPr>
        <p:spPr>
          <a:xfrm>
            <a:off x="265176" y="568756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5"/>
          <p:cNvSpPr/>
          <p:nvPr/>
        </p:nvSpPr>
        <p:spPr>
          <a:xfrm>
            <a:off x="320040" y="537667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</a:t>
            </a:r>
            <a:endParaRPr lang="en-US" sz="720" dirty="0"/>
          </a:p>
        </p:txBody>
      </p:sp>
      <p:sp>
        <p:nvSpPr>
          <p:cNvPr id="49" name="Text 46"/>
          <p:cNvSpPr/>
          <p:nvPr/>
        </p:nvSpPr>
        <p:spPr>
          <a:xfrm>
            <a:off x="1761783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6.10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2562751" y="537667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17.23</a:t>
            </a:r>
            <a:endParaRPr lang="en-US" sz="720" dirty="0"/>
          </a:p>
        </p:txBody>
      </p:sp>
      <p:sp>
        <p:nvSpPr>
          <p:cNvPr id="51" name="Text 48"/>
          <p:cNvSpPr/>
          <p:nvPr/>
        </p:nvSpPr>
        <p:spPr>
          <a:xfrm>
            <a:off x="3363719" y="537667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+11.13</a:t>
            </a:r>
            <a:endParaRPr lang="en-US" sz="720" dirty="0"/>
          </a:p>
        </p:txBody>
      </p:sp>
      <p:sp>
        <p:nvSpPr>
          <p:cNvPr id="52" name="Text 49"/>
          <p:cNvSpPr/>
          <p:nvPr/>
        </p:nvSpPr>
        <p:spPr>
          <a:xfrm>
            <a:off x="4124638" y="537667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4805461" y="537667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YoY absolute gain</a:t>
            </a:r>
            <a:endParaRPr lang="en-US" sz="720" dirty="0"/>
          </a:p>
        </p:txBody>
      </p:sp>
      <p:sp>
        <p:nvSpPr>
          <p:cNvPr id="54" name="Shape 51"/>
          <p:cNvSpPr/>
          <p:nvPr/>
        </p:nvSpPr>
        <p:spPr>
          <a:xfrm>
            <a:off x="265176" y="5998464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320040" y="5687568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761783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8.00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2562751" y="5687568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15.16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363719" y="5687568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+7.16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4124638" y="5687568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4805461" y="5687568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across all zones</a:t>
            </a:r>
            <a:endParaRPr lang="en-US" sz="720" dirty="0"/>
          </a:p>
        </p:txBody>
      </p:sp>
      <p:sp>
        <p:nvSpPr>
          <p:cNvPr id="61" name="Shape 58"/>
          <p:cNvSpPr/>
          <p:nvPr/>
        </p:nvSpPr>
        <p:spPr>
          <a:xfrm>
            <a:off x="265176" y="5998464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59"/>
          <p:cNvSpPr/>
          <p:nvPr/>
        </p:nvSpPr>
        <p:spPr>
          <a:xfrm>
            <a:off x="265176" y="6309360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0"/>
          <p:cNvSpPr/>
          <p:nvPr/>
        </p:nvSpPr>
        <p:spPr>
          <a:xfrm>
            <a:off x="320040" y="5998464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1761783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2562751" y="5998464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1.84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363719" y="5998464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+0.96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124638" y="5998464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D65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+109%</a:t>
            </a:r>
            <a:endParaRPr lang="en-US" sz="720" dirty="0"/>
          </a:p>
        </p:txBody>
      </p:sp>
      <p:sp>
        <p:nvSpPr>
          <p:cNvPr id="68" name="Text 65"/>
          <p:cNvSpPr/>
          <p:nvPr/>
        </p:nvSpPr>
        <p:spPr>
          <a:xfrm>
            <a:off x="4805461" y="5998464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C&amp;C format; small base</a:t>
            </a:r>
            <a:endParaRPr lang="en-US" sz="720" dirty="0"/>
          </a:p>
        </p:txBody>
      </p:sp>
      <p:sp>
        <p:nvSpPr>
          <p:cNvPr id="69" name="Shape 66"/>
          <p:cNvSpPr/>
          <p:nvPr/>
        </p:nvSpPr>
        <p:spPr>
          <a:xfrm>
            <a:off x="265176" y="6620256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7"/>
          <p:cNvSpPr/>
          <p:nvPr/>
        </p:nvSpPr>
        <p:spPr>
          <a:xfrm>
            <a:off x="320040" y="6309360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761783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2562751" y="6309360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3363719" y="6309360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−0.13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4124638" y="6309360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−15%</a:t>
            </a:r>
            <a:endParaRPr lang="en-US" sz="720" dirty="0"/>
          </a:p>
        </p:txBody>
      </p:sp>
      <p:sp>
        <p:nvSpPr>
          <p:cNvPr id="75" name="Text 72"/>
          <p:cNvSpPr/>
          <p:nvPr/>
        </p:nvSpPr>
        <p:spPr>
          <a:xfrm>
            <a:off x="4805461" y="6309360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allocation shift; territory mix</a:t>
            </a:r>
            <a:endParaRPr lang="en-US" sz="720" dirty="0"/>
          </a:p>
        </p:txBody>
      </p:sp>
      <p:sp>
        <p:nvSpPr>
          <p:cNvPr id="76" name="Shape 73"/>
          <p:cNvSpPr/>
          <p:nvPr/>
        </p:nvSpPr>
        <p:spPr>
          <a:xfrm>
            <a:off x="265176" y="6620256"/>
            <a:ext cx="6327648" cy="310896"/>
          </a:xfrm>
          <a:prstGeom prst="rect">
            <a:avLst/>
          </a:prstGeom>
          <a:solidFill>
            <a:srgbClr val="F4F9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4"/>
          <p:cNvSpPr/>
          <p:nvPr/>
        </p:nvSpPr>
        <p:spPr>
          <a:xfrm>
            <a:off x="265176" y="6931152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5"/>
          <p:cNvSpPr/>
          <p:nvPr/>
        </p:nvSpPr>
        <p:spPr>
          <a:xfrm>
            <a:off x="320040" y="6620256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1761783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4.77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2562751" y="6620256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9.65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3363719" y="6620256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+4.88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4124638" y="6620256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+102%</a:t>
            </a:r>
            <a:endParaRPr lang="en-US" sz="720" dirty="0"/>
          </a:p>
        </p:txBody>
      </p:sp>
      <p:sp>
        <p:nvSpPr>
          <p:cNvPr id="83" name="Text 80"/>
          <p:cNvSpPr/>
          <p:nvPr/>
        </p:nvSpPr>
        <p:spPr>
          <a:xfrm>
            <a:off x="4805461" y="6620256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direct billing growth</a:t>
            </a:r>
            <a:endParaRPr lang="en-US" sz="720" dirty="0"/>
          </a:p>
        </p:txBody>
      </p:sp>
      <p:sp>
        <p:nvSpPr>
          <p:cNvPr id="84" name="Shape 81"/>
          <p:cNvSpPr/>
          <p:nvPr/>
        </p:nvSpPr>
        <p:spPr>
          <a:xfrm>
            <a:off x="265176" y="7242048"/>
            <a:ext cx="6327648" cy="0"/>
          </a:xfrm>
          <a:prstGeom prst="line">
            <a:avLst/>
          </a:prstGeom>
          <a:noFill/>
          <a:ln w="6350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2"/>
          <p:cNvSpPr/>
          <p:nvPr/>
        </p:nvSpPr>
        <p:spPr>
          <a:xfrm>
            <a:off x="320040" y="6931152"/>
            <a:ext cx="13320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TOTAL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1761783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22.43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2562751" y="6931152"/>
            <a:ext cx="691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47.02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3363719" y="6931152"/>
            <a:ext cx="651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+24.59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4124638" y="6931152"/>
            <a:ext cx="571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+110%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4805461" y="6931152"/>
            <a:ext cx="17324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F2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channel doubled YoY</a:t>
            </a:r>
            <a:endParaRPr lang="en-US" sz="720" dirty="0"/>
          </a:p>
        </p:txBody>
      </p:sp>
      <p:sp>
        <p:nvSpPr>
          <p:cNvPr id="91" name="Shape 88"/>
          <p:cNvSpPr/>
          <p:nvPr/>
        </p:nvSpPr>
        <p:spPr>
          <a:xfrm>
            <a:off x="265176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Shape 89"/>
          <p:cNvSpPr/>
          <p:nvPr/>
        </p:nvSpPr>
        <p:spPr>
          <a:xfrm>
            <a:off x="265176" y="7388352"/>
            <a:ext cx="3090672" cy="274320"/>
          </a:xfrm>
          <a:prstGeom prst="rect">
            <a:avLst/>
          </a:prstGeom>
          <a:solidFill>
            <a:srgbClr val="D6544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0"/>
          <p:cNvSpPr/>
          <p:nvPr/>
        </p:nvSpPr>
        <p:spPr>
          <a:xfrm>
            <a:off x="347472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SPLIT — JUL'26 PRIMARY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356616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54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 ₹41.6 Cr | TDC ₹3.7 Cr | Others ₹1.7 Cr</a:t>
            </a:r>
            <a:endParaRPr lang="en-US" sz="1600" dirty="0"/>
          </a:p>
        </p:txBody>
      </p:sp>
      <p:sp>
        <p:nvSpPr>
          <p:cNvPr id="95" name="Text 92"/>
          <p:cNvSpPr/>
          <p:nvPr/>
        </p:nvSpPr>
        <p:spPr>
          <a:xfrm>
            <a:off x="393192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leads at ₹41.6 Cr (+117% YoY); The Derma Co. ₹3.7 Cr (+83%); Jul'25 brand: ME ₹19.9 Cr, TDC ₹2.0 Cr, AQ ₹0.33 Cr, BBlunt ₹0.14 Cr.</a:t>
            </a:r>
            <a:endParaRPr lang="en-US" sz="680" dirty="0"/>
          </a:p>
        </p:txBody>
      </p:sp>
      <p:sp>
        <p:nvSpPr>
          <p:cNvPr id="96" name="Shape 93"/>
          <p:cNvSpPr/>
          <p:nvPr/>
        </p:nvSpPr>
        <p:spPr>
          <a:xfrm>
            <a:off x="3502152" y="7388352"/>
            <a:ext cx="3090672" cy="1060704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9525">
            <a:solidFill>
              <a:srgbClr val="C8DC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Shape 94"/>
          <p:cNvSpPr/>
          <p:nvPr/>
        </p:nvSpPr>
        <p:spPr>
          <a:xfrm>
            <a:off x="3502152" y="7388352"/>
            <a:ext cx="3090672" cy="274320"/>
          </a:xfrm>
          <a:prstGeom prst="rect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Text 95"/>
          <p:cNvSpPr/>
          <p:nvPr/>
        </p:nvSpPr>
        <p:spPr>
          <a:xfrm>
            <a:off x="3584448" y="74066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YoY CALLOUTS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593592" y="7754112"/>
            <a:ext cx="2907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B84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+183% Reliance | +102% Apollo | −15% Lulu</a:t>
            </a:r>
            <a:endParaRPr lang="en-US" sz="1600" dirty="0"/>
          </a:p>
        </p:txBody>
      </p:sp>
      <p:sp>
        <p:nvSpPr>
          <p:cNvPr id="100" name="Text 97"/>
          <p:cNvSpPr/>
          <p:nvPr/>
        </p:nvSpPr>
        <p:spPr>
          <a:xfrm>
            <a:off x="3630168" y="810158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680" dirty="0">
                <a:solidFill>
                  <a:srgbClr val="5F71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flat YoY (dist. territory allocation shift — demand strong at ₹1.70 Cr offtake). Wellness and H&amp;G primary minimal in Jul'25 — growth from near-zero base.</a:t>
            </a:r>
            <a:endParaRPr lang="en-US" sz="680" dirty="0"/>
          </a:p>
        </p:txBody>
      </p:sp>
      <p:sp>
        <p:nvSpPr>
          <p:cNvPr id="101" name="Shape 98"/>
          <p:cNvSpPr/>
          <p:nvPr/>
        </p:nvSpPr>
        <p:spPr>
          <a:xfrm>
            <a:off x="265176" y="8595360"/>
            <a:ext cx="6327648" cy="256032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Text 99"/>
          <p:cNvSpPr/>
          <p:nvPr/>
        </p:nvSpPr>
        <p:spPr>
          <a:xfrm>
            <a:off x="374904" y="8613648"/>
            <a:ext cx="6108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</a:t>
            </a:r>
            <a:endParaRPr lang="en-US" sz="720" dirty="0"/>
          </a:p>
        </p:txBody>
      </p:sp>
      <p:sp>
        <p:nvSpPr>
          <p:cNvPr id="103" name="Shape 100"/>
          <p:cNvSpPr/>
          <p:nvPr/>
        </p:nvSpPr>
        <p:spPr>
          <a:xfrm>
            <a:off x="356616" y="901141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1"/>
          <p:cNvSpPr/>
          <p:nvPr/>
        </p:nvSpPr>
        <p:spPr>
          <a:xfrm>
            <a:off x="475488" y="896112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b="1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primary_article_Jul_25.csv (MT channel only) + primary_article_Jul_26.csv. Distributor primary allocated to chains using Jul'26 offtake territory weights (aggregate across brands).</a:t>
            </a:r>
            <a:endParaRPr lang="en-US" sz="740" dirty="0"/>
          </a:p>
        </p:txBody>
      </p:sp>
      <p:sp>
        <p:nvSpPr>
          <p:cNvPr id="105" name="Shape 102"/>
          <p:cNvSpPr/>
          <p:nvPr/>
        </p:nvSpPr>
        <p:spPr>
          <a:xfrm>
            <a:off x="356616" y="937717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3"/>
          <p:cNvSpPr/>
          <p:nvPr/>
        </p:nvSpPr>
        <p:spPr>
          <a:xfrm>
            <a:off x="475488" y="932688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direct primary: Reliance ₹5.86 Cr, DMart ₹3.73 Cr, Apollo ₹1.97 Cr, Metro ₹0.88 Cr. Distributor secondary (₹9.87 Cr) allocated via KOTTARAM/GV/Vanaja/Az weights.</a:t>
            </a:r>
            <a:endParaRPr lang="en-US" sz="740" dirty="0"/>
          </a:p>
        </p:txBody>
      </p:sp>
      <p:sp>
        <p:nvSpPr>
          <p:cNvPr id="107" name="Shape 104"/>
          <p:cNvSpPr/>
          <p:nvPr/>
        </p:nvSpPr>
        <p:spPr>
          <a:xfrm>
            <a:off x="356616" y="9742932"/>
            <a:ext cx="50292" cy="50292"/>
          </a:xfrm>
          <a:prstGeom prst="ellipse">
            <a:avLst/>
          </a:prstGeom>
          <a:solidFill>
            <a:srgbClr val="28A5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Text 105"/>
          <p:cNvSpPr/>
          <p:nvPr/>
        </p:nvSpPr>
        <p:spPr>
          <a:xfrm>
            <a:off x="475488" y="969264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Jul'25 ₹22.43 Cr vs Jul'26 ₹47.02 Cr — +109.6% YoY. Key driver: Reliance direct POs more than doubled; Apollo Dist. allocation now fully mapped for the first time.</a:t>
            </a:r>
            <a:endParaRPr lang="en-US" sz="740" dirty="0"/>
          </a:p>
        </p:txBody>
      </p:sp>
      <p:sp>
        <p:nvSpPr>
          <p:cNvPr id="109" name="Shape 106"/>
          <p:cNvSpPr/>
          <p:nvPr/>
        </p:nvSpPr>
        <p:spPr>
          <a:xfrm>
            <a:off x="356616" y="10108692"/>
            <a:ext cx="50292" cy="50292"/>
          </a:xfrm>
          <a:prstGeom prst="ellipse">
            <a:avLst/>
          </a:prstGeom>
          <a:solidFill>
            <a:srgbClr val="F2B84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07"/>
          <p:cNvSpPr/>
          <p:nvPr/>
        </p:nvSpPr>
        <p:spPr>
          <a:xfrm>
            <a:off x="475488" y="10058400"/>
            <a:ext cx="6025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2000"/>
              </a:lnSpc>
              <a:buNone/>
            </a:pPr>
            <a:r>
              <a:rPr lang="en-US" sz="740" dirty="0">
                <a:solidFill>
                  <a:srgbClr val="183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 YoY decline is a territory-weight artifact — Jul'25 KOTTARAM/GV allocated more to Lulu (KER 76.8%/TN 8.6%) vs Jul'26 total. Offtake up ₹1.70 Cr confirms demand is real.</a:t>
            </a:r>
            <a:endParaRPr lang="en-US" sz="7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PI Chain-Wise Vidarbha">
    <p:bg>
      <p:bgPr>
        <a:solidFill>
          <a:srgbClr val="F7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858000" cy="10404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3"/>
          <p:cNvSpPr/>
          <p:nvPr/>
        </p:nvSpPr>
        <p:spPr>
          <a:xfrm>
            <a:off x="265176" y="182880"/>
            <a:ext cx="6327648" cy="54864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NPI Chain-Wise Analysis — Maharashtra Vidarbha → Central Zone</a:t>
            </a:r>
          </a:p>
        </p:txBody>
      </p:sp>
      <p:sp>
        <p:nvSpPr>
          <p:cNvPr id="4" name="Text 4"/>
          <p:cNvSpPr/>
          <p:nvPr/>
        </p:nvSpPr>
        <p:spPr>
          <a:xfrm>
            <a:off x="265176" y="750000"/>
            <a:ext cx="6062472" cy="237744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NPI Status by Chain | Vidarbha remapping applied | Source: MT_Chain_Wise_Article_Wise_NPI_for_TY</a:t>
            </a:r>
          </a:p>
        </p:txBody>
      </p:sp>
      <p:sp>
        <p:nvSpPr>
          <p:cNvPr id="5" name="Text 5"/>
          <p:cNvSpPr/>
          <p:nvPr/>
        </p:nvSpPr>
        <p:spPr>
          <a:xfrm>
            <a:off x="6378000" y="182880"/>
            <a:ext cx="365760" cy="219456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6" name="Text 6"/>
          <p:cNvSpPr/>
          <p:nvPr/>
        </p:nvSpPr>
        <p:spPr>
          <a:xfrm>
            <a:off x="5858000" y="840400"/>
            <a:ext cx="950976" cy="155448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r" marL="0" indent="0">
              <a:buNone/>
            </a:pPr>
            <a:r>
              <a:rPr lang="en-US" sz="800" dirty="0">
                <a:solidFill>
                  <a:srgbClr val="B8D4CD"/>
                </a:solidFill>
              </a:rPr>
              <a:t>Jul'26  ·  FY27  ·  MT</a:t>
            </a:r>
          </a:p>
        </p:txBody>
      </p:sp>
      <p:sp>
        <p:nvSpPr>
          <p:cNvPr id="7" name="Text 7"/>
          <p:cNvSpPr/>
          <p:nvPr/>
        </p:nvSpPr>
        <p:spPr>
          <a:xfrm>
            <a:off x="265176" y="110040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TOP CHAINS — NPI ARTICLE COUNT (ALL ZONES)</a:t>
            </a:r>
          </a:p>
        </p:txBody>
      </p:sp>
      <p:sp>
        <p:nvSpPr>
          <p:cNvPr id="8" name="Shape 8"/>
          <p:cNvSpPr/>
          <p:nvPr/>
        </p:nvSpPr>
        <p:spPr>
          <a:xfrm>
            <a:off x="265176" y="1310400"/>
            <a:ext cx="5100000" cy="256032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9"/>
          <p:cNvSpPr/>
          <p:nvPr/>
        </p:nvSpPr>
        <p:spPr>
          <a:xfrm>
            <a:off x="265176" y="1310400"/>
            <a:ext cx="18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Chain</a:t>
            </a:r>
          </a:p>
        </p:txBody>
      </p:sp>
      <p:sp>
        <p:nvSpPr>
          <p:cNvPr id="10" name="Text 10"/>
          <p:cNvSpPr/>
          <p:nvPr/>
        </p:nvSpPr>
        <p:spPr>
          <a:xfrm>
            <a:off x="20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Disc</a:t>
            </a:r>
          </a:p>
        </p:txBody>
      </p:sp>
      <p:sp>
        <p:nvSpPr>
          <p:cNvPr id="11" name="Text 11"/>
          <p:cNvSpPr/>
          <p:nvPr/>
        </p:nvSpPr>
        <p:spPr>
          <a:xfrm>
            <a:off x="2565176" y="1310400"/>
            <a:ext cx="6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2" name="Text 12"/>
          <p:cNvSpPr/>
          <p:nvPr/>
        </p:nvSpPr>
        <p:spPr>
          <a:xfrm>
            <a:off x="3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NPD</a:t>
            </a:r>
          </a:p>
        </p:txBody>
      </p:sp>
      <p:sp>
        <p:nvSpPr>
          <p:cNvPr id="13" name="Text 13"/>
          <p:cNvSpPr/>
          <p:nvPr/>
        </p:nvSpPr>
        <p:spPr>
          <a:xfrm>
            <a:off x="36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epd</a:t>
            </a:r>
          </a:p>
        </p:txBody>
      </p:sp>
      <p:sp>
        <p:nvSpPr>
          <p:cNvPr id="14" name="Text 14"/>
          <p:cNvSpPr/>
          <p:nvPr/>
        </p:nvSpPr>
        <p:spPr>
          <a:xfrm>
            <a:off x="4165176" y="1310400"/>
            <a:ext cx="5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Freebie</a:t>
            </a:r>
          </a:p>
        </p:txBody>
      </p:sp>
      <p:sp>
        <p:nvSpPr>
          <p:cNvPr id="15" name="Text 15"/>
          <p:cNvSpPr/>
          <p:nvPr/>
        </p:nvSpPr>
        <p:spPr>
          <a:xfrm>
            <a:off x="4665176" y="1310400"/>
            <a:ext cx="700000" cy="256032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6" name="Shape 16"/>
          <p:cNvSpPr/>
          <p:nvPr/>
        </p:nvSpPr>
        <p:spPr>
          <a:xfrm>
            <a:off x="265176" y="1566432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7"/>
          <p:cNvSpPr/>
          <p:nvPr/>
        </p:nvSpPr>
        <p:spPr>
          <a:xfrm>
            <a:off x="265176" y="156643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Reliance</a:t>
            </a:r>
          </a:p>
        </p:txBody>
      </p:sp>
      <p:sp>
        <p:nvSpPr>
          <p:cNvPr id="18" name="Text 18"/>
          <p:cNvSpPr/>
          <p:nvPr/>
        </p:nvSpPr>
        <p:spPr>
          <a:xfrm>
            <a:off x="20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1,047</a:t>
            </a:r>
          </a:p>
        </p:txBody>
      </p:sp>
      <p:sp>
        <p:nvSpPr>
          <p:cNvPr id="19" name="Text 19"/>
          <p:cNvSpPr/>
          <p:nvPr/>
        </p:nvSpPr>
        <p:spPr>
          <a:xfrm>
            <a:off x="2565176" y="156643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3,958</a:t>
            </a:r>
          </a:p>
        </p:txBody>
      </p:sp>
      <p:sp>
        <p:nvSpPr>
          <p:cNvPr id="20" name="Text 20"/>
          <p:cNvSpPr/>
          <p:nvPr/>
        </p:nvSpPr>
        <p:spPr>
          <a:xfrm>
            <a:off x="3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75</a:t>
            </a:r>
          </a:p>
        </p:txBody>
      </p:sp>
      <p:sp>
        <p:nvSpPr>
          <p:cNvPr id="21" name="Text 21"/>
          <p:cNvSpPr/>
          <p:nvPr/>
        </p:nvSpPr>
        <p:spPr>
          <a:xfrm>
            <a:off x="36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462</a:t>
            </a:r>
          </a:p>
        </p:txBody>
      </p:sp>
      <p:sp>
        <p:nvSpPr>
          <p:cNvPr id="22" name="Text 22"/>
          <p:cNvSpPr/>
          <p:nvPr/>
        </p:nvSpPr>
        <p:spPr>
          <a:xfrm>
            <a:off x="4165176" y="156643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40</a:t>
            </a:r>
          </a:p>
        </p:txBody>
      </p:sp>
      <p:sp>
        <p:nvSpPr>
          <p:cNvPr id="23" name="Text 23"/>
          <p:cNvSpPr/>
          <p:nvPr/>
        </p:nvSpPr>
        <p:spPr>
          <a:xfrm>
            <a:off x="4665176" y="156643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5,582</a:t>
            </a:r>
          </a:p>
        </p:txBody>
      </p:sp>
      <p:sp>
        <p:nvSpPr>
          <p:cNvPr id="24" name="Shape 24"/>
          <p:cNvSpPr/>
          <p:nvPr/>
        </p:nvSpPr>
        <p:spPr>
          <a:xfrm>
            <a:off x="265176" y="1785888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5"/>
          <p:cNvSpPr/>
          <p:nvPr/>
        </p:nvSpPr>
        <p:spPr>
          <a:xfrm>
            <a:off x="265176" y="178588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Apollo</a:t>
            </a:r>
          </a:p>
        </p:txBody>
      </p:sp>
      <p:sp>
        <p:nvSpPr>
          <p:cNvPr id="26" name="Text 26"/>
          <p:cNvSpPr/>
          <p:nvPr/>
        </p:nvSpPr>
        <p:spPr>
          <a:xfrm>
            <a:off x="20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234</a:t>
            </a:r>
          </a:p>
        </p:txBody>
      </p:sp>
      <p:sp>
        <p:nvSpPr>
          <p:cNvPr id="27" name="Text 27"/>
          <p:cNvSpPr/>
          <p:nvPr/>
        </p:nvSpPr>
        <p:spPr>
          <a:xfrm>
            <a:off x="2565176" y="178588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3,442</a:t>
            </a:r>
          </a:p>
        </p:txBody>
      </p:sp>
      <p:sp>
        <p:nvSpPr>
          <p:cNvPr id="28" name="Text 28"/>
          <p:cNvSpPr/>
          <p:nvPr/>
        </p:nvSpPr>
        <p:spPr>
          <a:xfrm>
            <a:off x="3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185</a:t>
            </a:r>
          </a:p>
        </p:txBody>
      </p:sp>
      <p:sp>
        <p:nvSpPr>
          <p:cNvPr id="29" name="Text 29"/>
          <p:cNvSpPr/>
          <p:nvPr/>
        </p:nvSpPr>
        <p:spPr>
          <a:xfrm>
            <a:off x="36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369</a:t>
            </a:r>
          </a:p>
        </p:txBody>
      </p:sp>
      <p:sp>
        <p:nvSpPr>
          <p:cNvPr id="30" name="Text 30"/>
          <p:cNvSpPr/>
          <p:nvPr/>
        </p:nvSpPr>
        <p:spPr>
          <a:xfrm>
            <a:off x="4165176" y="178588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31" name="Text 31"/>
          <p:cNvSpPr/>
          <p:nvPr/>
        </p:nvSpPr>
        <p:spPr>
          <a:xfrm>
            <a:off x="4665176" y="178588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4,243</a:t>
            </a:r>
          </a:p>
        </p:txBody>
      </p:sp>
      <p:sp>
        <p:nvSpPr>
          <p:cNvPr id="32" name="Shape 32"/>
          <p:cNvSpPr/>
          <p:nvPr/>
        </p:nvSpPr>
        <p:spPr>
          <a:xfrm>
            <a:off x="265176" y="2005344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3"/>
          <p:cNvSpPr/>
          <p:nvPr/>
        </p:nvSpPr>
        <p:spPr>
          <a:xfrm>
            <a:off x="265176" y="200534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H&amp;G</a:t>
            </a:r>
          </a:p>
        </p:txBody>
      </p:sp>
      <p:sp>
        <p:nvSpPr>
          <p:cNvPr id="34" name="Text 34"/>
          <p:cNvSpPr/>
          <p:nvPr/>
        </p:nvSpPr>
        <p:spPr>
          <a:xfrm>
            <a:off x="20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689</a:t>
            </a:r>
          </a:p>
        </p:txBody>
      </p:sp>
      <p:sp>
        <p:nvSpPr>
          <p:cNvPr id="35" name="Text 35"/>
          <p:cNvSpPr/>
          <p:nvPr/>
        </p:nvSpPr>
        <p:spPr>
          <a:xfrm>
            <a:off x="2565176" y="200534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1,913</a:t>
            </a:r>
          </a:p>
        </p:txBody>
      </p:sp>
      <p:sp>
        <p:nvSpPr>
          <p:cNvPr id="36" name="Text 36"/>
          <p:cNvSpPr/>
          <p:nvPr/>
        </p:nvSpPr>
        <p:spPr>
          <a:xfrm>
            <a:off x="3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7" name="Text 37"/>
          <p:cNvSpPr/>
          <p:nvPr/>
        </p:nvSpPr>
        <p:spPr>
          <a:xfrm>
            <a:off x="36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197</a:t>
            </a:r>
          </a:p>
        </p:txBody>
      </p:sp>
      <p:sp>
        <p:nvSpPr>
          <p:cNvPr id="38" name="Text 38"/>
          <p:cNvSpPr/>
          <p:nvPr/>
        </p:nvSpPr>
        <p:spPr>
          <a:xfrm>
            <a:off x="4165176" y="200534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39" name="Text 39"/>
          <p:cNvSpPr/>
          <p:nvPr/>
        </p:nvSpPr>
        <p:spPr>
          <a:xfrm>
            <a:off x="4665176" y="200534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2,801</a:t>
            </a:r>
          </a:p>
        </p:txBody>
      </p:sp>
      <p:sp>
        <p:nvSpPr>
          <p:cNvPr id="40" name="Shape 40"/>
          <p:cNvSpPr/>
          <p:nvPr/>
        </p:nvSpPr>
        <p:spPr>
          <a:xfrm>
            <a:off x="265176" y="2224800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41"/>
          <p:cNvSpPr/>
          <p:nvPr/>
        </p:nvSpPr>
        <p:spPr>
          <a:xfrm>
            <a:off x="265176" y="2224800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H&amp;B</a:t>
            </a:r>
          </a:p>
        </p:txBody>
      </p:sp>
      <p:sp>
        <p:nvSpPr>
          <p:cNvPr id="42" name="Text 42"/>
          <p:cNvSpPr/>
          <p:nvPr/>
        </p:nvSpPr>
        <p:spPr>
          <a:xfrm>
            <a:off x="20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544</a:t>
            </a:r>
          </a:p>
        </p:txBody>
      </p:sp>
      <p:sp>
        <p:nvSpPr>
          <p:cNvPr id="43" name="Text 43"/>
          <p:cNvSpPr/>
          <p:nvPr/>
        </p:nvSpPr>
        <p:spPr>
          <a:xfrm>
            <a:off x="2565176" y="2224800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1,104</a:t>
            </a:r>
          </a:p>
        </p:txBody>
      </p:sp>
      <p:sp>
        <p:nvSpPr>
          <p:cNvPr id="44" name="Text 44"/>
          <p:cNvSpPr/>
          <p:nvPr/>
        </p:nvSpPr>
        <p:spPr>
          <a:xfrm>
            <a:off x="3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5" name="Text 45"/>
          <p:cNvSpPr/>
          <p:nvPr/>
        </p:nvSpPr>
        <p:spPr>
          <a:xfrm>
            <a:off x="36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62</a:t>
            </a:r>
          </a:p>
        </p:txBody>
      </p:sp>
      <p:sp>
        <p:nvSpPr>
          <p:cNvPr id="46" name="Text 46"/>
          <p:cNvSpPr/>
          <p:nvPr/>
        </p:nvSpPr>
        <p:spPr>
          <a:xfrm>
            <a:off x="4165176" y="2224800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47" name="Text 47"/>
          <p:cNvSpPr/>
          <p:nvPr/>
        </p:nvSpPr>
        <p:spPr>
          <a:xfrm>
            <a:off x="4665176" y="2224800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1,710</a:t>
            </a:r>
          </a:p>
        </p:txBody>
      </p:sp>
      <p:sp>
        <p:nvSpPr>
          <p:cNvPr id="48" name="Shape 48"/>
          <p:cNvSpPr/>
          <p:nvPr/>
        </p:nvSpPr>
        <p:spPr>
          <a:xfrm>
            <a:off x="265176" y="2444256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9"/>
          <p:cNvSpPr/>
          <p:nvPr/>
        </p:nvSpPr>
        <p:spPr>
          <a:xfrm>
            <a:off x="265176" y="2444256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Wellness Forever</a:t>
            </a:r>
          </a:p>
        </p:txBody>
      </p:sp>
      <p:sp>
        <p:nvSpPr>
          <p:cNvPr id="50" name="Text 50"/>
          <p:cNvSpPr/>
          <p:nvPr/>
        </p:nvSpPr>
        <p:spPr>
          <a:xfrm>
            <a:off x="20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481</a:t>
            </a:r>
          </a:p>
        </p:txBody>
      </p:sp>
      <p:sp>
        <p:nvSpPr>
          <p:cNvPr id="51" name="Text 51"/>
          <p:cNvSpPr/>
          <p:nvPr/>
        </p:nvSpPr>
        <p:spPr>
          <a:xfrm>
            <a:off x="2565176" y="2444256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884</a:t>
            </a:r>
          </a:p>
        </p:txBody>
      </p:sp>
      <p:sp>
        <p:nvSpPr>
          <p:cNvPr id="52" name="Text 52"/>
          <p:cNvSpPr/>
          <p:nvPr/>
        </p:nvSpPr>
        <p:spPr>
          <a:xfrm>
            <a:off x="3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21</a:t>
            </a:r>
          </a:p>
        </p:txBody>
      </p:sp>
      <p:sp>
        <p:nvSpPr>
          <p:cNvPr id="53" name="Text 53"/>
          <p:cNvSpPr/>
          <p:nvPr/>
        </p:nvSpPr>
        <p:spPr>
          <a:xfrm>
            <a:off x="36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98</a:t>
            </a:r>
          </a:p>
        </p:txBody>
      </p:sp>
      <p:sp>
        <p:nvSpPr>
          <p:cNvPr id="54" name="Text 54"/>
          <p:cNvSpPr/>
          <p:nvPr/>
        </p:nvSpPr>
        <p:spPr>
          <a:xfrm>
            <a:off x="4165176" y="2444256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55" name="Text 55"/>
          <p:cNvSpPr/>
          <p:nvPr/>
        </p:nvSpPr>
        <p:spPr>
          <a:xfrm>
            <a:off x="4665176" y="2444256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1,487</a:t>
            </a:r>
          </a:p>
        </p:txBody>
      </p:sp>
      <p:sp>
        <p:nvSpPr>
          <p:cNvPr id="56" name="Shape 56"/>
          <p:cNvSpPr/>
          <p:nvPr/>
        </p:nvSpPr>
        <p:spPr>
          <a:xfrm>
            <a:off x="265176" y="2663712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7"/>
          <p:cNvSpPr/>
          <p:nvPr/>
        </p:nvSpPr>
        <p:spPr>
          <a:xfrm>
            <a:off x="265176" y="2663712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Metro Cnc</a:t>
            </a:r>
          </a:p>
        </p:txBody>
      </p:sp>
      <p:sp>
        <p:nvSpPr>
          <p:cNvPr id="58" name="Text 58"/>
          <p:cNvSpPr/>
          <p:nvPr/>
        </p:nvSpPr>
        <p:spPr>
          <a:xfrm>
            <a:off x="20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182</a:t>
            </a:r>
          </a:p>
        </p:txBody>
      </p:sp>
      <p:sp>
        <p:nvSpPr>
          <p:cNvPr id="59" name="Text 59"/>
          <p:cNvSpPr/>
          <p:nvPr/>
        </p:nvSpPr>
        <p:spPr>
          <a:xfrm>
            <a:off x="2565176" y="2663712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860</a:t>
            </a:r>
          </a:p>
        </p:txBody>
      </p:sp>
      <p:sp>
        <p:nvSpPr>
          <p:cNvPr id="60" name="Text 60"/>
          <p:cNvSpPr/>
          <p:nvPr/>
        </p:nvSpPr>
        <p:spPr>
          <a:xfrm>
            <a:off x="3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251</a:t>
            </a:r>
          </a:p>
        </p:txBody>
      </p:sp>
      <p:sp>
        <p:nvSpPr>
          <p:cNvPr id="61" name="Text 61"/>
          <p:cNvSpPr/>
          <p:nvPr/>
        </p:nvSpPr>
        <p:spPr>
          <a:xfrm>
            <a:off x="36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55</a:t>
            </a:r>
          </a:p>
        </p:txBody>
      </p:sp>
      <p:sp>
        <p:nvSpPr>
          <p:cNvPr id="62" name="Text 62"/>
          <p:cNvSpPr/>
          <p:nvPr/>
        </p:nvSpPr>
        <p:spPr>
          <a:xfrm>
            <a:off x="4165176" y="2663712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63" name="Text 63"/>
          <p:cNvSpPr/>
          <p:nvPr/>
        </p:nvSpPr>
        <p:spPr>
          <a:xfrm>
            <a:off x="4665176" y="2663712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1,348</a:t>
            </a:r>
          </a:p>
        </p:txBody>
      </p:sp>
      <p:sp>
        <p:nvSpPr>
          <p:cNvPr id="64" name="Shape 64"/>
          <p:cNvSpPr/>
          <p:nvPr/>
        </p:nvSpPr>
        <p:spPr>
          <a:xfrm>
            <a:off x="265176" y="2883168"/>
            <a:ext cx="5100000" cy="219456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5"/>
          <p:cNvSpPr/>
          <p:nvPr/>
        </p:nvSpPr>
        <p:spPr>
          <a:xfrm>
            <a:off x="265176" y="2883168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Lulu</a:t>
            </a:r>
          </a:p>
        </p:txBody>
      </p:sp>
      <p:sp>
        <p:nvSpPr>
          <p:cNvPr id="66" name="Text 66"/>
          <p:cNvSpPr/>
          <p:nvPr/>
        </p:nvSpPr>
        <p:spPr>
          <a:xfrm>
            <a:off x="20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117</a:t>
            </a:r>
          </a:p>
        </p:txBody>
      </p:sp>
      <p:sp>
        <p:nvSpPr>
          <p:cNvPr id="67" name="Text 67"/>
          <p:cNvSpPr/>
          <p:nvPr/>
        </p:nvSpPr>
        <p:spPr>
          <a:xfrm>
            <a:off x="2565176" y="2883168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640</a:t>
            </a:r>
          </a:p>
        </p:txBody>
      </p:sp>
      <p:sp>
        <p:nvSpPr>
          <p:cNvPr id="68" name="Text 68"/>
          <p:cNvSpPr/>
          <p:nvPr/>
        </p:nvSpPr>
        <p:spPr>
          <a:xfrm>
            <a:off x="3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137</a:t>
            </a:r>
          </a:p>
        </p:txBody>
      </p:sp>
      <p:sp>
        <p:nvSpPr>
          <p:cNvPr id="69" name="Text 69"/>
          <p:cNvSpPr/>
          <p:nvPr/>
        </p:nvSpPr>
        <p:spPr>
          <a:xfrm>
            <a:off x="36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147</a:t>
            </a:r>
          </a:p>
        </p:txBody>
      </p:sp>
      <p:sp>
        <p:nvSpPr>
          <p:cNvPr id="70" name="Text 70"/>
          <p:cNvSpPr/>
          <p:nvPr/>
        </p:nvSpPr>
        <p:spPr>
          <a:xfrm>
            <a:off x="4165176" y="2883168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1" name="Text 71"/>
          <p:cNvSpPr/>
          <p:nvPr/>
        </p:nvSpPr>
        <p:spPr>
          <a:xfrm>
            <a:off x="4665176" y="2883168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1,041</a:t>
            </a:r>
          </a:p>
        </p:txBody>
      </p:sp>
      <p:sp>
        <p:nvSpPr>
          <p:cNvPr id="72" name="Shape 72"/>
          <p:cNvSpPr/>
          <p:nvPr/>
        </p:nvSpPr>
        <p:spPr>
          <a:xfrm>
            <a:off x="265176" y="3102624"/>
            <a:ext cx="510000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3"/>
          <p:cNvSpPr/>
          <p:nvPr/>
        </p:nvSpPr>
        <p:spPr>
          <a:xfrm>
            <a:off x="265176" y="3102624"/>
            <a:ext cx="18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A1A1A"/>
                </a:solidFill>
              </a:rPr>
              <a:t>Dmart</a:t>
            </a:r>
          </a:p>
        </p:txBody>
      </p:sp>
      <p:sp>
        <p:nvSpPr>
          <p:cNvPr id="74" name="Text 74"/>
          <p:cNvSpPr/>
          <p:nvPr/>
        </p:nvSpPr>
        <p:spPr>
          <a:xfrm>
            <a:off x="20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111</a:t>
            </a:r>
          </a:p>
        </p:txBody>
      </p:sp>
      <p:sp>
        <p:nvSpPr>
          <p:cNvPr id="75" name="Text 75"/>
          <p:cNvSpPr/>
          <p:nvPr/>
        </p:nvSpPr>
        <p:spPr>
          <a:xfrm>
            <a:off x="2565176" y="3102624"/>
            <a:ext cx="6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643</a:t>
            </a:r>
          </a:p>
        </p:txBody>
      </p:sp>
      <p:sp>
        <p:nvSpPr>
          <p:cNvPr id="76" name="Text 76"/>
          <p:cNvSpPr/>
          <p:nvPr/>
        </p:nvSpPr>
        <p:spPr>
          <a:xfrm>
            <a:off x="3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93</a:t>
            </a:r>
          </a:p>
        </p:txBody>
      </p:sp>
      <p:sp>
        <p:nvSpPr>
          <p:cNvPr id="77" name="Text 77"/>
          <p:cNvSpPr/>
          <p:nvPr/>
        </p:nvSpPr>
        <p:spPr>
          <a:xfrm>
            <a:off x="36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1</a:t>
            </a:r>
          </a:p>
        </p:txBody>
      </p:sp>
      <p:sp>
        <p:nvSpPr>
          <p:cNvPr id="78" name="Text 78"/>
          <p:cNvSpPr/>
          <p:nvPr/>
        </p:nvSpPr>
        <p:spPr>
          <a:xfrm>
            <a:off x="4165176" y="3102624"/>
            <a:ext cx="5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0</a:t>
            </a:r>
          </a:p>
        </p:txBody>
      </p:sp>
      <p:sp>
        <p:nvSpPr>
          <p:cNvPr id="79" name="Text 79"/>
          <p:cNvSpPr/>
          <p:nvPr/>
        </p:nvSpPr>
        <p:spPr>
          <a:xfrm>
            <a:off x="4665176" y="3102624"/>
            <a:ext cx="700000" cy="219456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r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848</a:t>
            </a:r>
          </a:p>
        </p:txBody>
      </p:sp>
      <p:sp>
        <p:nvSpPr>
          <p:cNvPr id="80" name="Text 80"/>
          <p:cNvSpPr/>
          <p:nvPr/>
        </p:nvSpPr>
        <p:spPr>
          <a:xfrm>
            <a:off x="265176" y="3362080"/>
            <a:ext cx="6327648" cy="175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700" dirty="0">
                <a:solidFill>
                  <a:srgbClr val="888888"/>
                </a:solidFill>
              </a:rPr>
              <a:t>Disc = Discontinued · EPD/epd = Extended Phase Discontinued · NPD = New Product · Freebie = Promotional</a:t>
            </a:r>
          </a:p>
        </p:txBody>
      </p:sp>
      <p:sp>
        <p:nvSpPr>
          <p:cNvPr id="81" name="Shape 81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2"/>
          <p:cNvSpPr/>
          <p:nvPr/>
        </p:nvSpPr>
        <p:spPr>
          <a:xfrm>
            <a:off x="265176" y="359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MAHARASHTRA → CENTRAL ZONE (VIDARBHA) REMAPPING  |  1,168 Articles Reclassified from WEST</a:t>
            </a:r>
          </a:p>
        </p:txBody>
      </p:sp>
      <p:sp>
        <p:nvSpPr>
          <p:cNvPr id="83" name="Shape 83"/>
          <p:cNvSpPr/>
          <p:nvPr/>
        </p:nvSpPr>
        <p:spPr>
          <a:xfrm>
            <a:off x="265176" y="3792080"/>
            <a:ext cx="1561912" cy="6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4"/>
          <p:cNvSpPr/>
          <p:nvPr/>
        </p:nvSpPr>
        <p:spPr>
          <a:xfrm>
            <a:off x="265176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Wellness Forever</a:t>
            </a:r>
          </a:p>
        </p:txBody>
      </p:sp>
      <p:sp>
        <p:nvSpPr>
          <p:cNvPr id="85" name="Text 85"/>
          <p:cNvSpPr/>
          <p:nvPr/>
        </p:nvSpPr>
        <p:spPr>
          <a:xfrm>
            <a:off x="265176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501</a:t>
            </a:r>
          </a:p>
        </p:txBody>
      </p:sp>
      <p:sp>
        <p:nvSpPr>
          <p:cNvPr id="86" name="Text 86"/>
          <p:cNvSpPr/>
          <p:nvPr/>
        </p:nvSpPr>
        <p:spPr>
          <a:xfrm>
            <a:off x="265176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260 · Disc 205 · NPD 7</a:t>
            </a:r>
          </a:p>
        </p:txBody>
      </p:sp>
      <p:sp>
        <p:nvSpPr>
          <p:cNvPr id="87" name="Shape 87"/>
          <p:cNvSpPr/>
          <p:nvPr/>
        </p:nvSpPr>
        <p:spPr>
          <a:xfrm>
            <a:off x="1847088" y="3792080"/>
            <a:ext cx="1561912" cy="6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8"/>
          <p:cNvSpPr/>
          <p:nvPr/>
        </p:nvSpPr>
        <p:spPr>
          <a:xfrm>
            <a:off x="1847088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Reliance</a:t>
            </a:r>
          </a:p>
        </p:txBody>
      </p:sp>
      <p:sp>
        <p:nvSpPr>
          <p:cNvPr id="89" name="Text 89"/>
          <p:cNvSpPr/>
          <p:nvPr/>
        </p:nvSpPr>
        <p:spPr>
          <a:xfrm>
            <a:off x="1847088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346</a:t>
            </a:r>
          </a:p>
        </p:txBody>
      </p:sp>
      <p:sp>
        <p:nvSpPr>
          <p:cNvPr id="90" name="Text 90"/>
          <p:cNvSpPr/>
          <p:nvPr/>
        </p:nvSpPr>
        <p:spPr>
          <a:xfrm>
            <a:off x="1847088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238 · Disc 80 · NPD 3</a:t>
            </a:r>
          </a:p>
        </p:txBody>
      </p:sp>
      <p:sp>
        <p:nvSpPr>
          <p:cNvPr id="91" name="Shape 91"/>
          <p:cNvSpPr/>
          <p:nvPr/>
        </p:nvSpPr>
        <p:spPr>
          <a:xfrm>
            <a:off x="3429000" y="3792080"/>
            <a:ext cx="1561912" cy="6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2"/>
          <p:cNvSpPr/>
          <p:nvPr/>
        </p:nvSpPr>
        <p:spPr>
          <a:xfrm>
            <a:off x="3429000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Apollo</a:t>
            </a:r>
          </a:p>
        </p:txBody>
      </p:sp>
      <p:sp>
        <p:nvSpPr>
          <p:cNvPr id="93" name="Text 93"/>
          <p:cNvSpPr/>
          <p:nvPr/>
        </p:nvSpPr>
        <p:spPr>
          <a:xfrm>
            <a:off x="3429000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240</a:t>
            </a:r>
          </a:p>
        </p:txBody>
      </p:sp>
      <p:sp>
        <p:nvSpPr>
          <p:cNvPr id="94" name="Text 94"/>
          <p:cNvSpPr/>
          <p:nvPr/>
        </p:nvSpPr>
        <p:spPr>
          <a:xfrm>
            <a:off x="3429000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192 · Disc 14 · NPD 10</a:t>
            </a:r>
          </a:p>
        </p:txBody>
      </p:sp>
      <p:sp>
        <p:nvSpPr>
          <p:cNvPr id="95" name="Shape 95"/>
          <p:cNvSpPr/>
          <p:nvPr/>
        </p:nvSpPr>
        <p:spPr>
          <a:xfrm>
            <a:off x="5010912" y="3792080"/>
            <a:ext cx="1561912" cy="6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6"/>
          <p:cNvSpPr/>
          <p:nvPr/>
        </p:nvSpPr>
        <p:spPr>
          <a:xfrm>
            <a:off x="5010912" y="3832080"/>
            <a:ext cx="1561912" cy="16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850" b="1" dirty="0">
                <a:solidFill>
                  <a:srgbClr val="FFFFFF"/>
                </a:solidFill>
              </a:rPr>
              <a:t>Dmart</a:t>
            </a:r>
          </a:p>
        </p:txBody>
      </p:sp>
      <p:sp>
        <p:nvSpPr>
          <p:cNvPr id="97" name="Text 97"/>
          <p:cNvSpPr/>
          <p:nvPr/>
        </p:nvSpPr>
        <p:spPr>
          <a:xfrm>
            <a:off x="5010912" y="4002080"/>
            <a:ext cx="1561912" cy="25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98" name="Text 98"/>
          <p:cNvSpPr/>
          <p:nvPr/>
        </p:nvSpPr>
        <p:spPr>
          <a:xfrm>
            <a:off x="5010912" y="4252080"/>
            <a:ext cx="1561912" cy="12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c" marL="0" indent="0">
              <a:buNone/>
            </a:pPr>
            <a:r>
              <a:rPr lang="en-US" sz="650" dirty="0">
                <a:solidFill>
                  <a:srgbClr val="CCDDDD"/>
                </a:solidFill>
              </a:rPr>
              <a:t>EPD 56 · Disc 17 · NPD 7</a:t>
            </a:r>
          </a:p>
        </p:txBody>
      </p:sp>
      <p:sp>
        <p:nvSpPr>
          <p:cNvPr id="99" name="Shape 99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100"/>
          <p:cNvSpPr/>
          <p:nvPr/>
        </p:nvSpPr>
        <p:spPr>
          <a:xfrm>
            <a:off x="265176" y="4432080"/>
            <a:ext cx="6327648" cy="22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c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VIDARBHA RECLASSIFIED: 1,168 articles across 4 chains (Wellness Forever + Reliance + Apollo + DMart)</a:t>
            </a:r>
          </a:p>
        </p:txBody>
      </p:sp>
      <p:sp>
        <p:nvSpPr>
          <p:cNvPr id="101" name="Text 101"/>
          <p:cNvSpPr/>
          <p:nvPr/>
        </p:nvSpPr>
        <p:spPr>
          <a:xfrm>
            <a:off x="265176" y="4702080"/>
            <a:ext cx="6327648" cy="20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1000" b="1" dirty="0">
                <a:solidFill>
                  <a:srgbClr val="1F3B34"/>
                </a:solidFill>
              </a:rPr>
              <a:t>ZONE-WISE NPI ARTICLE TOTALS (REVISED — POST VIDARBHA REMAPPING)</a:t>
            </a:r>
          </a:p>
        </p:txBody>
      </p:sp>
      <p:sp>
        <p:nvSpPr>
          <p:cNvPr id="102" name="Text 102"/>
          <p:cNvSpPr/>
          <p:nvPr/>
        </p:nvSpPr>
        <p:spPr>
          <a:xfrm>
            <a:off x="265176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03" name="Shape 103"/>
          <p:cNvSpPr/>
          <p:nvPr/>
        </p:nvSpPr>
        <p:spPr>
          <a:xfrm>
            <a:off x="785176" y="4962080"/>
            <a:ext cx="270000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Text 104"/>
          <p:cNvSpPr/>
          <p:nvPr/>
        </p:nvSpPr>
        <p:spPr>
          <a:xfrm>
            <a:off x="3515176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3,934</a:t>
            </a:r>
          </a:p>
        </p:txBody>
      </p:sp>
      <p:sp>
        <p:nvSpPr>
          <p:cNvPr id="105" name="Text 105"/>
          <p:cNvSpPr/>
          <p:nvPr/>
        </p:nvSpPr>
        <p:spPr>
          <a:xfrm>
            <a:off x="265176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06" name="Shape 106"/>
          <p:cNvSpPr/>
          <p:nvPr/>
        </p:nvSpPr>
        <p:spPr>
          <a:xfrm>
            <a:off x="785176" y="5242080"/>
            <a:ext cx="2271047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7"/>
          <p:cNvSpPr/>
          <p:nvPr/>
        </p:nvSpPr>
        <p:spPr>
          <a:xfrm>
            <a:off x="3086223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3,309</a:t>
            </a:r>
          </a:p>
        </p:txBody>
      </p:sp>
      <p:sp>
        <p:nvSpPr>
          <p:cNvPr id="108" name="Text 108"/>
          <p:cNvSpPr/>
          <p:nvPr/>
        </p:nvSpPr>
        <p:spPr>
          <a:xfrm>
            <a:off x="265176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09" name="Shape 109"/>
          <p:cNvSpPr/>
          <p:nvPr/>
        </p:nvSpPr>
        <p:spPr>
          <a:xfrm>
            <a:off x="785176" y="5522080"/>
            <a:ext cx="2023970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Text 110"/>
          <p:cNvSpPr/>
          <p:nvPr/>
        </p:nvSpPr>
        <p:spPr>
          <a:xfrm>
            <a:off x="2839146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2,949</a:t>
            </a:r>
          </a:p>
        </p:txBody>
      </p:sp>
      <p:sp>
        <p:nvSpPr>
          <p:cNvPr id="111" name="Text 111"/>
          <p:cNvSpPr/>
          <p:nvPr/>
        </p:nvSpPr>
        <p:spPr>
          <a:xfrm>
            <a:off x="265176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Central</a:t>
            </a:r>
          </a:p>
        </p:txBody>
      </p:sp>
      <p:sp>
        <p:nvSpPr>
          <p:cNvPr id="112" name="Shape 112"/>
          <p:cNvSpPr/>
          <p:nvPr/>
        </p:nvSpPr>
        <p:spPr>
          <a:xfrm>
            <a:off x="785176" y="5802080"/>
            <a:ext cx="1812582" cy="16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Text 113"/>
          <p:cNvSpPr/>
          <p:nvPr/>
        </p:nvSpPr>
        <p:spPr>
          <a:xfrm>
            <a:off x="2627758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2,641</a:t>
            </a:r>
          </a:p>
        </p:txBody>
      </p:sp>
      <p:sp>
        <p:nvSpPr>
          <p:cNvPr id="114" name="Text 114"/>
          <p:cNvSpPr/>
          <p:nvPr/>
        </p:nvSpPr>
        <p:spPr>
          <a:xfrm>
            <a:off x="265176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North</a:t>
            </a:r>
          </a:p>
        </p:txBody>
      </p:sp>
      <p:sp>
        <p:nvSpPr>
          <p:cNvPr id="115" name="Shape 115"/>
          <p:cNvSpPr/>
          <p:nvPr/>
        </p:nvSpPr>
        <p:spPr>
          <a:xfrm>
            <a:off x="785176" y="6082080"/>
            <a:ext cx="1758362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6"/>
          <p:cNvSpPr/>
          <p:nvPr/>
        </p:nvSpPr>
        <p:spPr>
          <a:xfrm>
            <a:off x="257353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2,562</a:t>
            </a:r>
          </a:p>
        </p:txBody>
      </p:sp>
      <p:sp>
        <p:nvSpPr>
          <p:cNvPr id="117" name="Text 117"/>
          <p:cNvSpPr/>
          <p:nvPr/>
        </p:nvSpPr>
        <p:spPr>
          <a:xfrm>
            <a:off x="265176" y="63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SOUTH-2</a:t>
            </a:r>
          </a:p>
        </p:txBody>
      </p:sp>
      <p:sp>
        <p:nvSpPr>
          <p:cNvPr id="118" name="Shape 118"/>
          <p:cNvSpPr/>
          <p:nvPr/>
        </p:nvSpPr>
        <p:spPr>
          <a:xfrm>
            <a:off x="785176" y="6362080"/>
            <a:ext cx="166021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Text 119"/>
          <p:cNvSpPr/>
          <p:nvPr/>
        </p:nvSpPr>
        <p:spPr>
          <a:xfrm>
            <a:off x="2475394" y="63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2,419</a:t>
            </a:r>
          </a:p>
        </p:txBody>
      </p:sp>
      <p:sp>
        <p:nvSpPr>
          <p:cNvPr id="120" name="Text 120"/>
          <p:cNvSpPr/>
          <p:nvPr/>
        </p:nvSpPr>
        <p:spPr>
          <a:xfrm>
            <a:off x="3310352" y="492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East</a:t>
            </a:r>
          </a:p>
        </p:txBody>
      </p:sp>
      <p:sp>
        <p:nvSpPr>
          <p:cNvPr id="121" name="Shape 121"/>
          <p:cNvSpPr/>
          <p:nvPr/>
        </p:nvSpPr>
        <p:spPr>
          <a:xfrm>
            <a:off x="3830352" y="4962080"/>
            <a:ext cx="1563446" cy="16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2"/>
          <p:cNvSpPr/>
          <p:nvPr/>
        </p:nvSpPr>
        <p:spPr>
          <a:xfrm>
            <a:off x="5423798" y="492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2,278</a:t>
            </a:r>
          </a:p>
        </p:txBody>
      </p:sp>
      <p:sp>
        <p:nvSpPr>
          <p:cNvPr id="123" name="Text 123"/>
          <p:cNvSpPr/>
          <p:nvPr/>
        </p:nvSpPr>
        <p:spPr>
          <a:xfrm>
            <a:off x="3310352" y="520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24" name="Shape 124"/>
          <p:cNvSpPr/>
          <p:nvPr/>
        </p:nvSpPr>
        <p:spPr>
          <a:xfrm>
            <a:off x="3830352" y="5242080"/>
            <a:ext cx="11351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Text 125"/>
          <p:cNvSpPr/>
          <p:nvPr/>
        </p:nvSpPr>
        <p:spPr>
          <a:xfrm>
            <a:off x="4995532" y="520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1,654</a:t>
            </a:r>
          </a:p>
        </p:txBody>
      </p:sp>
      <p:sp>
        <p:nvSpPr>
          <p:cNvPr id="126" name="Text 126"/>
          <p:cNvSpPr/>
          <p:nvPr/>
        </p:nvSpPr>
        <p:spPr>
          <a:xfrm>
            <a:off x="3310352" y="548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South-1</a:t>
            </a:r>
          </a:p>
        </p:txBody>
      </p:sp>
      <p:sp>
        <p:nvSpPr>
          <p:cNvPr id="127" name="Shape 127"/>
          <p:cNvSpPr/>
          <p:nvPr/>
        </p:nvSpPr>
        <p:spPr>
          <a:xfrm>
            <a:off x="3830352" y="5522080"/>
            <a:ext cx="1025368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Text 128"/>
          <p:cNvSpPr/>
          <p:nvPr/>
        </p:nvSpPr>
        <p:spPr>
          <a:xfrm>
            <a:off x="4885720" y="548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1,494</a:t>
            </a:r>
          </a:p>
        </p:txBody>
      </p:sp>
      <p:sp>
        <p:nvSpPr>
          <p:cNvPr id="129" name="Text 129"/>
          <p:cNvSpPr/>
          <p:nvPr/>
        </p:nvSpPr>
        <p:spPr>
          <a:xfrm>
            <a:off x="3310352" y="576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West</a:t>
            </a:r>
          </a:p>
        </p:txBody>
      </p:sp>
      <p:sp>
        <p:nvSpPr>
          <p:cNvPr id="130" name="Shape 130"/>
          <p:cNvSpPr/>
          <p:nvPr/>
        </p:nvSpPr>
        <p:spPr>
          <a:xfrm>
            <a:off x="3830352" y="5802080"/>
            <a:ext cx="733680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Text 131"/>
          <p:cNvSpPr/>
          <p:nvPr/>
        </p:nvSpPr>
        <p:spPr>
          <a:xfrm>
            <a:off x="4594032" y="576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1,069</a:t>
            </a:r>
          </a:p>
        </p:txBody>
      </p:sp>
      <p:sp>
        <p:nvSpPr>
          <p:cNvPr id="132" name="Text 132"/>
          <p:cNvSpPr/>
          <p:nvPr/>
        </p:nvSpPr>
        <p:spPr>
          <a:xfrm>
            <a:off x="3310352" y="6042080"/>
            <a:ext cx="50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Pan India</a:t>
            </a:r>
          </a:p>
        </p:txBody>
      </p:sp>
      <p:sp>
        <p:nvSpPr>
          <p:cNvPr id="133" name="Shape 133"/>
          <p:cNvSpPr/>
          <p:nvPr/>
        </p:nvSpPr>
        <p:spPr>
          <a:xfrm>
            <a:off x="3830352" y="6082080"/>
            <a:ext cx="381596" cy="16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Text 134"/>
          <p:cNvSpPr/>
          <p:nvPr/>
        </p:nvSpPr>
        <p:spPr>
          <a:xfrm>
            <a:off x="4241948" y="6042080"/>
            <a:ext cx="380000" cy="24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1A1A1A"/>
                </a:solidFill>
              </a:rPr>
              <a:t>556</a:t>
            </a:r>
          </a:p>
        </p:txBody>
      </p:sp>
      <p:sp>
        <p:nvSpPr>
          <p:cNvPr id="135" name="Shape 135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6"/>
          <p:cNvSpPr/>
          <p:nvPr/>
        </p:nvSpPr>
        <p:spPr>
          <a:xfrm>
            <a:off x="265176" y="6902080"/>
            <a:ext cx="6327648" cy="20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INSIGHTS — WHAT THIS MEANS FOR MT ASSORTMENT PLANNING</a:t>
            </a:r>
          </a:p>
        </p:txBody>
      </p:sp>
      <p:sp>
        <p:nvSpPr>
          <p:cNvPr id="137" name="Shape 137"/>
          <p:cNvSpPr/>
          <p:nvPr/>
        </p:nvSpPr>
        <p:spPr>
          <a:xfrm>
            <a:off x="265176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8"/>
          <p:cNvSpPr/>
          <p:nvPr/>
        </p:nvSpPr>
        <p:spPr>
          <a:xfrm>
            <a:off x="265176" y="7122080"/>
            <a:ext cx="50000" cy="11000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Text 139"/>
          <p:cNvSpPr/>
          <p:nvPr/>
        </p:nvSpPr>
        <p:spPr>
          <a:xfrm>
            <a:off x="345176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2E75B6"/>
                </a:solidFill>
              </a:rPr>
              <a:t>EPD Dominant</a:t>
            </a:r>
          </a:p>
        </p:txBody>
      </p:sp>
      <p:sp>
        <p:nvSpPr>
          <p:cNvPr id="140" name="Text 140"/>
          <p:cNvSpPr/>
          <p:nvPr/>
        </p:nvSpPr>
        <p:spPr>
          <a:xfrm>
            <a:off x="345176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EPD articles represent the majority of NPI count in every major chain (Reliance 71%, Apollo 81%, H&amp;G 68%). These need active DOI and availability tracking to prevent early OOS before formal discontinuation.</a:t>
            </a:r>
          </a:p>
        </p:txBody>
      </p:sp>
      <p:sp>
        <p:nvSpPr>
          <p:cNvPr id="141" name="Shape 141"/>
          <p:cNvSpPr/>
          <p:nvPr/>
        </p:nvSpPr>
        <p:spPr>
          <a:xfrm>
            <a:off x="3459000" y="712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2" name="Shape 142"/>
          <p:cNvSpPr/>
          <p:nvPr/>
        </p:nvSpPr>
        <p:spPr>
          <a:xfrm>
            <a:off x="3459000" y="7122080"/>
            <a:ext cx="50000" cy="1100000"/>
          </a:xfrm>
          <a:prstGeom prst="rect">
            <a:avLst/>
          </a:prstGeom>
          <a:solidFill>
            <a:srgbClr val="E9601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Text 143"/>
          <p:cNvSpPr/>
          <p:nvPr/>
        </p:nvSpPr>
        <p:spPr>
          <a:xfrm>
            <a:off x="3539000" y="718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E96014"/>
                </a:solidFill>
              </a:rPr>
              <a:t>Disc Risk</a:t>
            </a:r>
          </a:p>
        </p:txBody>
      </p:sp>
      <p:sp>
        <p:nvSpPr>
          <p:cNvPr id="144" name="Text 144"/>
          <p:cNvSpPr/>
          <p:nvPr/>
        </p:nvSpPr>
        <p:spPr>
          <a:xfrm>
            <a:off x="3539000" y="738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Reliance carries 1,047 Disc articles — highest absolute count. Immediate action: NKAM to confirm no fresh ordering and de-list from planogram to free shelf space for NPD.</a:t>
            </a:r>
          </a:p>
        </p:txBody>
      </p:sp>
      <p:sp>
        <p:nvSpPr>
          <p:cNvPr id="145" name="Shape 145"/>
          <p:cNvSpPr/>
          <p:nvPr/>
        </p:nvSpPr>
        <p:spPr>
          <a:xfrm>
            <a:off x="265176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6" name="Shape 146"/>
          <p:cNvSpPr/>
          <p:nvPr/>
        </p:nvSpPr>
        <p:spPr>
          <a:xfrm>
            <a:off x="265176" y="8282080"/>
            <a:ext cx="50000" cy="1100000"/>
          </a:xfrm>
          <a:prstGeom prst="rect">
            <a:avLst/>
          </a:prstGeom>
          <a:solidFill>
            <a:srgbClr val="116F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7"/>
          <p:cNvSpPr/>
          <p:nvPr/>
        </p:nvSpPr>
        <p:spPr>
          <a:xfrm>
            <a:off x="345176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116F68"/>
                </a:solidFill>
              </a:rPr>
              <a:t>Vidarbha Unlocked</a:t>
            </a:r>
          </a:p>
        </p:txBody>
      </p:sp>
      <p:sp>
        <p:nvSpPr>
          <p:cNvPr id="148" name="Text 148"/>
          <p:cNvSpPr/>
          <p:nvPr/>
        </p:nvSpPr>
        <p:spPr>
          <a:xfrm>
            <a:off x="345176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101 Vidarbha stores (Nagpur, Akola, Wardha, Yavatmal, Chandrapur) were previously bucketed under West Zone — misaligning Central assortment benchmarks. Remapping corrects zone-level fill-rate and distribution calculations.</a:t>
            </a:r>
          </a:p>
        </p:txBody>
      </p:sp>
      <p:sp>
        <p:nvSpPr>
          <p:cNvPr id="149" name="Shape 149"/>
          <p:cNvSpPr/>
          <p:nvPr/>
        </p:nvSpPr>
        <p:spPr>
          <a:xfrm>
            <a:off x="3459000" y="8282080"/>
            <a:ext cx="3133824" cy="1100000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Shape 150"/>
          <p:cNvSpPr/>
          <p:nvPr/>
        </p:nvSpPr>
        <p:spPr>
          <a:xfrm>
            <a:off x="3459000" y="8282080"/>
            <a:ext cx="50000" cy="1100000"/>
          </a:xfrm>
          <a:prstGeom prst="rect">
            <a:avLst/>
          </a:prstGeom>
          <a:solidFill>
            <a:srgbClr val="7030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51"/>
          <p:cNvSpPr/>
          <p:nvPr/>
        </p:nvSpPr>
        <p:spPr>
          <a:xfrm>
            <a:off x="3539000" y="8342080"/>
            <a:ext cx="3033824" cy="180000"/>
          </a:xfrm>
          <a:prstGeom prst="rect">
            <a:avLst/>
          </a:prstGeom>
          <a:noFill/>
          <a:ln/>
        </p:spPr>
        <p:txBody>
          <a:bodyPr wrap="False" lIns="0" tIns="0" rIns="0" bIns="0" rtlCol="0" anchor="ctr"/>
          <a:lstStyle/>
          <a:p>
            <a:pPr algn="l" marL="0" indent="0">
              <a:buNone/>
            </a:pPr>
            <a:r>
              <a:rPr lang="en-US" sz="850" b="1" dirty="0">
                <a:solidFill>
                  <a:srgbClr val="7030A0"/>
                </a:solidFill>
              </a:rPr>
              <a:t>NPD Pipeline</a:t>
            </a:r>
          </a:p>
        </p:txBody>
      </p:sp>
      <p:sp>
        <p:nvSpPr>
          <p:cNvPr id="152" name="Text 152"/>
          <p:cNvSpPr/>
          <p:nvPr/>
        </p:nvSpPr>
        <p:spPr>
          <a:xfrm>
            <a:off x="3539000" y="8542080"/>
            <a:ext cx="3033824" cy="800000"/>
          </a:xfrm>
          <a:prstGeom prst="rect">
            <a:avLst/>
          </a:prstGeom>
          <a:noFill/>
          <a:ln/>
        </p:spPr>
        <p:txBody>
          <a:bodyPr wrap="False" lIns="0" tIns="0" rIns="0" bIns="0" rtlCol="0" anchor="t"/>
          <a:lstStyle/>
          <a:p>
            <a:pPr algn="l" marL="0" indent="0">
              <a:buNone/>
            </a:pPr>
            <a:r>
              <a:rPr lang="en-US" sz="780" i="1" dirty="0">
                <a:solidFill>
                  <a:srgbClr val="1A1A1A"/>
                </a:solidFill>
              </a:rPr>
              <a:t>Metro CNC and Lulu show elevated NPD counts (251 and 137) vs their scale — confirming active NPD push in these chains. Category team to track NPD sell-through velocity monthly.</a:t>
            </a:r>
          </a:p>
        </p:txBody>
      </p:sp>
      <p:sp>
        <p:nvSpPr>
          <p:cNvPr id="153" name="Shape 153"/>
          <p:cNvSpPr/>
          <p:nvPr/>
        </p:nvSpPr>
        <p:spPr>
          <a:xfrm>
            <a:off x="265176" y="11252000"/>
            <a:ext cx="6327648" cy="780000"/>
          </a:xfrm>
          <a:prstGeom prst="rect">
            <a:avLst/>
          </a:prstGeom>
          <a:solidFill>
            <a:srgbClr val="1F3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4" name="Shape 154"/>
          <p:cNvSpPr/>
          <p:nvPr/>
        </p:nvSpPr>
        <p:spPr>
          <a:xfrm>
            <a:off x="1847088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5" name="Shape 155"/>
          <p:cNvSpPr/>
          <p:nvPr/>
        </p:nvSpPr>
        <p:spPr>
          <a:xfrm>
            <a:off x="3429000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6"/>
          <p:cNvSpPr/>
          <p:nvPr/>
        </p:nvSpPr>
        <p:spPr>
          <a:xfrm>
            <a:off x="5010912" y="11302000"/>
            <a:ext cx="0" cy="68000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57" name="Text 157"/>
          <p:cNvSpPr/>
          <p:nvPr/>
        </p:nvSpPr>
        <p:spPr>
          <a:xfrm>
            <a:off x="265176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EVIDENCE</a:t>
            </a:r>
          </a:p>
        </p:txBody>
      </p:sp>
      <p:sp>
        <p:nvSpPr>
          <p:cNvPr id="158" name="Text 158"/>
          <p:cNvSpPr/>
          <p:nvPr/>
        </p:nvSpPr>
        <p:spPr>
          <a:xfrm>
            <a:off x="265176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1,168 Maharashtra Vidarbha articles reclassified WEST → Central zone across 4 chains (Wellness 501, Reliance 346, Apollo 240, DMart 81)</a:t>
            </a:r>
          </a:p>
        </p:txBody>
      </p:sp>
      <p:sp>
        <p:nvSpPr>
          <p:cNvPr id="159" name="Text 159"/>
          <p:cNvSpPr/>
          <p:nvPr/>
        </p:nvSpPr>
        <p:spPr>
          <a:xfrm>
            <a:off x="1847088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IMPLICATION</a:t>
            </a:r>
          </a:p>
        </p:txBody>
      </p:sp>
      <p:sp>
        <p:nvSpPr>
          <p:cNvPr id="160" name="Text 160"/>
          <p:cNvSpPr/>
          <p:nvPr/>
        </p:nvSpPr>
        <p:spPr>
          <a:xfrm>
            <a:off x="1847088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Central zone NPI count rises to 2,641 total — accurate zone-level assortment planning now enabled for Vidarbha region</a:t>
            </a:r>
          </a:p>
        </p:txBody>
      </p:sp>
      <p:sp>
        <p:nvSpPr>
          <p:cNvPr id="161" name="Text 161"/>
          <p:cNvSpPr/>
          <p:nvPr/>
        </p:nvSpPr>
        <p:spPr>
          <a:xfrm>
            <a:off x="3429000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ACTION</a:t>
            </a:r>
          </a:p>
        </p:txBody>
      </p:sp>
      <p:sp>
        <p:nvSpPr>
          <p:cNvPr id="162" name="Text 162"/>
          <p:cNvSpPr/>
          <p:nvPr/>
        </p:nvSpPr>
        <p:spPr>
          <a:xfrm>
            <a:off x="3429000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Apply Vidarbha mapping to all future NPI uploads; NKAM to use Central zone data for store-level assortment compliance tracking</a:t>
            </a:r>
          </a:p>
        </p:txBody>
      </p:sp>
      <p:sp>
        <p:nvSpPr>
          <p:cNvPr id="163" name="Text 163"/>
          <p:cNvSpPr/>
          <p:nvPr/>
        </p:nvSpPr>
        <p:spPr>
          <a:xfrm>
            <a:off x="5010912" y="11292000"/>
            <a:ext cx="1581912" cy="140000"/>
          </a:xfrm>
          <a:prstGeom prst="rect">
            <a:avLst/>
          </a:prstGeom>
          <a:noFill/>
          <a:ln/>
        </p:spPr>
        <p:txBody>
          <a:bodyPr wrap="True" lIns="0" tIns="0" rIns="0" bIns="0" rtlCol="0" anchor="ctr"/>
          <a:lstStyle/>
          <a:p>
            <a:pPr algn="l" marL="0" indent="0">
              <a:buNone/>
            </a:pPr>
            <a:r>
              <a:rPr lang="en-US" sz="750" b="1" dirty="0">
                <a:solidFill>
                  <a:srgbClr val="E96014"/>
                </a:solidFill>
              </a:rPr>
              <a:t>OWNER</a:t>
            </a:r>
          </a:p>
        </p:txBody>
      </p:sp>
      <p:sp>
        <p:nvSpPr>
          <p:cNvPr id="164" name="Text 164"/>
          <p:cNvSpPr/>
          <p:nvPr/>
        </p:nvSpPr>
        <p:spPr>
          <a:xfrm>
            <a:off x="5010912" y="11432000"/>
            <a:ext cx="1561912" cy="560000"/>
          </a:xfrm>
          <a:prstGeom prst="rect">
            <a:avLst/>
          </a:prstGeom>
          <a:noFill/>
          <a:ln/>
        </p:spPr>
        <p:txBody>
          <a:bodyPr wrap="True" lIns="0" tIns="0" rIns="0" bIns="0" rtlCol="0" anchor="t"/>
          <a:lstStyle/>
          <a:p>
            <a:pPr algn="l" marL="0" indent="0">
              <a:buNone/>
            </a:pPr>
            <a:r>
              <a:rPr lang="en-US" sz="700" dirty="0">
                <a:solidFill>
                  <a:srgbClr val="CCDDDD"/>
                </a:solidFill>
              </a:rPr>
              <a:t>Analytics + NKAM Central | Effective from Aug-26 planning cycle</a:t>
            </a:r>
          </a:p>
        </p:txBody>
      </p:sp>
      <p:sp>
        <p:nvSpPr>
          <p:cNvPr id="165" name="Text 165"/>
          <p:cNvSpPr/>
          <p:nvPr/>
        </p:nvSpPr>
        <p:spPr>
          <a:xfrm>
            <a:off x="265176" y="12042000"/>
            <a:ext cx="6327648" cy="130000"/>
          </a:xfrm>
          <a:prstGeom prst="rect">
            <a:avLst/>
          </a:prstGeom>
          <a:noFill/>
          <a:ln/>
        </p:spPr>
        <p:txBody>
          <a:bodyPr wrap="False" lIns="91440" tIns="45720" rIns="91440" bIns="45720" rtlCol="0" anchor="ctr"/>
          <a:lstStyle/>
          <a:p>
            <a:pPr algn="l" marL="0" indent="0">
              <a:buNone/>
            </a:pPr>
            <a:r>
              <a:rPr lang="en-US" sz="600" dirty="0">
                <a:solidFill>
                  <a:srgbClr val="888888"/>
                </a:solidFill>
              </a:rPr>
              <a:t>Source: MT_Chain_Wise__Article_Wise_NPI_for_TY__Central_mapping_for_maharastra.xlsx · Central mapping: 101 Vidarbha stores (Sheet 2) · Chains matched: Wellness Forever, Reliance, Apollo, DMart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13415</Words>
  <Application>Microsoft Office PowerPoint</Application>
  <PresentationFormat>Widescreen</PresentationFormat>
  <Paragraphs>1982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July 2026 Modern Trade Growth Command Centre</dc:title>
  <dc:subject>PptxGenJS Presentation</dc:subject>
  <dc:creator>Modern Trade Analytics</dc:creator>
  <cp:lastModifiedBy>Sheshant  Singh Aswal</cp:lastModifiedBy>
  <cp:revision>1</cp:revision>
  <dcterms:created xsi:type="dcterms:W3CDTF">2026-08-18T05:36:31Z</dcterms:created>
  <dcterms:modified xsi:type="dcterms:W3CDTF">2026-08-20T09:37:30Z</dcterms:modified>
</cp:coreProperties>
</file>