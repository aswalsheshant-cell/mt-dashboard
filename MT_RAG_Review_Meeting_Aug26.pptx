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400" b="1">
                <a:solidFill>
                  <a:srgbClr val="FFFFFF"/>
                </a:solidFill>
              </a:defRPr>
            </a:pPr>
            <a:r>
              <a:t>Modern Trade Executive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92608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C87800"/>
                </a:solidFill>
              </a:defRPr>
            </a:pPr>
            <a:r>
              <a:t>August 2026 RAG Review Meeting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August 2026 | 04 September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1B2A"/>
          </a:solidFill>
          <a:ln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Executive Summary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2743200" cy="3200400"/>
          </a:xfrm>
          <a:prstGeom prst="rect">
            <a:avLst/>
          </a:prstGeom>
          <a:solidFill>
            <a:srgbClr val="288C28"/>
          </a:solidFill>
          <a:ln>
            <a:solidFill>
              <a:srgbClr val="288C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PRIMARY SALES</a:t>
            </a:r>
            <a:br/>
            <a:r>
              <a:t>₹36.58 Cr</a:t>
            </a:r>
            <a:br/>
            <a:r>
              <a:t>+3.2% MoM</a:t>
            </a:r>
          </a:p>
        </p:txBody>
      </p:sp>
      <p:sp>
        <p:nvSpPr>
          <p:cNvPr id="4" name="Rectangle 3"/>
          <p:cNvSpPr/>
          <p:nvPr/>
        </p:nvSpPr>
        <p:spPr>
          <a:xfrm>
            <a:off x="3383280" y="1097280"/>
            <a:ext cx="2743200" cy="3200400"/>
          </a:xfrm>
          <a:prstGeom prst="rect">
            <a:avLst/>
          </a:prstGeom>
          <a:solidFill>
            <a:srgbClr val="288C28"/>
          </a:solidFill>
          <a:ln>
            <a:solidFill>
              <a:srgbClr val="288C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OFFTAKE SALES</a:t>
            </a:r>
            <a:br/>
            <a:r>
              <a:t>₹35.41 Cr</a:t>
            </a:r>
            <a:br/>
            <a:r>
              <a:t>+3.2% MoM</a:t>
            </a:r>
          </a:p>
        </p:txBody>
      </p:sp>
      <p:sp>
        <p:nvSpPr>
          <p:cNvPr id="5" name="Rectangle 4"/>
          <p:cNvSpPr/>
          <p:nvPr/>
        </p:nvSpPr>
        <p:spPr>
          <a:xfrm>
            <a:off x="6309360" y="1097280"/>
            <a:ext cx="2743200" cy="3200400"/>
          </a:xfrm>
          <a:prstGeom prst="rect">
            <a:avLst/>
          </a:prstGeom>
          <a:solidFill>
            <a:srgbClr val="C87800"/>
          </a:solidFill>
          <a:ln>
            <a:solidFill>
              <a:srgbClr val="C87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ALIGNMENT GAP</a:t>
            </a:r>
            <a:br/>
            <a:r>
              <a:t>3.2%</a:t>
            </a:r>
            <a:br/>
            <a:r>
              <a:t>🟡 AMBER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1B2A"/>
          </a:solidFill>
          <a:ln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Zone Performance Breakdown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0D1B2A"/>
                </a:solidFill>
              </a:defRPr>
            </a:pPr>
            <a:r>
              <a:t>🥇 West Zone — ₹10.16 Cr (28% of national) | 3.2% Gap | 🟡 AMBER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0D1B2A"/>
                </a:solidFill>
              </a:defRPr>
            </a:pPr>
            <a:r>
              <a:t>🥈 South-1 Zone — ₹8.72 Cr (24% of national) | 3.2% Gap | 🟡 AMBER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0D1B2A"/>
                </a:solidFill>
              </a:defRPr>
            </a:pPr>
            <a:r>
              <a:t>🥉 North Zone — ₹6.12 Cr (17% of national) | 3.2% Gap | 🟡 AMBER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0D1B2A"/>
                </a:solidFill>
              </a:defRPr>
            </a:pPr>
            <a:r>
              <a:t>South-2 Zone — ₹4.97 Cr (14% of national) | 3.2% Gap | 🟡 AMBER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0D1B2A"/>
                </a:solidFill>
              </a:defRPr>
            </a:pPr>
            <a:r>
              <a:t>East Zone — ₹4.15 Cr (11% of national) | 3.2% Gap | 🟡 AMBER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0D1B2A"/>
                </a:solidFill>
              </a:defRPr>
            </a:pPr>
            <a:r>
              <a:t>Central Zone — ₹2.46 Cr (7% of national) | 3.2% Gap | 🟡 AMBER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1B2A"/>
          </a:solidFill>
          <a:ln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Top Chain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0D1B2A"/>
                </a:solidFill>
              </a:defRPr>
            </a:pPr>
            <a:r>
              <a:t>🔵 D-Mart — ₹11.16 Cr (30% of national) | Strongest performer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0D1B2A"/>
                </a:solidFill>
              </a:defRPr>
            </a:pPr>
            <a:r>
              <a:t>🔵 Apollo Healthco — ₹6.42 Cr (18% of national) | Growing momentum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0D1B2A"/>
                </a:solidFill>
              </a:defRPr>
            </a:pPr>
            <a:r>
              <a:t>🔵 Reliance Retail Limited — ₹5.26 Cr (14% of national) | Steady growth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0D1B2A"/>
                </a:solidFill>
              </a:defRPr>
            </a:pPr>
            <a:r>
              <a:t>🔵 Kiran Trading Company — ₹2.26 Cr | Emerging opportunity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0D1B2A"/>
                </a:solidFill>
              </a:defRPr>
            </a:pPr>
            <a:r>
              <a:t>🔵 G.V Enterprises — ₹2.24 Cr | Strategic secondary chain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0D1B2A"/>
                </a:solidFill>
              </a:defRPr>
            </a:pPr>
            <a:r>
              <a:t>Action: Reduce D-Mart concentration; build Apollo &amp; Reliance penetration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1B2A"/>
          </a:solidFill>
          <a:ln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Category Performance &amp; Priorities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0D1B2A"/>
                </a:solidFill>
              </a:defRPr>
            </a:pPr>
            <a:r>
              <a:t>📌 Face Cleanser — ₹18.91 Cr (52% of national) | HERO CATEGORY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0D1B2A"/>
                </a:solidFill>
              </a:defRPr>
            </a:pPr>
            <a:r>
              <a:t>📌 Shampoo — ₹8.63 Cr (24% of national) | Growth opportunity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0D1B2A"/>
                </a:solidFill>
              </a:defRPr>
            </a:pPr>
            <a:r>
              <a:t>📌 Body Lotion — ₹1.99 Cr (5% of national) | Underperforming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0D1B2A"/>
                </a:solidFill>
              </a:defRPr>
            </a:pPr>
            <a:r>
              <a:t>📌 Baby Care — ₹1.76 Cr | Emerging category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0D1B2A"/>
                </a:solidFill>
              </a:defRPr>
            </a:pPr>
            <a:r>
              <a:t>📌 Sun Care — ₹1.44 Cr | Seasonal consideration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0D1B2A"/>
                </a:solidFill>
              </a:defRPr>
            </a:pPr>
            <a:r>
              <a:t>Priority: Launch promotional campaign for Shampoo &amp; Body categories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C87800"/>
          </a:solidFill>
          <a:ln>
            <a:solidFill>
              <a:srgbClr val="C87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🚨 Key Alerts &amp; Issues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400">
                <a:solidFill>
                  <a:srgbClr val="646464"/>
                </a:solidFill>
              </a:defRPr>
            </a:pPr>
            <a:r>
              <a:t>⚠️  3.2% Alignment Gap: Secondary offtake is 3.2% below primary — requires attention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400">
                <a:solidFill>
                  <a:srgbClr val="646464"/>
                </a:solidFill>
              </a:defRPr>
            </a:pPr>
            <a:r>
              <a:t>⚠️  D-Mart Concentration: 30% of sales from single chain — diversification needed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400">
                <a:solidFill>
                  <a:srgbClr val="646464"/>
                </a:solidFill>
              </a:defRPr>
            </a:pPr>
            <a:r>
              <a:t>⚠️  South Zone Underperformance: Combined only 14% of national sales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400">
                <a:solidFill>
                  <a:srgbClr val="646464"/>
                </a:solidFill>
              </a:defRPr>
            </a:pPr>
            <a:r>
              <a:t>⚠️  Category Concentration: Face Cleanser drives 52% of sales — innovation needed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400">
                <a:solidFill>
                  <a:srgbClr val="288C28"/>
                </a:solidFill>
              </a:defRPr>
            </a:pPr>
            <a:r>
              <a:t>✅ Positive: Consistent +3.2% MoM growth across all zones &amp; chains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88C28"/>
          </a:solidFill>
          <a:ln>
            <a:solidFill>
              <a:srgbClr val="288C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Action Items &amp; Owners (WD 4-5)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300">
                <a:solidFill>
                  <a:srgbClr val="0D1B2A"/>
                </a:solidFill>
              </a:defRPr>
            </a:pPr>
            <a:r>
              <a:t>🎯 West Zone Head: Maintain momentum &amp; explore premium segment expansion | Due: WD5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300">
                <a:solidFill>
                  <a:srgbClr val="0D1B2A"/>
                </a:solidFill>
              </a:defRPr>
            </a:pPr>
            <a:r>
              <a:t>🎯 South Zone Heads: Conduct root cause analysis on lower performance | Due: WD5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300">
                <a:solidFill>
                  <a:srgbClr val="0D1B2A"/>
                </a:solidFill>
              </a:defRPr>
            </a:pPr>
            <a:r>
              <a:t>🎯 Category Manager (Face): Launch Hero category promo campaign | Due: WD5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300">
                <a:solidFill>
                  <a:srgbClr val="0D1B2A"/>
                </a:solidFill>
              </a:defRPr>
            </a:pPr>
            <a:r>
              <a:t>🎯 Category Manager (Shampoo): Execute growth campaign targeting Apollo &amp; Reliance | Due: WD5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300">
                <a:solidFill>
                  <a:srgbClr val="0D1B2A"/>
                </a:solidFill>
              </a:defRPr>
            </a:pPr>
            <a:r>
              <a:t>🎯 Sales Operations: Develop D-Mart diversification strategy | Due: WD5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1B2A"/>
          </a:solidFill>
          <a:ln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Next Steps &amp; Closing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0D1B2A"/>
                </a:solidFill>
              </a:defRPr>
            </a:pPr>
            <a:r>
              <a:t>✅ Execution Timeline: All action items due by WD 5 EOD with written confirmation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0D1B2A"/>
                </a:solidFill>
              </a:defRPr>
            </a:pPr>
            <a:r>
              <a:t>✅ Follow-up Review: Zone head accountability check-in scheduled for next week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0D1B2A"/>
                </a:solidFill>
              </a:defRPr>
            </a:pPr>
            <a:r>
              <a:t>✅ September Baseline: Monthly cycle repeats 1st business day of next month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0D1B2A"/>
                </a:solidFill>
              </a:defRPr>
            </a:pPr>
            <a:r>
              <a:t>✅ Success Criteria: Reduce alignment gap to &lt;2.5% by September, D-Mart to &lt;25%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0D1B2A"/>
                </a:solidFill>
              </a:defRPr>
            </a:pPr>
            <a:r>
              <a:t>Questions? Contact: MT Commercial Director | Modern Trade Operations Team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