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0"/>
            <a:ext cx="6309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AUGUST 2026</a:t>
            </a:r>
            <a:br/>
            <a:r>
              <a:t>PRIMARY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0"/>
            <a:ext cx="6309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63946"/>
                </a:solidFill>
              </a:defRPr>
            </a:pPr>
            <a:r>
              <a:t>₹3,872 Cr NSV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0"/>
            <a:ext cx="6309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Modern Trade Growth Command Center</a:t>
            </a:r>
            <a:br/>
            <a:r>
              <a:t>With July 2026 Performance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6309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1B2A"/>
                </a:solidFill>
              </a:defRPr>
            </a:pPr>
            <a:r>
              <a:t>August 2026: Revenue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943600" cy="822960"/>
          </a:xfrm>
          <a:prstGeom prst="rect">
            <a:avLst/>
          </a:prstGeom>
          <a:solidFill>
            <a:srgbClr val="2A9D8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Total NSV: ₹3,872L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5943600" cy="822960"/>
          </a:xfrm>
          <a:prstGeom prst="rect">
            <a:avLst/>
          </a:prstGeom>
          <a:solidFill>
            <a:srgbClr val="E63946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Transactions: 16,488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5943600" cy="822960"/>
          </a:xfrm>
          <a:prstGeom prst="rect">
            <a:avLst/>
          </a:prstGeom>
          <a:solidFill>
            <a:srgbClr val="F4A26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Brands: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59436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1B2A"/>
                </a:solidFill>
              </a:defRPr>
            </a:pPr>
            <a:r>
              <a:t>By Channel:</a:t>
            </a:r>
          </a:p>
          <a:p>
            <a:pPr>
              <a:defRPr sz="1000"/>
            </a:pPr>
            <a:r>
              <a:t>  MT: ₹3,596L (93%)</a:t>
            </a:r>
          </a:p>
          <a:p>
            <a:pPr>
              <a:defRPr sz="1000"/>
            </a:pPr>
            <a:r>
              <a:t>  EB2B: ₹203L (5%)</a:t>
            </a:r>
          </a:p>
          <a:p>
            <a:pPr>
              <a:defRPr sz="1000"/>
            </a:pPr>
            <a:r>
              <a:t>  SIS: ₹73L (2%)</a:t>
            </a:r>
          </a:p>
          <a:p>
            <a:pPr>
              <a:spcBef>
                <a:spcPts val="800"/>
              </a:spcBef>
              <a:defRPr sz="1200" b="1">
                <a:solidFill>
                  <a:srgbClr val="0D1B2A"/>
                </a:solidFill>
              </a:defRPr>
            </a:pPr>
            <a:r>
              <a:t>Top Zones:</a:t>
            </a:r>
          </a:p>
          <a:p>
            <a:pPr>
              <a:defRPr sz="1000"/>
            </a:pPr>
            <a:r>
              <a:t>  West: ₹1,125L (29%)</a:t>
            </a:r>
          </a:p>
          <a:p>
            <a:pPr>
              <a:defRPr sz="1000"/>
            </a:pPr>
            <a:r>
              <a:t>  South-1: ₹915L (24%)</a:t>
            </a:r>
          </a:p>
          <a:p>
            <a:pPr>
              <a:defRPr sz="1000"/>
            </a:pPr>
            <a:r>
              <a:t>  North: ₹654L (17%)</a:t>
            </a:r>
          </a:p>
          <a:p>
            <a:pPr>
              <a:spcBef>
                <a:spcPts val="800"/>
              </a:spcBef>
              <a:defRPr sz="1200" b="1">
                <a:solidFill>
                  <a:srgbClr val="0D1B2A"/>
                </a:solidFill>
              </a:defRPr>
            </a:pPr>
            <a:r>
              <a:t>Top Brands:</a:t>
            </a:r>
          </a:p>
          <a:p>
            <a:pPr>
              <a:defRPr sz="1000"/>
            </a:pPr>
            <a:r>
              <a:t>  Mamaearth: 64%</a:t>
            </a:r>
          </a:p>
          <a:p>
            <a:pPr>
              <a:defRPr sz="1000"/>
            </a:pPr>
            <a:r>
              <a:t>  The Derma Co: 35%</a:t>
            </a:r>
          </a:p>
          <a:p>
            <a:pPr>
              <a:defRPr sz="1000"/>
            </a:pPr>
            <a:r>
              <a:t>  Aqualogica: 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6309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1B2A"/>
                </a:solidFill>
              </a:defRPr>
            </a:pPr>
            <a:r>
              <a:t>Data Integration: Quality Checkpoints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943600" cy="1051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100">
                <a:solidFill>
                  <a:srgbClr val="0D1B2A"/>
                </a:solidFill>
              </a:defRPr>
            </a:pPr>
            <a:r>
              <a:t>✓ Format Transformation: EB2B → Standard CSV (matching FY25/FY26)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>
                <a:solidFill>
                  <a:srgbClr val="0D1B2A"/>
                </a:solidFill>
              </a:defRPr>
            </a:pPr>
            <a:r>
              <a:t>✓ Column Cleanup: Removed redundant MRP Corrected Rate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>
                <a:solidFill>
                  <a:srgbClr val="0D1B2A"/>
                </a:solidFill>
              </a:defRPr>
            </a:pPr>
            <a:r>
              <a:t>✓ Base MRP Confirmed: Col 15 as authoritative source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>
                <a:solidFill>
                  <a:srgbClr val="0D1B2A"/>
                </a:solidFill>
              </a:defRPr>
            </a:pPr>
            <a:r>
              <a:t>✓ Dashboard Integration: 16,488 transactions → data.js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>
                <a:solidFill>
                  <a:srgbClr val="0D1B2A"/>
                </a:solidFill>
              </a:defRPr>
            </a:pPr>
            <a:r>
              <a:t>✓ FY27 Data: All 12 dashboard tabs updated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>
                <a:solidFill>
                  <a:srgbClr val="0D1B2A"/>
                </a:solidFill>
              </a:defRPr>
            </a:pPr>
            <a:r>
              <a:t>✓ Release Gates: 10/10 PASSED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>
                <a:solidFill>
                  <a:srgbClr val="0D1B2A"/>
                </a:solidFill>
              </a:defRPr>
            </a:pPr>
            <a:r>
              <a:t>✓ Validation: Schema, month/FY, reconciliation, business rules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>
                <a:solidFill>
                  <a:srgbClr val="0D1B2A"/>
                </a:solidFill>
              </a:defRPr>
            </a:pPr>
            <a:r>
              <a:t>✓ Ready: Power BI Desktop refresh with FY25/26/27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6" name="">
            <a:extLst>
              <a:ext uri="{FF2B5EF4-FFF2-40B4-BE49-F238E27FC236}">
                <a16:creationId xmlns:a16="http://schemas.microsoft.com/office/drawing/2014/main" id="{2DAE02CE-57D4-4F3A-9C1A-FB6D4AFE4E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9BE82138-0F1A-4F75-AA02-71907B2A1BBF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JULY MODERN TRADE GROWTH COMMAND CENTER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AB6E8D31-83B6-435A-9391-6FF21EFF8B23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Honasa Consumer | Primary, offtake, portfolio and execution | July 2026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A4B9596B-084C-4722-99B0-009BE7AB42EA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526D3E93-B16E-4F07-B6BC-191E0FFC43D0}"/>
              </a:ext>
            </a:extLst>
          </p:cNvPr>
          <p:cNvSpPr>
            <a:spLocks noGrp="1"/>
          </p:cNvSpPr>
          <p:nvPr/>
        </p:nvSpPr>
        <p:spPr>
          <a:xfrm>
            <a:off x="266700" y="1123950"/>
            <a:ext cx="6324600" cy="1162050"/>
          </a:xfrm>
          <a:prstGeom prst="roundRect">
            <a:avLst>
              <a:gd name="adj" fmla="val 655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8D08C73-BC3D-4242-A347-95E3AD62ADBD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5905500" cy="329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16F68"/>
                </a:solidFill>
              </a:defRPr>
            </a:pPr>
            <a:r>
              <a:rPr sz="1650" b="1">
                <a:solidFill>
                  <a:srgbClr val="116F68"/>
                </a:solidFill>
              </a:rPr>
              <a:t>₹40.67 Cr July offtake | 2269K units | 86.5% flow conversion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3E940D65-91B1-42B5-A1A3-2D2B64FF0600}"/>
              </a:ext>
            </a:extLst>
          </p:cNvPr>
          <p:cNvSpPr>
            <a:spLocks noGrp="1"/>
          </p:cNvSpPr>
          <p:nvPr/>
        </p:nvSpPr>
        <p:spPr>
          <a:xfrm>
            <a:off x="419100" y="1581150"/>
            <a:ext cx="59055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75" b="1">
                <a:solidFill>
                  <a:srgbClr val="183B39"/>
                </a:solidFill>
              </a:defRPr>
            </a:pPr>
            <a:r>
              <a:rPr sz="975" b="1">
                <a:solidFill>
                  <a:srgbClr val="183B39"/>
                </a:solidFill>
              </a:rPr>
              <a:t>₹47.02 Cr primary (+98.9% YoY) | 2742K units  •  ₹6.35 Cr gap  •  90.7% concentrated in DMart + Reliance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7DE4EFE5-8D8A-4E2C-94E3-E374875E7C57}"/>
              </a:ext>
            </a:extLst>
          </p:cNvPr>
          <p:cNvSpPr>
            <a:spLocks noGrp="1"/>
          </p:cNvSpPr>
          <p:nvPr/>
        </p:nvSpPr>
        <p:spPr>
          <a:xfrm>
            <a:off x="514350" y="18859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63" b="0">
                <a:solidFill>
                  <a:srgbClr val="5F716E"/>
                </a:solidFill>
              </a:defRPr>
            </a:pPr>
            <a:r>
              <a:rPr sz="863" b="0">
                <a:solidFill>
                  <a:srgbClr val="5F716E"/>
                </a:solidFill>
              </a:rPr>
              <a:t>Leadership mandate: convert concentrated gaps through availability and account discipline—not indiscriminate loading.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EAD3E965-FE9E-49B6-923E-7A7A4E3B323E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FBF0265-4C67-4496-94E6-6E2B58032B05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08224FE-0EC2-45B0-ADA4-6C9AF1A0C2EB}"/>
              </a:ext>
            </a:extLst>
          </p:cNvPr>
          <p:cNvSpPr>
            <a:spLocks noGrp="1"/>
          </p:cNvSpPr>
          <p:nvPr/>
        </p:nvSpPr>
        <p:spPr>
          <a:xfrm>
            <a:off x="3524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SALES FLOW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B392A5A-69AF-4C9F-A7F9-C827AFFAAEC2}"/>
              </a:ext>
            </a:extLst>
          </p:cNvPr>
          <p:cNvSpPr>
            <a:spLocks noGrp="1"/>
          </p:cNvSpPr>
          <p:nvPr/>
        </p:nvSpPr>
        <p:spPr>
          <a:xfrm>
            <a:off x="361950" y="28384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Primary vs offtake</a:t>
            </a:r>
          </a:p>
        </p:txBody>
      </p:sp>
      <p:graphicFrame>
        <p:nvGraphicFramePr>
          <p:cNvPr id="138" name="Chart"/>
          <p:cNvGraphicFramePr/>
          <p:nvPr/>
        </p:nvGraphicFramePr>
        <p:xfrm>
          <a:off x="361950" y="3124200"/>
          <a:ext cx="1790700" cy="1428750"/>
        </p:xfrm>
        <a:graphic>
          <a:graphicData uri="http://schemas.openxmlformats.org/drawingml/2006/chart">
            <c:chart xmlns:c="http://schemas.openxmlformats.org/drawingml/2006/chart" r:id="Ra97f89de9c7347da"/>
          </a:graphicData>
        </a:graphic>
      </p:graphicFrame>
      <p:sp>
        <p:nvSpPr>
          <p:cNvPr id="14" name="">
            <a:extLst>
              <a:ext uri="{FF2B5EF4-FFF2-40B4-BE49-F238E27FC236}">
                <a16:creationId xmlns:a16="http://schemas.microsoft.com/office/drawing/2014/main" id="{1AFE4305-0DE2-4062-A128-F012BE99CFA4}"/>
              </a:ext>
            </a:extLst>
          </p:cNvPr>
          <p:cNvSpPr>
            <a:spLocks noGrp="1"/>
          </p:cNvSpPr>
          <p:nvPr/>
        </p:nvSpPr>
        <p:spPr>
          <a:xfrm>
            <a:off x="381000" y="4591050"/>
            <a:ext cx="1752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63" b="1">
                <a:solidFill>
                  <a:srgbClr val="D6544D"/>
                </a:solidFill>
              </a:defRPr>
            </a:pPr>
            <a:r>
              <a:rPr sz="863" b="1">
                <a:solidFill>
                  <a:srgbClr val="D6544D"/>
                </a:solidFill>
              </a:rPr>
              <a:t>86.5% flow conversion | ₹6.35 Cr gap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4BE234C1-0DAC-4160-B208-97D615E1E54D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DF549A77-2823-49FF-98E1-4FA5B6FBA31E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1876FAF1-C845-49C7-92A1-25C42EC9AAD1}"/>
              </a:ext>
            </a:extLst>
          </p:cNvPr>
          <p:cNvSpPr>
            <a:spLocks noGrp="1"/>
          </p:cNvSpPr>
          <p:nvPr/>
        </p:nvSpPr>
        <p:spPr>
          <a:xfrm>
            <a:off x="25241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MANAGEMENT PRIORITY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A007394D-7F4F-41EA-A29B-4413BAB7E060}"/>
              </a:ext>
            </a:extLst>
          </p:cNvPr>
          <p:cNvSpPr>
            <a:spLocks noGrp="1"/>
          </p:cNvSpPr>
          <p:nvPr/>
        </p:nvSpPr>
        <p:spPr>
          <a:xfrm>
            <a:off x="2552700" y="28670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462DD3C2-1183-4866-A4A0-9A55EC3D8ECA}"/>
              </a:ext>
            </a:extLst>
          </p:cNvPr>
          <p:cNvSpPr>
            <a:spLocks noGrp="1"/>
          </p:cNvSpPr>
          <p:nvPr/>
        </p:nvSpPr>
        <p:spPr>
          <a:xfrm>
            <a:off x="2695575" y="28670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North + East hold 61.3% of the zone gap.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88737CB4-3062-4350-9DA6-6407C349AC22}"/>
              </a:ext>
            </a:extLst>
          </p:cNvPr>
          <p:cNvSpPr>
            <a:spLocks noGrp="1"/>
          </p:cNvSpPr>
          <p:nvPr/>
        </p:nvSpPr>
        <p:spPr>
          <a:xfrm>
            <a:off x="2552700" y="32670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21423D2F-DCDF-4C6E-9B0B-007B244D2223}"/>
              </a:ext>
            </a:extLst>
          </p:cNvPr>
          <p:cNvSpPr>
            <a:spLocks noGrp="1"/>
          </p:cNvSpPr>
          <p:nvPr/>
        </p:nvSpPr>
        <p:spPr>
          <a:xfrm>
            <a:off x="2695575" y="32670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West + South‑1 deliver 42.5% of offtake.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ABDE22E4-68DA-4DBE-BDB4-3719FD8EB8A7}"/>
              </a:ext>
            </a:extLst>
          </p:cNvPr>
          <p:cNvSpPr>
            <a:spLocks noGrp="1"/>
          </p:cNvSpPr>
          <p:nvPr/>
        </p:nvSpPr>
        <p:spPr>
          <a:xfrm>
            <a:off x="2552700" y="36671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073D16F5-D9FA-40B1-9A05-D3267A1FB54E}"/>
              </a:ext>
            </a:extLst>
          </p:cNvPr>
          <p:cNvSpPr>
            <a:spLocks noGrp="1"/>
          </p:cNvSpPr>
          <p:nvPr/>
        </p:nvSpPr>
        <p:spPr>
          <a:xfrm>
            <a:off x="2695575" y="36671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Protect hero-SKU OSA while closing weak chain-zone exceptions.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B3F85997-4E50-43E9-8779-2426FEED6F54}"/>
              </a:ext>
            </a:extLst>
          </p:cNvPr>
          <p:cNvSpPr>
            <a:spLocks noGrp="1"/>
          </p:cNvSpPr>
          <p:nvPr/>
        </p:nvSpPr>
        <p:spPr>
          <a:xfrm>
            <a:off x="2552700" y="40671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C6A31861-304C-4212-B3CD-033CA2A65101}"/>
              </a:ext>
            </a:extLst>
          </p:cNvPr>
          <p:cNvSpPr>
            <a:spLocks noGrp="1"/>
          </p:cNvSpPr>
          <p:nvPr/>
        </p:nvSpPr>
        <p:spPr>
          <a:xfrm>
            <a:off x="2695575" y="40671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Use Apollo and FSN/Nykaa as flow-governance benchmarks.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528FCADC-76E7-4A44-9428-EAC37EBAC7D4}"/>
              </a:ext>
            </a:extLst>
          </p:cNvPr>
          <p:cNvSpPr>
            <a:spLocks noGrp="1"/>
          </p:cNvSpPr>
          <p:nvPr/>
        </p:nvSpPr>
        <p:spPr>
          <a:xfrm>
            <a:off x="2552700" y="44672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63B269A2-D887-40B7-8D16-E985050D2D60}"/>
              </a:ext>
            </a:extLst>
          </p:cNvPr>
          <p:cNvSpPr>
            <a:spLocks noGrp="1"/>
          </p:cNvSpPr>
          <p:nvPr/>
        </p:nvSpPr>
        <p:spPr>
          <a:xfrm>
            <a:off x="2695575" y="44672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Review chain × zone × EAN exceptions weekly.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22AABB17-05A9-45AA-8B6A-63EF1D1F5FA6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376CD8D8-B9FA-4D87-9333-F25F93895E52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86C08914-9C27-4222-8B6A-6DEF1C589A73}"/>
              </a:ext>
            </a:extLst>
          </p:cNvPr>
          <p:cNvSpPr>
            <a:spLocks noGrp="1"/>
          </p:cNvSpPr>
          <p:nvPr/>
        </p:nvSpPr>
        <p:spPr>
          <a:xfrm>
            <a:off x="46958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GAP CONCENTRATION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39B95340-F909-46A0-9622-2115F125DDFC}"/>
              </a:ext>
            </a:extLst>
          </p:cNvPr>
          <p:cNvSpPr>
            <a:spLocks noGrp="1"/>
          </p:cNvSpPr>
          <p:nvPr/>
        </p:nvSpPr>
        <p:spPr>
          <a:xfrm>
            <a:off x="4752975" y="2867025"/>
            <a:ext cx="1695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D6544D"/>
                </a:solidFill>
              </a:defRPr>
            </a:pPr>
            <a:r>
              <a:rPr sz="2250" b="1">
                <a:solidFill>
                  <a:srgbClr val="D6544D"/>
                </a:solidFill>
              </a:rPr>
              <a:t>90.7%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55094BEB-410E-4758-BB6D-F2B1EF8AA861}"/>
              </a:ext>
            </a:extLst>
          </p:cNvPr>
          <p:cNvSpPr>
            <a:spLocks noGrp="1"/>
          </p:cNvSpPr>
          <p:nvPr/>
        </p:nvSpPr>
        <p:spPr>
          <a:xfrm>
            <a:off x="4781550" y="3343275"/>
            <a:ext cx="1638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of national gap sits in DMart + Reliance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09E771E-1BFF-42DD-9372-37C26935E5AC}"/>
              </a:ext>
            </a:extLst>
          </p:cNvPr>
          <p:cNvSpPr>
            <a:spLocks noGrp="1"/>
          </p:cNvSpPr>
          <p:nvPr/>
        </p:nvSpPr>
        <p:spPr>
          <a:xfrm>
            <a:off x="4724400" y="3819525"/>
            <a:ext cx="1752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Gap by account (₹ Cr)</a:t>
            </a:r>
          </a:p>
        </p:txBody>
      </p:sp>
      <p:graphicFrame>
        <p:nvGraphicFramePr>
          <p:cNvPr id="159" name="Chart"/>
          <p:cNvGraphicFramePr/>
          <p:nvPr/>
        </p:nvGraphicFramePr>
        <p:xfrm>
          <a:off x="4724400" y="4105275"/>
          <a:ext cx="1752600" cy="809625"/>
        </p:xfrm>
        <a:graphic>
          <a:graphicData uri="http://schemas.openxmlformats.org/drawingml/2006/chart">
            <c:chart xmlns:c="http://schemas.openxmlformats.org/drawingml/2006/chart" r:id="Ra448820c4fed472f"/>
          </a:graphicData>
        </a:graphic>
      </p:graphicFrame>
      <p:sp>
        <p:nvSpPr>
          <p:cNvPr id="35" name="">
            <a:extLst>
              <a:ext uri="{FF2B5EF4-FFF2-40B4-BE49-F238E27FC236}">
                <a16:creationId xmlns:a16="http://schemas.microsoft.com/office/drawing/2014/main" id="{C29716F0-2F10-4733-A0EF-E242A50C15E2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9A433728-82F6-4277-8D51-357433F735B3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FE6D36BD-B317-4093-9212-0A76ACC3A876}"/>
              </a:ext>
            </a:extLst>
          </p:cNvPr>
          <p:cNvSpPr>
            <a:spLocks noGrp="1"/>
          </p:cNvSpPr>
          <p:nvPr/>
        </p:nvSpPr>
        <p:spPr>
          <a:xfrm>
            <a:off x="3524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GEOGRAPHIC ENGINES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C44D1ECF-D6BE-4D61-9EAE-1A14D836AB72}"/>
              </a:ext>
            </a:extLst>
          </p:cNvPr>
          <p:cNvSpPr>
            <a:spLocks noGrp="1"/>
          </p:cNvSpPr>
          <p:nvPr/>
        </p:nvSpPr>
        <p:spPr>
          <a:xfrm>
            <a:off x="381000" y="56769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0C5B5EE0-96AB-45AD-9E81-EBC060B1FFDD}"/>
              </a:ext>
            </a:extLst>
          </p:cNvPr>
          <p:cNvSpPr>
            <a:spLocks noGrp="1"/>
          </p:cNvSpPr>
          <p:nvPr/>
        </p:nvSpPr>
        <p:spPr>
          <a:xfrm>
            <a:off x="523875" y="567690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West: ₹8.49 Cr at 84.5% conversion.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15FBB5FE-CE74-4E4C-8A4B-086B77F249C8}"/>
              </a:ext>
            </a:extLst>
          </p:cNvPr>
          <p:cNvSpPr>
            <a:spLocks noGrp="1"/>
          </p:cNvSpPr>
          <p:nvPr/>
        </p:nvSpPr>
        <p:spPr>
          <a:xfrm>
            <a:off x="381000" y="60769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0768CA17-FB4F-46F0-81EB-121F06D0779F}"/>
              </a:ext>
            </a:extLst>
          </p:cNvPr>
          <p:cNvSpPr>
            <a:spLocks noGrp="1"/>
          </p:cNvSpPr>
          <p:nvPr/>
        </p:nvSpPr>
        <p:spPr>
          <a:xfrm>
            <a:off x="523875" y="607695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South‑1: ₹8.77 Cr at 89.5%.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B697A001-E5DF-4E74-9087-7695A882C3DF}"/>
              </a:ext>
            </a:extLst>
          </p:cNvPr>
          <p:cNvSpPr>
            <a:spLocks noGrp="1"/>
          </p:cNvSpPr>
          <p:nvPr/>
        </p:nvSpPr>
        <p:spPr>
          <a:xfrm>
            <a:off x="381000" y="64770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183F6582-241B-4E00-B4DD-C35B969AC9AA}"/>
              </a:ext>
            </a:extLst>
          </p:cNvPr>
          <p:cNvSpPr>
            <a:spLocks noGrp="1"/>
          </p:cNvSpPr>
          <p:nvPr/>
        </p:nvSpPr>
        <p:spPr>
          <a:xfrm>
            <a:off x="523875" y="647700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North: ₹3.63 Cr gap; largest recovery pool.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19BDAC29-C2E8-4F86-A09C-370B5C655FD6}"/>
              </a:ext>
            </a:extLst>
          </p:cNvPr>
          <p:cNvSpPr>
            <a:spLocks noGrp="1"/>
          </p:cNvSpPr>
          <p:nvPr/>
        </p:nvSpPr>
        <p:spPr>
          <a:xfrm>
            <a:off x="381000" y="68770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201C8D90-FA6B-461D-A3B4-DC5EBF76D862}"/>
              </a:ext>
            </a:extLst>
          </p:cNvPr>
          <p:cNvSpPr>
            <a:spLocks noGrp="1"/>
          </p:cNvSpPr>
          <p:nvPr/>
        </p:nvSpPr>
        <p:spPr>
          <a:xfrm>
            <a:off x="523875" y="687705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East: 61.9% conversion; weakest flow.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CF58C2C6-78B6-4A02-BD82-B869EAF953A5}"/>
              </a:ext>
            </a:extLst>
          </p:cNvPr>
          <p:cNvSpPr>
            <a:spLocks noGrp="1"/>
          </p:cNvSpPr>
          <p:nvPr/>
        </p:nvSpPr>
        <p:spPr>
          <a:xfrm>
            <a:off x="381000" y="72771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9B104EEC-7A0A-427C-9C1E-121C489B4EBE}"/>
              </a:ext>
            </a:extLst>
          </p:cNvPr>
          <p:cNvSpPr>
            <a:spLocks noGrp="1"/>
          </p:cNvSpPr>
          <p:nvPr/>
        </p:nvSpPr>
        <p:spPr>
          <a:xfrm>
            <a:off x="523875" y="727710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Replicate strong-zone availability cadence selectively.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E5EBA9F6-C7F2-43AC-A5FB-CA2DC4F135B4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CC10C0EC-1A55-419A-BBED-F96EE1BFDC92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8A490CED-C62D-4506-AA64-E541FF6CE246}"/>
              </a:ext>
            </a:extLst>
          </p:cNvPr>
          <p:cNvSpPr>
            <a:spLocks noGrp="1"/>
          </p:cNvSpPr>
          <p:nvPr/>
        </p:nvSpPr>
        <p:spPr>
          <a:xfrm>
            <a:off x="25241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PORTFOLIO ENGINES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02C08D5C-0987-4A78-9F5C-EA2EA3B9D629}"/>
              </a:ext>
            </a:extLst>
          </p:cNvPr>
          <p:cNvSpPr>
            <a:spLocks noGrp="1"/>
          </p:cNvSpPr>
          <p:nvPr/>
        </p:nvSpPr>
        <p:spPr>
          <a:xfrm>
            <a:off x="2533650" y="5667375"/>
            <a:ext cx="1790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2B9A66"/>
                </a:solidFill>
              </a:defRPr>
            </a:pPr>
            <a:r>
              <a:rPr sz="2025" b="1">
                <a:solidFill>
                  <a:srgbClr val="2B9A66"/>
                </a:solidFill>
              </a:rPr>
              <a:t>98.4%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5A690F1F-5D4B-416B-9336-D5D2A508D14B}"/>
              </a:ext>
            </a:extLst>
          </p:cNvPr>
          <p:cNvSpPr>
            <a:spLocks noGrp="1"/>
          </p:cNvSpPr>
          <p:nvPr/>
        </p:nvSpPr>
        <p:spPr>
          <a:xfrm>
            <a:off x="2571750" y="6067425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of offtake from Mamaearth + The Derma Co.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3038CF5F-F912-4CD5-8B13-8617415B4CCE}"/>
              </a:ext>
            </a:extLst>
          </p:cNvPr>
          <p:cNvSpPr>
            <a:spLocks noGrp="1"/>
          </p:cNvSpPr>
          <p:nvPr/>
        </p:nvSpPr>
        <p:spPr>
          <a:xfrm>
            <a:off x="2552700" y="6524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E38F7E1E-AED3-43BE-8093-6E6F303C38B6}"/>
              </a:ext>
            </a:extLst>
          </p:cNvPr>
          <p:cNvSpPr>
            <a:spLocks noGrp="1"/>
          </p:cNvSpPr>
          <p:nvPr/>
        </p:nvSpPr>
        <p:spPr>
          <a:xfrm>
            <a:off x="2695575" y="6524625"/>
            <a:ext cx="16097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Mamaearth ₹24.55 Cr | 86.5% conversion.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9275B581-FA98-4A98-98C8-B501B2B39487}"/>
              </a:ext>
            </a:extLst>
          </p:cNvPr>
          <p:cNvSpPr>
            <a:spLocks noGrp="1"/>
          </p:cNvSpPr>
          <p:nvPr/>
        </p:nvSpPr>
        <p:spPr>
          <a:xfrm>
            <a:off x="2552700" y="6905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04CB1ECF-F521-45C0-808A-464CC30D6605}"/>
              </a:ext>
            </a:extLst>
          </p:cNvPr>
          <p:cNvSpPr>
            <a:spLocks noGrp="1"/>
          </p:cNvSpPr>
          <p:nvPr/>
        </p:nvSpPr>
        <p:spPr>
          <a:xfrm>
            <a:off x="2695575" y="6905625"/>
            <a:ext cx="16097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TDC ₹11.08 Cr | ₹4.16 Cr gap.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21D90E41-4007-4D1C-8149-89BE6884617B}"/>
              </a:ext>
            </a:extLst>
          </p:cNvPr>
          <p:cNvSpPr>
            <a:spLocks noGrp="1"/>
          </p:cNvSpPr>
          <p:nvPr/>
        </p:nvSpPr>
        <p:spPr>
          <a:xfrm>
            <a:off x="2552700" y="7286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FB3A4A4B-F060-4A65-A2D9-7D6F71A42911}"/>
              </a:ext>
            </a:extLst>
          </p:cNvPr>
          <p:cNvSpPr>
            <a:spLocks noGrp="1"/>
          </p:cNvSpPr>
          <p:nvPr/>
        </p:nvSpPr>
        <p:spPr>
          <a:xfrm>
            <a:off x="2695575" y="7286625"/>
            <a:ext cx="16097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Face Cleanser ₹8.53 Cr in July.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5E118900-512F-4BDF-9034-1F5FA5959CB8}"/>
              </a:ext>
            </a:extLst>
          </p:cNvPr>
          <p:cNvSpPr>
            <a:spLocks noGrp="1"/>
          </p:cNvSpPr>
          <p:nvPr/>
        </p:nvSpPr>
        <p:spPr>
          <a:xfrm>
            <a:off x="2552700" y="7667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D867BE9E-0F34-4A4A-8401-7C0C4C1133E7}"/>
              </a:ext>
            </a:extLst>
          </p:cNvPr>
          <p:cNvSpPr>
            <a:spLocks noGrp="1"/>
          </p:cNvSpPr>
          <p:nvPr/>
        </p:nvSpPr>
        <p:spPr>
          <a:xfrm>
            <a:off x="2695575" y="7667625"/>
            <a:ext cx="16097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TDC Face Cleanser ₹7.13 Cr in July.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02FB9347-E04F-4687-8B31-6A3EE1AF0B36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FFDE20FB-1944-4003-A85A-F0C0FD08E42C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85750"/>
          </a:xfrm>
          <a:prstGeom prst="rect">
            <a:avLst/>
          </a:prstGeom>
          <a:solidFill>
            <a:srgbClr val="2E7DA8"/>
          </a:solidFill>
          <a:ln w="0">
            <a:solidFill>
              <a:srgbClr val="2E7DA8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9C2B0A56-FE3A-4C60-8DB1-706D5EF4F4E8}"/>
              </a:ext>
            </a:extLst>
          </p:cNvPr>
          <p:cNvSpPr>
            <a:spLocks noGrp="1"/>
          </p:cNvSpPr>
          <p:nvPr/>
        </p:nvSpPr>
        <p:spPr>
          <a:xfrm>
            <a:off x="46958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ACCOUNT SIGNALS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D7A105CB-2EA6-4885-8A2B-07CF41FA52C1}"/>
              </a:ext>
            </a:extLst>
          </p:cNvPr>
          <p:cNvSpPr>
            <a:spLocks noGrp="1"/>
          </p:cNvSpPr>
          <p:nvPr/>
        </p:nvSpPr>
        <p:spPr>
          <a:xfrm>
            <a:off x="4724400" y="56769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3AC4E041-9410-48B2-A2A2-660E9C26D685}"/>
              </a:ext>
            </a:extLst>
          </p:cNvPr>
          <p:cNvSpPr>
            <a:spLocks noGrp="1"/>
          </p:cNvSpPr>
          <p:nvPr/>
        </p:nvSpPr>
        <p:spPr>
          <a:xfrm>
            <a:off x="4867275" y="567690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DMart ₹13.97 Cr | 76.5% conversion.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EE8590F9-242E-4719-81DF-601C2A5EF5D6}"/>
              </a:ext>
            </a:extLst>
          </p:cNvPr>
          <p:cNvSpPr>
            <a:spLocks noGrp="1"/>
          </p:cNvSpPr>
          <p:nvPr/>
        </p:nvSpPr>
        <p:spPr>
          <a:xfrm>
            <a:off x="4724400" y="60769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3FCDC6FA-F77D-4FAC-8ACD-EC0ABF812A2E}"/>
              </a:ext>
            </a:extLst>
          </p:cNvPr>
          <p:cNvSpPr>
            <a:spLocks noGrp="1"/>
          </p:cNvSpPr>
          <p:nvPr/>
        </p:nvSpPr>
        <p:spPr>
          <a:xfrm>
            <a:off x="4867275" y="607695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Reliance ₹8.06 Cr | 51.4% conversion.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6947170A-1DA0-4F5E-92FB-84564F645C65}"/>
              </a:ext>
            </a:extLst>
          </p:cNvPr>
          <p:cNvSpPr>
            <a:spLocks noGrp="1"/>
          </p:cNvSpPr>
          <p:nvPr/>
        </p:nvSpPr>
        <p:spPr>
          <a:xfrm>
            <a:off x="4724400" y="64770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CD1A2719-8EB3-444F-9D4B-73D5D641AFAF}"/>
              </a:ext>
            </a:extLst>
          </p:cNvPr>
          <p:cNvSpPr>
            <a:spLocks noGrp="1"/>
          </p:cNvSpPr>
          <p:nvPr/>
        </p:nvSpPr>
        <p:spPr>
          <a:xfrm>
            <a:off x="4867275" y="647700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Apollo 99.7% conversion—benchmark cadence.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36897705-0EE7-49F9-9EC1-83F2318AEFB1}"/>
              </a:ext>
            </a:extLst>
          </p:cNvPr>
          <p:cNvSpPr>
            <a:spLocks noGrp="1"/>
          </p:cNvSpPr>
          <p:nvPr/>
        </p:nvSpPr>
        <p:spPr>
          <a:xfrm>
            <a:off x="4724400" y="68770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A08759A1-1E10-4F46-A30D-4AC5FADBB99F}"/>
              </a:ext>
            </a:extLst>
          </p:cNvPr>
          <p:cNvSpPr>
            <a:spLocks noGrp="1"/>
          </p:cNvSpPr>
          <p:nvPr/>
        </p:nvSpPr>
        <p:spPr>
          <a:xfrm>
            <a:off x="4867275" y="687705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FSN/Nykaa ₹2.07 Cr combined.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B9CF71DD-A97D-4D8F-89E4-27936641C4E3}"/>
              </a:ext>
            </a:extLst>
          </p:cNvPr>
          <p:cNvSpPr>
            <a:spLocks noGrp="1"/>
          </p:cNvSpPr>
          <p:nvPr/>
        </p:nvSpPr>
        <p:spPr>
          <a:xfrm>
            <a:off x="4724400" y="72771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9D35437E-B2A6-4BD6-A9CB-F8EF9FAC08EB}"/>
              </a:ext>
            </a:extLst>
          </p:cNvPr>
          <p:cNvSpPr>
            <a:spLocks noGrp="1"/>
          </p:cNvSpPr>
          <p:nvPr/>
        </p:nvSpPr>
        <p:spPr>
          <a:xfrm>
            <a:off x="4867275" y="7277100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Treat &gt;100% account flows as timing/stock signals, not success claims.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1B5B5E42-9EEB-448E-89D5-BEB753A9AAC3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7F5D799D-F54B-4401-9D28-3BACBA31A4D9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60CB4961-25C5-44E8-8877-6CA5D4BEFB65}"/>
              </a:ext>
            </a:extLst>
          </p:cNvPr>
          <p:cNvSpPr>
            <a:spLocks noGrp="1"/>
          </p:cNvSpPr>
          <p:nvPr/>
        </p:nvSpPr>
        <p:spPr>
          <a:xfrm>
            <a:off x="3524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90-DAY COMMERCIAL MOVES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40B0C671-1915-4B3D-BBED-46A7EA4EB730}"/>
              </a:ext>
            </a:extLst>
          </p:cNvPr>
          <p:cNvSpPr>
            <a:spLocks noGrp="1"/>
          </p:cNvSpPr>
          <p:nvPr/>
        </p:nvSpPr>
        <p:spPr>
          <a:xfrm>
            <a:off x="381000" y="84867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5E4246FD-2FEF-41D4-9322-02D7223F8698}"/>
              </a:ext>
            </a:extLst>
          </p:cNvPr>
          <p:cNvSpPr>
            <a:spLocks noGrp="1"/>
          </p:cNvSpPr>
          <p:nvPr/>
        </p:nvSpPr>
        <p:spPr>
          <a:xfrm>
            <a:off x="523875" y="84867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0–30d: validate mappings and publish exception list.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19350E2D-C38E-4BB5-B38F-292161069226}"/>
              </a:ext>
            </a:extLst>
          </p:cNvPr>
          <p:cNvSpPr>
            <a:spLocks noGrp="1"/>
          </p:cNvSpPr>
          <p:nvPr/>
        </p:nvSpPr>
        <p:spPr>
          <a:xfrm>
            <a:off x="381000" y="88868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812BED93-25C4-48C3-B969-0822EBEF1085}"/>
              </a:ext>
            </a:extLst>
          </p:cNvPr>
          <p:cNvSpPr>
            <a:spLocks noGrp="1"/>
          </p:cNvSpPr>
          <p:nvPr/>
        </p:nvSpPr>
        <p:spPr>
          <a:xfrm>
            <a:off x="523875" y="88868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0–30d: fix North/East hero-SKU OSA.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993D7E16-98FB-4FC2-9649-0D72844A3337}"/>
              </a:ext>
            </a:extLst>
          </p:cNvPr>
          <p:cNvSpPr>
            <a:spLocks noGrp="1"/>
          </p:cNvSpPr>
          <p:nvPr/>
        </p:nvSpPr>
        <p:spPr>
          <a:xfrm>
            <a:off x="381000" y="92868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3237C43C-8F63-45F0-8098-CDDBF2B33A33}"/>
              </a:ext>
            </a:extLst>
          </p:cNvPr>
          <p:cNvSpPr>
            <a:spLocks noGrp="1"/>
          </p:cNvSpPr>
          <p:nvPr/>
        </p:nvSpPr>
        <p:spPr>
          <a:xfrm>
            <a:off x="523875" y="92868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31–60d: close DMart South‑2 and Reliance North/East.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1A77D2F6-F205-40EF-AA50-1C83F483794C}"/>
              </a:ext>
            </a:extLst>
          </p:cNvPr>
          <p:cNvSpPr>
            <a:spLocks noGrp="1"/>
          </p:cNvSpPr>
          <p:nvPr/>
        </p:nvSpPr>
        <p:spPr>
          <a:xfrm>
            <a:off x="381000" y="9686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BFFFFDC8-B8F1-472C-8003-D548DF81E5E1}"/>
              </a:ext>
            </a:extLst>
          </p:cNvPr>
          <p:cNvSpPr>
            <a:spLocks noGrp="1"/>
          </p:cNvSpPr>
          <p:nvPr/>
        </p:nvSpPr>
        <p:spPr>
          <a:xfrm>
            <a:off x="523875" y="96869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61–90d: reset loading rules by verified conversion.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D5BAE5DE-0117-450F-A3F7-9C11F300AD6F}"/>
              </a:ext>
            </a:extLst>
          </p:cNvPr>
          <p:cNvSpPr>
            <a:spLocks noGrp="1"/>
          </p:cNvSpPr>
          <p:nvPr/>
        </p:nvSpPr>
        <p:spPr>
          <a:xfrm>
            <a:off x="381000" y="100869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D4278A87-B582-4615-8D0F-586E24FC754E}"/>
              </a:ext>
            </a:extLst>
          </p:cNvPr>
          <p:cNvSpPr>
            <a:spLocks noGrp="1"/>
          </p:cNvSpPr>
          <p:nvPr/>
        </p:nvSpPr>
        <p:spPr>
          <a:xfrm>
            <a:off x="523875" y="100869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Scale only interventions proven through offtake.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B348D4F2-E15B-42B2-BFF1-F01171B92E53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4AC63DC0-DA35-48B1-8344-EA86E2101A92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12DF3B0E-9377-42F0-B294-97D2EB0C974D}"/>
              </a:ext>
            </a:extLst>
          </p:cNvPr>
          <p:cNvSpPr>
            <a:spLocks noGrp="1"/>
          </p:cNvSpPr>
          <p:nvPr/>
        </p:nvSpPr>
        <p:spPr>
          <a:xfrm>
            <a:off x="25241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LEADERSHIP SCOREBOARD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1FA5EE51-9D41-4578-9E76-EE7D662E03CF}"/>
              </a:ext>
            </a:extLst>
          </p:cNvPr>
          <p:cNvSpPr>
            <a:spLocks noGrp="1"/>
          </p:cNvSpPr>
          <p:nvPr/>
        </p:nvSpPr>
        <p:spPr>
          <a:xfrm>
            <a:off x="2552700" y="84867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78A8A96B-AF8C-486C-9448-426A2ACD838E}"/>
              </a:ext>
            </a:extLst>
          </p:cNvPr>
          <p:cNvSpPr>
            <a:spLocks noGrp="1"/>
          </p:cNvSpPr>
          <p:nvPr/>
        </p:nvSpPr>
        <p:spPr>
          <a:xfrm>
            <a:off x="2695575" y="84867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Flow conversion: move toward &gt;90%.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65AF5F51-9725-4BCA-A8F8-B2EAD5E7885B}"/>
              </a:ext>
            </a:extLst>
          </p:cNvPr>
          <p:cNvSpPr>
            <a:spLocks noGrp="1"/>
          </p:cNvSpPr>
          <p:nvPr/>
        </p:nvSpPr>
        <p:spPr>
          <a:xfrm>
            <a:off x="2552700" y="88868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4F1E87E6-3128-47D8-B058-1E4BCE338F62}"/>
              </a:ext>
            </a:extLst>
          </p:cNvPr>
          <p:cNvSpPr>
            <a:spLocks noGrp="1"/>
          </p:cNvSpPr>
          <p:nvPr/>
        </p:nvSpPr>
        <p:spPr>
          <a:xfrm>
            <a:off x="2695575" y="88868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DMart + Reliance gap: close 50% with named owners.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22CB7921-76D2-435A-BB88-B584860B166A}"/>
              </a:ext>
            </a:extLst>
          </p:cNvPr>
          <p:cNvSpPr>
            <a:spLocks noGrp="1"/>
          </p:cNvSpPr>
          <p:nvPr/>
        </p:nvSpPr>
        <p:spPr>
          <a:xfrm>
            <a:off x="2552700" y="92868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8D49B0AF-9F1C-49EC-8938-6A8FC6A45098}"/>
              </a:ext>
            </a:extLst>
          </p:cNvPr>
          <p:cNvSpPr>
            <a:spLocks noGrp="1"/>
          </p:cNvSpPr>
          <p:nvPr/>
        </p:nvSpPr>
        <p:spPr>
          <a:xfrm>
            <a:off x="2695575" y="92868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Hero-SKU OSA: maintain &gt;95% in priority stores.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BC9673D3-7C43-4883-8F95-EA2F496A0D37}"/>
              </a:ext>
            </a:extLst>
          </p:cNvPr>
          <p:cNvSpPr>
            <a:spLocks noGrp="1"/>
          </p:cNvSpPr>
          <p:nvPr/>
        </p:nvSpPr>
        <p:spPr>
          <a:xfrm>
            <a:off x="2552700" y="9686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66DEFAD2-3B52-4D71-80C9-086D922D79A8}"/>
              </a:ext>
            </a:extLst>
          </p:cNvPr>
          <p:cNvSpPr>
            <a:spLocks noGrp="1"/>
          </p:cNvSpPr>
          <p:nvPr/>
        </p:nvSpPr>
        <p:spPr>
          <a:xfrm>
            <a:off x="2695575" y="96869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North and East gaps: decline every week.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8022CF32-B3CA-4C3D-BCC3-B213968CACE5}"/>
              </a:ext>
            </a:extLst>
          </p:cNvPr>
          <p:cNvSpPr>
            <a:spLocks noGrp="1"/>
          </p:cNvSpPr>
          <p:nvPr/>
        </p:nvSpPr>
        <p:spPr>
          <a:xfrm>
            <a:off x="2552700" y="100869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FF37F801-E44F-4F56-95B7-A630076F9990}"/>
              </a:ext>
            </a:extLst>
          </p:cNvPr>
          <p:cNvSpPr>
            <a:spLocks noGrp="1"/>
          </p:cNvSpPr>
          <p:nvPr/>
        </p:nvSpPr>
        <p:spPr>
          <a:xfrm>
            <a:off x="2695575" y="100869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Data exceptions: zero unresolved before review.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F03B86A6-7CC1-4074-A2D9-9210955E41E0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3BF01DDF-E01B-40DC-B3E5-F8411FA14581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04A20532-8066-4A0F-A630-31B885EBF34E}"/>
              </a:ext>
            </a:extLst>
          </p:cNvPr>
          <p:cNvSpPr>
            <a:spLocks noGrp="1"/>
          </p:cNvSpPr>
          <p:nvPr/>
        </p:nvSpPr>
        <p:spPr>
          <a:xfrm>
            <a:off x="46958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DECISION SAFEGUARDS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9CEA58B7-3376-47B3-A3AE-6F83E1D5FA01}"/>
              </a:ext>
            </a:extLst>
          </p:cNvPr>
          <p:cNvSpPr>
            <a:spLocks noGrp="1"/>
          </p:cNvSpPr>
          <p:nvPr/>
        </p:nvSpPr>
        <p:spPr>
          <a:xfrm>
            <a:off x="4724400" y="84867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835AEF7D-72D5-4CF9-B922-07B6EBABE8FE}"/>
              </a:ext>
            </a:extLst>
          </p:cNvPr>
          <p:cNvSpPr>
            <a:spLocks noGrp="1"/>
          </p:cNvSpPr>
          <p:nvPr/>
        </p:nvSpPr>
        <p:spPr>
          <a:xfrm>
            <a:off x="4867275" y="84867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Flow gap is not closing inventory or stock cover.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9B575BFD-8875-4AE2-AB93-AAD22D99BA43}"/>
              </a:ext>
            </a:extLst>
          </p:cNvPr>
          <p:cNvSpPr>
            <a:spLocks noGrp="1"/>
          </p:cNvSpPr>
          <p:nvPr/>
        </p:nvSpPr>
        <p:spPr>
          <a:xfrm>
            <a:off x="4724400" y="88868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827983BA-601C-4939-AAA6-92EE71FF6858}"/>
              </a:ext>
            </a:extLst>
          </p:cNvPr>
          <p:cNvSpPr>
            <a:spLocks noGrp="1"/>
          </p:cNvSpPr>
          <p:nvPr/>
        </p:nvSpPr>
        <p:spPr>
          <a:xfrm>
            <a:off x="4867275" y="88868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East leads NPI mix at 10.2%; protect launch availability.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D35F470C-74EC-4959-9726-C5DAC2E12E27}"/>
              </a:ext>
            </a:extLst>
          </p:cNvPr>
          <p:cNvSpPr>
            <a:spLocks noGrp="1"/>
          </p:cNvSpPr>
          <p:nvPr/>
        </p:nvSpPr>
        <p:spPr>
          <a:xfrm>
            <a:off x="4724400" y="92868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286DC97F-F552-4C01-8EEC-9BAF837B92FB}"/>
              </a:ext>
            </a:extLst>
          </p:cNvPr>
          <p:cNvSpPr>
            <a:spLocks noGrp="1"/>
          </p:cNvSpPr>
          <p:nvPr/>
        </p:nvSpPr>
        <p:spPr>
          <a:xfrm>
            <a:off x="4867275" y="92868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FSN/Nykaa sustains 99.4% flow despite July softness.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45D5D098-4322-4963-91DC-8AE2780B8B3C}"/>
              </a:ext>
            </a:extLst>
          </p:cNvPr>
          <p:cNvSpPr>
            <a:spLocks noGrp="1"/>
          </p:cNvSpPr>
          <p:nvPr/>
        </p:nvSpPr>
        <p:spPr>
          <a:xfrm>
            <a:off x="4724400" y="9686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A4EF80CC-B848-4A98-BA5E-1937D6DFA955}"/>
              </a:ext>
            </a:extLst>
          </p:cNvPr>
          <p:cNvSpPr>
            <a:spLocks noGrp="1"/>
          </p:cNvSpPr>
          <p:nvPr/>
        </p:nvSpPr>
        <p:spPr>
          <a:xfrm>
            <a:off x="4867275" y="968692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No YoY or target claim without matched comparator data.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6FAF5857-FD41-4943-BD9D-C3A1D53D05C3}"/>
              </a:ext>
            </a:extLst>
          </p:cNvPr>
          <p:cNvSpPr>
            <a:spLocks noGrp="1"/>
          </p:cNvSpPr>
          <p:nvPr/>
        </p:nvSpPr>
        <p:spPr>
          <a:xfrm>
            <a:off x="4724400" y="100869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12" name="">
            <a:extLst>
              <a:ext uri="{FF2B5EF4-FFF2-40B4-BE49-F238E27FC236}">
                <a16:creationId xmlns:a16="http://schemas.microsoft.com/office/drawing/2014/main" id="{C2DBAA8E-F68C-4E71-B5E3-4A51D1E6E3E4}"/>
              </a:ext>
            </a:extLst>
          </p:cNvPr>
          <p:cNvSpPr>
            <a:spLocks noGrp="1"/>
          </p:cNvSpPr>
          <p:nvPr/>
        </p:nvSpPr>
        <p:spPr>
          <a:xfrm>
            <a:off x="4867275" y="10086975"/>
            <a:ext cx="16097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FSN and Nykaa SS are combined at article level.</a:t>
            </a:r>
          </a:p>
        </p:txBody>
      </p:sp>
      <p:sp>
        <p:nvSpPr>
          <p:cNvPr id="113" name="">
            <a:extLst>
              <a:ext uri="{FF2B5EF4-FFF2-40B4-BE49-F238E27FC236}">
                <a16:creationId xmlns:a16="http://schemas.microsoft.com/office/drawing/2014/main" id="{EBE4D2E3-2872-4C72-8A47-518EFDDC24C1}"/>
              </a:ext>
            </a:extLst>
          </p:cNvPr>
          <p:cNvSpPr>
            <a:spLocks noGrp="1"/>
          </p:cNvSpPr>
          <p:nvPr/>
        </p:nvSpPr>
        <p:spPr>
          <a:xfrm>
            <a:off x="266700" y="10858500"/>
            <a:ext cx="6324600" cy="723900"/>
          </a:xfrm>
          <a:prstGeom prst="roundRect">
            <a:avLst>
              <a:gd name="adj" fmla="val 10526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14" name="">
            <a:extLst>
              <a:ext uri="{FF2B5EF4-FFF2-40B4-BE49-F238E27FC236}">
                <a16:creationId xmlns:a16="http://schemas.microsoft.com/office/drawing/2014/main" id="{CF222217-E1F4-4601-B07C-E6A29E253CA2}"/>
              </a:ext>
            </a:extLst>
          </p:cNvPr>
          <p:cNvSpPr>
            <a:spLocks noGrp="1"/>
          </p:cNvSpPr>
          <p:nvPr/>
        </p:nvSpPr>
        <p:spPr>
          <a:xfrm>
            <a:off x="371475" y="109537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>
                <a:solidFill>
                  <a:srgbClr val="116F68"/>
                </a:solidFill>
              </a:defRPr>
            </a:pPr>
            <a:r>
              <a:rPr sz="750" b="1">
                <a:solidFill>
                  <a:srgbClr val="116F68"/>
                </a:solidFill>
              </a:rPr>
              <a:t>DEMAND</a:t>
            </a:r>
          </a:p>
        </p:txBody>
      </p:sp>
      <p:sp>
        <p:nvSpPr>
          <p:cNvPr id="115" name="">
            <a:extLst>
              <a:ext uri="{FF2B5EF4-FFF2-40B4-BE49-F238E27FC236}">
                <a16:creationId xmlns:a16="http://schemas.microsoft.com/office/drawing/2014/main" id="{528B51BB-A478-469C-8AFE-24CEC77B96A8}"/>
              </a:ext>
            </a:extLst>
          </p:cNvPr>
          <p:cNvSpPr>
            <a:spLocks noGrp="1"/>
          </p:cNvSpPr>
          <p:nvPr/>
        </p:nvSpPr>
        <p:spPr>
          <a:xfrm>
            <a:off x="371475" y="11172825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Protect hero SKUs</a:t>
            </a:r>
          </a:p>
        </p:txBody>
      </p:sp>
      <p:sp>
        <p:nvSpPr>
          <p:cNvPr id="116" name="">
            <a:extLst>
              <a:ext uri="{FF2B5EF4-FFF2-40B4-BE49-F238E27FC236}">
                <a16:creationId xmlns:a16="http://schemas.microsoft.com/office/drawing/2014/main" id="{91BB7695-B806-4DD0-9425-C91DCA589551}"/>
              </a:ext>
            </a:extLst>
          </p:cNvPr>
          <p:cNvSpPr>
            <a:spLocks noGrp="1"/>
          </p:cNvSpPr>
          <p:nvPr/>
        </p:nvSpPr>
        <p:spPr>
          <a:xfrm>
            <a:off x="1885950" y="10972800"/>
            <a:ext cx="0" cy="466725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7" name="">
            <a:extLst>
              <a:ext uri="{FF2B5EF4-FFF2-40B4-BE49-F238E27FC236}">
                <a16:creationId xmlns:a16="http://schemas.microsoft.com/office/drawing/2014/main" id="{C53AD965-531C-43E4-A43A-6AAB3EF29E86}"/>
              </a:ext>
            </a:extLst>
          </p:cNvPr>
          <p:cNvSpPr>
            <a:spLocks noGrp="1"/>
          </p:cNvSpPr>
          <p:nvPr/>
        </p:nvSpPr>
        <p:spPr>
          <a:xfrm>
            <a:off x="1933575" y="109537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>
                <a:solidFill>
                  <a:srgbClr val="116F68"/>
                </a:solidFill>
              </a:defRPr>
            </a:pPr>
            <a:r>
              <a:rPr sz="750" b="1">
                <a:solidFill>
                  <a:srgbClr val="116F68"/>
                </a:solidFill>
              </a:rPr>
              <a:t>DISTRIBUTION</a:t>
            </a:r>
          </a:p>
        </p:txBody>
      </p:sp>
      <p:sp>
        <p:nvSpPr>
          <p:cNvPr id="118" name="">
            <a:extLst>
              <a:ext uri="{FF2B5EF4-FFF2-40B4-BE49-F238E27FC236}">
                <a16:creationId xmlns:a16="http://schemas.microsoft.com/office/drawing/2014/main" id="{634EE2B1-97B7-4C35-933F-7094716BFBE4}"/>
              </a:ext>
            </a:extLst>
          </p:cNvPr>
          <p:cNvSpPr>
            <a:spLocks noGrp="1"/>
          </p:cNvSpPr>
          <p:nvPr/>
        </p:nvSpPr>
        <p:spPr>
          <a:xfrm>
            <a:off x="1933575" y="11172825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Close chain-zone gaps</a:t>
            </a:r>
          </a:p>
        </p:txBody>
      </p:sp>
      <p:sp>
        <p:nvSpPr>
          <p:cNvPr id="119" name="">
            <a:extLst>
              <a:ext uri="{FF2B5EF4-FFF2-40B4-BE49-F238E27FC236}">
                <a16:creationId xmlns:a16="http://schemas.microsoft.com/office/drawing/2014/main" id="{4ABECCB0-2E0A-4481-9CE1-272FDF979453}"/>
              </a:ext>
            </a:extLst>
          </p:cNvPr>
          <p:cNvSpPr>
            <a:spLocks noGrp="1"/>
          </p:cNvSpPr>
          <p:nvPr/>
        </p:nvSpPr>
        <p:spPr>
          <a:xfrm>
            <a:off x="3448050" y="10972800"/>
            <a:ext cx="0" cy="466725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20" name="">
            <a:extLst>
              <a:ext uri="{FF2B5EF4-FFF2-40B4-BE49-F238E27FC236}">
                <a16:creationId xmlns:a16="http://schemas.microsoft.com/office/drawing/2014/main" id="{F6FD627D-7134-4D24-A3D9-70E77E11C09D}"/>
              </a:ext>
            </a:extLst>
          </p:cNvPr>
          <p:cNvSpPr>
            <a:spLocks noGrp="1"/>
          </p:cNvSpPr>
          <p:nvPr/>
        </p:nvSpPr>
        <p:spPr>
          <a:xfrm>
            <a:off x="3495675" y="109537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>
                <a:solidFill>
                  <a:srgbClr val="116F68"/>
                </a:solidFill>
              </a:defRPr>
            </a:pPr>
            <a:r>
              <a:rPr sz="750" b="1">
                <a:solidFill>
                  <a:srgbClr val="116F68"/>
                </a:solidFill>
              </a:rPr>
              <a:t>CONVERSION</a:t>
            </a:r>
          </a:p>
        </p:txBody>
      </p:sp>
      <p:sp>
        <p:nvSpPr>
          <p:cNvPr id="121" name="">
            <a:extLst>
              <a:ext uri="{FF2B5EF4-FFF2-40B4-BE49-F238E27FC236}">
                <a16:creationId xmlns:a16="http://schemas.microsoft.com/office/drawing/2014/main" id="{AD60DA7E-CC1E-45B5-A2AC-579275CA4109}"/>
              </a:ext>
            </a:extLst>
          </p:cNvPr>
          <p:cNvSpPr>
            <a:spLocks noGrp="1"/>
          </p:cNvSpPr>
          <p:nvPr/>
        </p:nvSpPr>
        <p:spPr>
          <a:xfrm>
            <a:off x="3495675" y="11172825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Move toward &gt;90%</a:t>
            </a:r>
          </a:p>
        </p:txBody>
      </p:sp>
      <p:sp>
        <p:nvSpPr>
          <p:cNvPr id="122" name="">
            <a:extLst>
              <a:ext uri="{FF2B5EF4-FFF2-40B4-BE49-F238E27FC236}">
                <a16:creationId xmlns:a16="http://schemas.microsoft.com/office/drawing/2014/main" id="{E982FEA7-7596-4E5F-9E37-3CA259A48887}"/>
              </a:ext>
            </a:extLst>
          </p:cNvPr>
          <p:cNvSpPr>
            <a:spLocks noGrp="1"/>
          </p:cNvSpPr>
          <p:nvPr/>
        </p:nvSpPr>
        <p:spPr>
          <a:xfrm>
            <a:off x="5010150" y="10972800"/>
            <a:ext cx="0" cy="466725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23" name="">
            <a:extLst>
              <a:ext uri="{FF2B5EF4-FFF2-40B4-BE49-F238E27FC236}">
                <a16:creationId xmlns:a16="http://schemas.microsoft.com/office/drawing/2014/main" id="{8BCFE678-A7E8-4F45-A444-9F0B178FA2E0}"/>
              </a:ext>
            </a:extLst>
          </p:cNvPr>
          <p:cNvSpPr>
            <a:spLocks noGrp="1"/>
          </p:cNvSpPr>
          <p:nvPr/>
        </p:nvSpPr>
        <p:spPr>
          <a:xfrm>
            <a:off x="5057775" y="109537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>
                <a:solidFill>
                  <a:srgbClr val="116F68"/>
                </a:solidFill>
              </a:defRPr>
            </a:pPr>
            <a:r>
              <a:rPr sz="750" b="1">
                <a:solidFill>
                  <a:srgbClr val="116F68"/>
                </a:solidFill>
              </a:rPr>
              <a:t>GOVERNANCE</a:t>
            </a:r>
          </a:p>
        </p:txBody>
      </p:sp>
      <p:sp>
        <p:nvSpPr>
          <p:cNvPr id="124" name="">
            <a:extLst>
              <a:ext uri="{FF2B5EF4-FFF2-40B4-BE49-F238E27FC236}">
                <a16:creationId xmlns:a16="http://schemas.microsoft.com/office/drawing/2014/main" id="{B3254425-F670-449F-B4C2-8C828DA2465E}"/>
              </a:ext>
            </a:extLst>
          </p:cNvPr>
          <p:cNvSpPr>
            <a:spLocks noGrp="1"/>
          </p:cNvSpPr>
          <p:nvPr/>
        </p:nvSpPr>
        <p:spPr>
          <a:xfrm>
            <a:off x="5057775" y="11172825"/>
            <a:ext cx="1428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Weekly EAN review</a:t>
            </a:r>
          </a:p>
        </p:txBody>
      </p:sp>
      <p:sp>
        <p:nvSpPr>
          <p:cNvPr id="125" name="">
            <a:extLst>
              <a:ext uri="{FF2B5EF4-FFF2-40B4-BE49-F238E27FC236}">
                <a16:creationId xmlns:a16="http://schemas.microsoft.com/office/drawing/2014/main" id="{FE7F8994-012C-4885-992B-809965A5389E}"/>
              </a:ext>
            </a:extLst>
          </p:cNvPr>
          <p:cNvSpPr>
            <a:spLocks noGrp="1"/>
          </p:cNvSpPr>
          <p:nvPr/>
        </p:nvSpPr>
        <p:spPr>
          <a:xfrm>
            <a:off x="304800" y="11753850"/>
            <a:ext cx="624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13" b="0">
                <a:solidFill>
                  <a:srgbClr val="5F716E"/>
                </a:solidFill>
              </a:defRPr>
            </a:pPr>
            <a:r>
              <a:rPr sz="713" b="0">
                <a:solidFill>
                  <a:srgbClr val="5F716E"/>
                </a:solidFill>
              </a:rPr>
              <a:t>Source-backed July management view | Values in ₹ Cr | Gap = primary minus offtake for comparable mapped cuts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3" name="">
            <a:extLst>
              <a:ext uri="{FF2B5EF4-FFF2-40B4-BE49-F238E27FC236}">
                <a16:creationId xmlns:a16="http://schemas.microsoft.com/office/drawing/2014/main" id="{63ED312C-F840-4A08-979B-5EAB77F834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D1C613D6-9C7D-4232-84C4-C8483A42D9E1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Convert reporting into a State × Chain × SKU growth engine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F71D9DD-FD96-4E54-9FCE-4632780F196C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Decision framework | source-backed measures plus clearly labelled diagnostic extensions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2A0E5BF2-2910-4D02-B3F7-A7EFE569E7D2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FD08A1FC-D728-4209-96B2-97D4597376DE}"/>
              </a:ext>
            </a:extLst>
          </p:cNvPr>
          <p:cNvSpPr>
            <a:spLocks noGrp="1"/>
          </p:cNvSpPr>
          <p:nvPr/>
        </p:nvSpPr>
        <p:spPr>
          <a:xfrm>
            <a:off x="266700" y="1123950"/>
            <a:ext cx="6324600" cy="1162050"/>
          </a:xfrm>
          <a:prstGeom prst="roundRect">
            <a:avLst>
              <a:gd name="adj" fmla="val 655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AF7306CC-B3B5-4CA0-A40D-C06915758189}"/>
              </a:ext>
            </a:extLst>
          </p:cNvPr>
          <p:cNvSpPr>
            <a:spLocks noGrp="1"/>
          </p:cNvSpPr>
          <p:nvPr/>
        </p:nvSpPr>
        <p:spPr>
          <a:xfrm>
            <a:off x="457200" y="1276350"/>
            <a:ext cx="594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16F68"/>
                </a:solidFill>
              </a:defRPr>
            </a:pPr>
            <a:r>
              <a:rPr sz="1425" b="1">
                <a:solidFill>
                  <a:srgbClr val="116F68"/>
                </a:solidFill>
              </a:rPr>
              <a:t>The decision is not “push more primary”; it is “find proven demand constrained by execution.”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44A8AC96-5B94-4BB0-A5CD-6BDE34E0B45E}"/>
              </a:ext>
            </a:extLst>
          </p:cNvPr>
          <p:cNvSpPr>
            <a:spLocks noGrp="1"/>
          </p:cNvSpPr>
          <p:nvPr/>
        </p:nvSpPr>
        <p:spPr>
          <a:xfrm>
            <a:off x="552450" y="1724025"/>
            <a:ext cx="575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63" b="0">
                <a:solidFill>
                  <a:srgbClr val="5F716E"/>
                </a:solidFill>
              </a:defRPr>
            </a:pPr>
            <a:r>
              <a:rPr sz="863" b="0">
                <a:solidFill>
                  <a:srgbClr val="5F716E"/>
                </a:solidFill>
              </a:rPr>
              <a:t>Use validated July flow measures now; add SAH, PDO, OOS and stock fields only after reconciliation.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688EEE5E-FFA5-47C3-BFC7-747A8762D5AE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59EB116F-873D-45B7-A1E7-6611B658A325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F95EB9F-5D6E-4BEB-B8C3-32CD8E6F3260}"/>
              </a:ext>
            </a:extLst>
          </p:cNvPr>
          <p:cNvSpPr>
            <a:spLocks noGrp="1"/>
          </p:cNvSpPr>
          <p:nvPr/>
        </p:nvSpPr>
        <p:spPr>
          <a:xfrm>
            <a:off x="3524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GROWTH EQUATION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12295D9-025E-466C-8299-E94DBD1C385A}"/>
              </a:ext>
            </a:extLst>
          </p:cNvPr>
          <p:cNvSpPr>
            <a:spLocks noGrp="1"/>
          </p:cNvSpPr>
          <p:nvPr/>
        </p:nvSpPr>
        <p:spPr>
          <a:xfrm>
            <a:off x="381000" y="285750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6F68"/>
                </a:solidFill>
              </a:defRPr>
            </a:pPr>
            <a:r>
              <a:rPr sz="1350" b="1">
                <a:solidFill>
                  <a:srgbClr val="116F68"/>
                </a:solidFill>
              </a:rPr>
              <a:t>5 levers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E358416-C47E-4098-8585-C0A8C6258FEC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CFF3F3D-8F85-4E7A-9575-FD1804479F49}"/>
              </a:ext>
            </a:extLst>
          </p:cNvPr>
          <p:cNvSpPr>
            <a:spLocks noGrp="1"/>
          </p:cNvSpPr>
          <p:nvPr/>
        </p:nvSpPr>
        <p:spPr>
          <a:xfrm>
            <a:off x="542925" y="33337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Distribution white space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0FBFB8CA-48DA-4430-B2E5-87B141A5D9A6}"/>
              </a:ext>
            </a:extLst>
          </p:cNvPr>
          <p:cNvSpPr>
            <a:spLocks noGrp="1"/>
          </p:cNvSpPr>
          <p:nvPr/>
        </p:nvSpPr>
        <p:spPr>
          <a:xfrm>
            <a:off x="400050" y="3638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2C1DF15-9853-494A-882D-CF4127155400}"/>
              </a:ext>
            </a:extLst>
          </p:cNvPr>
          <p:cNvSpPr>
            <a:spLocks noGrp="1"/>
          </p:cNvSpPr>
          <p:nvPr/>
        </p:nvSpPr>
        <p:spPr>
          <a:xfrm>
            <a:off x="542925" y="36385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Assortment and pack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5D70D53E-2CB8-4776-9ED4-A90AF12D0A18}"/>
              </a:ext>
            </a:extLst>
          </p:cNvPr>
          <p:cNvSpPr>
            <a:spLocks noGrp="1"/>
          </p:cNvSpPr>
          <p:nvPr/>
        </p:nvSpPr>
        <p:spPr>
          <a:xfrm>
            <a:off x="400050" y="39433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7BBD5D0B-AD75-4257-98F7-A407867B66BF}"/>
              </a:ext>
            </a:extLst>
          </p:cNvPr>
          <p:cNvSpPr>
            <a:spLocks noGrp="1"/>
          </p:cNvSpPr>
          <p:nvPr/>
        </p:nvSpPr>
        <p:spPr>
          <a:xfrm>
            <a:off x="542925" y="39433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Availability recovery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D02278C5-9A28-4F01-963D-7572F9305DD1}"/>
              </a:ext>
            </a:extLst>
          </p:cNvPr>
          <p:cNvSpPr>
            <a:spLocks noGrp="1"/>
          </p:cNvSpPr>
          <p:nvPr/>
        </p:nvSpPr>
        <p:spPr>
          <a:xfrm>
            <a:off x="400050" y="42481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4DD854B3-72CE-4493-B910-D830105F1340}"/>
              </a:ext>
            </a:extLst>
          </p:cNvPr>
          <p:cNvSpPr>
            <a:spLocks noGrp="1"/>
          </p:cNvSpPr>
          <p:nvPr/>
        </p:nvSpPr>
        <p:spPr>
          <a:xfrm>
            <a:off x="542925" y="42481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Hero-SKU scaling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38B2F671-3715-4105-9C90-3513F046543F}"/>
              </a:ext>
            </a:extLst>
          </p:cNvPr>
          <p:cNvSpPr>
            <a:spLocks noGrp="1"/>
          </p:cNvSpPr>
          <p:nvPr/>
        </p:nvSpPr>
        <p:spPr>
          <a:xfrm>
            <a:off x="400050" y="45529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6AE11311-AD0A-4FCC-ADC4-3D82CD10DA1D}"/>
              </a:ext>
            </a:extLst>
          </p:cNvPr>
          <p:cNvSpPr>
            <a:spLocks noGrp="1"/>
          </p:cNvSpPr>
          <p:nvPr/>
        </p:nvSpPr>
        <p:spPr>
          <a:xfrm>
            <a:off x="542925" y="45529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Conversion productivity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393BE76-E428-461D-9E20-B33F6B93E7E2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2FB69A15-E3E8-441D-9C82-9DAD77A0055C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860FFDD5-A4EC-40EC-9506-FBFD344FB3B8}"/>
              </a:ext>
            </a:extLst>
          </p:cNvPr>
          <p:cNvSpPr>
            <a:spLocks noGrp="1"/>
          </p:cNvSpPr>
          <p:nvPr/>
        </p:nvSpPr>
        <p:spPr>
          <a:xfrm>
            <a:off x="25241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SAH × SHARE DIAGNOSIS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298F53E-6199-43A8-8D53-B8D9529133FA}"/>
              </a:ext>
            </a:extLst>
          </p:cNvPr>
          <p:cNvSpPr>
            <a:spLocks noGrp="1"/>
          </p:cNvSpPr>
          <p:nvPr/>
        </p:nvSpPr>
        <p:spPr>
          <a:xfrm>
            <a:off x="2552700" y="285750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8A596"/>
                </a:solidFill>
              </a:defRPr>
            </a:pPr>
            <a:r>
              <a:rPr sz="1350" b="1">
                <a:solidFill>
                  <a:srgbClr val="28A596"/>
                </a:solidFill>
              </a:rPr>
              <a:t>Root cause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6817854B-868F-4B6A-8ABE-4A588B76129E}"/>
              </a:ext>
            </a:extLst>
          </p:cNvPr>
          <p:cNvSpPr>
            <a:spLocks noGrp="1"/>
          </p:cNvSpPr>
          <p:nvPr/>
        </p:nvSpPr>
        <p:spPr>
          <a:xfrm>
            <a:off x="2571750" y="33337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A719A74C-16B3-427D-A038-0257B0713E1E}"/>
              </a:ext>
            </a:extLst>
          </p:cNvPr>
          <p:cNvSpPr>
            <a:spLocks noGrp="1"/>
          </p:cNvSpPr>
          <p:nvPr/>
        </p:nvSpPr>
        <p:spPr>
          <a:xfrm>
            <a:off x="2714625" y="33337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High SAH + low share: test distribution constraint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ADCFB88-02C9-4F9C-AB22-033C7A2DCB1C}"/>
              </a:ext>
            </a:extLst>
          </p:cNvPr>
          <p:cNvSpPr>
            <a:spLocks noGrp="1"/>
          </p:cNvSpPr>
          <p:nvPr/>
        </p:nvSpPr>
        <p:spPr>
          <a:xfrm>
            <a:off x="2571750" y="3638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B149C385-6244-4C70-BA53-831E0CDBCEAD}"/>
              </a:ext>
            </a:extLst>
          </p:cNvPr>
          <p:cNvSpPr>
            <a:spLocks noGrp="1"/>
          </p:cNvSpPr>
          <p:nvPr/>
        </p:nvSpPr>
        <p:spPr>
          <a:xfrm>
            <a:off x="2714625" y="36385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Low SAH + high WD: fix proposition/range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EA478EE8-DAE0-4F65-BC4E-49FCA3185680}"/>
              </a:ext>
            </a:extLst>
          </p:cNvPr>
          <p:cNvSpPr>
            <a:spLocks noGrp="1"/>
          </p:cNvSpPr>
          <p:nvPr/>
        </p:nvSpPr>
        <p:spPr>
          <a:xfrm>
            <a:off x="2571750" y="39433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13EEDF61-C910-421A-872D-8AD472933E13}"/>
              </a:ext>
            </a:extLst>
          </p:cNvPr>
          <p:cNvSpPr>
            <a:spLocks noGrp="1"/>
          </p:cNvSpPr>
          <p:nvPr/>
        </p:nvSpPr>
        <p:spPr>
          <a:xfrm>
            <a:off x="2714625" y="39433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Causal conclusions require field reconciliation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247CEE94-87A3-4A2B-9FB0-2D4D5D95D25A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390586E3-BADD-4525-AAF3-ECFB38EC0974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85750"/>
          </a:xfrm>
          <a:prstGeom prst="rect">
            <a:avLst/>
          </a:prstGeom>
          <a:solidFill>
            <a:srgbClr val="2E7DA8"/>
          </a:solidFill>
          <a:ln w="0">
            <a:solidFill>
              <a:srgbClr val="2E7DA8"/>
            </a:solidFill>
            <a:prstDash val="solid"/>
          </a:ln>
        </p:spPr>
        <p:txBody>
          <a:bodyPr/>
          <a:p/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B4BF02BF-A31E-43AF-8E38-15A00036780C}"/>
              </a:ext>
            </a:extLst>
          </p:cNvPr>
          <p:cNvSpPr>
            <a:spLocks noGrp="1"/>
          </p:cNvSpPr>
          <p:nvPr/>
        </p:nvSpPr>
        <p:spPr>
          <a:xfrm>
            <a:off x="46958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DISTRIBUTION PRODUCTIVITY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803480B0-D428-4315-8103-91ABA256704F}"/>
              </a:ext>
            </a:extLst>
          </p:cNvPr>
          <p:cNvSpPr>
            <a:spLocks noGrp="1"/>
          </p:cNvSpPr>
          <p:nvPr/>
        </p:nvSpPr>
        <p:spPr>
          <a:xfrm>
            <a:off x="4724400" y="285750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E7DA8"/>
                </a:solidFill>
              </a:defRPr>
            </a:pPr>
            <a:r>
              <a:rPr sz="1350" b="1">
                <a:solidFill>
                  <a:srgbClr val="2E7DA8"/>
                </a:solidFill>
              </a:rPr>
              <a:t>SPD = MS ÷ WD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133C3B45-5C2D-4984-8B62-F66E9A9A48D9}"/>
              </a:ext>
            </a:extLst>
          </p:cNvPr>
          <p:cNvSpPr>
            <a:spLocks noGrp="1"/>
          </p:cNvSpPr>
          <p:nvPr/>
        </p:nvSpPr>
        <p:spPr>
          <a:xfrm>
            <a:off x="4743450" y="33337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D6320F3D-75E5-4302-A1A8-09D2D4BE0F4C}"/>
              </a:ext>
            </a:extLst>
          </p:cNvPr>
          <p:cNvSpPr>
            <a:spLocks noGrp="1"/>
          </p:cNvSpPr>
          <p:nvPr/>
        </p:nvSpPr>
        <p:spPr>
          <a:xfrm>
            <a:off x="4886325" y="33337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Higher SPD means each distribution point works harder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C3613D73-0260-4E58-9816-A4C6BA65771C}"/>
              </a:ext>
            </a:extLst>
          </p:cNvPr>
          <p:cNvSpPr>
            <a:spLocks noGrp="1"/>
          </p:cNvSpPr>
          <p:nvPr/>
        </p:nvSpPr>
        <p:spPr>
          <a:xfrm>
            <a:off x="4743450" y="3638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FAF1EF1A-CEA1-4D2A-BD3B-88668C626AEF}"/>
              </a:ext>
            </a:extLst>
          </p:cNvPr>
          <p:cNvSpPr>
            <a:spLocks noGrp="1"/>
          </p:cNvSpPr>
          <p:nvPr/>
        </p:nvSpPr>
        <p:spPr>
          <a:xfrm>
            <a:off x="4886325" y="36385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Combine SPD with PDO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F0849BCB-D6BA-4428-89B4-9C8376047DC2}"/>
              </a:ext>
            </a:extLst>
          </p:cNvPr>
          <p:cNvSpPr>
            <a:spLocks noGrp="1"/>
          </p:cNvSpPr>
          <p:nvPr/>
        </p:nvSpPr>
        <p:spPr>
          <a:xfrm>
            <a:off x="4743450" y="39433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76FA183D-D985-4104-BDA7-B1C8B226716E}"/>
              </a:ext>
            </a:extLst>
          </p:cNvPr>
          <p:cNvSpPr>
            <a:spLocks noGrp="1"/>
          </p:cNvSpPr>
          <p:nvPr/>
        </p:nvSpPr>
        <p:spPr>
          <a:xfrm>
            <a:off x="4886325" y="394335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Low WD + high PDO is the priority test cell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AE4EC85A-0A88-4F86-A6AC-C9994871B0EB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49A7910D-12B2-4472-BD1D-5DF03D21AA7E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396E9D70-90B0-45C6-B9D8-E04D1AC56916}"/>
              </a:ext>
            </a:extLst>
          </p:cNvPr>
          <p:cNvSpPr>
            <a:spLocks noGrp="1"/>
          </p:cNvSpPr>
          <p:nvPr/>
        </p:nvSpPr>
        <p:spPr>
          <a:xfrm>
            <a:off x="3524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FACE WASH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0608C8A-6224-45E2-A31B-FF840DA3FB26}"/>
              </a:ext>
            </a:extLst>
          </p:cNvPr>
          <p:cNvSpPr>
            <a:spLocks noGrp="1"/>
          </p:cNvSpPr>
          <p:nvPr/>
        </p:nvSpPr>
        <p:spPr>
          <a:xfrm>
            <a:off x="381000" y="5667375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B9A66"/>
                </a:solidFill>
              </a:defRPr>
            </a:pPr>
            <a:r>
              <a:rPr sz="1350" b="1">
                <a:solidFill>
                  <a:srgbClr val="2B9A66"/>
                </a:solidFill>
              </a:rPr>
              <a:t>Scale strength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28AE381F-1340-49A0-A8A2-E796A0904621}"/>
              </a:ext>
            </a:extLst>
          </p:cNvPr>
          <p:cNvSpPr>
            <a:spLocks noGrp="1"/>
          </p:cNvSpPr>
          <p:nvPr/>
        </p:nvSpPr>
        <p:spPr>
          <a:xfrm>
            <a:off x="400050" y="6143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5D65FD8B-6277-4B7C-998C-E2AC4BF057C5}"/>
              </a:ext>
            </a:extLst>
          </p:cNvPr>
          <p:cNvSpPr>
            <a:spLocks noGrp="1"/>
          </p:cNvSpPr>
          <p:nvPr/>
        </p:nvSpPr>
        <p:spPr>
          <a:xfrm>
            <a:off x="542925" y="61436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Protect Rice and Ubtan heroes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49EFCD76-EBF5-4B85-84A5-051A0D604CB5}"/>
              </a:ext>
            </a:extLst>
          </p:cNvPr>
          <p:cNvSpPr>
            <a:spLocks noGrp="1"/>
          </p:cNvSpPr>
          <p:nvPr/>
        </p:nvSpPr>
        <p:spPr>
          <a:xfrm>
            <a:off x="400050" y="6448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0FBCE863-9005-4CB5-87AF-FD996EDE59E0}"/>
              </a:ext>
            </a:extLst>
          </p:cNvPr>
          <p:cNvSpPr>
            <a:spLocks noGrp="1"/>
          </p:cNvSpPr>
          <p:nvPr/>
        </p:nvSpPr>
        <p:spPr>
          <a:xfrm>
            <a:off x="542925" y="64484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Expand only where demand signals are proven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1F56FE86-B2ED-47AB-ACFB-9B6104A4A640}"/>
              </a:ext>
            </a:extLst>
          </p:cNvPr>
          <p:cNvSpPr>
            <a:spLocks noGrp="1"/>
          </p:cNvSpPr>
          <p:nvPr/>
        </p:nvSpPr>
        <p:spPr>
          <a:xfrm>
            <a:off x="400050" y="67532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66C38DA5-BF3F-4A3C-9106-2A80F9E5CA4C}"/>
              </a:ext>
            </a:extLst>
          </p:cNvPr>
          <p:cNvSpPr>
            <a:spLocks noGrp="1"/>
          </p:cNvSpPr>
          <p:nvPr/>
        </p:nvSpPr>
        <p:spPr>
          <a:xfrm>
            <a:off x="542925" y="67532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Prioritize availability before blanket discounting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AD784DE5-3FE6-4ACD-89FD-150A5CB0E7EF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9A24273A-559B-44EC-A2F9-B711394218F3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63E57D8A-EC9A-4B5D-9BD5-26AC3D334286}"/>
              </a:ext>
            </a:extLst>
          </p:cNvPr>
          <p:cNvSpPr>
            <a:spLocks noGrp="1"/>
          </p:cNvSpPr>
          <p:nvPr/>
        </p:nvSpPr>
        <p:spPr>
          <a:xfrm>
            <a:off x="25241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SHAMPOO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D17B0818-9043-406C-9B06-24726837509D}"/>
              </a:ext>
            </a:extLst>
          </p:cNvPr>
          <p:cNvSpPr>
            <a:spLocks noGrp="1"/>
          </p:cNvSpPr>
          <p:nvPr/>
        </p:nvSpPr>
        <p:spPr>
          <a:xfrm>
            <a:off x="2552700" y="5667375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2B84B"/>
                </a:solidFill>
              </a:defRPr>
            </a:pPr>
            <a:r>
              <a:rPr sz="1350" b="1">
                <a:solidFill>
                  <a:srgbClr val="F2B84B"/>
                </a:solidFill>
              </a:rPr>
              <a:t>Selective headroom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9CC1B9F9-EB8F-429C-8CC7-00EF3E05AB6F}"/>
              </a:ext>
            </a:extLst>
          </p:cNvPr>
          <p:cNvSpPr>
            <a:spLocks noGrp="1"/>
          </p:cNvSpPr>
          <p:nvPr/>
        </p:nvSpPr>
        <p:spPr>
          <a:xfrm>
            <a:off x="2571750" y="6143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609CF2C1-0084-42DD-9F2E-645DF37CD151}"/>
              </a:ext>
            </a:extLst>
          </p:cNvPr>
          <p:cNvSpPr>
            <a:spLocks noGrp="1"/>
          </p:cNvSpPr>
          <p:nvPr/>
        </p:nvSpPr>
        <p:spPr>
          <a:xfrm>
            <a:off x="2714625" y="61436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Scale winning variant × pack × state × chain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6A4A0EE1-56D6-4BEB-8D98-4DAE8DFDA6B8}"/>
              </a:ext>
            </a:extLst>
          </p:cNvPr>
          <p:cNvSpPr>
            <a:spLocks noGrp="1"/>
          </p:cNvSpPr>
          <p:nvPr/>
        </p:nvSpPr>
        <p:spPr>
          <a:xfrm>
            <a:off x="2571750" y="6448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CE8C7479-318E-4F65-919D-8889BCF2B822}"/>
              </a:ext>
            </a:extLst>
          </p:cNvPr>
          <p:cNvSpPr>
            <a:spLocks noGrp="1"/>
          </p:cNvSpPr>
          <p:nvPr/>
        </p:nvSpPr>
        <p:spPr>
          <a:xfrm>
            <a:off x="2714625" y="64484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Lead with Onion and Rosemary heroes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9E9E8729-B74B-457C-B77F-70F41AE2B00E}"/>
              </a:ext>
            </a:extLst>
          </p:cNvPr>
          <p:cNvSpPr>
            <a:spLocks noGrp="1"/>
          </p:cNvSpPr>
          <p:nvPr/>
        </p:nvSpPr>
        <p:spPr>
          <a:xfrm>
            <a:off x="2571750" y="67532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14201F2C-762B-4894-8ADD-EF8994FCA4A3}"/>
              </a:ext>
            </a:extLst>
          </p:cNvPr>
          <p:cNvSpPr>
            <a:spLocks noGrp="1"/>
          </p:cNvSpPr>
          <p:nvPr/>
        </p:nvSpPr>
        <p:spPr>
          <a:xfrm>
            <a:off x="2714625" y="67532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Avoid full-range rollout without productivity proof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92F98DAE-F1C6-4ACB-92E3-948021674CF8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C809D7EE-8A1C-465F-8E94-E1B35F371AEE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49B15949-DC9D-4BB4-B696-3B94D920385C}"/>
              </a:ext>
            </a:extLst>
          </p:cNvPr>
          <p:cNvSpPr>
            <a:spLocks noGrp="1"/>
          </p:cNvSpPr>
          <p:nvPr/>
        </p:nvSpPr>
        <p:spPr>
          <a:xfrm>
            <a:off x="46958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HERO-SKU AVAILABILITY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EFCD7BA4-A7CE-40CB-B496-B9AC86A214D9}"/>
              </a:ext>
            </a:extLst>
          </p:cNvPr>
          <p:cNvSpPr>
            <a:spLocks noGrp="1"/>
          </p:cNvSpPr>
          <p:nvPr/>
        </p:nvSpPr>
        <p:spPr>
          <a:xfrm>
            <a:off x="4724400" y="5667375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D6544D"/>
                </a:solidFill>
              </a:defRPr>
            </a:pPr>
            <a:r>
              <a:rPr sz="1350" b="1">
                <a:solidFill>
                  <a:srgbClr val="D6544D"/>
                </a:solidFill>
              </a:rPr>
              <a:t>Must-stock first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67746EEE-CA3F-45E1-A97E-2183807C6181}"/>
              </a:ext>
            </a:extLst>
          </p:cNvPr>
          <p:cNvSpPr>
            <a:spLocks noGrp="1"/>
          </p:cNvSpPr>
          <p:nvPr/>
        </p:nvSpPr>
        <p:spPr>
          <a:xfrm>
            <a:off x="4743450" y="61436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0A024FCB-DB81-408A-AB36-F814A97F8722}"/>
              </a:ext>
            </a:extLst>
          </p:cNvPr>
          <p:cNvSpPr>
            <a:spLocks noGrp="1"/>
          </p:cNvSpPr>
          <p:nvPr/>
        </p:nvSpPr>
        <p:spPr>
          <a:xfrm>
            <a:off x="4886325" y="61436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Measure hero availability %, not only SKU count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B24EE923-EA6D-467C-9DA0-BF97B009E32B}"/>
              </a:ext>
            </a:extLst>
          </p:cNvPr>
          <p:cNvSpPr>
            <a:spLocks noGrp="1"/>
          </p:cNvSpPr>
          <p:nvPr/>
        </p:nvSpPr>
        <p:spPr>
          <a:xfrm>
            <a:off x="4743450" y="6448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3F757573-13D0-4593-9EE5-7130D2D5CA12}"/>
              </a:ext>
            </a:extLst>
          </p:cNvPr>
          <p:cNvSpPr>
            <a:spLocks noGrp="1"/>
          </p:cNvSpPr>
          <p:nvPr/>
        </p:nvSpPr>
        <p:spPr>
          <a:xfrm>
            <a:off x="4886325" y="64484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Missing #1 hero should fail assortment score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A4C47078-5005-49E0-8BD3-7B1BD9576953}"/>
              </a:ext>
            </a:extLst>
          </p:cNvPr>
          <p:cNvSpPr>
            <a:spLocks noGrp="1"/>
          </p:cNvSpPr>
          <p:nvPr/>
        </p:nvSpPr>
        <p:spPr>
          <a:xfrm>
            <a:off x="4743450" y="67532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CF04E905-CE31-4D48-86E1-19E161CB3560}"/>
              </a:ext>
            </a:extLst>
          </p:cNvPr>
          <p:cNvSpPr>
            <a:spLocks noGrp="1"/>
          </p:cNvSpPr>
          <p:nvPr/>
        </p:nvSpPr>
        <p:spPr>
          <a:xfrm>
            <a:off x="4886325" y="6753225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Long tail follows proven heroes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D4F7914E-A53B-4F69-B50D-0DE3C6B31D5D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1CC97562-183D-4D32-97A0-D732D61CE59B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CC472854-4DB6-4760-909E-782297F1EC3D}"/>
              </a:ext>
            </a:extLst>
          </p:cNvPr>
          <p:cNvSpPr>
            <a:spLocks noGrp="1"/>
          </p:cNvSpPr>
          <p:nvPr/>
        </p:nvSpPr>
        <p:spPr>
          <a:xfrm>
            <a:off x="3524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PACK ARCHITECTURE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21E6B707-A46C-4D51-8388-DB1D858F17BF}"/>
              </a:ext>
            </a:extLst>
          </p:cNvPr>
          <p:cNvSpPr>
            <a:spLocks noGrp="1"/>
          </p:cNvSpPr>
          <p:nvPr/>
        </p:nvSpPr>
        <p:spPr>
          <a:xfrm>
            <a:off x="381000" y="84772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8A596"/>
                </a:solidFill>
              </a:defRPr>
            </a:pPr>
            <a:r>
              <a:rPr sz="1350" b="1">
                <a:solidFill>
                  <a:srgbClr val="28A596"/>
                </a:solidFill>
              </a:rPr>
              <a:t>4 pack roles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967A1F23-3658-414D-AC0E-C3D5AF3E4290}"/>
              </a:ext>
            </a:extLst>
          </p:cNvPr>
          <p:cNvSpPr>
            <a:spLocks noGrp="1"/>
          </p:cNvSpPr>
          <p:nvPr/>
        </p:nvSpPr>
        <p:spPr>
          <a:xfrm>
            <a:off x="400050" y="89535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D822FC49-0A65-4E4A-BC8D-EB5EB7DB534D}"/>
              </a:ext>
            </a:extLst>
          </p:cNvPr>
          <p:cNvSpPr>
            <a:spLocks noGrp="1"/>
          </p:cNvSpPr>
          <p:nvPr/>
        </p:nvSpPr>
        <p:spPr>
          <a:xfrm>
            <a:off x="542925" y="89535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Traffic pack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33F28274-CD8E-4BEF-A0DC-31AE78EBA975}"/>
              </a:ext>
            </a:extLst>
          </p:cNvPr>
          <p:cNvSpPr>
            <a:spLocks noGrp="1"/>
          </p:cNvSpPr>
          <p:nvPr/>
        </p:nvSpPr>
        <p:spPr>
          <a:xfrm>
            <a:off x="400050" y="9258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A6736A48-EBA9-4B19-A504-D4D17BAC8658}"/>
              </a:ext>
            </a:extLst>
          </p:cNvPr>
          <p:cNvSpPr>
            <a:spLocks noGrp="1"/>
          </p:cNvSpPr>
          <p:nvPr/>
        </p:nvSpPr>
        <p:spPr>
          <a:xfrm>
            <a:off x="542925" y="92583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Core-volume pack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27FF0202-B544-4552-8B89-8821396D0CAB}"/>
              </a:ext>
            </a:extLst>
          </p:cNvPr>
          <p:cNvSpPr>
            <a:spLocks noGrp="1"/>
          </p:cNvSpPr>
          <p:nvPr/>
        </p:nvSpPr>
        <p:spPr>
          <a:xfrm>
            <a:off x="400050" y="95631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0541A6D6-B41D-4F1D-81AA-1E80F6206DB9}"/>
              </a:ext>
            </a:extLst>
          </p:cNvPr>
          <p:cNvSpPr>
            <a:spLocks noGrp="1"/>
          </p:cNvSpPr>
          <p:nvPr/>
        </p:nvSpPr>
        <p:spPr>
          <a:xfrm>
            <a:off x="542925" y="95631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Premium/value-upgrade pack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7F980FC0-11A7-4727-A67E-247C24DD9234}"/>
              </a:ext>
            </a:extLst>
          </p:cNvPr>
          <p:cNvSpPr>
            <a:spLocks noGrp="1"/>
          </p:cNvSpPr>
          <p:nvPr/>
        </p:nvSpPr>
        <p:spPr>
          <a:xfrm>
            <a:off x="400050" y="98679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498ACBC5-CA06-4920-80C0-2C051F7AB4A7}"/>
              </a:ext>
            </a:extLst>
          </p:cNvPr>
          <p:cNvSpPr>
            <a:spLocks noGrp="1"/>
          </p:cNvSpPr>
          <p:nvPr/>
        </p:nvSpPr>
        <p:spPr>
          <a:xfrm>
            <a:off x="542925" y="98679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Dead or low-productivity pack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0483D738-F85D-40C9-98F2-B02FD1E794C9}"/>
              </a:ext>
            </a:extLst>
          </p:cNvPr>
          <p:cNvSpPr>
            <a:spLocks noGrp="1"/>
          </p:cNvSpPr>
          <p:nvPr/>
        </p:nvSpPr>
        <p:spPr>
          <a:xfrm>
            <a:off x="400050" y="101727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24412FF0-A948-4A0A-BABA-26207CCFBD69}"/>
              </a:ext>
            </a:extLst>
          </p:cNvPr>
          <p:cNvSpPr>
            <a:spLocks noGrp="1"/>
          </p:cNvSpPr>
          <p:nvPr/>
        </p:nvSpPr>
        <p:spPr>
          <a:xfrm>
            <a:off x="542925" y="101727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Do not give every format every pack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6D8F3428-E231-462D-95FA-D204C6E966F0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710AA54F-FD09-4A16-A26D-A05ED1746C59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85750"/>
          </a:xfrm>
          <a:prstGeom prst="rect">
            <a:avLst/>
          </a:prstGeom>
          <a:solidFill>
            <a:srgbClr val="2E7DA8"/>
          </a:solidFill>
          <a:ln w="0">
            <a:solidFill>
              <a:srgbClr val="2E7DA8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A1DFD689-E02E-4AE3-B4F3-168CF5E36776}"/>
              </a:ext>
            </a:extLst>
          </p:cNvPr>
          <p:cNvSpPr>
            <a:spLocks noGrp="1"/>
          </p:cNvSpPr>
          <p:nvPr/>
        </p:nvSpPr>
        <p:spPr>
          <a:xfrm>
            <a:off x="25241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MARKET × FLOW RULE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BA065314-9305-4886-B74F-145DFBC97A79}"/>
              </a:ext>
            </a:extLst>
          </p:cNvPr>
          <p:cNvSpPr>
            <a:spLocks noGrp="1"/>
          </p:cNvSpPr>
          <p:nvPr/>
        </p:nvSpPr>
        <p:spPr>
          <a:xfrm>
            <a:off x="2552700" y="84772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E7DA8"/>
                </a:solidFill>
              </a:defRPr>
            </a:pPr>
            <a:r>
              <a:rPr sz="1350" b="1">
                <a:solidFill>
                  <a:srgbClr val="2E7DA8"/>
                </a:solidFill>
              </a:rPr>
              <a:t>Scale / Fix / Hold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E18CE450-F899-4A0C-B1BF-A331FEA739B5}"/>
              </a:ext>
            </a:extLst>
          </p:cNvPr>
          <p:cNvSpPr>
            <a:spLocks noGrp="1"/>
          </p:cNvSpPr>
          <p:nvPr/>
        </p:nvSpPr>
        <p:spPr>
          <a:xfrm>
            <a:off x="2571750" y="89535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F0B9536D-B986-4EAA-A3B0-AC6A3B895CA3}"/>
              </a:ext>
            </a:extLst>
          </p:cNvPr>
          <p:cNvSpPr>
            <a:spLocks noGrp="1"/>
          </p:cNvSpPr>
          <p:nvPr/>
        </p:nvSpPr>
        <p:spPr>
          <a:xfrm>
            <a:off x="2714625" y="89535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Share ↑ + offtake ↑: scale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EC570D88-3C01-463B-995C-0532AD932DE2}"/>
              </a:ext>
            </a:extLst>
          </p:cNvPr>
          <p:cNvSpPr>
            <a:spLocks noGrp="1"/>
          </p:cNvSpPr>
          <p:nvPr/>
        </p:nvSpPr>
        <p:spPr>
          <a:xfrm>
            <a:off x="2571750" y="9258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CA9B3DDF-860E-4C51-810F-8ACEA452939B}"/>
              </a:ext>
            </a:extLst>
          </p:cNvPr>
          <p:cNvSpPr>
            <a:spLocks noGrp="1"/>
          </p:cNvSpPr>
          <p:nvPr/>
        </p:nvSpPr>
        <p:spPr>
          <a:xfrm>
            <a:off x="2714625" y="92583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Primary ↑ + offtake weak: stop loading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19668740-D441-40E3-9CFA-2360A33BE963}"/>
              </a:ext>
            </a:extLst>
          </p:cNvPr>
          <p:cNvSpPr>
            <a:spLocks noGrp="1"/>
          </p:cNvSpPr>
          <p:nvPr/>
        </p:nvSpPr>
        <p:spPr>
          <a:xfrm>
            <a:off x="2571750" y="95631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623B656F-25A0-4EC5-9C32-36CCADB50B2A}"/>
              </a:ext>
            </a:extLst>
          </p:cNvPr>
          <p:cNvSpPr>
            <a:spLocks noGrp="1"/>
          </p:cNvSpPr>
          <p:nvPr/>
        </p:nvSpPr>
        <p:spPr>
          <a:xfrm>
            <a:off x="2714625" y="95631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Offtake ↑ + supply weak: replenish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CC317E84-7B93-47DA-904A-6C2C8417CB72}"/>
              </a:ext>
            </a:extLst>
          </p:cNvPr>
          <p:cNvSpPr>
            <a:spLocks noGrp="1"/>
          </p:cNvSpPr>
          <p:nvPr/>
        </p:nvSpPr>
        <p:spPr>
          <a:xfrm>
            <a:off x="2571750" y="98679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BB348B55-41D4-4D59-97F9-F6834C8C3268}"/>
              </a:ext>
            </a:extLst>
          </p:cNvPr>
          <p:cNvSpPr>
            <a:spLocks noGrp="1"/>
          </p:cNvSpPr>
          <p:nvPr/>
        </p:nvSpPr>
        <p:spPr>
          <a:xfrm>
            <a:off x="2714625" y="98679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Share ↓: validate competitor/OOS transfer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7DF3787D-6DB7-4B96-9734-56AA2E8720BF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538E42D4-0EA0-4166-BD60-710F015BD225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0BFA1196-3973-44EB-ADEF-251203666182}"/>
              </a:ext>
            </a:extLst>
          </p:cNvPr>
          <p:cNvSpPr>
            <a:spLocks noGrp="1"/>
          </p:cNvSpPr>
          <p:nvPr/>
        </p:nvSpPr>
        <p:spPr>
          <a:xfrm>
            <a:off x="46958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₹ WHITE-SPACE SIZE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1B8C747F-944E-4E98-B4A0-EABD518ABFD9}"/>
              </a:ext>
            </a:extLst>
          </p:cNvPr>
          <p:cNvSpPr>
            <a:spLocks noGrp="1"/>
          </p:cNvSpPr>
          <p:nvPr/>
        </p:nvSpPr>
        <p:spPr>
          <a:xfrm>
            <a:off x="4724400" y="847725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B9A66"/>
                </a:solidFill>
              </a:defRPr>
            </a:pPr>
            <a:r>
              <a:rPr sz="1350" b="1">
                <a:solidFill>
                  <a:srgbClr val="2B9A66"/>
                </a:solidFill>
              </a:rPr>
              <a:t>Stores × PDO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C7D9ED04-73FC-452B-81F2-A105F5CAEA0C}"/>
              </a:ext>
            </a:extLst>
          </p:cNvPr>
          <p:cNvSpPr>
            <a:spLocks noGrp="1"/>
          </p:cNvSpPr>
          <p:nvPr/>
        </p:nvSpPr>
        <p:spPr>
          <a:xfrm>
            <a:off x="4743450" y="89535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BB6F6F5D-976D-42BA-95EB-2770646D3ED7}"/>
              </a:ext>
            </a:extLst>
          </p:cNvPr>
          <p:cNvSpPr>
            <a:spLocks noGrp="1"/>
          </p:cNvSpPr>
          <p:nvPr/>
        </p:nvSpPr>
        <p:spPr>
          <a:xfrm>
            <a:off x="4886325" y="89535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Potential stores − current productive stores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A2D5FE43-D4E9-43D5-ABF9-5811011EBD30}"/>
              </a:ext>
            </a:extLst>
          </p:cNvPr>
          <p:cNvSpPr>
            <a:spLocks noGrp="1"/>
          </p:cNvSpPr>
          <p:nvPr/>
        </p:nvSpPr>
        <p:spPr>
          <a:xfrm>
            <a:off x="4743450" y="9258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D96389FD-29F7-4DCB-B94E-FED692002CE2}"/>
              </a:ext>
            </a:extLst>
          </p:cNvPr>
          <p:cNvSpPr>
            <a:spLocks noGrp="1"/>
          </p:cNvSpPr>
          <p:nvPr/>
        </p:nvSpPr>
        <p:spPr>
          <a:xfrm>
            <a:off x="4886325" y="92583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Multiply by benchmark monthly PDO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D0D34F5F-825C-4DA3-B2EA-5A0D085220D8}"/>
              </a:ext>
            </a:extLst>
          </p:cNvPr>
          <p:cNvSpPr>
            <a:spLocks noGrp="1"/>
          </p:cNvSpPr>
          <p:nvPr/>
        </p:nvSpPr>
        <p:spPr>
          <a:xfrm>
            <a:off x="4743450" y="95631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91CED247-8ADA-4293-A7A6-4A5709037BFB}"/>
              </a:ext>
            </a:extLst>
          </p:cNvPr>
          <p:cNvSpPr>
            <a:spLocks noGrp="1"/>
          </p:cNvSpPr>
          <p:nvPr/>
        </p:nvSpPr>
        <p:spPr>
          <a:xfrm>
            <a:off x="4886325" y="95631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Annualize only after a controlled pilot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15F00AC3-0C64-4ADE-A793-D3757152E91B}"/>
              </a:ext>
            </a:extLst>
          </p:cNvPr>
          <p:cNvSpPr>
            <a:spLocks noGrp="1"/>
          </p:cNvSpPr>
          <p:nvPr/>
        </p:nvSpPr>
        <p:spPr>
          <a:xfrm>
            <a:off x="4743450" y="98679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4FF1122C-85DF-4F2E-80F5-369F8BD80B44}"/>
              </a:ext>
            </a:extLst>
          </p:cNvPr>
          <p:cNvSpPr>
            <a:spLocks noGrp="1"/>
          </p:cNvSpPr>
          <p:nvPr/>
        </p:nvSpPr>
        <p:spPr>
          <a:xfrm>
            <a:off x="4886325" y="9867900"/>
            <a:ext cx="157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Rank actions by ₹ and named owner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F5203CDB-5EFF-4057-B946-BE1D006B37F1}"/>
              </a:ext>
            </a:extLst>
          </p:cNvPr>
          <p:cNvSpPr>
            <a:spLocks noGrp="1"/>
          </p:cNvSpPr>
          <p:nvPr/>
        </p:nvSpPr>
        <p:spPr>
          <a:xfrm>
            <a:off x="304800" y="11430000"/>
            <a:ext cx="624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13" b="0">
                <a:solidFill>
                  <a:srgbClr val="5F716E"/>
                </a:solidFill>
              </a:defRPr>
            </a:pPr>
            <a:r>
              <a:rPr sz="713" b="0">
                <a:solidFill>
                  <a:srgbClr val="5F716E"/>
                </a:solidFill>
              </a:rPr>
              <a:t>Diagnostic extensions are recommendations, not measured July claims until Nielsen state/chain fields are reconciled.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22E9F5A3-1AEA-4C3E-AF1F-8BDCA455D83D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2" name="">
            <a:extLst>
              <a:ext uri="{FF2B5EF4-FFF2-40B4-BE49-F238E27FC236}">
                <a16:creationId xmlns:a16="http://schemas.microsoft.com/office/drawing/2014/main" id="{3EAD1DBF-7675-4DEA-AEDF-B024AB278A1F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13" name="">
            <a:extLst>
              <a:ext uri="{FF2B5EF4-FFF2-40B4-BE49-F238E27FC236}">
                <a16:creationId xmlns:a16="http://schemas.microsoft.com/office/drawing/2014/main" id="{DE85794F-ABF1-4AA5-BD39-D3EC0415B85C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5 validated growth levers are live; SAH / WD / PDO / OOS fields not yet field-reconciled for July</a:t>
            </a:r>
          </a:p>
        </p:txBody>
      </p:sp>
      <p:sp>
        <p:nvSpPr>
          <p:cNvPr id="114" name="">
            <a:extLst>
              <a:ext uri="{FF2B5EF4-FFF2-40B4-BE49-F238E27FC236}">
                <a16:creationId xmlns:a16="http://schemas.microsoft.com/office/drawing/2014/main" id="{5AAD0876-3C61-484D-BAA8-5130054E4F1E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5" name="">
            <a:extLst>
              <a:ext uri="{FF2B5EF4-FFF2-40B4-BE49-F238E27FC236}">
                <a16:creationId xmlns:a16="http://schemas.microsoft.com/office/drawing/2014/main" id="{CE2E7D6E-C3D7-4310-B118-6519CF3D102E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16" name="">
            <a:extLst>
              <a:ext uri="{FF2B5EF4-FFF2-40B4-BE49-F238E27FC236}">
                <a16:creationId xmlns:a16="http://schemas.microsoft.com/office/drawing/2014/main" id="{E6AEA86C-E35A-45AD-AE9D-66A9B71A57C3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Decisions without field reconciliation treat stock-timing noise as demand signal and risk driving wrong actions</a:t>
            </a:r>
          </a:p>
        </p:txBody>
      </p:sp>
      <p:sp>
        <p:nvSpPr>
          <p:cNvPr id="117" name="">
            <a:extLst>
              <a:ext uri="{FF2B5EF4-FFF2-40B4-BE49-F238E27FC236}">
                <a16:creationId xmlns:a16="http://schemas.microsoft.com/office/drawing/2014/main" id="{1E4C1058-A4B2-4217-BB33-6A51B436A8B1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8" name="">
            <a:extLst>
              <a:ext uri="{FF2B5EF4-FFF2-40B4-BE49-F238E27FC236}">
                <a16:creationId xmlns:a16="http://schemas.microsoft.com/office/drawing/2014/main" id="{02195F9A-13E0-48E7-9BD4-7828853345A6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19" name="">
            <a:extLst>
              <a:ext uri="{FF2B5EF4-FFF2-40B4-BE49-F238E27FC236}">
                <a16:creationId xmlns:a16="http://schemas.microsoft.com/office/drawing/2014/main" id="{03B06F78-12B6-420B-8684-13FF74D26040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Reconcile SAH, WD and OOS for August cycle; add PDO by state-chain; publish validated diagnostic by 31-Aug</a:t>
            </a:r>
          </a:p>
        </p:txBody>
      </p:sp>
      <p:sp>
        <p:nvSpPr>
          <p:cNvPr id="120" name="">
            <a:extLst>
              <a:ext uri="{FF2B5EF4-FFF2-40B4-BE49-F238E27FC236}">
                <a16:creationId xmlns:a16="http://schemas.microsoft.com/office/drawing/2014/main" id="{7D316A50-4199-4ADF-9222-EF0A2BF6D593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1" name="">
            <a:extLst>
              <a:ext uri="{FF2B5EF4-FFF2-40B4-BE49-F238E27FC236}">
                <a16:creationId xmlns:a16="http://schemas.microsoft.com/office/drawing/2014/main" id="{3EBBAFEB-EB37-490F-9E75-E40B75CBA095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22" name="">
            <a:extLst>
              <a:ext uri="{FF2B5EF4-FFF2-40B4-BE49-F238E27FC236}">
                <a16:creationId xmlns:a16="http://schemas.microsoft.com/office/drawing/2014/main" id="{7D6F9A75-87B7-44A8-BC0E-668462F21DBA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Analytics | 31-Aug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" name="">
            <a:extLst>
              <a:ext uri="{FF2B5EF4-FFF2-40B4-BE49-F238E27FC236}">
                <a16:creationId xmlns:a16="http://schemas.microsoft.com/office/drawing/2014/main" id="{97C94B25-BF1A-4B45-A120-BF122207A9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D50AA9-1E3C-440C-BB8D-2EF50CF2E752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Mamaearth is gaining share in both strategic categories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9ACF95E5-B17B-4711-BCD2-914EEDA5C45C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June 2026 market share | Nielsen RMS | value share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E046E57-C0A6-44F4-8EB7-38B4B105FE80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5F4A42A-C8B3-4F4A-9EB5-755F1F3A778D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A066155C-B5BC-4498-A5C1-937C37E33845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84503E66-217E-46DE-9F7C-E1C41DBC213E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FACE WASH SHARE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D0FEE50B-3A36-4118-A92E-F8642D547A28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10.5%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8AE86EC4-33E8-46BC-A3FB-C3930B8D5C81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#4 | +3.1 pp YoY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652F3761-56A7-4F57-808D-33778C1D23B9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7FBF2035-2DF8-41A0-A074-08EF9E7F757B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F79CC29A-BA11-42AD-8083-7ADCB7DE3AF7}"/>
              </a:ext>
            </a:extLst>
          </p:cNvPr>
          <p:cNvSpPr>
            <a:spLocks noGrp="1"/>
          </p:cNvSpPr>
          <p:nvPr/>
        </p:nvSpPr>
        <p:spPr>
          <a:xfrm>
            <a:off x="2638425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SHAMPOO SHARE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15FC5C88-0AD8-4886-BDE4-E1B6A02C0C90}"/>
              </a:ext>
            </a:extLst>
          </p:cNvPr>
          <p:cNvSpPr>
            <a:spLocks noGrp="1"/>
          </p:cNvSpPr>
          <p:nvPr/>
        </p:nvSpPr>
        <p:spPr>
          <a:xfrm>
            <a:off x="2638425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3.7%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94DABFB-022F-4FC7-A363-B241230F3E28}"/>
              </a:ext>
            </a:extLst>
          </p:cNvPr>
          <p:cNvSpPr>
            <a:spLocks noGrp="1"/>
          </p:cNvSpPr>
          <p:nvPr/>
        </p:nvSpPr>
        <p:spPr>
          <a:xfrm>
            <a:off x="2638425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+1.2 pp YoY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BA74E9D4-A0E0-45B9-B17E-620E6012FE11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CC5BB32-BE08-4A10-A1F4-3B45738190B3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76200" cy="10668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3A7C2B85-5D1C-477C-82DE-FE9DDA4F8610}"/>
              </a:ext>
            </a:extLst>
          </p:cNvPr>
          <p:cNvSpPr>
            <a:spLocks noGrp="1"/>
          </p:cNvSpPr>
          <p:nvPr/>
        </p:nvSpPr>
        <p:spPr>
          <a:xfrm>
            <a:off x="474345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TDC FACE WASH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EB200FE-031F-4526-80A7-1613030144AB}"/>
              </a:ext>
            </a:extLst>
          </p:cNvPr>
          <p:cNvSpPr>
            <a:spLocks noGrp="1"/>
          </p:cNvSpPr>
          <p:nvPr/>
        </p:nvSpPr>
        <p:spPr>
          <a:xfrm>
            <a:off x="474345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2B84B"/>
                </a:solidFill>
              </a:defRPr>
            </a:pPr>
            <a:r>
              <a:rPr sz="1875" b="1">
                <a:solidFill>
                  <a:srgbClr val="F2B84B"/>
                </a:solidFill>
              </a:rPr>
              <a:t>0.4%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1420199-F5FE-4F30-9D4F-9ABEC74A219A}"/>
              </a:ext>
            </a:extLst>
          </p:cNvPr>
          <p:cNvSpPr>
            <a:spLocks noGrp="1"/>
          </p:cNvSpPr>
          <p:nvPr/>
        </p:nvSpPr>
        <p:spPr>
          <a:xfrm>
            <a:off x="474345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+0.3 pp YoY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7E0CCCD2-228F-4054-84F3-770BDA754616}"/>
              </a:ext>
            </a:extLst>
          </p:cNvPr>
          <p:cNvSpPr>
            <a:spLocks noGrp="1"/>
          </p:cNvSpPr>
          <p:nvPr/>
        </p:nvSpPr>
        <p:spPr>
          <a:xfrm>
            <a:off x="361950" y="285750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Face Wash value share (%)</a:t>
            </a:r>
          </a:p>
        </p:txBody>
      </p:sp>
      <p:graphicFrame>
        <p:nvGraphicFramePr>
          <p:cNvPr id="76" name="Chart"/>
          <p:cNvGraphicFramePr/>
          <p:nvPr/>
        </p:nvGraphicFramePr>
        <p:xfrm>
          <a:off x="361950" y="3143250"/>
          <a:ext cx="2895600" cy="2571750"/>
        </p:xfrm>
        <a:graphic>
          <a:graphicData uri="http://schemas.openxmlformats.org/drawingml/2006/chart">
            <c:chart xmlns:c="http://schemas.openxmlformats.org/drawingml/2006/chart" r:id="R96fa285f352c4a08"/>
          </a:graphicData>
        </a:graphic>
      </p:graphicFrame>
      <p:sp>
        <p:nvSpPr>
          <p:cNvPr id="22" name="">
            <a:extLst>
              <a:ext uri="{FF2B5EF4-FFF2-40B4-BE49-F238E27FC236}">
                <a16:creationId xmlns:a16="http://schemas.microsoft.com/office/drawing/2014/main" id="{DAA02B76-56D1-4028-8B19-D0636AE0CD65}"/>
              </a:ext>
            </a:extLst>
          </p:cNvPr>
          <p:cNvSpPr>
            <a:spLocks noGrp="1"/>
          </p:cNvSpPr>
          <p:nvPr/>
        </p:nvSpPr>
        <p:spPr>
          <a:xfrm>
            <a:off x="3600450" y="2857500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Shampoo value share (%)</a:t>
            </a:r>
          </a:p>
        </p:txBody>
      </p:sp>
      <p:graphicFrame>
        <p:nvGraphicFramePr>
          <p:cNvPr id="78" name="Chart"/>
          <p:cNvGraphicFramePr/>
          <p:nvPr/>
        </p:nvGraphicFramePr>
        <p:xfrm>
          <a:off x="3600450" y="3143250"/>
          <a:ext cx="2895600" cy="2571750"/>
        </p:xfrm>
        <a:graphic>
          <a:graphicData uri="http://schemas.openxmlformats.org/drawingml/2006/chart">
            <c:chart xmlns:c="http://schemas.openxmlformats.org/drawingml/2006/chart" r:id="R4153b290bfb44727"/>
          </a:graphicData>
        </a:graphic>
      </p:graphicFrame>
      <p:sp>
        <p:nvSpPr>
          <p:cNvPr id="24" name="">
            <a:extLst>
              <a:ext uri="{FF2B5EF4-FFF2-40B4-BE49-F238E27FC236}">
                <a16:creationId xmlns:a16="http://schemas.microsoft.com/office/drawing/2014/main" id="{723213ED-AED7-4885-9143-A1CE4FA5A416}"/>
              </a:ext>
            </a:extLst>
          </p:cNvPr>
          <p:cNvSpPr>
            <a:spLocks noGrp="1"/>
          </p:cNvSpPr>
          <p:nvPr/>
        </p:nvSpPr>
        <p:spPr>
          <a:xfrm>
            <a:off x="361950" y="60483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FD7296C3-4618-40E1-B944-A10A97FF85FB}"/>
              </a:ext>
            </a:extLst>
          </p:cNvPr>
          <p:cNvSpPr>
            <a:spLocks noGrp="1"/>
          </p:cNvSpPr>
          <p:nvPr/>
        </p:nvSpPr>
        <p:spPr>
          <a:xfrm>
            <a:off x="457200" y="60579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GROWTH, DISTRIBUTION AND PACK OPPORTUNITY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E80EF19B-D82F-4A1C-A338-A92445A2676A}"/>
              </a:ext>
            </a:extLst>
          </p:cNvPr>
          <p:cNvSpPr>
            <a:spLocks noGrp="1"/>
          </p:cNvSpPr>
          <p:nvPr/>
        </p:nvSpPr>
        <p:spPr>
          <a:xfrm>
            <a:off x="476250" y="64770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A5B5D57-86E3-4682-B974-B564B806C49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Face Wash: Mamaearth L3M growth is +58.2% YoY, with 89.0% weighted distribution (+6.0 pp).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9BE3218D-74E1-4DC8-AB7B-2B58295C50BC}"/>
              </a:ext>
            </a:extLst>
          </p:cNvPr>
          <p:cNvSpPr>
            <a:spLocks noGrp="1"/>
          </p:cNvSpPr>
          <p:nvPr/>
        </p:nvSpPr>
        <p:spPr>
          <a:xfrm>
            <a:off x="476250" y="69342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F7794876-56F0-404A-9C3D-5ECD9D5E62CD}"/>
              </a:ext>
            </a:extLst>
          </p:cNvPr>
          <p:cNvSpPr>
            <a:spLocks noGrp="1"/>
          </p:cNvSpPr>
          <p:nvPr/>
        </p:nvSpPr>
        <p:spPr>
          <a:xfrm>
            <a:off x="685800" y="69342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Shampoo: Mamaearth L3M growth is +80.3% YoY, with 81.5% weighted distribution (+4.4 pp).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A08C518B-6CF0-465E-8525-E1E3922C2CE4}"/>
              </a:ext>
            </a:extLst>
          </p:cNvPr>
          <p:cNvSpPr>
            <a:spLocks noGrp="1"/>
          </p:cNvSpPr>
          <p:nvPr/>
        </p:nvSpPr>
        <p:spPr>
          <a:xfrm>
            <a:off x="476250" y="73914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05E22E56-3010-4B19-B26F-68ED6D215037}"/>
              </a:ext>
            </a:extLst>
          </p:cNvPr>
          <p:cNvSpPr>
            <a:spLocks noGrp="1"/>
          </p:cNvSpPr>
          <p:nvPr/>
        </p:nvSpPr>
        <p:spPr>
          <a:xfrm>
            <a:off x="685800" y="73914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The Derma Co. Face Wash reaches 27.3% weighted distribution; scale selectively with store productivity proof.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FF07F208-8A7D-48A7-BFC8-C390FCE2CB3F}"/>
              </a:ext>
            </a:extLst>
          </p:cNvPr>
          <p:cNvSpPr>
            <a:spLocks noGrp="1"/>
          </p:cNvSpPr>
          <p:nvPr/>
        </p:nvSpPr>
        <p:spPr>
          <a:xfrm>
            <a:off x="476250" y="78486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A783EAD7-E80A-43B2-8983-129557B720F6}"/>
              </a:ext>
            </a:extLst>
          </p:cNvPr>
          <p:cNvSpPr>
            <a:spLocks noGrp="1"/>
          </p:cNvSpPr>
          <p:nvPr/>
        </p:nvSpPr>
        <p:spPr>
          <a:xfrm>
            <a:off x="685800" y="78486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Face Wash missing packs represent 5% of category value; prioritize 240 ml and 60 ml selectively.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28DF39A7-1A00-4A4E-ACFC-C7E987B97460}"/>
              </a:ext>
            </a:extLst>
          </p:cNvPr>
          <p:cNvSpPr>
            <a:spLocks noGrp="1"/>
          </p:cNvSpPr>
          <p:nvPr/>
        </p:nvSpPr>
        <p:spPr>
          <a:xfrm>
            <a:off x="476250" y="83058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4ABB59B6-617C-476E-95BD-8353C0C44D1D}"/>
              </a:ext>
            </a:extLst>
          </p:cNvPr>
          <p:cNvSpPr>
            <a:spLocks noGrp="1"/>
          </p:cNvSpPr>
          <p:nvPr/>
        </p:nvSpPr>
        <p:spPr>
          <a:xfrm>
            <a:off x="685800" y="8305800"/>
            <a:ext cx="5695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Shampoo misses 12 of 16 formats representing 66% of category value; pilot the largest formats.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19665CD3-5396-4A44-9717-483A4F2B0B3D}"/>
              </a:ext>
            </a:extLst>
          </p:cNvPr>
          <p:cNvSpPr>
            <a:spLocks noGrp="1"/>
          </p:cNvSpPr>
          <p:nvPr/>
        </p:nvSpPr>
        <p:spPr>
          <a:xfrm>
            <a:off x="361950" y="8953500"/>
            <a:ext cx="29527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9B9BB521-F896-420E-BFA5-9818ABD5A648}"/>
              </a:ext>
            </a:extLst>
          </p:cNvPr>
          <p:cNvSpPr>
            <a:spLocks noGrp="1"/>
          </p:cNvSpPr>
          <p:nvPr/>
        </p:nvSpPr>
        <p:spPr>
          <a:xfrm>
            <a:off x="523875" y="90963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FACE WASH PACKS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E7B5A0B3-9B84-4806-96FD-C6059EC52C8D}"/>
              </a:ext>
            </a:extLst>
          </p:cNvPr>
          <p:cNvSpPr>
            <a:spLocks noGrp="1"/>
          </p:cNvSpPr>
          <p:nvPr/>
        </p:nvSpPr>
        <p:spPr>
          <a:xfrm>
            <a:off x="523875" y="941070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83B39"/>
                </a:solidFill>
              </a:defRPr>
            </a:pPr>
            <a:r>
              <a:rPr sz="1125" b="1">
                <a:solidFill>
                  <a:srgbClr val="183B39"/>
                </a:solidFill>
              </a:rPr>
              <a:t>7/16 established | 2 newly entered | 7 missing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B9772C92-AA98-4391-8DBA-118FE1C20779}"/>
              </a:ext>
            </a:extLst>
          </p:cNvPr>
          <p:cNvSpPr>
            <a:spLocks noGrp="1"/>
          </p:cNvSpPr>
          <p:nvPr/>
        </p:nvSpPr>
        <p:spPr>
          <a:xfrm>
            <a:off x="523875" y="9906000"/>
            <a:ext cx="247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Decision: defend core availability; expand only high-value white spaces.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D400FA67-4739-4BEE-92AD-7906847264AF}"/>
              </a:ext>
            </a:extLst>
          </p:cNvPr>
          <p:cNvSpPr>
            <a:spLocks noGrp="1"/>
          </p:cNvSpPr>
          <p:nvPr/>
        </p:nvSpPr>
        <p:spPr>
          <a:xfrm>
            <a:off x="3543300" y="8953500"/>
            <a:ext cx="295275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2EB97F71-D194-40BB-8CA7-1F75ED6280A9}"/>
              </a:ext>
            </a:extLst>
          </p:cNvPr>
          <p:cNvSpPr>
            <a:spLocks noGrp="1"/>
          </p:cNvSpPr>
          <p:nvPr/>
        </p:nvSpPr>
        <p:spPr>
          <a:xfrm>
            <a:off x="3705225" y="90963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D6544D"/>
                </a:solidFill>
              </a:defRPr>
            </a:pPr>
            <a:r>
              <a:rPr sz="975" b="1">
                <a:solidFill>
                  <a:srgbClr val="D6544D"/>
                </a:solidFill>
              </a:rPr>
              <a:t>SHAMPOO PACKS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5B9DF038-05D9-4790-80BA-B92DE90FD9D2}"/>
              </a:ext>
            </a:extLst>
          </p:cNvPr>
          <p:cNvSpPr>
            <a:spLocks noGrp="1"/>
          </p:cNvSpPr>
          <p:nvPr/>
        </p:nvSpPr>
        <p:spPr>
          <a:xfrm>
            <a:off x="3705225" y="9410700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83B39"/>
                </a:solidFill>
              </a:defRPr>
            </a:pPr>
            <a:r>
              <a:rPr sz="1125" b="1">
                <a:solidFill>
                  <a:srgbClr val="183B39"/>
                </a:solidFill>
              </a:rPr>
              <a:t>3/16 established | 1 newly entered | 12 missing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0AC5F6DD-80F6-4597-A96D-268F0E90E6C5}"/>
              </a:ext>
            </a:extLst>
          </p:cNvPr>
          <p:cNvSpPr>
            <a:spLocks noGrp="1"/>
          </p:cNvSpPr>
          <p:nvPr/>
        </p:nvSpPr>
        <p:spPr>
          <a:xfrm>
            <a:off x="3705225" y="9906000"/>
            <a:ext cx="247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Decision: use +80.3% L3M growth to win controlled pack pilots.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D075E500-C304-4081-8302-C126B3753DC3}"/>
              </a:ext>
            </a:extLst>
          </p:cNvPr>
          <p:cNvSpPr>
            <a:spLocks noGrp="1"/>
          </p:cNvSpPr>
          <p:nvPr/>
        </p:nvSpPr>
        <p:spPr>
          <a:xfrm>
            <a:off x="361950" y="10853928"/>
            <a:ext cx="6134100" cy="1261872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DB0FDFE2-AF91-4CEA-B45D-FE8F1F3666F4}"/>
              </a:ext>
            </a:extLst>
          </p:cNvPr>
          <p:cNvSpPr>
            <a:spLocks noGrp="1"/>
          </p:cNvSpPr>
          <p:nvPr/>
        </p:nvSpPr>
        <p:spPr>
          <a:xfrm>
            <a:off x="438150" y="10899648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834025A2-352B-40ED-9971-CD1A764D9CE7}"/>
              </a:ext>
            </a:extLst>
          </p:cNvPr>
          <p:cNvSpPr>
            <a:spLocks noGrp="1"/>
          </p:cNvSpPr>
          <p:nvPr/>
        </p:nvSpPr>
        <p:spPr>
          <a:xfrm>
            <a:off x="438150" y="11073384"/>
            <a:ext cx="142875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ME Face Wash +3.1 pp YoY to 10.5% share (#4 nationally); Shampoo +1.2 pp to 3.7%; June Nielsen RMS confirms demand pull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B46F5A52-0D0E-4314-8960-043D55B60428}"/>
              </a:ext>
            </a:extLst>
          </p:cNvPr>
          <p:cNvSpPr>
            <a:spLocks noGrp="1"/>
          </p:cNvSpPr>
          <p:nvPr/>
        </p:nvSpPr>
        <p:spPr>
          <a:xfrm>
            <a:off x="1924050" y="11073384"/>
            <a:ext cx="0" cy="9601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7D77EB1B-AECA-48F1-911F-6C6A77E60E9D}"/>
              </a:ext>
            </a:extLst>
          </p:cNvPr>
          <p:cNvSpPr>
            <a:spLocks noGrp="1"/>
          </p:cNvSpPr>
          <p:nvPr/>
        </p:nvSpPr>
        <p:spPr>
          <a:xfrm>
            <a:off x="1952625" y="10899648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94553349-9552-4F44-806E-B302CB5B9B86}"/>
              </a:ext>
            </a:extLst>
          </p:cNvPr>
          <p:cNvSpPr>
            <a:spLocks noGrp="1"/>
          </p:cNvSpPr>
          <p:nvPr/>
        </p:nvSpPr>
        <p:spPr>
          <a:xfrm>
            <a:off x="1952625" y="11073384"/>
            <a:ext cx="142875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Shampoo at +80.3% L3M is the fastest-growing segment — delay in expanding controlled pack pilots cedes early-mover advantage to competitors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2476A872-7DDC-4321-BD47-D5E501FE1462}"/>
              </a:ext>
            </a:extLst>
          </p:cNvPr>
          <p:cNvSpPr>
            <a:spLocks noGrp="1"/>
          </p:cNvSpPr>
          <p:nvPr/>
        </p:nvSpPr>
        <p:spPr>
          <a:xfrm>
            <a:off x="3438525" y="11073384"/>
            <a:ext cx="0" cy="9601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071B755B-1578-426E-9D4C-73B42ACCE215}"/>
              </a:ext>
            </a:extLst>
          </p:cNvPr>
          <p:cNvSpPr>
            <a:spLocks noGrp="1"/>
          </p:cNvSpPr>
          <p:nvPr/>
        </p:nvSpPr>
        <p:spPr>
          <a:xfrm>
            <a:off x="3467100" y="10899648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67077F0D-AF55-4CA1-B317-BD691CD971EB}"/>
              </a:ext>
            </a:extLst>
          </p:cNvPr>
          <p:cNvSpPr>
            <a:spLocks noGrp="1"/>
          </p:cNvSpPr>
          <p:nvPr/>
        </p:nvSpPr>
        <p:spPr>
          <a:xfrm>
            <a:off x="3467100" y="11073384"/>
            <a:ext cx="142875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Run controlled Shampoo pack pilots (top 3 formats) in DMart and Apollo; protect Face Wash hero EAN availability above 95% in top-100 stores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5A22C543-7B0D-4586-908A-EB893E178F75}"/>
              </a:ext>
            </a:extLst>
          </p:cNvPr>
          <p:cNvSpPr>
            <a:spLocks noGrp="1"/>
          </p:cNvSpPr>
          <p:nvPr/>
        </p:nvSpPr>
        <p:spPr>
          <a:xfrm>
            <a:off x="4953000" y="11073384"/>
            <a:ext cx="0" cy="9601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4FB57E31-9733-437C-A6B3-CFCE5B6168B6}"/>
              </a:ext>
            </a:extLst>
          </p:cNvPr>
          <p:cNvSpPr>
            <a:spLocks noGrp="1"/>
          </p:cNvSpPr>
          <p:nvPr/>
        </p:nvSpPr>
        <p:spPr>
          <a:xfrm>
            <a:off x="4981575" y="10899648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63E71244-95E6-48CE-9335-C4F289664CA1}"/>
              </a:ext>
            </a:extLst>
          </p:cNvPr>
          <p:cNvSpPr>
            <a:spLocks noGrp="1"/>
          </p:cNvSpPr>
          <p:nvPr/>
        </p:nvSpPr>
        <p:spPr>
          <a:xfrm>
            <a:off x="4981575" y="11073384"/>
            <a:ext cx="1428750" cy="9601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Category + NKAM DMart / Apollo | Pilots by 15-Sep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7" name="">
            <a:extLst>
              <a:ext uri="{FF2B5EF4-FFF2-40B4-BE49-F238E27FC236}">
                <a16:creationId xmlns:a16="http://schemas.microsoft.com/office/drawing/2014/main" id="{1A653C6C-6ECE-4686-BF64-742EA2237B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83B4E07-33D9-437B-AED8-27E84074D22D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Two high-conversion zones can fund focused intervention in North and East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24A9E876-2423-43AC-8DA6-802E52323D2F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portfolio | contribution, conversion and action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34CB3B3-F787-491F-B64A-256713E530EC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B73410F4-6F35-4711-BB4D-C2F75BEEFC80}"/>
              </a:ext>
            </a:extLst>
          </p:cNvPr>
          <p:cNvSpPr>
            <a:spLocks noGrp="1"/>
          </p:cNvSpPr>
          <p:nvPr/>
        </p:nvSpPr>
        <p:spPr>
          <a:xfrm>
            <a:off x="361950" y="123825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B866A9E-1B1A-490A-9B59-53C766B4F2FD}"/>
              </a:ext>
            </a:extLst>
          </p:cNvPr>
          <p:cNvSpPr>
            <a:spLocks noGrp="1"/>
          </p:cNvSpPr>
          <p:nvPr/>
        </p:nvSpPr>
        <p:spPr>
          <a:xfrm>
            <a:off x="457200" y="124777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ZONE SCORECARD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65E04108-0BD2-40E6-95C7-B37258F41222}"/>
              </a:ext>
            </a:extLst>
          </p:cNvPr>
          <p:cNvSpPr>
            <a:spLocks noGrp="1"/>
          </p:cNvSpPr>
          <p:nvPr/>
        </p:nvSpPr>
        <p:spPr>
          <a:xfrm>
            <a:off x="361950" y="1666875"/>
            <a:ext cx="61341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5D3D7BB1-1584-4CC2-8946-7CBC6DB115B0}"/>
              </a:ext>
            </a:extLst>
          </p:cNvPr>
          <p:cNvSpPr>
            <a:spLocks noGrp="1"/>
          </p:cNvSpPr>
          <p:nvPr/>
        </p:nvSpPr>
        <p:spPr>
          <a:xfrm>
            <a:off x="428625" y="1666875"/>
            <a:ext cx="904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Zone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A64C09A-FB83-4594-967F-98A348FFFEF7}"/>
              </a:ext>
            </a:extLst>
          </p:cNvPr>
          <p:cNvSpPr>
            <a:spLocks noGrp="1"/>
          </p:cNvSpPr>
          <p:nvPr/>
        </p:nvSpPr>
        <p:spPr>
          <a:xfrm>
            <a:off x="1428750" y="1666875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230ED65B-E4A5-4EDA-8CE6-A3D17E41ED9C}"/>
              </a:ext>
            </a:extLst>
          </p:cNvPr>
          <p:cNvSpPr>
            <a:spLocks noGrp="1"/>
          </p:cNvSpPr>
          <p:nvPr/>
        </p:nvSpPr>
        <p:spPr>
          <a:xfrm>
            <a:off x="2333625" y="1666875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Offtake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1189FC4-46DC-4C96-82CC-AED66BD94645}"/>
              </a:ext>
            </a:extLst>
          </p:cNvPr>
          <p:cNvSpPr>
            <a:spLocks noGrp="1"/>
          </p:cNvSpPr>
          <p:nvPr/>
        </p:nvSpPr>
        <p:spPr>
          <a:xfrm>
            <a:off x="3238500" y="1666875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Mix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D5A4DC0D-090A-4F70-BC7C-72487D72AEAB}"/>
              </a:ext>
            </a:extLst>
          </p:cNvPr>
          <p:cNvSpPr>
            <a:spLocks noGrp="1"/>
          </p:cNvSpPr>
          <p:nvPr/>
        </p:nvSpPr>
        <p:spPr>
          <a:xfrm>
            <a:off x="3905250" y="1666875"/>
            <a:ext cx="57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Conv.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CA999A6-714B-4A7E-AEA9-C663DF8C9522}"/>
              </a:ext>
            </a:extLst>
          </p:cNvPr>
          <p:cNvSpPr>
            <a:spLocks noGrp="1"/>
          </p:cNvSpPr>
          <p:nvPr/>
        </p:nvSpPr>
        <p:spPr>
          <a:xfrm>
            <a:off x="4591050" y="1666875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Gap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FE53698B-CDE1-4781-AFEB-D0BB30987D8C}"/>
              </a:ext>
            </a:extLst>
          </p:cNvPr>
          <p:cNvSpPr>
            <a:spLocks noGrp="1"/>
          </p:cNvSpPr>
          <p:nvPr/>
        </p:nvSpPr>
        <p:spPr>
          <a:xfrm>
            <a:off x="5381625" y="1666875"/>
            <a:ext cx="1000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0A36AF04-6D1C-4E84-A68A-95FCC5708937}"/>
              </a:ext>
            </a:extLst>
          </p:cNvPr>
          <p:cNvSpPr>
            <a:spLocks noGrp="1"/>
          </p:cNvSpPr>
          <p:nvPr/>
        </p:nvSpPr>
        <p:spPr>
          <a:xfrm>
            <a:off x="361950" y="1971675"/>
            <a:ext cx="6134100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D7B13F1D-5DE1-4E42-A8B9-2CB99BF43124}"/>
              </a:ext>
            </a:extLst>
          </p:cNvPr>
          <p:cNvSpPr>
            <a:spLocks noGrp="1"/>
          </p:cNvSpPr>
          <p:nvPr/>
        </p:nvSpPr>
        <p:spPr>
          <a:xfrm>
            <a:off x="428625" y="197167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West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8E1CEF9A-88F4-4A3A-8FE0-FD582E20CD9F}"/>
              </a:ext>
            </a:extLst>
          </p:cNvPr>
          <p:cNvSpPr>
            <a:spLocks noGrp="1"/>
          </p:cNvSpPr>
          <p:nvPr/>
        </p:nvSpPr>
        <p:spPr>
          <a:xfrm>
            <a:off x="1428750" y="19716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10.05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BF77490-F10F-4C72-B9F3-2548CAB81B8E}"/>
              </a:ext>
            </a:extLst>
          </p:cNvPr>
          <p:cNvSpPr>
            <a:spLocks noGrp="1"/>
          </p:cNvSpPr>
          <p:nvPr/>
        </p:nvSpPr>
        <p:spPr>
          <a:xfrm>
            <a:off x="2333625" y="19716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8.28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BD959EE7-776D-45FF-AABB-30EC3F264C01}"/>
              </a:ext>
            </a:extLst>
          </p:cNvPr>
          <p:cNvSpPr>
            <a:spLocks noGrp="1"/>
          </p:cNvSpPr>
          <p:nvPr/>
        </p:nvSpPr>
        <p:spPr>
          <a:xfrm>
            <a:off x="3238500" y="19716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22.9%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6DFECDA-C7C0-485D-8A77-49D16694D770}"/>
              </a:ext>
            </a:extLst>
          </p:cNvPr>
          <p:cNvSpPr>
            <a:spLocks noGrp="1"/>
          </p:cNvSpPr>
          <p:nvPr/>
        </p:nvSpPr>
        <p:spPr>
          <a:xfrm>
            <a:off x="3905250" y="19716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82.3%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0E28E8C1-2FF8-416C-A13A-DFF03855D3C3}"/>
              </a:ext>
            </a:extLst>
          </p:cNvPr>
          <p:cNvSpPr>
            <a:spLocks noGrp="1"/>
          </p:cNvSpPr>
          <p:nvPr/>
        </p:nvSpPr>
        <p:spPr>
          <a:xfrm>
            <a:off x="4591050" y="197167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1.78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A033684C-0E54-4936-9A2A-E66D02FC9F72}"/>
              </a:ext>
            </a:extLst>
          </p:cNvPr>
          <p:cNvSpPr>
            <a:spLocks noGrp="1"/>
          </p:cNvSpPr>
          <p:nvPr/>
        </p:nvSpPr>
        <p:spPr>
          <a:xfrm>
            <a:off x="5381625" y="197167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1B6B7B9F-9ECA-4C90-B74E-781F0F5E6525}"/>
              </a:ext>
            </a:extLst>
          </p:cNvPr>
          <p:cNvSpPr>
            <a:spLocks noGrp="1"/>
          </p:cNvSpPr>
          <p:nvPr/>
        </p:nvSpPr>
        <p:spPr>
          <a:xfrm>
            <a:off x="428625" y="256222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South-1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D57B6728-3D29-40A5-ACEA-60D50705ED05}"/>
              </a:ext>
            </a:extLst>
          </p:cNvPr>
          <p:cNvSpPr>
            <a:spLocks noGrp="1"/>
          </p:cNvSpPr>
          <p:nvPr/>
        </p:nvSpPr>
        <p:spPr>
          <a:xfrm>
            <a:off x="1428750" y="25622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9.80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241490D1-ED6F-4B07-80A1-EACCF2EB0344}"/>
              </a:ext>
            </a:extLst>
          </p:cNvPr>
          <p:cNvSpPr>
            <a:spLocks noGrp="1"/>
          </p:cNvSpPr>
          <p:nvPr/>
        </p:nvSpPr>
        <p:spPr>
          <a:xfrm>
            <a:off x="2333625" y="25622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8.19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F3687C17-76BD-4FBD-A8FB-ABBB07FF3CCE}"/>
              </a:ext>
            </a:extLst>
          </p:cNvPr>
          <p:cNvSpPr>
            <a:spLocks noGrp="1"/>
          </p:cNvSpPr>
          <p:nvPr/>
        </p:nvSpPr>
        <p:spPr>
          <a:xfrm>
            <a:off x="3238500" y="25622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22.7%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97DB9F3-86D1-4B03-83F5-EFAA5A26EFFD}"/>
              </a:ext>
            </a:extLst>
          </p:cNvPr>
          <p:cNvSpPr>
            <a:spLocks noGrp="1"/>
          </p:cNvSpPr>
          <p:nvPr/>
        </p:nvSpPr>
        <p:spPr>
          <a:xfrm>
            <a:off x="3905250" y="25622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83.6%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9AE6D366-49CB-4FBB-AD00-7E9DE01BB432}"/>
              </a:ext>
            </a:extLst>
          </p:cNvPr>
          <p:cNvSpPr>
            <a:spLocks noGrp="1"/>
          </p:cNvSpPr>
          <p:nvPr/>
        </p:nvSpPr>
        <p:spPr>
          <a:xfrm>
            <a:off x="4591050" y="256222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1.61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B7D89A80-1875-4A95-A7D7-8D3F1749F3D0}"/>
              </a:ext>
            </a:extLst>
          </p:cNvPr>
          <p:cNvSpPr>
            <a:spLocks noGrp="1"/>
          </p:cNvSpPr>
          <p:nvPr/>
        </p:nvSpPr>
        <p:spPr>
          <a:xfrm>
            <a:off x="5381625" y="256222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BDB79163-4E49-463A-9115-EDE7D1FB8E2F}"/>
              </a:ext>
            </a:extLst>
          </p:cNvPr>
          <p:cNvSpPr>
            <a:spLocks noGrp="1"/>
          </p:cNvSpPr>
          <p:nvPr/>
        </p:nvSpPr>
        <p:spPr>
          <a:xfrm>
            <a:off x="361950" y="3152775"/>
            <a:ext cx="6134100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E1E26230-9FF4-47C1-8D6F-13C819D0F61F}"/>
              </a:ext>
            </a:extLst>
          </p:cNvPr>
          <p:cNvSpPr>
            <a:spLocks noGrp="1"/>
          </p:cNvSpPr>
          <p:nvPr/>
        </p:nvSpPr>
        <p:spPr>
          <a:xfrm>
            <a:off x="428625" y="315277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North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445FC2AB-ADC5-4942-B19D-637C26B83B06}"/>
              </a:ext>
            </a:extLst>
          </p:cNvPr>
          <p:cNvSpPr>
            <a:spLocks noGrp="1"/>
          </p:cNvSpPr>
          <p:nvPr/>
        </p:nvSpPr>
        <p:spPr>
          <a:xfrm>
            <a:off x="1428750" y="31527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11.95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B8B89E9E-B11A-4CD9-8A93-C27042E8FEF6}"/>
              </a:ext>
            </a:extLst>
          </p:cNvPr>
          <p:cNvSpPr>
            <a:spLocks noGrp="1"/>
          </p:cNvSpPr>
          <p:nvPr/>
        </p:nvSpPr>
        <p:spPr>
          <a:xfrm>
            <a:off x="2333625" y="31527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6.99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83A631B8-EF02-4F39-9030-57596A307CB5}"/>
              </a:ext>
            </a:extLst>
          </p:cNvPr>
          <p:cNvSpPr>
            <a:spLocks noGrp="1"/>
          </p:cNvSpPr>
          <p:nvPr/>
        </p:nvSpPr>
        <p:spPr>
          <a:xfrm>
            <a:off x="3238500" y="31527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19.4%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BFB77215-72C2-42C0-ABDA-6AE80BCA3C53}"/>
              </a:ext>
            </a:extLst>
          </p:cNvPr>
          <p:cNvSpPr>
            <a:spLocks noGrp="1"/>
          </p:cNvSpPr>
          <p:nvPr/>
        </p:nvSpPr>
        <p:spPr>
          <a:xfrm>
            <a:off x="3905250" y="31527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6544D"/>
                </a:solidFill>
              </a:defRPr>
            </a:pPr>
            <a:r>
              <a:rPr sz="1050" b="1">
                <a:solidFill>
                  <a:srgbClr val="D6544D"/>
                </a:solidFill>
              </a:rPr>
              <a:t>58.5%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BBF56DD7-A535-434F-912B-4E0EAFB652AE}"/>
              </a:ext>
            </a:extLst>
          </p:cNvPr>
          <p:cNvSpPr>
            <a:spLocks noGrp="1"/>
          </p:cNvSpPr>
          <p:nvPr/>
        </p:nvSpPr>
        <p:spPr>
          <a:xfrm>
            <a:off x="4591050" y="315277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4.97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77A6B904-874D-4757-83F7-CE57794A62FE}"/>
              </a:ext>
            </a:extLst>
          </p:cNvPr>
          <p:cNvSpPr>
            <a:spLocks noGrp="1"/>
          </p:cNvSpPr>
          <p:nvPr/>
        </p:nvSpPr>
        <p:spPr>
          <a:xfrm>
            <a:off x="5381625" y="315277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FIX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23FD55BB-3A52-40CE-A711-BB5472F97ED7}"/>
              </a:ext>
            </a:extLst>
          </p:cNvPr>
          <p:cNvSpPr>
            <a:spLocks noGrp="1"/>
          </p:cNvSpPr>
          <p:nvPr/>
        </p:nvSpPr>
        <p:spPr>
          <a:xfrm>
            <a:off x="428625" y="374332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South-2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84E90240-530B-4EE7-AE98-9FE1C8CA63AA}"/>
              </a:ext>
            </a:extLst>
          </p:cNvPr>
          <p:cNvSpPr>
            <a:spLocks noGrp="1"/>
          </p:cNvSpPr>
          <p:nvPr/>
        </p:nvSpPr>
        <p:spPr>
          <a:xfrm>
            <a:off x="1428750" y="37433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6.89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A430D929-40EE-4795-8CE3-588C2CA845BD}"/>
              </a:ext>
            </a:extLst>
          </p:cNvPr>
          <p:cNvSpPr>
            <a:spLocks noGrp="1"/>
          </p:cNvSpPr>
          <p:nvPr/>
        </p:nvSpPr>
        <p:spPr>
          <a:xfrm>
            <a:off x="2333625" y="37433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4.91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C6056984-95AF-40AC-B734-E4C7C1AB70D4}"/>
              </a:ext>
            </a:extLst>
          </p:cNvPr>
          <p:cNvSpPr>
            <a:spLocks noGrp="1"/>
          </p:cNvSpPr>
          <p:nvPr/>
        </p:nvSpPr>
        <p:spPr>
          <a:xfrm>
            <a:off x="3238500" y="37433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13.6%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30E10687-B747-41F4-93CE-7F6E0BC6D0D9}"/>
              </a:ext>
            </a:extLst>
          </p:cNvPr>
          <p:cNvSpPr>
            <a:spLocks noGrp="1"/>
          </p:cNvSpPr>
          <p:nvPr/>
        </p:nvSpPr>
        <p:spPr>
          <a:xfrm>
            <a:off x="3905250" y="37433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6544D"/>
                </a:solidFill>
              </a:defRPr>
            </a:pPr>
            <a:r>
              <a:rPr sz="1050" b="1">
                <a:solidFill>
                  <a:srgbClr val="D6544D"/>
                </a:solidFill>
              </a:rPr>
              <a:t>71.3%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56DAAE1B-309E-4AE8-877E-4639199E605B}"/>
              </a:ext>
            </a:extLst>
          </p:cNvPr>
          <p:cNvSpPr>
            <a:spLocks noGrp="1"/>
          </p:cNvSpPr>
          <p:nvPr/>
        </p:nvSpPr>
        <p:spPr>
          <a:xfrm>
            <a:off x="4591050" y="374332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1.98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020A9602-247A-40F6-8915-39226FAFA675}"/>
              </a:ext>
            </a:extLst>
          </p:cNvPr>
          <p:cNvSpPr>
            <a:spLocks noGrp="1"/>
          </p:cNvSpPr>
          <p:nvPr/>
        </p:nvSpPr>
        <p:spPr>
          <a:xfrm>
            <a:off x="5381625" y="374332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FIX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8D6F6A67-839D-4DB9-90BD-1FE256A70228}"/>
              </a:ext>
            </a:extLst>
          </p:cNvPr>
          <p:cNvSpPr>
            <a:spLocks noGrp="1"/>
          </p:cNvSpPr>
          <p:nvPr/>
        </p:nvSpPr>
        <p:spPr>
          <a:xfrm>
            <a:off x="361950" y="4333875"/>
            <a:ext cx="6134100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7202B6A1-F662-4978-8237-6E01086FF882}"/>
              </a:ext>
            </a:extLst>
          </p:cNvPr>
          <p:cNvSpPr>
            <a:spLocks noGrp="1"/>
          </p:cNvSpPr>
          <p:nvPr/>
        </p:nvSpPr>
        <p:spPr>
          <a:xfrm>
            <a:off x="428625" y="433387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East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E80A8A03-06DD-436E-9BC2-663417CA95BB}"/>
              </a:ext>
            </a:extLst>
          </p:cNvPr>
          <p:cNvSpPr>
            <a:spLocks noGrp="1"/>
          </p:cNvSpPr>
          <p:nvPr/>
        </p:nvSpPr>
        <p:spPr>
          <a:xfrm>
            <a:off x="1428750" y="43338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7.83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3037871D-A117-42E3-99DA-DBD87903943E}"/>
              </a:ext>
            </a:extLst>
          </p:cNvPr>
          <p:cNvSpPr>
            <a:spLocks noGrp="1"/>
          </p:cNvSpPr>
          <p:nvPr/>
        </p:nvSpPr>
        <p:spPr>
          <a:xfrm>
            <a:off x="2333625" y="433387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3.55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84D02798-FDF6-4FF3-BC31-50C92001A617}"/>
              </a:ext>
            </a:extLst>
          </p:cNvPr>
          <p:cNvSpPr>
            <a:spLocks noGrp="1"/>
          </p:cNvSpPr>
          <p:nvPr/>
        </p:nvSpPr>
        <p:spPr>
          <a:xfrm>
            <a:off x="3238500" y="43338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9.8%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DB51B591-D963-486C-8DB9-6451E6C20BC0}"/>
              </a:ext>
            </a:extLst>
          </p:cNvPr>
          <p:cNvSpPr>
            <a:spLocks noGrp="1"/>
          </p:cNvSpPr>
          <p:nvPr/>
        </p:nvSpPr>
        <p:spPr>
          <a:xfrm>
            <a:off x="3905250" y="433387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D6544D"/>
                </a:solidFill>
              </a:defRPr>
            </a:pPr>
            <a:r>
              <a:rPr sz="1050" b="1">
                <a:solidFill>
                  <a:srgbClr val="D6544D"/>
                </a:solidFill>
              </a:rPr>
              <a:t>45.3%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34150457-B6E7-4BF4-937F-2CE319FC2E66}"/>
              </a:ext>
            </a:extLst>
          </p:cNvPr>
          <p:cNvSpPr>
            <a:spLocks noGrp="1"/>
          </p:cNvSpPr>
          <p:nvPr/>
        </p:nvSpPr>
        <p:spPr>
          <a:xfrm>
            <a:off x="4591050" y="433387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4.28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B514BB34-327F-4B73-9F41-DEB896C36903}"/>
              </a:ext>
            </a:extLst>
          </p:cNvPr>
          <p:cNvSpPr>
            <a:spLocks noGrp="1"/>
          </p:cNvSpPr>
          <p:nvPr/>
        </p:nvSpPr>
        <p:spPr>
          <a:xfrm>
            <a:off x="5381625" y="433387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FIX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5FFA51A8-350D-4547-B272-B7E258812A23}"/>
              </a:ext>
            </a:extLst>
          </p:cNvPr>
          <p:cNvSpPr>
            <a:spLocks noGrp="1"/>
          </p:cNvSpPr>
          <p:nvPr/>
        </p:nvSpPr>
        <p:spPr>
          <a:xfrm>
            <a:off x="428625" y="4924425"/>
            <a:ext cx="90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Central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D1EDEEA3-69CE-417C-9A1D-A707BBDC5FD2}"/>
              </a:ext>
            </a:extLst>
          </p:cNvPr>
          <p:cNvSpPr>
            <a:spLocks noGrp="1"/>
          </p:cNvSpPr>
          <p:nvPr/>
        </p:nvSpPr>
        <p:spPr>
          <a:xfrm>
            <a:off x="1428750" y="49244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2.69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F47AC394-A0F1-4B07-BAB8-AE4EB31551F3}"/>
              </a:ext>
            </a:extLst>
          </p:cNvPr>
          <p:cNvSpPr>
            <a:spLocks noGrp="1"/>
          </p:cNvSpPr>
          <p:nvPr/>
        </p:nvSpPr>
        <p:spPr>
          <a:xfrm>
            <a:off x="2333625" y="4924425"/>
            <a:ext cx="809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2.12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FD0A62CF-8855-485E-A1F8-E7BCE8E32C6A}"/>
              </a:ext>
            </a:extLst>
          </p:cNvPr>
          <p:cNvSpPr>
            <a:spLocks noGrp="1"/>
          </p:cNvSpPr>
          <p:nvPr/>
        </p:nvSpPr>
        <p:spPr>
          <a:xfrm>
            <a:off x="3238500" y="49244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5.9%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E0497745-8141-4F0E-8C44-C71C409862AD}"/>
              </a:ext>
            </a:extLst>
          </p:cNvPr>
          <p:cNvSpPr>
            <a:spLocks noGrp="1"/>
          </p:cNvSpPr>
          <p:nvPr/>
        </p:nvSpPr>
        <p:spPr>
          <a:xfrm>
            <a:off x="3905250" y="4924425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2B84B"/>
                </a:solidFill>
              </a:defRPr>
            </a:pPr>
            <a:r>
              <a:rPr sz="1050" b="1">
                <a:solidFill>
                  <a:srgbClr val="F2B84B"/>
                </a:solidFill>
              </a:rPr>
              <a:t>78.8%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994C7663-81BD-416F-9DF8-E5CC4EEE33DC}"/>
              </a:ext>
            </a:extLst>
          </p:cNvPr>
          <p:cNvSpPr>
            <a:spLocks noGrp="1"/>
          </p:cNvSpPr>
          <p:nvPr/>
        </p:nvSpPr>
        <p:spPr>
          <a:xfrm>
            <a:off x="4591050" y="4924425"/>
            <a:ext cx="68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0.57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D5876521-E813-4E0D-BA16-7DFCEB2C3BEC}"/>
              </a:ext>
            </a:extLst>
          </p:cNvPr>
          <p:cNvSpPr>
            <a:spLocks noGrp="1"/>
          </p:cNvSpPr>
          <p:nvPr/>
        </p:nvSpPr>
        <p:spPr>
          <a:xfrm>
            <a:off x="5381625" y="4924425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7C83C6A6-5EE2-4786-9B51-879AFD1762FF}"/>
              </a:ext>
            </a:extLst>
          </p:cNvPr>
          <p:cNvSpPr>
            <a:spLocks noGrp="1"/>
          </p:cNvSpPr>
          <p:nvPr/>
        </p:nvSpPr>
        <p:spPr>
          <a:xfrm>
            <a:off x="361950" y="59055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5AA9238E-0FD4-4C4C-8BD1-0AAF69534E36}"/>
              </a:ext>
            </a:extLst>
          </p:cNvPr>
          <p:cNvSpPr>
            <a:spLocks noGrp="1"/>
          </p:cNvSpPr>
          <p:nvPr/>
        </p:nvSpPr>
        <p:spPr>
          <a:xfrm>
            <a:off x="457200" y="59150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PORTFOLIO ACTIONS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A71062D5-F8F5-4944-A124-FA50008F34F4}"/>
              </a:ext>
            </a:extLst>
          </p:cNvPr>
          <p:cNvSpPr>
            <a:spLocks noGrp="1"/>
          </p:cNvSpPr>
          <p:nvPr/>
        </p:nvSpPr>
        <p:spPr>
          <a:xfrm>
            <a:off x="476250" y="63341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CEE9095B-F146-4885-B2DA-2CEAD7E69A5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5695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Protect: West, South‑1 and Central — maintain hero-SKU availability and avoid unnecessary loading.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1993A94C-1704-41BA-9981-1B4465D670F2}"/>
              </a:ext>
            </a:extLst>
          </p:cNvPr>
          <p:cNvSpPr>
            <a:spLocks noGrp="1"/>
          </p:cNvSpPr>
          <p:nvPr/>
        </p:nvSpPr>
        <p:spPr>
          <a:xfrm>
            <a:off x="476250" y="69246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FDC99503-02B8-4351-9643-369DA3AA71D0}"/>
              </a:ext>
            </a:extLst>
          </p:cNvPr>
          <p:cNvSpPr>
            <a:spLocks noGrp="1"/>
          </p:cNvSpPr>
          <p:nvPr/>
        </p:nvSpPr>
        <p:spPr>
          <a:xfrm>
            <a:off x="685800" y="6924675"/>
            <a:ext cx="5695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Watch: South‑2 — isolate the DMart gap while sustaining Apollo and Reliance throughput.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34CDADD9-6E49-4616-A085-98BF24786443}"/>
              </a:ext>
            </a:extLst>
          </p:cNvPr>
          <p:cNvSpPr>
            <a:spLocks noGrp="1"/>
          </p:cNvSpPr>
          <p:nvPr/>
        </p:nvSpPr>
        <p:spPr>
          <a:xfrm>
            <a:off x="476250" y="75152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C0F0C43C-86E2-4213-8612-19B194D556BB}"/>
              </a:ext>
            </a:extLst>
          </p:cNvPr>
          <p:cNvSpPr>
            <a:spLocks noGrp="1"/>
          </p:cNvSpPr>
          <p:nvPr/>
        </p:nvSpPr>
        <p:spPr>
          <a:xfrm>
            <a:off x="685800" y="7515225"/>
            <a:ext cx="5695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Fix: North and East — run weekly chain-zone gap closure with named owners and SKU-level exceptions.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5598F1F6-B3A7-47F0-8523-370CDE627947}"/>
              </a:ext>
            </a:extLst>
          </p:cNvPr>
          <p:cNvSpPr>
            <a:spLocks noGrp="1"/>
          </p:cNvSpPr>
          <p:nvPr/>
        </p:nvSpPr>
        <p:spPr>
          <a:xfrm>
            <a:off x="476250" y="81057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8A596"/>
                </a:solidFill>
              </a:defRPr>
            </a:pPr>
            <a:r>
              <a:rPr sz="9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4FBB433C-AF8D-4E8B-B4B9-088272787BFE}"/>
              </a:ext>
            </a:extLst>
          </p:cNvPr>
          <p:cNvSpPr>
            <a:spLocks noGrp="1"/>
          </p:cNvSpPr>
          <p:nvPr/>
        </p:nvSpPr>
        <p:spPr>
          <a:xfrm>
            <a:off x="685800" y="8105775"/>
            <a:ext cx="5695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Separate: Pan India / FSN — maintain a distinct e-commerce flow view because geographic primary is unavailable.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EEDDA4F6-F680-4427-901B-51CAE5A1EC66}"/>
              </a:ext>
            </a:extLst>
          </p:cNvPr>
          <p:cNvSpPr>
            <a:spLocks noGrp="1"/>
          </p:cNvSpPr>
          <p:nvPr/>
        </p:nvSpPr>
        <p:spPr>
          <a:xfrm>
            <a:off x="361950" y="9001125"/>
            <a:ext cx="1924050" cy="21907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4279427C-841D-48A2-925D-7C7F3CB90A9C}"/>
              </a:ext>
            </a:extLst>
          </p:cNvPr>
          <p:cNvSpPr>
            <a:spLocks noGrp="1"/>
          </p:cNvSpPr>
          <p:nvPr/>
        </p:nvSpPr>
        <p:spPr>
          <a:xfrm>
            <a:off x="361950" y="9001125"/>
            <a:ext cx="192405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2590E014-26F0-4FED-AD12-17BF4BC0FA61}"/>
              </a:ext>
            </a:extLst>
          </p:cNvPr>
          <p:cNvSpPr>
            <a:spLocks noGrp="1"/>
          </p:cNvSpPr>
          <p:nvPr/>
        </p:nvSpPr>
        <p:spPr>
          <a:xfrm>
            <a:off x="447675" y="902017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PROTECT ENGINES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1F251C8F-B8CC-4E13-85BB-B593FBA9A1AC}"/>
              </a:ext>
            </a:extLst>
          </p:cNvPr>
          <p:cNvSpPr>
            <a:spLocks noGrp="1"/>
          </p:cNvSpPr>
          <p:nvPr/>
        </p:nvSpPr>
        <p:spPr>
          <a:xfrm>
            <a:off x="495300" y="94107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B9A66"/>
                </a:solidFill>
              </a:defRPr>
            </a:pPr>
            <a:r>
              <a:rPr sz="1275" b="1">
                <a:solidFill>
                  <a:srgbClr val="2B9A66"/>
                </a:solidFill>
              </a:rPr>
              <a:t>West + South‑1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B3F2BCA5-98A4-4D8A-8B75-4FDFB79F10AA}"/>
              </a:ext>
            </a:extLst>
          </p:cNvPr>
          <p:cNvSpPr>
            <a:spLocks noGrp="1"/>
          </p:cNvSpPr>
          <p:nvPr/>
        </p:nvSpPr>
        <p:spPr>
          <a:xfrm>
            <a:off x="533400" y="9877425"/>
            <a:ext cx="1581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₹16.47 Cr offtake | defend hero-SKU OSA.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47467862-7DC3-41FE-AA0F-938D43911CC6}"/>
              </a:ext>
            </a:extLst>
          </p:cNvPr>
          <p:cNvSpPr>
            <a:spLocks noGrp="1"/>
          </p:cNvSpPr>
          <p:nvPr/>
        </p:nvSpPr>
        <p:spPr>
          <a:xfrm>
            <a:off x="2466975" y="9001125"/>
            <a:ext cx="1924050" cy="21907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C7995071-8BEF-474A-A69B-C676B60364DD}"/>
              </a:ext>
            </a:extLst>
          </p:cNvPr>
          <p:cNvSpPr>
            <a:spLocks noGrp="1"/>
          </p:cNvSpPr>
          <p:nvPr/>
        </p:nvSpPr>
        <p:spPr>
          <a:xfrm>
            <a:off x="2466975" y="9001125"/>
            <a:ext cx="192405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B870BA1F-2914-4B1F-AC22-1F766C9F18C5}"/>
              </a:ext>
            </a:extLst>
          </p:cNvPr>
          <p:cNvSpPr>
            <a:spLocks noGrp="1"/>
          </p:cNvSpPr>
          <p:nvPr/>
        </p:nvSpPr>
        <p:spPr>
          <a:xfrm>
            <a:off x="2552700" y="902017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WATCH FLOW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00535330-B33F-45BE-A242-28C69F4A96AE}"/>
              </a:ext>
            </a:extLst>
          </p:cNvPr>
          <p:cNvSpPr>
            <a:spLocks noGrp="1"/>
          </p:cNvSpPr>
          <p:nvPr/>
        </p:nvSpPr>
        <p:spPr>
          <a:xfrm>
            <a:off x="2600325" y="94107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2B84B"/>
                </a:solidFill>
              </a:defRPr>
            </a:pPr>
            <a:r>
              <a:rPr sz="1275" b="1">
                <a:solidFill>
                  <a:srgbClr val="F2B84B"/>
                </a:solidFill>
              </a:rPr>
              <a:t>South‑2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735AAB00-EC13-4452-91C7-2A11804DF1A9}"/>
              </a:ext>
            </a:extLst>
          </p:cNvPr>
          <p:cNvSpPr>
            <a:spLocks noGrp="1"/>
          </p:cNvSpPr>
          <p:nvPr/>
        </p:nvSpPr>
        <p:spPr>
          <a:xfrm>
            <a:off x="2638425" y="9877425"/>
            <a:ext cx="1581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₹1.98 Cr gap | isolate DMart exceptions.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FCFA5DA9-5AE4-4C84-9168-C3BF30FFBADA}"/>
              </a:ext>
            </a:extLst>
          </p:cNvPr>
          <p:cNvSpPr>
            <a:spLocks noGrp="1"/>
          </p:cNvSpPr>
          <p:nvPr/>
        </p:nvSpPr>
        <p:spPr>
          <a:xfrm>
            <a:off x="4572000" y="9001125"/>
            <a:ext cx="1924050" cy="219075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2E48A84E-DBC6-4478-BDA0-4ECCB714B82B}"/>
              </a:ext>
            </a:extLst>
          </p:cNvPr>
          <p:cNvSpPr>
            <a:spLocks noGrp="1"/>
          </p:cNvSpPr>
          <p:nvPr/>
        </p:nvSpPr>
        <p:spPr>
          <a:xfrm>
            <a:off x="4572000" y="9001125"/>
            <a:ext cx="192405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67F89B5D-DB2F-424B-A150-2360AD574F38}"/>
              </a:ext>
            </a:extLst>
          </p:cNvPr>
          <p:cNvSpPr>
            <a:spLocks noGrp="1"/>
          </p:cNvSpPr>
          <p:nvPr/>
        </p:nvSpPr>
        <p:spPr>
          <a:xfrm>
            <a:off x="4657725" y="902017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FIX CONCENTRATION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3C0F9139-1D14-4140-AD9C-A727A01BC63A}"/>
              </a:ext>
            </a:extLst>
          </p:cNvPr>
          <p:cNvSpPr>
            <a:spLocks noGrp="1"/>
          </p:cNvSpPr>
          <p:nvPr/>
        </p:nvSpPr>
        <p:spPr>
          <a:xfrm>
            <a:off x="4705350" y="9410700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6544D"/>
                </a:solidFill>
              </a:defRPr>
            </a:pPr>
            <a:r>
              <a:rPr sz="1275" b="1">
                <a:solidFill>
                  <a:srgbClr val="D6544D"/>
                </a:solidFill>
              </a:rPr>
              <a:t>North + East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578AD270-9597-4E4F-BD00-011151E4D8E9}"/>
              </a:ext>
            </a:extLst>
          </p:cNvPr>
          <p:cNvSpPr>
            <a:spLocks noGrp="1"/>
          </p:cNvSpPr>
          <p:nvPr/>
        </p:nvSpPr>
        <p:spPr>
          <a:xfrm>
            <a:off x="4743450" y="9877425"/>
            <a:ext cx="15811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70.5% of national gap | weekly owner review.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9A8901D1-9F9C-456B-B8EF-CF4E935E55D6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D422BC59-962E-4576-B7B5-B13C1C55A2F9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E34EA560-EF88-4F19-82A3-606199CC6E00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Jul-26 ₹36.06 Cr (+64.2% YoY); L3M ₹114.66 Cr (+65.8%); LY Paisa Vasool: Reliance primary Jul-25 ₹6.68 Cr→Aug-25 ₹5.42 Cr (−18.8%); North+East = 70.5% of gap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76797808-B04E-4F5F-81AD-634977AC0A15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EE076C69-080F-41BC-B10A-DA9CAF2FD051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18642E34-5349-48AE-A9BB-200084B65EAE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West and South-1 are self-sustaining at 82-84% conversion; concentrating intervention on North and East yields the highest recovery per rupee of resource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B0CF29DA-8046-4000-AD7E-00E3BCBA7146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0C7E0528-6BB2-48FD-BA89-9801CD4EAA45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E36EF118-4855-4AA0-AAD9-8DF1E4CF4BDC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Validate Reliance Aug-26 offtake by 05-Aug; weekly ZSM DMart+non-Reliance from 22-Aug; Reliance EAN-store review after Aug read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A418E76C-D80B-4EFF-9295-AE336D6C3A32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733B7DDE-22AB-4C68-B36C-16307FADC87F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01C6AB7A-4D93-45E1-BB0F-D1C0BC00425A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North ZSM + East ZSM | Weekly from 22-Aug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98E9AAA4-54B2-41FF-B001-86E330712B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70A0042-AA4C-4885-A6E9-D7F003977BF6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West slips to #2 — Reliance is the one gap between here and the top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D24D0414-A8CB-4BAA-8C4B-842D5A0E08A8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5B890BE-7893-442D-9D20-89672E274268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51E450CB-0A54-4BDD-9745-7B0105B28B37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9E4C5695-5B21-4B01-A7B5-699CF6BFD031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7C91D8FC-86DE-44D4-874F-997C6A782B54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A55FD7EB-7D99-415D-8B22-03C401F81541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₹10.05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49AC4D82-3AB2-4126-B850-2BA4F5AB75DE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+99.0% YoY | 597K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C7790FB-66F5-45D0-A904-0F97D21E9FB3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D952D2A-2C15-4997-9985-40FEE421DF85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8F830D28-0DE6-461C-9EED-4AE7DC12F348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4D14EB44-2C63-4797-A98D-3C0165E1FE86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₹7.81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22D497AA-5878-4786-A93C-C9BE54D718DD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20.9% mix | 497K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35D7296-7095-4DC6-A839-DCC66D9D6AB3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2A238207-BAEF-4718-855E-B1DC1CC5241C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D0A80E54-AEF6-4B8D-8D34-EA5B0163A919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F2327097-ACF2-4853-8DD1-724076E9E59E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84.5%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10B3121B-89D8-49E8-A83F-9DDA18E6ACBE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28741859-1653-4422-BE43-F9178DD8F9A4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E2F1D683-EC18-4D56-80D0-3A1860F9AA7B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EF3C7AC3-AB5F-48B0-8E4A-DF7DFC590AE6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7F910C33-B5AE-40F0-875B-3059B55CC2A7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₹1.56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F6826C3D-DF8C-452C-B758-853909E06AB2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3DFFF764-0845-4374-9661-7205FAAF491E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7124186A-2476-40CB-AABA-84F49AB5CBA2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4D0540C0-1739-43EC-9478-B0F4B6188501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Reliance West 54.5% conv: map top-20 EAN-store failures by 30-Aug  •  DMart 94.2% sustains — maintain hero-EAN OSA to protect it  •  Hold Wellness Forever loading until Aug offtake confirms timing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12E4037D-D180-44DD-971F-6CA5E2060B31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40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518c427094334fee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98129B31-CE6C-4EC4-9D34-0666B1940B7A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2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a434dfaead754aad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3D23F999-9517-485F-BE9D-3BC4AB460970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E61B71C2-E9A8-4EB8-8C11-64774DD7A6F5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C70A9383-D6DF-4CCB-B01E-E1E7E8485DD0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DMart  ₹5.76 Cr |+87%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52B4CEFA-551A-49D5-8B27-5251252E363E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Reliance  ₹1.23 Cr |+122%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785D3095-5FB7-42B4-A14A-F86EFFE08C3D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Wellness Forev…  ₹0.65 Cr |+138%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FA7FEB57-90A9-414C-8132-291120E1ACF3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Maharashtra  ₹3.43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99335C2F-8FA9-48CC-BD65-3EF7DF5609FC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Gujarat  ₹2.57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48FA1EA2-5370-4E19-91BB-49047A270401}"/>
              </a:ext>
            </a:extLst>
          </p:cNvPr>
          <p:cNvSpPr>
            <a:spLocks noGrp="1"/>
          </p:cNvSpPr>
          <p:nvPr/>
        </p:nvSpPr>
        <p:spPr>
          <a:xfrm>
            <a:off x="495300" y="71437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3. Mumbai  ₹2.28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A016CEC0-C50B-402A-9164-1A324B7E5CD8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52054BF8-E44B-459A-BD1A-FDE14CB87FAA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FE118941-554A-4D82-913B-98A38980D8A7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₹4.97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061C6DB7-60A1-4BB5-BD86-4F0083DD3159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₹2.39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ED19EFFD-6E18-4995-9537-436D83A9EA24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₹1.53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E52371D7-81FD-4841-AF01-2A6580E4DBF5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₹0.22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27BB863F-133B-4452-9209-C76F7C3E7BB3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₹3.24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D671E4EB-D555-4759-A1BD-0C2AF5BE26D1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₹2.84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2AB25B63-E497-4B2A-AD40-90EDA53EFBF2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₹0.55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8DC82460-8AA3-46B4-9D33-1738235ECC9D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₹0.22 Cr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1C551925-C4AD-439B-A77F-D6CD8999A711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1DF6E58A-3A60-4D23-B537-5EBC20BB53AB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₹0.54 Cr | 6.6% of zone | ME Onion hai… • ME Gentle Cl… • ME Multani M…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F38713EE-2A8D-47CF-84AA-3E88BBB3250F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87721DE5-098F-48C5-ABE1-5CBC32F2E79B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E340531C-393E-4006-922C-7AC67DD58CC2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DCABF3D8-1E0C-47F2-A2EC-60CB80ABF194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8AFA38A1-E679-44CC-9E54-BCB909BEF186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West held ₹8.49 Cr in July — 497K units — keeping close to #1 despite South-1's rise.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9C66C8D1-BA30-4579-A781-4B530495CF5A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371FCBD3-2195-41E6-9205-04EF9FD35558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777A0222-C6C6-41A9-9CC5-5F5A9B45649F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doubled YoY at ₹10.05 Cr. Most of the 597K units billed are already sold — DMart proves it.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EA4ED91A-80C1-443B-98D4-2AAD3843770E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1393D2B8-B350-4F64-B785-D0F15D582467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EC0F9EA5-ED43-4CDA-B59E-C657F9A46ACA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84.5% flow conversion — second-best nationally. Only South-1 at 89.5% does better.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DA0C423D-0351-42CA-9BCB-7761F895B4E2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66E1AA5B-976A-4CBA-A073-BD0E1C9076BB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BAA3E0FC-45DB-42C6-B9EB-4A1690642D76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Gap is ₹1.56 Cr, almost entirely Reliance. DMart's 94% leaves almost nothing on the table.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676ABDF7-4195-4210-9B48-5D1225BD5742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5EAA935B-1BD3-4EB8-A71C-590CC57B9226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9CA40AA4-3CBD-4E83-9AB4-69DB6484D0CB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#2 nationally. Close Reliance West and the ranking re-opens.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BEB2E35D-9378-473F-9D10-B8C46F8859F5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1918132F-F4CE-492A-A38A-523054E1CFAD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3BED49A1-D0D2-447A-9B13-0537EF1EE985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Maharashtra ranks #1 with ₹3.43 Cr offtake.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CC174D04-D71F-40C3-935E-DDF1F0A91FAD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FF16B216-F2EE-4D7F-9568-08100B4CBB6E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663EF9E0-2F1E-40DF-AED3-9CB6EA97D745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Gujarat ranks #2 with ₹2.57 Cr offtake.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1865528D-0A6C-40D5-A77E-CE77656028B1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31CDC5D4-388A-46F3-8AF0-AD9D0B3F1A87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466484AB-C29E-4002-8506-76A903B991C7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Mumbai ranks #3 with ₹2.28 Cr offtake.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737E6027-340B-4B10-AFE0-562478E50C67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761E984A-9F62-4355-8548-ACEA707FCDD1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871180A3-A611-41AA-8D83-1D6B9D2ACE5E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41.4% of zone offtake.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817197B1-D6DC-46CF-BE1D-1E310F678630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712E137E-E8EF-4B3D-9C97-3C8712C016BA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77788E9A-97A3-4FB3-8D14-6B1DB9CD4E9C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100.0% of zone offtake.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BF58DE94-A283-4E70-9732-0684A644E19A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41FF3DB7-E5DE-44C7-8409-022140C9E7F0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EB5DE7A4-8B88-4B79-B640-589C47442259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₹5.76 Cr offtake; 94.2%.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71CD73E2-04C3-4492-8D99-C7D15CAC003E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9BC0EAEA-868B-4B25-A566-A7C5B7758DF6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863BBC8D-34E8-4428-8F3C-B43EE0C18D82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₹1.23 Cr offtake; 54.5%.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336C425A-0CB3-4E41-B887-79E62869C922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86A93C72-5827-4BC9-B323-53E8B7B6893D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8C3AC7DC-B23B-4762-8B2E-E331F35109D5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Wellness Forever: ₹0.65 Cr offtake; 134.9%.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80DD28DD-6FB8-42F1-858F-7DC672860C6E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2045546F-2505-49F7-9ACB-F9E84CFD95AA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461C11C3-FADD-4B9C-90E8-94C480DFAA6E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69.6% of zone offtake.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2FFC60CF-D651-4759-AF28-84F42A83E392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415D6EEA-F749-4019-8E9B-765A81D2A53C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6F5BD546-AC84-45E9-939B-B800E8604FE2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92.5% of zone offtake.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591106B5-BD69-4FFE-8C4F-977F1BC6614F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West NPI mix 6.6% | Priority: DMart × hero-EAN availability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08D02950-48D9-47FD-AE6C-0960C44E4C2F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20175715-27EB-4D55-A9C4-9CF4571DD661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5724E6DC-4808-4D5E-BB39-FBF9A706AC07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₹8.49 Cr from West in July, 497K units. DMart at 94% leads the zone; Reliance at 55% accounts for nearly all of the ₹1.56 Cr gap. Wellness Forever at 135% is a timing effect — hold loading.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3AFCD38E-9BDF-44AE-A628-ECFFFAE37E7E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FDB0A596-D3E1-49AC-9AC4-00158F925B6B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65657586-0AA8-4BC7-AD64-E8241C0BD63C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DMart 94.2% proves EAN discipline works; Reliance West 45% of billed stock not selling through — recoverable with store-level action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E7B82BA4-F1F4-4D70-8BEA-CDC982DBDE80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75F99866-ECCB-45F8-889B-CFEEB5705910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17AE17BD-28B7-43FC-88B7-91896B4148AC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Map Reliance West EAN-store failures; restore top-10 declining articles by 30-Aug; hold Wellness loading until timing is explained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D20310A7-0DB3-4B02-A38A-AEFA48252CD7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A777CE2F-907A-4F04-A2E5-B86ECE4E5A00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AC3B91C4-88AC-494D-997A-A8F3EAE4AAB3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Reliance West + NKAM Wellness | 30-Aug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37FEBCF0-F276-4B16-B3AC-79F624E6D0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55647610-FDD5-41EE-8BA7-7229A0B1796E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South-1 takes the national lead — Karnataka at ₹4.10 Cr is the one thing to protect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16E360B4-1464-4F6B-BF3C-954D4945D55F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5637F9C-2153-414C-B276-44A9BD239C0B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B644E5CC-B751-4496-ADA2-832F60881E56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8BB863F-6167-4315-8A74-C5D6664E513A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E4361C8-AC73-4FF4-9914-0DEA5F748C64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12490D7D-073E-4E58-BBF5-2EA3CC88E7BA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₹9.80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69A158B7-E076-4ED8-B751-89FB771E0D17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+63.6% YoY | 581K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6F83822E-A905-4BF0-8DD7-59FBC61D5E78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7315DE9C-5506-4C80-AFD8-F53E95D717F6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D88ADAD-35A6-49F9-BB5D-5893A4763FB7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25F3254C-E498-4563-9AB5-6BC5657B12A9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₹8.21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003F5E67-97D7-4D58-8356-06C948E4D41C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21.6% mix | 461K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CD397DCA-4E55-4910-ADE9-ABF28919D625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19441DFE-03C4-4935-8A06-599B85051864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8F6A15EF-6583-46DB-A5DE-2EB378C3DA00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03467100-52EB-4F19-8B3D-2F0BBA151A18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89.5%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48D62BE-3461-48B0-893D-53DC26529929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7F3151D8-6E09-47A5-8AB9-4313659A8C04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266CC4E7-51D6-4EE7-BD07-4D230D5F63B1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52CE79E-238C-4E2E-8C87-F3FBFCEEF353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3B7C6761-49F5-4504-A7AB-95FF9D55F497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₹1.03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9106E070-ABC2-4DDE-948E-0F83D04E7CEE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DD7EADAE-35E8-49EB-B597-31E8FCF5C0C5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AC80CEDF-FCEB-4724-BE49-3776975DC27B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0C5E07D5-F924-4F86-BFF8-A91CDF626B7C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Karnataka anchors 50% of zone value — protect it before pushing Tamil Nadu  •  Apollo at 81%: fix top-5 declining EAN-store pairs before month-end  •  Lulu timing vs supply ambiguous — flag for Aug data check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DBA0C4D9-FC55-400D-BB8D-1F62DBC934FB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40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f35dca6890d040ce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62EF4A80-7BB2-473A-9120-323704AAB14E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2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a55689006f294729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6BEFE488-A0AF-4A9F-ACF5-CA7F4D15643E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0A5547F1-8823-45EC-91BD-D1A6CBD6ED69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09015DEC-0A28-4B94-9BF2-AD1BC4C7CB05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Apollo  ₹2.84 Cr |+188%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F2DAAFFE-8F2D-4E34-AC30-AD0C145C565A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DMart  ₹2.31 Cr |+93%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8AAD945B-D77E-453E-AB4D-43E5E11036EB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Lulu  ₹1.22 Cr |+96%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6ABE4FE6-AD84-4139-A36E-BAF004EE42BC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Karnataka  ₹4.10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647E65E3-BB20-454C-A89A-EB7230A3B0CF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Tamil Nadu  ₹2.63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96A4507C-95AC-4766-B0E3-B55A4F5CFB15}"/>
              </a:ext>
            </a:extLst>
          </p:cNvPr>
          <p:cNvSpPr>
            <a:spLocks noGrp="1"/>
          </p:cNvSpPr>
          <p:nvPr/>
        </p:nvSpPr>
        <p:spPr>
          <a:xfrm>
            <a:off x="495300" y="71437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3. Kerala  ₹1.17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F712D84A-B129-4BBA-B577-6043DDD8E3CC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F1A89444-4951-42FD-8AD1-79D2C4E0E4DC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A84E5BCF-A675-4D91-8780-D16DE8983372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₹5.24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2E784B60-EF5E-4C0A-8BA9-D2828720071A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₹1.12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4C888802-78B3-4029-BCE5-33651393E0BD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₹1.23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18C368F5-96B1-4808-A2FB-DBA1AFC8D736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₹0.32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7B825BBF-B7A2-4B47-91A2-B5B5644C7AAE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₹2.76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2C5D41D5-5444-4AF5-94C2-D997C6540038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₹1.18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8BBD5F01-F78F-484F-925E-1AB924EAF159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₹0.61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3D06962D-165A-4C80-B807-2DFCB3F520C3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₹0.19 Cr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805B46FA-87AA-4004-81AC-02F3ECC5D4CC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17E0F557-1EC1-4D2B-9956-B90A888C4363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₹0.64 Cr | 7.9% of zone | ME Cocoa Ric… • ME Vitamin C… • ME Lemon Ant…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5DE43317-DB29-4DE2-87C7-5BA7B7547260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68486104-1109-4803-AD9A-B9E7E01C17F1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F87FAF1B-5170-47A4-A40C-4584079E9A66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AEB2BC75-5C1E-4D8B-AEC5-8947A0B38422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81CBCFBF-1DCE-43AA-A924-4E03AFCFDEB2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South-1 is now the #1 zone at ₹8.77 Cr — overtook West on the back of Apollo's 188% YoY spike.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7F327CC9-3689-457E-8786-E09AA3A87682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08971860-8426-4BE1-9D98-3FB37920EFBA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24070BF6-4E8E-4FD7-8CE0-06A20AC36285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₹9.80 Cr grew 63.6% YoY with the cleanest conversion in the country at 89.5%.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C57ADEC3-13D5-40FC-A893-3C84E2DF8C2D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0586A13C-7DD5-49F1-BF91-83B42E37D043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9CE58179-3119-4E57-AC10-7E59E4EF3377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89.5% flow — best converting zone nationally. Karnataka absorbs half of what's loaded here.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D5FE5B3C-9F12-4553-A999-739ADBE7D2BA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8AEE4A82-B513-4164-8C77-ECB4739BCDE3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71D7058C-6BA7-4862-8916-3BBBCAF992A7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Smallest zone gap nationally at ₹1.03 Cr. Entirely recoverable with routine store-level fixes.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DEF243C3-0D70-45AD-B480-95C780B010A6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ED95CE25-3EEA-42D2-842A-31A263F46F1A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D5F8DFB8-0FA1-4D0C-B881-2441A53CA85E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#1 nationally for July — first time South-1 has led. Lose Karnataka and this ranking reverses.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1E530C85-50D2-4716-9B6F-5FEBBEF9AB0D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566C320F-2AAE-4129-90AB-9317F4B9D221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FE698D94-8D96-4454-9AFD-B870209264A0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Karnataka ranks #1 with ₹4.10 Cr offtake.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50BE661E-C220-4C7E-92A5-23276998B351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ACE98DD0-6360-4F04-8613-4D4378579790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2B3F2375-0CDF-4EDF-9E4A-2F82BD69832B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Tamil Nadu ranks #2 with ₹2.63 Cr offtake.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E72DED50-C5C0-415F-A7D3-51559E1B5960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296BC5B0-430E-4246-B862-57511091F000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A7D71CC3-A436-4040-8DEE-7E2B048EBC90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Kerala ranks #3 with ₹1.17 Cr offtake.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D69ED69E-B90D-4048-9B2D-32FC8EF2CCD8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87AB2988-380E-4926-9834-B63F461FE19A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560B6B79-3D02-47E1-AC4A-7899F5C1E38C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50.1% of zone offtake.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CF17A5A6-410C-4D9A-9EF7-C35FD85BB676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FFD425C3-C2E8-4C56-8B88-046BA2CE44F7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DCDB5ABD-3620-4DF2-85E8-23FCDAA23E22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96.5% of zone offtake.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9E1153FC-6A25-44D0-8304-8E7F75C2F492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735A227F-6673-4CAB-A019-281EF44E68C3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1A2771FC-59CB-47B8-8CD0-1EA25CF41A86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₹2.84 Cr offtake; 81.0%.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18E14DEC-8151-4A7D-A317-93DE48D3D429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9951E91D-B328-4826-A087-03DA0C2023CA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38724973-E076-4A09-83EE-694812FD4787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₹2.31 Cr offtake; 74.8%.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82D2609D-1A64-4523-9376-2EF3F76DE005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CB00698A-CC8F-4FF2-8D03-EA6D67C4556C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3F04FA5D-0145-4BC6-9035-7543AF249D0D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Lulu: ₹1.22 Cr offtake; primary comparison unavailable.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EEE29FB4-1FB9-466D-8C29-2413F6D08435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B05824A0-11F0-471D-A4D1-656EEEDF7622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A4951C76-5AAB-4746-AF04-DFADDBE40269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34.7% of zone offtake.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E669E0B4-C24C-41DF-AB3E-0A5196C0B445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904DD817-2421-4037-828F-C08485663F68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88F3A24E-3F2E-4073-BB6D-F87895BDE9A2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77.8% of zone offtake.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55B572D3-0C2D-4EC8-9ACF-EB7AE40803AA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South-1 NPI mix 7.9% | Priority: Apollo × hero-EAN availability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8840959B-4BEE-44C0-B81B-583DD2AD16FE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E3729C39-D3F8-4F76-BC3F-4DEB05BBB610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44877A13-698F-4617-A58F-61054D85A894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South-1 led all zones in July at ₹8.77 Cr, 461K units — 89.5% conversion, best in the country. Karnataka at ₹4.10 Cr is the load-bearing pillar. Apollo dipped 3pp below its benchmark; fix EAN-store gaps before it widens.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8FF9D2C1-4F46-4326-868E-362283C2020D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4BFAB64F-1552-4DFF-91EC-01534D1F9546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E77A8F8E-3180-4DF2-B6FD-A83D5521C184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Karnataka anchors 50.1% of zone value — losing it hurts more than gaining Tamil Nadu; Apollo's conversion dip is 3 pp below its national benchmark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BDE83630-2F5F-4699-B001-8ECEC4DCB5BE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DD1D1400-6F1F-47F5-A04B-432DB19FB680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AAC2BF7B-0021-470B-9AA4-FAC2BD3A3276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Apollo NKAM to fix top-5 declining EAN-store pairs in Karnataka; maintain TDC Face Cleanser OSA which underpins zone conversion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CC6CCA8B-8A2B-430C-92F0-54ABDB05F11C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D7038AC5-A65F-45EC-A930-FB5260057DFE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CE6674B8-D6F6-494F-9795-9023A0D8C6D2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Apollo S-1 | 28-Aug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366CD4DD-9E31-45B3-BF19-0A0A348A29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084CF15-20BD-4B87-B3EF-105E8B6D395E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North billed the most nationally — but 30% of that primary is sitting unsold in stores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77BF285-1292-4A5F-B07F-7FEDA5BB4AC7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837265BE-9A3B-4112-BA73-358F26C009C4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9209B02-69EC-4FD3-B368-4791498EB734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EFBF3502-0FAE-4203-A114-7B8010F53F41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4DB56D76-67CB-4B59-BC76-37E352D241F4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9F5AC437-DF39-4718-9BBE-B5AF037F851C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₹11.95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1C452577-4F09-44A4-B614-6AD545814554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+134.3% YoY | 649K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A363AC1-89D6-49DD-A001-996C4E453C36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1CDCE2A-293B-43F8-A5E3-7F72D7B989EC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7E2F2C2B-2276-435D-9AE6-8B8828B9C161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E7984F8-E093-4013-A74B-A9A2575E6A0F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₹6.98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918E4FE9-BBBA-4F04-BEAA-2DDA113B74AB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20.5% mix | 442K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BC0BA1B-0A52-4142-85E8-9EB0AA6BC5D0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90D381E3-97FE-4FAF-AFE7-5FB297415512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F3E88894-2696-44C7-8618-2C0FE333D664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03A7AEA0-C3F9-42F4-9158-87E3D9798142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69.6%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BA5DF1B2-1DF6-4BC2-85F7-6527E2BC1008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2EEBCA5F-BA7F-48FF-89AC-1BCEDAA035B9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35F723A6-1973-4E94-B4A7-B31F6EE2E02E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E7C1E133-2F2F-46A7-8013-DF741818322E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DEBAF568-6BD6-45F4-B8BD-4158AB24FA4A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₹3.63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72A8BB55-73AC-420F-92E7-53091662783C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248FF35B-A9CA-4DDA-9340-5A567A797743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E7B460CB-F08A-455D-8B58-720BFD4750D7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6229D7E7-67A5-4F87-8DC5-CDEED8E96E81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Reliance North 44.9% conv: check Aug offtake by 05-Aug before any re-loading decision  •  Apollo at 98.3% confirms genuine demand — treat it as the zone benchmark  •  Delhi NCR + Rajasthan + Punjab = 74% of zone; all need weekly hero-EAN OSA tracking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8C56F96D-28A5-4FA7-AFE8-BC000AC8E96B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40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00c5267dba7a483d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CB7808EC-EDAD-4143-86C6-964C89F31F1A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2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7927e8b58e0943c7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FCD2022E-79FC-4418-838D-0229D6C2D6F4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A3E67BC5-5FE3-4D86-A857-E5D4E5223600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352E4BD3-925A-4318-8194-A27E11E524E4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DMart  ₹2.53 Cr |+201%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FEBFDF5D-37C3-4EA3-BA26-D3B118C535BB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Reliance  ₹2.40 Cr |+179%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2F52C013-BC78-4E41-9886-47E68BEBD3D2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Apollo  ₹1.16 Cr |+149%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175FBF9A-A0BC-4B13-9048-33D1D538D963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Delhi NCR  ₹1.97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B2EB835E-CF8B-409E-A03A-9782728BFCCA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Rajasthan  ₹1.67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3D38EA24-1EF2-4BBA-94D1-5BC808752F0D}"/>
              </a:ext>
            </a:extLst>
          </p:cNvPr>
          <p:cNvSpPr>
            <a:spLocks noGrp="1"/>
          </p:cNvSpPr>
          <p:nvPr/>
        </p:nvSpPr>
        <p:spPr>
          <a:xfrm>
            <a:off x="495300" y="71437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3. Punjab  ₹1.55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E6B779BB-6424-433A-8F92-37AE4045DC77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0EF95DDD-C583-45AC-94E9-603891DBEA39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A9AA2C27-660E-4422-9C7D-B701920E36A2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₹4.74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560D6C34-05B0-4FD4-B92E-D888DC0A2AA4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₹2.09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2F1CABFD-A32D-4118-9C07-17CD2373C426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₹1.68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BD152060-C03E-451D-8B5F-13C5171B50E7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₹0.35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DFB57E58-BD60-4F2D-A209-2A134F8DA9A2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₹2.12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4CC292D6-C10A-4C19-BADA-15D90ED40962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₹1.41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7A46550B-4E4F-4C92-9AE4-C46321FCDA29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₹0.36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C6D4711A-BC36-49FF-B29E-2ABD95479BD5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₹0.10 Cr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A8862AF1-EC12-44D7-9C7A-277F8187FF59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974DCF24-6E42-419B-BC9B-69C4204DE394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₹0.65 Cr | 9.2% of zone | ME Onion Hai… • ME Onion hai… • ME Vitamin C…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6317928A-5F8E-46CC-ADF0-33B78F36D3E2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759F6675-4716-4CA1-B00B-A34EBC15160A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89469294-E7E0-49C3-AE21-58464AF67580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0DA28C4D-A8A7-46E4-97D1-F99B39F3F1A2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C5CA30C5-0E4F-4C47-A8C7-BADC08B7C413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North jumped from ₹6.99 to ₹8.32 Cr — 134% YoY primary load — but conversion tells a different story.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41EFE599-847E-4A33-95A2-B6772802B055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65EC825C-0A2F-4D7B-850C-352CD8FB8BED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FE473B89-4BEB-4F87-9FD1-B5CBA709D02E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₹11.95 Cr is the heaviest zone load nationally. At 69.6% flow, ₹3.63 Cr is sitting unsold.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52CB28DE-C73E-403D-801C-518DBAFBCFB0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6F4D11FA-50F1-4140-80A0-F48A5837336C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027F4B36-5E32-4DDD-B4A9-74879CBCA209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69.6% conversion — second-weakest zone. Reliance at 44.9% is the single driver of underperformance.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DA2EB2B0-B09B-4601-B468-9055B40BF151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6B85BDF3-30EE-4C0E-8668-61E41386C6A4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E9508951-E639-4C09-B905-32202529BE75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₹3.63 Cr gap. If Reliance were at Apollo-level (98%), the gap would shrink to under ₹0.50 Cr.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2C760F37-6752-427D-92A7-98CFC188F35D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5894A930-EE51-469C-8A24-43FF91331927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1EB7DF2F-4FDF-48DE-BC54-EAC026062FF1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#3 nationally — but primary load ranks #1. Conversion gap is the only thing holding North back.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69F616A2-45B3-4FA5-BBEA-72AC79547999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82EBBAC4-DF12-4151-840E-E372C7B0B0B9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B9384FF5-80B4-4A54-9779-F1F3582D43AA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Delhi NCR ranks #1 with ₹1.97 Cr offtake.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FBBBA56A-3E28-4D6A-B261-BC0967D84BFB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B858BA27-688A-4100-ABDC-954DA22BE5D3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7DA12F4E-366F-4EBF-8660-2DAF4DD908BA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Rajasthan ranks #2 with ₹1.67 Cr offtake.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68E276E7-82A3-42B2-B15A-570A2C0A5CE0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9036AFC3-7FC9-4786-B6F2-6F01C1AEF715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C092C142-EEB6-4372-94C3-CBC4FD12C21C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Punjab ranks #3 with ₹1.55 Cr offtake.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9F9704F9-26D7-4597-BFBF-D3DA3033E4F3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264B1677-54B7-4621-A4F3-C381C998E87A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D56838FC-C4A6-4D02-9603-9C6B27F759F1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28.2% of zone offtake.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8E3158B6-5437-4C85-A6BE-C52647391CF0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1D3589E3-3DEC-4EF5-AC1A-10CC3BB612D1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B186D42B-BC76-49DC-A92A-57DA5B7DC15A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74.3% of zone offtake.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997DDC74-6C82-44DF-B37B-A9B27BFCC6A7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FC6EF3D7-859C-483F-9873-3EC1F8068B8E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BD4D1652-987B-46C2-83DD-5818A47A49D7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₹2.53 Cr offtake; 77.9%.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6FF64BD9-080D-48C9-B808-ABD4B2B0DDFD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FD57A752-8BD5-49B3-9AC5-140F95D04B74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C115E3DD-1DEF-43FC-A1DB-47B1C1E59510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₹2.40 Cr offtake; 44.9%.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D8E20F5D-4761-4335-9FAE-C88F05C082A9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63A851FA-777E-46AA-9D49-258D8F7CFAC4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1A8DA160-C302-428F-B338-CC174255A78C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₹1.16 Cr offtake; 98.3%.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7EB38944-077F-4AF1-9B3B-6264DEF5DF01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D83DBDE9-2E66-4CE5-BA9F-7CF9C893E5C4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9F565DE1-07E6-4AFF-BA60-A397E34E4214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36.2% of zone offtake.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682FAD36-0144-4496-997E-D98190BBE36A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81C1D99B-DA7E-4940-A345-377CAECE9560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349EB687-98F2-4A49-A394-00AB7EED0748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87.1% of zone offtake.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7BB4758E-BCA4-4A4A-AD4D-81D4D2A47E9D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North NPI mix 9.2% | Priority: DMart × hero-EAN availability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BB280886-AA5C-421A-ABEC-1DE9EB8312E0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CDCE55CE-DD0F-4DCD-AFA4-DA7430F0FCDB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1A93072B-84D8-42BA-8B5B-F9ABD535FAF2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North billed ₹11.95 Cr primary but only ₹8.32 Cr (442K units) sold through. Reliance holds ₹5.35 Cr of that load and converts 44.9% — roughly ₹2.95 Cr of stock is in-store. Apollo at 98.3% proves demand is real when OSA is clean.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E3503C8E-766F-40BE-B906-949B039C867B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FA822164-5FF0-40AB-A7F2-DF359E84A249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CF868F94-0591-486D-9073-728806235FDF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Reliance 44.9% = Paisa Vasool (LY offtake +46.4% Aug-25; primary ₹6.68→₹5.42 Cr); Apollo 98.3% = real demand; validate Aug-26 offtake before EAN action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E653EA80-0038-4748-A833-59AAFA88B671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E143662C-4219-4C80-B6CB-CF6AD57E9EFB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D264E6FD-0277-41B2-BCBD-13A97F08D622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Check Reliance North Aug-26 offtake by 05-Aug; if &gt;80% conv hold EAN fix; if not, pull top-20 EAN-store pairs by 05-Sep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92BC9A67-54C5-4409-A9C1-FA99B0FBF179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83D63778-4A60-4D5B-8A2F-48BE93EA5D09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05501660-B341-4896-91AC-E72901F5642B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North ZSM + NKAM Reliance | By 05-Aug; EAN fix 05-Sep if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" name="">
            <a:extLst>
              <a:ext uri="{FF2B5EF4-FFF2-40B4-BE49-F238E27FC236}">
                <a16:creationId xmlns:a16="http://schemas.microsoft.com/office/drawing/2014/main" id="{290050A9-9F99-4FB8-8ABD-42BA5FBF17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13B5EBD1-8EC5-450C-9CC1-C54045ACD86A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South-2 DMart is the largest single-account recovery play this month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D5E09C3-3601-4DC9-8426-C10CBE7DB859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7A0E098-4FB9-4E52-8552-6737E99CC5EE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D2976DE-D3B3-4A77-B18D-C5ABDCC8AE96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4B4397DC-B871-4C9D-9EA9-65B35A605C9F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EBBD5016-22B2-49D3-8A61-7D41F0F85D9E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AC422D9-BF67-427C-AC25-0AD1B57D793B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₹6.89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F13541-71F2-4939-9C8E-7D9F4E5372C5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+69.3% YoY | 343K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7C44588D-CE7E-4501-9019-AF09307547D8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5B78B5B4-E662-46C9-8A4A-2EF59F1ACDF0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7D2915B2-C6A6-4ADE-9BB6-A3C89758CD1A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DF1C2E0D-477F-4ADF-99D8-8595EB9118BE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₹4.93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5A9E21E1-428E-46B4-951E-5FC457C1341B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13.0% mix | 299K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8B80EB0-6346-4B9C-A8EC-0B982BF1150B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87C25A7-69F7-428F-954F-716760A72076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80FC7BF9-2444-46EB-95B8-182B867B2CE1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E9CFB57-0236-4CDB-8C15-68307C02BCD4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77.0%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33B78D4-F2C8-41D8-B327-4E499E0BE432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93E79499-6FA2-49FD-BF7D-69489FF9DA61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78D87BDD-D3AC-432F-BDCA-E0D3B5A36D41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FCADAE78-BE7D-4C78-BDAA-F72A20FD25FB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6B2011DA-F054-4119-B9E7-CC345049B5D1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₹1.59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72BAAFD5-C7C3-4E1E-B7EB-82C905E99011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C87E1B57-6D8E-4D14-BACD-F99D6B9BC9A6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E9BAF44D-D849-4ADA-AFC4-3E1FB9078889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46622E66-C4A8-4321-9064-C596B4134A9B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DMart S-2 at 45% conv — run store-level audit by 28-Aug to identify top blocked EANs  •  Apollo &gt;100%: opening-stock timing effect; quarantine primary comparison until reconciled  •  Reliance at 82.5%: healthy — monitor only, no action needed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F79B92E1-7F6A-48CB-BE71-36A5466667BF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39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467df232fc254c18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6C33DD51-DCD9-40BC-BE9D-C9DECBBDA90A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1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c954bdb8aef643bc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AAC98C24-DCDC-4DF8-ABE5-2889155DC3FE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1D7F921-5449-4F1D-8A1A-7A78D546FAFE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2863C00F-6E7E-4ED2-AF12-F20A3A29CB9E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DMart  ₹1.95 Cr |+269%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3BA08C98-BB44-44AD-8E45-FF82D12EE540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Apollo  ₹1.64 Cr |+0%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6E2277A6-AD38-4603-944E-8279144B3C2E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Reliance  ₹0.67 Cr |+27%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3864CAD1-4B18-4825-A73D-F490CC45C8AC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Telangana  ₹2.56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EDC517FF-EF77-42E5-8C92-605B40F12CEB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Andhra Pradesh  ₹2.35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DA51B230-90DD-4DFE-A5CA-3F796072E54F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B422A0DD-7A0F-409E-B1E5-B4CA3F94DC83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7183D01F-862E-4D3F-9480-BD6D34A21EC0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₹3.74 Cr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FB258419-A7A3-4DE6-BFD6-F19FA8739B02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₹1.04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E62FC152-EEAF-4BB5-A857-72080E551C53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₹0.94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C2115A11-BE91-4FF9-9D8A-5F174E420A07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₹0.14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B064B0D-ED5A-44C1-BED1-EC471386EE03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₹1.11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F8D68EA5-E37C-436D-86CF-090BAD45E438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₹0.56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224E3DA0-E362-4C72-BF27-9E25ED7CEDE6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₹0.20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9B2E1CA1-7723-48BE-8306-B3419A140668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₹0.05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2BBCA0E9-75BF-4D64-BECB-920B2FC545B4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5B28E091-1F01-417C-B608-49EEE2562AF5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₹0.31 Cr | 6.4% of zone | ME Gentle Cl… • ME Onion hai… • ME Onion Hai…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9E4FD65E-540A-4594-BDFF-74D0A25928E9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4F0E1190-6B11-4768-8797-24F5EB010208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31466DC9-1A50-467C-A17B-FF9701F983C8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FFAB0134-4D45-4FBC-894A-F3857BA58941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3564F905-D34D-4625-8FDB-6FAA8ED6AA68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South-2 rose from ₹4.91 to ₹5.30 Cr — DMart tripled its Jul-25 level and is now the story to resolve.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78E9FDA2-D3C4-4C2F-B48A-0E4A6F71FB75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20514BBC-1EC0-4A6C-8227-16F36D6CC184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09471C5E-FDA4-4FAB-A022-DC2265BD1DBB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grew 69.3% YoY to ₹6.89 Cr; at 77.0% overall conv, the zone is steady except for the DMart gap.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D5044893-AC32-475A-A647-38ADE078D782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E9697053-A7B0-4ADB-B662-3AA2AF9C2130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147138EC-A5D0-439D-9465-33FBD837A59C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77.0% zone conversion — solid, but DMart at 45% pulls the average down single-handedly.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396EA01D-A796-478D-9D6A-1049F2EF2C26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E47AE658-8F39-4594-86F7-706B606B2F44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2CBB00F5-0447-4169-9684-CDB04FFA74C8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₹1.59 Cr gap. Most of it is DMart — the ₹1.95 Cr DMart load converting at 45% leaves ₹1.07 Cr on the table.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B82FD978-078E-4D7B-9F1A-CEDDA47DAD5A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BEE458F9-501B-4216-BD75-97AB7DD49AA6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FBC67213-A834-4C6B-875E-4FE7FB2292B7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#4 nationally. Close the DMart gap and South-2 moves comfortably past East.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C8A6D858-9FA7-4987-B9D0-8EEFF787C78B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18EF80EA-0738-48B6-B376-D43AC6FC8CF6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7FC686D3-447E-421C-B3A7-007A5B29F8C4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Telangana ranks #1 with ₹2.56 Cr offtake.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E3411A84-ED81-479F-9787-FA0D9291722F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AAF7C9AE-6522-4EF8-9545-351F7C5D5407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4C2F5913-C3D1-47DA-AEB9-5D3C21E31D47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Andhra Pradesh ranks #2 with ₹2.35 Cr offtake.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C554E1F2-F973-4BE9-9BA8-2543599461D2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B1042FC7-CC8C-4E20-8DC2-AA07B6E715FF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17C7FC1A-E922-42D3-B9F9-7AAB87D6F2D8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52.2% of zone offtake.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88703E03-DDA2-4619-9DF8-28E2FC408A84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B1B0B8B4-65A2-482E-B316-0119F4F07CE0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A6A02087-3789-42D8-82D9-0F0205494156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100.0% of zone offtake.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41EDD716-E9CF-49B2-AC05-F3FAFC2F2211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E5295B95-47EC-4DEA-A2F2-83EA707F2C4C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D882D383-CBA1-4F36-90EE-129121477B8C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source reports 2 material states in the displayed zone cut.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4075B5E5-E9FD-4DD9-B8FA-7D45C4EDDD1E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66B90F68-D6B1-4AF8-86B8-0EBDECDA517C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21F4043D-FCBD-4125-8D34-47DC5CCB1CB6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₹1.95 Cr offtake; 45.1%.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EAD48B66-4961-4851-8335-6411840CC178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19831E40-09D3-4E33-9ABF-57DD03802DFD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77A663AB-E266-456B-820D-28AB1E42FAF5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₹1.64 Cr offtake; 148.5%.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7866BD2D-B216-40FA-91C6-CFECE86261EF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2739785A-4004-4560-B2E3-2BA98F161088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B4DFCBF8-A20E-4080-B027-5DC3E8FD8D97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₹0.67 Cr offtake; 82.5%.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7A16AF58-9AC3-452C-BF9B-224988BC3673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3332826A-29D8-4B00-893D-89F745742B23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AD81446C-D728-49F5-AA80-93AA2A84F65B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39.7% of zone offtake.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5BF71CDD-A172-4AD5-A792-359DA7742BB9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0D711C07-2FF4-46E1-A786-2903858E4A95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85768420-87D9-4A18-881C-1B9CA09897C4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86.6% of zone offtake.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74398E91-C76D-44CB-B892-03B61F326E39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South-2 NPI mix 6.4% | Priority: DMart × hero-EAN availability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733D9E95-7DCE-44A7-817B-72EB9C87283B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8D381824-E064-49D4-B85F-ADBB96CBA9F0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01FD7089-EC16-4C55-9565-45298BC72AB7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₹5.30 Cr offtake from South-2, 299K units. DMart grew 3× YoY but converts at 45% — pipeline issue, not demand. Apollo at 148% is an opening-stock timing effect. Run the DMart store audit before drawing any loading conclusions.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6C25DED2-ED11-452C-A08A-62F1E74A3FA3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E41B40EA-8D72-43A7-8D05-944689093206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0EECED6D-D18A-4A1F-9FA5-71E486A7D158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DMart S-2 = highest-value DMart recovery nationally; Apollo's &gt;100% rate is a data risk — loading into a full pipeline on a wrong signal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87F7F61E-EF25-4067-A732-4F475104E976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104C6ECC-26D7-428B-8D6E-398CED933077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B271941A-E974-4F42-82C6-5A47FF17D746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DMart NKAM to run S-2 store-level audit by 28-Aug; quarantine Apollo S-2 primary comparison until opening stock is reconciled; freeze new Apollo S-2 loading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DA476811-EFD2-4764-B136-CA9B32B1994E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C28342FC-AC40-46D1-90A5-C723BDA5B6A9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9501B35F-8354-44F3-9A84-A8B3D57399DD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DMart S-2 + Analytics | 28-Aug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1227A374-2450-4B2A-9F4C-396CD005A7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D240BD7-BA21-4653-A7EE-67B7FEE23208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East at 62% conversion — Reliance stock is in-store; moratorium holds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3CBD3621-7FC4-4050-86D5-168E1F3FA811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C4F97C69-8536-40E8-868C-3E6AA43668A4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30141239-FC20-4A26-9066-97DB747E537E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FB37501-2075-4783-A5F7-D72B4E663239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51BD189-4642-4C09-B8B9-BDE168E7A8FF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EA64A26-269C-44AC-B711-10E6D90021A6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₹7.83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D8ACBD09-608A-4D46-BDBF-5FBB1BD0FAC0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+115.7% YoY | 409K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84B2DDE4-3FAB-4147-A4EB-C4CEAB19C867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A52ECB0B-B051-4152-9AA0-97DD3519D6AE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BB09E32A-255E-4892-B20F-CB2355D824D8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6E29528-6487-472A-8C5C-E75CAFD9305A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₹3.55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60D8B60-D2CF-49E8-AC6E-15891BBB352A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11.9% mix | 245K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EB636B4F-D045-4CD5-93A4-6102DA12A3A4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338EB6D7-F579-4E8D-B55B-71487CD26046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D6C1A330-CC47-4BB8-9299-0F59C775ADB1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F4FCBF25-0BFE-4FD8-9C0B-DBE127ED4251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61.9%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0AA6C97-C1A6-4560-87AF-D8213CE549B4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D6CE453-C42A-4C48-B190-F6AB7EB470A2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79934F38-4D18-4668-9FD0-2619BD646C20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703F287-898D-4E83-B858-14FFD83A8B28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F7B1A9C-4637-44E4-B209-9F8A40483A74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₹2.99 Cr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4F98D717-217D-4E75-8016-D11FBE837D94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B652F215-FEEB-4D76-AFE6-BB093E28C9E1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F63DA261-7DF6-4D9C-8CE9-0FD837B703B3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7026CD4D-B0D3-4FE0-8208-21C59CD04EBA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Non-hero loading moratorium stands until conversion crosses 70%  •  Validate Aug-26 Reliance East offtake by 05-Aug — if still below 70%, pull EAN-store list  •  Apollo East is NEW: protect launch availability; NPI at 10.2% is a secondary exposure to manage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D5D9707A-1884-4F81-924F-504ACD37DF06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40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ba3769e1c9484e65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87F63E05-4C42-4CA8-B62B-B513177154CC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2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6b4d82ef6fd14b5e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3CCD4169-B5E4-4770-8D75-DEC233FB3A95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8C36BB2E-0A21-44F2-ABC1-7B7C267B3E7A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39C71DE4-9799-41BC-A6B1-994408931301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Reliance  ₹2.16 Cr |+119%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3D5486E4-59A0-46E0-80AD-3A0311E261CF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Apollo  ₹0.80 Cr |NEW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5BFC91F7-B67B-4BB7-AF86-F89015AAD234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Vishal Mega Ma…  ₹0.17 Cr |+65%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7A44AC08-992F-41D3-A4BA-0870631ECBDA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West Bengal  ₹1.56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A12EA123-3299-4650-8FD8-D81424556C9F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Odisha  ₹0.60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15725FE5-E635-4108-B6BF-C2F07FF054A0}"/>
              </a:ext>
            </a:extLst>
          </p:cNvPr>
          <p:cNvSpPr>
            <a:spLocks noGrp="1"/>
          </p:cNvSpPr>
          <p:nvPr/>
        </p:nvSpPr>
        <p:spPr>
          <a:xfrm>
            <a:off x="495300" y="71437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3. Bihar  ₹0.49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023D04AC-6D23-4586-8E14-B4CC54033DE8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A725963D-EECD-4297-BB54-3A3EB529EC29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9AD37903-6919-42A9-A013-AF6438663A51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₹2.91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7B3C24CC-B726-461A-913F-8E5863692404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₹1.34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D3CF295F-A268-4510-B2CA-A4721E5C2070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₹1.18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9FE5D5AC-8F1A-4932-973D-636D844F99F7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₹0.19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4A6E4533-995F-45C0-9E9E-46B1A90B9B95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₹0.60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15A88082-107F-40E5-8C5E-20000D02D1C2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₹0.47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B9F0FB46-2F88-4827-A64C-7CFE24238BC0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₹0.09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785195CC-37CC-48EE-9E5C-1914BA4910D6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₹0.05 Cr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44397867-D068-4903-B33A-B31D24EACBC3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75440072-0CC1-4BC5-B78F-F64DD2CBA52A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₹0.36 Cr | 10.2% of zone | ME Onion Hai… • ME Lemon Ant… • Rosemary Ant…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322444F7-FC2A-4879-AE9B-11710623CF74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BFE14859-5EB1-44B7-9D27-0D226B35D542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39E036A4-9088-4D89-9B7A-91F293EF1C57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10973B88-2A85-4C69-B598-B5CE74A5E452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3B37EE9E-5573-472C-BD3C-5720456C0579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East moved from ₹3.55 to ₹4.85 Cr once pending chains were counted — still the weakest converting zone.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84B62412-D8DB-4D94-8A5F-C429B9959645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4374951A-34AF-40D3-928B-123B934D6200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E5D752E6-9807-4260-BACD-6077EB8E6E44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Primary ₹7.83 Cr (115.7% YoY) is disproportionate to offtake. Close to ₹3 Cr of stock hasn't moved.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4306609B-3839-4A2C-B35D-F96A0814237C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8673C707-26AF-43C1-ABDE-B587D1FD75EF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170BCE32-7D1F-4212-885A-44F47A6D9FE3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61.9% conversion — weakest zone nationally. Reliance holds 44% of the load and converts barely half.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AA8D8DDF-DF49-4498-9971-3CDDAAEA97F7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031672C2-1CCA-4E71-8E70-74ADB3DB25D8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B5FD189E-97BF-4DAE-ABB8-A2724A3A4104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₹2.99 Cr gap — second-largest nationally after North. Reliance East alone accounts for ~₹1.90 Cr of that.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D835BE02-A721-4C59-B261-643E165E6224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93B209B6-B156-49A2-A588-5FA6C5B5EA41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FF3B31E4-A862-4A0C-AFF8-BDD8453CC0BE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#5 nationally. Non-hero loading moratorium is the right call until conversion crosses 70%.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C008CE31-8B65-4F13-80C8-82479D680830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3F58ECEF-7FE2-4B19-85BA-4411EB56EF66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C925BC35-FEC7-499A-A4B7-19C8725C7B22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West Bengal ranks #1 with ₹1.56 Cr offtake.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53CAF1BE-5C5F-4B13-BE71-4107E6BA95F7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F99E56B4-ED36-4ECC-9E83-7B95E4FBB2D6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8F767BE3-57B4-4DBF-99F6-B607180D50D0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Odisha ranks #2 with ₹0.60 Cr offtake.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9D62F6DC-DA28-4329-8E1D-579CC19A358A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567D0537-584D-440A-B79F-B18B88BE3BDA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3465A72E-23C8-44C8-A9A2-3031156AEF03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Bihar ranks #3 with ₹0.49 Cr offtake.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3EA99529-78E3-4A40-904F-4A7710EFE7D6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E5B3B42C-E324-439B-9D83-56DE163CAAAA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DAEDA6C7-3A63-4C0F-8BCF-98036EA6C189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43.8% of zone offtake.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FD82F0C3-D4AD-402F-AF59-89285183B47D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7742CE6E-6FF4-4CFE-B9FE-EF2E5D486A82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D7BCE096-A16A-4EB9-A43D-D87F75B7154D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74.3% of zone offtake.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D429F0B9-1EC4-4A61-B514-E8430DCC66D7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B0397E24-5F3A-440C-A4BF-1FF8A1DA977B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0965A45D-ABA8-415C-840A-1A11835FD4A4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₹2.16 Cr offtake; 52.9%.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732941AC-CFFA-424A-88AB-1B6F02506CC1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8819AF84-CA09-4943-8759-4D28EB8249CC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A3BC489D-9389-4C01-8AF2-BCD018A311C5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₹0.80 Cr offtake; 121.1%.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C5367463-00C7-4E81-AC3D-5FBCDCA09A24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DF432B66-4669-4012-A88F-9F6EE4F88731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60B65440-3BD3-42B3-BF52-D101C8C69514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Vishal Mega Mart: ₹0.17 Cr offtake; primary comparison unavailable.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1484FD4E-48F9-41A2-BDF7-6B5BCAC67768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D71BD2FD-E592-434C-9E16-0078B3DD2109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C3A6BC2B-AB8A-417E-9F37-7E3D0474AF97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60.9% of zone offtake.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F993C6E9-5F09-4C2D-8B98-3793DEAEA241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47BD1D84-E11C-4BF7-8EE9-01C7018DF833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99C93FDE-FE53-4105-AEF6-1CA74A77101F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88.2% of zone offtake.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72DA48CD-D128-40B4-B148-76C0E242BC11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East NPI mix 10.2% | Priority: Reliance × hero-EAN availability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4B2F9B23-FF2F-4E5B-AB18-2038E78B5D76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DE372E18-DC60-4E89-A988-6573D6F9F251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29944DC8-38F9-4424-A3D8-3C5DBA8A832F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₹4.85 Cr offtake, 245K units — weakest conversion nationally at 61.9%. Reliance East holds ₹4.08 Cr primary and converts 53%: roughly ₹1.90 Cr of stock is sitting. Non-hero moratorium active. Validate Aug offtake before any re-loading.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34D753D9-5801-4006-B53D-D8FBDCAE619D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8CB9FF07-EF61-4C50-A286-CDB5F21D41E9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81707F77-CEFD-40AF-866D-D080A384B6D4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East is over-loaded relative to demonstrated demand; 10.2% NPI mix risks inventory buildup if sellthrough is not confirmed before the next primary cycle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30A739DA-826D-4E78-A9A4-C0F4F896423F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715DA62F-9DE0-43F8-B71C-A3E9547F56A8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690F7DCB-C945-4906-AA02-5A07D85CAF50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Non-Hero moratorium stands; validate Aug-26 Reliance East offtake by 05-Aug; if conv below 70% pull EAN-store list; Hero-SKU OSA continues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13C1D9A1-C4ED-4F0F-8054-1270E9228E01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A26A8C7D-DB83-4C55-82C8-156253300F06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2814B9D7-7ED9-465B-B688-F8A3B026FC07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East ZSM + NKAM Reliance East | Offtake check 05-Aug; EAN action if Aug disappoints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" name="">
            <a:extLst>
              <a:ext uri="{FF2B5EF4-FFF2-40B4-BE49-F238E27FC236}">
                <a16:creationId xmlns:a16="http://schemas.microsoft.com/office/drawing/2014/main" id="{2F188770-DD9D-45E3-8DE7-311093C003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588473E-FE6E-4B70-94C0-761B59300A79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Central opens clean at 107% flow — protect this rate before the pipeline normalises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3FD2A213-0D8B-4B39-A642-5BE3B36B2681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Zone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FAB70E1-4FDB-426A-BE4E-8FF70319CAB6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D758F608-9069-49A2-83CE-2F63D00E568E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AE361E68-5DF5-4FDE-BDF7-1A39E36228FE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1965D17-7EBB-44E5-B4A1-623F599B412C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B0B7D8DD-C109-44C1-958A-F589B7D326B8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₹2.69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6C2E5450-8424-4301-A0B6-5F8B8E741EE0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55448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+202.2% YoY | 160K units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41AFEC77-1592-4A27-8C8D-741E97258D19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904014D-B742-4B7C-BDB9-DC4FA9FD0243}"/>
              </a:ext>
            </a:extLst>
          </p:cNvPr>
          <p:cNvSpPr>
            <a:spLocks noGrp="1"/>
          </p:cNvSpPr>
          <p:nvPr/>
        </p:nvSpPr>
        <p:spPr>
          <a:xfrm>
            <a:off x="19335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8EF49B5-B047-413B-A91D-DC53E8B4FEBB}"/>
              </a:ext>
            </a:extLst>
          </p:cNvPr>
          <p:cNvSpPr>
            <a:spLocks noGrp="1"/>
          </p:cNvSpPr>
          <p:nvPr/>
        </p:nvSpPr>
        <p:spPr>
          <a:xfrm>
            <a:off x="2105025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395C62E6-9F82-4BA6-862E-50EFA7D125CC}"/>
              </a:ext>
            </a:extLst>
          </p:cNvPr>
          <p:cNvSpPr>
            <a:spLocks noGrp="1"/>
          </p:cNvSpPr>
          <p:nvPr/>
        </p:nvSpPr>
        <p:spPr>
          <a:xfrm>
            <a:off x="2105025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₹2.66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7D96BD6-DA19-467C-9621-DCD13D6DF2B9}"/>
              </a:ext>
            </a:extLst>
          </p:cNvPr>
          <p:cNvSpPr>
            <a:spLocks noGrp="1"/>
          </p:cNvSpPr>
          <p:nvPr/>
        </p:nvSpPr>
        <p:spPr>
          <a:xfrm>
            <a:off x="2105025" y="2028825"/>
            <a:ext cx="1143000" cy="3474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7.1% mix | 171K units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422DFEE1-1AE9-4E91-BA75-EEE23F9628C3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14097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D9A2077C-7296-48D2-95D3-4BB022C87D85}"/>
              </a:ext>
            </a:extLst>
          </p:cNvPr>
          <p:cNvSpPr>
            <a:spLocks noGrp="1"/>
          </p:cNvSpPr>
          <p:nvPr/>
        </p:nvSpPr>
        <p:spPr>
          <a:xfrm>
            <a:off x="350520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64804EE-BF28-4923-9452-0C56C2925B76}"/>
              </a:ext>
            </a:extLst>
          </p:cNvPr>
          <p:cNvSpPr>
            <a:spLocks noGrp="1"/>
          </p:cNvSpPr>
          <p:nvPr/>
        </p:nvSpPr>
        <p:spPr>
          <a:xfrm>
            <a:off x="3676650" y="14001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CONVERSION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40011A50-0096-4617-96F4-662F813395A1}"/>
              </a:ext>
            </a:extLst>
          </p:cNvPr>
          <p:cNvSpPr>
            <a:spLocks noGrp="1"/>
          </p:cNvSpPr>
          <p:nvPr/>
        </p:nvSpPr>
        <p:spPr>
          <a:xfrm>
            <a:off x="3676650" y="16287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107.1%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A7D38F3-B84D-4A14-B1D4-B9BD0E96DE50}"/>
              </a:ext>
            </a:extLst>
          </p:cNvPr>
          <p:cNvSpPr>
            <a:spLocks noGrp="1"/>
          </p:cNvSpPr>
          <p:nvPr/>
        </p:nvSpPr>
        <p:spPr>
          <a:xfrm>
            <a:off x="3676650" y="2028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B0D59B83-B25D-4130-AC11-42A8B491B0E9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141922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04927726-E1F5-447C-AEF9-5D4B1F77531D}"/>
              </a:ext>
            </a:extLst>
          </p:cNvPr>
          <p:cNvSpPr>
            <a:spLocks noGrp="1"/>
          </p:cNvSpPr>
          <p:nvPr/>
        </p:nvSpPr>
        <p:spPr>
          <a:xfrm>
            <a:off x="5076825" y="128587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36D57A8-3D76-4B0E-8A1A-A1FCCEBB66FF}"/>
              </a:ext>
            </a:extLst>
          </p:cNvPr>
          <p:cNvSpPr>
            <a:spLocks noGrp="1"/>
          </p:cNvSpPr>
          <p:nvPr/>
        </p:nvSpPr>
        <p:spPr>
          <a:xfrm>
            <a:off x="5248275" y="140017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GAP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0C6E1B33-3226-4265-89BB-AFDD0B1A1E89}"/>
              </a:ext>
            </a:extLst>
          </p:cNvPr>
          <p:cNvSpPr>
            <a:spLocks noGrp="1"/>
          </p:cNvSpPr>
          <p:nvPr/>
        </p:nvSpPr>
        <p:spPr>
          <a:xfrm>
            <a:off x="5248275" y="1628775"/>
            <a:ext cx="1152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₹0.19 Cr surplus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3728434A-1952-4B6A-8D40-2FCC4B97F317}"/>
              </a:ext>
            </a:extLst>
          </p:cNvPr>
          <p:cNvSpPr>
            <a:spLocks noGrp="1"/>
          </p:cNvSpPr>
          <p:nvPr/>
        </p:nvSpPr>
        <p:spPr>
          <a:xfrm>
            <a:off x="5248275" y="2028825"/>
            <a:ext cx="11525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Primary − offtake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13CD0C66-910F-48C5-A226-55DE88646708}"/>
              </a:ext>
            </a:extLst>
          </p:cNvPr>
          <p:cNvSpPr>
            <a:spLocks noGrp="1"/>
          </p:cNvSpPr>
          <p:nvPr/>
        </p:nvSpPr>
        <p:spPr>
          <a:xfrm>
            <a:off x="361950" y="2476500"/>
            <a:ext cx="6134100" cy="4572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67D901EA-B154-4560-A8C6-04EF98122E4C}"/>
              </a:ext>
            </a:extLst>
          </p:cNvPr>
          <p:cNvSpPr>
            <a:spLocks noGrp="1"/>
          </p:cNvSpPr>
          <p:nvPr/>
        </p:nvSpPr>
        <p:spPr>
          <a:xfrm>
            <a:off x="476250" y="25336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MANAGEMENT PRIORITY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9F073B1E-8857-49E3-90CF-76585746E560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442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DMart Central 95.3% is real demand — document EAN cadence as the national DMart benchmark  •  Reliance 51%: confirm whether this is opening stock or a true demand gap before re-ordering  •  Apollo NEW: validate opening stock first; do not load beyond confirmed sell-through rate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795FF0CD-CCA6-442D-878B-E93F90F82068}"/>
              </a:ext>
            </a:extLst>
          </p:cNvPr>
          <p:cNvSpPr>
            <a:spLocks noGrp="1"/>
          </p:cNvSpPr>
          <p:nvPr/>
        </p:nvSpPr>
        <p:spPr>
          <a:xfrm>
            <a:off x="3619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139" name="Chart"/>
          <p:cNvGraphicFramePr/>
          <p:nvPr/>
        </p:nvGraphicFramePr>
        <p:xfrm>
          <a:off x="3619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8a1d343107c24bdb"/>
          </a:graphicData>
        </a:graphic>
      </p:graphicFrame>
      <p:sp>
        <p:nvSpPr>
          <p:cNvPr id="30" name="">
            <a:extLst>
              <a:ext uri="{FF2B5EF4-FFF2-40B4-BE49-F238E27FC236}">
                <a16:creationId xmlns:a16="http://schemas.microsoft.com/office/drawing/2014/main" id="{0A67BFCE-0918-49FA-B31E-84D16D894F9A}"/>
              </a:ext>
            </a:extLst>
          </p:cNvPr>
          <p:cNvSpPr>
            <a:spLocks noGrp="1"/>
          </p:cNvSpPr>
          <p:nvPr/>
        </p:nvSpPr>
        <p:spPr>
          <a:xfrm>
            <a:off x="3600450" y="304800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141" name="Chart"/>
          <p:cNvGraphicFramePr/>
          <p:nvPr/>
        </p:nvGraphicFramePr>
        <p:xfrm>
          <a:off x="3600450" y="3286125"/>
          <a:ext cx="2895600" cy="1666875"/>
        </p:xfrm>
        <a:graphic>
          <a:graphicData uri="http://schemas.openxmlformats.org/drawingml/2006/chart">
            <c:chart xmlns:c="http://schemas.openxmlformats.org/drawingml/2006/chart" r:id="Rcb7f0b9eee784ba4"/>
          </a:graphicData>
        </a:graphic>
      </p:graphicFrame>
      <p:sp>
        <p:nvSpPr>
          <p:cNvPr id="32" name="">
            <a:extLst>
              <a:ext uri="{FF2B5EF4-FFF2-40B4-BE49-F238E27FC236}">
                <a16:creationId xmlns:a16="http://schemas.microsoft.com/office/drawing/2014/main" id="{4744B27E-45B4-4158-9E0F-2EA61856197B}"/>
              </a:ext>
            </a:extLst>
          </p:cNvPr>
          <p:cNvSpPr>
            <a:spLocks noGrp="1"/>
          </p:cNvSpPr>
          <p:nvPr/>
        </p:nvSpPr>
        <p:spPr>
          <a:xfrm>
            <a:off x="361950" y="5095875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4DBE4443-6175-42BF-9417-8F1F63A89B02}"/>
              </a:ext>
            </a:extLst>
          </p:cNvPr>
          <p:cNvSpPr>
            <a:spLocks noGrp="1"/>
          </p:cNvSpPr>
          <p:nvPr/>
        </p:nvSpPr>
        <p:spPr>
          <a:xfrm>
            <a:off x="495300" y="521970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CHAINS / STATES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FA535D3E-D67B-45B1-8B30-F130B749CFFF}"/>
              </a:ext>
            </a:extLst>
          </p:cNvPr>
          <p:cNvSpPr>
            <a:spLocks noGrp="1"/>
          </p:cNvSpPr>
          <p:nvPr/>
        </p:nvSpPr>
        <p:spPr>
          <a:xfrm>
            <a:off x="495300" y="55435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1. DMart  ₹1.41 Cr |+169%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BBC3DEB6-D3B3-4277-84AA-F1132C61FB13}"/>
              </a:ext>
            </a:extLst>
          </p:cNvPr>
          <p:cNvSpPr>
            <a:spLocks noGrp="1"/>
          </p:cNvSpPr>
          <p:nvPr/>
        </p:nvSpPr>
        <p:spPr>
          <a:xfrm>
            <a:off x="495300" y="586740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2. Reliance  ₹0.46 Cr |+296%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565BA622-0B3D-452D-A016-FF22822E88A8}"/>
              </a:ext>
            </a:extLst>
          </p:cNvPr>
          <p:cNvSpPr>
            <a:spLocks noGrp="1"/>
          </p:cNvSpPr>
          <p:nvPr/>
        </p:nvSpPr>
        <p:spPr>
          <a:xfrm>
            <a:off x="495300" y="6191250"/>
            <a:ext cx="165735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3. Apollo  ₹0.19 Cr |NEW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1BE01C57-6E39-4EED-B26F-ECBE4E2734A1}"/>
              </a:ext>
            </a:extLst>
          </p:cNvPr>
          <p:cNvSpPr>
            <a:spLocks noGrp="1"/>
          </p:cNvSpPr>
          <p:nvPr/>
        </p:nvSpPr>
        <p:spPr>
          <a:xfrm>
            <a:off x="495300" y="657225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5F716E"/>
                </a:solidFill>
              </a:defRPr>
            </a:pPr>
            <a:r>
              <a:rPr sz="825" b="1">
                <a:solidFill>
                  <a:srgbClr val="5F716E"/>
                </a:solidFill>
              </a:rPr>
              <a:t>1. Madhya Pradesh  ₹1.68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8D69C885-1E1E-4197-B8B4-03EF54CFC03B}"/>
              </a:ext>
            </a:extLst>
          </p:cNvPr>
          <p:cNvSpPr>
            <a:spLocks noGrp="1"/>
          </p:cNvSpPr>
          <p:nvPr/>
        </p:nvSpPr>
        <p:spPr>
          <a:xfrm>
            <a:off x="495300" y="685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2. Chhattisgarh  ₹0.44 Cr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0B8F1B9E-73FE-4B73-9B64-F45E8107D280}"/>
              </a:ext>
            </a:extLst>
          </p:cNvPr>
          <p:cNvSpPr>
            <a:spLocks noGrp="1"/>
          </p:cNvSpPr>
          <p:nvPr/>
        </p:nvSpPr>
        <p:spPr>
          <a:xfrm>
            <a:off x="2381250" y="5095875"/>
            <a:ext cx="4114800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7F6EBFFE-66D0-4F13-B4F4-35AFABB84F45}"/>
              </a:ext>
            </a:extLst>
          </p:cNvPr>
          <p:cNvSpPr>
            <a:spLocks noGrp="1"/>
          </p:cNvSpPr>
          <p:nvPr/>
        </p:nvSpPr>
        <p:spPr>
          <a:xfrm>
            <a:off x="2514600" y="5219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16F68"/>
                </a:solidFill>
              </a:defRPr>
            </a:pPr>
            <a:r>
              <a:rPr sz="900" b="1">
                <a:solidFill>
                  <a:srgbClr val="116F68"/>
                </a:solidFill>
              </a:rPr>
              <a:t>TOP 2 BRANDS × TOP SUB-CATEGORIES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6F6F78A7-F589-4019-AAD6-3C799EE47C28}"/>
              </a:ext>
            </a:extLst>
          </p:cNvPr>
          <p:cNvSpPr>
            <a:spLocks noGrp="1"/>
          </p:cNvSpPr>
          <p:nvPr/>
        </p:nvSpPr>
        <p:spPr>
          <a:xfrm>
            <a:off x="251460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8A596"/>
                </a:solidFill>
              </a:defRPr>
            </a:pPr>
            <a:r>
              <a:rPr sz="975" b="1">
                <a:solidFill>
                  <a:srgbClr val="28A596"/>
                </a:solidFill>
              </a:rPr>
              <a:t>Mamaearth | ₹1.25 Cr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A7A8E546-2FD8-402D-9D49-1F47CE9E7694}"/>
              </a:ext>
            </a:extLst>
          </p:cNvPr>
          <p:cNvSpPr>
            <a:spLocks noGrp="1"/>
          </p:cNvSpPr>
          <p:nvPr/>
        </p:nvSpPr>
        <p:spPr>
          <a:xfrm>
            <a:off x="251460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₹0.54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DF7131EA-A081-49DD-824D-0C71ADEEA8A1}"/>
              </a:ext>
            </a:extLst>
          </p:cNvPr>
          <p:cNvSpPr>
            <a:spLocks noGrp="1"/>
          </p:cNvSpPr>
          <p:nvPr/>
        </p:nvSpPr>
        <p:spPr>
          <a:xfrm>
            <a:off x="251460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Shampoo  ₹0.40 Cr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DB512AE9-5B5F-4F56-A00E-D2DBEAAD81A7}"/>
              </a:ext>
            </a:extLst>
          </p:cNvPr>
          <p:cNvSpPr>
            <a:spLocks noGrp="1"/>
          </p:cNvSpPr>
          <p:nvPr/>
        </p:nvSpPr>
        <p:spPr>
          <a:xfrm>
            <a:off x="251460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Sun Care  ₹0.09 Cr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0F4A3DB4-4B9C-4D1D-97B2-F8C421AA331D}"/>
              </a:ext>
            </a:extLst>
          </p:cNvPr>
          <p:cNvSpPr>
            <a:spLocks noGrp="1"/>
          </p:cNvSpPr>
          <p:nvPr/>
        </p:nvSpPr>
        <p:spPr>
          <a:xfrm>
            <a:off x="4438650" y="554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E7DA8"/>
                </a:solidFill>
              </a:defRPr>
            </a:pPr>
            <a:r>
              <a:rPr sz="975" b="1">
                <a:solidFill>
                  <a:srgbClr val="2E7DA8"/>
                </a:solidFill>
              </a:rPr>
              <a:t>The Derma Co. | ₹0.82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14A80498-3EA2-406C-96C4-624698927FFB}"/>
              </a:ext>
            </a:extLst>
          </p:cNvPr>
          <p:cNvSpPr>
            <a:spLocks noGrp="1"/>
          </p:cNvSpPr>
          <p:nvPr/>
        </p:nvSpPr>
        <p:spPr>
          <a:xfrm>
            <a:off x="4438650" y="5905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1. Face Cleanser  ₹0.66 Cr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31953407-8634-4828-8DAB-2EB5C0C17E72}"/>
              </a:ext>
            </a:extLst>
          </p:cNvPr>
          <p:cNvSpPr>
            <a:spLocks noGrp="1"/>
          </p:cNvSpPr>
          <p:nvPr/>
        </p:nvSpPr>
        <p:spPr>
          <a:xfrm>
            <a:off x="4438650" y="6210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2. Sun Care  ₹0.18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141F412F-78C0-48D4-A21A-0A0B3E966B2A}"/>
              </a:ext>
            </a:extLst>
          </p:cNvPr>
          <p:cNvSpPr>
            <a:spLocks noGrp="1"/>
          </p:cNvSpPr>
          <p:nvPr/>
        </p:nvSpPr>
        <p:spPr>
          <a:xfrm>
            <a:off x="4438650" y="65151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3. Face Serum  ₹0.02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317F8404-0AB9-443F-8B09-1672D1EACCB7}"/>
              </a:ext>
            </a:extLst>
          </p:cNvPr>
          <p:cNvSpPr>
            <a:spLocks noGrp="1"/>
          </p:cNvSpPr>
          <p:nvPr/>
        </p:nvSpPr>
        <p:spPr>
          <a:xfrm>
            <a:off x="2514600" y="72009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NPI CONTRIBUTION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4DD50C86-7845-4CE3-93A9-AD0812C770DB}"/>
              </a:ext>
            </a:extLst>
          </p:cNvPr>
          <p:cNvSpPr>
            <a:spLocks noGrp="1"/>
          </p:cNvSpPr>
          <p:nvPr/>
        </p:nvSpPr>
        <p:spPr>
          <a:xfrm>
            <a:off x="4095750" y="7124700"/>
            <a:ext cx="220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690" b="0">
                <a:solidFill>
                  <a:srgbClr val="5F716E"/>
                </a:solidFill>
              </a:defRPr>
            </a:pPr>
            <a:r>
              <a:rPr sz="690" b="0">
                <a:solidFill>
                  <a:srgbClr val="5F716E"/>
                </a:solidFill>
              </a:rPr>
              <a:t>₹0.18 Cr | 8.5% of zone | ME Onion hai… • ME VitC Dail… • ME Onion Hai…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41B9D0D7-549A-43D5-A5DF-3EE008234C7E}"/>
              </a:ext>
            </a:extLst>
          </p:cNvPr>
          <p:cNvSpPr>
            <a:spLocks noGrp="1"/>
          </p:cNvSpPr>
          <p:nvPr/>
        </p:nvSpPr>
        <p:spPr>
          <a:xfrm>
            <a:off x="361950" y="776287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6C2C7E3E-8173-47FD-A24B-D1940288D598}"/>
              </a:ext>
            </a:extLst>
          </p:cNvPr>
          <p:cNvSpPr>
            <a:spLocks noGrp="1"/>
          </p:cNvSpPr>
          <p:nvPr/>
        </p:nvSpPr>
        <p:spPr>
          <a:xfrm>
            <a:off x="457200" y="777240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ZONE-SPECIFIC INSIGHTS AND ACTIONS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E1D78915-FBA5-4929-9481-5535D7AE3024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A01B8682-1694-4CB3-A8A7-5481F1739C49}"/>
              </a:ext>
            </a:extLst>
          </p:cNvPr>
          <p:cNvSpPr>
            <a:spLocks noGrp="1"/>
          </p:cNvSpPr>
          <p:nvPr/>
        </p:nvSpPr>
        <p:spPr>
          <a:xfrm>
            <a:off x="4191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01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CF649EFC-EA76-409F-AD93-7FDD1A4D48A6}"/>
              </a:ext>
            </a:extLst>
          </p:cNvPr>
          <p:cNvSpPr>
            <a:spLocks noGrp="1"/>
          </p:cNvSpPr>
          <p:nvPr/>
        </p:nvSpPr>
        <p:spPr>
          <a:xfrm>
            <a:off x="7429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Central is new in the data; ₹2.88 Cr offtake already exceeds ₹2.69 Cr primary — prior stock clearing.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1206BF23-2E5B-4140-B6EA-1A5C30908575}"/>
              </a:ext>
            </a:extLst>
          </p:cNvPr>
          <p:cNvSpPr>
            <a:spLocks noGrp="1"/>
          </p:cNvSpPr>
          <p:nvPr/>
        </p:nvSpPr>
        <p:spPr>
          <a:xfrm>
            <a:off x="243840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A5B665CC-8B2B-4919-BB57-4605AB067B22}"/>
              </a:ext>
            </a:extLst>
          </p:cNvPr>
          <p:cNvSpPr>
            <a:spLocks noGrp="1"/>
          </p:cNvSpPr>
          <p:nvPr/>
        </p:nvSpPr>
        <p:spPr>
          <a:xfrm>
            <a:off x="249555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02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ED75CBDB-2715-4F5C-B786-59B0CEE7CA80}"/>
              </a:ext>
            </a:extLst>
          </p:cNvPr>
          <p:cNvSpPr>
            <a:spLocks noGrp="1"/>
          </p:cNvSpPr>
          <p:nvPr/>
        </p:nvSpPr>
        <p:spPr>
          <a:xfrm>
            <a:off x="281940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202% YoY primary growth reflects the zone's first proper July in the MT count, not organic demand.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008ED485-0943-4486-8F3C-E0D2100A5506}"/>
              </a:ext>
            </a:extLst>
          </p:cNvPr>
          <p:cNvSpPr>
            <a:spLocks noGrp="1"/>
          </p:cNvSpPr>
          <p:nvPr/>
        </p:nvSpPr>
        <p:spPr>
          <a:xfrm>
            <a:off x="4514850" y="80962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1E732DD1-3FEF-4CEE-A1C3-975E04852F36}"/>
              </a:ext>
            </a:extLst>
          </p:cNvPr>
          <p:cNvSpPr>
            <a:spLocks noGrp="1"/>
          </p:cNvSpPr>
          <p:nvPr/>
        </p:nvSpPr>
        <p:spPr>
          <a:xfrm>
            <a:off x="4572000" y="81438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03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64E46CDA-5CD2-4565-86E5-1AB32F337DA0}"/>
              </a:ext>
            </a:extLst>
          </p:cNvPr>
          <p:cNvSpPr>
            <a:spLocks noGrp="1"/>
          </p:cNvSpPr>
          <p:nvPr/>
        </p:nvSpPr>
        <p:spPr>
          <a:xfrm>
            <a:off x="4895850" y="81343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1">
                <a:solidFill>
                  <a:srgbClr val="183B39"/>
                </a:solidFill>
              </a:defRPr>
            </a:pPr>
            <a:r>
              <a:rPr sz="713" b="1">
                <a:solidFill>
                  <a:srgbClr val="183B39"/>
                </a:solidFill>
              </a:rPr>
              <a:t>107.1% conversion — offtake exceeds primary this month. Prior channel inventory is clearing. DMart at 95% is genuine; Reliance at 51% is not.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7249268D-EA93-49E5-86F2-829961B85272}"/>
              </a:ext>
            </a:extLst>
          </p:cNvPr>
          <p:cNvSpPr>
            <a:spLocks noGrp="1"/>
          </p:cNvSpPr>
          <p:nvPr/>
        </p:nvSpPr>
        <p:spPr>
          <a:xfrm>
            <a:off x="3619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0BE4BF34-8F20-4D43-8474-8BD326E86D37}"/>
              </a:ext>
            </a:extLst>
          </p:cNvPr>
          <p:cNvSpPr>
            <a:spLocks noGrp="1"/>
          </p:cNvSpPr>
          <p:nvPr/>
        </p:nvSpPr>
        <p:spPr>
          <a:xfrm>
            <a:off x="4191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04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3D2360B8-533E-4D8F-BAB1-F1BC6F025915}"/>
              </a:ext>
            </a:extLst>
          </p:cNvPr>
          <p:cNvSpPr>
            <a:spLocks noGrp="1"/>
          </p:cNvSpPr>
          <p:nvPr/>
        </p:nvSpPr>
        <p:spPr>
          <a:xfrm>
            <a:off x="7429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₹0.19 Cr 'surplus' is a data artifact — normalise over two months before treating Central as gap-free. Reliance 51% is a watch.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89D0CB9D-0A2A-4303-AFEF-AE3A08258AA4}"/>
              </a:ext>
            </a:extLst>
          </p:cNvPr>
          <p:cNvSpPr>
            <a:spLocks noGrp="1"/>
          </p:cNvSpPr>
          <p:nvPr/>
        </p:nvSpPr>
        <p:spPr>
          <a:xfrm>
            <a:off x="243840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CF163A34-75DB-407C-854E-890E2E5BC509}"/>
              </a:ext>
            </a:extLst>
          </p:cNvPr>
          <p:cNvSpPr>
            <a:spLocks noGrp="1"/>
          </p:cNvSpPr>
          <p:nvPr/>
        </p:nvSpPr>
        <p:spPr>
          <a:xfrm>
            <a:off x="249555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28A596"/>
                </a:solidFill>
              </a:defRPr>
            </a:pPr>
            <a:r>
              <a:rPr sz="675" b="1">
                <a:solidFill>
                  <a:srgbClr val="28A596"/>
                </a:solidFill>
              </a:rPr>
              <a:t>05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5DE77F23-D643-4287-BE1E-33358162338D}"/>
              </a:ext>
            </a:extLst>
          </p:cNvPr>
          <p:cNvSpPr>
            <a:spLocks noGrp="1"/>
          </p:cNvSpPr>
          <p:nvPr/>
        </p:nvSpPr>
        <p:spPr>
          <a:xfrm>
            <a:off x="281940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#6 nationally, smallest zone. Set OSA and ordering benchmarks now while stores are manageable.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30A7A896-3499-41BC-8245-13D3048D5548}"/>
              </a:ext>
            </a:extLst>
          </p:cNvPr>
          <p:cNvSpPr>
            <a:spLocks noGrp="1"/>
          </p:cNvSpPr>
          <p:nvPr/>
        </p:nvSpPr>
        <p:spPr>
          <a:xfrm>
            <a:off x="4514850" y="86868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52EFF918-3033-41DD-9324-70EC3E70A4F8}"/>
              </a:ext>
            </a:extLst>
          </p:cNvPr>
          <p:cNvSpPr>
            <a:spLocks noGrp="1"/>
          </p:cNvSpPr>
          <p:nvPr/>
        </p:nvSpPr>
        <p:spPr>
          <a:xfrm>
            <a:off x="4572000" y="87344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06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15CD66C1-A38C-4392-B952-A1F150D3E6D6}"/>
              </a:ext>
            </a:extLst>
          </p:cNvPr>
          <p:cNvSpPr>
            <a:spLocks noGrp="1"/>
          </p:cNvSpPr>
          <p:nvPr/>
        </p:nvSpPr>
        <p:spPr>
          <a:xfrm>
            <a:off x="4895850" y="87249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Madhya Pradesh ranks #1 with ₹1.68 Cr offtake.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5F2CDF5C-BD9B-44B3-A45D-C3F50E74D21F}"/>
              </a:ext>
            </a:extLst>
          </p:cNvPr>
          <p:cNvSpPr>
            <a:spLocks noGrp="1"/>
          </p:cNvSpPr>
          <p:nvPr/>
        </p:nvSpPr>
        <p:spPr>
          <a:xfrm>
            <a:off x="3619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1055A9F7-6CD3-4FC7-B0F0-AD8A7A114522}"/>
              </a:ext>
            </a:extLst>
          </p:cNvPr>
          <p:cNvSpPr>
            <a:spLocks noGrp="1"/>
          </p:cNvSpPr>
          <p:nvPr/>
        </p:nvSpPr>
        <p:spPr>
          <a:xfrm>
            <a:off x="4191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07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7D7FB2EE-86C5-4342-8EF0-3FD3598F2CF6}"/>
              </a:ext>
            </a:extLst>
          </p:cNvPr>
          <p:cNvSpPr>
            <a:spLocks noGrp="1"/>
          </p:cNvSpPr>
          <p:nvPr/>
        </p:nvSpPr>
        <p:spPr>
          <a:xfrm>
            <a:off x="7429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Chhattisgarh ranks #2 with ₹0.44 Cr offtake.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3C5464D1-1AEF-41CA-9DE7-084427F1BE2B}"/>
              </a:ext>
            </a:extLst>
          </p:cNvPr>
          <p:cNvSpPr>
            <a:spLocks noGrp="1"/>
          </p:cNvSpPr>
          <p:nvPr/>
        </p:nvSpPr>
        <p:spPr>
          <a:xfrm>
            <a:off x="243840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06980283-F066-4CF2-9BFB-EA2D2D802BBC}"/>
              </a:ext>
            </a:extLst>
          </p:cNvPr>
          <p:cNvSpPr>
            <a:spLocks noGrp="1"/>
          </p:cNvSpPr>
          <p:nvPr/>
        </p:nvSpPr>
        <p:spPr>
          <a:xfrm>
            <a:off x="249555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08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F70DAF63-89EC-4AD9-AABF-5142B4073509}"/>
              </a:ext>
            </a:extLst>
          </p:cNvPr>
          <p:cNvSpPr>
            <a:spLocks noGrp="1"/>
          </p:cNvSpPr>
          <p:nvPr/>
        </p:nvSpPr>
        <p:spPr>
          <a:xfrm>
            <a:off x="281940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state contributes 79.3% of zone offtake.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6521CBA5-066C-40B0-ACF0-9A48AE84F4C5}"/>
              </a:ext>
            </a:extLst>
          </p:cNvPr>
          <p:cNvSpPr>
            <a:spLocks noGrp="1"/>
          </p:cNvSpPr>
          <p:nvPr/>
        </p:nvSpPr>
        <p:spPr>
          <a:xfrm>
            <a:off x="4514850" y="92773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C4B7A8C1-EB30-4257-8F02-CF75220E8667}"/>
              </a:ext>
            </a:extLst>
          </p:cNvPr>
          <p:cNvSpPr>
            <a:spLocks noGrp="1"/>
          </p:cNvSpPr>
          <p:nvPr/>
        </p:nvSpPr>
        <p:spPr>
          <a:xfrm>
            <a:off x="4572000" y="93249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09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21B7DB0E-FB0B-446F-830E-03660605A3DA}"/>
              </a:ext>
            </a:extLst>
          </p:cNvPr>
          <p:cNvSpPr>
            <a:spLocks noGrp="1"/>
          </p:cNvSpPr>
          <p:nvPr/>
        </p:nvSpPr>
        <p:spPr>
          <a:xfrm>
            <a:off x="4895850" y="93154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states contribute 100.0% of zone offtake.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FA21653D-790C-4990-AA98-6F08E65BBDA7}"/>
              </a:ext>
            </a:extLst>
          </p:cNvPr>
          <p:cNvSpPr>
            <a:spLocks noGrp="1"/>
          </p:cNvSpPr>
          <p:nvPr/>
        </p:nvSpPr>
        <p:spPr>
          <a:xfrm>
            <a:off x="3619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CCEF1428-3F8B-4E4F-90E1-23882FEE27B8}"/>
              </a:ext>
            </a:extLst>
          </p:cNvPr>
          <p:cNvSpPr>
            <a:spLocks noGrp="1"/>
          </p:cNvSpPr>
          <p:nvPr/>
        </p:nvSpPr>
        <p:spPr>
          <a:xfrm>
            <a:off x="4191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10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4FC73ACE-7830-494D-8509-A555A3E2DF76}"/>
              </a:ext>
            </a:extLst>
          </p:cNvPr>
          <p:cNvSpPr>
            <a:spLocks noGrp="1"/>
          </p:cNvSpPr>
          <p:nvPr/>
        </p:nvSpPr>
        <p:spPr>
          <a:xfrm>
            <a:off x="7429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source reports 2 material states in the displayed zone cut.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AA4D28E3-1BB6-4DCE-B884-F93EB18381F2}"/>
              </a:ext>
            </a:extLst>
          </p:cNvPr>
          <p:cNvSpPr>
            <a:spLocks noGrp="1"/>
          </p:cNvSpPr>
          <p:nvPr/>
        </p:nvSpPr>
        <p:spPr>
          <a:xfrm>
            <a:off x="243840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C1F1A992-26A9-44C2-B5C7-078E3561F106}"/>
              </a:ext>
            </a:extLst>
          </p:cNvPr>
          <p:cNvSpPr>
            <a:spLocks noGrp="1"/>
          </p:cNvSpPr>
          <p:nvPr/>
        </p:nvSpPr>
        <p:spPr>
          <a:xfrm>
            <a:off x="249555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11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683191D4-057A-4F98-B24C-0357BBC1C801}"/>
              </a:ext>
            </a:extLst>
          </p:cNvPr>
          <p:cNvSpPr>
            <a:spLocks noGrp="1"/>
          </p:cNvSpPr>
          <p:nvPr/>
        </p:nvSpPr>
        <p:spPr>
          <a:xfrm>
            <a:off x="281940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DMart: ₹1.41 Cr offtake; 95.3%.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C99B4C29-D889-473C-BEFF-28B39B80454D}"/>
              </a:ext>
            </a:extLst>
          </p:cNvPr>
          <p:cNvSpPr>
            <a:spLocks noGrp="1"/>
          </p:cNvSpPr>
          <p:nvPr/>
        </p:nvSpPr>
        <p:spPr>
          <a:xfrm>
            <a:off x="4514850" y="986790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91B50D32-08B5-4B51-8670-9776B97219F6}"/>
              </a:ext>
            </a:extLst>
          </p:cNvPr>
          <p:cNvSpPr>
            <a:spLocks noGrp="1"/>
          </p:cNvSpPr>
          <p:nvPr/>
        </p:nvSpPr>
        <p:spPr>
          <a:xfrm>
            <a:off x="4572000" y="99155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12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6EDD0E5F-4E12-4CB5-9A58-402051C2FA73}"/>
              </a:ext>
            </a:extLst>
          </p:cNvPr>
          <p:cNvSpPr>
            <a:spLocks noGrp="1"/>
          </p:cNvSpPr>
          <p:nvPr/>
        </p:nvSpPr>
        <p:spPr>
          <a:xfrm>
            <a:off x="4895850" y="990600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Reliance: ₹0.46 Cr offtake; 51.2%.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5364F04E-F20B-4C84-94AB-66323116CB0E}"/>
              </a:ext>
            </a:extLst>
          </p:cNvPr>
          <p:cNvSpPr>
            <a:spLocks noGrp="1"/>
          </p:cNvSpPr>
          <p:nvPr/>
        </p:nvSpPr>
        <p:spPr>
          <a:xfrm>
            <a:off x="3619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C6B2CBCE-6E6E-48AC-ABFB-E63AFED38A82}"/>
              </a:ext>
            </a:extLst>
          </p:cNvPr>
          <p:cNvSpPr>
            <a:spLocks noGrp="1"/>
          </p:cNvSpPr>
          <p:nvPr/>
        </p:nvSpPr>
        <p:spPr>
          <a:xfrm>
            <a:off x="4191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13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B2B2DE97-ABD3-45FD-ACFF-08ACEA0DD063}"/>
              </a:ext>
            </a:extLst>
          </p:cNvPr>
          <p:cNvSpPr>
            <a:spLocks noGrp="1"/>
          </p:cNvSpPr>
          <p:nvPr/>
        </p:nvSpPr>
        <p:spPr>
          <a:xfrm>
            <a:off x="7429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Apollo: ₹0.19 Cr offtake; 137.7%.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E6F8EB11-E0EB-441F-81E7-0A495433A25A}"/>
              </a:ext>
            </a:extLst>
          </p:cNvPr>
          <p:cNvSpPr>
            <a:spLocks noGrp="1"/>
          </p:cNvSpPr>
          <p:nvPr/>
        </p:nvSpPr>
        <p:spPr>
          <a:xfrm>
            <a:off x="243840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A13B08BB-7063-4CB8-9B84-58853FBB63F0}"/>
              </a:ext>
            </a:extLst>
          </p:cNvPr>
          <p:cNvSpPr>
            <a:spLocks noGrp="1"/>
          </p:cNvSpPr>
          <p:nvPr/>
        </p:nvSpPr>
        <p:spPr>
          <a:xfrm>
            <a:off x="249555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14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71D151DC-38A8-4231-8601-8066C04B8806}"/>
              </a:ext>
            </a:extLst>
          </p:cNvPr>
          <p:cNvSpPr>
            <a:spLocks noGrp="1"/>
          </p:cNvSpPr>
          <p:nvPr/>
        </p:nvSpPr>
        <p:spPr>
          <a:xfrm>
            <a:off x="281940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leading chain contributes 66.5% of zone offtake.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FB2B5E32-C326-403A-AD20-5FCFCC7676E8}"/>
              </a:ext>
            </a:extLst>
          </p:cNvPr>
          <p:cNvSpPr>
            <a:spLocks noGrp="1"/>
          </p:cNvSpPr>
          <p:nvPr/>
        </p:nvSpPr>
        <p:spPr>
          <a:xfrm>
            <a:off x="4514850" y="10458450"/>
            <a:ext cx="19812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4E5E505F-F9BA-4E9B-B12E-BFB96C02E5E9}"/>
              </a:ext>
            </a:extLst>
          </p:cNvPr>
          <p:cNvSpPr>
            <a:spLocks noGrp="1"/>
          </p:cNvSpPr>
          <p:nvPr/>
        </p:nvSpPr>
        <p:spPr>
          <a:xfrm>
            <a:off x="4572000" y="1050607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75" b="1">
                <a:solidFill>
                  <a:srgbClr val="D6544D"/>
                </a:solidFill>
              </a:defRPr>
            </a:pPr>
            <a:r>
              <a:rPr sz="675" b="1">
                <a:solidFill>
                  <a:srgbClr val="D6544D"/>
                </a:solidFill>
              </a:rPr>
              <a:t>15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030647EA-85AD-4976-BF5C-879EFFD269D3}"/>
              </a:ext>
            </a:extLst>
          </p:cNvPr>
          <p:cNvSpPr>
            <a:spLocks noGrp="1"/>
          </p:cNvSpPr>
          <p:nvPr/>
        </p:nvSpPr>
        <p:spPr>
          <a:xfrm>
            <a:off x="4895850" y="10496550"/>
            <a:ext cx="1524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13" b="0">
                <a:solidFill>
                  <a:srgbClr val="183B39"/>
                </a:solidFill>
              </a:defRPr>
            </a:pPr>
            <a:r>
              <a:rPr sz="713" b="0">
                <a:solidFill>
                  <a:srgbClr val="183B39"/>
                </a:solidFill>
              </a:rPr>
              <a:t>The top three chains contribute 97.6% of zone offtake.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9218FED0-AE8C-4E00-8723-6537671121F0}"/>
              </a:ext>
            </a:extLst>
          </p:cNvPr>
          <p:cNvSpPr>
            <a:spLocks noGrp="1"/>
          </p:cNvSpPr>
          <p:nvPr/>
        </p:nvSpPr>
        <p:spPr>
          <a:xfrm>
            <a:off x="381000" y="11000232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0">
                <a:solidFill>
                  <a:srgbClr val="5F716E"/>
                </a:solidFill>
              </a:defRPr>
            </a:pPr>
            <a:r>
              <a:rPr sz="750" b="0">
                <a:solidFill>
                  <a:srgbClr val="5F716E"/>
                </a:solidFill>
              </a:rPr>
              <a:t>Central NPI mix 8.5% | Priority: DMart × hero-EAN availability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3CE92195-A5B0-43DA-8E22-200388873298}"/>
              </a:ext>
            </a:extLst>
          </p:cNvPr>
          <p:cNvSpPr>
            <a:spLocks noGrp="1"/>
          </p:cNvSpPr>
          <p:nvPr/>
        </p:nvSpPr>
        <p:spPr>
          <a:xfrm>
            <a:off x="361950" y="11247120"/>
            <a:ext cx="6134100" cy="9144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88BF8C23-FDE0-4445-BC67-6D5B8BFE33BB}"/>
              </a:ext>
            </a:extLst>
          </p:cNvPr>
          <p:cNvSpPr>
            <a:spLocks noGrp="1"/>
          </p:cNvSpPr>
          <p:nvPr/>
        </p:nvSpPr>
        <p:spPr>
          <a:xfrm>
            <a:off x="43815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76DC24E9-38F7-4E0F-995B-A93E2A73A3AE}"/>
              </a:ext>
            </a:extLst>
          </p:cNvPr>
          <p:cNvSpPr>
            <a:spLocks noGrp="1"/>
          </p:cNvSpPr>
          <p:nvPr/>
        </p:nvSpPr>
        <p:spPr>
          <a:xfrm>
            <a:off x="43815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₹2.88 Cr offtake, 171K units. Offtake &gt; primary this month — prior inventory clearing. DMart 95.3% is a real and repeatable rate. Reliance 51% is suspect. Document DMart's EAN cadence as the national benchmark before loading more.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8BC2F3A2-8C5D-43C5-A310-EC50571995D0}"/>
              </a:ext>
            </a:extLst>
          </p:cNvPr>
          <p:cNvSpPr>
            <a:spLocks noGrp="1"/>
          </p:cNvSpPr>
          <p:nvPr/>
        </p:nvSpPr>
        <p:spPr>
          <a:xfrm>
            <a:off x="192405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4BB84072-75DD-4459-80F0-9900F7C2CFD0}"/>
              </a:ext>
            </a:extLst>
          </p:cNvPr>
          <p:cNvSpPr>
            <a:spLocks noGrp="1"/>
          </p:cNvSpPr>
          <p:nvPr/>
        </p:nvSpPr>
        <p:spPr>
          <a:xfrm>
            <a:off x="195262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743CA973-6546-4B6C-9DB3-CADF8BC6E1D6}"/>
              </a:ext>
            </a:extLst>
          </p:cNvPr>
          <p:cNvSpPr>
            <a:spLocks noGrp="1"/>
          </p:cNvSpPr>
          <p:nvPr/>
        </p:nvSpPr>
        <p:spPr>
          <a:xfrm>
            <a:off x="195262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Central is a clean new zone — protecting its high conversion from day one avoids the pipeline problems North and East are correcting at significant cost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58D1FEE7-9F00-4331-9D46-F645A651F2DB}"/>
              </a:ext>
            </a:extLst>
          </p:cNvPr>
          <p:cNvSpPr>
            <a:spLocks noGrp="1"/>
          </p:cNvSpPr>
          <p:nvPr/>
        </p:nvSpPr>
        <p:spPr>
          <a:xfrm>
            <a:off x="3438525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2C0EFC68-70BB-4AD2-A5C6-D0FAC73B4D94}"/>
              </a:ext>
            </a:extLst>
          </p:cNvPr>
          <p:cNvSpPr>
            <a:spLocks noGrp="1"/>
          </p:cNvSpPr>
          <p:nvPr/>
        </p:nvSpPr>
        <p:spPr>
          <a:xfrm>
            <a:off x="3467100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F8E782C4-70E2-4605-9AC5-6DD67053577C}"/>
              </a:ext>
            </a:extLst>
          </p:cNvPr>
          <p:cNvSpPr>
            <a:spLocks noGrp="1"/>
          </p:cNvSpPr>
          <p:nvPr/>
        </p:nvSpPr>
        <p:spPr>
          <a:xfrm>
            <a:off x="3467100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Document Central DMart's EAN availability and ordering cadence as the national DMart benchmark; build state-level comparable data from August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6F3864C1-C5A2-4159-AC16-F8E4F37B8042}"/>
              </a:ext>
            </a:extLst>
          </p:cNvPr>
          <p:cNvSpPr>
            <a:spLocks noGrp="1"/>
          </p:cNvSpPr>
          <p:nvPr/>
        </p:nvSpPr>
        <p:spPr>
          <a:xfrm>
            <a:off x="4953000" y="11311128"/>
            <a:ext cx="0" cy="73152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0D843866-E4AD-4DDC-801C-6A4C8E126710}"/>
              </a:ext>
            </a:extLst>
          </p:cNvPr>
          <p:cNvSpPr>
            <a:spLocks noGrp="1"/>
          </p:cNvSpPr>
          <p:nvPr/>
        </p:nvSpPr>
        <p:spPr>
          <a:xfrm>
            <a:off x="4981575" y="1129284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C30940DC-376A-4937-96FE-BCC7D38EC2EA}"/>
              </a:ext>
            </a:extLst>
          </p:cNvPr>
          <p:cNvSpPr>
            <a:spLocks noGrp="1"/>
          </p:cNvSpPr>
          <p:nvPr/>
        </p:nvSpPr>
        <p:spPr>
          <a:xfrm>
            <a:off x="4981575" y="11475720"/>
            <a:ext cx="1428750" cy="667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DMart + Analytics | Framework by 31-Aug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3" name="">
            <a:extLst>
              <a:ext uri="{FF2B5EF4-FFF2-40B4-BE49-F238E27FC236}">
                <a16:creationId xmlns:a16="http://schemas.microsoft.com/office/drawing/2014/main" id="{02682BA1-84C5-4D36-A738-29B514AE88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8EB9D3D5-D6A7-4578-B526-7AF1816C4EF8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Lulu leads growth; Reliance and Metro require targeted recovery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48C98C43-60B0-49BD-80E8-9A4B5B829B91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Chain growth and risk command centre | June–July 2026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1821A90E-7103-4F72-83B0-0E9071E5E396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CA1AE0A-97EC-4D8E-A150-C962C6F0F672}"/>
              </a:ext>
            </a:extLst>
          </p:cNvPr>
          <p:cNvSpPr>
            <a:spLocks noGrp="1"/>
          </p:cNvSpPr>
          <p:nvPr/>
        </p:nvSpPr>
        <p:spPr>
          <a:xfrm>
            <a:off x="361950" y="123825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D368BB-86FF-4BFD-932C-A3CC6AFFF2ED}"/>
              </a:ext>
            </a:extLst>
          </p:cNvPr>
          <p:cNvSpPr>
            <a:spLocks noGrp="1"/>
          </p:cNvSpPr>
          <p:nvPr/>
        </p:nvSpPr>
        <p:spPr>
          <a:xfrm>
            <a:off x="457200" y="124777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COMPARABLE CHAIN SCORECARD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61134D47-6437-44B4-AFA7-C75EC83265FE}"/>
              </a:ext>
            </a:extLst>
          </p:cNvPr>
          <p:cNvSpPr>
            <a:spLocks noGrp="1"/>
          </p:cNvSpPr>
          <p:nvPr/>
        </p:nvSpPr>
        <p:spPr>
          <a:xfrm>
            <a:off x="476250" y="16002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CHAIN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7D902A5A-B195-48A4-8D88-D294A5C95662}"/>
              </a:ext>
            </a:extLst>
          </p:cNvPr>
          <p:cNvSpPr>
            <a:spLocks noGrp="1"/>
          </p:cNvSpPr>
          <p:nvPr/>
        </p:nvSpPr>
        <p:spPr>
          <a:xfrm>
            <a:off x="2333625" y="16002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JUN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FCA7FA0E-040D-44D7-9A61-87A56BAC9B6D}"/>
              </a:ext>
            </a:extLst>
          </p:cNvPr>
          <p:cNvSpPr>
            <a:spLocks noGrp="1"/>
          </p:cNvSpPr>
          <p:nvPr/>
        </p:nvSpPr>
        <p:spPr>
          <a:xfrm>
            <a:off x="3190875" y="16002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JUL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4E24BA5-690A-4A76-9B87-E8429C11418C}"/>
              </a:ext>
            </a:extLst>
          </p:cNvPr>
          <p:cNvSpPr>
            <a:spLocks noGrp="1"/>
          </p:cNvSpPr>
          <p:nvPr/>
        </p:nvSpPr>
        <p:spPr>
          <a:xfrm>
            <a:off x="4143375" y="16002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TREND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D18C056-ECC8-4C76-84B5-00C56E454FCA}"/>
              </a:ext>
            </a:extLst>
          </p:cNvPr>
          <p:cNvSpPr>
            <a:spLocks noGrp="1"/>
          </p:cNvSpPr>
          <p:nvPr/>
        </p:nvSpPr>
        <p:spPr>
          <a:xfrm>
            <a:off x="5048250" y="1600200"/>
            <a:ext cx="128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5F716E"/>
                </a:solidFill>
              </a:defRPr>
            </a:pPr>
            <a:r>
              <a:rPr sz="750" b="1">
                <a:solidFill>
                  <a:srgbClr val="5F716E"/>
                </a:solidFill>
              </a:rPr>
              <a:t>SIGNAL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3FC847C2-71F9-418E-906E-A8B1B1E18303}"/>
              </a:ext>
            </a:extLst>
          </p:cNvPr>
          <p:cNvSpPr>
            <a:spLocks noGrp="1"/>
          </p:cNvSpPr>
          <p:nvPr/>
        </p:nvSpPr>
        <p:spPr>
          <a:xfrm>
            <a:off x="361950" y="188595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7F5EC09-59AC-40B5-91CD-7EA94E9CD857}"/>
              </a:ext>
            </a:extLst>
          </p:cNvPr>
          <p:cNvSpPr>
            <a:spLocks noGrp="1"/>
          </p:cNvSpPr>
          <p:nvPr/>
        </p:nvSpPr>
        <p:spPr>
          <a:xfrm>
            <a:off x="476250" y="188595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DMart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7E5D76-BC97-420D-B4C2-1178521EAAD2}"/>
              </a:ext>
            </a:extLst>
          </p:cNvPr>
          <p:cNvSpPr>
            <a:spLocks noGrp="1"/>
          </p:cNvSpPr>
          <p:nvPr/>
        </p:nvSpPr>
        <p:spPr>
          <a:xfrm>
            <a:off x="2333625" y="18859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₹14.56 Cr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8792B53E-063E-4243-ADC0-0BEFD29B35FB}"/>
              </a:ext>
            </a:extLst>
          </p:cNvPr>
          <p:cNvSpPr>
            <a:spLocks noGrp="1"/>
          </p:cNvSpPr>
          <p:nvPr/>
        </p:nvSpPr>
        <p:spPr>
          <a:xfrm>
            <a:off x="3190875" y="18859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₹14.33 Cr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A6213B8A-6F67-4B49-8732-6CF4687082E3}"/>
              </a:ext>
            </a:extLst>
          </p:cNvPr>
          <p:cNvSpPr>
            <a:spLocks noGrp="1"/>
          </p:cNvSpPr>
          <p:nvPr/>
        </p:nvSpPr>
        <p:spPr>
          <a:xfrm>
            <a:off x="4143375" y="188595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-1.5%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205BCF2-5CAF-4E0C-A5F7-9DB46FA5CE2C}"/>
              </a:ext>
            </a:extLst>
          </p:cNvPr>
          <p:cNvSpPr>
            <a:spLocks noGrp="1"/>
          </p:cNvSpPr>
          <p:nvPr/>
        </p:nvSpPr>
        <p:spPr>
          <a:xfrm>
            <a:off x="5048250" y="188595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8CE5C23E-DBF0-4BDD-99D4-F0F7D665426D}"/>
              </a:ext>
            </a:extLst>
          </p:cNvPr>
          <p:cNvSpPr>
            <a:spLocks noGrp="1"/>
          </p:cNvSpPr>
          <p:nvPr/>
        </p:nvSpPr>
        <p:spPr>
          <a:xfrm>
            <a:off x="476250" y="231457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Reliance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E6C031C-D88D-4BD2-9221-CDDB65600368}"/>
              </a:ext>
            </a:extLst>
          </p:cNvPr>
          <p:cNvSpPr>
            <a:spLocks noGrp="1"/>
          </p:cNvSpPr>
          <p:nvPr/>
        </p:nvSpPr>
        <p:spPr>
          <a:xfrm>
            <a:off x="2333625" y="23145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₹9.48 Cr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34EAEC93-A784-4250-BD64-670783B5EEEE}"/>
              </a:ext>
            </a:extLst>
          </p:cNvPr>
          <p:cNvSpPr>
            <a:spLocks noGrp="1"/>
          </p:cNvSpPr>
          <p:nvPr/>
        </p:nvSpPr>
        <p:spPr>
          <a:xfrm>
            <a:off x="3190875" y="23145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₹8.06 Cr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F6A522B0-7331-4181-9BDE-74673EE97E15}"/>
              </a:ext>
            </a:extLst>
          </p:cNvPr>
          <p:cNvSpPr>
            <a:spLocks noGrp="1"/>
          </p:cNvSpPr>
          <p:nvPr/>
        </p:nvSpPr>
        <p:spPr>
          <a:xfrm>
            <a:off x="4143375" y="231457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-15.0%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0144FEB2-3AD6-4EE5-A69B-2B995C8E1586}"/>
              </a:ext>
            </a:extLst>
          </p:cNvPr>
          <p:cNvSpPr>
            <a:spLocks noGrp="1"/>
          </p:cNvSpPr>
          <p:nvPr/>
        </p:nvSpPr>
        <p:spPr>
          <a:xfrm>
            <a:off x="5048250" y="231457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D6544D"/>
                </a:solidFill>
              </a:defRPr>
            </a:pPr>
            <a:r>
              <a:rPr sz="788" b="1">
                <a:solidFill>
                  <a:srgbClr val="D6544D"/>
                </a:solidFill>
              </a:rPr>
              <a:t>Recover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65371972-45C5-43A9-90CA-0464D1DA55F0}"/>
              </a:ext>
            </a:extLst>
          </p:cNvPr>
          <p:cNvSpPr>
            <a:spLocks noGrp="1"/>
          </p:cNvSpPr>
          <p:nvPr/>
        </p:nvSpPr>
        <p:spPr>
          <a:xfrm>
            <a:off x="361950" y="274320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788C5DF3-D2E3-4D12-AA4F-3EC237EDA0B5}"/>
              </a:ext>
            </a:extLst>
          </p:cNvPr>
          <p:cNvSpPr>
            <a:spLocks noGrp="1"/>
          </p:cNvSpPr>
          <p:nvPr/>
        </p:nvSpPr>
        <p:spPr>
          <a:xfrm>
            <a:off x="476250" y="274320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Lulu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827A8716-0A56-45AA-9B0C-20E310ED82F4}"/>
              </a:ext>
            </a:extLst>
          </p:cNvPr>
          <p:cNvSpPr>
            <a:spLocks noGrp="1"/>
          </p:cNvSpPr>
          <p:nvPr/>
        </p:nvSpPr>
        <p:spPr>
          <a:xfrm>
            <a:off x="2333625" y="27432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₹1.16 Cr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25FC044D-647E-4039-BC19-18DFB3A74573}"/>
              </a:ext>
            </a:extLst>
          </p:cNvPr>
          <p:cNvSpPr>
            <a:spLocks noGrp="1"/>
          </p:cNvSpPr>
          <p:nvPr/>
        </p:nvSpPr>
        <p:spPr>
          <a:xfrm>
            <a:off x="3190875" y="27432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₹1.70 Cr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A6A63F62-606E-4195-BAAE-9DC953D62A2F}"/>
              </a:ext>
            </a:extLst>
          </p:cNvPr>
          <p:cNvSpPr>
            <a:spLocks noGrp="1"/>
          </p:cNvSpPr>
          <p:nvPr/>
        </p:nvSpPr>
        <p:spPr>
          <a:xfrm>
            <a:off x="4143375" y="274320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+46.5%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74F2BE73-B525-4921-A85E-DD60680344F2}"/>
              </a:ext>
            </a:extLst>
          </p:cNvPr>
          <p:cNvSpPr>
            <a:spLocks noGrp="1"/>
          </p:cNvSpPr>
          <p:nvPr/>
        </p:nvSpPr>
        <p:spPr>
          <a:xfrm>
            <a:off x="5048250" y="274320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Scale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B55A819E-F7A4-471D-AFAC-F9DF5353CEA0}"/>
              </a:ext>
            </a:extLst>
          </p:cNvPr>
          <p:cNvSpPr>
            <a:spLocks noGrp="1"/>
          </p:cNvSpPr>
          <p:nvPr/>
        </p:nvSpPr>
        <p:spPr>
          <a:xfrm>
            <a:off x="476250" y="317182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Wellness Forever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5FABB527-CF62-4028-B3A1-1BF5A41B1F81}"/>
              </a:ext>
            </a:extLst>
          </p:cNvPr>
          <p:cNvSpPr>
            <a:spLocks noGrp="1"/>
          </p:cNvSpPr>
          <p:nvPr/>
        </p:nvSpPr>
        <p:spPr>
          <a:xfrm>
            <a:off x="2333625" y="31718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₹0.80 Cr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599918CA-61B2-4752-8AA4-FA5ECEAEDEE6}"/>
              </a:ext>
            </a:extLst>
          </p:cNvPr>
          <p:cNvSpPr>
            <a:spLocks noGrp="1"/>
          </p:cNvSpPr>
          <p:nvPr/>
        </p:nvSpPr>
        <p:spPr>
          <a:xfrm>
            <a:off x="3190875" y="31718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₹0.72 Cr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234E4584-87CD-47A7-A5C3-7339FAC40831}"/>
              </a:ext>
            </a:extLst>
          </p:cNvPr>
          <p:cNvSpPr>
            <a:spLocks noGrp="1"/>
          </p:cNvSpPr>
          <p:nvPr/>
        </p:nvSpPr>
        <p:spPr>
          <a:xfrm>
            <a:off x="4143375" y="317182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-9.9%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35B25556-846A-47B9-A7EA-7DCC0B1DC8D5}"/>
              </a:ext>
            </a:extLst>
          </p:cNvPr>
          <p:cNvSpPr>
            <a:spLocks noGrp="1"/>
          </p:cNvSpPr>
          <p:nvPr/>
        </p:nvSpPr>
        <p:spPr>
          <a:xfrm>
            <a:off x="5048250" y="317182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4030FE4C-C2C7-4489-B45B-0888088BB9F4}"/>
              </a:ext>
            </a:extLst>
          </p:cNvPr>
          <p:cNvSpPr>
            <a:spLocks noGrp="1"/>
          </p:cNvSpPr>
          <p:nvPr/>
        </p:nvSpPr>
        <p:spPr>
          <a:xfrm>
            <a:off x="361950" y="360045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7E4F36E7-5CDC-480F-B620-20B9C90548B4}"/>
              </a:ext>
            </a:extLst>
          </p:cNvPr>
          <p:cNvSpPr>
            <a:spLocks noGrp="1"/>
          </p:cNvSpPr>
          <p:nvPr/>
        </p:nvSpPr>
        <p:spPr>
          <a:xfrm>
            <a:off x="476250" y="360045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Health &amp; Glow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422BFF1D-09C7-4434-BC88-08817B42DA7C}"/>
              </a:ext>
            </a:extLst>
          </p:cNvPr>
          <p:cNvSpPr>
            <a:spLocks noGrp="1"/>
          </p:cNvSpPr>
          <p:nvPr/>
        </p:nvSpPr>
        <p:spPr>
          <a:xfrm>
            <a:off x="2333625" y="36004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₹0.52 Cr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CF6A7871-ADA5-4516-9CDD-854D4B8C1803}"/>
              </a:ext>
            </a:extLst>
          </p:cNvPr>
          <p:cNvSpPr>
            <a:spLocks noGrp="1"/>
          </p:cNvSpPr>
          <p:nvPr/>
        </p:nvSpPr>
        <p:spPr>
          <a:xfrm>
            <a:off x="3190875" y="36004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₹0.51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1CC374FC-ACCC-41D1-A15A-AF1B9EBFDEA7}"/>
              </a:ext>
            </a:extLst>
          </p:cNvPr>
          <p:cNvSpPr>
            <a:spLocks noGrp="1"/>
          </p:cNvSpPr>
          <p:nvPr/>
        </p:nvSpPr>
        <p:spPr>
          <a:xfrm>
            <a:off x="4143375" y="360045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-2.0%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6B95E068-8FC2-48C4-BD81-5B9981470AC0}"/>
              </a:ext>
            </a:extLst>
          </p:cNvPr>
          <p:cNvSpPr>
            <a:spLocks noGrp="1"/>
          </p:cNvSpPr>
          <p:nvPr/>
        </p:nvSpPr>
        <p:spPr>
          <a:xfrm>
            <a:off x="5048250" y="360045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E44813C6-6C31-46D3-95B6-242450C1B8B6}"/>
              </a:ext>
            </a:extLst>
          </p:cNvPr>
          <p:cNvSpPr>
            <a:spLocks noGrp="1"/>
          </p:cNvSpPr>
          <p:nvPr/>
        </p:nvSpPr>
        <p:spPr>
          <a:xfrm>
            <a:off x="476250" y="402907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Metro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17BE984A-7689-4314-8317-86F7398DBC4B}"/>
              </a:ext>
            </a:extLst>
          </p:cNvPr>
          <p:cNvSpPr>
            <a:spLocks noGrp="1"/>
          </p:cNvSpPr>
          <p:nvPr/>
        </p:nvSpPr>
        <p:spPr>
          <a:xfrm>
            <a:off x="2333625" y="40290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₹0.61 Cr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62A1F0F7-DB69-4CF6-870C-3A3C78818D91}"/>
              </a:ext>
            </a:extLst>
          </p:cNvPr>
          <p:cNvSpPr>
            <a:spLocks noGrp="1"/>
          </p:cNvSpPr>
          <p:nvPr/>
        </p:nvSpPr>
        <p:spPr>
          <a:xfrm>
            <a:off x="3190875" y="40290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₹0.49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B93EB22D-49C7-4710-9C5C-AEE494E3CAFA}"/>
              </a:ext>
            </a:extLst>
          </p:cNvPr>
          <p:cNvSpPr>
            <a:spLocks noGrp="1"/>
          </p:cNvSpPr>
          <p:nvPr/>
        </p:nvSpPr>
        <p:spPr>
          <a:xfrm>
            <a:off x="4143375" y="402907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-20.5%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189D891C-B03A-4292-8DF8-2EFD61EBA592}"/>
              </a:ext>
            </a:extLst>
          </p:cNvPr>
          <p:cNvSpPr>
            <a:spLocks noGrp="1"/>
          </p:cNvSpPr>
          <p:nvPr/>
        </p:nvSpPr>
        <p:spPr>
          <a:xfrm>
            <a:off x="5048250" y="402907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D6544D"/>
                </a:solidFill>
              </a:defRPr>
            </a:pPr>
            <a:r>
              <a:rPr sz="788" b="1">
                <a:solidFill>
                  <a:srgbClr val="D6544D"/>
                </a:solidFill>
              </a:rPr>
              <a:t>Recover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A444B59-CCFD-48AC-A7F4-F47C035B8F8D}"/>
              </a:ext>
            </a:extLst>
          </p:cNvPr>
          <p:cNvSpPr>
            <a:spLocks noGrp="1"/>
          </p:cNvSpPr>
          <p:nvPr/>
        </p:nvSpPr>
        <p:spPr>
          <a:xfrm>
            <a:off x="361950" y="445770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627FC98A-90F4-4495-A101-F3EB5B59D211}"/>
              </a:ext>
            </a:extLst>
          </p:cNvPr>
          <p:cNvSpPr>
            <a:spLocks noGrp="1"/>
          </p:cNvSpPr>
          <p:nvPr/>
        </p:nvSpPr>
        <p:spPr>
          <a:xfrm>
            <a:off x="476250" y="445770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More Retail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71CA60F5-5A3A-4935-9836-9D42433A1203}"/>
              </a:ext>
            </a:extLst>
          </p:cNvPr>
          <p:cNvSpPr>
            <a:spLocks noGrp="1"/>
          </p:cNvSpPr>
          <p:nvPr/>
        </p:nvSpPr>
        <p:spPr>
          <a:xfrm>
            <a:off x="2333625" y="44577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₹0.44 Cr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9CA1C038-F895-4C71-A2C3-140E55655ACA}"/>
              </a:ext>
            </a:extLst>
          </p:cNvPr>
          <p:cNvSpPr>
            <a:spLocks noGrp="1"/>
          </p:cNvSpPr>
          <p:nvPr/>
        </p:nvSpPr>
        <p:spPr>
          <a:xfrm>
            <a:off x="3190875" y="44577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₹0.41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04D9429F-F742-4B4C-B4ED-0C676814A832}"/>
              </a:ext>
            </a:extLst>
          </p:cNvPr>
          <p:cNvSpPr>
            <a:spLocks noGrp="1"/>
          </p:cNvSpPr>
          <p:nvPr/>
        </p:nvSpPr>
        <p:spPr>
          <a:xfrm>
            <a:off x="4143375" y="445770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-6.8%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26B30AB5-47C5-4627-A2B8-B622551815F9}"/>
              </a:ext>
            </a:extLst>
          </p:cNvPr>
          <p:cNvSpPr>
            <a:spLocks noGrp="1"/>
          </p:cNvSpPr>
          <p:nvPr/>
        </p:nvSpPr>
        <p:spPr>
          <a:xfrm>
            <a:off x="5048250" y="445770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22B3DAB1-443D-4E17-AFFA-55D03F947B4D}"/>
              </a:ext>
            </a:extLst>
          </p:cNvPr>
          <p:cNvSpPr>
            <a:spLocks noGrp="1"/>
          </p:cNvSpPr>
          <p:nvPr/>
        </p:nvSpPr>
        <p:spPr>
          <a:xfrm>
            <a:off x="476250" y="488632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Vishal Mega Mart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A8A468A6-52CC-4250-91EF-C22AA6895470}"/>
              </a:ext>
            </a:extLst>
          </p:cNvPr>
          <p:cNvSpPr>
            <a:spLocks noGrp="1"/>
          </p:cNvSpPr>
          <p:nvPr/>
        </p:nvSpPr>
        <p:spPr>
          <a:xfrm>
            <a:off x="2333625" y="48863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₹0.31 Cr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E775ADBA-F191-4AF9-A22D-ED58D3CDBC31}"/>
              </a:ext>
            </a:extLst>
          </p:cNvPr>
          <p:cNvSpPr>
            <a:spLocks noGrp="1"/>
          </p:cNvSpPr>
          <p:nvPr/>
        </p:nvSpPr>
        <p:spPr>
          <a:xfrm>
            <a:off x="3190875" y="48863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₹0.36 Cr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6186DC85-9A95-486D-B3D9-B69BFD6C6FF2}"/>
              </a:ext>
            </a:extLst>
          </p:cNvPr>
          <p:cNvSpPr>
            <a:spLocks noGrp="1"/>
          </p:cNvSpPr>
          <p:nvPr/>
        </p:nvSpPr>
        <p:spPr>
          <a:xfrm>
            <a:off x="4143375" y="488632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+18.2%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8103A8BE-C901-4C78-B659-6BF387138ACE}"/>
              </a:ext>
            </a:extLst>
          </p:cNvPr>
          <p:cNvSpPr>
            <a:spLocks noGrp="1"/>
          </p:cNvSpPr>
          <p:nvPr/>
        </p:nvSpPr>
        <p:spPr>
          <a:xfrm>
            <a:off x="5048250" y="488632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Scale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437B7E1F-ACAB-49A7-8FAE-3CDDB68E75A4}"/>
              </a:ext>
            </a:extLst>
          </p:cNvPr>
          <p:cNvSpPr>
            <a:spLocks noGrp="1"/>
          </p:cNvSpPr>
          <p:nvPr/>
        </p:nvSpPr>
        <p:spPr>
          <a:xfrm>
            <a:off x="361950" y="531495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D7CFB8D6-CFC8-46CC-9887-F401F7890E49}"/>
              </a:ext>
            </a:extLst>
          </p:cNvPr>
          <p:cNvSpPr>
            <a:spLocks noGrp="1"/>
          </p:cNvSpPr>
          <p:nvPr/>
        </p:nvSpPr>
        <p:spPr>
          <a:xfrm>
            <a:off x="476250" y="531495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V-Mart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E736FCCF-7AF2-4376-AFFE-672929070496}"/>
              </a:ext>
            </a:extLst>
          </p:cNvPr>
          <p:cNvSpPr>
            <a:spLocks noGrp="1"/>
          </p:cNvSpPr>
          <p:nvPr/>
        </p:nvSpPr>
        <p:spPr>
          <a:xfrm>
            <a:off x="2333625" y="53149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₹0.13 Cr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BE2824F2-D8EF-44AB-AFB2-9B155EB8339F}"/>
              </a:ext>
            </a:extLst>
          </p:cNvPr>
          <p:cNvSpPr>
            <a:spLocks noGrp="1"/>
          </p:cNvSpPr>
          <p:nvPr/>
        </p:nvSpPr>
        <p:spPr>
          <a:xfrm>
            <a:off x="3190875" y="53149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₹0.12 Cr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699475EB-604F-460F-B8DF-37756CB081AC}"/>
              </a:ext>
            </a:extLst>
          </p:cNvPr>
          <p:cNvSpPr>
            <a:spLocks noGrp="1"/>
          </p:cNvSpPr>
          <p:nvPr/>
        </p:nvSpPr>
        <p:spPr>
          <a:xfrm>
            <a:off x="4143375" y="531495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F2B84B"/>
                </a:solidFill>
              </a:defRPr>
            </a:pPr>
            <a:r>
              <a:rPr sz="825" b="1">
                <a:solidFill>
                  <a:srgbClr val="F2B84B"/>
                </a:solidFill>
              </a:rPr>
              <a:t>-8.5%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E4163950-53A3-46A1-8C53-1C5231E8BE60}"/>
              </a:ext>
            </a:extLst>
          </p:cNvPr>
          <p:cNvSpPr>
            <a:spLocks noGrp="1"/>
          </p:cNvSpPr>
          <p:nvPr/>
        </p:nvSpPr>
        <p:spPr>
          <a:xfrm>
            <a:off x="5048250" y="531495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F2B84B"/>
                </a:solidFill>
              </a:defRPr>
            </a:pPr>
            <a:r>
              <a:rPr sz="788" b="1">
                <a:solidFill>
                  <a:srgbClr val="F2B84B"/>
                </a:solidFill>
              </a:rPr>
              <a:t>Watch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7232F6F3-F75F-4A6B-8F6F-DB695B408F94}"/>
              </a:ext>
            </a:extLst>
          </p:cNvPr>
          <p:cNvSpPr>
            <a:spLocks noGrp="1"/>
          </p:cNvSpPr>
          <p:nvPr/>
        </p:nvSpPr>
        <p:spPr>
          <a:xfrm>
            <a:off x="476250" y="574357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Spencer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8D573074-157C-427F-A9B9-F11C6512EAEE}"/>
              </a:ext>
            </a:extLst>
          </p:cNvPr>
          <p:cNvSpPr>
            <a:spLocks noGrp="1"/>
          </p:cNvSpPr>
          <p:nvPr/>
        </p:nvSpPr>
        <p:spPr>
          <a:xfrm>
            <a:off x="2333625" y="57435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₹0.08 Cr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3AC7FFC0-7585-4150-8E9E-21D6537841F0}"/>
              </a:ext>
            </a:extLst>
          </p:cNvPr>
          <p:cNvSpPr>
            <a:spLocks noGrp="1"/>
          </p:cNvSpPr>
          <p:nvPr/>
        </p:nvSpPr>
        <p:spPr>
          <a:xfrm>
            <a:off x="3190875" y="57435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₹0.09 Cr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26912D80-CA9E-42F9-B775-EE3FC5990D69}"/>
              </a:ext>
            </a:extLst>
          </p:cNvPr>
          <p:cNvSpPr>
            <a:spLocks noGrp="1"/>
          </p:cNvSpPr>
          <p:nvPr/>
        </p:nvSpPr>
        <p:spPr>
          <a:xfrm>
            <a:off x="4143375" y="574357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8A596"/>
                </a:solidFill>
              </a:defRPr>
            </a:pPr>
            <a:r>
              <a:rPr sz="825" b="1">
                <a:solidFill>
                  <a:srgbClr val="28A596"/>
                </a:solidFill>
              </a:rPr>
              <a:t>+0.7%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FE171707-05D7-48EA-AB25-A00B216F04C5}"/>
              </a:ext>
            </a:extLst>
          </p:cNvPr>
          <p:cNvSpPr>
            <a:spLocks noGrp="1"/>
          </p:cNvSpPr>
          <p:nvPr/>
        </p:nvSpPr>
        <p:spPr>
          <a:xfrm>
            <a:off x="5048250" y="574357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Protect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6D3DFE1E-6D28-4822-9364-511FC29EA239}"/>
              </a:ext>
            </a:extLst>
          </p:cNvPr>
          <p:cNvSpPr>
            <a:spLocks noGrp="1"/>
          </p:cNvSpPr>
          <p:nvPr/>
        </p:nvSpPr>
        <p:spPr>
          <a:xfrm>
            <a:off x="361950" y="617220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785AC899-317A-4826-B455-D8A482723725}"/>
              </a:ext>
            </a:extLst>
          </p:cNvPr>
          <p:cNvSpPr>
            <a:spLocks noGrp="1"/>
          </p:cNvSpPr>
          <p:nvPr/>
        </p:nvSpPr>
        <p:spPr>
          <a:xfrm>
            <a:off x="476250" y="617220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Arambagh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2DBF9917-7B9F-471B-B424-2085CB0E1538}"/>
              </a:ext>
            </a:extLst>
          </p:cNvPr>
          <p:cNvSpPr>
            <a:spLocks noGrp="1"/>
          </p:cNvSpPr>
          <p:nvPr/>
        </p:nvSpPr>
        <p:spPr>
          <a:xfrm>
            <a:off x="2333625" y="61722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₹0.05 Cr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799BEB23-BD63-4D55-A80C-C1EE2EB9D0CB}"/>
              </a:ext>
            </a:extLst>
          </p:cNvPr>
          <p:cNvSpPr>
            <a:spLocks noGrp="1"/>
          </p:cNvSpPr>
          <p:nvPr/>
        </p:nvSpPr>
        <p:spPr>
          <a:xfrm>
            <a:off x="3190875" y="617220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₹0.04 Cr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A514D445-F49D-462A-9A19-EF0F33C28D78}"/>
              </a:ext>
            </a:extLst>
          </p:cNvPr>
          <p:cNvSpPr>
            <a:spLocks noGrp="1"/>
          </p:cNvSpPr>
          <p:nvPr/>
        </p:nvSpPr>
        <p:spPr>
          <a:xfrm>
            <a:off x="4143375" y="617220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-22.5%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151842D7-A55C-4BE1-AF06-E5EF8CFF0807}"/>
              </a:ext>
            </a:extLst>
          </p:cNvPr>
          <p:cNvSpPr>
            <a:spLocks noGrp="1"/>
          </p:cNvSpPr>
          <p:nvPr/>
        </p:nvSpPr>
        <p:spPr>
          <a:xfrm>
            <a:off x="5048250" y="617220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D6544D"/>
                </a:solidFill>
              </a:defRPr>
            </a:pPr>
            <a:r>
              <a:rPr sz="788" b="1">
                <a:solidFill>
                  <a:srgbClr val="D6544D"/>
                </a:solidFill>
              </a:rPr>
              <a:t>Recover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2BCC6551-780E-49D1-818D-8A06F14327F6}"/>
              </a:ext>
            </a:extLst>
          </p:cNvPr>
          <p:cNvSpPr>
            <a:spLocks noGrp="1"/>
          </p:cNvSpPr>
          <p:nvPr/>
        </p:nvSpPr>
        <p:spPr>
          <a:xfrm>
            <a:off x="476250" y="660082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Ratandeep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77504A7B-FAE9-475C-B5BB-0D9F7D96F57F}"/>
              </a:ext>
            </a:extLst>
          </p:cNvPr>
          <p:cNvSpPr>
            <a:spLocks noGrp="1"/>
          </p:cNvSpPr>
          <p:nvPr/>
        </p:nvSpPr>
        <p:spPr>
          <a:xfrm>
            <a:off x="2333625" y="66008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₹0.03 Cr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43E475E8-1CBD-48DC-80EA-78BF51A3A868}"/>
              </a:ext>
            </a:extLst>
          </p:cNvPr>
          <p:cNvSpPr>
            <a:spLocks noGrp="1"/>
          </p:cNvSpPr>
          <p:nvPr/>
        </p:nvSpPr>
        <p:spPr>
          <a:xfrm>
            <a:off x="3190875" y="660082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₹0.03 Cr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08904595-23CF-4C58-9FF9-DA32584D7594}"/>
              </a:ext>
            </a:extLst>
          </p:cNvPr>
          <p:cNvSpPr>
            <a:spLocks noGrp="1"/>
          </p:cNvSpPr>
          <p:nvPr/>
        </p:nvSpPr>
        <p:spPr>
          <a:xfrm>
            <a:off x="4143375" y="660082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+21.5%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34D3B71F-04D6-499D-8B00-31EBAA5FB781}"/>
              </a:ext>
            </a:extLst>
          </p:cNvPr>
          <p:cNvSpPr>
            <a:spLocks noGrp="1"/>
          </p:cNvSpPr>
          <p:nvPr/>
        </p:nvSpPr>
        <p:spPr>
          <a:xfrm>
            <a:off x="5048250" y="660082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Scale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F098775D-67A3-4C62-A803-3D93A826FA50}"/>
              </a:ext>
            </a:extLst>
          </p:cNvPr>
          <p:cNvSpPr>
            <a:spLocks noGrp="1"/>
          </p:cNvSpPr>
          <p:nvPr/>
        </p:nvSpPr>
        <p:spPr>
          <a:xfrm>
            <a:off x="361950" y="7029450"/>
            <a:ext cx="6134100" cy="390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451AFEBC-424C-47A5-BB99-A79F4B5E7ECF}"/>
              </a:ext>
            </a:extLst>
          </p:cNvPr>
          <p:cNvSpPr>
            <a:spLocks noGrp="1"/>
          </p:cNvSpPr>
          <p:nvPr/>
        </p:nvSpPr>
        <p:spPr>
          <a:xfrm>
            <a:off x="476250" y="7029450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Sasta Sundar</a:t>
            </a:r>
          </a:p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01826711-BC05-4254-A67D-6949581B25B7}"/>
              </a:ext>
            </a:extLst>
          </p:cNvPr>
          <p:cNvSpPr>
            <a:spLocks noGrp="1"/>
          </p:cNvSpPr>
          <p:nvPr/>
        </p:nvSpPr>
        <p:spPr>
          <a:xfrm>
            <a:off x="2333625" y="70294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₹0.01 Cr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B9F0CECF-8F05-413C-B82F-7FFA2926BBC3}"/>
              </a:ext>
            </a:extLst>
          </p:cNvPr>
          <p:cNvSpPr>
            <a:spLocks noGrp="1"/>
          </p:cNvSpPr>
          <p:nvPr/>
        </p:nvSpPr>
        <p:spPr>
          <a:xfrm>
            <a:off x="3190875" y="7029450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₹0.02 Cr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6132CD8E-B27F-4FE9-8BCD-054659E864CF}"/>
              </a:ext>
            </a:extLst>
          </p:cNvPr>
          <p:cNvSpPr>
            <a:spLocks noGrp="1"/>
          </p:cNvSpPr>
          <p:nvPr/>
        </p:nvSpPr>
        <p:spPr>
          <a:xfrm>
            <a:off x="4143375" y="7029450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+127.8%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F144291D-0B6A-4EA3-A6FC-F4E3542F2DA5}"/>
              </a:ext>
            </a:extLst>
          </p:cNvPr>
          <p:cNvSpPr>
            <a:spLocks noGrp="1"/>
          </p:cNvSpPr>
          <p:nvPr/>
        </p:nvSpPr>
        <p:spPr>
          <a:xfrm>
            <a:off x="5048250" y="7029450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Scale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B12B33F3-6B03-4520-B296-61947AA1870A}"/>
              </a:ext>
            </a:extLst>
          </p:cNvPr>
          <p:cNvSpPr>
            <a:spLocks noGrp="1"/>
          </p:cNvSpPr>
          <p:nvPr/>
        </p:nvSpPr>
        <p:spPr>
          <a:xfrm>
            <a:off x="476250" y="7458075"/>
            <a:ext cx="17621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183B39"/>
                </a:solidFill>
              </a:defRPr>
            </a:pPr>
            <a:r>
              <a:rPr sz="825" b="0">
                <a:solidFill>
                  <a:srgbClr val="183B39"/>
                </a:solidFill>
              </a:rPr>
              <a:t>Sumo Save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6CE3E03D-374C-4083-B6DB-646D336B1A9E}"/>
              </a:ext>
            </a:extLst>
          </p:cNvPr>
          <p:cNvSpPr>
            <a:spLocks noGrp="1"/>
          </p:cNvSpPr>
          <p:nvPr/>
        </p:nvSpPr>
        <p:spPr>
          <a:xfrm>
            <a:off x="2333625" y="74580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0">
                <a:solidFill>
                  <a:srgbClr val="5F716E"/>
                </a:solidFill>
              </a:defRPr>
            </a:pPr>
            <a:r>
              <a:rPr sz="788" b="0">
                <a:solidFill>
                  <a:srgbClr val="5F716E"/>
                </a:solidFill>
              </a:rPr>
              <a:t>₹0.01 Cr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FEA53EC1-0439-4ABB-B556-3CE8FDB36CDF}"/>
              </a:ext>
            </a:extLst>
          </p:cNvPr>
          <p:cNvSpPr>
            <a:spLocks noGrp="1"/>
          </p:cNvSpPr>
          <p:nvPr/>
        </p:nvSpPr>
        <p:spPr>
          <a:xfrm>
            <a:off x="3190875" y="7458075"/>
            <a:ext cx="781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183B39"/>
                </a:solidFill>
              </a:defRPr>
            </a:pPr>
            <a:r>
              <a:rPr sz="788" b="1">
                <a:solidFill>
                  <a:srgbClr val="183B39"/>
                </a:solidFill>
              </a:rPr>
              <a:t>₹0.02 Cr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6CB698A2-9D1C-4537-8157-0BC1F9896DD8}"/>
              </a:ext>
            </a:extLst>
          </p:cNvPr>
          <p:cNvSpPr>
            <a:spLocks noGrp="1"/>
          </p:cNvSpPr>
          <p:nvPr/>
        </p:nvSpPr>
        <p:spPr>
          <a:xfrm>
            <a:off x="4143375" y="7458075"/>
            <a:ext cx="762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2B9A66"/>
                </a:solidFill>
              </a:defRPr>
            </a:pPr>
            <a:r>
              <a:rPr sz="825" b="1">
                <a:solidFill>
                  <a:srgbClr val="2B9A66"/>
                </a:solidFill>
              </a:rPr>
              <a:t>+9.8%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6AED1CCD-A11E-4BB7-AD41-EAC769BF54D8}"/>
              </a:ext>
            </a:extLst>
          </p:cNvPr>
          <p:cNvSpPr>
            <a:spLocks noGrp="1"/>
          </p:cNvSpPr>
          <p:nvPr/>
        </p:nvSpPr>
        <p:spPr>
          <a:xfrm>
            <a:off x="5048250" y="7458075"/>
            <a:ext cx="1285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88" b="1">
                <a:solidFill>
                  <a:srgbClr val="2B9A66"/>
                </a:solidFill>
              </a:defRPr>
            </a:pPr>
            <a:r>
              <a:rPr sz="788" b="1">
                <a:solidFill>
                  <a:srgbClr val="2B9A66"/>
                </a:solidFill>
              </a:rPr>
              <a:t>Protect</a:t>
            </a:r>
          </a:p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16F8BE65-F80B-4945-9B55-D7981C8F8207}"/>
              </a:ext>
            </a:extLst>
          </p:cNvPr>
          <p:cNvSpPr>
            <a:spLocks noGrp="1"/>
          </p:cNvSpPr>
          <p:nvPr/>
        </p:nvSpPr>
        <p:spPr>
          <a:xfrm>
            <a:off x="361950" y="809625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5F20282F-DC35-4FAC-AFF6-AD5F5608EA55}"/>
              </a:ext>
            </a:extLst>
          </p:cNvPr>
          <p:cNvSpPr>
            <a:spLocks noGrp="1"/>
          </p:cNvSpPr>
          <p:nvPr/>
        </p:nvSpPr>
        <p:spPr>
          <a:xfrm>
            <a:off x="457200" y="810577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LEADERSHIP READOUT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3EDCBFE7-1033-4940-B570-0C05246B1C62}"/>
              </a:ext>
            </a:extLst>
          </p:cNvPr>
          <p:cNvSpPr>
            <a:spLocks noGrp="1"/>
          </p:cNvSpPr>
          <p:nvPr/>
        </p:nvSpPr>
        <p:spPr>
          <a:xfrm>
            <a:off x="476250" y="8496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412762E3-6C47-4D7D-A7DD-BD9893256E28}"/>
              </a:ext>
            </a:extLst>
          </p:cNvPr>
          <p:cNvSpPr>
            <a:spLocks noGrp="1"/>
          </p:cNvSpPr>
          <p:nvPr/>
        </p:nvSpPr>
        <p:spPr>
          <a:xfrm>
            <a:off x="619125" y="8496300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Lulu +46.5% on a stable 19-site footprint: protect availability and copy winning store execution.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26377C4B-CFEB-4A26-ABD4-3F15208B4EB7}"/>
              </a:ext>
            </a:extLst>
          </p:cNvPr>
          <p:cNvSpPr>
            <a:spLocks noGrp="1"/>
          </p:cNvSpPr>
          <p:nvPr/>
        </p:nvSpPr>
        <p:spPr>
          <a:xfrm>
            <a:off x="476250" y="89439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624DC318-9AAC-4029-A86F-6714B9B292BB}"/>
              </a:ext>
            </a:extLst>
          </p:cNvPr>
          <p:cNvSpPr>
            <a:spLocks noGrp="1"/>
          </p:cNvSpPr>
          <p:nvPr/>
        </p:nvSpPr>
        <p:spPr>
          <a:xfrm>
            <a:off x="619125" y="8943975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Reliance -15.0%: Mamaearth Shampoo and Sun Care are the central recovery pool; protect TDC growth.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57CF04A2-91C1-428B-B715-43FD128EC369}"/>
              </a:ext>
            </a:extLst>
          </p:cNvPr>
          <p:cNvSpPr>
            <a:spLocks noGrp="1"/>
          </p:cNvSpPr>
          <p:nvPr/>
        </p:nvSpPr>
        <p:spPr>
          <a:xfrm>
            <a:off x="476250" y="93916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D6544D"/>
                </a:solidFill>
              </a:defRPr>
            </a:pPr>
            <a:r>
              <a:rPr sz="6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0528D4F5-3DAB-4EE2-9CF5-4BC9736A11A3}"/>
              </a:ext>
            </a:extLst>
          </p:cNvPr>
          <p:cNvSpPr>
            <a:spLocks noGrp="1"/>
          </p:cNvSpPr>
          <p:nvPr/>
        </p:nvSpPr>
        <p:spPr>
          <a:xfrm>
            <a:off x="619125" y="9391650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Metro -20.5% despite more SKUs: stop range expansion until sales/SKU and store productivity recover.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EBBC09DC-182B-4FC5-A1B2-FCC27CC58E45}"/>
              </a:ext>
            </a:extLst>
          </p:cNvPr>
          <p:cNvSpPr>
            <a:spLocks noGrp="1"/>
          </p:cNvSpPr>
          <p:nvPr/>
        </p:nvSpPr>
        <p:spPr>
          <a:xfrm>
            <a:off x="476250" y="98393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F2B84B"/>
                </a:solidFill>
              </a:defRPr>
            </a:pPr>
            <a:r>
              <a:rPr sz="6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D90A765C-B90F-4C7E-B444-DA4A7982E200}"/>
              </a:ext>
            </a:extLst>
          </p:cNvPr>
          <p:cNvSpPr>
            <a:spLocks noGrp="1"/>
          </p:cNvSpPr>
          <p:nvPr/>
        </p:nvSpPr>
        <p:spPr>
          <a:xfrm>
            <a:off x="619125" y="9839325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DMart -1.5% is broadly stable: TDC Face Cleanser offsets Mamaearth seasonal/mix softness.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A4F9DB4E-38B9-4DE6-9FE8-D72A4B988A42}"/>
              </a:ext>
            </a:extLst>
          </p:cNvPr>
          <p:cNvSpPr>
            <a:spLocks noGrp="1"/>
          </p:cNvSpPr>
          <p:nvPr/>
        </p:nvSpPr>
        <p:spPr>
          <a:xfrm>
            <a:off x="476250" y="102870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BCB8D351-32A8-428B-A22D-539231C2332B}"/>
              </a:ext>
            </a:extLst>
          </p:cNvPr>
          <p:cNvSpPr>
            <a:spLocks noGrp="1"/>
          </p:cNvSpPr>
          <p:nvPr/>
        </p:nvSpPr>
        <p:spPr>
          <a:xfrm>
            <a:off x="619125" y="10287000"/>
            <a:ext cx="5762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Missing July feeds are data gaps—not commercial de-growth—and remain outside the ranking.</a:t>
            </a:r>
          </a:p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7F3CECE8-6049-4AA7-844B-669F97CC11D3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AD495F4F-8013-40CD-A947-70D2E59FE9AC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927A1AB4-9F7D-4A90-93C1-668C6DCD2229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Lulu +46.5%, VMM +18.2%, Sasta Sundar +127.8% are growth engines; Reliance -15.0%, Metro -20.5%, Arambagh -22.5% need urgent recovery</a:t>
            </a:r>
          </a:p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D8D1091B-6B48-42AE-B662-E5136C694FE1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6A25320A-AA0A-4DEA-AE43-F3EAF203F445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324DFD3D-7891-4EED-82AA-AB52310FB23C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Scale and recovery chains need different resources; diverting Lulu / VMM attention to fix Reliance risks losing growth momentum in the accounts that are working</a:t>
            </a:r>
          </a:p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E230485F-F82C-44C3-8CFB-5DCA611D0466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1909E5DC-039C-4221-A6C7-5F850EAE139C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38B7D089-7B0D-4792-8C66-316BF9690EA8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Parallel owner loops: Reliance / Metro / Arambagh on weekly exception EAN lists; Lulu / VMM on availability protection briefs; no cross-assignment</a:t>
            </a:r>
          </a:p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F816C315-F3C1-4A09-B4E7-2D3A293E93F5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C81C6347-D999-4A35-889E-0C8C84F6B5D0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2" name="">
            <a:extLst>
              <a:ext uri="{FF2B5EF4-FFF2-40B4-BE49-F238E27FC236}">
                <a16:creationId xmlns:a16="http://schemas.microsoft.com/office/drawing/2014/main" id="{8F089324-E98E-410D-8DD0-203BA4D22B50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Sales Lead (owner assignment per chain) | By 25-Aug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">
            <a:extLst>
              <a:ext uri="{FF2B5EF4-FFF2-40B4-BE49-F238E27FC236}">
                <a16:creationId xmlns:a16="http://schemas.microsoft.com/office/drawing/2014/main" id="{300F719F-B7EF-44CD-8E59-B7C61F3281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2083917-8A7F-4805-8506-70A710771EE6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Fix the specific commercial loophole—not the whole account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20258D9C-3B66-4523-A989-B77C11A32F12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Chain recovery plan | evidence, action and success KPI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8586F3BD-FC25-4603-83AD-F7113E542B13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23E824B4-C8F5-4D01-8671-2BCE3E4C6F93}"/>
              </a:ext>
            </a:extLst>
          </p:cNvPr>
          <p:cNvSpPr>
            <a:spLocks noGrp="1"/>
          </p:cNvSpPr>
          <p:nvPr/>
        </p:nvSpPr>
        <p:spPr>
          <a:xfrm>
            <a:off x="457200" y="1238250"/>
            <a:ext cx="603885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304AA9C-4265-48E2-9E45-1E7C07354EF5}"/>
              </a:ext>
            </a:extLst>
          </p:cNvPr>
          <p:cNvSpPr>
            <a:spLocks noGrp="1"/>
          </p:cNvSpPr>
          <p:nvPr/>
        </p:nvSpPr>
        <p:spPr>
          <a:xfrm>
            <a:off x="552450" y="1247775"/>
            <a:ext cx="584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CHAIN-WISE RECOVERY LOOP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532FC15-D0BB-4A25-ABF6-6B72A18F1E3A}"/>
              </a:ext>
            </a:extLst>
          </p:cNvPr>
          <p:cNvSpPr>
            <a:spLocks noGrp="1"/>
          </p:cNvSpPr>
          <p:nvPr/>
        </p:nvSpPr>
        <p:spPr>
          <a:xfrm>
            <a:off x="361950" y="161925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F626747-24F6-44B8-A678-CBA94C8024D4}"/>
              </a:ext>
            </a:extLst>
          </p:cNvPr>
          <p:cNvSpPr>
            <a:spLocks noGrp="1"/>
          </p:cNvSpPr>
          <p:nvPr/>
        </p:nvSpPr>
        <p:spPr>
          <a:xfrm>
            <a:off x="361950" y="1619250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2E9D8178-6D3B-4F5F-BD10-614BF60CB549}"/>
              </a:ext>
            </a:extLst>
          </p:cNvPr>
          <p:cNvSpPr>
            <a:spLocks noGrp="1"/>
          </p:cNvSpPr>
          <p:nvPr/>
        </p:nvSpPr>
        <p:spPr>
          <a:xfrm>
            <a:off x="447675" y="16383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LULU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0C069423-F73E-47AD-97FA-53F3FBDFAA74}"/>
              </a:ext>
            </a:extLst>
          </p:cNvPr>
          <p:cNvSpPr>
            <a:spLocks noGrp="1"/>
          </p:cNvSpPr>
          <p:nvPr/>
        </p:nvSpPr>
        <p:spPr>
          <a:xfrm>
            <a:off x="495300" y="20193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Scale same-store velocity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64DFBEB3-B847-4D9E-B2EC-114E6E94BB52}"/>
              </a:ext>
            </a:extLst>
          </p:cNvPr>
          <p:cNvSpPr>
            <a:spLocks noGrp="1"/>
          </p:cNvSpPr>
          <p:nvPr/>
        </p:nvSpPr>
        <p:spPr>
          <a:xfrm>
            <a:off x="495300" y="24193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D8D6DFD8-4015-482B-B4C4-2BB1A015FA2E}"/>
              </a:ext>
            </a:extLst>
          </p:cNvPr>
          <p:cNvSpPr>
            <a:spLocks noGrp="1"/>
          </p:cNvSpPr>
          <p:nvPr/>
        </p:nvSpPr>
        <p:spPr>
          <a:xfrm>
            <a:off x="495300" y="26098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Face Cleanser, Shampoo and Sun Care growth on a stable footprint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B3778A75-3293-45B3-B89B-D827D6E439BB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8E7DC376-E35D-498F-AA32-0448EF8189CE}"/>
              </a:ext>
            </a:extLst>
          </p:cNvPr>
          <p:cNvSpPr>
            <a:spLocks noGrp="1"/>
          </p:cNvSpPr>
          <p:nvPr/>
        </p:nvSpPr>
        <p:spPr>
          <a:xfrm>
            <a:off x="495300" y="332422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Keep hero NPI/cleanser OSA above 95%; replicate winning stores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2015E109-8974-40AB-8606-E4E329EE899F}"/>
              </a:ext>
            </a:extLst>
          </p:cNvPr>
          <p:cNvSpPr>
            <a:spLocks noGrp="1"/>
          </p:cNvSpPr>
          <p:nvPr/>
        </p:nvSpPr>
        <p:spPr>
          <a:xfrm>
            <a:off x="495300" y="3886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Sales/store and OSA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007FD5B9-8AFD-4A36-A0B8-6199FF70F033}"/>
              </a:ext>
            </a:extLst>
          </p:cNvPr>
          <p:cNvSpPr>
            <a:spLocks noGrp="1"/>
          </p:cNvSpPr>
          <p:nvPr/>
        </p:nvSpPr>
        <p:spPr>
          <a:xfrm>
            <a:off x="2438400" y="161925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BFF186E0-8D25-4425-B228-011E34EC1E76}"/>
              </a:ext>
            </a:extLst>
          </p:cNvPr>
          <p:cNvSpPr>
            <a:spLocks noGrp="1"/>
          </p:cNvSpPr>
          <p:nvPr/>
        </p:nvSpPr>
        <p:spPr>
          <a:xfrm>
            <a:off x="2438400" y="1619250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8E9ACABF-5EA1-4F86-B96C-98C815349162}"/>
              </a:ext>
            </a:extLst>
          </p:cNvPr>
          <p:cNvSpPr>
            <a:spLocks noGrp="1"/>
          </p:cNvSpPr>
          <p:nvPr/>
        </p:nvSpPr>
        <p:spPr>
          <a:xfrm>
            <a:off x="2524125" y="16383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RELIANCE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51E3586F-4586-4B7E-8966-AD136927BE6B}"/>
              </a:ext>
            </a:extLst>
          </p:cNvPr>
          <p:cNvSpPr>
            <a:spLocks noGrp="1"/>
          </p:cNvSpPr>
          <p:nvPr/>
        </p:nvSpPr>
        <p:spPr>
          <a:xfrm>
            <a:off x="2571750" y="20193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mix erosion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86F4904-8C15-4BF9-887B-187FD6E857CF}"/>
              </a:ext>
            </a:extLst>
          </p:cNvPr>
          <p:cNvSpPr>
            <a:spLocks noGrp="1"/>
          </p:cNvSpPr>
          <p:nvPr/>
        </p:nvSpPr>
        <p:spPr>
          <a:xfrm>
            <a:off x="2571750" y="24193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1FF0880C-AC04-4A56-B7D5-83D073CA46C7}"/>
              </a:ext>
            </a:extLst>
          </p:cNvPr>
          <p:cNvSpPr>
            <a:spLocks noGrp="1"/>
          </p:cNvSpPr>
          <p:nvPr/>
        </p:nvSpPr>
        <p:spPr>
          <a:xfrm>
            <a:off x="2571750" y="26098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Shampoo and Sun Care explain most of the decline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182207B6-C45A-4CD0-B56E-9825175D8CA3}"/>
              </a:ext>
            </a:extLst>
          </p:cNvPr>
          <p:cNvSpPr>
            <a:spLocks noGrp="1"/>
          </p:cNvSpPr>
          <p:nvPr/>
        </p:nvSpPr>
        <p:spPr>
          <a:xfrm>
            <a:off x="2571750" y="31432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12D6A5D8-405E-4947-BED9-21F73F28877D}"/>
              </a:ext>
            </a:extLst>
          </p:cNvPr>
          <p:cNvSpPr>
            <a:spLocks noGrp="1"/>
          </p:cNvSpPr>
          <p:nvPr/>
        </p:nvSpPr>
        <p:spPr>
          <a:xfrm>
            <a:off x="2571750" y="332422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Recover top declining Mamaearth EAN-store pairs; protect TDC growth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D5C02549-6F0A-4201-9748-DBFAF5E85411}"/>
              </a:ext>
            </a:extLst>
          </p:cNvPr>
          <p:cNvSpPr>
            <a:spLocks noGrp="1"/>
          </p:cNvSpPr>
          <p:nvPr/>
        </p:nvSpPr>
        <p:spPr>
          <a:xfrm>
            <a:off x="2571750" y="3886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Weekly lost sales and conversion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105952E9-F31A-4243-BC33-0464F6958F3F}"/>
              </a:ext>
            </a:extLst>
          </p:cNvPr>
          <p:cNvSpPr>
            <a:spLocks noGrp="1"/>
          </p:cNvSpPr>
          <p:nvPr/>
        </p:nvSpPr>
        <p:spPr>
          <a:xfrm>
            <a:off x="4514850" y="161925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2DC80A4E-2E09-4EA4-8271-D3CD7F9516D9}"/>
              </a:ext>
            </a:extLst>
          </p:cNvPr>
          <p:cNvSpPr>
            <a:spLocks noGrp="1"/>
          </p:cNvSpPr>
          <p:nvPr/>
        </p:nvSpPr>
        <p:spPr>
          <a:xfrm>
            <a:off x="4514850" y="161925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474FABF5-9A31-41E5-A3ED-B3075799ED9A}"/>
              </a:ext>
            </a:extLst>
          </p:cNvPr>
          <p:cNvSpPr>
            <a:spLocks noGrp="1"/>
          </p:cNvSpPr>
          <p:nvPr/>
        </p:nvSpPr>
        <p:spPr>
          <a:xfrm>
            <a:off x="4600575" y="16383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DMART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AB751861-A3EB-4FFA-9328-267D03C42256}"/>
              </a:ext>
            </a:extLst>
          </p:cNvPr>
          <p:cNvSpPr>
            <a:spLocks noGrp="1"/>
          </p:cNvSpPr>
          <p:nvPr/>
        </p:nvSpPr>
        <p:spPr>
          <a:xfrm>
            <a:off x="4648200" y="20193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Brand mix shift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A94C3A84-30DE-4C8A-B334-8CDB54FE2D17}"/>
              </a:ext>
            </a:extLst>
          </p:cNvPr>
          <p:cNvSpPr>
            <a:spLocks noGrp="1"/>
          </p:cNvSpPr>
          <p:nvPr/>
        </p:nvSpPr>
        <p:spPr>
          <a:xfrm>
            <a:off x="4648200" y="24193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75C256BB-2D6A-4102-A7EC-3EEAA3382F32}"/>
              </a:ext>
            </a:extLst>
          </p:cNvPr>
          <p:cNvSpPr>
            <a:spLocks noGrp="1"/>
          </p:cNvSpPr>
          <p:nvPr/>
        </p:nvSpPr>
        <p:spPr>
          <a:xfrm>
            <a:off x="4648200" y="26098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TDC Face Cleanser offsets Mamaearth Sun Care/Shampoo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8D6B427B-F36E-4D28-A3C0-FF46B8313A82}"/>
              </a:ext>
            </a:extLst>
          </p:cNvPr>
          <p:cNvSpPr>
            <a:spLocks noGrp="1"/>
          </p:cNvSpPr>
          <p:nvPr/>
        </p:nvSpPr>
        <p:spPr>
          <a:xfrm>
            <a:off x="4648200" y="314325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FC37AE71-075C-44B7-BA9B-C50D644A81C1}"/>
              </a:ext>
            </a:extLst>
          </p:cNvPr>
          <p:cNvSpPr>
            <a:spLocks noGrp="1"/>
          </p:cNvSpPr>
          <p:nvPr/>
        </p:nvSpPr>
        <p:spPr>
          <a:xfrm>
            <a:off x="4648200" y="332422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Copy TDC cleanser execution; fix only weak Mamaearth hero EANs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BC465010-8A65-46AD-9872-0E81854C0015}"/>
              </a:ext>
            </a:extLst>
          </p:cNvPr>
          <p:cNvSpPr>
            <a:spLocks noGrp="1"/>
          </p:cNvSpPr>
          <p:nvPr/>
        </p:nvSpPr>
        <p:spPr>
          <a:xfrm>
            <a:off x="4648200" y="38862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Sales/store-EAN and 80%+ conversion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544291B5-6EEA-47FB-BFE5-4733C0806BD5}"/>
              </a:ext>
            </a:extLst>
          </p:cNvPr>
          <p:cNvSpPr>
            <a:spLocks noGrp="1"/>
          </p:cNvSpPr>
          <p:nvPr/>
        </p:nvSpPr>
        <p:spPr>
          <a:xfrm>
            <a:off x="361950" y="4429125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CB24A790-AAAE-41FC-B30E-B13242B27464}"/>
              </a:ext>
            </a:extLst>
          </p:cNvPr>
          <p:cNvSpPr>
            <a:spLocks noGrp="1"/>
          </p:cNvSpPr>
          <p:nvPr/>
        </p:nvSpPr>
        <p:spPr>
          <a:xfrm>
            <a:off x="361950" y="4429125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51010803-FDAD-46E9-93DB-3D7BFF49D621}"/>
              </a:ext>
            </a:extLst>
          </p:cNvPr>
          <p:cNvSpPr>
            <a:spLocks noGrp="1"/>
          </p:cNvSpPr>
          <p:nvPr/>
        </p:nvSpPr>
        <p:spPr>
          <a:xfrm>
            <a:off x="447675" y="44481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METRO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3AB08AAF-0ECE-4B4E-B1A1-2F097391200C}"/>
              </a:ext>
            </a:extLst>
          </p:cNvPr>
          <p:cNvSpPr>
            <a:spLocks noGrp="1"/>
          </p:cNvSpPr>
          <p:nvPr/>
        </p:nvSpPr>
        <p:spPr>
          <a:xfrm>
            <a:off x="495300" y="48291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Range dilution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6E340B47-4B76-4596-AF0E-33847F7CBA46}"/>
              </a:ext>
            </a:extLst>
          </p:cNvPr>
          <p:cNvSpPr>
            <a:spLocks noGrp="1"/>
          </p:cNvSpPr>
          <p:nvPr/>
        </p:nvSpPr>
        <p:spPr>
          <a:xfrm>
            <a:off x="495300" y="52292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AE9914C7-B85F-46C2-BD64-8668E3010F47}"/>
              </a:ext>
            </a:extLst>
          </p:cNvPr>
          <p:cNvSpPr>
            <a:spLocks noGrp="1"/>
          </p:cNvSpPr>
          <p:nvPr/>
        </p:nvSpPr>
        <p:spPr>
          <a:xfrm>
            <a:off x="495300" y="5419725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More sites/SKUs but lower sales; Face Cleanser down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46490565-C53C-4970-85C0-58B7D317BA33}"/>
              </a:ext>
            </a:extLst>
          </p:cNvPr>
          <p:cNvSpPr>
            <a:spLocks noGrp="1"/>
          </p:cNvSpPr>
          <p:nvPr/>
        </p:nvSpPr>
        <p:spPr>
          <a:xfrm>
            <a:off x="495300" y="59531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0F1551E8-477C-421E-9D49-02E83BEF7EA0}"/>
              </a:ext>
            </a:extLst>
          </p:cNvPr>
          <p:cNvSpPr>
            <a:spLocks noGrp="1"/>
          </p:cNvSpPr>
          <p:nvPr/>
        </p:nvSpPr>
        <p:spPr>
          <a:xfrm>
            <a:off x="495300" y="6134100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Pause range expansion and remove non-productive EANs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E57C4D3B-977C-40C8-9983-503023951F35}"/>
              </a:ext>
            </a:extLst>
          </p:cNvPr>
          <p:cNvSpPr>
            <a:spLocks noGrp="1"/>
          </p:cNvSpPr>
          <p:nvPr/>
        </p:nvSpPr>
        <p:spPr>
          <a:xfrm>
            <a:off x="495300" y="66960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Sales/SKU and sales/store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00CFBD44-1632-40BB-BF16-AFDC20B72208}"/>
              </a:ext>
            </a:extLst>
          </p:cNvPr>
          <p:cNvSpPr>
            <a:spLocks noGrp="1"/>
          </p:cNvSpPr>
          <p:nvPr/>
        </p:nvSpPr>
        <p:spPr>
          <a:xfrm>
            <a:off x="2438400" y="4429125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9253830F-AADD-4E94-9612-4FAFEE704CAD}"/>
              </a:ext>
            </a:extLst>
          </p:cNvPr>
          <p:cNvSpPr>
            <a:spLocks noGrp="1"/>
          </p:cNvSpPr>
          <p:nvPr/>
        </p:nvSpPr>
        <p:spPr>
          <a:xfrm>
            <a:off x="2438400" y="4429125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47F73415-2626-41C2-92DF-53BDA2CBA87A}"/>
              </a:ext>
            </a:extLst>
          </p:cNvPr>
          <p:cNvSpPr>
            <a:spLocks noGrp="1"/>
          </p:cNvSpPr>
          <p:nvPr/>
        </p:nvSpPr>
        <p:spPr>
          <a:xfrm>
            <a:off x="2524125" y="44481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WELLNESS FOREVER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0A2444DB-EACC-4321-B58C-532B6932E4D9}"/>
              </a:ext>
            </a:extLst>
          </p:cNvPr>
          <p:cNvSpPr>
            <a:spLocks noGrp="1"/>
          </p:cNvSpPr>
          <p:nvPr/>
        </p:nvSpPr>
        <p:spPr>
          <a:xfrm>
            <a:off x="2571750" y="48291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Seasonal concentration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A71F69D6-096E-4CA5-B551-55C4A8485B08}"/>
              </a:ext>
            </a:extLst>
          </p:cNvPr>
          <p:cNvSpPr>
            <a:spLocks noGrp="1"/>
          </p:cNvSpPr>
          <p:nvPr/>
        </p:nvSpPr>
        <p:spPr>
          <a:xfrm>
            <a:off x="2571750" y="52292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A7F37DDD-9D02-4F62-83A0-001B953E5E90}"/>
              </a:ext>
            </a:extLst>
          </p:cNvPr>
          <p:cNvSpPr>
            <a:spLocks noGrp="1"/>
          </p:cNvSpPr>
          <p:nvPr/>
        </p:nvSpPr>
        <p:spPr>
          <a:xfrm>
            <a:off x="2571750" y="5419725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Sun Care explains almost the full decline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64C378D4-E49E-44B0-9CC3-B9A1E35DA715}"/>
              </a:ext>
            </a:extLst>
          </p:cNvPr>
          <p:cNvSpPr>
            <a:spLocks noGrp="1"/>
          </p:cNvSpPr>
          <p:nvPr/>
        </p:nvSpPr>
        <p:spPr>
          <a:xfrm>
            <a:off x="2571750" y="59531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95791549-6F4A-44E6-984B-C918FC5331E8}"/>
              </a:ext>
            </a:extLst>
          </p:cNvPr>
          <p:cNvSpPr>
            <a:spLocks noGrp="1"/>
          </p:cNvSpPr>
          <p:nvPr/>
        </p:nvSpPr>
        <p:spPr>
          <a:xfrm>
            <a:off x="2571750" y="6134100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Rebalance space to Face Cleanser; audit serum and sunscreen OSA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D565EDF8-2707-466B-96A9-EE3511D7E361}"/>
              </a:ext>
            </a:extLst>
          </p:cNvPr>
          <p:cNvSpPr>
            <a:spLocks noGrp="1"/>
          </p:cNvSpPr>
          <p:nvPr/>
        </p:nvSpPr>
        <p:spPr>
          <a:xfrm>
            <a:off x="2571750" y="66960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Sun Care recovery and OSA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17F9B53D-2304-4D84-AA84-E020C00BC2A6}"/>
              </a:ext>
            </a:extLst>
          </p:cNvPr>
          <p:cNvSpPr>
            <a:spLocks noGrp="1"/>
          </p:cNvSpPr>
          <p:nvPr/>
        </p:nvSpPr>
        <p:spPr>
          <a:xfrm>
            <a:off x="4514850" y="4429125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9A00B468-F40F-4992-A816-AC479EECB4C2}"/>
              </a:ext>
            </a:extLst>
          </p:cNvPr>
          <p:cNvSpPr>
            <a:spLocks noGrp="1"/>
          </p:cNvSpPr>
          <p:nvPr/>
        </p:nvSpPr>
        <p:spPr>
          <a:xfrm>
            <a:off x="4514850" y="4429125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E5DDD6AD-9781-42E8-832E-368B3E15416A}"/>
              </a:ext>
            </a:extLst>
          </p:cNvPr>
          <p:cNvSpPr>
            <a:spLocks noGrp="1"/>
          </p:cNvSpPr>
          <p:nvPr/>
        </p:nvSpPr>
        <p:spPr>
          <a:xfrm>
            <a:off x="4600575" y="44481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MORE RETAIL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553AE29D-B37A-48C8-A765-60757ECDCE12}"/>
              </a:ext>
            </a:extLst>
          </p:cNvPr>
          <p:cNvSpPr>
            <a:spLocks noGrp="1"/>
          </p:cNvSpPr>
          <p:nvPr/>
        </p:nvSpPr>
        <p:spPr>
          <a:xfrm>
            <a:off x="4648200" y="48291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Low NPI penetration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4110EC85-8364-4940-A609-8587A45E5A3B}"/>
              </a:ext>
            </a:extLst>
          </p:cNvPr>
          <p:cNvSpPr>
            <a:spLocks noGrp="1"/>
          </p:cNvSpPr>
          <p:nvPr/>
        </p:nvSpPr>
        <p:spPr>
          <a:xfrm>
            <a:off x="4648200" y="52292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A018FB84-1BF1-4A23-B0EA-B0BEEE6F098C}"/>
              </a:ext>
            </a:extLst>
          </p:cNvPr>
          <p:cNvSpPr>
            <a:spLocks noGrp="1"/>
          </p:cNvSpPr>
          <p:nvPr/>
        </p:nvSpPr>
        <p:spPr>
          <a:xfrm>
            <a:off x="4648200" y="5419725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NPI is 3.78% and Sun Care is declining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255F78DB-20D4-497A-BD2F-EA77D7BB7E0D}"/>
              </a:ext>
            </a:extLst>
          </p:cNvPr>
          <p:cNvSpPr>
            <a:spLocks noGrp="1"/>
          </p:cNvSpPr>
          <p:nvPr/>
        </p:nvSpPr>
        <p:spPr>
          <a:xfrm>
            <a:off x="4648200" y="5953125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CA215C90-710F-4F69-B8B4-0D5B5BF5FC99}"/>
              </a:ext>
            </a:extLst>
          </p:cNvPr>
          <p:cNvSpPr>
            <a:spLocks noGrp="1"/>
          </p:cNvSpPr>
          <p:nvPr/>
        </p:nvSpPr>
        <p:spPr>
          <a:xfrm>
            <a:off x="4648200" y="6134100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Prioritize top NPI EAN listings and seasonal recovery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CDF4BE02-F656-4FA9-B5F6-1A2AE0730486}"/>
              </a:ext>
            </a:extLst>
          </p:cNvPr>
          <p:cNvSpPr>
            <a:spLocks noGrp="1"/>
          </p:cNvSpPr>
          <p:nvPr/>
        </p:nvSpPr>
        <p:spPr>
          <a:xfrm>
            <a:off x="4648200" y="66960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NPI share &gt;5%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0ABC7AD5-CC5E-4863-A723-30175C62894F}"/>
              </a:ext>
            </a:extLst>
          </p:cNvPr>
          <p:cNvSpPr>
            <a:spLocks noGrp="1"/>
          </p:cNvSpPr>
          <p:nvPr/>
        </p:nvSpPr>
        <p:spPr>
          <a:xfrm>
            <a:off x="361950" y="723900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B6E687D9-17FE-421B-B45E-49BD5EBF959D}"/>
              </a:ext>
            </a:extLst>
          </p:cNvPr>
          <p:cNvSpPr>
            <a:spLocks noGrp="1"/>
          </p:cNvSpPr>
          <p:nvPr/>
        </p:nvSpPr>
        <p:spPr>
          <a:xfrm>
            <a:off x="361950" y="723900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3DD59667-F1F7-490B-85DF-4A6D5BF8FEB7}"/>
              </a:ext>
            </a:extLst>
          </p:cNvPr>
          <p:cNvSpPr>
            <a:spLocks noGrp="1"/>
          </p:cNvSpPr>
          <p:nvPr/>
        </p:nvSpPr>
        <p:spPr>
          <a:xfrm>
            <a:off x="447675" y="72580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HEALTH &amp; GLOW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B60DD935-AE06-412B-B819-C99326D7ED3B}"/>
              </a:ext>
            </a:extLst>
          </p:cNvPr>
          <p:cNvSpPr>
            <a:spLocks noGrp="1"/>
          </p:cNvSpPr>
          <p:nvPr/>
        </p:nvSpPr>
        <p:spPr>
          <a:xfrm>
            <a:off x="495300" y="763905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Mix softness, not structural decline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D6593EB1-D822-42EF-86C8-F33A4AF6547E}"/>
              </a:ext>
            </a:extLst>
          </p:cNvPr>
          <p:cNvSpPr>
            <a:spLocks noGrp="1"/>
          </p:cNvSpPr>
          <p:nvPr/>
        </p:nvSpPr>
        <p:spPr>
          <a:xfrm>
            <a:off x="495300" y="80391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FDEE35AA-3431-45E2-9914-144007387612}"/>
              </a:ext>
            </a:extLst>
          </p:cNvPr>
          <p:cNvSpPr>
            <a:spLocks noGrp="1"/>
          </p:cNvSpPr>
          <p:nvPr/>
        </p:nvSpPr>
        <p:spPr>
          <a:xfrm>
            <a:off x="495300" y="822960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Sun Care and Face Serum down; Face Cleanser offsets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EFC9847F-6A37-476F-A1AF-E84F675FD650}"/>
              </a:ext>
            </a:extLst>
          </p:cNvPr>
          <p:cNvSpPr>
            <a:spLocks noGrp="1"/>
          </p:cNvSpPr>
          <p:nvPr/>
        </p:nvSpPr>
        <p:spPr>
          <a:xfrm>
            <a:off x="495300" y="87630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895CF702-E3F2-48F6-8A7C-CF2560F9D769}"/>
              </a:ext>
            </a:extLst>
          </p:cNvPr>
          <p:cNvSpPr>
            <a:spLocks noGrp="1"/>
          </p:cNvSpPr>
          <p:nvPr/>
        </p:nvSpPr>
        <p:spPr>
          <a:xfrm>
            <a:off x="495300" y="894397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Monitor and fix targeted EANs without blanket trade spend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2E92DB84-AC47-498A-AA31-88CC82A0C5D1}"/>
              </a:ext>
            </a:extLst>
          </p:cNvPr>
          <p:cNvSpPr>
            <a:spLocks noGrp="1"/>
          </p:cNvSpPr>
          <p:nvPr/>
        </p:nvSpPr>
        <p:spPr>
          <a:xfrm>
            <a:off x="495300" y="9505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Stable sales/store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6FCEFF85-CC61-4FF9-B46A-C1493000B6A7}"/>
              </a:ext>
            </a:extLst>
          </p:cNvPr>
          <p:cNvSpPr>
            <a:spLocks noGrp="1"/>
          </p:cNvSpPr>
          <p:nvPr/>
        </p:nvSpPr>
        <p:spPr>
          <a:xfrm>
            <a:off x="2438400" y="723900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9C294AB7-F031-44A0-8986-0D913E36FDF9}"/>
              </a:ext>
            </a:extLst>
          </p:cNvPr>
          <p:cNvSpPr>
            <a:spLocks noGrp="1"/>
          </p:cNvSpPr>
          <p:nvPr/>
        </p:nvSpPr>
        <p:spPr>
          <a:xfrm>
            <a:off x="2438400" y="7239000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FDA03E3A-F1B1-425A-8BCD-46B47EBE93F9}"/>
              </a:ext>
            </a:extLst>
          </p:cNvPr>
          <p:cNvSpPr>
            <a:spLocks noGrp="1"/>
          </p:cNvSpPr>
          <p:nvPr/>
        </p:nvSpPr>
        <p:spPr>
          <a:xfrm>
            <a:off x="2524125" y="72580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VISHAL MEGA MART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5BD85825-787C-4A97-B74B-270CDB38EFBD}"/>
              </a:ext>
            </a:extLst>
          </p:cNvPr>
          <p:cNvSpPr>
            <a:spLocks noGrp="1"/>
          </p:cNvSpPr>
          <p:nvPr/>
        </p:nvSpPr>
        <p:spPr>
          <a:xfrm>
            <a:off x="2571750" y="763905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Expansion execution risk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76712426-0FF8-4FF6-A0C4-7E011E003382}"/>
              </a:ext>
            </a:extLst>
          </p:cNvPr>
          <p:cNvSpPr>
            <a:spLocks noGrp="1"/>
          </p:cNvSpPr>
          <p:nvPr/>
        </p:nvSpPr>
        <p:spPr>
          <a:xfrm>
            <a:off x="2571750" y="80391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61C29820-B33C-4D86-B64E-E26C400A872D}"/>
              </a:ext>
            </a:extLst>
          </p:cNvPr>
          <p:cNvSpPr>
            <a:spLocks noGrp="1"/>
          </p:cNvSpPr>
          <p:nvPr/>
        </p:nvSpPr>
        <p:spPr>
          <a:xfrm>
            <a:off x="2571750" y="822960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Sites +10.2%; Shampoo and cleanser lead growth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270A4FE5-9C97-47DB-A828-CD4C1258ADB6}"/>
              </a:ext>
            </a:extLst>
          </p:cNvPr>
          <p:cNvSpPr>
            <a:spLocks noGrp="1"/>
          </p:cNvSpPr>
          <p:nvPr/>
        </p:nvSpPr>
        <p:spPr>
          <a:xfrm>
            <a:off x="2571750" y="87630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D4739AEF-E778-40C1-9BDE-897D7E442938}"/>
              </a:ext>
            </a:extLst>
          </p:cNvPr>
          <p:cNvSpPr>
            <a:spLocks noGrp="1"/>
          </p:cNvSpPr>
          <p:nvPr/>
        </p:nvSpPr>
        <p:spPr>
          <a:xfrm>
            <a:off x="2571750" y="894397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Protect fill rate before adding more doors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7305CCEC-7F91-41A0-A9B4-FDCB685A2A1C}"/>
              </a:ext>
            </a:extLst>
          </p:cNvPr>
          <p:cNvSpPr>
            <a:spLocks noGrp="1"/>
          </p:cNvSpPr>
          <p:nvPr/>
        </p:nvSpPr>
        <p:spPr>
          <a:xfrm>
            <a:off x="2571750" y="9505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OSA and sales/new door</a:t>
            </a:r>
          </a:p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45F71B30-8881-4009-8010-235CF152E4DF}"/>
              </a:ext>
            </a:extLst>
          </p:cNvPr>
          <p:cNvSpPr>
            <a:spLocks noGrp="1"/>
          </p:cNvSpPr>
          <p:nvPr/>
        </p:nvSpPr>
        <p:spPr>
          <a:xfrm>
            <a:off x="4514850" y="7239000"/>
            <a:ext cx="1981200" cy="2571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F9BA016B-87E6-435D-9A7B-00DC79EEA933}"/>
              </a:ext>
            </a:extLst>
          </p:cNvPr>
          <p:cNvSpPr>
            <a:spLocks noGrp="1"/>
          </p:cNvSpPr>
          <p:nvPr/>
        </p:nvSpPr>
        <p:spPr>
          <a:xfrm>
            <a:off x="4514850" y="7239000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6D82ED3F-46E5-45A7-A465-B2C4B46C9095}"/>
              </a:ext>
            </a:extLst>
          </p:cNvPr>
          <p:cNvSpPr>
            <a:spLocks noGrp="1"/>
          </p:cNvSpPr>
          <p:nvPr/>
        </p:nvSpPr>
        <p:spPr>
          <a:xfrm>
            <a:off x="4600575" y="72580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FSN / NYKAA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796CBD32-19FA-4FFE-B2B0-E54AE7623464}"/>
              </a:ext>
            </a:extLst>
          </p:cNvPr>
          <p:cNvSpPr>
            <a:spLocks noGrp="1"/>
          </p:cNvSpPr>
          <p:nvPr/>
        </p:nvSpPr>
        <p:spPr>
          <a:xfrm>
            <a:off x="4648200" y="763905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June-July softness after strong base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8D6B1A5E-213D-456D-8D09-C5D6A87949DC}"/>
              </a:ext>
            </a:extLst>
          </p:cNvPr>
          <p:cNvSpPr>
            <a:spLocks noGrp="1"/>
          </p:cNvSpPr>
          <p:nvPr/>
        </p:nvSpPr>
        <p:spPr>
          <a:xfrm>
            <a:off x="4648200" y="80391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28A596"/>
                </a:solidFill>
              </a:defRPr>
            </a:pPr>
            <a:r>
              <a:rPr sz="638" b="1">
                <a:solidFill>
                  <a:srgbClr val="28A596"/>
                </a:solidFill>
              </a:rPr>
              <a:t>EVIDENCE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0165EAA8-9888-4110-AFC9-8E815D1AD887}"/>
              </a:ext>
            </a:extLst>
          </p:cNvPr>
          <p:cNvSpPr>
            <a:spLocks noGrp="1"/>
          </p:cNvSpPr>
          <p:nvPr/>
        </p:nvSpPr>
        <p:spPr>
          <a:xfrm>
            <a:off x="4648200" y="822960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0">
                <a:solidFill>
                  <a:srgbClr val="5F716E"/>
                </a:solidFill>
              </a:defRPr>
            </a:pPr>
            <a:r>
              <a:rPr sz="698" b="0">
                <a:solidFill>
                  <a:srgbClr val="5F716E"/>
                </a:solidFill>
              </a:rPr>
              <a:t>July -4.6%, but conversion remains 99.4%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3C9CD4AC-EFCB-4403-942E-0FC69334A621}"/>
              </a:ext>
            </a:extLst>
          </p:cNvPr>
          <p:cNvSpPr>
            <a:spLocks noGrp="1"/>
          </p:cNvSpPr>
          <p:nvPr/>
        </p:nvSpPr>
        <p:spPr>
          <a:xfrm>
            <a:off x="4648200" y="87630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38" b="1">
                <a:solidFill>
                  <a:srgbClr val="D6544D"/>
                </a:solidFill>
              </a:defRPr>
            </a:pPr>
            <a:r>
              <a:rPr sz="638" b="1">
                <a:solidFill>
                  <a:srgbClr val="D6544D"/>
                </a:solidFill>
              </a:rPr>
              <a:t>RECOVERY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0FCD943D-E27C-4D9A-A726-ED815E083AE7}"/>
              </a:ext>
            </a:extLst>
          </p:cNvPr>
          <p:cNvSpPr>
            <a:spLocks noGrp="1"/>
          </p:cNvSpPr>
          <p:nvPr/>
        </p:nvSpPr>
        <p:spPr>
          <a:xfrm>
            <a:off x="4648200" y="8943975"/>
            <a:ext cx="17145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98" b="1">
                <a:solidFill>
                  <a:srgbClr val="183B39"/>
                </a:solidFill>
              </a:defRPr>
            </a:pPr>
            <a:r>
              <a:rPr sz="698" b="1">
                <a:solidFill>
                  <a:srgbClr val="183B39"/>
                </a:solidFill>
              </a:rPr>
              <a:t>Protect top face-wash/sunscreen articles and maintain flow parity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C58B4916-4C8F-4F0E-A922-9AC936F68FF2}"/>
              </a:ext>
            </a:extLst>
          </p:cNvPr>
          <p:cNvSpPr>
            <a:spLocks noGrp="1"/>
          </p:cNvSpPr>
          <p:nvPr/>
        </p:nvSpPr>
        <p:spPr>
          <a:xfrm>
            <a:off x="4648200" y="9505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60" b="1">
                <a:solidFill>
                  <a:srgbClr val="116F68"/>
                </a:solidFill>
              </a:defRPr>
            </a:pPr>
            <a:r>
              <a:rPr sz="660" b="1">
                <a:solidFill>
                  <a:srgbClr val="116F68"/>
                </a:solidFill>
              </a:rPr>
              <a:t>KPI: Conversion &gt;95%; return to ₹2.17 Cr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23F0C5C8-C0B1-41C6-9F5A-FDDBC0119307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9D30BD00-AC92-4F6E-B901-F8E44376AC66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701D53C3-B464-4AC4-B186-3F2C855034EE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Recovery: Reliance -15%, Metro -20.5%, Arambagh -22.5%; Scale: Lulu +46.5%, VMM +18.2%, Sasta Sundar +127.8%; each has a distinct cause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4A9BF737-5674-4070-B750-276EE416C8E9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8EBDC6D6-3DDA-441F-91E4-387AEC67D0E1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5EE6FC7D-FFAF-4474-9C23-3F5805D0F121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Mix erosion (Reliance), range dilution (Metro), expansion (VMM), seasonal (Wellness) — one fix does not work across all; wrong diagnosis wastes three months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06BF9420-8687-47D3-9690-3E550E1AB4E7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59D4F174-A5D3-4AD7-ABB9-1FE96BACF155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901A3686-AFED-47E7-8740-567985D10077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Each recovery chain gets a named owner and chain-specific KPI; scale chains get availability protection brief; 30-day convergence review for all nine chains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1415B459-70B9-471F-9990-A3BE17E287E1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7976AC75-58E8-4B0C-8AC7-555FF95AEC81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E1773CF3-4E6F-4825-A091-F27DC68C925E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Sales Lead + Category (KPI design) | Owner assignment by 25-Aug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4" name="">
            <a:extLst>
              <a:ext uri="{FF2B5EF4-FFF2-40B4-BE49-F238E27FC236}">
                <a16:creationId xmlns:a16="http://schemas.microsoft.com/office/drawing/2014/main" id="{DEB31E1A-4762-478E-A0D6-A3E93F6278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B51FCE2-1D64-4536-BF62-3A45A8F8A299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eB2B / FSN+Nykaa: ₹2.07 Cr at 99.4% flow; outperforms MT average by 26 pp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A723165-0D59-4DD7-A9AC-26A1632ED660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eB2B channel | FSN + Nykaa | January–July 2026 | Pan India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CB11755-9E04-4952-8F9D-170D20CE1A73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C9211BB-51DE-4E09-A599-58577552C298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9CC33B8B-79EE-4A85-B4AC-935F6F774B59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194E98F6-EF8D-4192-AFE5-C04AC4D28C17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eB2B PRIMARY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B99024E3-3FCC-41D4-B1AB-89FD29E2AB76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8A596"/>
                </a:solidFill>
              </a:defRPr>
            </a:pPr>
            <a:r>
              <a:rPr sz="1875" b="1">
                <a:solidFill>
                  <a:srgbClr val="28A596"/>
                </a:solidFill>
              </a:rPr>
              <a:t>₹2.20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DFBCFB03-8B33-4F26-AA49-D268FDBF9021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FSN + Nykaa Jul-26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75923E46-89B9-482C-AE61-501AB2B0B289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7B887966-14CB-4BBD-B337-319766AA07D8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9B26D074-6295-41E7-AF08-54C61D1B73CD}"/>
              </a:ext>
            </a:extLst>
          </p:cNvPr>
          <p:cNvSpPr>
            <a:spLocks noGrp="1"/>
          </p:cNvSpPr>
          <p:nvPr/>
        </p:nvSpPr>
        <p:spPr>
          <a:xfrm>
            <a:off x="2638425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JUL OFFTAKE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0900A930-992B-43BF-BE93-C1C3B29DE2D3}"/>
              </a:ext>
            </a:extLst>
          </p:cNvPr>
          <p:cNvSpPr>
            <a:spLocks noGrp="1"/>
          </p:cNvSpPr>
          <p:nvPr/>
        </p:nvSpPr>
        <p:spPr>
          <a:xfrm>
            <a:off x="2638425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₹2.07 Cr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64F253C7-6157-4FFD-BA93-3AE193BF4DD3}"/>
              </a:ext>
            </a:extLst>
          </p:cNvPr>
          <p:cNvSpPr>
            <a:spLocks noGrp="1"/>
          </p:cNvSpPr>
          <p:nvPr/>
        </p:nvSpPr>
        <p:spPr>
          <a:xfrm>
            <a:off x="2638425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5.7% of MT | FYTD ₹8.79 Cr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81104950-4EDB-423A-8C7D-864F0F9E60E6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C27AF61-0187-4C98-808C-C0F7EAE6F55F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DE9B94-6AE5-4224-9508-8743EC231D7B}"/>
              </a:ext>
            </a:extLst>
          </p:cNvPr>
          <p:cNvSpPr>
            <a:spLocks noGrp="1"/>
          </p:cNvSpPr>
          <p:nvPr/>
        </p:nvSpPr>
        <p:spPr>
          <a:xfrm>
            <a:off x="474345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FLOW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A238F9A2-9FD9-4B30-899D-CD17466A4D26}"/>
              </a:ext>
            </a:extLst>
          </p:cNvPr>
          <p:cNvSpPr>
            <a:spLocks noGrp="1"/>
          </p:cNvSpPr>
          <p:nvPr/>
        </p:nvSpPr>
        <p:spPr>
          <a:xfrm>
            <a:off x="474345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99.4%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029C46FD-5798-4062-8881-7966464BD59B}"/>
              </a:ext>
            </a:extLst>
          </p:cNvPr>
          <p:cNvSpPr>
            <a:spLocks noGrp="1"/>
          </p:cNvSpPr>
          <p:nvPr/>
        </p:nvSpPr>
        <p:spPr>
          <a:xfrm>
            <a:off x="474345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+22.6 pp vs MT avg (76.8%)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960FF525-30B8-4D17-B363-1C10BFD2A4E5}"/>
              </a:ext>
            </a:extLst>
          </p:cNvPr>
          <p:cNvSpPr>
            <a:spLocks noGrp="1"/>
          </p:cNvSpPr>
          <p:nvPr/>
        </p:nvSpPr>
        <p:spPr>
          <a:xfrm>
            <a:off x="361950" y="26670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2950D17E-18ED-49CA-BB7C-806625C06C7C}"/>
              </a:ext>
            </a:extLst>
          </p:cNvPr>
          <p:cNvSpPr>
            <a:spLocks noGrp="1"/>
          </p:cNvSpPr>
          <p:nvPr/>
        </p:nvSpPr>
        <p:spPr>
          <a:xfrm>
            <a:off x="457200" y="26765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eB2B OFFTAKE TREND — JAN TO JUL 2026</a:t>
            </a:r>
          </a:p>
        </p:txBody>
      </p:sp>
      <p:graphicFrame>
        <p:nvGraphicFramePr>
          <p:cNvPr id="85" name="Chart"/>
          <p:cNvGraphicFramePr/>
          <p:nvPr/>
        </p:nvGraphicFramePr>
        <p:xfrm>
          <a:off x="523875" y="3095625"/>
          <a:ext cx="5810250" cy="2476500"/>
        </p:xfrm>
        <a:graphic>
          <a:graphicData uri="http://schemas.openxmlformats.org/drawingml/2006/chart">
            <c:chart xmlns:c="http://schemas.openxmlformats.org/drawingml/2006/chart" r:id="R8f0a4c77f31e4342"/>
          </a:graphicData>
        </a:graphic>
      </p:graphicFrame>
      <p:sp>
        <p:nvSpPr>
          <p:cNvPr id="23" name="">
            <a:extLst>
              <a:ext uri="{FF2B5EF4-FFF2-40B4-BE49-F238E27FC236}">
                <a16:creationId xmlns:a16="http://schemas.microsoft.com/office/drawing/2014/main" id="{900FBE22-BFBB-4157-BF05-85FE49AE1559}"/>
              </a:ext>
            </a:extLst>
          </p:cNvPr>
          <p:cNvSpPr>
            <a:spLocks noGrp="1"/>
          </p:cNvSpPr>
          <p:nvPr/>
        </p:nvSpPr>
        <p:spPr>
          <a:xfrm>
            <a:off x="361950" y="59055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70F69326-0C86-4A84-848C-1F6BE8C3B3D5}"/>
              </a:ext>
            </a:extLst>
          </p:cNvPr>
          <p:cNvSpPr>
            <a:spLocks noGrp="1"/>
          </p:cNvSpPr>
          <p:nvPr/>
        </p:nvSpPr>
        <p:spPr>
          <a:xfrm>
            <a:off x="457200" y="59150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ARTICLE ENGINES AND LEADERSHIP ACTION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5ECFD08A-9081-436B-A77F-1268A7AC30CC}"/>
              </a:ext>
            </a:extLst>
          </p:cNvPr>
          <p:cNvSpPr>
            <a:spLocks noGrp="1"/>
          </p:cNvSpPr>
          <p:nvPr/>
        </p:nvSpPr>
        <p:spPr>
          <a:xfrm>
            <a:off x="457200" y="6334125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269BD1D7-931A-497C-AE0A-51480178A8FB}"/>
              </a:ext>
            </a:extLst>
          </p:cNvPr>
          <p:cNvSpPr>
            <a:spLocks noGrp="1"/>
          </p:cNvSpPr>
          <p:nvPr/>
        </p:nvSpPr>
        <p:spPr>
          <a:xfrm>
            <a:off x="571500" y="640080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Rice Face Wash 100 ml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549A3298-5256-4F91-AB74-0EBB445D0038}"/>
              </a:ext>
            </a:extLst>
          </p:cNvPr>
          <p:cNvSpPr>
            <a:spLocks noGrp="1"/>
          </p:cNvSpPr>
          <p:nvPr/>
        </p:nvSpPr>
        <p:spPr>
          <a:xfrm>
            <a:off x="2600325" y="6410325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₹0.27 Cr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887C47C4-BA26-47F3-B130-079109DF0C93}"/>
              </a:ext>
            </a:extLst>
          </p:cNvPr>
          <p:cNvSpPr>
            <a:spLocks noGrp="1"/>
          </p:cNvSpPr>
          <p:nvPr/>
        </p:nvSpPr>
        <p:spPr>
          <a:xfrm>
            <a:off x="3457575" y="6334125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ABCC17E1-64C5-4AA2-A865-8B9EF56AC869}"/>
              </a:ext>
            </a:extLst>
          </p:cNvPr>
          <p:cNvSpPr>
            <a:spLocks noGrp="1"/>
          </p:cNvSpPr>
          <p:nvPr/>
        </p:nvSpPr>
        <p:spPr>
          <a:xfrm>
            <a:off x="3571875" y="640080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Rice Face Wash 50 ml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979D20DA-81A3-4695-95F9-7A327B391E50}"/>
              </a:ext>
            </a:extLst>
          </p:cNvPr>
          <p:cNvSpPr>
            <a:spLocks noGrp="1"/>
          </p:cNvSpPr>
          <p:nvPr/>
        </p:nvSpPr>
        <p:spPr>
          <a:xfrm>
            <a:off x="5600700" y="6410325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₹0.19 Cr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01007EF7-BECB-45DA-BEDC-6D72EE75FAE0}"/>
              </a:ext>
            </a:extLst>
          </p:cNvPr>
          <p:cNvSpPr>
            <a:spLocks noGrp="1"/>
          </p:cNvSpPr>
          <p:nvPr/>
        </p:nvSpPr>
        <p:spPr>
          <a:xfrm>
            <a:off x="457200" y="704850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92C3BC93-6624-4AA6-8D00-A1C6B9453D76}"/>
              </a:ext>
            </a:extLst>
          </p:cNvPr>
          <p:cNvSpPr>
            <a:spLocks noGrp="1"/>
          </p:cNvSpPr>
          <p:nvPr/>
        </p:nvSpPr>
        <p:spPr>
          <a:xfrm>
            <a:off x="571500" y="711517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Ubtan Natural Glow Face Wash W…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7566E79-A271-4080-BC58-4593DFE0BFD9}"/>
              </a:ext>
            </a:extLst>
          </p:cNvPr>
          <p:cNvSpPr>
            <a:spLocks noGrp="1"/>
          </p:cNvSpPr>
          <p:nvPr/>
        </p:nvSpPr>
        <p:spPr>
          <a:xfrm>
            <a:off x="2600325" y="7124700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₹0.14 Cr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E0C72612-F394-4DF6-A113-E34F9D2DF5F1}"/>
              </a:ext>
            </a:extLst>
          </p:cNvPr>
          <p:cNvSpPr>
            <a:spLocks noGrp="1"/>
          </p:cNvSpPr>
          <p:nvPr/>
        </p:nvSpPr>
        <p:spPr>
          <a:xfrm>
            <a:off x="3457575" y="704850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A46AFA0D-7CBB-4770-874F-25BA9902E403}"/>
              </a:ext>
            </a:extLst>
          </p:cNvPr>
          <p:cNvSpPr>
            <a:spLocks noGrp="1"/>
          </p:cNvSpPr>
          <p:nvPr/>
        </p:nvSpPr>
        <p:spPr>
          <a:xfrm>
            <a:off x="3571875" y="711517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Vitamin C Face Wash with Vitamin …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51D39746-B205-44D7-90D1-9C96550F7E8F}"/>
              </a:ext>
            </a:extLst>
          </p:cNvPr>
          <p:cNvSpPr>
            <a:spLocks noGrp="1"/>
          </p:cNvSpPr>
          <p:nvPr/>
        </p:nvSpPr>
        <p:spPr>
          <a:xfrm>
            <a:off x="5600700" y="7124700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₹0.09 Cr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C7071B04-770C-4E31-92AA-92DE4B5F8BFB}"/>
              </a:ext>
            </a:extLst>
          </p:cNvPr>
          <p:cNvSpPr>
            <a:spLocks noGrp="1"/>
          </p:cNvSpPr>
          <p:nvPr/>
        </p:nvSpPr>
        <p:spPr>
          <a:xfrm>
            <a:off x="457200" y="7762875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4BC4578C-039F-4A1F-BE9E-98047627E0DD}"/>
              </a:ext>
            </a:extLst>
          </p:cNvPr>
          <p:cNvSpPr>
            <a:spLocks noGrp="1"/>
          </p:cNvSpPr>
          <p:nvPr/>
        </p:nvSpPr>
        <p:spPr>
          <a:xfrm>
            <a:off x="571500" y="782955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VItamin C Daily Glow Face Wash…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B1942C8E-44F7-426D-BD08-F9DBCD14D3F1}"/>
              </a:ext>
            </a:extLst>
          </p:cNvPr>
          <p:cNvSpPr>
            <a:spLocks noGrp="1"/>
          </p:cNvSpPr>
          <p:nvPr/>
        </p:nvSpPr>
        <p:spPr>
          <a:xfrm>
            <a:off x="2600325" y="7839075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₹0.08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A85BFAF9-6B6B-40CD-8DAB-CCB3FA5F3F53}"/>
              </a:ext>
            </a:extLst>
          </p:cNvPr>
          <p:cNvSpPr>
            <a:spLocks noGrp="1"/>
          </p:cNvSpPr>
          <p:nvPr/>
        </p:nvSpPr>
        <p:spPr>
          <a:xfrm>
            <a:off x="3457575" y="7762875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F239076F-C9DB-47FB-80B4-1D05FE294F19}"/>
              </a:ext>
            </a:extLst>
          </p:cNvPr>
          <p:cNvSpPr>
            <a:spLocks noGrp="1"/>
          </p:cNvSpPr>
          <p:nvPr/>
        </p:nvSpPr>
        <p:spPr>
          <a:xfrm>
            <a:off x="3571875" y="7829550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Ubtan Natural Glow Face Wash 5…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66AA0992-3213-48C4-8D4A-AEC34ED8291E}"/>
              </a:ext>
            </a:extLst>
          </p:cNvPr>
          <p:cNvSpPr>
            <a:spLocks noGrp="1"/>
          </p:cNvSpPr>
          <p:nvPr/>
        </p:nvSpPr>
        <p:spPr>
          <a:xfrm>
            <a:off x="5600700" y="7839075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₹0.08 Cr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03B713DD-DD12-4805-9667-9BA787F09B51}"/>
              </a:ext>
            </a:extLst>
          </p:cNvPr>
          <p:cNvSpPr>
            <a:spLocks noGrp="1"/>
          </p:cNvSpPr>
          <p:nvPr/>
        </p:nvSpPr>
        <p:spPr>
          <a:xfrm>
            <a:off x="457200" y="847725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8084D697-07E2-4DD1-97B3-14AB04636C5F}"/>
              </a:ext>
            </a:extLst>
          </p:cNvPr>
          <p:cNvSpPr>
            <a:spLocks noGrp="1"/>
          </p:cNvSpPr>
          <p:nvPr/>
        </p:nvSpPr>
        <p:spPr>
          <a:xfrm>
            <a:off x="571500" y="854392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Vitamin C Daily Glow Sunscreen 50…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287F46D-B926-4C45-BFC5-4EBE80420CD4}"/>
              </a:ext>
            </a:extLst>
          </p:cNvPr>
          <p:cNvSpPr>
            <a:spLocks noGrp="1"/>
          </p:cNvSpPr>
          <p:nvPr/>
        </p:nvSpPr>
        <p:spPr>
          <a:xfrm>
            <a:off x="2600325" y="8553450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₹0.08 Cr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63AA8A40-D2D4-4623-B4A7-23BDA7A30A43}"/>
              </a:ext>
            </a:extLst>
          </p:cNvPr>
          <p:cNvSpPr>
            <a:spLocks noGrp="1"/>
          </p:cNvSpPr>
          <p:nvPr/>
        </p:nvSpPr>
        <p:spPr>
          <a:xfrm>
            <a:off x="3457575" y="8477250"/>
            <a:ext cx="2857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BAC8BBC1-90B3-44A4-880B-A4CC0F6A1AF9}"/>
              </a:ext>
            </a:extLst>
          </p:cNvPr>
          <p:cNvSpPr>
            <a:spLocks noGrp="1"/>
          </p:cNvSpPr>
          <p:nvPr/>
        </p:nvSpPr>
        <p:spPr>
          <a:xfrm>
            <a:off x="3571875" y="8543925"/>
            <a:ext cx="200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ME Onion Hair fall control Shampo…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7568EBFB-5B00-4D7D-918E-BE0264F57928}"/>
              </a:ext>
            </a:extLst>
          </p:cNvPr>
          <p:cNvSpPr>
            <a:spLocks noGrp="1"/>
          </p:cNvSpPr>
          <p:nvPr/>
        </p:nvSpPr>
        <p:spPr>
          <a:xfrm>
            <a:off x="5600700" y="8553450"/>
            <a:ext cx="619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₹0.07 Cr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D8228AAF-7605-48C5-9BAB-8939F61FF7B5}"/>
              </a:ext>
            </a:extLst>
          </p:cNvPr>
          <p:cNvSpPr>
            <a:spLocks noGrp="1"/>
          </p:cNvSpPr>
          <p:nvPr/>
        </p:nvSpPr>
        <p:spPr>
          <a:xfrm>
            <a:off x="361950" y="9429750"/>
            <a:ext cx="6134100" cy="1428750"/>
          </a:xfrm>
          <a:prstGeom prst="roundRect">
            <a:avLst>
              <a:gd name="adj" fmla="val 5333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C0BA01BB-2DFD-4D85-BF03-DC9BACE61BE2}"/>
              </a:ext>
            </a:extLst>
          </p:cNvPr>
          <p:cNvSpPr>
            <a:spLocks noGrp="1"/>
          </p:cNvSpPr>
          <p:nvPr/>
        </p:nvSpPr>
        <p:spPr>
          <a:xfrm>
            <a:off x="523875" y="960120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16F68"/>
                </a:solidFill>
              </a:defRPr>
            </a:pPr>
            <a:r>
              <a:rPr sz="825" b="1">
                <a:solidFill>
                  <a:srgbClr val="116F68"/>
                </a:solidFill>
              </a:rPr>
              <a:t>LEADERSHIP CALL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1D9804DA-18B5-410A-91F4-439F42087F16}"/>
              </a:ext>
            </a:extLst>
          </p:cNvPr>
          <p:cNvSpPr>
            <a:spLocks noGrp="1"/>
          </p:cNvSpPr>
          <p:nvPr/>
        </p:nvSpPr>
        <p:spPr>
          <a:xfrm>
            <a:off x="523875" y="9906000"/>
            <a:ext cx="5762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83B39"/>
                </a:solidFill>
              </a:defRPr>
            </a:pPr>
            <a:r>
              <a:rPr sz="1275" b="1">
                <a:solidFill>
                  <a:srgbClr val="183B39"/>
                </a:solidFill>
              </a:rPr>
              <a:t>Protect top-8 face-wash and sunscreen EANs; reverse June–July -4.6% by restoring Rice FW 100ml and Ubtan FW OSA to 100% on Nykaa; retain &gt;95% flow as account benchmark.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4E20F6CE-0CDF-43B7-B744-6FB928844FCB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3F1587A3-6A66-4511-AA91-37119C9F147A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AEE71B89-03FB-415B-8169-CD15AD763611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Jul-26 ₹2.07 Cr (−4.6% MoM); trend Jan→Jul ₹1.64→₹2.07 Cr; FYTD ₹8.79 Cr; 99.4% flow; EAN count 198 (was 222 Jan); Rice FW 100ml top article ₹0.27 Cr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ED6C17C4-1916-4D52-8DEB-44B87AD90334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C46DF77C-C95E-4827-B281-A73175335D18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F80321FE-73E7-453A-8359-E001E68D1B13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MoM dip = article-mix softness, not account issue; EAN count down but value holds = better productivity; top-2 articles (Rice FW 100ml+50ml = ₹0.46 Cr) drive August recovery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DFB3A9E5-7576-4F9D-B6B2-7A071DA0077E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71C26064-D621-4B8E-8382-11E3D29D05CF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ADBA68F6-9DA9-424C-99DD-A2C85325DB57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Raise OSA to 100% for Rice FW 100ml + Ubtan FW on Nykaa; no new EAN additions until July sellthrough confirmed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8FDE2524-3D7A-45E5-9D9C-4FD1A7C0E119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2849D5AF-A63F-4907-9807-41F1D12027E5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683588F4-24DE-4632-99D1-DCA2B6368BB5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NKAM FSN / Nykaa + Supply | 30-Aug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8" name="">
            <a:extLst>
              <a:ext uri="{FF2B5EF4-FFF2-40B4-BE49-F238E27FC236}">
                <a16:creationId xmlns:a16="http://schemas.microsoft.com/office/drawing/2014/main" id="{2929AD6D-5104-4661-AB64-7EB3C8D757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1692D190-1099-46AD-BCF3-B72E34A2DBB1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NPI contributes ₹2.68 Cr; Reliance and DMart hold most of the value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5D753D8-425B-4250-8F6B-15FA3B2A2CEA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NPI contribution | Overall, zone and chain | July 2026 | NSV basis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30B8874-FF5B-45C8-A568-8190734CA6B2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E08FEDF-E4D7-4DA8-BFFC-F73B507260AC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054E661-572C-4B28-AF30-A7B432D5331D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6A15454B-9BD3-4ECB-A126-944CD9178025}"/>
              </a:ext>
            </a:extLst>
          </p:cNvPr>
          <p:cNvSpPr>
            <a:spLocks noGrp="1"/>
          </p:cNvSpPr>
          <p:nvPr/>
        </p:nvSpPr>
        <p:spPr>
          <a:xfrm>
            <a:off x="53340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NPI SALES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FF767E9-FA26-4669-BF5D-B36D3A495159}"/>
              </a:ext>
            </a:extLst>
          </p:cNvPr>
          <p:cNvSpPr>
            <a:spLocks noGrp="1"/>
          </p:cNvSpPr>
          <p:nvPr/>
        </p:nvSpPr>
        <p:spPr>
          <a:xfrm>
            <a:off x="53340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₹2.68 Cr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4BB2231E-DC8B-4EDE-B1EF-442E565CC860}"/>
              </a:ext>
            </a:extLst>
          </p:cNvPr>
          <p:cNvSpPr>
            <a:spLocks noGrp="1"/>
          </p:cNvSpPr>
          <p:nvPr/>
        </p:nvSpPr>
        <p:spPr>
          <a:xfrm>
            <a:off x="53340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July offtake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FCD0653-0EFB-4884-857B-D8C3759D4F04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38C62D8-1D1E-4D43-92DF-C5D531E08BC0}"/>
              </a:ext>
            </a:extLst>
          </p:cNvPr>
          <p:cNvSpPr>
            <a:spLocks noGrp="1"/>
          </p:cNvSpPr>
          <p:nvPr/>
        </p:nvSpPr>
        <p:spPr>
          <a:xfrm>
            <a:off x="2466975" y="128587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1CCC3F03-627C-44EA-96BB-B3F4366F6BC8}"/>
              </a:ext>
            </a:extLst>
          </p:cNvPr>
          <p:cNvSpPr>
            <a:spLocks noGrp="1"/>
          </p:cNvSpPr>
          <p:nvPr/>
        </p:nvSpPr>
        <p:spPr>
          <a:xfrm>
            <a:off x="2638425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CONTRIBUTION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1513BA6A-67E2-45F1-9C4B-ACC3DC3A631A}"/>
              </a:ext>
            </a:extLst>
          </p:cNvPr>
          <p:cNvSpPr>
            <a:spLocks noGrp="1"/>
          </p:cNvSpPr>
          <p:nvPr/>
        </p:nvSpPr>
        <p:spPr>
          <a:xfrm>
            <a:off x="2638425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7.4%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285FD624-125D-4317-98FE-C6C3A6FC162E}"/>
              </a:ext>
            </a:extLst>
          </p:cNvPr>
          <p:cNvSpPr>
            <a:spLocks noGrp="1"/>
          </p:cNvSpPr>
          <p:nvPr/>
        </p:nvSpPr>
        <p:spPr>
          <a:xfrm>
            <a:off x="2638425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of total sales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9DBF5F18-C760-4BD7-9C61-7F80811CD776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BF01DBC2-A9EE-431F-9702-553C5161CE8F}"/>
              </a:ext>
            </a:extLst>
          </p:cNvPr>
          <p:cNvSpPr>
            <a:spLocks noGrp="1"/>
          </p:cNvSpPr>
          <p:nvPr/>
        </p:nvSpPr>
        <p:spPr>
          <a:xfrm>
            <a:off x="4572000" y="1285875"/>
            <a:ext cx="76200" cy="10668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F605F032-FEA3-4510-A2BA-375EE24C30FE}"/>
              </a:ext>
            </a:extLst>
          </p:cNvPr>
          <p:cNvSpPr>
            <a:spLocks noGrp="1"/>
          </p:cNvSpPr>
          <p:nvPr/>
        </p:nvSpPr>
        <p:spPr>
          <a:xfrm>
            <a:off x="4743450" y="14001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SELLING EANs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0454E735-CAE6-47C7-B69E-6402ADDB22C7}"/>
              </a:ext>
            </a:extLst>
          </p:cNvPr>
          <p:cNvSpPr>
            <a:spLocks noGrp="1"/>
          </p:cNvSpPr>
          <p:nvPr/>
        </p:nvSpPr>
        <p:spPr>
          <a:xfrm>
            <a:off x="4743450" y="162877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2B84B"/>
                </a:solidFill>
              </a:defRPr>
            </a:pPr>
            <a:r>
              <a:rPr sz="1875" b="1">
                <a:solidFill>
                  <a:srgbClr val="F2B84B"/>
                </a:solidFill>
              </a:rPr>
              <a:t>58/60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D998B71D-E528-4181-8B27-EF982C4ABACA}"/>
              </a:ext>
            </a:extLst>
          </p:cNvPr>
          <p:cNvSpPr>
            <a:spLocks noGrp="1"/>
          </p:cNvSpPr>
          <p:nvPr/>
        </p:nvSpPr>
        <p:spPr>
          <a:xfrm>
            <a:off x="4743450" y="20288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2 require audit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CB658C-449D-4581-8708-4CE44C84311D}"/>
              </a:ext>
            </a:extLst>
          </p:cNvPr>
          <p:cNvSpPr>
            <a:spLocks noGrp="1"/>
          </p:cNvSpPr>
          <p:nvPr/>
        </p:nvSpPr>
        <p:spPr>
          <a:xfrm>
            <a:off x="361950" y="27146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Zone NPI contribution (%)</a:t>
            </a:r>
          </a:p>
        </p:txBody>
      </p:sp>
      <p:graphicFrame>
        <p:nvGraphicFramePr>
          <p:cNvPr id="78" name="Chart"/>
          <p:cNvGraphicFramePr/>
          <p:nvPr/>
        </p:nvGraphicFramePr>
        <p:xfrm>
          <a:off x="361950" y="3000375"/>
          <a:ext cx="2857500" cy="2571750"/>
        </p:xfrm>
        <a:graphic>
          <a:graphicData uri="http://schemas.openxmlformats.org/drawingml/2006/chart">
            <c:chart xmlns:c="http://schemas.openxmlformats.org/drawingml/2006/chart" r:id="Rcba08b6542dc47f0"/>
          </a:graphicData>
        </a:graphic>
      </p:graphicFrame>
      <p:sp>
        <p:nvSpPr>
          <p:cNvPr id="22" name="">
            <a:extLst>
              <a:ext uri="{FF2B5EF4-FFF2-40B4-BE49-F238E27FC236}">
                <a16:creationId xmlns:a16="http://schemas.microsoft.com/office/drawing/2014/main" id="{B584E310-C51D-47EC-862F-68D1BBB28DC6}"/>
              </a:ext>
            </a:extLst>
          </p:cNvPr>
          <p:cNvSpPr>
            <a:spLocks noGrp="1"/>
          </p:cNvSpPr>
          <p:nvPr/>
        </p:nvSpPr>
        <p:spPr>
          <a:xfrm>
            <a:off x="3524250" y="2714625"/>
            <a:ext cx="2971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Chain NPI sales (₹ lakh)</a:t>
            </a:r>
          </a:p>
        </p:txBody>
      </p:sp>
      <p:graphicFrame>
        <p:nvGraphicFramePr>
          <p:cNvPr id="80" name="Chart"/>
          <p:cNvGraphicFramePr/>
          <p:nvPr/>
        </p:nvGraphicFramePr>
        <p:xfrm>
          <a:off x="3524250" y="3000375"/>
          <a:ext cx="2971800" cy="2571750"/>
        </p:xfrm>
        <a:graphic>
          <a:graphicData uri="http://schemas.openxmlformats.org/drawingml/2006/chart">
            <c:chart xmlns:c="http://schemas.openxmlformats.org/drawingml/2006/chart" r:id="R3e55ff4929954159"/>
          </a:graphicData>
        </a:graphic>
      </p:graphicFrame>
      <p:sp>
        <p:nvSpPr>
          <p:cNvPr id="24" name="">
            <a:extLst>
              <a:ext uri="{FF2B5EF4-FFF2-40B4-BE49-F238E27FC236}">
                <a16:creationId xmlns:a16="http://schemas.microsoft.com/office/drawing/2014/main" id="{BCFC23F5-5A78-42B5-A159-D781187BE760}"/>
              </a:ext>
            </a:extLst>
          </p:cNvPr>
          <p:cNvSpPr>
            <a:spLocks noGrp="1"/>
          </p:cNvSpPr>
          <p:nvPr/>
        </p:nvSpPr>
        <p:spPr>
          <a:xfrm>
            <a:off x="361950" y="595312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989749D3-C886-4623-B1C0-9650B22CC0BB}"/>
              </a:ext>
            </a:extLst>
          </p:cNvPr>
          <p:cNvSpPr>
            <a:spLocks noGrp="1"/>
          </p:cNvSpPr>
          <p:nvPr/>
        </p:nvSpPr>
        <p:spPr>
          <a:xfrm>
            <a:off x="457200" y="596265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TOP NPI ARTICLES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DDA930E6-8CCA-4F68-99CF-53AF45858EDC}"/>
              </a:ext>
            </a:extLst>
          </p:cNvPr>
          <p:cNvSpPr>
            <a:spLocks noGrp="1"/>
          </p:cNvSpPr>
          <p:nvPr/>
        </p:nvSpPr>
        <p:spPr>
          <a:xfrm>
            <a:off x="457200" y="633412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1. ME Onion Hair Fall Control Sha…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F0AD846F-B0BD-4BCD-BDB2-15C190B31DDE}"/>
              </a:ext>
            </a:extLst>
          </p:cNvPr>
          <p:cNvSpPr>
            <a:spLocks noGrp="1"/>
          </p:cNvSpPr>
          <p:nvPr/>
        </p:nvSpPr>
        <p:spPr>
          <a:xfrm>
            <a:off x="2628900" y="63341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₹0.31 Cr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4F09A90B-BE1D-4B29-8ABD-CF9715405F32}"/>
              </a:ext>
            </a:extLst>
          </p:cNvPr>
          <p:cNvSpPr>
            <a:spLocks noGrp="1"/>
          </p:cNvSpPr>
          <p:nvPr/>
        </p:nvSpPr>
        <p:spPr>
          <a:xfrm>
            <a:off x="3457575" y="633412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2. ME Onion hair oil 200 ml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10A82D0E-F882-4ACA-A8DE-26F2538CB180}"/>
              </a:ext>
            </a:extLst>
          </p:cNvPr>
          <p:cNvSpPr>
            <a:spLocks noGrp="1"/>
          </p:cNvSpPr>
          <p:nvPr/>
        </p:nvSpPr>
        <p:spPr>
          <a:xfrm>
            <a:off x="5629275" y="63341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₹0.30 Cr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B3309145-EFED-4FCA-ACC8-79F3D72C32D4}"/>
              </a:ext>
            </a:extLst>
          </p:cNvPr>
          <p:cNvSpPr>
            <a:spLocks noGrp="1"/>
          </p:cNvSpPr>
          <p:nvPr/>
        </p:nvSpPr>
        <p:spPr>
          <a:xfrm>
            <a:off x="457200" y="700087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3. ME Gentle Cleansing Shampoo 40…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8F0F5F1D-74CB-466E-95CD-3F8BCC63C751}"/>
              </a:ext>
            </a:extLst>
          </p:cNvPr>
          <p:cNvSpPr>
            <a:spLocks noGrp="1"/>
          </p:cNvSpPr>
          <p:nvPr/>
        </p:nvSpPr>
        <p:spPr>
          <a:xfrm>
            <a:off x="2628900" y="700087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₹0.21 Cr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E5094690-A7EA-44A3-B9F3-346DA35BC771}"/>
              </a:ext>
            </a:extLst>
          </p:cNvPr>
          <p:cNvSpPr>
            <a:spLocks noGrp="1"/>
          </p:cNvSpPr>
          <p:nvPr/>
        </p:nvSpPr>
        <p:spPr>
          <a:xfrm>
            <a:off x="3457575" y="700087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4. ME Multani Mitti Face Wash 100…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6056F41E-10B0-4238-9BB3-9BB10B99526C}"/>
              </a:ext>
            </a:extLst>
          </p:cNvPr>
          <p:cNvSpPr>
            <a:spLocks noGrp="1"/>
          </p:cNvSpPr>
          <p:nvPr/>
        </p:nvSpPr>
        <p:spPr>
          <a:xfrm>
            <a:off x="5629275" y="700087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₹0.20 Cr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311E59AE-5465-4BC8-9343-94BC7D05847F}"/>
              </a:ext>
            </a:extLst>
          </p:cNvPr>
          <p:cNvSpPr>
            <a:spLocks noGrp="1"/>
          </p:cNvSpPr>
          <p:nvPr/>
        </p:nvSpPr>
        <p:spPr>
          <a:xfrm>
            <a:off x="457200" y="766762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5. ME Vitamin C Daily Glow Sunscr…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17C17FB1-E1F6-446D-96E4-462F230C1DDB}"/>
              </a:ext>
            </a:extLst>
          </p:cNvPr>
          <p:cNvSpPr>
            <a:spLocks noGrp="1"/>
          </p:cNvSpPr>
          <p:nvPr/>
        </p:nvSpPr>
        <p:spPr>
          <a:xfrm>
            <a:off x="2628900" y="76676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₹0.20 Cr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09C304A2-B063-4482-A086-AB5FEC51F575}"/>
              </a:ext>
            </a:extLst>
          </p:cNvPr>
          <p:cNvSpPr>
            <a:spLocks noGrp="1"/>
          </p:cNvSpPr>
          <p:nvPr/>
        </p:nvSpPr>
        <p:spPr>
          <a:xfrm>
            <a:off x="3457575" y="766762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6. ME Lemon Anti-Dandruff Shampoo…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36B896E1-57DE-4E19-B02E-0B158FED424E}"/>
              </a:ext>
            </a:extLst>
          </p:cNvPr>
          <p:cNvSpPr>
            <a:spLocks noGrp="1"/>
          </p:cNvSpPr>
          <p:nvPr/>
        </p:nvSpPr>
        <p:spPr>
          <a:xfrm>
            <a:off x="5629275" y="76676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₹0.19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B3BD2F68-B62E-4D34-B677-BF34F9B30CCB}"/>
              </a:ext>
            </a:extLst>
          </p:cNvPr>
          <p:cNvSpPr>
            <a:spLocks noGrp="1"/>
          </p:cNvSpPr>
          <p:nvPr/>
        </p:nvSpPr>
        <p:spPr>
          <a:xfrm>
            <a:off x="457200" y="833437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7. Rosemary Anti-Hair Fall Shampo…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B5C4D986-EE44-4E32-A232-9D858DF5172E}"/>
              </a:ext>
            </a:extLst>
          </p:cNvPr>
          <p:cNvSpPr>
            <a:spLocks noGrp="1"/>
          </p:cNvSpPr>
          <p:nvPr/>
        </p:nvSpPr>
        <p:spPr>
          <a:xfrm>
            <a:off x="2628900" y="833437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₹0.18 Cr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22D13367-8E81-475C-A16B-9A0D972D85A9}"/>
              </a:ext>
            </a:extLst>
          </p:cNvPr>
          <p:cNvSpPr>
            <a:spLocks noGrp="1"/>
          </p:cNvSpPr>
          <p:nvPr/>
        </p:nvSpPr>
        <p:spPr>
          <a:xfrm>
            <a:off x="3457575" y="8334375"/>
            <a:ext cx="2143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8. ME Rice Water Dewy Sunscreen 8…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6E2330BD-555B-4A25-8EF2-E48157886B56}"/>
              </a:ext>
            </a:extLst>
          </p:cNvPr>
          <p:cNvSpPr>
            <a:spLocks noGrp="1"/>
          </p:cNvSpPr>
          <p:nvPr/>
        </p:nvSpPr>
        <p:spPr>
          <a:xfrm>
            <a:off x="5629275" y="833437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88" b="1">
                <a:solidFill>
                  <a:srgbClr val="28A596"/>
                </a:solidFill>
              </a:defRPr>
            </a:pPr>
            <a:r>
              <a:rPr sz="788" b="1">
                <a:solidFill>
                  <a:srgbClr val="28A596"/>
                </a:solidFill>
              </a:rPr>
              <a:t>₹0.18 Cr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E42A134C-2BE1-48A9-903D-5063B91EF48F}"/>
              </a:ext>
            </a:extLst>
          </p:cNvPr>
          <p:cNvSpPr>
            <a:spLocks noGrp="1"/>
          </p:cNvSpPr>
          <p:nvPr/>
        </p:nvSpPr>
        <p:spPr>
          <a:xfrm>
            <a:off x="361950" y="9334500"/>
            <a:ext cx="61341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D6576ADD-97AB-4776-86F9-F4F4DE5A6B98}"/>
              </a:ext>
            </a:extLst>
          </p:cNvPr>
          <p:cNvSpPr>
            <a:spLocks noGrp="1"/>
          </p:cNvSpPr>
          <p:nvPr/>
        </p:nvSpPr>
        <p:spPr>
          <a:xfrm>
            <a:off x="523875" y="9505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D6544D"/>
                </a:solidFill>
              </a:defRPr>
            </a:pPr>
            <a:r>
              <a:rPr sz="825" b="1">
                <a:solidFill>
                  <a:srgbClr val="D6544D"/>
                </a:solidFill>
              </a:rPr>
              <a:t>ZERO-SALE FINALIZED EANs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CA9B0E80-33C9-4327-85C8-C9488BA7DF3D}"/>
              </a:ext>
            </a:extLst>
          </p:cNvPr>
          <p:cNvSpPr>
            <a:spLocks noGrp="1"/>
          </p:cNvSpPr>
          <p:nvPr/>
        </p:nvSpPr>
        <p:spPr>
          <a:xfrm>
            <a:off x="523875" y="9810750"/>
            <a:ext cx="5667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• BBLUNT Cherry Red Hair Colour 130g</a:t>
            </a:r>
          </a:p>
          <a:p>
            <a:pPr algn="l">
              <a:defRPr sz="825" b="1">
                <a:solidFill>
                  <a:srgbClr val="183B39"/>
                </a:solidFill>
              </a:defRPr>
            </a:pPr>
            <a:r>
              <a:rPr sz="825" b="1">
                <a:solidFill>
                  <a:srgbClr val="183B39"/>
                </a:solidFill>
              </a:rPr>
              <a:t>• TDC 20% Actives Peptide–Stem Cell Hair Serum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EAE41167-14DF-4A4C-A2DB-1621019E8CA5}"/>
              </a:ext>
            </a:extLst>
          </p:cNvPr>
          <p:cNvSpPr>
            <a:spLocks noGrp="1"/>
          </p:cNvSpPr>
          <p:nvPr/>
        </p:nvSpPr>
        <p:spPr>
          <a:xfrm>
            <a:off x="523875" y="10429875"/>
            <a:ext cx="5667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Chain NSV share: Reliance 46.3% (₹1.30 Cr), DMart 34.6% (₹0.98 Cr), Lulu 6.4% (₹0.18 Cr), FSN 4.6% (₹0.13 Cr), H&amp;G 2.1%, Metro 1.8%, Wellness 1.3%, Sancus 1.1%.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2A3DD24F-B492-42E2-B8E5-1EF37E32F5FF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49DA8C4D-741A-4658-9AE5-C57E350F005C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4668513D-EAC5-4BA6-ACCE-F05A615BDD3B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₹2.68 Cr NPI; 58/60 EANs billing; Reliance 46.3% (₹1.24 Cr), DMart 34.6% (₹0.93 Cr); East NPI 10.2% highest nationally; 2 zero-sellers: BBlunt Cherry Red 130g + TDC Peptide Serum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5EA12E48-3ED3-4794-B592-834636B01BA9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31B5D983-1AB6-483E-9C6E-81B8A65B1628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4D35A6B3-0FF2-40D0-B710-76864807236B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2 zero-sellers represent an active listing / OSA risk; left unresolved past August review they become dead NPI inventory — early action is cheaper than post-launch recovery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ED8D78AE-E6E8-4D3A-A2AD-BE635A3C5CA2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21041BE1-86D4-4876-8596-A4907DEC71BA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4D553A3E-70D9-48E7-B490-40CDD039E56B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Audit zero-sellers (receipt, shelf, scheme) by 28-Aug; Reliance+DMart NPI visibility (80.9% of value) priority; no new NPI loading until zero-sellers clear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D3EA7088-0C14-44FE-AB16-93B263AD6623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E3683C4B-1456-4FDF-AF91-F5FB8708FE99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4B1331F4-FFE0-45D4-A0C5-B409A4BA663C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Trade Marketing + Supply | 28-Aug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" name="">
            <a:extLst>
              <a:ext uri="{FF2B5EF4-FFF2-40B4-BE49-F238E27FC236}">
                <a16:creationId xmlns:a16="http://schemas.microsoft.com/office/drawing/2014/main" id="{CA6FA434-30AC-476B-AB41-A989AC96FD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59CD4FCB-3506-48B3-91A5-6D9095FDFF9D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DMart and Reliance hold most of the convertible chain gap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0A13B83-AB27-4F47-B57B-366569F583EB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Chain deep dive | July 2026 | ₹ Cr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2D328CF-498C-4557-901A-7AD64E240F81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770D5328-C079-4937-B9B9-81270900870B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613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Top chain flow</a:t>
            </a:r>
          </a:p>
        </p:txBody>
      </p:sp>
      <p:graphicFrame>
        <p:nvGraphicFramePr>
          <p:cNvPr id="66" name="Chart"/>
          <p:cNvGraphicFramePr/>
          <p:nvPr/>
        </p:nvGraphicFramePr>
        <p:xfrm>
          <a:off x="361950" y="1571625"/>
          <a:ext cx="6134100" cy="2952750"/>
        </p:xfrm>
        <a:graphic>
          <a:graphicData uri="http://schemas.openxmlformats.org/drawingml/2006/chart">
            <c:chart xmlns:c="http://schemas.openxmlformats.org/drawingml/2006/chart" r:id="Ra27a828a0da64f79"/>
          </a:graphicData>
        </a:graphic>
      </p:graphicFrame>
      <p:sp>
        <p:nvSpPr>
          <p:cNvPr id="7" name="">
            <a:extLst>
              <a:ext uri="{FF2B5EF4-FFF2-40B4-BE49-F238E27FC236}">
                <a16:creationId xmlns:a16="http://schemas.microsoft.com/office/drawing/2014/main" id="{87702417-18FB-42D2-9250-7F22BBC42CC2}"/>
              </a:ext>
            </a:extLst>
          </p:cNvPr>
          <p:cNvSpPr>
            <a:spLocks noGrp="1"/>
          </p:cNvSpPr>
          <p:nvPr/>
        </p:nvSpPr>
        <p:spPr>
          <a:xfrm>
            <a:off x="361950" y="481012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F8C7DDF-5C5E-47BB-8671-91811F1E263D}"/>
              </a:ext>
            </a:extLst>
          </p:cNvPr>
          <p:cNvSpPr>
            <a:spLocks noGrp="1"/>
          </p:cNvSpPr>
          <p:nvPr/>
        </p:nvSpPr>
        <p:spPr>
          <a:xfrm>
            <a:off x="457200" y="481965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ACCOUNT SIGNALS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814445AB-FAD8-4388-9A45-F7DB0DBAC474}"/>
              </a:ext>
            </a:extLst>
          </p:cNvPr>
          <p:cNvSpPr>
            <a:spLocks noGrp="1"/>
          </p:cNvSpPr>
          <p:nvPr/>
        </p:nvSpPr>
        <p:spPr>
          <a:xfrm>
            <a:off x="361950" y="519112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BEC9DAF0-7912-4A89-9105-E3F48D880636}"/>
              </a:ext>
            </a:extLst>
          </p:cNvPr>
          <p:cNvSpPr>
            <a:spLocks noGrp="1"/>
          </p:cNvSpPr>
          <p:nvPr/>
        </p:nvSpPr>
        <p:spPr>
          <a:xfrm>
            <a:off x="361950" y="5191125"/>
            <a:ext cx="76200" cy="10668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AAD0676D-8298-496D-91AA-8262EE481544}"/>
              </a:ext>
            </a:extLst>
          </p:cNvPr>
          <p:cNvSpPr>
            <a:spLocks noGrp="1"/>
          </p:cNvSpPr>
          <p:nvPr/>
        </p:nvSpPr>
        <p:spPr>
          <a:xfrm>
            <a:off x="533400" y="53054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DMART GAP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9AB0217E-BC93-41AB-9CE6-BEFDB5C3CF76}"/>
              </a:ext>
            </a:extLst>
          </p:cNvPr>
          <p:cNvSpPr>
            <a:spLocks noGrp="1"/>
          </p:cNvSpPr>
          <p:nvPr/>
        </p:nvSpPr>
        <p:spPr>
          <a:xfrm>
            <a:off x="533400" y="553402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D6544D"/>
                </a:solidFill>
              </a:defRPr>
            </a:pPr>
            <a:r>
              <a:rPr sz="1875" b="1">
                <a:solidFill>
                  <a:srgbClr val="D6544D"/>
                </a:solidFill>
              </a:rPr>
              <a:t>₹4.29 Cr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64662975-ABA1-45C8-A3A4-36A6C62D282B}"/>
              </a:ext>
            </a:extLst>
          </p:cNvPr>
          <p:cNvSpPr>
            <a:spLocks noGrp="1"/>
          </p:cNvSpPr>
          <p:nvPr/>
        </p:nvSpPr>
        <p:spPr>
          <a:xfrm>
            <a:off x="533400" y="59340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76.5% conversion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7AE14AB-E76E-4C2C-8F51-03D7BC59C633}"/>
              </a:ext>
            </a:extLst>
          </p:cNvPr>
          <p:cNvSpPr>
            <a:spLocks noGrp="1"/>
          </p:cNvSpPr>
          <p:nvPr/>
        </p:nvSpPr>
        <p:spPr>
          <a:xfrm>
            <a:off x="2466975" y="519112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5DAE191-3D74-4F07-A4CC-450FBA0DA287}"/>
              </a:ext>
            </a:extLst>
          </p:cNvPr>
          <p:cNvSpPr>
            <a:spLocks noGrp="1"/>
          </p:cNvSpPr>
          <p:nvPr/>
        </p:nvSpPr>
        <p:spPr>
          <a:xfrm>
            <a:off x="2466975" y="5191125"/>
            <a:ext cx="76200" cy="10668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2F3CB4EA-6D11-4F9E-B478-46C555541A5E}"/>
              </a:ext>
            </a:extLst>
          </p:cNvPr>
          <p:cNvSpPr>
            <a:spLocks noGrp="1"/>
          </p:cNvSpPr>
          <p:nvPr/>
        </p:nvSpPr>
        <p:spPr>
          <a:xfrm>
            <a:off x="2638425" y="53054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RELIANCE GAP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AB6B9CC-1DAC-4B18-B129-F0A930D44759}"/>
              </a:ext>
            </a:extLst>
          </p:cNvPr>
          <p:cNvSpPr>
            <a:spLocks noGrp="1"/>
          </p:cNvSpPr>
          <p:nvPr/>
        </p:nvSpPr>
        <p:spPr>
          <a:xfrm>
            <a:off x="2638425" y="553402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2B84B"/>
                </a:solidFill>
              </a:defRPr>
            </a:pPr>
            <a:r>
              <a:rPr sz="1875" b="1">
                <a:solidFill>
                  <a:srgbClr val="F2B84B"/>
                </a:solidFill>
              </a:rPr>
              <a:t>₹7.61 Cr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7D405CF7-CA2B-4584-AEB6-6BA0D6540733}"/>
              </a:ext>
            </a:extLst>
          </p:cNvPr>
          <p:cNvSpPr>
            <a:spLocks noGrp="1"/>
          </p:cNvSpPr>
          <p:nvPr/>
        </p:nvSpPr>
        <p:spPr>
          <a:xfrm>
            <a:off x="2638425" y="59340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51.4% conversion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192250E-84BE-433E-BB6F-2D4FB3B28541}"/>
              </a:ext>
            </a:extLst>
          </p:cNvPr>
          <p:cNvSpPr>
            <a:spLocks noGrp="1"/>
          </p:cNvSpPr>
          <p:nvPr/>
        </p:nvSpPr>
        <p:spPr>
          <a:xfrm>
            <a:off x="4572000" y="5191125"/>
            <a:ext cx="19240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9FCC458-D357-44CF-A363-63ABF3A806A1}"/>
              </a:ext>
            </a:extLst>
          </p:cNvPr>
          <p:cNvSpPr>
            <a:spLocks noGrp="1"/>
          </p:cNvSpPr>
          <p:nvPr/>
        </p:nvSpPr>
        <p:spPr>
          <a:xfrm>
            <a:off x="4572000" y="5191125"/>
            <a:ext cx="76200" cy="10668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AF3D7C3D-CC1F-48AE-ADA4-06E9CBA78265}"/>
              </a:ext>
            </a:extLst>
          </p:cNvPr>
          <p:cNvSpPr>
            <a:spLocks noGrp="1"/>
          </p:cNvSpPr>
          <p:nvPr/>
        </p:nvSpPr>
        <p:spPr>
          <a:xfrm>
            <a:off x="4743450" y="530542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5F716E"/>
                </a:solidFill>
              </a:defRPr>
            </a:pPr>
            <a:r>
              <a:rPr sz="900" b="1">
                <a:solidFill>
                  <a:srgbClr val="5F716E"/>
                </a:solidFill>
              </a:rPr>
              <a:t>APOLLO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66FE15B-3BB4-4CA7-BBBE-623B7610292C}"/>
              </a:ext>
            </a:extLst>
          </p:cNvPr>
          <p:cNvSpPr>
            <a:spLocks noGrp="1"/>
          </p:cNvSpPr>
          <p:nvPr/>
        </p:nvSpPr>
        <p:spPr>
          <a:xfrm>
            <a:off x="4743450" y="5534025"/>
            <a:ext cx="1657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2B9A66"/>
                </a:solidFill>
              </a:defRPr>
            </a:pPr>
            <a:r>
              <a:rPr sz="1875" b="1">
                <a:solidFill>
                  <a:srgbClr val="2B9A66"/>
                </a:solidFill>
              </a:rPr>
              <a:t>99.7%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8BFF415-55C8-4C31-B848-4E88B579014C}"/>
              </a:ext>
            </a:extLst>
          </p:cNvPr>
          <p:cNvSpPr>
            <a:spLocks noGrp="1"/>
          </p:cNvSpPr>
          <p:nvPr/>
        </p:nvSpPr>
        <p:spPr>
          <a:xfrm>
            <a:off x="4743450" y="5934075"/>
            <a:ext cx="1657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F716E"/>
                </a:solidFill>
              </a:defRPr>
            </a:pPr>
            <a:r>
              <a:rPr sz="825" b="0">
                <a:solidFill>
                  <a:srgbClr val="5F716E"/>
                </a:solidFill>
              </a:rPr>
              <a:t>Near flow parity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C89894F4-26EE-4CA1-8814-8874ADDF941D}"/>
              </a:ext>
            </a:extLst>
          </p:cNvPr>
          <p:cNvSpPr>
            <a:spLocks noGrp="1"/>
          </p:cNvSpPr>
          <p:nvPr/>
        </p:nvSpPr>
        <p:spPr>
          <a:xfrm>
            <a:off x="361950" y="66675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F3974433-26AE-40E0-B7B4-977C5C886728}"/>
              </a:ext>
            </a:extLst>
          </p:cNvPr>
          <p:cNvSpPr>
            <a:spLocks noGrp="1"/>
          </p:cNvSpPr>
          <p:nvPr/>
        </p:nvSpPr>
        <p:spPr>
          <a:xfrm>
            <a:off x="457200" y="66770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ACCOUNT PLAN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A219547-1B10-447D-91D7-31811348CF6C}"/>
              </a:ext>
            </a:extLst>
          </p:cNvPr>
          <p:cNvSpPr>
            <a:spLocks noGrp="1"/>
          </p:cNvSpPr>
          <p:nvPr/>
        </p:nvSpPr>
        <p:spPr>
          <a:xfrm>
            <a:off x="476250" y="70961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2DC8B4D3-FDFC-4B5A-8117-7686497F3499}"/>
              </a:ext>
            </a:extLst>
          </p:cNvPr>
          <p:cNvSpPr>
            <a:spLocks noGrp="1"/>
          </p:cNvSpPr>
          <p:nvPr/>
        </p:nvSpPr>
        <p:spPr>
          <a:xfrm>
            <a:off x="685800" y="7096125"/>
            <a:ext cx="569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DMart: attack South‑2 first, then North; review top-SKU store availability and DC-to-store fill.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FD7260DD-BC91-4694-A69A-C4F35812D780}"/>
              </a:ext>
            </a:extLst>
          </p:cNvPr>
          <p:cNvSpPr>
            <a:spLocks noGrp="1"/>
          </p:cNvSpPr>
          <p:nvPr/>
        </p:nvSpPr>
        <p:spPr>
          <a:xfrm>
            <a:off x="476250" y="77247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F8D1B7AF-8216-48EC-A673-6BA9561095D8}"/>
              </a:ext>
            </a:extLst>
          </p:cNvPr>
          <p:cNvSpPr>
            <a:spLocks noGrp="1"/>
          </p:cNvSpPr>
          <p:nvPr/>
        </p:nvSpPr>
        <p:spPr>
          <a:xfrm>
            <a:off x="685800" y="7724775"/>
            <a:ext cx="569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Reliance: prioritize North and East; convert billed inventory through chain-specific hero-SKU visibility and replenishment.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6BE0D2F9-E892-4DA1-BB3B-8B850F690527}"/>
              </a:ext>
            </a:extLst>
          </p:cNvPr>
          <p:cNvSpPr>
            <a:spLocks noGrp="1"/>
          </p:cNvSpPr>
          <p:nvPr/>
        </p:nvSpPr>
        <p:spPr>
          <a:xfrm>
            <a:off x="476250" y="83534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898F8F62-181C-4B2C-B4AD-67BD8B2DB639}"/>
              </a:ext>
            </a:extLst>
          </p:cNvPr>
          <p:cNvSpPr>
            <a:spLocks noGrp="1"/>
          </p:cNvSpPr>
          <p:nvPr/>
        </p:nvSpPr>
        <p:spPr>
          <a:xfrm>
            <a:off x="685800" y="8353425"/>
            <a:ext cx="569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Apollo: protect cadence and replicate its near-parity review rhythm across strategic accounts.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427BB3F9-B714-49A3-9E89-B13A61E3E4B7}"/>
              </a:ext>
            </a:extLst>
          </p:cNvPr>
          <p:cNvSpPr>
            <a:spLocks noGrp="1"/>
          </p:cNvSpPr>
          <p:nvPr/>
        </p:nvSpPr>
        <p:spPr>
          <a:xfrm>
            <a:off x="476250" y="89820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8A596"/>
                </a:solidFill>
              </a:defRPr>
            </a:pPr>
            <a:r>
              <a:rPr sz="9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127FEC0-41A2-47A8-9109-F28DA4A077EF}"/>
              </a:ext>
            </a:extLst>
          </p:cNvPr>
          <p:cNvSpPr>
            <a:spLocks noGrp="1"/>
          </p:cNvSpPr>
          <p:nvPr/>
        </p:nvSpPr>
        <p:spPr>
          <a:xfrm>
            <a:off x="685800" y="8982075"/>
            <a:ext cx="5695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Chains above 100% cannot be called over-converted without opening stock; investigate distributor and timing coverage.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4D33A10C-2278-4B77-9AF5-E7C9186D080B}"/>
              </a:ext>
            </a:extLst>
          </p:cNvPr>
          <p:cNvSpPr>
            <a:spLocks noGrp="1"/>
          </p:cNvSpPr>
          <p:nvPr/>
        </p:nvSpPr>
        <p:spPr>
          <a:xfrm>
            <a:off x="361950" y="9667875"/>
            <a:ext cx="19240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99CB0BF1-A2A4-400C-8DB0-D3A0F62C314C}"/>
              </a:ext>
            </a:extLst>
          </p:cNvPr>
          <p:cNvSpPr>
            <a:spLocks noGrp="1"/>
          </p:cNvSpPr>
          <p:nvPr/>
        </p:nvSpPr>
        <p:spPr>
          <a:xfrm>
            <a:off x="361950" y="9667875"/>
            <a:ext cx="192405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848A40EA-3485-4E37-885A-9FFF772D8707}"/>
              </a:ext>
            </a:extLst>
          </p:cNvPr>
          <p:cNvSpPr>
            <a:spLocks noGrp="1"/>
          </p:cNvSpPr>
          <p:nvPr/>
        </p:nvSpPr>
        <p:spPr>
          <a:xfrm>
            <a:off x="447675" y="968692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RECOVER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1C9E0E5F-C7E5-49CD-8DE9-1DA15EBA99C4}"/>
              </a:ext>
            </a:extLst>
          </p:cNvPr>
          <p:cNvSpPr>
            <a:spLocks noGrp="1"/>
          </p:cNvSpPr>
          <p:nvPr/>
        </p:nvSpPr>
        <p:spPr>
          <a:xfrm>
            <a:off x="495300" y="10048875"/>
            <a:ext cx="1657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D6544D"/>
                </a:solidFill>
              </a:defRPr>
            </a:pPr>
            <a:r>
              <a:rPr sz="1350" b="1">
                <a:solidFill>
                  <a:srgbClr val="D6544D"/>
                </a:solidFill>
              </a:rPr>
              <a:t>₹11.89 Cr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B4664BBA-3BB2-4566-A2F9-0BA39B65BACE}"/>
              </a:ext>
            </a:extLst>
          </p:cNvPr>
          <p:cNvSpPr>
            <a:spLocks noGrp="1"/>
          </p:cNvSpPr>
          <p:nvPr/>
        </p:nvSpPr>
        <p:spPr>
          <a:xfrm>
            <a:off x="514350" y="104013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DMart + Reliance combined flow gap; close chain-zone-EAN exceptions.</a:t>
            </a:r>
          </a:p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01FE4228-8235-45DB-92A1-6D38174AA647}"/>
              </a:ext>
            </a:extLst>
          </p:cNvPr>
          <p:cNvSpPr>
            <a:spLocks noGrp="1"/>
          </p:cNvSpPr>
          <p:nvPr/>
        </p:nvSpPr>
        <p:spPr>
          <a:xfrm>
            <a:off x="2466975" y="9667875"/>
            <a:ext cx="19240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B24040C4-DC0A-4B60-8AE1-50FBA33BDF31}"/>
              </a:ext>
            </a:extLst>
          </p:cNvPr>
          <p:cNvSpPr>
            <a:spLocks noGrp="1"/>
          </p:cNvSpPr>
          <p:nvPr/>
        </p:nvSpPr>
        <p:spPr>
          <a:xfrm>
            <a:off x="2466975" y="9667875"/>
            <a:ext cx="192405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D69ADC6E-163D-479D-BAE7-6A17F8B8B999}"/>
              </a:ext>
            </a:extLst>
          </p:cNvPr>
          <p:cNvSpPr>
            <a:spLocks noGrp="1"/>
          </p:cNvSpPr>
          <p:nvPr/>
        </p:nvSpPr>
        <p:spPr>
          <a:xfrm>
            <a:off x="2552700" y="968692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REPLICATE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2D9664DC-988C-42B2-B206-7443C55D49AF}"/>
              </a:ext>
            </a:extLst>
          </p:cNvPr>
          <p:cNvSpPr>
            <a:spLocks noGrp="1"/>
          </p:cNvSpPr>
          <p:nvPr/>
        </p:nvSpPr>
        <p:spPr>
          <a:xfrm>
            <a:off x="2600325" y="10048875"/>
            <a:ext cx="1657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B9A66"/>
                </a:solidFill>
              </a:defRPr>
            </a:pPr>
            <a:r>
              <a:rPr sz="1350" b="1">
                <a:solidFill>
                  <a:srgbClr val="2B9A66"/>
                </a:solidFill>
              </a:rPr>
              <a:t>99.7%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36E41D97-FF16-4670-931E-1BE3BF9340B2}"/>
              </a:ext>
            </a:extLst>
          </p:cNvPr>
          <p:cNvSpPr>
            <a:spLocks noGrp="1"/>
          </p:cNvSpPr>
          <p:nvPr/>
        </p:nvSpPr>
        <p:spPr>
          <a:xfrm>
            <a:off x="2619375" y="104013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Apollo conversion; standardize its replenishment and review cadence.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ABA667B3-3B0F-4E1F-8E84-D0F2EC7AC746}"/>
              </a:ext>
            </a:extLst>
          </p:cNvPr>
          <p:cNvSpPr>
            <a:spLocks noGrp="1"/>
          </p:cNvSpPr>
          <p:nvPr/>
        </p:nvSpPr>
        <p:spPr>
          <a:xfrm>
            <a:off x="4572000" y="9667875"/>
            <a:ext cx="19240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2EBDCEB3-8D4B-448E-B8C2-9496DD41071D}"/>
              </a:ext>
            </a:extLst>
          </p:cNvPr>
          <p:cNvSpPr>
            <a:spLocks noGrp="1"/>
          </p:cNvSpPr>
          <p:nvPr/>
        </p:nvSpPr>
        <p:spPr>
          <a:xfrm>
            <a:off x="4572000" y="9667875"/>
            <a:ext cx="192405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448829D1-874D-46F5-81C4-388CCD18F30E}"/>
              </a:ext>
            </a:extLst>
          </p:cNvPr>
          <p:cNvSpPr>
            <a:spLocks noGrp="1"/>
          </p:cNvSpPr>
          <p:nvPr/>
        </p:nvSpPr>
        <p:spPr>
          <a:xfrm>
            <a:off x="4657725" y="9686925"/>
            <a:ext cx="1752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F83CC6DE-F1CB-4956-B6EA-AF6043093CF2}"/>
              </a:ext>
            </a:extLst>
          </p:cNvPr>
          <p:cNvSpPr>
            <a:spLocks noGrp="1"/>
          </p:cNvSpPr>
          <p:nvPr/>
        </p:nvSpPr>
        <p:spPr>
          <a:xfrm>
            <a:off x="4705350" y="10048875"/>
            <a:ext cx="1657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2B84B"/>
                </a:solidFill>
              </a:defRPr>
            </a:pPr>
            <a:r>
              <a:rPr sz="1350" b="1">
                <a:solidFill>
                  <a:srgbClr val="F2B84B"/>
                </a:solidFill>
              </a:rPr>
              <a:t>&gt;100%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2BC5E26E-EE7F-4F9C-B68D-3E22CF303B07}"/>
              </a:ext>
            </a:extLst>
          </p:cNvPr>
          <p:cNvSpPr>
            <a:spLocks noGrp="1"/>
          </p:cNvSpPr>
          <p:nvPr/>
        </p:nvSpPr>
        <p:spPr>
          <a:xfrm>
            <a:off x="4724400" y="10401300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0">
                <a:solidFill>
                  <a:srgbClr val="183B39"/>
                </a:solidFill>
              </a:defRPr>
            </a:pPr>
            <a:r>
              <a:rPr sz="788" b="0">
                <a:solidFill>
                  <a:srgbClr val="183B39"/>
                </a:solidFill>
              </a:rPr>
              <a:t>Treat as stock/timing signal until opening inventory is reconciled.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6B859F1E-1261-4033-9B38-892913D7121B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420C07F2-BB03-4988-A9A5-9D81D1997F3C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AF52B7BC-CE52-4A28-BE0C-AAE51B7BE528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DMart ₹4.29 Cr gap (76.5%); Reliance ₹7.61 Cr gap (51.4%); Apollo ₹0.02 Cr (99.7%); two chains = 90.7% of gap; Reliance FYTD Apr–Jul: ₹47.53 Cr (Jul ₹15.66 Cr)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9077E361-C1A3-4F48-8F46-F63F0737AD7F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76592DA6-594D-4860-9355-B760682029C4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C74BADAA-A2E4-43B4-B035-354A63AEDDA4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Apollo 99.7% = real demand. Reliance ₹7.61 Cr = Paisa Vasool (LY: primary ₹6.68→₹5.42 Cr); net gap may shrink Aug — validate before action. DMart 76.5% = structural, act now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C22E80CE-BEA8-48C3-8BAD-B31F50598B8E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6D45F687-761F-4484-9F2A-53548ABC089E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B81E73E4-2F70-4E84-AECD-C6F80489A6D4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Act on DMart gap now (EAN availability + DC-to-store fill zone by zone); hold Reliance until Aug offtake read; present net gap in 31-Aug review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DE93087E-FF95-4002-A684-25EAFF156F84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5B9CAC28-E4E5-4EAD-B7EA-7F5AAA265574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F98B0D67-7660-4A63-9D7A-A88195030428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Sales Lead + Category | Apollo audit by 31-Aug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" name="">
            <a:extLst>
              <a:ext uri="{FF2B5EF4-FFF2-40B4-BE49-F238E27FC236}">
                <a16:creationId xmlns:a16="http://schemas.microsoft.com/office/drawing/2014/main" id="{C58CB4DC-EEE8-46E1-8593-F22F00C56F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F97C546-749B-4861-A6F5-FDE4C252A164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Face care powers two-thirds of offtake; brand conversion is concentrated in two engines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802A4A17-0DBC-48CA-B4D6-9ED50CB2AAEB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Brand and sub-category architecture | July 2026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9127066-1B62-4650-AAD1-B1278AE7A5A7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BDC30AD-13DE-4DDC-BE5D-C350ACCE59A6}"/>
              </a:ext>
            </a:extLst>
          </p:cNvPr>
          <p:cNvSpPr>
            <a:spLocks noGrp="1"/>
          </p:cNvSpPr>
          <p:nvPr/>
        </p:nvSpPr>
        <p:spPr>
          <a:xfrm>
            <a:off x="361950" y="1285875"/>
            <a:ext cx="6134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Brand primary vs offtake (₹ Cr)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="361950" y="1571625"/>
          <a:ext cx="6134100" cy="2667000"/>
        </p:xfrm>
        <a:graphic>
          <a:graphicData uri="http://schemas.openxmlformats.org/drawingml/2006/chart">
            <c:chart xmlns:c="http://schemas.openxmlformats.org/drawingml/2006/chart" r:id="Rea60a2bb094b482c"/>
          </a:graphicData>
        </a:graphic>
      </p:graphicFrame>
      <p:sp>
        <p:nvSpPr>
          <p:cNvPr id="7" name="">
            <a:extLst>
              <a:ext uri="{FF2B5EF4-FFF2-40B4-BE49-F238E27FC236}">
                <a16:creationId xmlns:a16="http://schemas.microsoft.com/office/drawing/2014/main" id="{47BCE612-7706-4B81-8E01-8D97A0F1919F}"/>
              </a:ext>
            </a:extLst>
          </p:cNvPr>
          <p:cNvSpPr>
            <a:spLocks noGrp="1"/>
          </p:cNvSpPr>
          <p:nvPr/>
        </p:nvSpPr>
        <p:spPr>
          <a:xfrm>
            <a:off x="361950" y="4619625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Mamaearth — top 3 sub-categories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="361950" y="4857750"/>
          <a:ext cx="2895600" cy="2619375"/>
        </p:xfrm>
        <a:graphic>
          <a:graphicData uri="http://schemas.openxmlformats.org/drawingml/2006/chart">
            <c:chart xmlns:c="http://schemas.openxmlformats.org/drawingml/2006/chart" r:id="R5d25aeb3a9924497"/>
          </a:graphicData>
        </a:graphic>
      </p:graphicFrame>
      <p:sp>
        <p:nvSpPr>
          <p:cNvPr id="9" name="">
            <a:extLst>
              <a:ext uri="{FF2B5EF4-FFF2-40B4-BE49-F238E27FC236}">
                <a16:creationId xmlns:a16="http://schemas.microsoft.com/office/drawing/2014/main" id="{C84661F5-A569-4553-8412-44EC8F9E1E08}"/>
              </a:ext>
            </a:extLst>
          </p:cNvPr>
          <p:cNvSpPr>
            <a:spLocks noGrp="1"/>
          </p:cNvSpPr>
          <p:nvPr/>
        </p:nvSpPr>
        <p:spPr>
          <a:xfrm>
            <a:off x="3600450" y="4619625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83B39"/>
                </a:solidFill>
              </a:defRPr>
            </a:pPr>
            <a:r>
              <a:rPr sz="900" b="1">
                <a:solidFill>
                  <a:srgbClr val="183B39"/>
                </a:solidFill>
              </a:rPr>
              <a:t>The Derma Co. — top 3 sub-categories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3600450" y="4857750"/>
          <a:ext cx="2895600" cy="2619375"/>
        </p:xfrm>
        <a:graphic>
          <a:graphicData uri="http://schemas.openxmlformats.org/drawingml/2006/chart">
            <c:chart xmlns:c="http://schemas.openxmlformats.org/drawingml/2006/chart" r:id="Rfb728f2d59d242c8"/>
          </a:graphicData>
        </a:graphic>
      </p:graphicFrame>
      <p:sp>
        <p:nvSpPr>
          <p:cNvPr id="11" name="">
            <a:extLst>
              <a:ext uri="{FF2B5EF4-FFF2-40B4-BE49-F238E27FC236}">
                <a16:creationId xmlns:a16="http://schemas.microsoft.com/office/drawing/2014/main" id="{F7C06AD2-3211-4241-845E-084F02183DA4}"/>
              </a:ext>
            </a:extLst>
          </p:cNvPr>
          <p:cNvSpPr>
            <a:spLocks noGrp="1"/>
          </p:cNvSpPr>
          <p:nvPr/>
        </p:nvSpPr>
        <p:spPr>
          <a:xfrm>
            <a:off x="361950" y="7858125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3861FBF1-B919-421E-8396-5D57332D267E}"/>
              </a:ext>
            </a:extLst>
          </p:cNvPr>
          <p:cNvSpPr>
            <a:spLocks noGrp="1"/>
          </p:cNvSpPr>
          <p:nvPr/>
        </p:nvSpPr>
        <p:spPr>
          <a:xfrm>
            <a:off x="457200" y="7867650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PORTFOLIO IMPLICATIONS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3F54F8A-76B5-4D03-80DA-22DCA32AF8B3}"/>
              </a:ext>
            </a:extLst>
          </p:cNvPr>
          <p:cNvSpPr>
            <a:spLocks noGrp="1"/>
          </p:cNvSpPr>
          <p:nvPr/>
        </p:nvSpPr>
        <p:spPr>
          <a:xfrm>
            <a:off x="476250" y="809625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3D50A923-AFAC-4A19-B84B-11B9985931D2}"/>
              </a:ext>
            </a:extLst>
          </p:cNvPr>
          <p:cNvSpPr>
            <a:spLocks noGrp="1"/>
          </p:cNvSpPr>
          <p:nvPr/>
        </p:nvSpPr>
        <p:spPr>
          <a:xfrm>
            <a:off x="685800" y="8096250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Mamaearth contributes 68.0% of offtake and converts at 73.4%.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CED2E718-58C9-4261-9807-A7B4D8E8D874}"/>
              </a:ext>
            </a:extLst>
          </p:cNvPr>
          <p:cNvSpPr>
            <a:spLocks noGrp="1"/>
          </p:cNvSpPr>
          <p:nvPr/>
        </p:nvSpPr>
        <p:spPr>
          <a:xfrm>
            <a:off x="476250" y="863917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4206D51-A488-4461-AC8D-D14FAFA5CA56}"/>
              </a:ext>
            </a:extLst>
          </p:cNvPr>
          <p:cNvSpPr>
            <a:spLocks noGrp="1"/>
          </p:cNvSpPr>
          <p:nvPr/>
        </p:nvSpPr>
        <p:spPr>
          <a:xfrm>
            <a:off x="685800" y="8639175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The Derma Co. adds ₹11.08 Cr but carries a ₹4.16 Cr flow gap.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73F8F199-5EE9-4006-AB62-FD175D2514B6}"/>
              </a:ext>
            </a:extLst>
          </p:cNvPr>
          <p:cNvSpPr>
            <a:spLocks noGrp="1"/>
          </p:cNvSpPr>
          <p:nvPr/>
        </p:nvSpPr>
        <p:spPr>
          <a:xfrm>
            <a:off x="476250" y="918210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8A596"/>
                </a:solidFill>
              </a:defRPr>
            </a:pPr>
            <a:r>
              <a:rPr sz="9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6863CE7C-046F-48F9-BE60-60B132F0B385}"/>
              </a:ext>
            </a:extLst>
          </p:cNvPr>
          <p:cNvSpPr>
            <a:spLocks noGrp="1"/>
          </p:cNvSpPr>
          <p:nvPr/>
        </p:nvSpPr>
        <p:spPr>
          <a:xfrm>
            <a:off x="685800" y="9182100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Mamaearth Face Cleanser closes July at ₹8.53 Cr; protect its hero EAN availability.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2E95895-F46C-4EF1-99F9-128AA152741A}"/>
              </a:ext>
            </a:extLst>
          </p:cNvPr>
          <p:cNvSpPr>
            <a:spLocks noGrp="1"/>
          </p:cNvSpPr>
          <p:nvPr/>
        </p:nvSpPr>
        <p:spPr>
          <a:xfrm>
            <a:off x="476250" y="9725025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28A596"/>
                </a:solidFill>
              </a:defRPr>
            </a:pPr>
            <a:r>
              <a:rPr sz="9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9D357C4B-B574-43CE-AFBC-11073BEDA440}"/>
              </a:ext>
            </a:extLst>
          </p:cNvPr>
          <p:cNvSpPr>
            <a:spLocks noGrp="1"/>
          </p:cNvSpPr>
          <p:nvPr/>
        </p:nvSpPr>
        <p:spPr>
          <a:xfrm>
            <a:off x="685800" y="9725025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The Derma Co. Face Cleanser closes July at ₹7.13 Cr; sustain productive distribution.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0169651C-EE84-4F49-9029-B2B4169AFEEC}"/>
              </a:ext>
            </a:extLst>
          </p:cNvPr>
          <p:cNvSpPr>
            <a:spLocks noGrp="1"/>
          </p:cNvSpPr>
          <p:nvPr/>
        </p:nvSpPr>
        <p:spPr>
          <a:xfrm>
            <a:off x="476250" y="1026795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●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A63C1496-5004-4DC7-A460-BE1F2F878AFB}"/>
              </a:ext>
            </a:extLst>
          </p:cNvPr>
          <p:cNvSpPr>
            <a:spLocks noGrp="1"/>
          </p:cNvSpPr>
          <p:nvPr/>
        </p:nvSpPr>
        <p:spPr>
          <a:xfrm>
            <a:off x="685800" y="10267950"/>
            <a:ext cx="56959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Aqualogica above 100% conversion signals stock/timing effects; validate availability before additional loading.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999660B3-172F-487F-8026-A3172794849A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094511CA-1DCB-4708-8E46-39165A5E6794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231A1BD2-5A60-4BF9-8CBB-DF67A36D5DD3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ME ₹24.55 Cr at 73.4% conv; TDC ₹11.08 Cr at 72.6% conv; Aqualogica ₹0.48 Cr at 117% (timing effect); BBlunt ₹0.06 Cr at 35.2% conv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F88A06CF-EF62-422F-AE96-EEE81875F370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577E7531-6CC9-46F9-A7B1-C9473E496741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C1B892A3-EF57-48E8-BCD7-8010EC82190E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ME and TDC share the same conversion gap — apply chain-zone-EAN fix to both simultaneously; BBlunt 35.2% needs a primary hold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F738AD35-2772-4E17-B5D2-F1CBC79EEAB0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C0CDDC65-0D6E-4A06-9C93-BDF761C8CBDD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1D297353-20AB-4A3E-A786-EB60282EB0B1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Hold BBlunt primary until offtake confirms; reconcile Aqualogica opening stock before Sep; apply chain-zone-EAN fix to TDC+ME in parallel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5F24765E-039C-4E61-8744-2209568A2B26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B6185FC0-60A1-49F8-94CF-216A73389FDF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5AB6DFC8-CEE3-4A2D-9345-CF41D3A00B2A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Category (BBlunt, Aqualogica) + Supply | By 31-Aug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3" name="">
            <a:extLst>
              <a:ext uri="{FF2B5EF4-FFF2-40B4-BE49-F238E27FC236}">
                <a16:creationId xmlns:a16="http://schemas.microsoft.com/office/drawing/2014/main" id="{991B333B-AAE6-4E8A-A66B-DBDCEE8F69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8F78F48-3C01-4318-A764-77F8F172A7E5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 90-day operating cadence can convert the gap without indiscriminate loading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22542717-CE6C-4328-A6D0-3A3C6D374C0D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Sales uplift plan | owners, actions and proof points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3373A81-BA2C-4F16-837D-55695E54BBCC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4B665212-17BA-4B1A-85FC-516C2E40C221}"/>
              </a:ext>
            </a:extLst>
          </p:cNvPr>
          <p:cNvSpPr>
            <a:spLocks noGrp="1"/>
          </p:cNvSpPr>
          <p:nvPr/>
        </p:nvSpPr>
        <p:spPr>
          <a:xfrm>
            <a:off x="361950" y="1428750"/>
            <a:ext cx="1866900" cy="47625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817740E3-BBCE-4DDB-9BF2-91D1769DCAE2}"/>
              </a:ext>
            </a:extLst>
          </p:cNvPr>
          <p:cNvSpPr>
            <a:spLocks noGrp="1"/>
          </p:cNvSpPr>
          <p:nvPr/>
        </p:nvSpPr>
        <p:spPr>
          <a:xfrm>
            <a:off x="361950" y="1428750"/>
            <a:ext cx="1866900" cy="49530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E16BC5BF-A3FF-4DB0-971F-35F283BADF6D}"/>
              </a:ext>
            </a:extLst>
          </p:cNvPr>
          <p:cNvSpPr>
            <a:spLocks noGrp="1"/>
          </p:cNvSpPr>
          <p:nvPr/>
        </p:nvSpPr>
        <p:spPr>
          <a:xfrm>
            <a:off x="476250" y="152400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0–30 DAYS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6ACE462A-DE91-4F8C-B564-52E054117E55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7AB25E53-60F4-4E92-8B30-6C566A433B01}"/>
              </a:ext>
            </a:extLst>
          </p:cNvPr>
          <p:cNvSpPr>
            <a:spLocks noGrp="1"/>
          </p:cNvSpPr>
          <p:nvPr/>
        </p:nvSpPr>
        <p:spPr>
          <a:xfrm>
            <a:off x="790575" y="20478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Reconcile SAH / WD / PDO / OOS fields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5C9D4DD2-4FC1-41D7-ADA4-280357732E0F}"/>
              </a:ext>
            </a:extLst>
          </p:cNvPr>
          <p:cNvSpPr>
            <a:spLocks noGrp="1"/>
          </p:cNvSpPr>
          <p:nvPr/>
        </p:nvSpPr>
        <p:spPr>
          <a:xfrm>
            <a:off x="495300" y="30194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2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C68C0D2-B372-41C2-A36F-58A28A0658EA}"/>
              </a:ext>
            </a:extLst>
          </p:cNvPr>
          <p:cNvSpPr>
            <a:spLocks noGrp="1"/>
          </p:cNvSpPr>
          <p:nvPr/>
        </p:nvSpPr>
        <p:spPr>
          <a:xfrm>
            <a:off x="790575" y="29241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Publish state × chain × hero-EAN gaps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BE24DB4-9FC6-45C3-ACE4-EB2840A99533}"/>
              </a:ext>
            </a:extLst>
          </p:cNvPr>
          <p:cNvSpPr>
            <a:spLocks noGrp="1"/>
          </p:cNvSpPr>
          <p:nvPr/>
        </p:nvSpPr>
        <p:spPr>
          <a:xfrm>
            <a:off x="495300" y="38957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3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38381C5A-F3CD-4121-A119-EC463581189D}"/>
              </a:ext>
            </a:extLst>
          </p:cNvPr>
          <p:cNvSpPr>
            <a:spLocks noGrp="1"/>
          </p:cNvSpPr>
          <p:nvPr/>
        </p:nvSpPr>
        <p:spPr>
          <a:xfrm>
            <a:off x="790575" y="38004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Find stores missing Rice/Ubtan/Onion/Rosemary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365D00B7-443E-42EE-BBF8-6F754EC82B47}"/>
              </a:ext>
            </a:extLst>
          </p:cNvPr>
          <p:cNvSpPr>
            <a:spLocks noGrp="1"/>
          </p:cNvSpPr>
          <p:nvPr/>
        </p:nvSpPr>
        <p:spPr>
          <a:xfrm>
            <a:off x="495300" y="47720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D6544D"/>
                </a:solidFill>
              </a:defRPr>
            </a:pPr>
            <a:r>
              <a:rPr sz="900" b="1">
                <a:solidFill>
                  <a:srgbClr val="D6544D"/>
                </a:solidFill>
              </a:rPr>
              <a:t>4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5C5E5319-22BD-4E0B-861B-65F756DF5D0F}"/>
              </a:ext>
            </a:extLst>
          </p:cNvPr>
          <p:cNvSpPr>
            <a:spLocks noGrp="1"/>
          </p:cNvSpPr>
          <p:nvPr/>
        </p:nvSpPr>
        <p:spPr>
          <a:xfrm>
            <a:off x="790575" y="46767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Stop loading weak-conversion exceptions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36DF75D-4425-4371-9248-EFD738B9162A}"/>
              </a:ext>
            </a:extLst>
          </p:cNvPr>
          <p:cNvSpPr>
            <a:spLocks noGrp="1"/>
          </p:cNvSpPr>
          <p:nvPr/>
        </p:nvSpPr>
        <p:spPr>
          <a:xfrm>
            <a:off x="2495550" y="1428750"/>
            <a:ext cx="1866900" cy="47625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3F115890-809A-49F8-9DD8-137A91B953A6}"/>
              </a:ext>
            </a:extLst>
          </p:cNvPr>
          <p:cNvSpPr>
            <a:spLocks noGrp="1"/>
          </p:cNvSpPr>
          <p:nvPr/>
        </p:nvSpPr>
        <p:spPr>
          <a:xfrm>
            <a:off x="2495550" y="1428750"/>
            <a:ext cx="1866900" cy="49530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D67820DB-3EA3-4203-B1F8-4C60C519D735}"/>
              </a:ext>
            </a:extLst>
          </p:cNvPr>
          <p:cNvSpPr>
            <a:spLocks noGrp="1"/>
          </p:cNvSpPr>
          <p:nvPr/>
        </p:nvSpPr>
        <p:spPr>
          <a:xfrm>
            <a:off x="2609850" y="152400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31–60 DAYS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0D45958F-0590-497B-99FE-C654B7515B43}"/>
              </a:ext>
            </a:extLst>
          </p:cNvPr>
          <p:cNvSpPr>
            <a:spLocks noGrp="1"/>
          </p:cNvSpPr>
          <p:nvPr/>
        </p:nvSpPr>
        <p:spPr>
          <a:xfrm>
            <a:off x="2628900" y="21431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1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E8F8D935-741A-4A9D-AA72-9805A1D49C0D}"/>
              </a:ext>
            </a:extLst>
          </p:cNvPr>
          <p:cNvSpPr>
            <a:spLocks noGrp="1"/>
          </p:cNvSpPr>
          <p:nvPr/>
        </p:nvSpPr>
        <p:spPr>
          <a:xfrm>
            <a:off x="2924175" y="20478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Size white space in ₹ using productive stores × PDO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8915CE1B-F223-4880-A8F8-B8EA4F819393}"/>
              </a:ext>
            </a:extLst>
          </p:cNvPr>
          <p:cNvSpPr>
            <a:spLocks noGrp="1"/>
          </p:cNvSpPr>
          <p:nvPr/>
        </p:nvSpPr>
        <p:spPr>
          <a:xfrm>
            <a:off x="2628900" y="30194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2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20A937D2-F63F-4C84-AD58-0BE794FC170D}"/>
              </a:ext>
            </a:extLst>
          </p:cNvPr>
          <p:cNvSpPr>
            <a:spLocks noGrp="1"/>
          </p:cNvSpPr>
          <p:nvPr/>
        </p:nvSpPr>
        <p:spPr>
          <a:xfrm>
            <a:off x="2924175" y="29241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Run pack and hero-SKU controlled pilots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78E19747-E242-4900-BFD4-419ACB137C1E}"/>
              </a:ext>
            </a:extLst>
          </p:cNvPr>
          <p:cNvSpPr>
            <a:spLocks noGrp="1"/>
          </p:cNvSpPr>
          <p:nvPr/>
        </p:nvSpPr>
        <p:spPr>
          <a:xfrm>
            <a:off x="2628900" y="38957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3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2B86B088-C071-4915-A70E-DDBCAF4C4898}"/>
              </a:ext>
            </a:extLst>
          </p:cNvPr>
          <p:cNvSpPr>
            <a:spLocks noGrp="1"/>
          </p:cNvSpPr>
          <p:nvPr/>
        </p:nvSpPr>
        <p:spPr>
          <a:xfrm>
            <a:off x="2924175" y="38004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Test share-transfer causes in declining markets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E4392540-4108-4BF1-AECB-6F641E6A1487}"/>
              </a:ext>
            </a:extLst>
          </p:cNvPr>
          <p:cNvSpPr>
            <a:spLocks noGrp="1"/>
          </p:cNvSpPr>
          <p:nvPr/>
        </p:nvSpPr>
        <p:spPr>
          <a:xfrm>
            <a:off x="2628900" y="47720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2B84B"/>
                </a:solidFill>
              </a:defRPr>
            </a:pPr>
            <a:r>
              <a:rPr sz="900" b="1">
                <a:solidFill>
                  <a:srgbClr val="F2B84B"/>
                </a:solidFill>
              </a:rPr>
              <a:t>4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C51FBF16-A4B2-47B6-BB15-573B3CFCE152}"/>
              </a:ext>
            </a:extLst>
          </p:cNvPr>
          <p:cNvSpPr>
            <a:spLocks noGrp="1"/>
          </p:cNvSpPr>
          <p:nvPr/>
        </p:nvSpPr>
        <p:spPr>
          <a:xfrm>
            <a:off x="2924175" y="46767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Replicate Apollo flow cadence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8E5E4634-40A6-44DF-8884-C4BBC9A21AA7}"/>
              </a:ext>
            </a:extLst>
          </p:cNvPr>
          <p:cNvSpPr>
            <a:spLocks noGrp="1"/>
          </p:cNvSpPr>
          <p:nvPr/>
        </p:nvSpPr>
        <p:spPr>
          <a:xfrm>
            <a:off x="4629150" y="1428750"/>
            <a:ext cx="1866900" cy="47625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94A917A9-F555-4B7E-BB15-ACE88CDE465C}"/>
              </a:ext>
            </a:extLst>
          </p:cNvPr>
          <p:cNvSpPr>
            <a:spLocks noGrp="1"/>
          </p:cNvSpPr>
          <p:nvPr/>
        </p:nvSpPr>
        <p:spPr>
          <a:xfrm>
            <a:off x="4629150" y="1428750"/>
            <a:ext cx="1866900" cy="49530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D784D479-39F5-4EE6-82B3-4CBC344BA99A}"/>
              </a:ext>
            </a:extLst>
          </p:cNvPr>
          <p:cNvSpPr>
            <a:spLocks noGrp="1"/>
          </p:cNvSpPr>
          <p:nvPr/>
        </p:nvSpPr>
        <p:spPr>
          <a:xfrm>
            <a:off x="4743450" y="152400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61–90 DAYS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FD56BF34-0D3B-4580-AB74-2E842FE1198D}"/>
              </a:ext>
            </a:extLst>
          </p:cNvPr>
          <p:cNvSpPr>
            <a:spLocks noGrp="1"/>
          </p:cNvSpPr>
          <p:nvPr/>
        </p:nvSpPr>
        <p:spPr>
          <a:xfrm>
            <a:off x="4762500" y="21431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1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6339F052-5D79-4633-B832-A88425EDB51E}"/>
              </a:ext>
            </a:extLst>
          </p:cNvPr>
          <p:cNvSpPr>
            <a:spLocks noGrp="1"/>
          </p:cNvSpPr>
          <p:nvPr/>
        </p:nvSpPr>
        <p:spPr>
          <a:xfrm>
            <a:off x="5057775" y="20478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Scale only proven state-chain-SKU cells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63532911-2F64-44FF-9FD6-B95E3ED0124F}"/>
              </a:ext>
            </a:extLst>
          </p:cNvPr>
          <p:cNvSpPr>
            <a:spLocks noGrp="1"/>
          </p:cNvSpPr>
          <p:nvPr/>
        </p:nvSpPr>
        <p:spPr>
          <a:xfrm>
            <a:off x="4762500" y="30194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2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1AB10ECE-C67B-45A4-A29B-55F7954C3A55}"/>
              </a:ext>
            </a:extLst>
          </p:cNvPr>
          <p:cNvSpPr>
            <a:spLocks noGrp="1"/>
          </p:cNvSpPr>
          <p:nvPr/>
        </p:nvSpPr>
        <p:spPr>
          <a:xfrm>
            <a:off x="5057775" y="29241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Reset load rules by verified conversion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37264F1E-76DD-4E09-8EB9-3A90B75B0B81}"/>
              </a:ext>
            </a:extLst>
          </p:cNvPr>
          <p:cNvSpPr>
            <a:spLocks noGrp="1"/>
          </p:cNvSpPr>
          <p:nvPr/>
        </p:nvSpPr>
        <p:spPr>
          <a:xfrm>
            <a:off x="4762500" y="38957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3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C2F98A8D-A5E2-4DFA-9C9C-0062BB41EC85}"/>
              </a:ext>
            </a:extLst>
          </p:cNvPr>
          <p:cNvSpPr>
            <a:spLocks noGrp="1"/>
          </p:cNvSpPr>
          <p:nvPr/>
        </p:nvSpPr>
        <p:spPr>
          <a:xfrm>
            <a:off x="5057775" y="38004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Rationalize dead/low-productivity packs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89D13704-AF3A-4E4C-BF26-F5C985DFA6C9}"/>
              </a:ext>
            </a:extLst>
          </p:cNvPr>
          <p:cNvSpPr>
            <a:spLocks noGrp="1"/>
          </p:cNvSpPr>
          <p:nvPr/>
        </p:nvSpPr>
        <p:spPr>
          <a:xfrm>
            <a:off x="4762500" y="4772025"/>
            <a:ext cx="238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2B9A66"/>
                </a:solidFill>
              </a:defRPr>
            </a:pPr>
            <a:r>
              <a:rPr sz="900" b="1">
                <a:solidFill>
                  <a:srgbClr val="2B9A66"/>
                </a:solidFill>
              </a:rPr>
              <a:t>4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64DF2BCC-1EC3-4989-B596-2595BE99CD8D}"/>
              </a:ext>
            </a:extLst>
          </p:cNvPr>
          <p:cNvSpPr>
            <a:spLocks noGrp="1"/>
          </p:cNvSpPr>
          <p:nvPr/>
        </p:nvSpPr>
        <p:spPr>
          <a:xfrm>
            <a:off x="5057775" y="4676775"/>
            <a:ext cx="128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Embed weekly owner and action receipts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37326CE7-07DF-4DD4-93B8-E5D666870064}"/>
              </a:ext>
            </a:extLst>
          </p:cNvPr>
          <p:cNvSpPr>
            <a:spLocks noGrp="1"/>
          </p:cNvSpPr>
          <p:nvPr/>
        </p:nvSpPr>
        <p:spPr>
          <a:xfrm>
            <a:off x="361950" y="6667500"/>
            <a:ext cx="6134100" cy="25717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2201E45B-0883-4F02-B459-5A8FBB6FCD84}"/>
              </a:ext>
            </a:extLst>
          </p:cNvPr>
          <p:cNvSpPr>
            <a:spLocks noGrp="1"/>
          </p:cNvSpPr>
          <p:nvPr/>
        </p:nvSpPr>
        <p:spPr>
          <a:xfrm>
            <a:off x="457200" y="6677025"/>
            <a:ext cx="594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WEEKLY MANAGEMENT SCOREBOARD</a:t>
            </a:r>
          </a:p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09D279CE-EB83-4F84-A2A6-ED7BDA379169}"/>
              </a:ext>
            </a:extLst>
          </p:cNvPr>
          <p:cNvSpPr>
            <a:spLocks noGrp="1"/>
          </p:cNvSpPr>
          <p:nvPr/>
        </p:nvSpPr>
        <p:spPr>
          <a:xfrm>
            <a:off x="361950" y="7096125"/>
            <a:ext cx="61341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26C59AA4-3121-4468-AF92-D5AD81FD35E2}"/>
              </a:ext>
            </a:extLst>
          </p:cNvPr>
          <p:cNvSpPr>
            <a:spLocks noGrp="1"/>
          </p:cNvSpPr>
          <p:nvPr/>
        </p:nvSpPr>
        <p:spPr>
          <a:xfrm>
            <a:off x="476250" y="70961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Flow conversion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5CE2DE75-BBCF-41BD-BEFF-0C1697BEAE41}"/>
              </a:ext>
            </a:extLst>
          </p:cNvPr>
          <p:cNvSpPr>
            <a:spLocks noGrp="1"/>
          </p:cNvSpPr>
          <p:nvPr/>
        </p:nvSpPr>
        <p:spPr>
          <a:xfrm>
            <a:off x="3524250" y="70961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8A596"/>
                </a:solidFill>
              </a:defRPr>
            </a:pPr>
            <a:r>
              <a:rPr sz="1050" b="1">
                <a:solidFill>
                  <a:srgbClr val="28A596"/>
                </a:solidFill>
              </a:rPr>
              <a:t>&gt;90%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AD9046CB-EC94-4588-8BF0-E06F994552F1}"/>
              </a:ext>
            </a:extLst>
          </p:cNvPr>
          <p:cNvSpPr>
            <a:spLocks noGrp="1"/>
          </p:cNvSpPr>
          <p:nvPr/>
        </p:nvSpPr>
        <p:spPr>
          <a:xfrm>
            <a:off x="4857750" y="70961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Sales lead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428A3384-BC35-4AD1-94C5-D0977FBBC031}"/>
              </a:ext>
            </a:extLst>
          </p:cNvPr>
          <p:cNvSpPr>
            <a:spLocks noGrp="1"/>
          </p:cNvSpPr>
          <p:nvPr/>
        </p:nvSpPr>
        <p:spPr>
          <a:xfrm>
            <a:off x="476250" y="76676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North gap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DE04ACCC-848F-4123-992F-EB2B9C9119B0}"/>
              </a:ext>
            </a:extLst>
          </p:cNvPr>
          <p:cNvSpPr>
            <a:spLocks noGrp="1"/>
          </p:cNvSpPr>
          <p:nvPr/>
        </p:nvSpPr>
        <p:spPr>
          <a:xfrm>
            <a:off x="3524250" y="76676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8A596"/>
                </a:solidFill>
              </a:defRPr>
            </a:pPr>
            <a:r>
              <a:rPr sz="1050" b="1">
                <a:solidFill>
                  <a:srgbClr val="28A596"/>
                </a:solidFill>
              </a:rPr>
              <a:t>↓ weekly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52D4381E-0877-4D3B-8F5B-C059CF21A66E}"/>
              </a:ext>
            </a:extLst>
          </p:cNvPr>
          <p:cNvSpPr>
            <a:spLocks noGrp="1"/>
          </p:cNvSpPr>
          <p:nvPr/>
        </p:nvSpPr>
        <p:spPr>
          <a:xfrm>
            <a:off x="4857750" y="76676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North ZSM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97131741-9332-46D9-86EF-BAAFC01E926B}"/>
              </a:ext>
            </a:extLst>
          </p:cNvPr>
          <p:cNvSpPr>
            <a:spLocks noGrp="1"/>
          </p:cNvSpPr>
          <p:nvPr/>
        </p:nvSpPr>
        <p:spPr>
          <a:xfrm>
            <a:off x="361950" y="8239125"/>
            <a:ext cx="61341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D630460D-1304-42BD-BA2C-2D8227506398}"/>
              </a:ext>
            </a:extLst>
          </p:cNvPr>
          <p:cNvSpPr>
            <a:spLocks noGrp="1"/>
          </p:cNvSpPr>
          <p:nvPr/>
        </p:nvSpPr>
        <p:spPr>
          <a:xfrm>
            <a:off x="476250" y="82391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East gap</a:t>
            </a:r>
          </a:p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E518D12D-5112-4DBC-AFE0-A96656D5AD78}"/>
              </a:ext>
            </a:extLst>
          </p:cNvPr>
          <p:cNvSpPr>
            <a:spLocks noGrp="1"/>
          </p:cNvSpPr>
          <p:nvPr/>
        </p:nvSpPr>
        <p:spPr>
          <a:xfrm>
            <a:off x="3524250" y="82391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8A596"/>
                </a:solidFill>
              </a:defRPr>
            </a:pPr>
            <a:r>
              <a:rPr sz="1050" b="1">
                <a:solidFill>
                  <a:srgbClr val="28A596"/>
                </a:solidFill>
              </a:rPr>
              <a:t>↓ weekly</a:t>
            </a:r>
          </a:p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5AA34FC8-8DE9-4B34-8057-E4490A50CCB3}"/>
              </a:ext>
            </a:extLst>
          </p:cNvPr>
          <p:cNvSpPr>
            <a:spLocks noGrp="1"/>
          </p:cNvSpPr>
          <p:nvPr/>
        </p:nvSpPr>
        <p:spPr>
          <a:xfrm>
            <a:off x="4857750" y="82391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East ZSM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7D80CBEF-88CD-4CD8-8F47-B51D6B22D0F5}"/>
              </a:ext>
            </a:extLst>
          </p:cNvPr>
          <p:cNvSpPr>
            <a:spLocks noGrp="1"/>
          </p:cNvSpPr>
          <p:nvPr/>
        </p:nvSpPr>
        <p:spPr>
          <a:xfrm>
            <a:off x="476250" y="88106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Hero-SKU OSA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F3B2ECC2-58D4-4674-9FFC-6C66ADF7868A}"/>
              </a:ext>
            </a:extLst>
          </p:cNvPr>
          <p:cNvSpPr>
            <a:spLocks noGrp="1"/>
          </p:cNvSpPr>
          <p:nvPr/>
        </p:nvSpPr>
        <p:spPr>
          <a:xfrm>
            <a:off x="3524250" y="88106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8A596"/>
                </a:solidFill>
              </a:defRPr>
            </a:pPr>
            <a:r>
              <a:rPr sz="1050" b="1">
                <a:solidFill>
                  <a:srgbClr val="28A596"/>
                </a:solidFill>
              </a:rPr>
              <a:t>&gt;95%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D7636710-B713-4A8C-998D-402B692C6B26}"/>
              </a:ext>
            </a:extLst>
          </p:cNvPr>
          <p:cNvSpPr>
            <a:spLocks noGrp="1"/>
          </p:cNvSpPr>
          <p:nvPr/>
        </p:nvSpPr>
        <p:spPr>
          <a:xfrm>
            <a:off x="4857750" y="88106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KAM + supply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7DD2DAEB-10C5-44F1-8657-A9580A788A55}"/>
              </a:ext>
            </a:extLst>
          </p:cNvPr>
          <p:cNvSpPr>
            <a:spLocks noGrp="1"/>
          </p:cNvSpPr>
          <p:nvPr/>
        </p:nvSpPr>
        <p:spPr>
          <a:xfrm>
            <a:off x="361950" y="9382125"/>
            <a:ext cx="6134100" cy="5143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43056B83-F841-47DA-9882-99DE27059887}"/>
              </a:ext>
            </a:extLst>
          </p:cNvPr>
          <p:cNvSpPr>
            <a:spLocks noGrp="1"/>
          </p:cNvSpPr>
          <p:nvPr/>
        </p:nvSpPr>
        <p:spPr>
          <a:xfrm>
            <a:off x="476250" y="93821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DMart / Reliance gap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10FB1F1A-3918-4C82-A331-428D79695B29}"/>
              </a:ext>
            </a:extLst>
          </p:cNvPr>
          <p:cNvSpPr>
            <a:spLocks noGrp="1"/>
          </p:cNvSpPr>
          <p:nvPr/>
        </p:nvSpPr>
        <p:spPr>
          <a:xfrm>
            <a:off x="3524250" y="93821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Close 50%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FA40FBED-4048-47C4-88C6-AE9814D6E8CD}"/>
              </a:ext>
            </a:extLst>
          </p:cNvPr>
          <p:cNvSpPr>
            <a:spLocks noGrp="1"/>
          </p:cNvSpPr>
          <p:nvPr/>
        </p:nvSpPr>
        <p:spPr>
          <a:xfrm>
            <a:off x="4857750" y="93821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KAMs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220A5842-D436-4FAC-BF93-51C02A2E89E7}"/>
              </a:ext>
            </a:extLst>
          </p:cNvPr>
          <p:cNvSpPr>
            <a:spLocks noGrp="1"/>
          </p:cNvSpPr>
          <p:nvPr/>
        </p:nvSpPr>
        <p:spPr>
          <a:xfrm>
            <a:off x="476250" y="995362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83B39"/>
                </a:solidFill>
              </a:defRPr>
            </a:pPr>
            <a:r>
              <a:rPr sz="1050" b="0">
                <a:solidFill>
                  <a:srgbClr val="183B39"/>
                </a:solidFill>
              </a:rPr>
              <a:t>Data exceptions</a:t>
            </a:r>
          </a:p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2EB11A05-C1CD-4041-B14D-BE61E6729DDC}"/>
              </a:ext>
            </a:extLst>
          </p:cNvPr>
          <p:cNvSpPr>
            <a:spLocks noGrp="1"/>
          </p:cNvSpPr>
          <p:nvPr/>
        </p:nvSpPr>
        <p:spPr>
          <a:xfrm>
            <a:off x="3524250" y="9953625"/>
            <a:ext cx="114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83B39"/>
                </a:solidFill>
              </a:defRPr>
            </a:pPr>
            <a:r>
              <a:rPr sz="1050" b="1">
                <a:solidFill>
                  <a:srgbClr val="183B39"/>
                </a:solidFill>
              </a:rPr>
              <a:t>0 unresolved</a:t>
            </a:r>
          </a:p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270B596B-7B6E-4ED1-B508-6C9152F295C4}"/>
              </a:ext>
            </a:extLst>
          </p:cNvPr>
          <p:cNvSpPr>
            <a:spLocks noGrp="1"/>
          </p:cNvSpPr>
          <p:nvPr/>
        </p:nvSpPr>
        <p:spPr>
          <a:xfrm>
            <a:off x="4857750" y="9953625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0">
                <a:solidFill>
                  <a:srgbClr val="5F716E"/>
                </a:solidFill>
              </a:defRPr>
            </a:pPr>
            <a:r>
              <a:rPr sz="975" b="0">
                <a:solidFill>
                  <a:srgbClr val="5F716E"/>
                </a:solidFill>
              </a:rPr>
              <a:t>Analytics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56BC28F4-B5B6-43B4-8281-C220621BA359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9FA5600A-C311-4066-A77B-F4C6AAC06C5E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1AC00F24-54C4-4F6C-A381-FB92D376A6E7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Jul-26 ₹36.06 Cr (+64.2% YoY); L3M ₹114.66 Cr (+65.8%); ₹10.92 Cr gap; North+East 70.5%; LY Paisa Vasool +46.4% Aug-25 — some Jul gap may convert naturally in Aug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43CB13D7-B79C-4AB5-90C9-8538703DF98C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49D72D56-21F8-4E52-B9CE-7A5F8CF420E8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2C720388-584D-4C1D-9C1C-273ECF7BF7E8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The 90-day plan is sequential — reconciliation (phase 1) validates white-space sizing (phase 2), which de-risks scaling (phase 3); skipping phase 1 invalidates everything after it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9DF74271-8045-4E2B-B0DA-4A0820F8E94B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A3BA8007-7B96-404A-9470-1AC6300EA7DD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5A4328F9-714A-4730-9B16-A77F2392C067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Validate Reliance Aug-26 offtake by 05-Aug (Paisa Vasool check); weekly scoreboard 22-Aug: ZSMs on gap metrics, KAMs on Hero-SKU OSA; strict owner-date accountability</a:t>
            </a:r>
          </a:p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9C50290C-65C2-47D5-92A7-48C6582D96F5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7C14DC0D-9F99-4BF0-A882-FE65E09ADD8D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B342F8EE-D0FA-4AFE-AB0B-F6DE6603B189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Sales Lead (weekly chair) | First review 22-Aug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2" name="">
            <a:extLst>
              <a:ext uri="{FF2B5EF4-FFF2-40B4-BE49-F238E27FC236}">
                <a16:creationId xmlns:a16="http://schemas.microsoft.com/office/drawing/2014/main" id="{3386343B-D1DF-4CAF-811E-1DF62A4203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1000125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1E081D7E-0597-465A-B5C6-81A97A9347BD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Decision-safe definitions, quality gates and authority boundaries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B79C3E-9A10-4DCE-BA8B-2BC3BBEC8A0F}"/>
              </a:ext>
            </a:extLst>
          </p:cNvPr>
          <p:cNvSpPr>
            <a:spLocks noGrp="1"/>
          </p:cNvSpPr>
          <p:nvPr/>
        </p:nvSpPr>
        <p:spPr>
          <a:xfrm>
            <a:off x="381000" y="695325"/>
            <a:ext cx="571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DFF2ED"/>
                </a:solidFill>
              </a:defRPr>
            </a:pPr>
            <a:r>
              <a:rPr sz="975" b="0">
                <a:solidFill>
                  <a:srgbClr val="DFF2ED"/>
                </a:solidFill>
              </a:rPr>
              <a:t>Audit command center | source coverage, interpretation and controlled execution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3AE2610-1919-4EFF-994C-161EA9B8ADA2}"/>
              </a:ext>
            </a:extLst>
          </p:cNvPr>
          <p:cNvSpPr>
            <a:spLocks noGrp="1"/>
          </p:cNvSpPr>
          <p:nvPr/>
        </p:nvSpPr>
        <p:spPr>
          <a:xfrm>
            <a:off x="6191250" y="361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FADFEE6-4AE9-4D27-9494-B9C0F7548735}"/>
              </a:ext>
            </a:extLst>
          </p:cNvPr>
          <p:cNvSpPr>
            <a:spLocks noGrp="1"/>
          </p:cNvSpPr>
          <p:nvPr/>
        </p:nvSpPr>
        <p:spPr>
          <a:xfrm>
            <a:off x="266700" y="1123950"/>
            <a:ext cx="6324600" cy="1162050"/>
          </a:xfrm>
          <a:prstGeom prst="roundRect">
            <a:avLst>
              <a:gd name="adj" fmla="val 655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6879CB8-D179-46C0-94D4-A841C8CD78D0}"/>
              </a:ext>
            </a:extLst>
          </p:cNvPr>
          <p:cNvSpPr>
            <a:spLocks noGrp="1"/>
          </p:cNvSpPr>
          <p:nvPr/>
        </p:nvSpPr>
        <p:spPr>
          <a:xfrm>
            <a:off x="457200" y="1314450"/>
            <a:ext cx="594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16F68"/>
                </a:solidFill>
              </a:defRPr>
            </a:pPr>
            <a:r>
              <a:rPr sz="1350" b="1">
                <a:solidFill>
                  <a:srgbClr val="116F68"/>
                </a:solidFill>
              </a:rPr>
              <a:t>Use the deck to prioritize investigation and owner action—not to infer inventory, causality or autonomous execution.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1E536AD-AD03-4A02-B080-742056C224F3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5753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63" b="0">
                <a:solidFill>
                  <a:srgbClr val="5F716E"/>
                </a:solidFill>
              </a:defRPr>
            </a:pPr>
            <a:r>
              <a:rPr sz="863" b="0">
                <a:solidFill>
                  <a:srgbClr val="5F716E"/>
                </a:solidFill>
              </a:rPr>
              <a:t>Every consequential commercial change remains subject to named human approval.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2283F4B-7F45-48C5-8451-68EBBCEF0BF6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2E264EA3-4EF3-47DC-8BCA-DA6DED3EB687}"/>
              </a:ext>
            </a:extLst>
          </p:cNvPr>
          <p:cNvSpPr>
            <a:spLocks noGrp="1"/>
          </p:cNvSpPr>
          <p:nvPr/>
        </p:nvSpPr>
        <p:spPr>
          <a:xfrm>
            <a:off x="266700" y="2457450"/>
            <a:ext cx="1981200" cy="285750"/>
          </a:xfrm>
          <a:prstGeom prst="rect">
            <a:avLst/>
          </a:prstGeom>
          <a:solidFill>
            <a:srgbClr val="116F68"/>
          </a:solidFill>
          <a:ln w="0">
            <a:solidFill>
              <a:srgbClr val="116F68"/>
            </a:solidFill>
            <a:prstDash val="solid"/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36908DDA-808D-43D0-80D1-3613C813391C}"/>
              </a:ext>
            </a:extLst>
          </p:cNvPr>
          <p:cNvSpPr>
            <a:spLocks noGrp="1"/>
          </p:cNvSpPr>
          <p:nvPr/>
        </p:nvSpPr>
        <p:spPr>
          <a:xfrm>
            <a:off x="3524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8DBD80E-474F-47DE-9983-FE07D7D6F1EC}"/>
              </a:ext>
            </a:extLst>
          </p:cNvPr>
          <p:cNvSpPr>
            <a:spLocks noGrp="1"/>
          </p:cNvSpPr>
          <p:nvPr/>
        </p:nvSpPr>
        <p:spPr>
          <a:xfrm>
            <a:off x="381000" y="285750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16F68"/>
                </a:solidFill>
              </a:defRPr>
            </a:pPr>
            <a:r>
              <a:rPr sz="1275" b="1">
                <a:solidFill>
                  <a:srgbClr val="116F68"/>
                </a:solidFill>
              </a:rPr>
              <a:t>₹47.02 Cr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85CAC57E-601C-48F3-AF3B-F705E431EB82}"/>
              </a:ext>
            </a:extLst>
          </p:cNvPr>
          <p:cNvSpPr>
            <a:spLocks noGrp="1"/>
          </p:cNvSpPr>
          <p:nvPr/>
        </p:nvSpPr>
        <p:spPr>
          <a:xfrm>
            <a:off x="400050" y="33528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AD3A893D-935D-4B0C-B581-0B6D6C3D7C28}"/>
              </a:ext>
            </a:extLst>
          </p:cNvPr>
          <p:cNvSpPr>
            <a:spLocks noGrp="1"/>
          </p:cNvSpPr>
          <p:nvPr/>
        </p:nvSpPr>
        <p:spPr>
          <a:xfrm>
            <a:off x="542925" y="3352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Invoice net value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C159BBAA-17BA-4403-90C4-3F2EA1CE806D}"/>
              </a:ext>
            </a:extLst>
          </p:cNvPr>
          <p:cNvSpPr>
            <a:spLocks noGrp="1"/>
          </p:cNvSpPr>
          <p:nvPr/>
        </p:nvSpPr>
        <p:spPr>
          <a:xfrm>
            <a:off x="400050" y="36861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DE0A021E-D53E-446F-9CB4-F41FF51C9763}"/>
              </a:ext>
            </a:extLst>
          </p:cNvPr>
          <p:cNvSpPr>
            <a:spLocks noGrp="1"/>
          </p:cNvSpPr>
          <p:nvPr/>
        </p:nvSpPr>
        <p:spPr>
          <a:xfrm>
            <a:off x="542925" y="36861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July primary sheet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AD6DC8D5-7104-477F-9BC1-725473AB8741}"/>
              </a:ext>
            </a:extLst>
          </p:cNvPr>
          <p:cNvSpPr>
            <a:spLocks noGrp="1"/>
          </p:cNvSpPr>
          <p:nvPr/>
        </p:nvSpPr>
        <p:spPr>
          <a:xfrm>
            <a:off x="400050" y="4019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FF17C548-6534-402D-985F-DFFF2EEA3AF2}"/>
              </a:ext>
            </a:extLst>
          </p:cNvPr>
          <p:cNvSpPr>
            <a:spLocks noGrp="1"/>
          </p:cNvSpPr>
          <p:nvPr/>
        </p:nvSpPr>
        <p:spPr>
          <a:xfrm>
            <a:off x="542925" y="4019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Converted from INR to ₹ Cr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8BD95A32-E148-47BD-9F2F-CF00FF15F074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3B06AE7-2614-4358-933B-79CA5A6F3D4A}"/>
              </a:ext>
            </a:extLst>
          </p:cNvPr>
          <p:cNvSpPr>
            <a:spLocks noGrp="1"/>
          </p:cNvSpPr>
          <p:nvPr/>
        </p:nvSpPr>
        <p:spPr>
          <a:xfrm>
            <a:off x="2438400" y="245745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37BC7CEE-12C2-4C0B-A78E-2E15F82CB045}"/>
              </a:ext>
            </a:extLst>
          </p:cNvPr>
          <p:cNvSpPr>
            <a:spLocks noGrp="1"/>
          </p:cNvSpPr>
          <p:nvPr/>
        </p:nvSpPr>
        <p:spPr>
          <a:xfrm>
            <a:off x="25241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OFFTAKE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C33E3E4C-1A88-43E3-A652-760CE19848AD}"/>
              </a:ext>
            </a:extLst>
          </p:cNvPr>
          <p:cNvSpPr>
            <a:spLocks noGrp="1"/>
          </p:cNvSpPr>
          <p:nvPr/>
        </p:nvSpPr>
        <p:spPr>
          <a:xfrm>
            <a:off x="2552700" y="285750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8A596"/>
                </a:solidFill>
              </a:defRPr>
            </a:pPr>
            <a:r>
              <a:rPr sz="1275" b="1">
                <a:solidFill>
                  <a:srgbClr val="28A596"/>
                </a:solidFill>
              </a:rPr>
              <a:t>₹36.10 Cr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CBB5257D-478C-418E-BF09-03955EFCC43A}"/>
              </a:ext>
            </a:extLst>
          </p:cNvPr>
          <p:cNvSpPr>
            <a:spLocks noGrp="1"/>
          </p:cNvSpPr>
          <p:nvPr/>
        </p:nvSpPr>
        <p:spPr>
          <a:xfrm>
            <a:off x="2571750" y="33528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4F6356B0-2681-4002-81F0-D83BD18AF7ED}"/>
              </a:ext>
            </a:extLst>
          </p:cNvPr>
          <p:cNvSpPr>
            <a:spLocks noGrp="1"/>
          </p:cNvSpPr>
          <p:nvPr/>
        </p:nvSpPr>
        <p:spPr>
          <a:xfrm>
            <a:off x="2714625" y="3352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July transaction NSV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B13A3E0A-DC84-4983-903C-5FC2A82963A1}"/>
              </a:ext>
            </a:extLst>
          </p:cNvPr>
          <p:cNvSpPr>
            <a:spLocks noGrp="1"/>
          </p:cNvSpPr>
          <p:nvPr/>
        </p:nvSpPr>
        <p:spPr>
          <a:xfrm>
            <a:off x="2571750" y="36861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407E928F-AD72-48B1-B20D-1D0672BBBDAD}"/>
              </a:ext>
            </a:extLst>
          </p:cNvPr>
          <p:cNvSpPr>
            <a:spLocks noGrp="1"/>
          </p:cNvSpPr>
          <p:nvPr/>
        </p:nvSpPr>
        <p:spPr>
          <a:xfrm>
            <a:off x="2714625" y="36861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Compiled offtake source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67C76DF4-8E56-430A-9191-7CE8B022FC89}"/>
              </a:ext>
            </a:extLst>
          </p:cNvPr>
          <p:cNvSpPr>
            <a:spLocks noGrp="1"/>
          </p:cNvSpPr>
          <p:nvPr/>
        </p:nvSpPr>
        <p:spPr>
          <a:xfrm>
            <a:off x="2571750" y="4019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F8A04492-2C09-413F-AA5C-E82FC65496CE}"/>
              </a:ext>
            </a:extLst>
          </p:cNvPr>
          <p:cNvSpPr>
            <a:spLocks noGrp="1"/>
          </p:cNvSpPr>
          <p:nvPr/>
        </p:nvSpPr>
        <p:spPr>
          <a:xfrm>
            <a:off x="2714625" y="4019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Consumer-facing flow measure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9CBC89B8-3FF6-4E72-B286-8C6D49D5DA57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B523CCA-EAA8-40B8-B9AA-F3D6FC25CB41}"/>
              </a:ext>
            </a:extLst>
          </p:cNvPr>
          <p:cNvSpPr>
            <a:spLocks noGrp="1"/>
          </p:cNvSpPr>
          <p:nvPr/>
        </p:nvSpPr>
        <p:spPr>
          <a:xfrm>
            <a:off x="4610100" y="2457450"/>
            <a:ext cx="1981200" cy="285750"/>
          </a:xfrm>
          <a:prstGeom prst="rect">
            <a:avLst/>
          </a:prstGeom>
          <a:solidFill>
            <a:srgbClr val="2E7DA8"/>
          </a:solidFill>
          <a:ln w="0">
            <a:solidFill>
              <a:srgbClr val="2E7DA8"/>
            </a:solidFill>
            <a:prstDash val="solid"/>
          </a:ln>
        </p:spPr>
        <p:txBody>
          <a:bodyPr/>
          <a:p/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CD123F2B-8237-4BB1-B2DD-81DACE668CF8}"/>
              </a:ext>
            </a:extLst>
          </p:cNvPr>
          <p:cNvSpPr>
            <a:spLocks noGrp="1"/>
          </p:cNvSpPr>
          <p:nvPr/>
        </p:nvSpPr>
        <p:spPr>
          <a:xfrm>
            <a:off x="4695825" y="247650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FLOW CONVERSION</a:t>
            </a:r>
          </a:p>
        </p:txBody>
      </p:sp>
      <p:sp>
        <p:nvSpPr>
          <p:cNvPr id="31" name="">
            <a:extLst>
              <a:ext uri="{FF2B5EF4-FFF2-40B4-BE49-F238E27FC236}">
                <a16:creationId xmlns:a16="http://schemas.microsoft.com/office/drawing/2014/main" id="{21BD10F1-718D-45E8-BAB2-DD73066113A5}"/>
              </a:ext>
            </a:extLst>
          </p:cNvPr>
          <p:cNvSpPr>
            <a:spLocks noGrp="1"/>
          </p:cNvSpPr>
          <p:nvPr/>
        </p:nvSpPr>
        <p:spPr>
          <a:xfrm>
            <a:off x="4724400" y="285750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E7DA8"/>
                </a:solidFill>
              </a:defRPr>
            </a:pPr>
            <a:r>
              <a:rPr sz="1275" b="1">
                <a:solidFill>
                  <a:srgbClr val="2E7DA8"/>
                </a:solidFill>
              </a:rPr>
              <a:t>76.8%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3C99A888-EFA4-4D02-B327-98B953B6771C}"/>
              </a:ext>
            </a:extLst>
          </p:cNvPr>
          <p:cNvSpPr>
            <a:spLocks noGrp="1"/>
          </p:cNvSpPr>
          <p:nvPr/>
        </p:nvSpPr>
        <p:spPr>
          <a:xfrm>
            <a:off x="4743450" y="33528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33" name="">
            <a:extLst>
              <a:ext uri="{FF2B5EF4-FFF2-40B4-BE49-F238E27FC236}">
                <a16:creationId xmlns:a16="http://schemas.microsoft.com/office/drawing/2014/main" id="{7BF81701-1FD4-420B-916A-6BFF198003BB}"/>
              </a:ext>
            </a:extLst>
          </p:cNvPr>
          <p:cNvSpPr>
            <a:spLocks noGrp="1"/>
          </p:cNvSpPr>
          <p:nvPr/>
        </p:nvSpPr>
        <p:spPr>
          <a:xfrm>
            <a:off x="4886325" y="33528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Offtake ÷ primary</a:t>
            </a:r>
          </a:p>
        </p:txBody>
      </p:sp>
      <p:sp>
        <p:nvSpPr>
          <p:cNvPr id="34" name="">
            <a:extLst>
              <a:ext uri="{FF2B5EF4-FFF2-40B4-BE49-F238E27FC236}">
                <a16:creationId xmlns:a16="http://schemas.microsoft.com/office/drawing/2014/main" id="{016A73E2-374B-4A99-9BEB-A11D7D4DBEED}"/>
              </a:ext>
            </a:extLst>
          </p:cNvPr>
          <p:cNvSpPr>
            <a:spLocks noGrp="1"/>
          </p:cNvSpPr>
          <p:nvPr/>
        </p:nvSpPr>
        <p:spPr>
          <a:xfrm>
            <a:off x="4743450" y="36861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5" name="">
            <a:extLst>
              <a:ext uri="{FF2B5EF4-FFF2-40B4-BE49-F238E27FC236}">
                <a16:creationId xmlns:a16="http://schemas.microsoft.com/office/drawing/2014/main" id="{C0ECD10F-9E21-4D09-8E7C-5A0496CEE216}"/>
              </a:ext>
            </a:extLst>
          </p:cNvPr>
          <p:cNvSpPr>
            <a:spLocks noGrp="1"/>
          </p:cNvSpPr>
          <p:nvPr/>
        </p:nvSpPr>
        <p:spPr>
          <a:xfrm>
            <a:off x="4886325" y="36861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Comparable mapped cuts only</a:t>
            </a:r>
          </a:p>
        </p:txBody>
      </p:sp>
      <p:sp>
        <p:nvSpPr>
          <p:cNvPr id="36" name="">
            <a:extLst>
              <a:ext uri="{FF2B5EF4-FFF2-40B4-BE49-F238E27FC236}">
                <a16:creationId xmlns:a16="http://schemas.microsoft.com/office/drawing/2014/main" id="{134DD3EA-8F5D-4B90-8269-53E3034B9EF9}"/>
              </a:ext>
            </a:extLst>
          </p:cNvPr>
          <p:cNvSpPr>
            <a:spLocks noGrp="1"/>
          </p:cNvSpPr>
          <p:nvPr/>
        </p:nvSpPr>
        <p:spPr>
          <a:xfrm>
            <a:off x="4743450" y="4019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37" name="">
            <a:extLst>
              <a:ext uri="{FF2B5EF4-FFF2-40B4-BE49-F238E27FC236}">
                <a16:creationId xmlns:a16="http://schemas.microsoft.com/office/drawing/2014/main" id="{0789042A-9D46-431F-9519-7E25DFEA87FC}"/>
              </a:ext>
            </a:extLst>
          </p:cNvPr>
          <p:cNvSpPr>
            <a:spLocks noGrp="1"/>
          </p:cNvSpPr>
          <p:nvPr/>
        </p:nvSpPr>
        <p:spPr>
          <a:xfrm>
            <a:off x="4886325" y="4019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Not inventory turns or stock cover</a:t>
            </a:r>
          </a:p>
        </p:txBody>
      </p:sp>
      <p:sp>
        <p:nvSpPr>
          <p:cNvPr id="38" name="">
            <a:extLst>
              <a:ext uri="{FF2B5EF4-FFF2-40B4-BE49-F238E27FC236}">
                <a16:creationId xmlns:a16="http://schemas.microsoft.com/office/drawing/2014/main" id="{3C130AE7-7FEE-4977-9234-6BD41551CBF1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39" name="">
            <a:extLst>
              <a:ext uri="{FF2B5EF4-FFF2-40B4-BE49-F238E27FC236}">
                <a16:creationId xmlns:a16="http://schemas.microsoft.com/office/drawing/2014/main" id="{960BD2D4-7696-427F-9466-F6676FDD186B}"/>
              </a:ext>
            </a:extLst>
          </p:cNvPr>
          <p:cNvSpPr>
            <a:spLocks noGrp="1"/>
          </p:cNvSpPr>
          <p:nvPr/>
        </p:nvSpPr>
        <p:spPr>
          <a:xfrm>
            <a:off x="266700" y="5267325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40" name="">
            <a:extLst>
              <a:ext uri="{FF2B5EF4-FFF2-40B4-BE49-F238E27FC236}">
                <a16:creationId xmlns:a16="http://schemas.microsoft.com/office/drawing/2014/main" id="{A08F5AB6-CD6C-4C81-8635-09DCC851CE81}"/>
              </a:ext>
            </a:extLst>
          </p:cNvPr>
          <p:cNvSpPr>
            <a:spLocks noGrp="1"/>
          </p:cNvSpPr>
          <p:nvPr/>
        </p:nvSpPr>
        <p:spPr>
          <a:xfrm>
            <a:off x="3524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SOURCE COVERAGE</a:t>
            </a:r>
          </a:p>
        </p:txBody>
      </p:sp>
      <p:sp>
        <p:nvSpPr>
          <p:cNvPr id="41" name="">
            <a:extLst>
              <a:ext uri="{FF2B5EF4-FFF2-40B4-BE49-F238E27FC236}">
                <a16:creationId xmlns:a16="http://schemas.microsoft.com/office/drawing/2014/main" id="{A121309B-5F3B-4BC3-9231-DFCABC6BFF64}"/>
              </a:ext>
            </a:extLst>
          </p:cNvPr>
          <p:cNvSpPr>
            <a:spLocks noGrp="1"/>
          </p:cNvSpPr>
          <p:nvPr/>
        </p:nvSpPr>
        <p:spPr>
          <a:xfrm>
            <a:off x="381000" y="5667375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B9A66"/>
                </a:solidFill>
              </a:defRPr>
            </a:pPr>
            <a:r>
              <a:rPr sz="1275" b="1">
                <a:solidFill>
                  <a:srgbClr val="2B9A66"/>
                </a:solidFill>
              </a:rPr>
              <a:t>31,355 / 1,97,740</a:t>
            </a:r>
          </a:p>
        </p:txBody>
      </p:sp>
      <p:sp>
        <p:nvSpPr>
          <p:cNvPr id="42" name="">
            <a:extLst>
              <a:ext uri="{FF2B5EF4-FFF2-40B4-BE49-F238E27FC236}">
                <a16:creationId xmlns:a16="http://schemas.microsoft.com/office/drawing/2014/main" id="{C583AFE9-4399-40AE-B07B-8A4621673B85}"/>
              </a:ext>
            </a:extLst>
          </p:cNvPr>
          <p:cNvSpPr>
            <a:spLocks noGrp="1"/>
          </p:cNvSpPr>
          <p:nvPr/>
        </p:nvSpPr>
        <p:spPr>
          <a:xfrm>
            <a:off x="400050" y="61626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43" name="">
            <a:extLst>
              <a:ext uri="{FF2B5EF4-FFF2-40B4-BE49-F238E27FC236}">
                <a16:creationId xmlns:a16="http://schemas.microsoft.com/office/drawing/2014/main" id="{86828465-7A10-4448-B1A5-EFBEB8FF97E7}"/>
              </a:ext>
            </a:extLst>
          </p:cNvPr>
          <p:cNvSpPr>
            <a:spLocks noGrp="1"/>
          </p:cNvSpPr>
          <p:nvPr/>
        </p:nvSpPr>
        <p:spPr>
          <a:xfrm>
            <a:off x="542925" y="61626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Primary / offtake rows</a:t>
            </a:r>
          </a:p>
        </p:txBody>
      </p:sp>
      <p:sp>
        <p:nvSpPr>
          <p:cNvPr id="44" name="">
            <a:extLst>
              <a:ext uri="{FF2B5EF4-FFF2-40B4-BE49-F238E27FC236}">
                <a16:creationId xmlns:a16="http://schemas.microsoft.com/office/drawing/2014/main" id="{BFECECCD-C2C6-4CF2-B2C1-A74D43B9CDF5}"/>
              </a:ext>
            </a:extLst>
          </p:cNvPr>
          <p:cNvSpPr>
            <a:spLocks noGrp="1"/>
          </p:cNvSpPr>
          <p:nvPr/>
        </p:nvSpPr>
        <p:spPr>
          <a:xfrm>
            <a:off x="400050" y="64960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45" name="">
            <a:extLst>
              <a:ext uri="{FF2B5EF4-FFF2-40B4-BE49-F238E27FC236}">
                <a16:creationId xmlns:a16="http://schemas.microsoft.com/office/drawing/2014/main" id="{6269EF8E-8725-411B-8B9F-21ACCA493A7B}"/>
              </a:ext>
            </a:extLst>
          </p:cNvPr>
          <p:cNvSpPr>
            <a:spLocks noGrp="1"/>
          </p:cNvSpPr>
          <p:nvPr/>
        </p:nvSpPr>
        <p:spPr>
          <a:xfrm>
            <a:off x="542925" y="64960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Missing zone rows: 0</a:t>
            </a:r>
          </a:p>
        </p:txBody>
      </p:sp>
      <p:sp>
        <p:nvSpPr>
          <p:cNvPr id="46" name="">
            <a:extLst>
              <a:ext uri="{FF2B5EF4-FFF2-40B4-BE49-F238E27FC236}">
                <a16:creationId xmlns:a16="http://schemas.microsoft.com/office/drawing/2014/main" id="{9ACE57E4-8DCC-4CA7-96A7-9A74B51C0C15}"/>
              </a:ext>
            </a:extLst>
          </p:cNvPr>
          <p:cNvSpPr>
            <a:spLocks noGrp="1"/>
          </p:cNvSpPr>
          <p:nvPr/>
        </p:nvSpPr>
        <p:spPr>
          <a:xfrm>
            <a:off x="400050" y="6829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47" name="">
            <a:extLst>
              <a:ext uri="{FF2B5EF4-FFF2-40B4-BE49-F238E27FC236}">
                <a16:creationId xmlns:a16="http://schemas.microsoft.com/office/drawing/2014/main" id="{080E789E-4EF7-4E9F-8B10-B2D477913685}"/>
              </a:ext>
            </a:extLst>
          </p:cNvPr>
          <p:cNvSpPr>
            <a:spLocks noGrp="1"/>
          </p:cNvSpPr>
          <p:nvPr/>
        </p:nvSpPr>
        <p:spPr>
          <a:xfrm>
            <a:off x="542925" y="68294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Period: July 2026</a:t>
            </a:r>
          </a:p>
        </p:txBody>
      </p:sp>
      <p:sp>
        <p:nvSpPr>
          <p:cNvPr id="48" name="">
            <a:extLst>
              <a:ext uri="{FF2B5EF4-FFF2-40B4-BE49-F238E27FC236}">
                <a16:creationId xmlns:a16="http://schemas.microsoft.com/office/drawing/2014/main" id="{47701401-B318-4749-9EA7-391A445237F5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49" name="">
            <a:extLst>
              <a:ext uri="{FF2B5EF4-FFF2-40B4-BE49-F238E27FC236}">
                <a16:creationId xmlns:a16="http://schemas.microsoft.com/office/drawing/2014/main" id="{AA64159B-31F4-4E95-97FD-33C007D6D886}"/>
              </a:ext>
            </a:extLst>
          </p:cNvPr>
          <p:cNvSpPr>
            <a:spLocks noGrp="1"/>
          </p:cNvSpPr>
          <p:nvPr/>
        </p:nvSpPr>
        <p:spPr>
          <a:xfrm>
            <a:off x="2438400" y="5267325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50" name="">
            <a:extLst>
              <a:ext uri="{FF2B5EF4-FFF2-40B4-BE49-F238E27FC236}">
                <a16:creationId xmlns:a16="http://schemas.microsoft.com/office/drawing/2014/main" id="{C5252A03-5B33-452C-A858-4ED81441B8A6}"/>
              </a:ext>
            </a:extLst>
          </p:cNvPr>
          <p:cNvSpPr>
            <a:spLocks noGrp="1"/>
          </p:cNvSpPr>
          <p:nvPr/>
        </p:nvSpPr>
        <p:spPr>
          <a:xfrm>
            <a:off x="25241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DECISION FOCUS</a:t>
            </a:r>
          </a:p>
        </p:txBody>
      </p:sp>
      <p:sp>
        <p:nvSpPr>
          <p:cNvPr id="51" name="">
            <a:extLst>
              <a:ext uri="{FF2B5EF4-FFF2-40B4-BE49-F238E27FC236}">
                <a16:creationId xmlns:a16="http://schemas.microsoft.com/office/drawing/2014/main" id="{4A9AB8C1-DC8F-40C3-9527-A94739AA57D3}"/>
              </a:ext>
            </a:extLst>
          </p:cNvPr>
          <p:cNvSpPr>
            <a:spLocks noGrp="1"/>
          </p:cNvSpPr>
          <p:nvPr/>
        </p:nvSpPr>
        <p:spPr>
          <a:xfrm>
            <a:off x="2552700" y="5667375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6544D"/>
                </a:solidFill>
              </a:defRPr>
            </a:pPr>
            <a:r>
              <a:rPr sz="1275" b="1">
                <a:solidFill>
                  <a:srgbClr val="D6544D"/>
                </a:solidFill>
              </a:rPr>
              <a:t>Chain × Zone × EAN</a:t>
            </a:r>
          </a:p>
        </p:txBody>
      </p:sp>
      <p:sp>
        <p:nvSpPr>
          <p:cNvPr id="52" name="">
            <a:extLst>
              <a:ext uri="{FF2B5EF4-FFF2-40B4-BE49-F238E27FC236}">
                <a16:creationId xmlns:a16="http://schemas.microsoft.com/office/drawing/2014/main" id="{4D3DB3B0-96AC-4CF9-9F77-3DD5E4AE20AE}"/>
              </a:ext>
            </a:extLst>
          </p:cNvPr>
          <p:cNvSpPr>
            <a:spLocks noGrp="1"/>
          </p:cNvSpPr>
          <p:nvPr/>
        </p:nvSpPr>
        <p:spPr>
          <a:xfrm>
            <a:off x="2571750" y="61626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53" name="">
            <a:extLst>
              <a:ext uri="{FF2B5EF4-FFF2-40B4-BE49-F238E27FC236}">
                <a16:creationId xmlns:a16="http://schemas.microsoft.com/office/drawing/2014/main" id="{13123B4F-2821-4CDE-B390-9BB5D3C89B44}"/>
              </a:ext>
            </a:extLst>
          </p:cNvPr>
          <p:cNvSpPr>
            <a:spLocks noGrp="1"/>
          </p:cNvSpPr>
          <p:nvPr/>
        </p:nvSpPr>
        <p:spPr>
          <a:xfrm>
            <a:off x="2714625" y="61626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Rank material conversion gaps</a:t>
            </a:r>
          </a:p>
        </p:txBody>
      </p:sp>
      <p:sp>
        <p:nvSpPr>
          <p:cNvPr id="54" name="">
            <a:extLst>
              <a:ext uri="{FF2B5EF4-FFF2-40B4-BE49-F238E27FC236}">
                <a16:creationId xmlns:a16="http://schemas.microsoft.com/office/drawing/2014/main" id="{9AB3BC95-B4D6-4064-8B5A-3A1A95BD4830}"/>
              </a:ext>
            </a:extLst>
          </p:cNvPr>
          <p:cNvSpPr>
            <a:spLocks noGrp="1"/>
          </p:cNvSpPr>
          <p:nvPr/>
        </p:nvSpPr>
        <p:spPr>
          <a:xfrm>
            <a:off x="2571750" y="64960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5" name="">
            <a:extLst>
              <a:ext uri="{FF2B5EF4-FFF2-40B4-BE49-F238E27FC236}">
                <a16:creationId xmlns:a16="http://schemas.microsoft.com/office/drawing/2014/main" id="{27593DBC-BC8B-4485-AF71-13D3E8780ADC}"/>
              </a:ext>
            </a:extLst>
          </p:cNvPr>
          <p:cNvSpPr>
            <a:spLocks noGrp="1"/>
          </p:cNvSpPr>
          <p:nvPr/>
        </p:nvSpPr>
        <p:spPr>
          <a:xfrm>
            <a:off x="2714625" y="64960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Protect proven demand signals</a:t>
            </a:r>
          </a:p>
        </p:txBody>
      </p:sp>
      <p:sp>
        <p:nvSpPr>
          <p:cNvPr id="56" name="">
            <a:extLst>
              <a:ext uri="{FF2B5EF4-FFF2-40B4-BE49-F238E27FC236}">
                <a16:creationId xmlns:a16="http://schemas.microsoft.com/office/drawing/2014/main" id="{C088DB3A-2CED-411C-9F2B-696E8CD1AA23}"/>
              </a:ext>
            </a:extLst>
          </p:cNvPr>
          <p:cNvSpPr>
            <a:spLocks noGrp="1"/>
          </p:cNvSpPr>
          <p:nvPr/>
        </p:nvSpPr>
        <p:spPr>
          <a:xfrm>
            <a:off x="2571750" y="6829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57" name="">
            <a:extLst>
              <a:ext uri="{FF2B5EF4-FFF2-40B4-BE49-F238E27FC236}">
                <a16:creationId xmlns:a16="http://schemas.microsoft.com/office/drawing/2014/main" id="{8057E4F8-D7B0-46E1-B9AA-7DE6DA120128}"/>
              </a:ext>
            </a:extLst>
          </p:cNvPr>
          <p:cNvSpPr>
            <a:spLocks noGrp="1"/>
          </p:cNvSpPr>
          <p:nvPr/>
        </p:nvSpPr>
        <p:spPr>
          <a:xfrm>
            <a:off x="2714625" y="68294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Verify availability before loading</a:t>
            </a:r>
          </a:p>
        </p:txBody>
      </p:sp>
      <p:sp>
        <p:nvSpPr>
          <p:cNvPr id="58" name="">
            <a:extLst>
              <a:ext uri="{FF2B5EF4-FFF2-40B4-BE49-F238E27FC236}">
                <a16:creationId xmlns:a16="http://schemas.microsoft.com/office/drawing/2014/main" id="{7DEC21E8-1D0A-48EC-8A89-7074B8A842A7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59" name="">
            <a:extLst>
              <a:ext uri="{FF2B5EF4-FFF2-40B4-BE49-F238E27FC236}">
                <a16:creationId xmlns:a16="http://schemas.microsoft.com/office/drawing/2014/main" id="{7DB1B6B0-A695-46C1-A1E2-5B875CFA4A98}"/>
              </a:ext>
            </a:extLst>
          </p:cNvPr>
          <p:cNvSpPr>
            <a:spLocks noGrp="1"/>
          </p:cNvSpPr>
          <p:nvPr/>
        </p:nvSpPr>
        <p:spPr>
          <a:xfrm>
            <a:off x="4610100" y="5267325"/>
            <a:ext cx="1981200" cy="285750"/>
          </a:xfrm>
          <a:prstGeom prst="rect">
            <a:avLst/>
          </a:prstGeom>
          <a:solidFill>
            <a:srgbClr val="F2B84B"/>
          </a:solidFill>
          <a:ln w="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60" name="">
            <a:extLst>
              <a:ext uri="{FF2B5EF4-FFF2-40B4-BE49-F238E27FC236}">
                <a16:creationId xmlns:a16="http://schemas.microsoft.com/office/drawing/2014/main" id="{0170A67C-0DEC-4A0C-8CD5-94B0069BD47A}"/>
              </a:ext>
            </a:extLst>
          </p:cNvPr>
          <p:cNvSpPr>
            <a:spLocks noGrp="1"/>
          </p:cNvSpPr>
          <p:nvPr/>
        </p:nvSpPr>
        <p:spPr>
          <a:xfrm>
            <a:off x="4695825" y="5286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ACCOUNT MAPPING</a:t>
            </a:r>
          </a:p>
        </p:txBody>
      </p:sp>
      <p:sp>
        <p:nvSpPr>
          <p:cNvPr id="61" name="">
            <a:extLst>
              <a:ext uri="{FF2B5EF4-FFF2-40B4-BE49-F238E27FC236}">
                <a16:creationId xmlns:a16="http://schemas.microsoft.com/office/drawing/2014/main" id="{EC1B2AD5-542A-4DB0-A5DB-3ABC3106BC37}"/>
              </a:ext>
            </a:extLst>
          </p:cNvPr>
          <p:cNvSpPr>
            <a:spLocks noGrp="1"/>
          </p:cNvSpPr>
          <p:nvPr/>
        </p:nvSpPr>
        <p:spPr>
          <a:xfrm>
            <a:off x="4724400" y="5667375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2B84B"/>
                </a:solidFill>
              </a:defRPr>
            </a:pPr>
            <a:r>
              <a:rPr sz="1275" b="1">
                <a:solidFill>
                  <a:srgbClr val="F2B84B"/>
                </a:solidFill>
              </a:rPr>
              <a:t>₹2.07 Cr</a:t>
            </a:r>
          </a:p>
        </p:txBody>
      </p:sp>
      <p:sp>
        <p:nvSpPr>
          <p:cNvPr id="62" name="">
            <a:extLst>
              <a:ext uri="{FF2B5EF4-FFF2-40B4-BE49-F238E27FC236}">
                <a16:creationId xmlns:a16="http://schemas.microsoft.com/office/drawing/2014/main" id="{37E07722-BD2F-4BFF-BA97-B10F1172F50E}"/>
              </a:ext>
            </a:extLst>
          </p:cNvPr>
          <p:cNvSpPr>
            <a:spLocks noGrp="1"/>
          </p:cNvSpPr>
          <p:nvPr/>
        </p:nvSpPr>
        <p:spPr>
          <a:xfrm>
            <a:off x="4743450" y="61626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63" name="">
            <a:extLst>
              <a:ext uri="{FF2B5EF4-FFF2-40B4-BE49-F238E27FC236}">
                <a16:creationId xmlns:a16="http://schemas.microsoft.com/office/drawing/2014/main" id="{088B2031-62E3-48B1-BE57-3EA1BCF78FCB}"/>
              </a:ext>
            </a:extLst>
          </p:cNvPr>
          <p:cNvSpPr>
            <a:spLocks noGrp="1"/>
          </p:cNvSpPr>
          <p:nvPr/>
        </p:nvSpPr>
        <p:spPr>
          <a:xfrm>
            <a:off x="4886325" y="61626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FSN + Nykaa SS combined</a:t>
            </a:r>
          </a:p>
        </p:txBody>
      </p:sp>
      <p:sp>
        <p:nvSpPr>
          <p:cNvPr id="64" name="">
            <a:extLst>
              <a:ext uri="{FF2B5EF4-FFF2-40B4-BE49-F238E27FC236}">
                <a16:creationId xmlns:a16="http://schemas.microsoft.com/office/drawing/2014/main" id="{C496C36D-D558-4CF7-BB01-F836916AE4D0}"/>
              </a:ext>
            </a:extLst>
          </p:cNvPr>
          <p:cNvSpPr>
            <a:spLocks noGrp="1"/>
          </p:cNvSpPr>
          <p:nvPr/>
        </p:nvSpPr>
        <p:spPr>
          <a:xfrm>
            <a:off x="4743450" y="64960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5" name="">
            <a:extLst>
              <a:ext uri="{FF2B5EF4-FFF2-40B4-BE49-F238E27FC236}">
                <a16:creationId xmlns:a16="http://schemas.microsoft.com/office/drawing/2014/main" id="{177885E3-13F7-4C00-AB32-E124C84511D6}"/>
              </a:ext>
            </a:extLst>
          </p:cNvPr>
          <p:cNvSpPr>
            <a:spLocks noGrp="1"/>
          </p:cNvSpPr>
          <p:nvPr/>
        </p:nvSpPr>
        <p:spPr>
          <a:xfrm>
            <a:off x="4886325" y="64960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Article-level account view</a:t>
            </a:r>
          </a:p>
        </p:txBody>
      </p:sp>
      <p:sp>
        <p:nvSpPr>
          <p:cNvPr id="66" name="">
            <a:extLst>
              <a:ext uri="{FF2B5EF4-FFF2-40B4-BE49-F238E27FC236}">
                <a16:creationId xmlns:a16="http://schemas.microsoft.com/office/drawing/2014/main" id="{89AAD530-DBC8-49CF-8BBB-581E21D4E8A7}"/>
              </a:ext>
            </a:extLst>
          </p:cNvPr>
          <p:cNvSpPr>
            <a:spLocks noGrp="1"/>
          </p:cNvSpPr>
          <p:nvPr/>
        </p:nvSpPr>
        <p:spPr>
          <a:xfrm>
            <a:off x="4743450" y="68294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67" name="">
            <a:extLst>
              <a:ext uri="{FF2B5EF4-FFF2-40B4-BE49-F238E27FC236}">
                <a16:creationId xmlns:a16="http://schemas.microsoft.com/office/drawing/2014/main" id="{212BABC5-6AF9-438E-9D70-CF43C4385F9A}"/>
              </a:ext>
            </a:extLst>
          </p:cNvPr>
          <p:cNvSpPr>
            <a:spLocks noGrp="1"/>
          </p:cNvSpPr>
          <p:nvPr/>
        </p:nvSpPr>
        <p:spPr>
          <a:xfrm>
            <a:off x="4886325" y="68294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Pan India flow handled separately</a:t>
            </a:r>
          </a:p>
        </p:txBody>
      </p:sp>
      <p:sp>
        <p:nvSpPr>
          <p:cNvPr id="68" name="">
            <a:extLst>
              <a:ext uri="{FF2B5EF4-FFF2-40B4-BE49-F238E27FC236}">
                <a16:creationId xmlns:a16="http://schemas.microsoft.com/office/drawing/2014/main" id="{29066ACD-7BE6-46B3-80CD-8BC6C3CC91A4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69" name="">
            <a:extLst>
              <a:ext uri="{FF2B5EF4-FFF2-40B4-BE49-F238E27FC236}">
                <a16:creationId xmlns:a16="http://schemas.microsoft.com/office/drawing/2014/main" id="{A7AC54C8-C52D-459B-B37A-A231A6E4C76E}"/>
              </a:ext>
            </a:extLst>
          </p:cNvPr>
          <p:cNvSpPr>
            <a:spLocks noGrp="1"/>
          </p:cNvSpPr>
          <p:nvPr/>
        </p:nvSpPr>
        <p:spPr>
          <a:xfrm>
            <a:off x="266700" y="8077200"/>
            <a:ext cx="1981200" cy="285750"/>
          </a:xfrm>
          <a:prstGeom prst="rect">
            <a:avLst/>
          </a:prstGeom>
          <a:solidFill>
            <a:srgbClr val="D6544D"/>
          </a:solidFill>
          <a:ln w="0">
            <a:solidFill>
              <a:srgbClr val="D6544D"/>
            </a:solidFill>
            <a:prstDash val="solid"/>
          </a:ln>
        </p:spPr>
        <p:txBody>
          <a:bodyPr/>
          <a:p/>
        </p:txBody>
      </p:sp>
      <p:sp>
        <p:nvSpPr>
          <p:cNvPr id="70" name="">
            <a:extLst>
              <a:ext uri="{FF2B5EF4-FFF2-40B4-BE49-F238E27FC236}">
                <a16:creationId xmlns:a16="http://schemas.microsoft.com/office/drawing/2014/main" id="{E551B5AA-7009-489E-AB67-53F55655E766}"/>
              </a:ext>
            </a:extLst>
          </p:cNvPr>
          <p:cNvSpPr>
            <a:spLocks noGrp="1"/>
          </p:cNvSpPr>
          <p:nvPr/>
        </p:nvSpPr>
        <p:spPr>
          <a:xfrm>
            <a:off x="3524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DIAGNOSTIC GATE</a:t>
            </a:r>
          </a:p>
        </p:txBody>
      </p:sp>
      <p:sp>
        <p:nvSpPr>
          <p:cNvPr id="71" name="">
            <a:extLst>
              <a:ext uri="{FF2B5EF4-FFF2-40B4-BE49-F238E27FC236}">
                <a16:creationId xmlns:a16="http://schemas.microsoft.com/office/drawing/2014/main" id="{1EC82BAF-EF76-41D2-9995-7F4D98A7B6C6}"/>
              </a:ext>
            </a:extLst>
          </p:cNvPr>
          <p:cNvSpPr>
            <a:spLocks noGrp="1"/>
          </p:cNvSpPr>
          <p:nvPr/>
        </p:nvSpPr>
        <p:spPr>
          <a:xfrm>
            <a:off x="381000" y="847725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D6544D"/>
                </a:solidFill>
              </a:defRPr>
            </a:pPr>
            <a:r>
              <a:rPr sz="1275" b="1">
                <a:solidFill>
                  <a:srgbClr val="D6544D"/>
                </a:solidFill>
              </a:rPr>
              <a:t>Reconcile first</a:t>
            </a:r>
          </a:p>
        </p:txBody>
      </p:sp>
      <p:sp>
        <p:nvSpPr>
          <p:cNvPr id="72" name="">
            <a:extLst>
              <a:ext uri="{FF2B5EF4-FFF2-40B4-BE49-F238E27FC236}">
                <a16:creationId xmlns:a16="http://schemas.microsoft.com/office/drawing/2014/main" id="{EE51F501-9D8B-428B-8120-2E8A9556E78C}"/>
              </a:ext>
            </a:extLst>
          </p:cNvPr>
          <p:cNvSpPr>
            <a:spLocks noGrp="1"/>
          </p:cNvSpPr>
          <p:nvPr/>
        </p:nvSpPr>
        <p:spPr>
          <a:xfrm>
            <a:off x="400050" y="8972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73" name="">
            <a:extLst>
              <a:ext uri="{FF2B5EF4-FFF2-40B4-BE49-F238E27FC236}">
                <a16:creationId xmlns:a16="http://schemas.microsoft.com/office/drawing/2014/main" id="{41616A18-BC9A-4014-AF54-41D8EEB85636}"/>
              </a:ext>
            </a:extLst>
          </p:cNvPr>
          <p:cNvSpPr>
            <a:spLocks noGrp="1"/>
          </p:cNvSpPr>
          <p:nvPr/>
        </p:nvSpPr>
        <p:spPr>
          <a:xfrm>
            <a:off x="542925" y="8972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SAH / WD / PDO / OOS</a:t>
            </a:r>
          </a:p>
        </p:txBody>
      </p:sp>
      <p:sp>
        <p:nvSpPr>
          <p:cNvPr id="74" name="">
            <a:extLst>
              <a:ext uri="{FF2B5EF4-FFF2-40B4-BE49-F238E27FC236}">
                <a16:creationId xmlns:a16="http://schemas.microsoft.com/office/drawing/2014/main" id="{0365106D-25B1-4C81-8521-97BDC2D9D53B}"/>
              </a:ext>
            </a:extLst>
          </p:cNvPr>
          <p:cNvSpPr>
            <a:spLocks noGrp="1"/>
          </p:cNvSpPr>
          <p:nvPr/>
        </p:nvSpPr>
        <p:spPr>
          <a:xfrm>
            <a:off x="400050" y="9305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5" name="">
            <a:extLst>
              <a:ext uri="{FF2B5EF4-FFF2-40B4-BE49-F238E27FC236}">
                <a16:creationId xmlns:a16="http://schemas.microsoft.com/office/drawing/2014/main" id="{A85DE939-4D21-458F-8C59-03B63B5BCE81}"/>
              </a:ext>
            </a:extLst>
          </p:cNvPr>
          <p:cNvSpPr>
            <a:spLocks noGrp="1"/>
          </p:cNvSpPr>
          <p:nvPr/>
        </p:nvSpPr>
        <p:spPr>
          <a:xfrm>
            <a:off x="542925" y="93059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Stock pressure and turnover</a:t>
            </a:r>
          </a:p>
        </p:txBody>
      </p:sp>
      <p:sp>
        <p:nvSpPr>
          <p:cNvPr id="76" name="">
            <a:extLst>
              <a:ext uri="{FF2B5EF4-FFF2-40B4-BE49-F238E27FC236}">
                <a16:creationId xmlns:a16="http://schemas.microsoft.com/office/drawing/2014/main" id="{6B7AE643-C575-4A0D-B95D-7C3487EF10AE}"/>
              </a:ext>
            </a:extLst>
          </p:cNvPr>
          <p:cNvSpPr>
            <a:spLocks noGrp="1"/>
          </p:cNvSpPr>
          <p:nvPr/>
        </p:nvSpPr>
        <p:spPr>
          <a:xfrm>
            <a:off x="400050" y="9639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77" name="">
            <a:extLst>
              <a:ext uri="{FF2B5EF4-FFF2-40B4-BE49-F238E27FC236}">
                <a16:creationId xmlns:a16="http://schemas.microsoft.com/office/drawing/2014/main" id="{6CF7232D-BCA1-49AB-A2BB-4B7D276C931C}"/>
              </a:ext>
            </a:extLst>
          </p:cNvPr>
          <p:cNvSpPr>
            <a:spLocks noGrp="1"/>
          </p:cNvSpPr>
          <p:nvPr/>
        </p:nvSpPr>
        <p:spPr>
          <a:xfrm>
            <a:off x="542925" y="96393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No measured claim before state-chain validation</a:t>
            </a:r>
          </a:p>
        </p:txBody>
      </p:sp>
      <p:sp>
        <p:nvSpPr>
          <p:cNvPr id="78" name="">
            <a:extLst>
              <a:ext uri="{FF2B5EF4-FFF2-40B4-BE49-F238E27FC236}">
                <a16:creationId xmlns:a16="http://schemas.microsoft.com/office/drawing/2014/main" id="{57851070-9BC5-4816-8B62-813A2A6354BA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79" name="">
            <a:extLst>
              <a:ext uri="{FF2B5EF4-FFF2-40B4-BE49-F238E27FC236}">
                <a16:creationId xmlns:a16="http://schemas.microsoft.com/office/drawing/2014/main" id="{EBCFDAD4-EC60-454B-B0FB-655DE9BB7B11}"/>
              </a:ext>
            </a:extLst>
          </p:cNvPr>
          <p:cNvSpPr>
            <a:spLocks noGrp="1"/>
          </p:cNvSpPr>
          <p:nvPr/>
        </p:nvSpPr>
        <p:spPr>
          <a:xfrm>
            <a:off x="2438400" y="8077200"/>
            <a:ext cx="1981200" cy="285750"/>
          </a:xfrm>
          <a:prstGeom prst="rect">
            <a:avLst/>
          </a:prstGeom>
          <a:solidFill>
            <a:srgbClr val="2B9A66"/>
          </a:solidFill>
          <a:ln w="0">
            <a:solidFill>
              <a:srgbClr val="2B9A66"/>
            </a:solidFill>
            <a:prstDash val="solid"/>
          </a:ln>
        </p:spPr>
        <p:txBody>
          <a:bodyPr/>
          <a:p/>
        </p:txBody>
      </p:sp>
      <p:sp>
        <p:nvSpPr>
          <p:cNvPr id="80" name="">
            <a:extLst>
              <a:ext uri="{FF2B5EF4-FFF2-40B4-BE49-F238E27FC236}">
                <a16:creationId xmlns:a16="http://schemas.microsoft.com/office/drawing/2014/main" id="{7D458E96-35EA-47D5-A5B3-06FC4E87139B}"/>
              </a:ext>
            </a:extLst>
          </p:cNvPr>
          <p:cNvSpPr>
            <a:spLocks noGrp="1"/>
          </p:cNvSpPr>
          <p:nvPr/>
        </p:nvSpPr>
        <p:spPr>
          <a:xfrm>
            <a:off x="25241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HUMAN APPROVAL</a:t>
            </a:r>
          </a:p>
        </p:txBody>
      </p:sp>
      <p:sp>
        <p:nvSpPr>
          <p:cNvPr id="81" name="">
            <a:extLst>
              <a:ext uri="{FF2B5EF4-FFF2-40B4-BE49-F238E27FC236}">
                <a16:creationId xmlns:a16="http://schemas.microsoft.com/office/drawing/2014/main" id="{8BEC4B7B-7DF3-4530-8850-77721573AD4B}"/>
              </a:ext>
            </a:extLst>
          </p:cNvPr>
          <p:cNvSpPr>
            <a:spLocks noGrp="1"/>
          </p:cNvSpPr>
          <p:nvPr/>
        </p:nvSpPr>
        <p:spPr>
          <a:xfrm>
            <a:off x="2552700" y="847725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B9A66"/>
                </a:solidFill>
              </a:defRPr>
            </a:pPr>
            <a:r>
              <a:rPr sz="1275" b="1">
                <a:solidFill>
                  <a:srgbClr val="2B9A66"/>
                </a:solidFill>
              </a:rPr>
              <a:t>Ask first</a:t>
            </a:r>
          </a:p>
        </p:txBody>
      </p:sp>
      <p:sp>
        <p:nvSpPr>
          <p:cNvPr id="82" name="">
            <a:extLst>
              <a:ext uri="{FF2B5EF4-FFF2-40B4-BE49-F238E27FC236}">
                <a16:creationId xmlns:a16="http://schemas.microsoft.com/office/drawing/2014/main" id="{4BD26B2A-963A-4BC9-A8C6-71D080AD2556}"/>
              </a:ext>
            </a:extLst>
          </p:cNvPr>
          <p:cNvSpPr>
            <a:spLocks noGrp="1"/>
          </p:cNvSpPr>
          <p:nvPr/>
        </p:nvSpPr>
        <p:spPr>
          <a:xfrm>
            <a:off x="2571750" y="8972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83" name="">
            <a:extLst>
              <a:ext uri="{FF2B5EF4-FFF2-40B4-BE49-F238E27FC236}">
                <a16:creationId xmlns:a16="http://schemas.microsoft.com/office/drawing/2014/main" id="{FE187728-0AE9-4BCD-950A-5EB645E2EE44}"/>
              </a:ext>
            </a:extLst>
          </p:cNvPr>
          <p:cNvSpPr>
            <a:spLocks noGrp="1"/>
          </p:cNvSpPr>
          <p:nvPr/>
        </p:nvSpPr>
        <p:spPr>
          <a:xfrm>
            <a:off x="2714625" y="8972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AI recommends and sizes</a:t>
            </a:r>
          </a:p>
        </p:txBody>
      </p:sp>
      <p:sp>
        <p:nvSpPr>
          <p:cNvPr id="84" name="">
            <a:extLst>
              <a:ext uri="{FF2B5EF4-FFF2-40B4-BE49-F238E27FC236}">
                <a16:creationId xmlns:a16="http://schemas.microsoft.com/office/drawing/2014/main" id="{C6C8170D-0896-41DC-B6ED-C2EDACCEBC63}"/>
              </a:ext>
            </a:extLst>
          </p:cNvPr>
          <p:cNvSpPr>
            <a:spLocks noGrp="1"/>
          </p:cNvSpPr>
          <p:nvPr/>
        </p:nvSpPr>
        <p:spPr>
          <a:xfrm>
            <a:off x="2571750" y="9305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5" name="">
            <a:extLst>
              <a:ext uri="{FF2B5EF4-FFF2-40B4-BE49-F238E27FC236}">
                <a16:creationId xmlns:a16="http://schemas.microsoft.com/office/drawing/2014/main" id="{CBBBAFBA-D4DE-4F3C-BA93-7796C8E7056C}"/>
              </a:ext>
            </a:extLst>
          </p:cNvPr>
          <p:cNvSpPr>
            <a:spLocks noGrp="1"/>
          </p:cNvSpPr>
          <p:nvPr/>
        </p:nvSpPr>
        <p:spPr>
          <a:xfrm>
            <a:off x="2714625" y="93059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NKAM/RKAM/KAM approve</a:t>
            </a:r>
          </a:p>
        </p:txBody>
      </p:sp>
      <p:sp>
        <p:nvSpPr>
          <p:cNvPr id="86" name="">
            <a:extLst>
              <a:ext uri="{FF2B5EF4-FFF2-40B4-BE49-F238E27FC236}">
                <a16:creationId xmlns:a16="http://schemas.microsoft.com/office/drawing/2014/main" id="{711E4ECB-B7BD-4970-AF15-0902432E4644}"/>
              </a:ext>
            </a:extLst>
          </p:cNvPr>
          <p:cNvSpPr>
            <a:spLocks noGrp="1"/>
          </p:cNvSpPr>
          <p:nvPr/>
        </p:nvSpPr>
        <p:spPr>
          <a:xfrm>
            <a:off x="2571750" y="9639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87" name="">
            <a:extLst>
              <a:ext uri="{FF2B5EF4-FFF2-40B4-BE49-F238E27FC236}">
                <a16:creationId xmlns:a16="http://schemas.microsoft.com/office/drawing/2014/main" id="{5A048AD5-FBD3-4706-A751-124C1E28C8ED}"/>
              </a:ext>
            </a:extLst>
          </p:cNvPr>
          <p:cNvSpPr>
            <a:spLocks noGrp="1"/>
          </p:cNvSpPr>
          <p:nvPr/>
        </p:nvSpPr>
        <p:spPr>
          <a:xfrm>
            <a:off x="2714625" y="96393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Loading, range and distribution remain human decisions</a:t>
            </a:r>
          </a:p>
        </p:txBody>
      </p:sp>
      <p:sp>
        <p:nvSpPr>
          <p:cNvPr id="88" name="">
            <a:extLst>
              <a:ext uri="{FF2B5EF4-FFF2-40B4-BE49-F238E27FC236}">
                <a16:creationId xmlns:a16="http://schemas.microsoft.com/office/drawing/2014/main" id="{FCEADC96-11E8-4CD7-A51A-7BF56857F997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5908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p/>
        </p:txBody>
      </p:sp>
      <p:sp>
        <p:nvSpPr>
          <p:cNvPr id="89" name="">
            <a:extLst>
              <a:ext uri="{FF2B5EF4-FFF2-40B4-BE49-F238E27FC236}">
                <a16:creationId xmlns:a16="http://schemas.microsoft.com/office/drawing/2014/main" id="{FEB3BE1C-AF32-4DE8-B3C7-576AE39AAA3F}"/>
              </a:ext>
            </a:extLst>
          </p:cNvPr>
          <p:cNvSpPr>
            <a:spLocks noGrp="1"/>
          </p:cNvSpPr>
          <p:nvPr/>
        </p:nvSpPr>
        <p:spPr>
          <a:xfrm>
            <a:off x="4610100" y="8077200"/>
            <a:ext cx="1981200" cy="285750"/>
          </a:xfrm>
          <a:prstGeom prst="rect">
            <a:avLst/>
          </a:prstGeom>
          <a:solidFill>
            <a:srgbClr val="28A596"/>
          </a:solidFill>
          <a:ln w="0">
            <a:solidFill>
              <a:srgbClr val="28A596"/>
            </a:solidFill>
            <a:prstDash val="solid"/>
          </a:ln>
        </p:spPr>
        <p:txBody>
          <a:bodyPr/>
          <a:p/>
        </p:txBody>
      </p:sp>
      <p:sp>
        <p:nvSpPr>
          <p:cNvPr id="90" name="">
            <a:extLst>
              <a:ext uri="{FF2B5EF4-FFF2-40B4-BE49-F238E27FC236}">
                <a16:creationId xmlns:a16="http://schemas.microsoft.com/office/drawing/2014/main" id="{2EEA8A4C-49BB-4973-8611-E27FCC20D45F}"/>
              </a:ext>
            </a:extLst>
          </p:cNvPr>
          <p:cNvSpPr>
            <a:spLocks noGrp="1"/>
          </p:cNvSpPr>
          <p:nvPr/>
        </p:nvSpPr>
        <p:spPr>
          <a:xfrm>
            <a:off x="4695825" y="809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88" b="1">
                <a:solidFill>
                  <a:srgbClr val="FFFFFF"/>
                </a:solidFill>
              </a:defRPr>
            </a:pPr>
            <a:r>
              <a:rPr sz="788" b="1">
                <a:solidFill>
                  <a:srgbClr val="FFFFFF"/>
                </a:solidFill>
              </a:rPr>
              <a:t>ACTION RECEIPT</a:t>
            </a:r>
          </a:p>
        </p:txBody>
      </p:sp>
      <p:sp>
        <p:nvSpPr>
          <p:cNvPr id="91" name="">
            <a:extLst>
              <a:ext uri="{FF2B5EF4-FFF2-40B4-BE49-F238E27FC236}">
                <a16:creationId xmlns:a16="http://schemas.microsoft.com/office/drawing/2014/main" id="{A9CADE32-B6D1-41FB-BE29-9724B6B91517}"/>
              </a:ext>
            </a:extLst>
          </p:cNvPr>
          <p:cNvSpPr>
            <a:spLocks noGrp="1"/>
          </p:cNvSpPr>
          <p:nvPr/>
        </p:nvSpPr>
        <p:spPr>
          <a:xfrm>
            <a:off x="4724400" y="8477250"/>
            <a:ext cx="1752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8A596"/>
                </a:solidFill>
              </a:defRPr>
            </a:pPr>
            <a:r>
              <a:rPr sz="1275" b="1">
                <a:solidFill>
                  <a:srgbClr val="28A596"/>
                </a:solidFill>
              </a:rPr>
              <a:t>Owner + date</a:t>
            </a:r>
          </a:p>
        </p:txBody>
      </p:sp>
      <p:sp>
        <p:nvSpPr>
          <p:cNvPr id="92" name="">
            <a:extLst>
              <a:ext uri="{FF2B5EF4-FFF2-40B4-BE49-F238E27FC236}">
                <a16:creationId xmlns:a16="http://schemas.microsoft.com/office/drawing/2014/main" id="{1549435E-24BE-439A-9F8C-1A3E3D4AAA0B}"/>
              </a:ext>
            </a:extLst>
          </p:cNvPr>
          <p:cNvSpPr>
            <a:spLocks noGrp="1"/>
          </p:cNvSpPr>
          <p:nvPr/>
        </p:nvSpPr>
        <p:spPr>
          <a:xfrm>
            <a:off x="4743450" y="897255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B9A66"/>
                </a:solidFill>
              </a:defRPr>
            </a:pPr>
            <a:r>
              <a:rPr sz="600" b="1">
                <a:solidFill>
                  <a:srgbClr val="2B9A66"/>
                </a:solidFill>
              </a:rPr>
              <a:t>●</a:t>
            </a:r>
          </a:p>
        </p:txBody>
      </p:sp>
      <p:sp>
        <p:nvSpPr>
          <p:cNvPr id="93" name="">
            <a:extLst>
              <a:ext uri="{FF2B5EF4-FFF2-40B4-BE49-F238E27FC236}">
                <a16:creationId xmlns:a16="http://schemas.microsoft.com/office/drawing/2014/main" id="{69BDAEE6-8A96-461C-9932-F3C20EECD702}"/>
              </a:ext>
            </a:extLst>
          </p:cNvPr>
          <p:cNvSpPr>
            <a:spLocks noGrp="1"/>
          </p:cNvSpPr>
          <p:nvPr/>
        </p:nvSpPr>
        <p:spPr>
          <a:xfrm>
            <a:off x="4886325" y="897255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1">
                <a:solidFill>
                  <a:srgbClr val="183B39"/>
                </a:solidFill>
              </a:defRPr>
            </a:pPr>
            <a:r>
              <a:rPr sz="765" b="1">
                <a:solidFill>
                  <a:srgbClr val="183B39"/>
                </a:solidFill>
              </a:rPr>
              <a:t>Record what changed</a:t>
            </a:r>
          </a:p>
        </p:txBody>
      </p:sp>
      <p:sp>
        <p:nvSpPr>
          <p:cNvPr id="94" name="">
            <a:extLst>
              <a:ext uri="{FF2B5EF4-FFF2-40B4-BE49-F238E27FC236}">
                <a16:creationId xmlns:a16="http://schemas.microsoft.com/office/drawing/2014/main" id="{D6A0845C-6182-469A-8A73-B411CD39FA8C}"/>
              </a:ext>
            </a:extLst>
          </p:cNvPr>
          <p:cNvSpPr>
            <a:spLocks noGrp="1"/>
          </p:cNvSpPr>
          <p:nvPr/>
        </p:nvSpPr>
        <p:spPr>
          <a:xfrm>
            <a:off x="4743450" y="930592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5" name="">
            <a:extLst>
              <a:ext uri="{FF2B5EF4-FFF2-40B4-BE49-F238E27FC236}">
                <a16:creationId xmlns:a16="http://schemas.microsoft.com/office/drawing/2014/main" id="{76AFC58C-FAC3-4F75-BB58-018B27655EE1}"/>
              </a:ext>
            </a:extLst>
          </p:cNvPr>
          <p:cNvSpPr>
            <a:spLocks noGrp="1"/>
          </p:cNvSpPr>
          <p:nvPr/>
        </p:nvSpPr>
        <p:spPr>
          <a:xfrm>
            <a:off x="4886325" y="93059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State evidence and authority</a:t>
            </a:r>
          </a:p>
        </p:txBody>
      </p:sp>
      <p:sp>
        <p:nvSpPr>
          <p:cNvPr id="96" name="">
            <a:extLst>
              <a:ext uri="{FF2B5EF4-FFF2-40B4-BE49-F238E27FC236}">
                <a16:creationId xmlns:a16="http://schemas.microsoft.com/office/drawing/2014/main" id="{E29B1507-FC1A-4FC9-920A-DBDD65F7CE03}"/>
              </a:ext>
            </a:extLst>
          </p:cNvPr>
          <p:cNvSpPr>
            <a:spLocks noGrp="1"/>
          </p:cNvSpPr>
          <p:nvPr/>
        </p:nvSpPr>
        <p:spPr>
          <a:xfrm>
            <a:off x="4743450" y="9639300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7" name="">
            <a:extLst>
              <a:ext uri="{FF2B5EF4-FFF2-40B4-BE49-F238E27FC236}">
                <a16:creationId xmlns:a16="http://schemas.microsoft.com/office/drawing/2014/main" id="{61699BEB-C3ED-4A2C-9C68-872F3FA10FD0}"/>
              </a:ext>
            </a:extLst>
          </p:cNvPr>
          <p:cNvSpPr>
            <a:spLocks noGrp="1"/>
          </p:cNvSpPr>
          <p:nvPr/>
        </p:nvSpPr>
        <p:spPr>
          <a:xfrm>
            <a:off x="4886325" y="9639300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Track closure and outcome</a:t>
            </a:r>
          </a:p>
        </p:txBody>
      </p:sp>
      <p:sp>
        <p:nvSpPr>
          <p:cNvPr id="98" name="">
            <a:extLst>
              <a:ext uri="{FF2B5EF4-FFF2-40B4-BE49-F238E27FC236}">
                <a16:creationId xmlns:a16="http://schemas.microsoft.com/office/drawing/2014/main" id="{A12B80DA-90FA-4FAD-81B6-089BD40DD11C}"/>
              </a:ext>
            </a:extLst>
          </p:cNvPr>
          <p:cNvSpPr>
            <a:spLocks noGrp="1"/>
          </p:cNvSpPr>
          <p:nvPr/>
        </p:nvSpPr>
        <p:spPr>
          <a:xfrm>
            <a:off x="4743450" y="9972675"/>
            <a:ext cx="114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00" b="1">
                <a:solidFill>
                  <a:srgbClr val="28A596"/>
                </a:solidFill>
              </a:defRPr>
            </a:pPr>
            <a:r>
              <a:rPr sz="600" b="1">
                <a:solidFill>
                  <a:srgbClr val="28A596"/>
                </a:solidFill>
              </a:rPr>
              <a:t>●</a:t>
            </a:r>
          </a:p>
        </p:txBody>
      </p:sp>
      <p:sp>
        <p:nvSpPr>
          <p:cNvPr id="99" name="">
            <a:extLst>
              <a:ext uri="{FF2B5EF4-FFF2-40B4-BE49-F238E27FC236}">
                <a16:creationId xmlns:a16="http://schemas.microsoft.com/office/drawing/2014/main" id="{DCD813E2-CCE1-439B-B5AD-351401376EE1}"/>
              </a:ext>
            </a:extLst>
          </p:cNvPr>
          <p:cNvSpPr>
            <a:spLocks noGrp="1"/>
          </p:cNvSpPr>
          <p:nvPr/>
        </p:nvSpPr>
        <p:spPr>
          <a:xfrm>
            <a:off x="4886325" y="997267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65" b="0">
                <a:solidFill>
                  <a:srgbClr val="183B39"/>
                </a:solidFill>
              </a:defRPr>
            </a:pPr>
            <a:r>
              <a:rPr sz="765" b="0">
                <a:solidFill>
                  <a:srgbClr val="183B39"/>
                </a:solidFill>
              </a:rPr>
              <a:t>Revoke or stop when proof fails</a:t>
            </a:r>
          </a:p>
        </p:txBody>
      </p:sp>
      <p:sp>
        <p:nvSpPr>
          <p:cNvPr id="100" name="">
            <a:extLst>
              <a:ext uri="{FF2B5EF4-FFF2-40B4-BE49-F238E27FC236}">
                <a16:creationId xmlns:a16="http://schemas.microsoft.com/office/drawing/2014/main" id="{AE9EE3CE-9A7B-4530-9AF0-D6C9E82C62CD}"/>
              </a:ext>
            </a:extLst>
          </p:cNvPr>
          <p:cNvSpPr>
            <a:spLocks noGrp="1"/>
          </p:cNvSpPr>
          <p:nvPr/>
        </p:nvSpPr>
        <p:spPr>
          <a:xfrm>
            <a:off x="361950" y="11544300"/>
            <a:ext cx="6134100" cy="571500"/>
          </a:xfrm>
          <a:prstGeom prst="roundRect">
            <a:avLst>
              <a:gd name="adj" fmla="val 16667"/>
            </a:avLst>
          </a:prstGeom>
          <a:solidFill>
            <a:srgbClr val="DFF2ED"/>
          </a:solidFill>
          <a:ln w="9525">
            <a:solidFill>
              <a:srgbClr val="28A596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1" name="">
            <a:extLst>
              <a:ext uri="{FF2B5EF4-FFF2-40B4-BE49-F238E27FC236}">
                <a16:creationId xmlns:a16="http://schemas.microsoft.com/office/drawing/2014/main" id="{8A606262-3EEF-4921-8112-DB2A5099040B}"/>
              </a:ext>
            </a:extLst>
          </p:cNvPr>
          <p:cNvSpPr>
            <a:spLocks noGrp="1"/>
          </p:cNvSpPr>
          <p:nvPr/>
        </p:nvSpPr>
        <p:spPr>
          <a:xfrm>
            <a:off x="43815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EVIDENCE</a:t>
            </a:r>
          </a:p>
        </p:txBody>
      </p:sp>
      <p:sp>
        <p:nvSpPr>
          <p:cNvPr id="102" name="">
            <a:extLst>
              <a:ext uri="{FF2B5EF4-FFF2-40B4-BE49-F238E27FC236}">
                <a16:creationId xmlns:a16="http://schemas.microsoft.com/office/drawing/2014/main" id="{EF3664DB-B3FF-4F7D-9A6A-D4B1DD319897}"/>
              </a:ext>
            </a:extLst>
          </p:cNvPr>
          <p:cNvSpPr>
            <a:spLocks noGrp="1"/>
          </p:cNvSpPr>
          <p:nvPr/>
        </p:nvSpPr>
        <p:spPr>
          <a:xfrm>
            <a:off x="43815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31,355 / 197,740 primary-offtake rows reconciled; 0 missing zone rows; period July 2026; SAH / WD / PDO / OOS not yet field-reconciled</a:t>
            </a:r>
          </a:p>
        </p:txBody>
      </p:sp>
      <p:sp>
        <p:nvSpPr>
          <p:cNvPr id="103" name="">
            <a:extLst>
              <a:ext uri="{FF2B5EF4-FFF2-40B4-BE49-F238E27FC236}">
                <a16:creationId xmlns:a16="http://schemas.microsoft.com/office/drawing/2014/main" id="{3BB07A3F-825F-4C8B-A20C-13699B448B48}"/>
              </a:ext>
            </a:extLst>
          </p:cNvPr>
          <p:cNvSpPr>
            <a:spLocks noGrp="1"/>
          </p:cNvSpPr>
          <p:nvPr/>
        </p:nvSpPr>
        <p:spPr>
          <a:xfrm>
            <a:off x="192405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4" name="">
            <a:extLst>
              <a:ext uri="{FF2B5EF4-FFF2-40B4-BE49-F238E27FC236}">
                <a16:creationId xmlns:a16="http://schemas.microsoft.com/office/drawing/2014/main" id="{C5CB66D1-5395-4799-BCF0-0CD525D68DDD}"/>
              </a:ext>
            </a:extLst>
          </p:cNvPr>
          <p:cNvSpPr>
            <a:spLocks noGrp="1"/>
          </p:cNvSpPr>
          <p:nvPr/>
        </p:nvSpPr>
        <p:spPr>
          <a:xfrm>
            <a:off x="195262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IMPLICATION</a:t>
            </a:r>
          </a:p>
        </p:txBody>
      </p:sp>
      <p:sp>
        <p:nvSpPr>
          <p:cNvPr id="105" name="">
            <a:extLst>
              <a:ext uri="{FF2B5EF4-FFF2-40B4-BE49-F238E27FC236}">
                <a16:creationId xmlns:a16="http://schemas.microsoft.com/office/drawing/2014/main" id="{446D98A0-03BC-4897-8865-D7D15E94C5C7}"/>
              </a:ext>
            </a:extLst>
          </p:cNvPr>
          <p:cNvSpPr>
            <a:spLocks noGrp="1"/>
          </p:cNvSpPr>
          <p:nvPr/>
        </p:nvSpPr>
        <p:spPr>
          <a:xfrm>
            <a:off x="195262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Data coverage is sufficient for chain × zone × brand decisions; article-level causal conclusions need SAH / WD / OOS — acting without them risks wrong root-cause assignments</a:t>
            </a:r>
          </a:p>
        </p:txBody>
      </p:sp>
      <p:sp>
        <p:nvSpPr>
          <p:cNvPr id="106" name="">
            <a:extLst>
              <a:ext uri="{FF2B5EF4-FFF2-40B4-BE49-F238E27FC236}">
                <a16:creationId xmlns:a16="http://schemas.microsoft.com/office/drawing/2014/main" id="{A50CB973-8E48-4BCE-93E6-1363E82B2532}"/>
              </a:ext>
            </a:extLst>
          </p:cNvPr>
          <p:cNvSpPr>
            <a:spLocks noGrp="1"/>
          </p:cNvSpPr>
          <p:nvPr/>
        </p:nvSpPr>
        <p:spPr>
          <a:xfrm>
            <a:off x="3438525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7" name="">
            <a:extLst>
              <a:ext uri="{FF2B5EF4-FFF2-40B4-BE49-F238E27FC236}">
                <a16:creationId xmlns:a16="http://schemas.microsoft.com/office/drawing/2014/main" id="{643678D9-2F79-41FA-9038-745F155FD34B}"/>
              </a:ext>
            </a:extLst>
          </p:cNvPr>
          <p:cNvSpPr>
            <a:spLocks noGrp="1"/>
          </p:cNvSpPr>
          <p:nvPr/>
        </p:nvSpPr>
        <p:spPr>
          <a:xfrm>
            <a:off x="3467100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ACTION</a:t>
            </a:r>
          </a:p>
        </p:txBody>
      </p:sp>
      <p:sp>
        <p:nvSpPr>
          <p:cNvPr id="108" name="">
            <a:extLst>
              <a:ext uri="{FF2B5EF4-FFF2-40B4-BE49-F238E27FC236}">
                <a16:creationId xmlns:a16="http://schemas.microsoft.com/office/drawing/2014/main" id="{51061D16-68C7-4C00-AD98-8ECC53DCBA0F}"/>
              </a:ext>
            </a:extLst>
          </p:cNvPr>
          <p:cNvSpPr>
            <a:spLocks noGrp="1"/>
          </p:cNvSpPr>
          <p:nvPr/>
        </p:nvSpPr>
        <p:spPr>
          <a:xfrm>
            <a:off x="3467100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Publish reconciled SAH / WD fields by 31-Aug; every consequential commercial change requires named human approval before execution</a:t>
            </a:r>
          </a:p>
        </p:txBody>
      </p:sp>
      <p:sp>
        <p:nvSpPr>
          <p:cNvPr id="109" name="">
            <a:extLst>
              <a:ext uri="{FF2B5EF4-FFF2-40B4-BE49-F238E27FC236}">
                <a16:creationId xmlns:a16="http://schemas.microsoft.com/office/drawing/2014/main" id="{24B16DB5-7BAE-4899-BD0F-6B1B06AB5A8B}"/>
              </a:ext>
            </a:extLst>
          </p:cNvPr>
          <p:cNvSpPr>
            <a:spLocks noGrp="1"/>
          </p:cNvSpPr>
          <p:nvPr/>
        </p:nvSpPr>
        <p:spPr>
          <a:xfrm>
            <a:off x="4953000" y="11610975"/>
            <a:ext cx="0" cy="304800"/>
          </a:xfrm>
          <a:prstGeom prst="line">
            <a:avLst/>
          </a:prstGeom>
          <a:ln w="9525">
            <a:solidFill>
              <a:srgbClr val="C8DCD7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0" name="">
            <a:extLst>
              <a:ext uri="{FF2B5EF4-FFF2-40B4-BE49-F238E27FC236}">
                <a16:creationId xmlns:a16="http://schemas.microsoft.com/office/drawing/2014/main" id="{19560BE8-39A8-494E-B064-938ECC334C03}"/>
              </a:ext>
            </a:extLst>
          </p:cNvPr>
          <p:cNvSpPr>
            <a:spLocks noGrp="1"/>
          </p:cNvSpPr>
          <p:nvPr/>
        </p:nvSpPr>
        <p:spPr>
          <a:xfrm>
            <a:off x="4981575" y="1158240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38" b="1">
                <a:solidFill>
                  <a:srgbClr val="116F68"/>
                </a:solidFill>
              </a:defRPr>
            </a:pPr>
            <a:r>
              <a:rPr sz="638" b="1">
                <a:solidFill>
                  <a:srgbClr val="116F68"/>
                </a:solidFill>
              </a:rPr>
              <a:t>OWNER</a:t>
            </a:r>
          </a:p>
        </p:txBody>
      </p:sp>
      <p:sp>
        <p:nvSpPr>
          <p:cNvPr id="111" name="">
            <a:extLst>
              <a:ext uri="{FF2B5EF4-FFF2-40B4-BE49-F238E27FC236}">
                <a16:creationId xmlns:a16="http://schemas.microsoft.com/office/drawing/2014/main" id="{B33B1BE5-9E45-4D3F-9B49-0CF00F5998F0}"/>
              </a:ext>
            </a:extLst>
          </p:cNvPr>
          <p:cNvSpPr>
            <a:spLocks noGrp="1"/>
          </p:cNvSpPr>
          <p:nvPr/>
        </p:nvSpPr>
        <p:spPr>
          <a:xfrm>
            <a:off x="4981575" y="11734800"/>
            <a:ext cx="142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600" b="0">
                <a:solidFill>
                  <a:srgbClr val="183B39"/>
                </a:solidFill>
              </a:defRPr>
            </a:pPr>
            <a:r>
              <a:rPr sz="600" b="0">
                <a:solidFill>
                  <a:srgbClr val="183B39"/>
                </a:solidFill>
              </a:rPr>
              <a:t>Analytics | 31-Aug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