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S-1</c:v>
                  </c:pt>
                  <c:pt idx="2">
                    <c:v>North</c:v>
                  </c:pt>
                  <c:pt idx="3">
                    <c:v>S-2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</c:v>
                </c:pt>
                <c:pt idx="1">
                  <c:v>9.8</c:v>
                </c:pt>
                <c:pt idx="2">
                  <c:v>11.95</c:v>
                </c:pt>
                <c:pt idx="3">
                  <c:v>6.89</c:v>
                </c:pt>
                <c:pt idx="4">
                  <c:v>7.83</c:v>
                </c:pt>
                <c:pt idx="5">
                  <c:v>2.69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S-1</c:v>
                  </c:pt>
                  <c:pt idx="2">
                    <c:v>North</c:v>
                  </c:pt>
                  <c:pt idx="3">
                    <c:v>S-2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8.28</c:v>
                </c:pt>
                <c:pt idx="1">
                  <c:v>8.19</c:v>
                </c:pt>
                <c:pt idx="2">
                  <c:v>6.99</c:v>
                </c:pt>
                <c:pt idx="3">
                  <c:v>4.91</c:v>
                </c:pt>
                <c:pt idx="4">
                  <c:v>3.55</c:v>
                </c:pt>
                <c:pt idx="5">
                  <c:v>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₹ Cr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Reliance</c:v>
                  </c:pt>
                  <c:pt idx="1">
                    <c:v>DMart</c:v>
                  </c:pt>
                  <c:pt idx="2">
                    <c:v>Metro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7.61</c:v>
                </c:pt>
                <c:pt idx="1">
                  <c:v>4.29</c:v>
                </c:pt>
                <c:pt idx="2">
                  <c:v>1.36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900" b="0" i="0" u="none" strike="noStrike">
                <a:solidFill>
                  <a:srgbClr val="B8C4D0"/>
                </a:solidFill>
                <a:latin typeface="Arial"/>
              </a:rPr>
              <a:t>Face Wash Value Share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share (%)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A6E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1B7A6E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invertIfNegative val="0"/>
            <c:bubble3D val="0"/>
            <c:spPr>
              <a:solidFill>
                <a:srgbClr val="1B7A6E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invertIfNegative val="0"/>
            <c:bubble3D val="0"/>
            <c:spPr>
              <a:solidFill>
                <a:srgbClr val="C49A1A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Himalaya</c:v>
                  </c:pt>
                  <c:pt idx="1">
                    <c:v>Garnier</c:v>
                  </c:pt>
                  <c:pt idx="2">
                    <c:v>Pond's</c:v>
                  </c:pt>
                  <c:pt idx="3">
                    <c:v>Mamaearth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22.6</c:v>
                </c:pt>
                <c:pt idx="1">
                  <c:v>14.2</c:v>
                </c:pt>
                <c:pt idx="2">
                  <c:v>13.8</c:v>
                </c:pt>
                <c:pt idx="3">
                  <c:v>10.5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900" b="0" i="0" u="none" strike="noStrike">
                <a:solidFill>
                  <a:srgbClr val="B8C4D0"/>
                </a:solidFill>
                <a:latin typeface="Arial"/>
              </a:rPr>
              <a:t>Shampoo Value Share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share (%)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A6E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1B7A6E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invertIfNegative val="0"/>
            <c:bubble3D val="0"/>
            <c:spPr>
              <a:solidFill>
                <a:srgbClr val="C49A1A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Dove</c:v>
                  </c:pt>
                  <c:pt idx="1">
                    <c:v>H&amp;S</c:v>
                  </c:pt>
                  <c:pt idx="2">
                    <c:v>Mamaearth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16.6</c:v>
                </c:pt>
                <c:pt idx="1">
                  <c:v>13</c:v>
                </c:pt>
                <c:pt idx="2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Mamaearth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</c:v>
                </c:pt>
                <c:pt idx="1">
                  <c:v>2.45</c:v>
                </c:pt>
                <c:pt idx="2">
                  <c:v>2.42</c:v>
                </c:pt>
                <c:pt idx="3">
                  <c:v>2.73</c:v>
                </c:pt>
                <c:pt idx="4">
                  <c:v>2.9</c:v>
                </c:pt>
                <c:pt idx="5">
                  <c:v>2.39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1.33</c:v>
                </c:pt>
                <c:pt idx="1">
                  <c:v>1.55</c:v>
                </c:pt>
                <c:pt idx="2">
                  <c:v>1.59</c:v>
                </c:pt>
                <c:pt idx="3">
                  <c:v>1.64</c:v>
                </c:pt>
                <c:pt idx="4">
                  <c:v>1.79</c:v>
                </c:pt>
                <c:pt idx="5">
                  <c:v>1.53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0.44</c:v>
                </c:pt>
                <c:pt idx="1">
                  <c:v>1.03</c:v>
                </c:pt>
                <c:pt idx="2">
                  <c:v>0.97</c:v>
                </c:pt>
                <c:pt idx="3">
                  <c:v>0.81</c:v>
                </c:pt>
                <c:pt idx="4">
                  <c:v>0.46</c:v>
                </c:pt>
                <c:pt idx="5">
                  <c:v>0.22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The Derma Co.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</c:v>
                </c:pt>
                <c:pt idx="1">
                  <c:v>1.33</c:v>
                </c:pt>
                <c:pt idx="2">
                  <c:v>1.42</c:v>
                </c:pt>
                <c:pt idx="3">
                  <c:v>2.04</c:v>
                </c:pt>
                <c:pt idx="4">
                  <c:v>2.19</c:v>
                </c:pt>
                <c:pt idx="5">
                  <c:v>2.84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0.35</c:v>
                </c:pt>
                <c:pt idx="1">
                  <c:v>0.66</c:v>
                </c:pt>
                <c:pt idx="2">
                  <c:v>0.73</c:v>
                </c:pt>
                <c:pt idx="3">
                  <c:v>1.07</c:v>
                </c:pt>
                <c:pt idx="4">
                  <c:v>0.67</c:v>
                </c:pt>
                <c:pt idx="5">
                  <c:v>0.55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</c:v>
                </c:pt>
                <c:pt idx="1">
                  <c:v>0.17</c:v>
                </c:pt>
                <c:pt idx="2">
                  <c:v>0.2</c:v>
                </c:pt>
                <c:pt idx="3">
                  <c:v>0.17</c:v>
                </c:pt>
                <c:pt idx="4">
                  <c:v>0.16</c:v>
                </c:pt>
                <c:pt idx="5">
                  <c:v>0.22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Mamaearth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0.94</c:v>
                </c:pt>
                <c:pt idx="1">
                  <c:v>1.03</c:v>
                </c:pt>
                <c:pt idx="2">
                  <c:v>1.08</c:v>
                </c:pt>
                <c:pt idx="3">
                  <c:v>1.29</c:v>
                </c:pt>
                <c:pt idx="4">
                  <c:v>1.12</c:v>
                </c:pt>
                <c:pt idx="5">
                  <c:v>1.12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</c:v>
                </c:pt>
                <c:pt idx="1">
                  <c:v>0.95</c:v>
                </c:pt>
                <c:pt idx="2">
                  <c:v>0.96</c:v>
                </c:pt>
                <c:pt idx="3">
                  <c:v>1.21</c:v>
                </c:pt>
                <c:pt idx="4">
                  <c:v>1.28</c:v>
                </c:pt>
                <c:pt idx="5">
                  <c:v>1.23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</c:v>
                </c:pt>
                <c:pt idx="1">
                  <c:v>0.38</c:v>
                </c:pt>
                <c:pt idx="2">
                  <c:v>0.46</c:v>
                </c:pt>
                <c:pt idx="3">
                  <c:v>0.48</c:v>
                </c:pt>
                <c:pt idx="4">
                  <c:v>0.33</c:v>
                </c:pt>
                <c:pt idx="5">
                  <c:v>0.32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The Derma Co.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0.37</c:v>
                </c:pt>
                <c:pt idx="1">
                  <c:v>0.4</c:v>
                </c:pt>
                <c:pt idx="2">
                  <c:v>0.52</c:v>
                </c:pt>
                <c:pt idx="3">
                  <c:v>0.77</c:v>
                </c:pt>
                <c:pt idx="4">
                  <c:v>0.71</c:v>
                </c:pt>
                <c:pt idx="5">
                  <c:v>1.18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</c:v>
                </c:pt>
                <c:pt idx="1">
                  <c:v>0.43</c:v>
                </c:pt>
                <c:pt idx="2">
                  <c:v>0.65</c:v>
                </c:pt>
                <c:pt idx="3">
                  <c:v>0.81</c:v>
                </c:pt>
                <c:pt idx="4">
                  <c:v>0.51</c:v>
                </c:pt>
                <c:pt idx="5">
                  <c:v>0.61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</c:v>
                </c:pt>
                <c:pt idx="1">
                  <c:v>0.15</c:v>
                </c:pt>
                <c:pt idx="2">
                  <c:v>0.17</c:v>
                </c:pt>
                <c:pt idx="3">
                  <c:v>0.19</c:v>
                </c:pt>
                <c:pt idx="4">
                  <c:v>0.19</c:v>
                </c:pt>
                <c:pt idx="5">
                  <c:v>0.19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Mamaearth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1.72</c:v>
                </c:pt>
                <c:pt idx="1">
                  <c:v>2.08</c:v>
                </c:pt>
                <c:pt idx="2">
                  <c:v>2.23</c:v>
                </c:pt>
                <c:pt idx="3">
                  <c:v>2.43</c:v>
                </c:pt>
                <c:pt idx="4">
                  <c:v>2.28</c:v>
                </c:pt>
                <c:pt idx="5">
                  <c:v>2.09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1.22</c:v>
                </c:pt>
                <c:pt idx="1">
                  <c:v>1.33</c:v>
                </c:pt>
                <c:pt idx="2">
                  <c:v>1.63</c:v>
                </c:pt>
                <c:pt idx="3">
                  <c:v>1.75</c:v>
                </c:pt>
                <c:pt idx="4">
                  <c:v>1.68</c:v>
                </c:pt>
                <c:pt idx="5">
                  <c:v>1.68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0.39</c:v>
                </c:pt>
                <c:pt idx="1">
                  <c:v>0.66</c:v>
                </c:pt>
                <c:pt idx="2">
                  <c:v>0.77</c:v>
                </c:pt>
                <c:pt idx="3">
                  <c:v>0.79</c:v>
                </c:pt>
                <c:pt idx="4">
                  <c:v>0.56</c:v>
                </c:pt>
                <c:pt idx="5">
                  <c:v>0.35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The Derma Co.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</c:v>
                </c:pt>
                <c:pt idx="1">
                  <c:v>0.66</c:v>
                </c:pt>
                <c:pt idx="2">
                  <c:v>0.74</c:v>
                </c:pt>
                <c:pt idx="3">
                  <c:v>1.09</c:v>
                </c:pt>
                <c:pt idx="4">
                  <c:v>1.11</c:v>
                </c:pt>
                <c:pt idx="5">
                  <c:v>1.41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</c:v>
                </c:pt>
                <c:pt idx="1">
                  <c:v>0.42</c:v>
                </c:pt>
                <c:pt idx="2">
                  <c:v>0.48</c:v>
                </c:pt>
                <c:pt idx="3">
                  <c:v>0.71</c:v>
                </c:pt>
                <c:pt idx="4">
                  <c:v>0.51</c:v>
                </c:pt>
                <c:pt idx="5">
                  <c:v>0.36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0.07</c:v>
                </c:pt>
                <c:pt idx="1">
                  <c:v>0.1</c:v>
                </c:pt>
                <c:pt idx="2">
                  <c:v>0.11</c:v>
                </c:pt>
                <c:pt idx="3">
                  <c:v>0.11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Mamaearth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0.73</c:v>
                </c:pt>
                <c:pt idx="1">
                  <c:v>0.89</c:v>
                </c:pt>
                <c:pt idx="2">
                  <c:v>0.89</c:v>
                </c:pt>
                <c:pt idx="3">
                  <c:v>1.08</c:v>
                </c:pt>
                <c:pt idx="4">
                  <c:v>1.23</c:v>
                </c:pt>
                <c:pt idx="5">
                  <c:v>1.04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</c:v>
                </c:pt>
                <c:pt idx="1">
                  <c:v>0.78</c:v>
                </c:pt>
                <c:pt idx="2">
                  <c:v>0.84</c:v>
                </c:pt>
                <c:pt idx="3">
                  <c:v>0.87</c:v>
                </c:pt>
                <c:pt idx="4">
                  <c:v>1</c:v>
                </c:pt>
                <c:pt idx="5">
                  <c:v>0.94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</c:v>
                </c:pt>
                <c:pt idx="1">
                  <c:v>0.25</c:v>
                </c:pt>
                <c:pt idx="2">
                  <c:v>0.28</c:v>
                </c:pt>
                <c:pt idx="3">
                  <c:v>0.29</c:v>
                </c:pt>
                <c:pt idx="4">
                  <c:v>0.2</c:v>
                </c:pt>
                <c:pt idx="5">
                  <c:v>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The Derma Co.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</c:v>
                </c:pt>
                <c:pt idx="1">
                  <c:v>0.19</c:v>
                </c:pt>
                <c:pt idx="2">
                  <c:v>0.29</c:v>
                </c:pt>
                <c:pt idx="3">
                  <c:v>0.48</c:v>
                </c:pt>
                <c:pt idx="4">
                  <c:v>0.5</c:v>
                </c:pt>
                <c:pt idx="5">
                  <c:v>0.56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0.09</c:v>
                </c:pt>
                <c:pt idx="1">
                  <c:v>0.13</c:v>
                </c:pt>
                <c:pt idx="2">
                  <c:v>0.17</c:v>
                </c:pt>
                <c:pt idx="3">
                  <c:v>0.36</c:v>
                </c:pt>
                <c:pt idx="4">
                  <c:v>0.2</c:v>
                </c:pt>
                <c:pt idx="5">
                  <c:v>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0.04</c:v>
                </c:pt>
                <c:pt idx="2">
                  <c:v>0.05</c:v>
                </c:pt>
                <c:pt idx="3">
                  <c:v>0.05</c:v>
                </c:pt>
                <c:pt idx="4">
                  <c:v>0.04</c:v>
                </c:pt>
                <c:pt idx="5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Mamaearth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</c:v>
                </c:pt>
                <c:pt idx="1">
                  <c:v>0.99</c:v>
                </c:pt>
                <c:pt idx="2">
                  <c:v>1</c:v>
                </c:pt>
                <c:pt idx="3">
                  <c:v>1.15</c:v>
                </c:pt>
                <c:pt idx="4">
                  <c:v>1.05</c:v>
                </c:pt>
                <c:pt idx="5">
                  <c:v>1.34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0.62</c:v>
                </c:pt>
                <c:pt idx="1">
                  <c:v>0.66</c:v>
                </c:pt>
                <c:pt idx="2">
                  <c:v>0.95</c:v>
                </c:pt>
                <c:pt idx="3">
                  <c:v>1.07</c:v>
                </c:pt>
                <c:pt idx="4">
                  <c:v>0.96</c:v>
                </c:pt>
                <c:pt idx="5">
                  <c:v>1.18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0.15</c:v>
                </c:pt>
                <c:pt idx="1">
                  <c:v>0.16</c:v>
                </c:pt>
                <c:pt idx="2">
                  <c:v>0.25</c:v>
                </c:pt>
                <c:pt idx="3">
                  <c:v>0.3</c:v>
                </c:pt>
                <c:pt idx="4">
                  <c:v>0.19</c:v>
                </c:pt>
                <c:pt idx="5">
                  <c:v>0.19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The Derma Co.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</c:v>
                </c:pt>
                <c:pt idx="1">
                  <c:v>0.08</c:v>
                </c:pt>
                <c:pt idx="2">
                  <c:v>0.12</c:v>
                </c:pt>
                <c:pt idx="3">
                  <c:v>0.11</c:v>
                </c:pt>
                <c:pt idx="4">
                  <c:v>0.15</c:v>
                </c:pt>
                <c:pt idx="5">
                  <c:v>0.47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0.06</c:v>
                </c:pt>
                <c:pt idx="1">
                  <c:v>0.06</c:v>
                </c:pt>
                <c:pt idx="2">
                  <c:v>0.09</c:v>
                </c:pt>
                <c:pt idx="3">
                  <c:v>0.1</c:v>
                </c:pt>
                <c:pt idx="4">
                  <c:v>0.07</c:v>
                </c:pt>
                <c:pt idx="5">
                  <c:v>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0.03</c:v>
                </c:pt>
                <c:pt idx="2">
                  <c:v>0.04</c:v>
                </c:pt>
                <c:pt idx="3">
                  <c:v>0.05</c:v>
                </c:pt>
                <c:pt idx="4">
                  <c:v>0.07</c:v>
                </c:pt>
                <c:pt idx="5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Mamaearth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The Derma Co.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50" b="0" i="0" u="none" strike="noStrike">
                <a:solidFill>
                  <a:srgbClr val="B8C4D0"/>
                </a:solidFill>
                <a:latin typeface="Arial"/>
              </a:rPr>
              <a:t>FSN/Nykaa offtake trend (₹ Cr) — Jan to Jul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FSN/Nykaa Offtake (₹ Cr)</c:v>
                </c:pt>
              </c:strCache>
            </c:strRef>
          </c:tx>
          <c:spPr>
            <a:solidFill>
              <a:srgbClr val="C49A1A"/>
            </a:solidFill>
            <a:ln w="38100" cap="flat">
              <a:solidFill>
                <a:srgbClr val="C49A1A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49A1A"/>
              </a:solidFill>
              <a:ln w="9525" cap="flat">
                <a:solidFill>
                  <a:srgbClr val="C49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1.64</c:v>
                </c:pt>
                <c:pt idx="1">
                  <c:v>1.68</c:v>
                </c:pt>
                <c:pt idx="2">
                  <c:v>1.73</c:v>
                </c:pt>
                <c:pt idx="3">
                  <c:v>2.29</c:v>
                </c:pt>
                <c:pt idx="4">
                  <c:v>2.08</c:v>
                </c:pt>
                <c:pt idx="5">
                  <c:v>2.17</c:v>
                </c:pt>
                <c:pt idx="6">
                  <c:v>2.07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2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50" b="0" i="0" u="none" strike="noStrike">
                <a:solidFill>
                  <a:srgbClr val="B8C4D0"/>
                </a:solidFill>
                <a:latin typeface="Arial"/>
              </a:rPr>
              <a:t>Active FSN/Nykaa EANs — Jan to Jul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solidFill>
              <a:srgbClr val="1B7A6E"/>
            </a:solidFill>
            <a:ln w="38100" cap="flat">
              <a:solidFill>
                <a:srgbClr val="1B7A6E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7A6E"/>
              </a:solidFill>
              <a:ln w="9525" cap="flat">
                <a:solidFill>
                  <a:srgbClr val="1B7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2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B8C4D0"/>
                </a:solidFill>
                <a:latin typeface="Arial"/>
              </a:rPr>
              <a:t>Seven-month offtake trend (₹ Cr)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FSN/Nykaa Offtake (₹ Cr)</c:v>
                </c:pt>
              </c:strCache>
            </c:strRef>
          </c:tx>
          <c:spPr>
            <a:solidFill>
              <a:srgbClr val="C49A1A"/>
            </a:solidFill>
            <a:ln w="38100" cap="flat">
              <a:solidFill>
                <a:srgbClr val="C49A1A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9A1A"/>
              </a:solidFill>
              <a:ln w="9525" cap="flat">
                <a:solidFill>
                  <a:srgbClr val="C49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1.64</c:v>
                </c:pt>
                <c:pt idx="1">
                  <c:v>1.68</c:v>
                </c:pt>
                <c:pt idx="2">
                  <c:v>1.73</c:v>
                </c:pt>
                <c:pt idx="3">
                  <c:v>2.29</c:v>
                </c:pt>
                <c:pt idx="4">
                  <c:v>2.08</c:v>
                </c:pt>
                <c:pt idx="5">
                  <c:v>2.17</c:v>
                </c:pt>
                <c:pt idx="6">
                  <c:v>2.07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2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50" b="0" i="0" u="none" strike="noStrike">
                <a:solidFill>
                  <a:srgbClr val="B8C4D0"/>
                </a:solidFill>
                <a:latin typeface="Arial"/>
              </a:rPr>
              <a:t>Zone NPI contribution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contribution (%)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North</c:v>
                  </c:pt>
                  <c:pt idx="1">
                    <c:v>South-1</c:v>
                  </c:pt>
                  <c:pt idx="2">
                    <c:v>West</c:v>
                  </c:pt>
                  <c:pt idx="3">
                    <c:v>East</c:v>
                  </c:pt>
                  <c:pt idx="4">
                    <c:v>South-2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9.2</c:v>
                </c:pt>
                <c:pt idx="1">
                  <c:v>7.9</c:v>
                </c:pt>
                <c:pt idx="2">
                  <c:v>6.6</c:v>
                </c:pt>
                <c:pt idx="3">
                  <c:v>10.2</c:v>
                </c:pt>
                <c:pt idx="4">
                  <c:v>6.4</c:v>
                </c:pt>
                <c:pt idx="5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50" b="0" i="0" u="none" strike="noStrike">
                <a:solidFill>
                  <a:srgbClr val="B8C4D0"/>
                </a:solidFill>
                <a:latin typeface="Arial"/>
              </a:rPr>
              <a:t>Chain NPI sales (₹ lakh)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sales (₹ lakh)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Reliance</c:v>
                  </c:pt>
                  <c:pt idx="1">
                    <c:v>DMart</c:v>
                  </c:pt>
                  <c:pt idx="2">
                    <c:v>Lulu</c:v>
                  </c:pt>
                  <c:pt idx="3">
                    <c:v>FSN/Nykaa</c:v>
                  </c:pt>
                  <c:pt idx="4">
                    <c:v>H&amp;G</c:v>
                  </c:pt>
                  <c:pt idx="5">
                    <c:v>Metro</c:v>
                  </c:pt>
                  <c:pt idx="6">
                    <c:v>WF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130.5</c:v>
                </c:pt>
                <c:pt idx="1">
                  <c:v>97.7</c:v>
                </c:pt>
                <c:pt idx="2">
                  <c:v>18</c:v>
                </c:pt>
                <c:pt idx="3">
                  <c:v>12.9</c:v>
                </c:pt>
                <c:pt idx="4">
                  <c:v>5.9</c:v>
                </c:pt>
                <c:pt idx="5">
                  <c:v>5</c:v>
                </c:pt>
                <c:pt idx="6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900" b="0" i="0" u="none" strike="noStrike">
                <a:solidFill>
                  <a:srgbClr val="B8C4D0"/>
                </a:solidFill>
                <a:latin typeface="Arial"/>
              </a:rPr>
              <a:t>Top chain flow (₹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FSN/Nykaa</c:v>
                  </c:pt>
                  <c:pt idx="4">
                    <c:v>Lulu</c:v>
                  </c:pt>
                  <c:pt idx="5">
                    <c:v>WF</c:v>
                  </c:pt>
                  <c:pt idx="6">
                    <c:v>H&amp;G</c:v>
                  </c:pt>
                  <c:pt idx="7">
                    <c:v>Metro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</c:v>
                </c:pt>
                <c:pt idx="1">
                  <c:v>15.66</c:v>
                </c:pt>
                <c:pt idx="2">
                  <c:v>7.2</c:v>
                </c:pt>
                <c:pt idx="3">
                  <c:v>2.08</c:v>
                </c:pt>
                <c:pt idx="4">
                  <c:v>0</c:v>
                </c:pt>
                <c:pt idx="5">
                  <c:v>0.49</c:v>
                </c:pt>
                <c:pt idx="6">
                  <c:v>0.22</c:v>
                </c:pt>
                <c:pt idx="7">
                  <c:v>1.84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FSN/Nykaa</c:v>
                  </c:pt>
                  <c:pt idx="4">
                    <c:v>Lulu</c:v>
                  </c:pt>
                  <c:pt idx="5">
                    <c:v>WF</c:v>
                  </c:pt>
                  <c:pt idx="6">
                    <c:v>H&amp;G</c:v>
                  </c:pt>
                  <c:pt idx="7">
                    <c:v>Metro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13.97</c:v>
                </c:pt>
                <c:pt idx="1">
                  <c:v>8.06</c:v>
                </c:pt>
                <c:pt idx="2">
                  <c:v>7.18</c:v>
                </c:pt>
                <c:pt idx="3">
                  <c:v>2.07</c:v>
                </c:pt>
                <c:pt idx="4">
                  <c:v>1.7</c:v>
                </c:pt>
                <c:pt idx="5">
                  <c:v>0.72</c:v>
                </c:pt>
                <c:pt idx="6">
                  <c:v>0.51</c:v>
                </c:pt>
                <c:pt idx="7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900" b="0" i="0" u="none" strike="noStrike">
                <a:solidFill>
                  <a:srgbClr val="B8C4D0"/>
                </a:solidFill>
                <a:latin typeface="Arial"/>
              </a:rPr>
              <a:t>Brand primary vs offtake (₹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  <c:pt idx="3">
                    <c:v>BBlunt</c:v>
                  </c:pt>
                  <c:pt idx="4">
                    <c:v>Dr. Sheth's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33.38</c:v>
                </c:pt>
                <c:pt idx="1">
                  <c:v>15.19</c:v>
                </c:pt>
                <c:pt idx="2">
                  <c:v>0.41</c:v>
                </c:pt>
                <c:pt idx="3">
                  <c:v>0.18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  <c:pt idx="3">
                    <c:v>BBlunt</c:v>
                  </c:pt>
                  <c:pt idx="4">
                    <c:v>Dr. Sheth's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24.49</c:v>
                </c:pt>
                <c:pt idx="1">
                  <c:v>11.03</c:v>
                </c:pt>
                <c:pt idx="2">
                  <c:v>0.48</c:v>
                </c:pt>
                <c:pt idx="3">
                  <c:v>0.06</c:v>
                </c:pt>
                <c:pt idx="4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Mamaearth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8C4D0"/>
                </a:solidFill>
                <a:latin typeface="Arial"/>
              </a:defRPr>
            </a:pPr>
            <a:r>
              <a:rPr sz="800" b="0" i="0" u="none" strike="noStrike">
                <a:solidFill>
                  <a:srgbClr val="B8C4D0"/>
                </a:solidFill>
                <a:latin typeface="Arial"/>
              </a:rPr>
              <a:t>The Derma Co. — top 3 sub-categories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C49A1A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1B7A6E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C0392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 26</c:v>
                  </c:pt>
                  <c:pt idx="1">
                    <c:v>Mar 26</c:v>
                  </c:pt>
                  <c:pt idx="2">
                    <c:v>Apr 26</c:v>
                  </c:pt>
                  <c:pt idx="3">
                    <c:v>May 26</c:v>
                  </c:pt>
                  <c:pt idx="4">
                    <c:v>Jun 26</c:v>
                  </c:pt>
                  <c:pt idx="5">
                    <c:v>Jul 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chart" Target="/ppt/charts/chart24.xml"/><Relationship Id="rId3" Type="http://schemas.openxmlformats.org/officeDocument/2006/relationships/chart" Target="/ppt/charts/chart2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MODERN TRADE GROWTH COMMAND CENTER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30352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00572"/>
            <a:ext cx="2798064" cy="14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39012"/>
            <a:ext cx="2798064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MT+eB2B+SIS combined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9544" y="841248"/>
            <a:ext cx="2907792" cy="530352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86968"/>
            <a:ext cx="2798064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64408" y="1100572"/>
            <a:ext cx="2798064" cy="14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64408" y="1239012"/>
            <a:ext cx="2798064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90488" y="841248"/>
            <a:ext cx="2907792" cy="530352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886968"/>
            <a:ext cx="2798064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₹13.11 Cr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45352" y="1100572"/>
            <a:ext cx="2798064" cy="14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45352" y="1239012"/>
            <a:ext cx="2798064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171432" y="841248"/>
            <a:ext cx="2907792" cy="530352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26296" y="886968"/>
            <a:ext cx="2798064" cy="2227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226296" y="1100572"/>
            <a:ext cx="2798064" cy="14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DMart+Reliance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226296" y="1239012"/>
            <a:ext cx="2798064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₹11.89 Cr of ₹13.11 Cr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28600" y="1435608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" y="143560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SALES FLOW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42232" y="1435608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142232" y="143560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GAP CONCENTRATION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55864" y="1435608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8" name="Text 26"/>
          <p:cNvSpPr/>
          <p:nvPr/>
        </p:nvSpPr>
        <p:spPr>
          <a:xfrm>
            <a:off x="8055864" y="143560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MANAGEMENT PRIORITY</a:t>
            </a:r>
            <a:endParaRPr lang="en-US" sz="8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228600" y="1673352"/>
          <a:ext cx="3877056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0" name="Chart 1" descr=""/>
          <p:cNvGraphicFramePr/>
          <p:nvPr/>
        </p:nvGraphicFramePr>
        <p:xfrm>
          <a:off x="4142232" y="1673352"/>
          <a:ext cx="3877056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 27"/>
          <p:cNvSpPr/>
          <p:nvPr/>
        </p:nvSpPr>
        <p:spPr>
          <a:xfrm>
            <a:off x="8055864" y="1673352"/>
            <a:ext cx="3877056" cy="199339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+ East hold 70.5% of the gap.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deliver 45.6% of offtake.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hero-SKU OSA while closing weak chain-zone exceptions.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Apollo and FSN/Nykaa as flow-governance benchmarks.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chain × zone × EAN exceptions weekly.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 conversion | ₹13.11 Cr gap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28600" y="3712464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3" name="Text 29"/>
          <p:cNvSpPr/>
          <p:nvPr/>
        </p:nvSpPr>
        <p:spPr>
          <a:xfrm>
            <a:off x="228600" y="371246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GEOGRAPHIC ENGINES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142232" y="3712464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5" name="Text 31"/>
          <p:cNvSpPr/>
          <p:nvPr/>
        </p:nvSpPr>
        <p:spPr>
          <a:xfrm>
            <a:off x="4142232" y="371246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PORTFOLIO ENGINES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8055864" y="3712464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7" name="Text 33"/>
          <p:cNvSpPr/>
          <p:nvPr/>
        </p:nvSpPr>
        <p:spPr>
          <a:xfrm>
            <a:off x="8055864" y="371246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ACCOUNT SIGNALS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228600" y="3950208"/>
            <a:ext cx="3877056" cy="118872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₹8.28 Cr at 82.3% conversion.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South-1: ₹8.19 Cr at 83.6%.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North: ₹4.97 Cr gap; largest recovery pool.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 45.3% conversion; weakest flow.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strong-zone availability cadence selectively.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142232" y="3950208"/>
            <a:ext cx="3877056" cy="118872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 of offtake from Mamaearth + The Derma Co.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₹24.49 Cr | 73.4% conversion.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₹11.03 Cr | ₹4.16 Cr gap.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Face Cleanser ₹8.53 Cr in July.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₹7.13 Cr in July.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8055864" y="3950208"/>
            <a:ext cx="3877056" cy="118872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₹13.97 Cr | 76.5% conversion.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₹8.06 Cr | 51.4% conversion.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99.7% conversion — benchmark cadence.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₹2.07 Cr combined.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&gt;100% account flows as timing/stock signals, not success claims.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28600" y="5193792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2" name="Text 38"/>
          <p:cNvSpPr/>
          <p:nvPr/>
        </p:nvSpPr>
        <p:spPr>
          <a:xfrm>
            <a:off x="228600" y="519379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90-DAY COMMERCIAL MOVES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142232" y="5193792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4" name="Text 40"/>
          <p:cNvSpPr/>
          <p:nvPr/>
        </p:nvSpPr>
        <p:spPr>
          <a:xfrm>
            <a:off x="4142232" y="519379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LEADERSHIP SCOREBOARD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8055864" y="5193792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6" name="Text 42"/>
          <p:cNvSpPr/>
          <p:nvPr/>
        </p:nvSpPr>
        <p:spPr>
          <a:xfrm>
            <a:off x="8055864" y="519379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DECISION SAFEGUARDS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228600" y="5431536"/>
            <a:ext cx="3877056" cy="80467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validate mappings and publish exception list.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fix North/East hero-SKU OSA.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close DMart South-2 and Reliance North/East.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conversion.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142232" y="5431536"/>
            <a:ext cx="3877056" cy="80467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conversion: move toward &gt;90%.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+ Reliance gap: close 50% with named owners.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OSA: maintain &gt;95% in priority stores.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gaps: decline every week.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8055864" y="5431536"/>
            <a:ext cx="3877056" cy="80467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closing inventory or stock cover.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matched comparator data.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loading rules when offtake proof fails.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combined at article level.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REPORTING INTO A STATE × CHAIN × SKU GROWTH ENGINE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source-backed measures plus clearly labelled diagnostic extensions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841248"/>
            <a:ext cx="1173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not "push more primary"; it is "find proven demand constrained by execution."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115568"/>
            <a:ext cx="11731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validated July flow measures now; add SAH, PDO, OOS and stock fields only after reconciliation.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408176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4081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GROWTH EQUATION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42232" y="1408176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142232" y="14081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SAH × SHARE DIAGNOSIS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55864" y="1408176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055864" y="14081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DISTRIBUTION PRODUCTIVITY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1664208"/>
            <a:ext cx="3877056" cy="128016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white space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and pack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recovery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scaling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productivity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42232" y="1664208"/>
            <a:ext cx="3877056" cy="128016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SAH + low share: test distribution constraint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SAH + high WD: fix proposition/range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conclusions require field reconciliation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55864" y="1664208"/>
            <a:ext cx="3877056" cy="128016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MS ÷ WD · Higher SPD means each point works harder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SPD with PDO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WD + high PDO is the priority test cell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999232"/>
            <a:ext cx="219456" cy="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999232"/>
            <a:ext cx="21945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999232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299923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FACE WASH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42232" y="2999232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142232" y="299923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SHAMPOO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55864" y="2999232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5" name="Text 23"/>
          <p:cNvSpPr/>
          <p:nvPr/>
        </p:nvSpPr>
        <p:spPr>
          <a:xfrm>
            <a:off x="8055864" y="299923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HERO-SKU AVAILABILITY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8600" y="3255264"/>
            <a:ext cx="3877056" cy="100584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strength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Rice and Ubtan heroes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only where demand signals are proven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availability before blanket discounting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42232" y="3255264"/>
            <a:ext cx="3877056" cy="100584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headroom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Onion and Rosemary heroes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variant × pack × state × chain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full-range rollout without productivity proof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55864" y="3255264"/>
            <a:ext cx="3877056" cy="100584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Must-stock first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only SKU count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#1 hero should fail assortment score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315968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431596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PACK ARCHITECTURE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42232" y="4315968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142232" y="431596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MARKET × FLOW RULE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55864" y="4315968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4" name="Text 32"/>
          <p:cNvSpPr/>
          <p:nvPr/>
        </p:nvSpPr>
        <p:spPr>
          <a:xfrm>
            <a:off x="8055864" y="431596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₹ WHITE-SPACE SIZE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4572000"/>
            <a:ext cx="3877056" cy="10972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 · Core-volume pack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Premium/value-upgrade pack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or low-productivity pack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 every format every pack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42232" y="4572000"/>
            <a:ext cx="3877056" cy="10972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↑ + offtake ↑: scale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↑ + offtake weak: stop loading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↑ + supply weak: replenish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↓: validate competitor/OOS transfer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55864" y="4572000"/>
            <a:ext cx="3877056" cy="10972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× PDO = potential white space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stores − current productive stores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benchmark monthly PDO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 only after a controlled pilot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actions by ₹ and named owner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IS GAINING SHARE IN BOTH STRATEGIC CATEGORIES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market share | Nielsen RMS | value share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3657600" cy="65836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3547872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54339"/>
            <a:ext cx="3547872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Value Share  #4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335024"/>
            <a:ext cx="3547872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| +3.1 pp YoY | L3M +58.2% YoY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68496" y="841248"/>
            <a:ext cx="3657600" cy="65836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886968"/>
            <a:ext cx="3547872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023360" y="1154339"/>
            <a:ext cx="3547872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Value Share  #7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23360" y="1335024"/>
            <a:ext cx="3547872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 pp YoY | L3M +80.3% YoY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708392" y="841248"/>
            <a:ext cx="3657600" cy="65836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63256" y="886968"/>
            <a:ext cx="3547872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63256" y="1154339"/>
            <a:ext cx="3547872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Share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63256" y="1335024"/>
            <a:ext cx="3547872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 pp YoY | WD 27.3%</a:t>
            </a:r>
            <a:endParaRPr lang="en-US" sz="7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28600" y="1591056"/>
          <a:ext cx="3657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Chart 1" descr=""/>
          <p:cNvGraphicFramePr/>
          <p:nvPr/>
        </p:nvGraphicFramePr>
        <p:xfrm>
          <a:off x="3968496" y="1591056"/>
          <a:ext cx="3657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7708392" y="1591056"/>
            <a:ext cx="365760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2" name="Text 18"/>
          <p:cNvSpPr/>
          <p:nvPr/>
        </p:nvSpPr>
        <p:spPr>
          <a:xfrm>
            <a:off x="7708392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GROWTH, DISTRIBUTION AND PACK OPPORTUNITY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708392" y="1847088"/>
            <a:ext cx="3657600" cy="212140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Wash: Mamaearth L3M growth +58.2% YoY, 89.0% weighted distribution (+6.0 pp).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Mamaearth L3M growth +80.3% YoY, 81.5% weighted distribution (+4.4 pp).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Wash 27.3% weighted distribution; scale selectively with store productivity proof.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missing packs = 5% of category value; prioritize 240 ml and 60 ml.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misses 12 of 16 formats (66% of category value); pilot the largest formats.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WASH: 7/16 established | 2 newly entered | 7 missing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3/16 established | 1 newly entered | 12 missing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Nielsen RMS Jun-26 · Market_Share_By_PackSize_June26.pptx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HIGH-CONVERSION ZONES CAN FUND FOCUSED INTERVENTION IN NORTH AND EAST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action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1645920" cy="34747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9326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Zone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11096" y="932688"/>
            <a:ext cx="1280160" cy="34747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0" name="Text 8"/>
          <p:cNvSpPr/>
          <p:nvPr/>
        </p:nvSpPr>
        <p:spPr>
          <a:xfrm>
            <a:off x="1911096" y="932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Primary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932688"/>
            <a:ext cx="1280160" cy="34747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932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Offtake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44568" y="932688"/>
            <a:ext cx="914400" cy="34747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44568" y="932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Mix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95544" y="932688"/>
            <a:ext cx="914400" cy="34747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495544" y="932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Conv.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932688"/>
            <a:ext cx="914400" cy="34747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9326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Gap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97496" y="932688"/>
            <a:ext cx="1097280" cy="34747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0" name="Text 18"/>
          <p:cNvSpPr/>
          <p:nvPr/>
        </p:nvSpPr>
        <p:spPr>
          <a:xfrm>
            <a:off x="7397496" y="9326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1316736"/>
            <a:ext cx="164592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1316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11096" y="1316736"/>
            <a:ext cx="128016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11096" y="1316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₹10.05 Cr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1316736"/>
            <a:ext cx="128016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13167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₹8.28 Cr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44568" y="1316736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1316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95544" y="1316736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95544" y="1316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46520" y="1316736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1316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₹1.78 Cr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97496" y="1316736"/>
            <a:ext cx="109728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97496" y="13167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1700784"/>
            <a:ext cx="164592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17007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11096" y="1700784"/>
            <a:ext cx="128016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11096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₹9.8 Cr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27832" y="1700784"/>
            <a:ext cx="128016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27832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₹8.19 Cr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44568" y="1700784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4568" y="1700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95544" y="1700784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95544" y="1700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46520" y="1700784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1700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₹1.61 Cr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97496" y="1700784"/>
            <a:ext cx="109728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97496" y="17007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2084832"/>
            <a:ext cx="164592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911096" y="2084832"/>
            <a:ext cx="128016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11096" y="20848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₹11.95 Cr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27832" y="2084832"/>
            <a:ext cx="128016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27832" y="20848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₹6.99 Cr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44568" y="2084832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44568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495544" y="2084832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95544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46520" y="2084832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4652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₹4.97 Cr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97496" y="2084832"/>
            <a:ext cx="109728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97496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28600" y="2468880"/>
            <a:ext cx="164592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911096" y="2468880"/>
            <a:ext cx="128016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11096" y="2468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₹6.89 Cr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27832" y="2468880"/>
            <a:ext cx="128016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27832" y="2468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₹4.91 Cr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544568" y="2468880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44568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95544" y="2468880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95544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46520" y="2468880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468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₹1.98 Cr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397496" y="2468880"/>
            <a:ext cx="109728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97496" y="2468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28600" y="2852928"/>
            <a:ext cx="164592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8600" y="2852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911096" y="2852928"/>
            <a:ext cx="128016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11096" y="2852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₹7.83 Cr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227832" y="2852928"/>
            <a:ext cx="128016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27832" y="2852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₹3.55 Cr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44568" y="2852928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44568" y="28529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495544" y="2852928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95544" y="28529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446520" y="2852928"/>
            <a:ext cx="91440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46520" y="28529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₹4.28 Cr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397496" y="2852928"/>
            <a:ext cx="1097280" cy="347472"/>
          </a:xfrm>
          <a:prstGeom prst="rect">
            <a:avLst/>
          </a:prstGeom>
          <a:solidFill>
            <a:srgbClr val="1A0B0B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97496" y="2852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28600" y="3236976"/>
            <a:ext cx="164592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8600" y="32369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1911096" y="3236976"/>
            <a:ext cx="128016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11096" y="3236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₹2.69 Cr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3227832" y="3236976"/>
            <a:ext cx="128016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27832" y="32369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₹2.12 Cr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544568" y="3236976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44568" y="32369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495544" y="3236976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95544" y="32369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446520" y="3236976"/>
            <a:ext cx="91440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446520" y="32369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₹0.57 Cr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397496" y="3236976"/>
            <a:ext cx="1097280" cy="347472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397496" y="32369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8732520" y="932688"/>
            <a:ext cx="3456432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06" name="Text 104"/>
          <p:cNvSpPr/>
          <p:nvPr/>
        </p:nvSpPr>
        <p:spPr>
          <a:xfrm>
            <a:off x="8732520" y="9326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PORTFOLIO ACTIONS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732520" y="1188720"/>
            <a:ext cx="3456432" cy="20116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Protect: West, South-1 and Central — maintain hero-SKU availability and avoid unnecessary loading.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South-2 — isolate the DMart gap while sustaining Apollo and Reliance throughput.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North and East — run weekly chain-zone gap closure with named owners and SKU-level exceptions.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Separate: Pan India / FSN — maintain a distinct e-commerce flow view because geographic primary is unavailable.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28600" y="3621024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09" name="Text 107"/>
          <p:cNvSpPr/>
          <p:nvPr/>
        </p:nvSpPr>
        <p:spPr>
          <a:xfrm>
            <a:off x="228600" y="362102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PROTECT ENGINES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142232" y="3621024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11" name="Text 109"/>
          <p:cNvSpPr/>
          <p:nvPr/>
        </p:nvSpPr>
        <p:spPr>
          <a:xfrm>
            <a:off x="4142232" y="362102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WATCH FLOW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055864" y="3621024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13" name="Text 111"/>
          <p:cNvSpPr/>
          <p:nvPr/>
        </p:nvSpPr>
        <p:spPr>
          <a:xfrm>
            <a:off x="8055864" y="362102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FIX CONCENTRATION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28600" y="3877056"/>
            <a:ext cx="3877056" cy="91440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83464" y="392277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</a:t>
            </a:r>
            <a:endParaRPr lang="en-US" sz="2100" dirty="0"/>
          </a:p>
        </p:txBody>
      </p:sp>
      <p:sp>
        <p:nvSpPr>
          <p:cNvPr id="116" name="Text 114"/>
          <p:cNvSpPr/>
          <p:nvPr/>
        </p:nvSpPr>
        <p:spPr>
          <a:xfrm>
            <a:off x="283464" y="4297680"/>
            <a:ext cx="3767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₹16.47 Cr offtake | defend hero-SKU OSA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283464" y="4562856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82–84% | benchmark achieved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4142232" y="3877056"/>
            <a:ext cx="3877056" cy="91440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197096" y="392277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2100" dirty="0"/>
          </a:p>
        </p:txBody>
      </p:sp>
      <p:sp>
        <p:nvSpPr>
          <p:cNvPr id="120" name="Text 118"/>
          <p:cNvSpPr/>
          <p:nvPr/>
        </p:nvSpPr>
        <p:spPr>
          <a:xfrm>
            <a:off x="4197096" y="4297680"/>
            <a:ext cx="3767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₹1.98 Cr gap | isolate DMart exceptions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4197096" y="4562856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148.5% → investigate stock cover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8055864" y="3877056"/>
            <a:ext cx="3877056" cy="91440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110728" y="392277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+ East</a:t>
            </a:r>
            <a:endParaRPr lang="en-US" sz="2100" dirty="0"/>
          </a:p>
        </p:txBody>
      </p:sp>
      <p:sp>
        <p:nvSpPr>
          <p:cNvPr id="124" name="Text 122"/>
          <p:cNvSpPr/>
          <p:nvPr/>
        </p:nvSpPr>
        <p:spPr>
          <a:xfrm>
            <a:off x="8110728" y="4297680"/>
            <a:ext cx="3767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 of national gap | weekly owner review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8110728" y="4562856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₹4.97 Cr @ 58.5% · E ₹4.28 Cr @ 45.3%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28600" y="4846320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27" name="Text 125"/>
          <p:cNvSpPr/>
          <p:nvPr/>
        </p:nvSpPr>
        <p:spPr>
          <a:xfrm>
            <a:off x="228600" y="484632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WHAT DROVE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4142232" y="4846320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29" name="Text 127"/>
          <p:cNvSpPr/>
          <p:nvPr/>
        </p:nvSpPr>
        <p:spPr>
          <a:xfrm>
            <a:off x="4142232" y="484632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WHY IT MATTERS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8055864" y="4846320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31" name="Text 129"/>
          <p:cNvSpPr/>
          <p:nvPr/>
        </p:nvSpPr>
        <p:spPr>
          <a:xfrm>
            <a:off x="8055864" y="484632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ACTIONS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228600" y="5102352"/>
            <a:ext cx="3877056" cy="10972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primary ₹11.95 Cr but offtake only ₹6.99 Cr.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conversion collapsed to 45.3%.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S-1 sustain above benchmark.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4142232" y="5102352"/>
            <a:ext cx="3877056" cy="10972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₹9.25 Cr stuck in North+East pipeline — OOS risk once stock clears.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West+S-1 profits protect investment in Fix zones.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₹2.40 Cr at 44.9% must be recovered.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055864" y="5102352"/>
            <a:ext cx="3877056" cy="10972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NKAM: publish North+East hero-EAN gap list by 25 Aug.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ZSM North: weekly conversion review with chain-specific actions.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ZSM East: Reliance store-level audit by 31 Aug.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WATCH AND CONVERT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 dive | July 2026 | ₹ Cr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₹10.05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 · 22.9% mix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₹8.28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27832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7336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72200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61704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₹1.78 Cr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16568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1453896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PRIORITY  |  Protect hero-SKU OSA  •  Replicate strong-zone cadence  •  Monitor conversion weekly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788152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CHAINS / STATES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28600" y="3840480"/>
            <a:ext cx="3493008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₹5.76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 ₹1.23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F…  ₹0.65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 ₹3.43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 ₹2.57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₹2.28 Cr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0" name="Text 26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MAMAEARTH | TOP 3 SUB-CATS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794760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| ₹4.97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₹2.39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 ₹1.53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₹0.22 Cr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3" name="Text 29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THE DERMA CO. | TOP 3 SUB-CATS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7434072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| ₹3.24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₹2.84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₹0.55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 ₹0.22 Cr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28600" y="4572000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 |  ₹0.54 Cr | 6.6% of zone | Priority: DMart × hero-EAN availability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28600" y="4809744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 ZONE-SPECIFIC INSIGHTS AND ACTIONS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28600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38" name="Text 34"/>
          <p:cNvSpPr/>
          <p:nvPr/>
        </p:nvSpPr>
        <p:spPr>
          <a:xfrm>
            <a:off x="228600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01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429768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delivers ₹8.28 Cr offtake, 22.9% of national value.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28600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1" name="Text 37"/>
          <p:cNvSpPr/>
          <p:nvPr/>
        </p:nvSpPr>
        <p:spPr>
          <a:xfrm>
            <a:off x="228600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02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29768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 ₹10.05 Cr versus ₹8.28 Cr offtake.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28600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4" name="Text 40"/>
          <p:cNvSpPr/>
          <p:nvPr/>
        </p:nvSpPr>
        <p:spPr>
          <a:xfrm>
            <a:off x="228600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03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429768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is 82.3% for July.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28600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04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429768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same-period flow gap is ₹1.78 Cr.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228600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0" name="Text 46"/>
          <p:cNvSpPr/>
          <p:nvPr/>
        </p:nvSpPr>
        <p:spPr>
          <a:xfrm>
            <a:off x="228600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05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429768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ranks #1 by national offtake.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157472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3" name="Text 49"/>
          <p:cNvSpPr/>
          <p:nvPr/>
        </p:nvSpPr>
        <p:spPr>
          <a:xfrm>
            <a:off x="4157472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06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4358640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ranks #1 with ₹3.43 Cr offtake.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4157472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6" name="Text 52"/>
          <p:cNvSpPr/>
          <p:nvPr/>
        </p:nvSpPr>
        <p:spPr>
          <a:xfrm>
            <a:off x="4157472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07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358640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ranks #2 with ₹2.57 Cr offtake.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157472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9" name="Text 55"/>
          <p:cNvSpPr/>
          <p:nvPr/>
        </p:nvSpPr>
        <p:spPr>
          <a:xfrm>
            <a:off x="4157472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08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4358640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ranks #3 with ₹2.28 Cr offtake.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157472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2" name="Text 58"/>
          <p:cNvSpPr/>
          <p:nvPr/>
        </p:nvSpPr>
        <p:spPr>
          <a:xfrm>
            <a:off x="4157472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09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4358640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state contributes 41.4% of zone offtake.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157472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5" name="Text 61"/>
          <p:cNvSpPr/>
          <p:nvPr/>
        </p:nvSpPr>
        <p:spPr>
          <a:xfrm>
            <a:off x="4157472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6" name="Text 62"/>
          <p:cNvSpPr/>
          <p:nvPr/>
        </p:nvSpPr>
        <p:spPr>
          <a:xfrm>
            <a:off x="4358640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states contribute 100.0% of zone offtake.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8086344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8" name="Text 64"/>
          <p:cNvSpPr/>
          <p:nvPr/>
        </p:nvSpPr>
        <p:spPr>
          <a:xfrm>
            <a:off x="8086344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69" name="Text 65"/>
          <p:cNvSpPr/>
          <p:nvPr/>
        </p:nvSpPr>
        <p:spPr>
          <a:xfrm>
            <a:off x="8287512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₹5.76 Cr offtake; 94.2%.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86344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1" name="Text 67"/>
          <p:cNvSpPr/>
          <p:nvPr/>
        </p:nvSpPr>
        <p:spPr>
          <a:xfrm>
            <a:off x="8086344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8287512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₹1.23 Cr offtake; 54.5%.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8086344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4" name="Text 70"/>
          <p:cNvSpPr/>
          <p:nvPr/>
        </p:nvSpPr>
        <p:spPr>
          <a:xfrm>
            <a:off x="8086344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8287512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Forever: ₹0.65 Cr offtake; 134.9%.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8086344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7" name="Text 73"/>
          <p:cNvSpPr/>
          <p:nvPr/>
        </p:nvSpPr>
        <p:spPr>
          <a:xfrm>
            <a:off x="8086344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8287512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chain contributes 69.6% of zone offtake.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8086344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80" name="Text 76"/>
          <p:cNvSpPr/>
          <p:nvPr/>
        </p:nvSpPr>
        <p:spPr>
          <a:xfrm>
            <a:off x="8086344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</a:t>
            </a:r>
            <a:endParaRPr lang="en-US" sz="650" dirty="0"/>
          </a:p>
        </p:txBody>
      </p:sp>
      <p:sp>
        <p:nvSpPr>
          <p:cNvPr id="81" name="Text 77"/>
          <p:cNvSpPr/>
          <p:nvPr/>
        </p:nvSpPr>
        <p:spPr>
          <a:xfrm>
            <a:off x="8287512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chains contribute 92.5% of zone offtake.</a:t>
            </a:r>
            <a:endParaRPr lang="en-US" sz="750" dirty="0"/>
          </a:p>
        </p:txBody>
      </p:sp>
      <p:sp>
        <p:nvSpPr>
          <p:cNvPr id="82" name="Shape 7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SOUTH-1: WATCH AND CONVERT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 dive | July 2026 | ₹ Cr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₹9.8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 · 22.7% mix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₹8.19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27832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7336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72200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61704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₹1.61 Cr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16568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1453896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PRIORITY  |  Protect hero-SKU OSA  •  Replicate strong-zone cadence  •  Monitor conversion weekly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788152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CHAINS / STATES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28600" y="3840480"/>
            <a:ext cx="3493008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 ₹2.84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₹2.31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 ₹1.22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 ₹4.10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 ₹2.63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 ₹1.17 Cr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0" name="Text 26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MAMAEARTH | TOP 3 SUB-CATS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794760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| ₹5.24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₹1.12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 ₹1.23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₹0.32 Cr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3" name="Text 29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THE DERMA CO. | TOP 3 SUB-CATS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7434072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| ₹2.76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₹1.18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₹0.61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 ₹0.19 Cr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28600" y="4572000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 |  ₹0.64 Cr | 7.9% of zone | Priority: Apollo × hero-EAN availability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28600" y="4809744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 ZONE-SPECIFIC INSIGHTS AND ACTIONS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28600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38" name="Text 34"/>
          <p:cNvSpPr/>
          <p:nvPr/>
        </p:nvSpPr>
        <p:spPr>
          <a:xfrm>
            <a:off x="228600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01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429768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delivers ₹8.19 Cr offtake, 22.7% of national value.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28600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1" name="Text 37"/>
          <p:cNvSpPr/>
          <p:nvPr/>
        </p:nvSpPr>
        <p:spPr>
          <a:xfrm>
            <a:off x="228600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02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29768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 ₹9.80 Cr versus ₹8.19 Cr offtake.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28600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4" name="Text 40"/>
          <p:cNvSpPr/>
          <p:nvPr/>
        </p:nvSpPr>
        <p:spPr>
          <a:xfrm>
            <a:off x="228600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03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429768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is 83.6% for July.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28600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04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429768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same-period flow gap is ₹1.61 Cr.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228600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0" name="Text 46"/>
          <p:cNvSpPr/>
          <p:nvPr/>
        </p:nvSpPr>
        <p:spPr>
          <a:xfrm>
            <a:off x="228600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05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429768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ranks #2 by national offtake.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157472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3" name="Text 49"/>
          <p:cNvSpPr/>
          <p:nvPr/>
        </p:nvSpPr>
        <p:spPr>
          <a:xfrm>
            <a:off x="4157472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06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4358640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ranks #1 with ₹4.10 Cr offtake.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4157472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6" name="Text 52"/>
          <p:cNvSpPr/>
          <p:nvPr/>
        </p:nvSpPr>
        <p:spPr>
          <a:xfrm>
            <a:off x="4157472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07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358640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ranks #2 with ₹2.63 Cr offtake.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157472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9" name="Text 55"/>
          <p:cNvSpPr/>
          <p:nvPr/>
        </p:nvSpPr>
        <p:spPr>
          <a:xfrm>
            <a:off x="4157472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08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4358640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ranks #3 with ₹1.17 Cr offtake.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157472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2" name="Text 58"/>
          <p:cNvSpPr/>
          <p:nvPr/>
        </p:nvSpPr>
        <p:spPr>
          <a:xfrm>
            <a:off x="4157472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09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4358640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state contributes 50.1% of zone offtake.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157472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5" name="Text 61"/>
          <p:cNvSpPr/>
          <p:nvPr/>
        </p:nvSpPr>
        <p:spPr>
          <a:xfrm>
            <a:off x="4157472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6" name="Text 62"/>
          <p:cNvSpPr/>
          <p:nvPr/>
        </p:nvSpPr>
        <p:spPr>
          <a:xfrm>
            <a:off x="4358640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states contribute 96.5% of zone offtake.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8086344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8" name="Text 64"/>
          <p:cNvSpPr/>
          <p:nvPr/>
        </p:nvSpPr>
        <p:spPr>
          <a:xfrm>
            <a:off x="8086344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69" name="Text 65"/>
          <p:cNvSpPr/>
          <p:nvPr/>
        </p:nvSpPr>
        <p:spPr>
          <a:xfrm>
            <a:off x="8287512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₹2.84 Cr offtake; 81.0%.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86344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1" name="Text 67"/>
          <p:cNvSpPr/>
          <p:nvPr/>
        </p:nvSpPr>
        <p:spPr>
          <a:xfrm>
            <a:off x="8086344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8287512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₹2.31 Cr offtake; 74.8%.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8086344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4" name="Text 70"/>
          <p:cNvSpPr/>
          <p:nvPr/>
        </p:nvSpPr>
        <p:spPr>
          <a:xfrm>
            <a:off x="8086344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8287512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Lulu: ₹1.22 Cr offtake; primary comparison unavailable.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8086344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7" name="Text 73"/>
          <p:cNvSpPr/>
          <p:nvPr/>
        </p:nvSpPr>
        <p:spPr>
          <a:xfrm>
            <a:off x="8086344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8287512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chain contributes 34.7% of zone offtake.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8086344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80" name="Text 76"/>
          <p:cNvSpPr/>
          <p:nvPr/>
        </p:nvSpPr>
        <p:spPr>
          <a:xfrm>
            <a:off x="8086344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</a:t>
            </a:r>
            <a:endParaRPr lang="en-US" sz="650" dirty="0"/>
          </a:p>
        </p:txBody>
      </p:sp>
      <p:sp>
        <p:nvSpPr>
          <p:cNvPr id="81" name="Text 77"/>
          <p:cNvSpPr/>
          <p:nvPr/>
        </p:nvSpPr>
        <p:spPr>
          <a:xfrm>
            <a:off x="8287512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chains contribute 77.8% of zone offtake.</a:t>
            </a:r>
            <a:endParaRPr lang="en-US" sz="750" dirty="0"/>
          </a:p>
        </p:txBody>
      </p:sp>
      <p:sp>
        <p:nvSpPr>
          <p:cNvPr id="82" name="Shape 7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NORTH: URGENT GAP CLOSURE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 dive | July 2026 | ₹ Cr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₹11.95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 · 19.4% mix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₹6.99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27832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7336" y="841248"/>
            <a:ext cx="2907792" cy="566928"/>
          </a:xfrm>
          <a:prstGeom prst="rect">
            <a:avLst/>
          </a:prstGeom>
          <a:solidFill>
            <a:srgbClr val="180A0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72200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61704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₹4.97 Cr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16568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1453896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PRIORITY  |  Close DMart exceptions  •  Protect hero-SKU OSA  •  Review conversion weekly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788152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CHAINS / STATES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28600" y="3840480"/>
            <a:ext cx="3493008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₹2.53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 ₹2.40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 ₹1.16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 ₹1.97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 ₹1.67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 ₹1.55 Cr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0" name="Text 26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MAMAEARTH | TOP 3 SUB-CATS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794760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| ₹4.74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₹2.09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 ₹1.68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₹0.35 Cr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3" name="Text 29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THE DERMA CO. | TOP 3 SUB-CATS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7434072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| ₹2.12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₹1.41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₹0.36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 ₹0.10 Cr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28600" y="4572000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 |  ₹0.65 Cr | 9.2% of zone | Priority: DMart × hero-EAN availability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28600" y="4809744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 ZONE-SPECIFIC INSIGHTS AND ACTIONS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28600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38" name="Text 34"/>
          <p:cNvSpPr/>
          <p:nvPr/>
        </p:nvSpPr>
        <p:spPr>
          <a:xfrm>
            <a:off x="228600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01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429768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delivers ₹6.99 Cr offtake, 19.4% of national value.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28600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1" name="Text 37"/>
          <p:cNvSpPr/>
          <p:nvPr/>
        </p:nvSpPr>
        <p:spPr>
          <a:xfrm>
            <a:off x="228600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02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29768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 ₹11.95 Cr versus ₹6.99 Cr offtake.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28600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4" name="Text 40"/>
          <p:cNvSpPr/>
          <p:nvPr/>
        </p:nvSpPr>
        <p:spPr>
          <a:xfrm>
            <a:off x="228600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03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429768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is 58.5% for July.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28600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04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429768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same-period flow gap is ₹4.97 Cr.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228600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0" name="Text 46"/>
          <p:cNvSpPr/>
          <p:nvPr/>
        </p:nvSpPr>
        <p:spPr>
          <a:xfrm>
            <a:off x="228600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05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429768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ranks #3 by national offtake.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157472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3" name="Text 49"/>
          <p:cNvSpPr/>
          <p:nvPr/>
        </p:nvSpPr>
        <p:spPr>
          <a:xfrm>
            <a:off x="4157472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06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4358640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ranks #1 with ₹1.97 Cr offtake.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4157472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6" name="Text 52"/>
          <p:cNvSpPr/>
          <p:nvPr/>
        </p:nvSpPr>
        <p:spPr>
          <a:xfrm>
            <a:off x="4157472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07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358640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ranks #2 with ₹1.67 Cr offtake.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157472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9" name="Text 55"/>
          <p:cNvSpPr/>
          <p:nvPr/>
        </p:nvSpPr>
        <p:spPr>
          <a:xfrm>
            <a:off x="4157472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08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4358640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ranks #3 with ₹1.55 Cr offtake.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157472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2" name="Text 58"/>
          <p:cNvSpPr/>
          <p:nvPr/>
        </p:nvSpPr>
        <p:spPr>
          <a:xfrm>
            <a:off x="4157472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09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4358640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state contributes 28.2% of zone offtake.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157472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5" name="Text 61"/>
          <p:cNvSpPr/>
          <p:nvPr/>
        </p:nvSpPr>
        <p:spPr>
          <a:xfrm>
            <a:off x="4157472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6" name="Text 62"/>
          <p:cNvSpPr/>
          <p:nvPr/>
        </p:nvSpPr>
        <p:spPr>
          <a:xfrm>
            <a:off x="4358640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states contribute 74.3% of zone offtake.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8086344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8" name="Text 64"/>
          <p:cNvSpPr/>
          <p:nvPr/>
        </p:nvSpPr>
        <p:spPr>
          <a:xfrm>
            <a:off x="8086344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69" name="Text 65"/>
          <p:cNvSpPr/>
          <p:nvPr/>
        </p:nvSpPr>
        <p:spPr>
          <a:xfrm>
            <a:off x="8287512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₹2.53 Cr offtake; 77.9%.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86344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1" name="Text 67"/>
          <p:cNvSpPr/>
          <p:nvPr/>
        </p:nvSpPr>
        <p:spPr>
          <a:xfrm>
            <a:off x="8086344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8287512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₹2.40 Cr offtake; 44.9%.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8086344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4" name="Text 70"/>
          <p:cNvSpPr/>
          <p:nvPr/>
        </p:nvSpPr>
        <p:spPr>
          <a:xfrm>
            <a:off x="8086344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8287512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₹1.16 Cr offtake; 98.3%.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8086344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7" name="Text 73"/>
          <p:cNvSpPr/>
          <p:nvPr/>
        </p:nvSpPr>
        <p:spPr>
          <a:xfrm>
            <a:off x="8086344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8287512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chain contributes 36.2% of zone offtake.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8086344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80" name="Text 76"/>
          <p:cNvSpPr/>
          <p:nvPr/>
        </p:nvSpPr>
        <p:spPr>
          <a:xfrm>
            <a:off x="8086344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</a:t>
            </a:r>
            <a:endParaRPr lang="en-US" sz="650" dirty="0"/>
          </a:p>
        </p:txBody>
      </p:sp>
      <p:sp>
        <p:nvSpPr>
          <p:cNvPr id="81" name="Text 77"/>
          <p:cNvSpPr/>
          <p:nvPr/>
        </p:nvSpPr>
        <p:spPr>
          <a:xfrm>
            <a:off x="8287512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chains contribute 87.1% of zone offtake.</a:t>
            </a:r>
            <a:endParaRPr lang="en-US" sz="750" dirty="0"/>
          </a:p>
        </p:txBody>
      </p:sp>
      <p:sp>
        <p:nvSpPr>
          <p:cNvPr id="82" name="Shape 7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SOUTH-2: URGENT GAP CLOSURE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 dive | July 2026 | ₹ Cr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₹6.89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 · 13.6% mix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₹4.91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27832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7336" y="841248"/>
            <a:ext cx="2907792" cy="566928"/>
          </a:xfrm>
          <a:prstGeom prst="rect">
            <a:avLst/>
          </a:prstGeom>
          <a:solidFill>
            <a:srgbClr val="180A0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72200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61704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₹1.98 Cr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16568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1453896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PRIORITY  |  Close DMart exceptions  •  Protect hero-SKU OSA  •  Review conversion weekly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788152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CHAINS / STATES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28600" y="3840480"/>
            <a:ext cx="3493008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₹1.95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 ₹1.64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 ₹0.67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 ₹2.56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 ₹2.35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0" name="Text 26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MAMAEARTH | TOP 3 SUB-CATS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794760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| ₹3.74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₹1.04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 ₹0.94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₹0.14 Cr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3" name="Text 29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THE DERMA CO. | TOP 3 SUB-CATS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7434072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| ₹1.11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₹0.56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₹0.20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 ₹0.05 Cr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28600" y="4572000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 |  ₹0.31 Cr | 6.4% of zone | Priority: DMart × hero-EAN availability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28600" y="4809744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 ZONE-SPECIFIC INSIGHTS AND ACTIONS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28600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38" name="Text 34"/>
          <p:cNvSpPr/>
          <p:nvPr/>
        </p:nvSpPr>
        <p:spPr>
          <a:xfrm>
            <a:off x="228600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01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429768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delivers ₹4.91 Cr offtake, 13.6% of national value.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28600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1" name="Text 37"/>
          <p:cNvSpPr/>
          <p:nvPr/>
        </p:nvSpPr>
        <p:spPr>
          <a:xfrm>
            <a:off x="228600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02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29768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 ₹6.89 Cr versus ₹4.91 Cr offtake.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28600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4" name="Text 40"/>
          <p:cNvSpPr/>
          <p:nvPr/>
        </p:nvSpPr>
        <p:spPr>
          <a:xfrm>
            <a:off x="228600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03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429768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is 71.3% for July.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28600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04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429768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same-period flow gap is ₹1.98 Cr.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228600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0" name="Text 46"/>
          <p:cNvSpPr/>
          <p:nvPr/>
        </p:nvSpPr>
        <p:spPr>
          <a:xfrm>
            <a:off x="228600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05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429768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ranks #4 by national offtake.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157472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3" name="Text 49"/>
          <p:cNvSpPr/>
          <p:nvPr/>
        </p:nvSpPr>
        <p:spPr>
          <a:xfrm>
            <a:off x="4157472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06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4358640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ranks #1 with ₹2.56 Cr offtake.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4157472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6" name="Text 52"/>
          <p:cNvSpPr/>
          <p:nvPr/>
        </p:nvSpPr>
        <p:spPr>
          <a:xfrm>
            <a:off x="4157472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07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358640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ranks #2 with ₹2.35 Cr offtake.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157472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9" name="Text 55"/>
          <p:cNvSpPr/>
          <p:nvPr/>
        </p:nvSpPr>
        <p:spPr>
          <a:xfrm>
            <a:off x="4157472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08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4358640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state contributes 52.2% of zone offtake.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157472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2" name="Text 58"/>
          <p:cNvSpPr/>
          <p:nvPr/>
        </p:nvSpPr>
        <p:spPr>
          <a:xfrm>
            <a:off x="4157472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09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4358640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states contribute 100.0% of zone offtake.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157472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5" name="Text 61"/>
          <p:cNvSpPr/>
          <p:nvPr/>
        </p:nvSpPr>
        <p:spPr>
          <a:xfrm>
            <a:off x="4157472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6" name="Text 62"/>
          <p:cNvSpPr/>
          <p:nvPr/>
        </p:nvSpPr>
        <p:spPr>
          <a:xfrm>
            <a:off x="4358640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reports 2 material states in this zone cut.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8086344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8" name="Text 64"/>
          <p:cNvSpPr/>
          <p:nvPr/>
        </p:nvSpPr>
        <p:spPr>
          <a:xfrm>
            <a:off x="8086344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69" name="Text 65"/>
          <p:cNvSpPr/>
          <p:nvPr/>
        </p:nvSpPr>
        <p:spPr>
          <a:xfrm>
            <a:off x="8287512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₹1.95 Cr offtake; 45.1%.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86344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1" name="Text 67"/>
          <p:cNvSpPr/>
          <p:nvPr/>
        </p:nvSpPr>
        <p:spPr>
          <a:xfrm>
            <a:off x="8086344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8287512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₹1.64 Cr offtake; 148.5%.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8086344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4" name="Text 70"/>
          <p:cNvSpPr/>
          <p:nvPr/>
        </p:nvSpPr>
        <p:spPr>
          <a:xfrm>
            <a:off x="8086344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8287512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₹0.67 Cr offtake; 82.5%.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8086344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7" name="Text 73"/>
          <p:cNvSpPr/>
          <p:nvPr/>
        </p:nvSpPr>
        <p:spPr>
          <a:xfrm>
            <a:off x="8086344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8287512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chain contributes 39.7% of zone offtake.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8086344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80" name="Text 76"/>
          <p:cNvSpPr/>
          <p:nvPr/>
        </p:nvSpPr>
        <p:spPr>
          <a:xfrm>
            <a:off x="8086344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</a:t>
            </a:r>
            <a:endParaRPr lang="en-US" sz="650" dirty="0"/>
          </a:p>
        </p:txBody>
      </p:sp>
      <p:sp>
        <p:nvSpPr>
          <p:cNvPr id="81" name="Text 77"/>
          <p:cNvSpPr/>
          <p:nvPr/>
        </p:nvSpPr>
        <p:spPr>
          <a:xfrm>
            <a:off x="8287512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chains contribute 86.6% of zone offtake.</a:t>
            </a:r>
            <a:endParaRPr lang="en-US" sz="750" dirty="0"/>
          </a:p>
        </p:txBody>
      </p:sp>
      <p:sp>
        <p:nvSpPr>
          <p:cNvPr id="82" name="Shape 7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 URGENT GAP CLOSURE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 dive | July 2026 | ₹ Cr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₹7.83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 · 9.8% mix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₹3.55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27832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7336" y="841248"/>
            <a:ext cx="2907792" cy="566928"/>
          </a:xfrm>
          <a:prstGeom prst="rect">
            <a:avLst/>
          </a:prstGeom>
          <a:solidFill>
            <a:srgbClr val="180A0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72200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61704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₹4.28 Cr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16568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1453896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PRIORITY  |  Close Reliance exceptions  •  Protect hero-SKU OSA  •  Review conversion weekly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788152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CHAINS / STATES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28600" y="3840480"/>
            <a:ext cx="3493008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 ₹2.16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 ₹0.80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M…  ₹0.17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 ₹1.56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  ₹0.60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  ₹0.49 Cr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0" name="Text 26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MAMAEARTH | TOP 3 SUB-CATS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794760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| ₹2.91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₹1.34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 ₹1.18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₹0.19 Cr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3" name="Text 29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THE DERMA CO. | TOP 3 SUB-CATS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7434072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| ₹0.60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₹0.47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₹0.09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 ₹0.05 Cr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28600" y="4572000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 |  ₹0.36 Cr | 10.2% of zone | Priority: Reliance × hero-EAN availability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28600" y="4809744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 ZONE-SPECIFIC INSIGHTS AND ACTIONS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28600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38" name="Text 34"/>
          <p:cNvSpPr/>
          <p:nvPr/>
        </p:nvSpPr>
        <p:spPr>
          <a:xfrm>
            <a:off x="228600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01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429768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delivers ₹3.55 Cr offtake, 9.8% of national value.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28600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1" name="Text 37"/>
          <p:cNvSpPr/>
          <p:nvPr/>
        </p:nvSpPr>
        <p:spPr>
          <a:xfrm>
            <a:off x="228600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02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29768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 ₹7.83 Cr versus ₹3.55 Cr offtake.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28600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4" name="Text 40"/>
          <p:cNvSpPr/>
          <p:nvPr/>
        </p:nvSpPr>
        <p:spPr>
          <a:xfrm>
            <a:off x="228600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03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429768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is 45.3% for July.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28600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04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429768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same-period flow gap is ₹4.28 Cr.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228600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0" name="Text 46"/>
          <p:cNvSpPr/>
          <p:nvPr/>
        </p:nvSpPr>
        <p:spPr>
          <a:xfrm>
            <a:off x="228600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05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429768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ranks #5 by national offtake.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157472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3" name="Text 49"/>
          <p:cNvSpPr/>
          <p:nvPr/>
        </p:nvSpPr>
        <p:spPr>
          <a:xfrm>
            <a:off x="4157472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06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4358640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ranks #1 with ₹1.56 Cr offtake.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4157472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6" name="Text 52"/>
          <p:cNvSpPr/>
          <p:nvPr/>
        </p:nvSpPr>
        <p:spPr>
          <a:xfrm>
            <a:off x="4157472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07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358640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 ranks #2 with ₹0.60 Cr offtake.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157472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9" name="Text 55"/>
          <p:cNvSpPr/>
          <p:nvPr/>
        </p:nvSpPr>
        <p:spPr>
          <a:xfrm>
            <a:off x="4157472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08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4358640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 ranks #3 with ₹0.49 Cr offtake.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157472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2" name="Text 58"/>
          <p:cNvSpPr/>
          <p:nvPr/>
        </p:nvSpPr>
        <p:spPr>
          <a:xfrm>
            <a:off x="4157472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09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4358640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state contributes 43.8% of zone offtake.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157472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5" name="Text 61"/>
          <p:cNvSpPr/>
          <p:nvPr/>
        </p:nvSpPr>
        <p:spPr>
          <a:xfrm>
            <a:off x="4157472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6" name="Text 62"/>
          <p:cNvSpPr/>
          <p:nvPr/>
        </p:nvSpPr>
        <p:spPr>
          <a:xfrm>
            <a:off x="4358640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states contribute 74.3% of zone offtake.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8086344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8" name="Text 64"/>
          <p:cNvSpPr/>
          <p:nvPr/>
        </p:nvSpPr>
        <p:spPr>
          <a:xfrm>
            <a:off x="8086344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69" name="Text 65"/>
          <p:cNvSpPr/>
          <p:nvPr/>
        </p:nvSpPr>
        <p:spPr>
          <a:xfrm>
            <a:off x="8287512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₹2.16 Cr offtake; 52.9%.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86344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1" name="Text 67"/>
          <p:cNvSpPr/>
          <p:nvPr/>
        </p:nvSpPr>
        <p:spPr>
          <a:xfrm>
            <a:off x="8086344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8287512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₹0.80 Cr offtake; 121.1%.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8086344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4" name="Text 70"/>
          <p:cNvSpPr/>
          <p:nvPr/>
        </p:nvSpPr>
        <p:spPr>
          <a:xfrm>
            <a:off x="8086344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8287512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Mart: ₹0.17 Cr offtake; primary comparison unavailable.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8086344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7" name="Text 73"/>
          <p:cNvSpPr/>
          <p:nvPr/>
        </p:nvSpPr>
        <p:spPr>
          <a:xfrm>
            <a:off x="8086344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8287512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chain contributes 60.9% of zone offtake.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8086344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80" name="Text 76"/>
          <p:cNvSpPr/>
          <p:nvPr/>
        </p:nvSpPr>
        <p:spPr>
          <a:xfrm>
            <a:off x="8086344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</a:t>
            </a:r>
            <a:endParaRPr lang="en-US" sz="650" dirty="0"/>
          </a:p>
        </p:txBody>
      </p:sp>
      <p:sp>
        <p:nvSpPr>
          <p:cNvPr id="81" name="Text 77"/>
          <p:cNvSpPr/>
          <p:nvPr/>
        </p:nvSpPr>
        <p:spPr>
          <a:xfrm>
            <a:off x="8287512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chains contribute 88.2% of zone offtake.</a:t>
            </a:r>
            <a:endParaRPr lang="en-US" sz="750" dirty="0"/>
          </a:p>
        </p:txBody>
      </p:sp>
      <p:sp>
        <p:nvSpPr>
          <p:cNvPr id="82" name="Shape 7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CENTRAL: WATCH AND CONVERT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 dive | July 2026 | ₹ Cr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₹2.69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 · 5.9% mix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₹2.12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27832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7336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72200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61704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₹0.57 Cr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16568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1453896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PRIORITY  |  Protect hero-SKU OSA  •  Replicate strong-zone cadence  •  Monitor conversion weekly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788152" y="1691640"/>
          <a:ext cx="548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35844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CHAINS / STATES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28600" y="3840480"/>
            <a:ext cx="3493008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 ₹1.41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 ₹0.46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 ₹0.19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 ₹1.68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 ₹0.44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0" name="Text 26"/>
          <p:cNvSpPr/>
          <p:nvPr/>
        </p:nvSpPr>
        <p:spPr>
          <a:xfrm>
            <a:off x="3794760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MAMAEARTH | TOP 3 SUB-CATS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794760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| ₹1.25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₹0.54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 ₹0.40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₹0.09 Cr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3" name="Text 29"/>
          <p:cNvSpPr/>
          <p:nvPr/>
        </p:nvSpPr>
        <p:spPr>
          <a:xfrm>
            <a:off x="7434072" y="35844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THE DERMA CO. | TOP 3 SUB-CATS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7434072" y="3840480"/>
            <a:ext cx="3602736" cy="84124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| ₹0.82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 ₹0.66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 ₹0.18 Cr</a:t>
            </a:r>
            <a:endParaRPr lang="en-US" sz="850" dirty="0"/>
          </a:p>
          <a:p>
            <a:r>
              <a:rPr lang="en-US" sz="8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 ₹0.02 Cr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28600" y="4572000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 |  ₹0.18 Cr | 8.5% of zone | Priority: DMart × hero-EAN availability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28600" y="4809744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 ZONE-SPECIFIC INSIGHTS AND ACTIONS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28600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38" name="Text 34"/>
          <p:cNvSpPr/>
          <p:nvPr/>
        </p:nvSpPr>
        <p:spPr>
          <a:xfrm>
            <a:off x="228600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01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429768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delivers ₹2.12 Cr offtake, 5.9% of national value.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28600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1" name="Text 37"/>
          <p:cNvSpPr/>
          <p:nvPr/>
        </p:nvSpPr>
        <p:spPr>
          <a:xfrm>
            <a:off x="228600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02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429768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is ₹2.69 Cr versus ₹2.12 Cr offtake.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28600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4" name="Text 40"/>
          <p:cNvSpPr/>
          <p:nvPr/>
        </p:nvSpPr>
        <p:spPr>
          <a:xfrm>
            <a:off x="228600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03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429768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is 78.8% for July.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28600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7" name="Text 43"/>
          <p:cNvSpPr/>
          <p:nvPr/>
        </p:nvSpPr>
        <p:spPr>
          <a:xfrm>
            <a:off x="228600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04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429768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same-period flow gap is ₹0.57 Cr.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228600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0" name="Text 46"/>
          <p:cNvSpPr/>
          <p:nvPr/>
        </p:nvSpPr>
        <p:spPr>
          <a:xfrm>
            <a:off x="228600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05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429768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ranks #6 by national offtake.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157472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3" name="Text 49"/>
          <p:cNvSpPr/>
          <p:nvPr/>
        </p:nvSpPr>
        <p:spPr>
          <a:xfrm>
            <a:off x="4157472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06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4358640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ranks #1 with ₹1.68 Cr offtake.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4157472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6" name="Text 52"/>
          <p:cNvSpPr/>
          <p:nvPr/>
        </p:nvSpPr>
        <p:spPr>
          <a:xfrm>
            <a:off x="4157472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07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4358640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ranks #2 with ₹0.44 Cr offtake.</a:t>
            </a:r>
            <a:endParaRPr lang="en-US" sz="750" dirty="0"/>
          </a:p>
        </p:txBody>
      </p:sp>
      <p:sp>
        <p:nvSpPr>
          <p:cNvPr id="58" name="Shape 54"/>
          <p:cNvSpPr/>
          <p:nvPr/>
        </p:nvSpPr>
        <p:spPr>
          <a:xfrm>
            <a:off x="4157472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59" name="Text 55"/>
          <p:cNvSpPr/>
          <p:nvPr/>
        </p:nvSpPr>
        <p:spPr>
          <a:xfrm>
            <a:off x="4157472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08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4358640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state contributes 79.3% of zone offtake.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157472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2" name="Text 58"/>
          <p:cNvSpPr/>
          <p:nvPr/>
        </p:nvSpPr>
        <p:spPr>
          <a:xfrm>
            <a:off x="4157472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09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4358640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states contribute 100.0% of zone offtake.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4157472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5" name="Text 61"/>
          <p:cNvSpPr/>
          <p:nvPr/>
        </p:nvSpPr>
        <p:spPr>
          <a:xfrm>
            <a:off x="4157472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66" name="Text 62"/>
          <p:cNvSpPr/>
          <p:nvPr/>
        </p:nvSpPr>
        <p:spPr>
          <a:xfrm>
            <a:off x="4358640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reports 2 material states in this zone cut.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8086344" y="50657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68" name="Text 64"/>
          <p:cNvSpPr/>
          <p:nvPr/>
        </p:nvSpPr>
        <p:spPr>
          <a:xfrm>
            <a:off x="8086344" y="5065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69" name="Text 65"/>
          <p:cNvSpPr/>
          <p:nvPr/>
        </p:nvSpPr>
        <p:spPr>
          <a:xfrm>
            <a:off x="8287512" y="50292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₹1.41 Cr offtake; 95.3%.</a:t>
            </a:r>
            <a:endParaRPr lang="en-US" sz="750" dirty="0"/>
          </a:p>
        </p:txBody>
      </p:sp>
      <p:sp>
        <p:nvSpPr>
          <p:cNvPr id="70" name="Shape 66"/>
          <p:cNvSpPr/>
          <p:nvPr/>
        </p:nvSpPr>
        <p:spPr>
          <a:xfrm>
            <a:off x="8086344" y="52943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1" name="Text 67"/>
          <p:cNvSpPr/>
          <p:nvPr/>
        </p:nvSpPr>
        <p:spPr>
          <a:xfrm>
            <a:off x="8086344" y="52943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8287512" y="52578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₹0.46 Cr offtake; 51.2%.</a:t>
            </a:r>
            <a:endParaRPr lang="en-US" sz="750" dirty="0"/>
          </a:p>
        </p:txBody>
      </p:sp>
      <p:sp>
        <p:nvSpPr>
          <p:cNvPr id="73" name="Shape 69"/>
          <p:cNvSpPr/>
          <p:nvPr/>
        </p:nvSpPr>
        <p:spPr>
          <a:xfrm>
            <a:off x="8086344" y="55229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4" name="Text 70"/>
          <p:cNvSpPr/>
          <p:nvPr/>
        </p:nvSpPr>
        <p:spPr>
          <a:xfrm>
            <a:off x="8086344" y="5522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8287512" y="54864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₹0.19 Cr offtake; 137.7%.</a:t>
            </a:r>
            <a:endParaRPr lang="en-US" sz="750" dirty="0"/>
          </a:p>
        </p:txBody>
      </p:sp>
      <p:sp>
        <p:nvSpPr>
          <p:cNvPr id="76" name="Shape 72"/>
          <p:cNvSpPr/>
          <p:nvPr/>
        </p:nvSpPr>
        <p:spPr>
          <a:xfrm>
            <a:off x="8086344" y="57515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77" name="Text 73"/>
          <p:cNvSpPr/>
          <p:nvPr/>
        </p:nvSpPr>
        <p:spPr>
          <a:xfrm>
            <a:off x="8086344" y="5751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8287512" y="57150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chain contributes 66.5% of zone offtake.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8086344" y="5980176"/>
            <a:ext cx="164592" cy="164592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80" name="Text 76"/>
          <p:cNvSpPr/>
          <p:nvPr/>
        </p:nvSpPr>
        <p:spPr>
          <a:xfrm>
            <a:off x="8086344" y="5980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</a:t>
            </a:r>
            <a:endParaRPr lang="en-US" sz="650" dirty="0"/>
          </a:p>
        </p:txBody>
      </p:sp>
      <p:sp>
        <p:nvSpPr>
          <p:cNvPr id="81" name="Text 77"/>
          <p:cNvSpPr/>
          <p:nvPr/>
        </p:nvSpPr>
        <p:spPr>
          <a:xfrm>
            <a:off x="8287512" y="5943600"/>
            <a:ext cx="367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chains contribute 97.6% of zone offtake.</a:t>
            </a:r>
            <a:endParaRPr lang="en-US" sz="750" dirty="0"/>
          </a:p>
        </p:txBody>
      </p:sp>
      <p:sp>
        <p:nvSpPr>
          <p:cNvPr id="82" name="Shape 7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86" name="Shape 8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INDIA: SEPARATE VIEW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deep dive | July 2026 | ₹ Cr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 · 5.7% mix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27832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27832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FSN+Nykaa SS combined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7336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72200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72200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+26.0 pp vs Pan India MT avg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061704" y="841248"/>
            <a:ext cx="2907792" cy="566928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886968"/>
            <a:ext cx="279806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16568" y="1115934"/>
            <a:ext cx="2798064" cy="15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16568" y="1266444"/>
            <a:ext cx="279806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view unavailable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1453896"/>
            <a:ext cx="1173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PRIORITY  |  Protect account flow  •  Track campaign velocity  •  Build comparable supply view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28600" y="169164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605272" y="1691640"/>
          <a:ext cx="5303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228600" y="3767328"/>
            <a:ext cx="365760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3"/>
          <p:cNvSpPr/>
          <p:nvPr/>
        </p:nvSpPr>
        <p:spPr>
          <a:xfrm>
            <a:off x="228600" y="3767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CHAINS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959352" y="3767328"/>
            <a:ext cx="365760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9" name="Text 25"/>
          <p:cNvSpPr/>
          <p:nvPr/>
        </p:nvSpPr>
        <p:spPr>
          <a:xfrm>
            <a:off x="3959352" y="3767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MAMAEARTH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690104" y="3767328"/>
            <a:ext cx="365760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1" name="Text 27"/>
          <p:cNvSpPr/>
          <p:nvPr/>
        </p:nvSpPr>
        <p:spPr>
          <a:xfrm>
            <a:off x="7690104" y="3767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THE DERMA CO.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228600" y="4023360"/>
            <a:ext cx="3657600" cy="82296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  ₹2.07 Cr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 ₹2.07 Cr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geographic zones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959352" y="4023360"/>
            <a:ext cx="3657600" cy="82296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| ₹1.65 Cr (79.7%)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(top sub-cat)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(2nd)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(3rd)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690104" y="4023360"/>
            <a:ext cx="3657600" cy="82296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| ₹0.37 Cr (17.9%)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(top sub-cat)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(2nd)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(3rd)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228600" y="491947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FSN/Nykaa: 99.4% flow | July ₹2.07 Cr | NPI ₹0.13 Cr (6.3%) | Jul ₹2.07 Cr — 4.6% below Jun | maintain &gt;95% flow as account benchmark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28600" y="5248656"/>
            <a:ext cx="3877056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7" name="Text 33"/>
          <p:cNvSpPr/>
          <p:nvPr/>
        </p:nvSpPr>
        <p:spPr>
          <a:xfrm>
            <a:off x="228600" y="524865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NPI ARTICLES (₹)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228600" y="5504688"/>
            <a:ext cx="11731752" cy="74980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 ₹0.27 Cr · Rice Face Wash 50 ml ₹0.19 Cr · ME Ubtan Natural Glow FW ₹0.14 Cr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₹0.09 Cr · ME VitC Daily Glow FW ₹0.08 Cr · ME Ubtan FW 50 ml ₹0.08 Cr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228600" y="5248656"/>
            <a:ext cx="1173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4D0"/>
                </a:solidFill>
              </a:rPr>
              <a:t>LEADERSHIP CALL  |  Protect top face-wash and sunscreen availability, reverse the 4.6% June–July softness, and retain &gt;95% flow conversion as the account benchmark.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LEADS GROWTH; RELIANCE AND METRO REQUIRE TARGETED RECOVERY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command centre | June–July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2011680" cy="27432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932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CHAIN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76856" y="932688"/>
            <a:ext cx="1371600" cy="27432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0" name="Text 8"/>
          <p:cNvSpPr/>
          <p:nvPr/>
        </p:nvSpPr>
        <p:spPr>
          <a:xfrm>
            <a:off x="2276856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JUN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85032" y="932688"/>
            <a:ext cx="1371600" cy="27432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JUL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93208" y="932688"/>
            <a:ext cx="1371600" cy="27432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MoM%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01384" y="932688"/>
            <a:ext cx="1371600" cy="27432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501384" y="932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SIGNAL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243584"/>
            <a:ext cx="201168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243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76856" y="124358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6856" y="1243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85032" y="124358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1243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93208" y="124358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1243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01384" y="124358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1243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1554480"/>
            <a:ext cx="201168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76856" y="155448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76856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85032" y="155448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5032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93208" y="155448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01384" y="155448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1384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1865376"/>
            <a:ext cx="201168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76856" y="186537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76856" y="1865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85032" y="186537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85032" y="1865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 Cr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93208" y="186537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93208" y="1865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01384" y="186537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1384" y="1865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" y="2176272"/>
            <a:ext cx="201168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76856" y="217627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76856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 Cr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85032" y="217627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85032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₹0.72 Cr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93208" y="217627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93208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-9.9%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01384" y="217627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01384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8600" y="2487168"/>
            <a:ext cx="201168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76856" y="2487168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76856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₹0.52 Cr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85032" y="2487168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85032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₹0.51 Cr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93208" y="2487168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93208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-2.0%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501384" y="2487168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01384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8600" y="2798064"/>
            <a:ext cx="201168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276856" y="2798064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76856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 Cr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85032" y="2798064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85032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093208" y="2798064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93208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-20.5%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01384" y="2798064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01384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28600" y="3108960"/>
            <a:ext cx="201168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86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276856" y="3108960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76856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685032" y="3108960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85032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₹0.41 Cr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093208" y="3108960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93208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-6.8%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501384" y="3108960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01384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28600" y="3419856"/>
            <a:ext cx="201168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8600" y="3419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276856" y="3419856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76856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685032" y="3419856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685032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093208" y="3419856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93208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+18.2%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501384" y="3419856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01384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28600" y="3730752"/>
            <a:ext cx="201168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2860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V-Mart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276856" y="3730752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276856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685032" y="3730752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85032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93208" y="3730752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93208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-8.5%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501384" y="3730752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01384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28600" y="4041648"/>
            <a:ext cx="201168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2860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276856" y="4041648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276856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685032" y="4041648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685032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093208" y="4041648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93208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+0.7%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501384" y="4041648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01384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28600" y="4352544"/>
            <a:ext cx="201168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8600" y="4352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Arambagh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276856" y="435254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76856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3685032" y="435254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85032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₹0.04 Cr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5093208" y="435254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093208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-22.5%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501384" y="4352544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501384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228600" y="4663440"/>
            <a:ext cx="201168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2860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Ratandeep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2276856" y="466344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276856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₹0.03 Cr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3685032" y="466344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685032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₹0.03 Cr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5093208" y="466344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093208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+21.5%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6501384" y="4663440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501384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228600" y="4974336"/>
            <a:ext cx="201168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8600" y="4974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Sasta S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2276856" y="497433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276856" y="4974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₹0.01 Cr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3685032" y="497433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685032" y="4974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 Cr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093208" y="497433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093208" y="4974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+127.8%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6501384" y="4974336"/>
            <a:ext cx="1371600" cy="27432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501384" y="4974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228600" y="5285232"/>
            <a:ext cx="201168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28600" y="5285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2276856" y="528523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276856" y="5285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₹0.01 Cr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3685032" y="528523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685032" y="5285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 Cr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5093208" y="528523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093208" y="5285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+9.8%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501384" y="5285232"/>
            <a:ext cx="1371600" cy="27432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501384" y="5285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8055864" y="932688"/>
            <a:ext cx="413308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58" name="Text 156"/>
          <p:cNvSpPr/>
          <p:nvPr/>
        </p:nvSpPr>
        <p:spPr>
          <a:xfrm>
            <a:off x="8055864" y="93268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LEADERSHIP READOUT</a:t>
            </a:r>
            <a:endParaRPr lang="en-US" sz="850" dirty="0"/>
          </a:p>
        </p:txBody>
      </p:sp>
      <p:sp>
        <p:nvSpPr>
          <p:cNvPr id="159" name="Text 157"/>
          <p:cNvSpPr/>
          <p:nvPr/>
        </p:nvSpPr>
        <p:spPr>
          <a:xfrm>
            <a:off x="8055864" y="1188720"/>
            <a:ext cx="4133088" cy="3218688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+46.5% on a stable 19-site footprint: protect availability and copy winning store execution.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-15.0%: Mamaearth Shampoo and Sun Care are the central recovery pool; protect TDC growth.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-20.5% despite more SKUs: stop range expansion until sales/SKU and store productivity recover.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-1.5% is broadly stable: TDC Face Cleanser offsets Mamaearth seasonal/mix softness.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July feeds are data gaps — not commercial de-growth — and remain outside the ranking.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Arambagh -22.5%: investigate listing status before any commercial intervention.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Sasta Sundar +127.8%: small base; protect fill rate before expanding footprint.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+18.2%: Shampoo and cleanser leading — replicate winning EAN set in new doors.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SPECIFIC COMMERCIAL LOOPHOLE — NOT THE WHOLE ACCOUNT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 and success KPI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LULU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" y="122529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same-store velocity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3464" y="138988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Face Cleanser, Shampoo and Sun Care growth on a stable footprint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3464" y="1517904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Keep hero NPI/cleanser OSA above 95%; replicate winning stores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3464" y="153619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Sales/store and OSA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78808" y="1005840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78808" y="1005840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6" name="Text 14"/>
          <p:cNvSpPr/>
          <p:nvPr/>
        </p:nvSpPr>
        <p:spPr>
          <a:xfrm>
            <a:off x="4178808" y="100584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RELIANCE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33672" y="122529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mix erosion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33672" y="138988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Shampoo and Sun Care explain most of the decline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33672" y="1517904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Recover top declining Mamaearth EAN-store pairs; protect TDC growth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33672" y="153619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Weekly lost sales and conversion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129016" y="1005840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9016" y="1005840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3" name="Text 21"/>
          <p:cNvSpPr/>
          <p:nvPr/>
        </p:nvSpPr>
        <p:spPr>
          <a:xfrm>
            <a:off x="8129016" y="100584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DMART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83880" y="1225296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mix shift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83880" y="138988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TDC Face Cleanser offsets Mamaearth Sun Care/Shampoo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83880" y="1517904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Copy TDC cleanser execution; fix only weak Mamaearth hero EANs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183880" y="153619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Sales/store-EAN and 80%+ conversion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28600" y="1792224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1792224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179222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METRO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3464" y="201168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3464" y="217627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More sites/SKUs but lower sales; Face Cleanser down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83464" y="230428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Pause range expansion and remove non-productive EANs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83464" y="232257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Sales/SKU and sales/store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78808" y="1792224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78808" y="1792224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7" name="Text 35"/>
          <p:cNvSpPr/>
          <p:nvPr/>
        </p:nvSpPr>
        <p:spPr>
          <a:xfrm>
            <a:off x="4178808" y="179222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WF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33672" y="201168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concentration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33672" y="217627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Sun Care explains almost the full decline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233672" y="230428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Rebalance space to Face Cleanser; audit serum and sunscreen OSA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233672" y="232257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Sun Care recovery and OSA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129016" y="1792224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29016" y="1792224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4" name="Text 42"/>
          <p:cNvSpPr/>
          <p:nvPr/>
        </p:nvSpPr>
        <p:spPr>
          <a:xfrm>
            <a:off x="8129016" y="179222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MORE RETAIL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83880" y="201168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NPI penetration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83880" y="217627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NPI is 3.78% and Sun Care is declining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83880" y="230428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Prioritize top NPI EAN listings and seasonal recovery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183880" y="232257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NPI share &gt;5%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28600" y="2578608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2578608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" y="257860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H&amp;G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3464" y="279806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softness, not structural decline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3464" y="296265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Sun Care and Face Serum down; Face Cleanser offsets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83464" y="309067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Monitor and fix targeted EANs without blanket trade spend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3464" y="3108960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Stable sales/store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178808" y="2578608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78808" y="2578608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8" name="Text 56"/>
          <p:cNvSpPr/>
          <p:nvPr/>
        </p:nvSpPr>
        <p:spPr>
          <a:xfrm>
            <a:off x="4178808" y="257860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VISHAL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33672" y="279806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execution risk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233672" y="296265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Sites +10.2%; Shampoo and cleanser lead growth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233672" y="309067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Protect fill rate before adding more doors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33672" y="3108960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OSA and sales/new door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129016" y="2578608"/>
            <a:ext cx="3877056" cy="694944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29016" y="2578608"/>
            <a:ext cx="3877056" cy="20116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65" name="Text 63"/>
          <p:cNvSpPr/>
          <p:nvPr/>
        </p:nvSpPr>
        <p:spPr>
          <a:xfrm>
            <a:off x="8129016" y="257860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FSN/NYKAA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183880" y="2798064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June-July softness after strong base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183880" y="296265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July -4.6%, but conversion remains 99.4%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183880" y="309067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Protect top face-wash/sunscreen articles and maintain flow parity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183880" y="3108960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Conversion &gt;95%; return to ₹2.17 Cr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MAINTAINS NEAR-PARITY FLOW DESPITE MODEST JULY SOFTNESS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versus Pan India | January–July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₹2.08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46658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321308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59352" y="841248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4216" y="886968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014216" y="1146658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14216" y="1321308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 of Pan India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90104" y="841248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4968" y="886968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44968" y="1146658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44968" y="1321308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+26.0 pp vs Pan India</a:t>
            </a:r>
            <a:endParaRPr lang="en-US" sz="7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28600" y="1591056"/>
          <a:ext cx="11731752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228600" y="4261104"/>
            <a:ext cx="11731752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1" name="Text 18"/>
          <p:cNvSpPr/>
          <p:nvPr/>
        </p:nvSpPr>
        <p:spPr>
          <a:xfrm>
            <a:off x="228600" y="4261104"/>
            <a:ext cx="1173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ARTICLE ENGINES AND LEADERSHIP ACTION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28600" y="4572000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514600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72968" y="4572000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4612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58968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117336" y="4572000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90488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Ubtan Natural Glow FW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403336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061704" y="4572000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34856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347704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28600" y="4992624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1752" y="4992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VitC Daily Glow FW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514600" y="4992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172968" y="4992624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46120" y="4992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Ubtan FW 50 ml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458968" y="4992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117336" y="4992624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90488" y="4992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VitC Daily Glow Sunscreen 50 ml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8403336" y="4992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9061704" y="4992624"/>
            <a:ext cx="2871216" cy="365760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34856" y="4992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1347704" y="4992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228600" y="5413248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  |  Protect top face-wash and sunscreen availability, reverse the 4.6% June–July softness, and retain &gt;95% flow conversion as the account benchmark.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CONTRIBUTES ₹2.82 CR; RELIANCE AND DMART HOLD MOST OF THE VALUE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contribution | Overall, zone and chain | July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886968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₹2.82 Cr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3464" y="1146658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SALES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3464" y="1321308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 · 58/60 EANs active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59352" y="841248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4216" y="886968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014216" y="1146658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14216" y="1321308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90104" y="841248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4968" y="886968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44968" y="1146658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44968" y="1321308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require audit before loading</a:t>
            </a:r>
            <a:endParaRPr lang="en-US" sz="7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28600" y="1591056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Chart 1" descr=""/>
          <p:cNvGraphicFramePr/>
          <p:nvPr/>
        </p:nvGraphicFramePr>
        <p:xfrm>
          <a:off x="5605272" y="1591056"/>
          <a:ext cx="63550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228600" y="3968496"/>
            <a:ext cx="777240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2" name="Text 18"/>
          <p:cNvSpPr/>
          <p:nvPr/>
        </p:nvSpPr>
        <p:spPr>
          <a:xfrm>
            <a:off x="228600" y="39684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TOP NPI ARTICLES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228600" y="4224528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83464" y="422452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 Onion Hair Fall Control Shampoo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1691640" y="42245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₹0.31 Cr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203704" y="4224528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258568" y="422452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 Onion Hair Oil 200 ml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666744" y="42245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₹0.30 Cr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178808" y="4224528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33672" y="422452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 Gentle Cleansing Shampoo 400 ml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641848" y="42245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₹0.21 Cr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6153912" y="4224528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08776" y="422452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 Multani Mitti Face Wash 100 ml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616952" y="42245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₹0.20 Cr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228600" y="4626864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83464" y="4626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 Vitamin C Daily Glow Sunscreen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91640" y="46268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₹0.20 Cr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2203704" y="4626864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258568" y="4626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 Lemon Anti-Dandruff Shampoo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666744" y="46268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₹0.19 Cr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4178808" y="4626864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233672" y="4626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Rosemary Anti-Hair Fall Shampoo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641848" y="46268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₹0.18 Cr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6153912" y="4626864"/>
            <a:ext cx="1920240" cy="3474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208776" y="46268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ME Rice Water Dewy Sunscreen 80 ml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7616952" y="462686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₹0.18 Cr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8055864" y="3968496"/>
            <a:ext cx="4133088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8" name="Text 44"/>
          <p:cNvSpPr/>
          <p:nvPr/>
        </p:nvSpPr>
        <p:spPr>
          <a:xfrm>
            <a:off x="8055864" y="396849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ZERO-SALE EANs (AUDIT REQUIRED)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8055864" y="4224528"/>
            <a:ext cx="4133088" cy="731520"/>
          </a:xfrm>
          <a:prstGeom prst="rect">
            <a:avLst/>
          </a:prstGeom>
          <a:solidFill>
            <a:srgbClr val="18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055864" y="4224528"/>
            <a:ext cx="4133088" cy="73152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130g</a:t>
            </a:r>
            <a:endParaRPr lang="en-US" sz="900" dirty="0"/>
          </a:p>
          <a:p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900" dirty="0"/>
          </a:p>
          <a:p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further loading.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57" name="Shape 53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AND RELIANCE HOLD MOST OF THE CONVERTIBLE CHAIN GAP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July 2026 | ₹ Cr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932688"/>
          <a:ext cx="7406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08392" y="932688"/>
            <a:ext cx="448056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9" name="Text 6"/>
          <p:cNvSpPr/>
          <p:nvPr/>
        </p:nvSpPr>
        <p:spPr>
          <a:xfrm>
            <a:off x="7708392" y="9326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ACCOUNT SIGNALS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08392" y="1188720"/>
            <a:ext cx="4480560" cy="585216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63256" y="1234440"/>
            <a:ext cx="4370832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₹4.29 Cr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763256" y="1471087"/>
            <a:ext cx="4370832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GAP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763256" y="1627632"/>
            <a:ext cx="4370832" cy="12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7708392" y="1810512"/>
            <a:ext cx="4480560" cy="585216"/>
          </a:xfrm>
          <a:prstGeom prst="rect">
            <a:avLst/>
          </a:prstGeom>
          <a:solidFill>
            <a:srgbClr val="180A0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63256" y="1856232"/>
            <a:ext cx="4370832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₹7.61 Cr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763256" y="2092879"/>
            <a:ext cx="4370832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GAP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763256" y="2249424"/>
            <a:ext cx="4370832" cy="12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708392" y="2432304"/>
            <a:ext cx="4480560" cy="585216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63256" y="2478024"/>
            <a:ext cx="4370832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763256" y="2714671"/>
            <a:ext cx="4370832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763256" y="2871216"/>
            <a:ext cx="4370832" cy="12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flow parity · replicate cadence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7708392" y="3054096"/>
            <a:ext cx="4480560" cy="585216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63256" y="3099816"/>
            <a:ext cx="4370832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7763256" y="3336463"/>
            <a:ext cx="4370832" cy="15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763256" y="3493008"/>
            <a:ext cx="4370832" cy="12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 of total · benchmark conversion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228600" y="4114800"/>
            <a:ext cx="11731752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4"/>
          <p:cNvSpPr/>
          <p:nvPr/>
        </p:nvSpPr>
        <p:spPr>
          <a:xfrm>
            <a:off x="228600" y="4114800"/>
            <a:ext cx="1173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ACCOUNT PLAN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228600" y="4370832"/>
            <a:ext cx="11731752" cy="182880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North; review top-SKU store availability and DC-to-store fill. (Gap ₹4.29 Cr @ 76.5% conv)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prioritize North and East; convert billed inventory through chain-specific hero-SKU visibility and replenishment. (Gap ₹7.61 Cr @ 51.4% conv)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cadence and replicate its near-parity review rhythm across strategic accounts. (99.7% conv — the standard)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above 100% conversion cannot be called over-converted without opening stock; investigate distributor and timing coverage.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Metro: stop range expansion until sales/SKU and store productivity recover. Gap ₹1.36 Cr; 26.3% conversion.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RECOVER: ₹11.89 Cr DMart + Reliance combined gap · REPLICATE: Apollo 99.7% · CONTROL: &gt;100% = stock/timing signal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CARE POWERS TWO-THIRDS OF OFFTAKE; BRAND CONVERSION IS CONCENTRATED IN TWO ENGINES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932688"/>
          <a:ext cx="48463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148072" y="932688"/>
          <a:ext cx="3383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8604504" y="932688"/>
          <a:ext cx="3383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228600" y="3493008"/>
            <a:ext cx="11731752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1" name="Text 6"/>
          <p:cNvSpPr/>
          <p:nvPr/>
        </p:nvSpPr>
        <p:spPr>
          <a:xfrm>
            <a:off x="228600" y="3493008"/>
            <a:ext cx="1173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PORTFOLIO IMPLICATIONS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228600" y="3749040"/>
            <a:ext cx="11731752" cy="2468880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contributes 67.8% of offtake and converts at 73.4%.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adds ₹11.03 Cr but carries a ₹4.16 Cr flow gap.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closes July at ₹8.53 Cr; protect its hero EAN availability.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closes July at ₹7.13 Cr; sustain productive distribution.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+47.6% MoM (₹4.83→₹7.13 Cr) — fastest growing sub-category in portfolio.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above 100% conversion signals stock/timing effects; validate availability before additional loading.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holds steady at ₹6.95 Cr; MoM stable in Jul despite peak Sun Care season ending.</a:t>
            </a:r>
            <a:endParaRPr lang="en-US" sz="950" dirty="0"/>
          </a:p>
          <a:p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declining naturally after peak (₹3.10→₹1.30 Cr); not a share loss — seasonal rotation expected.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OPERATING CADENCE CAN CONVERT THE GAP WITHOUT INDISCRIMINATE LOADING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owners, actions and proof points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3840480" cy="3108960"/>
          </a:xfrm>
          <a:prstGeom prst="rect">
            <a:avLst/>
          </a:prstGeom>
          <a:solidFill>
            <a:srgbClr val="111D3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32688"/>
            <a:ext cx="384048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0–30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133502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1335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2801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 / WD / PDO / OOS fields across all chains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197510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19202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state × chain × hero-EAN gaps for North and East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" y="261518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2560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stores missing Rice / Ubtan / Onion / Rosemary heroes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" y="325526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32004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loading weak-conversion exceptions (Reliance North/East)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932688"/>
            <a:ext cx="3840480" cy="3108960"/>
          </a:xfrm>
          <a:prstGeom prst="rect">
            <a:avLst/>
          </a:prstGeom>
          <a:solidFill>
            <a:srgbClr val="111D3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932688"/>
            <a:ext cx="384048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31–60 DAYS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0248" y="1335024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270248" y="1335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12801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white space in ₹ using productive stores × PDO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70248" y="1975104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4270248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26280" y="19202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pack and hero-SKU controlled pilots in test chains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70248" y="2615184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270248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26280" y="2560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share-transfer causes in declining markets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70248" y="3255264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4270248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26280" y="32004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Apollo flow cadence across mid-tier chains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92440" y="932688"/>
            <a:ext cx="3840480" cy="3108960"/>
          </a:xfrm>
          <a:prstGeom prst="rect">
            <a:avLst/>
          </a:prstGeom>
          <a:solidFill>
            <a:srgbClr val="111D3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932688"/>
            <a:ext cx="384048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61–90 DAYS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02168" y="1335024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8202168" y="1335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58200" y="12801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proven state × chain × SKU cells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02168" y="1975104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8202168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58200" y="19202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 rules by verified conversion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02168" y="2615184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8202168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58200" y="2560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 dead/low-productivity packs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02168" y="3255264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0" name="Text 48"/>
          <p:cNvSpPr/>
          <p:nvPr/>
        </p:nvSpPr>
        <p:spPr>
          <a:xfrm>
            <a:off x="8202168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58200" y="32004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 in all zone reviews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4133088"/>
            <a:ext cx="11731752" cy="237744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53" name="Text 51"/>
          <p:cNvSpPr/>
          <p:nvPr/>
        </p:nvSpPr>
        <p:spPr>
          <a:xfrm>
            <a:off x="228600" y="4133088"/>
            <a:ext cx="11731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WEEKLY MANAGEMENT SCOREBOARD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28600" y="4407408"/>
            <a:ext cx="3840480" cy="493776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40740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148840" y="44074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&gt;90%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081528" y="44074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9A1A"/>
                </a:solidFill>
              </a:rPr>
              <a:t>Sales lead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60520" y="4407408"/>
            <a:ext cx="3840480" cy="493776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40740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080760" y="44074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↓ weekly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13448" y="44074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9A1A"/>
                </a:solidFill>
              </a:rPr>
              <a:t>North ZSM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92440" y="4407408"/>
            <a:ext cx="3840480" cy="493776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83880" y="440740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0012680" y="44074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↓ weekly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945368" y="44074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9A1A"/>
                </a:solidFill>
              </a:rPr>
              <a:t>East ZSM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28600" y="4956048"/>
            <a:ext cx="3840480" cy="493776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9560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148840" y="49560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&gt;95%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081528" y="49560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9A1A"/>
                </a:solidFill>
              </a:rPr>
              <a:t>KAM + Supply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160520" y="4956048"/>
            <a:ext cx="3840480" cy="493776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0" y="49560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/ Reliance gap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080760" y="49560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Close 50%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13448" y="49560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9A1A"/>
                </a:solidFill>
              </a:rPr>
              <a:t>KAMs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092440" y="4956048"/>
            <a:ext cx="3840480" cy="493776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83880" y="49560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exceptions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012680" y="49560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0 unresolved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945368" y="49560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9A1A"/>
                </a:solidFill>
              </a:rPr>
              <a:t>Analytics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Codex analysis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6"/>
          </a:solidFill>
          <a:ln/>
        </p:spPr>
      </p:sp>
      <p:sp>
        <p:nvSpPr>
          <p:cNvPr id="3" name="Shape 1"/>
          <p:cNvSpPr/>
          <p:nvPr/>
        </p:nvSpPr>
        <p:spPr>
          <a:xfrm>
            <a:off x="11484864" y="109728"/>
            <a:ext cx="502920" cy="502920"/>
          </a:xfrm>
          <a:prstGeom prst="ellipse">
            <a:avLst/>
          </a:prstGeom>
          <a:solidFill>
            <a:srgbClr val="C49A1A"/>
          </a:solidFill>
          <a:ln/>
        </p:spPr>
      </p:sp>
      <p:sp>
        <p:nvSpPr>
          <p:cNvPr id="4" name="Text 2"/>
          <p:cNvSpPr/>
          <p:nvPr/>
        </p:nvSpPr>
        <p:spPr>
          <a:xfrm>
            <a:off x="11484864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DECISION-SAFE DEFINITIONS, QUALITY GATES AND AUTHORITY BOUNDARIES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28600" y="62179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center | source coverage, interpretation and controlled execution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841248"/>
            <a:ext cx="1173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49A1A"/>
                </a:solidFill>
              </a:rPr>
              <a:t>Use the deck to prioritize investigation and owner action — not to infer inventory, causality or autonomous execution.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078992"/>
            <a:ext cx="1173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</a:rPr>
              <a:t>Every consequential commercial change remains subject to named human approval.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353312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" y="1399032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83464" y="1658722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3464" y="1833372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 · July primary sheet · Converted to ₹ Cr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959352" y="1353312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14216" y="1399032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014216" y="1658722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14216" y="1833372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transaction NSV · Compiled offtake source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690104" y="1353312"/>
            <a:ext cx="3657600" cy="640080"/>
          </a:xfrm>
          <a:prstGeom prst="rect">
            <a:avLst/>
          </a:prstGeom>
          <a:solidFill>
            <a:srgbClr val="111D3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4968" y="1399032"/>
            <a:ext cx="3547872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744968" y="1658722"/>
            <a:ext cx="3547872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44968" y="1833372"/>
            <a:ext cx="3547872" cy="14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· Comparable mapped cuts only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2103120"/>
            <a:ext cx="3840480" cy="17190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103120"/>
            <a:ext cx="384048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SOURCE COVERAGE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2359152"/>
            <a:ext cx="3840480" cy="144475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/ 197,740 primary / offtake rows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July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2103120"/>
            <a:ext cx="3840480" cy="17190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0520" y="2103120"/>
            <a:ext cx="384048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160520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DECISION FOCUS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60520" y="2359152"/>
            <a:ext cx="3840480" cy="144475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material conversion gaps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proven demand signals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availability before loading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92440" y="2103120"/>
            <a:ext cx="3840480" cy="17190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2103120"/>
            <a:ext cx="384048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ACCOUNT MAPPING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92440" y="2359152"/>
            <a:ext cx="3840480" cy="144475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 FSN + Nykaa SS combined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Article-level account view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flow handled separately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931920"/>
            <a:ext cx="3840480" cy="17190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931920"/>
            <a:ext cx="384048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DIAGNOSTIC GATE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4187952"/>
            <a:ext cx="3840480" cy="144475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 / WD / PDO / OOS first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not measured here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claim before state-chain validation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60520" y="3931920"/>
            <a:ext cx="3840480" cy="17190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0520" y="3931920"/>
            <a:ext cx="384048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9" name="Text 37"/>
          <p:cNvSpPr/>
          <p:nvPr/>
        </p:nvSpPr>
        <p:spPr>
          <a:xfrm>
            <a:off x="4160520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HUMAN APPROVAL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60520" y="4187952"/>
            <a:ext cx="3840480" cy="144475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and sizes — humans approve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/ RKAM / KAM approve loading, range and distribution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proof fails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92440" y="3931920"/>
            <a:ext cx="3840480" cy="1719072"/>
          </a:xfrm>
          <a:prstGeom prst="rect">
            <a:avLst/>
          </a:prstGeom>
          <a:solidFill>
            <a:srgbClr val="111D38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2440" y="3931920"/>
            <a:ext cx="3840480" cy="219456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3" name="Text 41"/>
          <p:cNvSpPr/>
          <p:nvPr/>
        </p:nvSpPr>
        <p:spPr>
          <a:xfrm>
            <a:off x="8092440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ACTION RECEIPT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92440" y="4187952"/>
            <a:ext cx="3840480" cy="1444752"/>
          </a:xfrm>
          <a:prstGeom prst="rect">
            <a:avLst/>
          </a:prstGeom>
          <a:noFill/>
          <a:ln/>
        </p:spPr>
        <p:txBody>
          <a:bodyPr wrap="square" lIns="25400" tIns="177800" rIns="50800" bIns="25400" rtlCol="0" anchor="t"/>
          <a:lstStyle/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 and state evidence and authority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closure and outcome</a:t>
            </a:r>
            <a:endParaRPr lang="en-US" sz="900" dirty="0"/>
          </a:p>
          <a:p>
            <a:r>
              <a:rPr lang="en-US" sz="9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proof fails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8600" y="5943600"/>
            <a:ext cx="1173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1A"/>
                </a:solidFill>
              </a:rPr>
              <a:t>DEMAND · protect hero SKUs    DISTRIBUTION · close chain-zone gaps    CONVERSION · move toward &gt;90%    GOVERNANCE · weekly EAN review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EVIDENCE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61538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IMPLICATION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solidFill>
            <a:srgbClr val="0F2040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94476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ACTION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solidFill>
            <a:srgbClr val="162548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27414" y="6291072"/>
            <a:ext cx="2932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1A"/>
                </a:solidFill>
              </a:rPr>
              <a:t>OWNER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28600" y="6702552"/>
            <a:ext cx="1173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</a:rPr>
              <a:t>Source: pipeline v2.4.0 · July Offtake + Primary.xlsb · 2026-08-19 | Human approval required before consequential commercial execution.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2026-08-19T10:52:30Z</dcterms:created>
  <dcterms:modified xsi:type="dcterms:W3CDTF">2026-08-19T10:52:30Z</dcterms:modified>
</cp:coreProperties>
</file>