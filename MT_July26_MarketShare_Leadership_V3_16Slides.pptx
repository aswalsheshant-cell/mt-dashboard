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7"/>
    <p:sldId id="257" r:id="rId8"/>
    <p:sldId id="258" r:id="rId9"/>
    <p:sldId id="259" r:id="rId10"/>
    <p:sldId id="260" r:id="rId11"/>
    <p:sldId id="261" r:id="rId6"/>
    <p:sldId id="262" r:id="rId5"/>
    <p:sldId id="263" r:id="rId4"/>
    <p:sldId id="264" r:id="rId3"/>
    <p:sldId id="265" r:id="rId2"/>
    <p:sldId id="266" r:id="rId17"/>
    <p:sldId id="267" r:id="rId18"/>
    <p:sldId id="268" r:id="rId19"/>
    <p:sldId id="269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61" d="100"/>
          <a:sy n="61" d="100"/>
        </p:scale>
        <p:origin x="88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0.xml"/><Relationship Id="rId3" Type="http://schemas.openxmlformats.org/officeDocument/2006/relationships/slide" Target="slides/slide9.xml"/><Relationship Id="rId4" Type="http://schemas.openxmlformats.org/officeDocument/2006/relationships/slide" Target="slides/slide8.xml"/><Relationship Id="rId5" Type="http://schemas.openxmlformats.org/officeDocument/2006/relationships/slide" Target="slides/slide7.xml"/><Relationship Id="rId6" Type="http://schemas.openxmlformats.org/officeDocument/2006/relationships/slide" Target="slides/slide6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2868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Modern Trade Leadership Review — July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0F0F0"/>
                </a:solidFill>
              </a:defRPr>
            </a:pPr>
            <a:r>
              <a:t>Q1–Jul FY27 Performance Review | Zone Accountability &amp; Market Share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F0F0F0"/>
                </a:solidFill>
              </a:defRPr>
            </a:pPr>
            <a:r>
              <a:t>September 5,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A9DB0"/>
                </a:solidFill>
              </a:defRPr>
            </a:pPr>
            <a:r>
              <a:t>Table of 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0F0F0"/>
                </a:solidFill>
              </a:defRPr>
            </a:pPr>
            <a:r>
              <a:t>Executive Summary: Q1–Jul FY27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81328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48132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0F0F0"/>
                </a:solidFill>
              </a:defRPr>
            </a:pPr>
            <a:r>
              <a:t>Zone Performance Deep-Dive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73936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773936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0F0F0"/>
                </a:solidFill>
              </a:defRPr>
            </a:pPr>
            <a:r>
              <a:t>Chain-wise Breakdown &amp; Conversion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66543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066543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0F0F0"/>
                </a:solidFill>
              </a:defRPr>
            </a:pPr>
            <a:r>
              <a:t>Brand Performance &amp; Market Share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359152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35915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0F0F0"/>
                </a:solidFill>
              </a:defRPr>
            </a:pPr>
            <a:r>
              <a:t>Competitive Landscape &amp; Market Trends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65176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6517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0F0F0"/>
                </a:solidFill>
              </a:defRPr>
            </a:pPr>
            <a:r>
              <a:t>Key Insights: Zone Accountability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944368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94436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0F0F0"/>
                </a:solidFill>
              </a:defRPr>
            </a:pPr>
            <a:r>
              <a:t>North Zone — Validation &amp; Recovery 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236976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236976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0F0F0"/>
                </a:solidFill>
              </a:defRPr>
            </a:pPr>
            <a:r>
              <a:t>South-2 Zone — DMart Conversion Crisis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118872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11887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0F0F0"/>
                </a:solidFill>
              </a:defRPr>
            </a:pPr>
            <a:r>
              <a:t>East Zone — Inventory &amp; Loading 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1481328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148132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0F0F0"/>
                </a:solidFill>
              </a:defRPr>
            </a:pPr>
            <a:r>
              <a:t>Top Opportunities: ₹8.5 Cr Recoverable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1773936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1773936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0F0F0"/>
                </a:solidFill>
              </a:defRPr>
            </a:pPr>
            <a:r>
              <a:t>30-Day Action Register &amp; Owners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2066543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2066543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0F0F0"/>
                </a:solidFill>
              </a:defRPr>
            </a:pPr>
            <a:r>
              <a:t>Store Audit Program &amp; Weekly Tracking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2359152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13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0" y="235915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0F0F0"/>
                </a:solidFill>
              </a:defRPr>
            </a:pPr>
            <a:r>
              <a:t>Promo Mechanics &amp; Load Adjustments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265176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14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0" y="26517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0F0F0"/>
                </a:solidFill>
              </a:defRPr>
            </a:pPr>
            <a:r>
              <a:t>Next Month Forecast &amp; Assumptions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2944368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15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294436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0F0F0"/>
                </a:solidFill>
              </a:defRPr>
            </a:pPr>
            <a:r>
              <a:t>Appendix: Data Tables &amp; Methodology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3236976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40" y="3236976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0F0F0"/>
                </a:solidFill>
              </a:defRPr>
            </a:pPr>
            <a:r>
              <a:t>Action Items &amp; Owner Accountability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A9DB0"/>
                </a:solidFill>
              </a:defRPr>
            </a:pPr>
            <a:r>
              <a:t>Executive Summary: Q1–Jul FY27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A9D7E"/>
                </a:solidFill>
              </a:defRPr>
            </a:pPr>
            <a:r>
              <a:t>Q1 Offtake: 114 Cr | 27% Sequential Growth | 64% YoY Growth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011680"/>
            <a:ext cx="2560320" cy="1645920"/>
          </a:xfrm>
          <a:prstGeom prst="rect">
            <a:avLst/>
          </a:prstGeom>
          <a:solidFill>
            <a:srgbClr val="1E2837"/>
          </a:solidFill>
          <a:ln w="25400">
            <a:solidFill>
              <a:srgbClr val="2A9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148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0F0F0"/>
                </a:solidFill>
              </a:defRPr>
            </a:pPr>
            <a:r>
              <a:t>Q1 FY27</a:t>
            </a:r>
            <a:br/>
            <a:r>
              <a:t>Offtake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5603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A9D7E"/>
                </a:solidFill>
              </a:defRPr>
            </a:pPr>
            <a:r>
              <a:t>₹114.39 Cr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200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69696"/>
                </a:solidFill>
              </a:defRPr>
            </a:pPr>
            <a:r>
              <a:t>Apr-Jun verified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2011680"/>
            <a:ext cx="2560320" cy="1645920"/>
          </a:xfrm>
          <a:prstGeom prst="rect">
            <a:avLst/>
          </a:prstGeom>
          <a:solidFill>
            <a:srgbClr val="1E2837"/>
          </a:solidFill>
          <a:ln w="25400">
            <a:solidFill>
              <a:srgbClr val="2A9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2148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0F0F0"/>
                </a:solidFill>
              </a:defRPr>
            </a:pPr>
            <a:r>
              <a:t>4-Month Total</a:t>
            </a:r>
            <a:br/>
            <a:r>
              <a:t>(Apr-Jul)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5603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A9D7E"/>
                </a:solidFill>
              </a:defRPr>
            </a:pPr>
            <a:r>
              <a:t>₹185.81 Cr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3200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69696"/>
                </a:solidFill>
              </a:defRPr>
            </a:pPr>
            <a:r>
              <a:t>Excel patch merged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2011680"/>
            <a:ext cx="2560320" cy="1645920"/>
          </a:xfrm>
          <a:prstGeom prst="rect">
            <a:avLst/>
          </a:prstGeom>
          <a:solidFill>
            <a:srgbClr val="1E2837"/>
          </a:solidFill>
          <a:ln w="25400">
            <a:solidFill>
              <a:srgbClr val="2A9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148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0F0F0"/>
                </a:solidFill>
              </a:defRPr>
            </a:pPr>
            <a:r>
              <a:t>July Offtake</a:t>
            </a:r>
            <a:br/>
            <a:r>
              <a:t>(Estimate)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5603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A9D7E"/>
                </a:solidFill>
              </a:defRPr>
            </a:pPr>
            <a:r>
              <a:t>₹71.42 Cr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200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69696"/>
                </a:solidFill>
              </a:defRPr>
            </a:pPr>
            <a:r>
              <a:t>FY27 run rate tracking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2A9D7E"/>
                </a:solidFill>
              </a:rPr>
              <a:t>STRENGTH:</a:t>
            </a:r>
            <a:r>
              <a:rPr sz="1100">
                <a:solidFill>
                  <a:srgbClr val="F0F0F0"/>
                </a:solidFill>
              </a:rPr>
              <a:t> West + South-1 zones outperforming (82-84% conversion)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E63946"/>
                </a:solidFill>
              </a:rPr>
              <a:t>RISK:</a:t>
            </a:r>
            <a:r>
              <a:rPr sz="1100">
                <a:solidFill>
                  <a:srgbClr val="F0F0F0"/>
                </a:solidFill>
              </a:rPr>
              <a:t> North + East zones below 60% conversion (₹9.25 Cr gap)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F7A261"/>
                </a:solidFill>
              </a:rPr>
              <a:t>ACTION:</a:t>
            </a:r>
            <a:r>
              <a:rPr sz="1100">
                <a:solidFill>
                  <a:srgbClr val="F0F0F0"/>
                </a:solidFill>
              </a:rPr>
              <a:t> Zone accountability reviews + 30-day recovery plans activated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A9DB0"/>
                </a:solidFill>
              </a:defRPr>
            </a:pPr>
            <a:r>
              <a:t>Zone Performance Scorecard: Conversion &amp; Gap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Zone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100584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Offtake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100584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Conversion 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00584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Gap ₹ Cr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10058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Status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25880"/>
            <a:ext cx="7315200" cy="320040"/>
          </a:xfrm>
          <a:prstGeom prst="rect">
            <a:avLst/>
          </a:prstGeom>
          <a:solidFill>
            <a:srgbClr val="192332"/>
          </a:solidFill>
          <a:ln w="6350">
            <a:solidFill>
              <a:srgbClr val="3C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0F0F0"/>
                </a:solidFill>
              </a:defRPr>
            </a:pPr>
            <a:r>
              <a:t>West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371600"/>
            <a:ext cx="118871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0F0F0"/>
                </a:solidFill>
              </a:defRPr>
            </a:pPr>
            <a:r>
              <a:t>₹8.28 Cr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371600"/>
            <a:ext cx="118871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0F0F0"/>
                </a:solidFill>
              </a:defRPr>
            </a:pPr>
            <a:r>
              <a:t>82.3%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371600"/>
            <a:ext cx="118871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0F0F0"/>
                </a:solidFill>
              </a:defRPr>
            </a:pPr>
            <a:r>
              <a:t>₹1.78 Cr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1371600"/>
            <a:ext cx="10058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00">
                <a:solidFill>
                  <a:srgbClr val="F7A261"/>
                </a:solidFill>
              </a:defRPr>
            </a:pPr>
            <a:r>
              <a:t>WATCH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73736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0F0F0"/>
                </a:solidFill>
              </a:defRPr>
            </a:pPr>
            <a:r>
              <a:t>South-1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1737360"/>
            <a:ext cx="118871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0F0F0"/>
                </a:solidFill>
              </a:defRPr>
            </a:pPr>
            <a:r>
              <a:t>₹8.19 Cr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1737360"/>
            <a:ext cx="118871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0F0F0"/>
                </a:solidFill>
              </a:defRPr>
            </a:pPr>
            <a:r>
              <a:t>83.6%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1737360"/>
            <a:ext cx="118871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0F0F0"/>
                </a:solidFill>
              </a:defRPr>
            </a:pPr>
            <a:r>
              <a:t>₹1.61 Cr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1737360"/>
            <a:ext cx="10058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00">
                <a:solidFill>
                  <a:srgbClr val="F7A261"/>
                </a:solidFill>
              </a:defRPr>
            </a:pPr>
            <a:r>
              <a:t>WATCH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057400"/>
            <a:ext cx="7315200" cy="320040"/>
          </a:xfrm>
          <a:prstGeom prst="rect">
            <a:avLst/>
          </a:prstGeom>
          <a:solidFill>
            <a:srgbClr val="192332"/>
          </a:solidFill>
          <a:ln w="6350">
            <a:solidFill>
              <a:srgbClr val="3C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10312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0F0F0"/>
                </a:solidFill>
              </a:defRPr>
            </a:pPr>
            <a:r>
              <a:t>North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2103120"/>
            <a:ext cx="118871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0F0F0"/>
                </a:solidFill>
              </a:defRPr>
            </a:pPr>
            <a:r>
              <a:t>₹6.99 Cr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2103120"/>
            <a:ext cx="118871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0F0F0"/>
                </a:solidFill>
              </a:defRPr>
            </a:pPr>
            <a:r>
              <a:t>58.5%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2103120"/>
            <a:ext cx="118871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0F0F0"/>
                </a:solidFill>
              </a:defRPr>
            </a:pPr>
            <a:r>
              <a:t>₹4.97 Cr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2103120"/>
            <a:ext cx="10058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00">
                <a:solidFill>
                  <a:srgbClr val="E63946"/>
                </a:solidFill>
              </a:defRPr>
            </a:pPr>
            <a:r>
              <a:t>FIX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2468879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0F0F0"/>
                </a:solidFill>
              </a:defRPr>
            </a:pPr>
            <a:r>
              <a:t>South-2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2468879"/>
            <a:ext cx="118871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0F0F0"/>
                </a:solidFill>
              </a:defRPr>
            </a:pPr>
            <a:r>
              <a:t>₹4.91 Cr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2468879"/>
            <a:ext cx="118871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0F0F0"/>
                </a:solidFill>
              </a:defRPr>
            </a:pPr>
            <a:r>
              <a:t>71.3%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2468879"/>
            <a:ext cx="118871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0F0F0"/>
                </a:solidFill>
              </a:defRPr>
            </a:pPr>
            <a:r>
              <a:t>₹1.98 Cr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2468879"/>
            <a:ext cx="10058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00">
                <a:solidFill>
                  <a:srgbClr val="E63946"/>
                </a:solidFill>
              </a:defRPr>
            </a:pPr>
            <a:r>
              <a:t>FIX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2788920"/>
            <a:ext cx="7315200" cy="320040"/>
          </a:xfrm>
          <a:prstGeom prst="rect">
            <a:avLst/>
          </a:prstGeom>
          <a:solidFill>
            <a:srgbClr val="192332"/>
          </a:solidFill>
          <a:ln w="6350">
            <a:solidFill>
              <a:srgbClr val="3C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2834639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0F0F0"/>
                </a:solidFill>
              </a:defRPr>
            </a:pPr>
            <a:r>
              <a:t>East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2834639"/>
            <a:ext cx="118871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0F0F0"/>
                </a:solidFill>
              </a:defRPr>
            </a:pPr>
            <a:r>
              <a:t>₹3.55 Cr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91840" y="2834639"/>
            <a:ext cx="118871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0F0F0"/>
                </a:solidFill>
              </a:defRPr>
            </a:pPr>
            <a:r>
              <a:t>45.3%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2834639"/>
            <a:ext cx="118871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0F0F0"/>
                </a:solidFill>
              </a:defRPr>
            </a:pPr>
            <a:r>
              <a:t>₹4.28 Cr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5040" y="2834639"/>
            <a:ext cx="10058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00">
                <a:solidFill>
                  <a:srgbClr val="E63946"/>
                </a:solidFill>
              </a:defRPr>
            </a:pPr>
            <a:r>
              <a:t>URGENT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200399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0F0F0"/>
                </a:solidFill>
              </a:defRPr>
            </a:pPr>
            <a:r>
              <a:t>Central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20240" y="3200399"/>
            <a:ext cx="118871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0F0F0"/>
                </a:solidFill>
              </a:defRPr>
            </a:pPr>
            <a:r>
              <a:t>₹2.12 Cr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91840" y="3200399"/>
            <a:ext cx="118871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0F0F0"/>
                </a:solidFill>
              </a:defRPr>
            </a:pPr>
            <a:r>
              <a:t>78.8%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3200399"/>
            <a:ext cx="118871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0F0F0"/>
                </a:solidFill>
              </a:defRPr>
            </a:pPr>
            <a:r>
              <a:t>₹0.57 Cr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35040" y="3200399"/>
            <a:ext cx="10058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00">
                <a:solidFill>
                  <a:srgbClr val="F7A261"/>
                </a:solidFill>
              </a:defRPr>
            </a:pPr>
            <a:r>
              <a:t>WATCH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53035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F7A261"/>
                </a:solidFill>
              </a:defRPr>
            </a:pPr>
            <a:r>
              <a:t>KEY INSIGHT: East (45.3%) and North (58.5%) zones require immediate validation. Store audit program active. 30-day recovery roadmaps in place.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A9DB0"/>
                </a:solidFill>
              </a:defRPr>
            </a:pPr>
            <a:r>
              <a:t>Top 3 Chains Drive 87% of MT Offtake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7A261"/>
                </a:solidFill>
              </a:defRPr>
            </a:pPr>
            <a:r>
              <a:t>Q1 FY27 NSV by chain | Concentration risk: 87% in 3 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2377440" cy="1645920"/>
          </a:xfrm>
          <a:prstGeom prst="rect">
            <a:avLst/>
          </a:prstGeom>
          <a:solidFill>
            <a:srgbClr val="1E2837"/>
          </a:solidFill>
          <a:ln w="25400">
            <a:solidFill>
              <a:srgbClr val="2A9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DMart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A9D7E"/>
                </a:solidFill>
              </a:defRPr>
            </a:pPr>
            <a:r>
              <a:t>₹52.1 Cr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51460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0F0F0"/>
                </a:solidFill>
              </a:defRPr>
            </a:pPr>
            <a:r>
              <a:t>45.6% of MT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463040"/>
            <a:ext cx="2377440" cy="1645920"/>
          </a:xfrm>
          <a:prstGeom prst="rect">
            <a:avLst/>
          </a:prstGeom>
          <a:solidFill>
            <a:srgbClr val="1E2837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160020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Reliance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19659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A9D7E"/>
                </a:solidFill>
              </a:defRPr>
            </a:pPr>
            <a:r>
              <a:t>₹28.7 Cr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51460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0F0F0"/>
                </a:solidFill>
              </a:defRPr>
            </a:pPr>
            <a:r>
              <a:t>25.1% of MT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463040"/>
            <a:ext cx="2377440" cy="1645920"/>
          </a:xfrm>
          <a:prstGeom prst="rect">
            <a:avLst/>
          </a:prstGeom>
          <a:solidFill>
            <a:srgbClr val="1E2837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160020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Apollo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19659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A9D7E"/>
                </a:solidFill>
              </a:defRPr>
            </a:pPr>
            <a:r>
              <a:t>₹18.2 Cr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251460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0F0F0"/>
                </a:solidFill>
              </a:defRPr>
            </a:pPr>
            <a:r>
              <a:t>15.9% of MT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3832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1000">
                <a:solidFill>
                  <a:srgbClr val="F0F0F0"/>
                </a:solidFill>
              </a:defRPr>
            </a:pPr>
            <a:r>
              <a:t>DMart 45.6% share: largest account, conversion discipline strong (94% in West, needs work in South-2 at 45%)</a:t>
            </a:r>
          </a:p>
          <a:p>
            <a:pPr>
              <a:spcBef>
                <a:spcPts val="400"/>
              </a:spcBef>
              <a:defRPr sz="1000">
                <a:solidFill>
                  <a:srgbClr val="F0F0F0"/>
                </a:solidFill>
              </a:defRPr>
            </a:pPr>
            <a:r>
              <a:t>Reliance 25.1% share: conversion varies widely by zone (44.9% North vs 82.5% South-2) — Paisa Vasool loading risk in North</a:t>
            </a:r>
          </a:p>
          <a:p>
            <a:pPr>
              <a:spcBef>
                <a:spcPts val="400"/>
              </a:spcBef>
              <a:defRPr sz="1000">
                <a:solidFill>
                  <a:srgbClr val="F0F0F0"/>
                </a:solidFill>
              </a:defRPr>
            </a:pPr>
            <a:r>
              <a:t>Apollo 15.9% share: new entrant momentum, but &gt;100% conversion in South-2 &amp; East suggests opening stock reconciliation needed</a:t>
            </a:r>
          </a:p>
          <a:p>
            <a:pPr>
              <a:spcBef>
                <a:spcPts val="400"/>
              </a:spcBef>
              <a:defRPr sz="1000">
                <a:solidFill>
                  <a:srgbClr val="F0F0F0"/>
                </a:solidFill>
              </a:defRPr>
            </a:pPr>
            <a:r>
              <a:t>Concentration risk: All 3 chains together = 87% of offtake. Single-chain disruption = material P&amp;L impact.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A9DB0"/>
                </a:solidFill>
              </a:defRPr>
            </a:pPr>
            <a:r>
              <a:t>Brand Performance: Mamaearth Stable, TDC Explosive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Brand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10972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Q1 Offtake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0" y="109728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YoY Growth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09728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Key Driver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00">
                <a:solidFill>
                  <a:srgbClr val="FFFFFF"/>
                </a:solidFill>
              </a:defRPr>
            </a:pPr>
            <a:r>
              <a:t>MAMAEARTH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55448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0F0F0"/>
                </a:solidFill>
              </a:defRPr>
            </a:pPr>
            <a:r>
              <a:t>₹82.5 Cr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55448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0F0F0"/>
                </a:solidFill>
              </a:defRPr>
            </a:pPr>
            <a:r>
              <a:t>+33%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1554480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0F0F0"/>
                </a:solidFill>
              </a:defRPr>
            </a:pPr>
            <a:r>
              <a:t>Core portfolio stable; Face Wash Nielsen +2.4pp share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1168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00">
                <a:solidFill>
                  <a:srgbClr val="FFFFFF"/>
                </a:solidFill>
              </a:defRPr>
            </a:pPr>
            <a:r>
              <a:t>TDC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201168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0F0F0"/>
                </a:solidFill>
              </a:defRPr>
            </a:pPr>
            <a:r>
              <a:t>₹29.5 Cr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01168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00">
                <a:solidFill>
                  <a:srgbClr val="2A9D7E"/>
                </a:solidFill>
              </a:defRPr>
            </a:pPr>
            <a:r>
              <a:t>+365%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011680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0F0F0"/>
                </a:solidFill>
              </a:defRPr>
            </a:pPr>
            <a:r>
              <a:t>New brand scale-up; Face Wash, Sun Care driving growth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46888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00">
                <a:solidFill>
                  <a:srgbClr val="FFFFFF"/>
                </a:solidFill>
              </a:defRPr>
            </a:pPr>
            <a:r>
              <a:t>AQUALOGICA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246888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0F0F0"/>
                </a:solidFill>
              </a:defRPr>
            </a:pPr>
            <a:r>
              <a:t>₹1.96 Cr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246888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0F0F0"/>
                </a:solidFill>
              </a:defRPr>
            </a:pPr>
            <a:r>
              <a:t>+16%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2468880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0F0F0"/>
                </a:solidFill>
              </a:defRPr>
            </a:pPr>
            <a:r>
              <a:t>Niche positioning; limited MT distribution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2608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100">
                <a:solidFill>
                  <a:srgbClr val="2A9DB0"/>
                </a:solidFill>
              </a:rPr>
              <a:t>Market Share Validation: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18211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0F0F0"/>
                </a:solidFill>
              </a:defRPr>
            </a:pPr>
            <a:r>
              <a:t>Nielsen MAT shows Face Wash at 15% category share (Mamaearth 10.5%, TDC 12%); external validation confirms internal NSV tracking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65760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100">
                <a:solidFill>
                  <a:srgbClr val="2A9DB0"/>
                </a:solidFill>
              </a:rPr>
              <a:t>Category Leaders: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91363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0F0F0"/>
                </a:solidFill>
              </a:defRPr>
            </a:pPr>
            <a:r>
              <a:t>Face Wash (₹32.59 Cr, +33%) and Sun Care (₹21.75 Cr, +80%) leading growth; Shampoo solid at ₹22.02 Cr (+65%)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38912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100">
                <a:solidFill>
                  <a:srgbClr val="2A9DB0"/>
                </a:solidFill>
              </a:rPr>
              <a:t>NPI Risk: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645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0F0F0"/>
                </a:solidFill>
              </a:defRPr>
            </a:pPr>
            <a:r>
              <a:t>10.2% of East zone mix = new products; risk if core conversion doesn't improve (hero SKU focus needed)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E63946"/>
                </a:solidFill>
              </a:defRPr>
            </a:pPr>
            <a:r>
              <a:t>Challenges Faced This Month: Zone Conversion Gaps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560320" cy="2011680"/>
          </a:xfrm>
          <a:prstGeom prst="rect">
            <a:avLst/>
          </a:prstGeom>
          <a:solidFill>
            <a:srgbClr val="281E1E"/>
          </a:solidFill>
          <a:ln w="2540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234439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63946"/>
                </a:solidFill>
              </a:defRPr>
            </a:pPr>
            <a:r>
              <a:t>NORTH ZONE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00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58.5% Conv | ₹4.97 Cr 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011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0F0F0"/>
                </a:solidFill>
              </a:defRPr>
            </a:pPr>
            <a:r>
              <a:t>Paisa Vasool loading risk; Reliance 44.9% conversion vs DMart 77.9%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834639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63946"/>
                </a:solidFill>
              </a:defRPr>
            </a:pPr>
            <a:r>
              <a:t>Status: FIX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097280"/>
            <a:ext cx="2560320" cy="2011680"/>
          </a:xfrm>
          <a:prstGeom prst="rect">
            <a:avLst/>
          </a:prstGeom>
          <a:solidFill>
            <a:srgbClr val="281E1E"/>
          </a:solidFill>
          <a:ln w="2540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1234439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63946"/>
                </a:solidFill>
              </a:defRPr>
            </a:pPr>
            <a:r>
              <a:t>EAST ZONE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1600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45.3% Conv | ₹4.28 Cr Gap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011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0F0F0"/>
                </a:solidFill>
              </a:defRPr>
            </a:pPr>
            <a:r>
              <a:t>Worst conversion nationally; Reliance 52.9% + 10.2% NPI mix = inventory buildup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834639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63946"/>
                </a:solidFill>
              </a:defRPr>
            </a:pPr>
            <a:r>
              <a:t>Status: URGENT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097280"/>
            <a:ext cx="2560320" cy="2011680"/>
          </a:xfrm>
          <a:prstGeom prst="rect">
            <a:avLst/>
          </a:prstGeom>
          <a:solidFill>
            <a:srgbClr val="281E1E"/>
          </a:solidFill>
          <a:ln w="2540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234439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63946"/>
                </a:solidFill>
              </a:defRPr>
            </a:pPr>
            <a:r>
              <a:t>SOUTH-2 ZONE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1600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71.3% Conv | ₹1.98 Cr Gap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011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0F0F0"/>
                </a:solidFill>
              </a:defRPr>
            </a:pPr>
            <a:r>
              <a:t>DMart S-2 at 45.1% conversion (₹1.45 Cr recovery opportunity); Apollo &gt;100%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834639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63946"/>
                </a:solidFill>
              </a:defRPr>
            </a:pPr>
            <a:r>
              <a:t>Status: FIX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38328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A9DB0"/>
                </a:solidFill>
              </a:defRPr>
            </a:pPr>
            <a:r>
              <a:t>IMMEDIATE ACTIONS TAKEN:</a:t>
            </a:r>
          </a:p>
          <a:p>
            <a:pPr>
              <a:spcBef>
                <a:spcPts val="300"/>
              </a:spcBef>
              <a:defRPr sz="1000">
                <a:solidFill>
                  <a:srgbClr val="F0F0F0"/>
                </a:solidFill>
              </a:defRPr>
            </a:pPr>
            <a:r>
              <a:t>✓ Store audit program activated across 18+ stores in priority zones</a:t>
            </a:r>
          </a:p>
          <a:p>
            <a:pPr>
              <a:spcBef>
                <a:spcPts val="300"/>
              </a:spcBef>
              <a:defRPr sz="1000">
                <a:solidFill>
                  <a:srgbClr val="F0F0F0"/>
                </a:solidFill>
              </a:defRPr>
            </a:pPr>
            <a:r>
              <a:t>✓ Zone validation briefs created with EAN-store pair analysis</a:t>
            </a:r>
          </a:p>
          <a:p>
            <a:pPr>
              <a:spcBef>
                <a:spcPts val="300"/>
              </a:spcBef>
              <a:defRPr sz="1000">
                <a:solidFill>
                  <a:srgbClr val="F0F0F0"/>
                </a:solidFill>
              </a:defRPr>
            </a:pPr>
            <a:r>
              <a:t>✓ 30-day recovery roadmaps issued to zone managers (owners assigned)</a:t>
            </a:r>
          </a:p>
          <a:p>
            <a:pPr>
              <a:spcBef>
                <a:spcPts val="300"/>
              </a:spcBef>
              <a:defRPr sz="1000">
                <a:solidFill>
                  <a:srgbClr val="F0F0F0"/>
                </a:solidFill>
              </a:defRPr>
            </a:pPr>
            <a:r>
              <a:t>✓ Weekly conversion tracking launched (baseline vs target 75-80%)</a:t>
            </a:r>
          </a:p>
          <a:p>
            <a:pPr>
              <a:spcBef>
                <a:spcPts val="300"/>
              </a:spcBef>
              <a:defRPr sz="1000">
                <a:solidFill>
                  <a:srgbClr val="F0F0F0"/>
                </a:solidFill>
              </a:defRPr>
            </a:pPr>
            <a:r>
              <a:t>✓ Promo mechanics defined for quick stock clearance (7-10 day blitz planned)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A9DB0"/>
                </a:solidFill>
              </a:defRPr>
            </a:pPr>
            <a:r>
              <a:t>Market Share &amp;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A9DB0"/>
                </a:solidFill>
              </a:defRPr>
            </a:pPr>
            <a:r>
              <a:t>FACE WASH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19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0F0F0"/>
                </a:solidFill>
              </a:rPr>
              <a:t>  • Mamaearth: </a:t>
            </a:r>
            <a:r>
              <a:rPr sz="1000" b="1">
                <a:solidFill>
                  <a:srgbClr val="2A9D7E"/>
                </a:solidFill>
              </a:rPr>
              <a:t>10.5%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19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0F0F0"/>
                </a:solidFill>
              </a:rPr>
              <a:t>  • TDC: </a:t>
            </a:r>
            <a:r>
              <a:rPr sz="1000" b="1">
                <a:solidFill>
                  <a:srgbClr val="2A9D7E"/>
                </a:solidFill>
              </a:rPr>
              <a:t>12.0%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0F0F0"/>
                </a:solidFill>
              </a:rPr>
              <a:t>  • Combined: </a:t>
            </a:r>
            <a:r>
              <a:rPr sz="1000" b="1">
                <a:solidFill>
                  <a:srgbClr val="2A9D7E"/>
                </a:solidFill>
              </a:rPr>
              <a:t>22.5%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0F0F0"/>
                </a:solidFill>
              </a:rPr>
              <a:t>  • Category Growth: </a:t>
            </a:r>
            <a:r>
              <a:rPr sz="1000" b="1">
                <a:solidFill>
                  <a:srgbClr val="2A9D7E"/>
                </a:solidFill>
              </a:rPr>
              <a:t>+56% MAT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A9DB0"/>
                </a:solidFill>
              </a:defRPr>
            </a:pPr>
            <a:r>
              <a:t>SHAMPOO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316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0F0F0"/>
                </a:solidFill>
              </a:rPr>
              <a:t>  • Mamaearth: </a:t>
            </a:r>
            <a:r>
              <a:rPr sz="1000" b="1">
                <a:solidFill>
                  <a:srgbClr val="2A9D7E"/>
                </a:solidFill>
              </a:rPr>
              <a:t>3.7%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5176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0F0F0"/>
                </a:solidFill>
              </a:rPr>
              <a:t>  • Premium Niche: </a:t>
            </a:r>
            <a:r>
              <a:rPr sz="1000" b="1">
                <a:solidFill>
                  <a:srgbClr val="FFFFFF"/>
                </a:solidFill>
              </a:rPr>
              <a:t>Growing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8036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0F0F0"/>
                </a:solidFill>
              </a:rPr>
              <a:t>  • Reliance Led: </a:t>
            </a:r>
            <a:r>
              <a:rPr sz="1000" b="1">
                <a:solidFill>
                  <a:srgbClr val="2A9D7E"/>
                </a:solidFill>
              </a:rPr>
              <a:t>+179% YoY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0896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0F0F0"/>
                </a:solidFill>
              </a:rPr>
              <a:t>  • Velocity Risk: </a:t>
            </a:r>
            <a:r>
              <a:rPr sz="1000" b="1">
                <a:solidFill>
                  <a:srgbClr val="FFFFFF"/>
                </a:solidFill>
              </a:rPr>
              <a:t>Monitor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1089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A9DB0"/>
                </a:solidFill>
              </a:defRPr>
            </a:pPr>
            <a:r>
              <a:t>SUN CARE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42900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0F0F0"/>
                </a:solidFill>
              </a:rPr>
              <a:t>  • Mamaearth: </a:t>
            </a:r>
            <a:r>
              <a:rPr sz="1000" b="1">
                <a:solidFill>
                  <a:srgbClr val="2A9D7E"/>
                </a:solidFill>
              </a:rPr>
              <a:t>35.9%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65760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0F0F0"/>
                </a:solidFill>
              </a:rPr>
              <a:t>  • TDC: </a:t>
            </a:r>
            <a:r>
              <a:rPr sz="1000" b="1">
                <a:solidFill>
                  <a:srgbClr val="2A9D7E"/>
                </a:solidFill>
              </a:rPr>
              <a:t>48.7%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88620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0F0F0"/>
                </a:solidFill>
              </a:rPr>
              <a:t>  • Combined: </a:t>
            </a:r>
            <a:r>
              <a:rPr sz="1000" b="1">
                <a:solidFill>
                  <a:srgbClr val="2A9D7E"/>
                </a:solidFill>
              </a:rPr>
              <a:t>84.6%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11480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0F0F0"/>
                </a:solidFill>
              </a:rPr>
              <a:t>  • Best Ever: </a:t>
            </a:r>
            <a:r>
              <a:rPr sz="1000" b="1">
                <a:solidFill>
                  <a:srgbClr val="2A9D7E"/>
                </a:solidFill>
              </a:rPr>
              <a:t>+80% YoY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A9DB0"/>
                </a:solidFill>
              </a:defRPr>
            </a:pPr>
            <a:r>
              <a:t>NIELSEN EXTERNAL VALIDATION (MAT Jun-26):</a:t>
            </a:r>
          </a:p>
          <a:p>
            <a:pPr>
              <a:spcBef>
                <a:spcPts val="300"/>
              </a:spcBef>
              <a:defRPr sz="1000">
                <a:solidFill>
                  <a:srgbClr val="F0F0F0"/>
                </a:solidFill>
              </a:defRPr>
            </a:pPr>
            <a:r>
              <a:t>Face Wash: MAT +56% growth validates our offtake trajectory</a:t>
            </a:r>
          </a:p>
          <a:p>
            <a:pPr>
              <a:spcBef>
                <a:spcPts val="300"/>
              </a:spcBef>
              <a:defRPr sz="1000">
                <a:solidFill>
                  <a:srgbClr val="F0F0F0"/>
                </a:solidFill>
              </a:defRPr>
            </a:pPr>
            <a:r>
              <a:t>Market concentration: Mamaearth + TDC combined 22.5% = strong position in personal care MT</a:t>
            </a:r>
          </a:p>
          <a:p>
            <a:pPr>
              <a:spcBef>
                <a:spcPts val="300"/>
              </a:spcBef>
              <a:defRPr sz="1000">
                <a:solidFill>
                  <a:srgbClr val="F0F0F0"/>
                </a:solidFill>
              </a:defRPr>
            </a:pPr>
            <a:r>
              <a:t>Nielsen WD/ND metrics show distribution breadth vs depth trade-off (89.2% WD, 57.8% ND in DMart)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A9D7E"/>
                </a:solidFill>
              </a:defRPr>
            </a:pPr>
            <a:r>
              <a:t>Sales Strategies for Improvement: 30-Day Action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828800" cy="2560320"/>
          </a:xfrm>
          <a:prstGeom prst="rect">
            <a:avLst/>
          </a:prstGeom>
          <a:solidFill>
            <a:srgbClr val="192332"/>
          </a:solidFill>
          <a:ln w="25400">
            <a:solidFill>
              <a:srgbClr val="2A9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234439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A9DB0"/>
                </a:solidFill>
              </a:defRPr>
            </a:pPr>
            <a:r>
              <a:t>STORE AUDIT</a:t>
            </a:r>
            <a:br/>
            <a:r>
              <a:t>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83080"/>
            <a:ext cx="1645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0F0F0"/>
                </a:solidFill>
              </a:defRPr>
            </a:pPr>
            <a:r>
              <a:t>20-min walk audit template deployed</a:t>
            </a:r>
            <a:br/>
            <a:r>
              <a:t>Field teams trained on stock check + shelf audit</a:t>
            </a:r>
            <a:br/>
            <a:r>
              <a:t>Weekly conversion tracking vs 75-80% target</a:t>
            </a:r>
            <a:br/>
            <a:r>
              <a:t>Owner: Zone managers | Timeline: Sep 5-30</a:t>
            </a:r>
          </a:p>
        </p:txBody>
      </p:sp>
      <p:sp>
        <p:nvSpPr>
          <p:cNvPr id="6" name="Rectangle 5"/>
          <p:cNvSpPr/>
          <p:nvPr/>
        </p:nvSpPr>
        <p:spPr>
          <a:xfrm>
            <a:off x="4892040" y="1097280"/>
            <a:ext cx="1828800" cy="2560320"/>
          </a:xfrm>
          <a:prstGeom prst="rect">
            <a:avLst/>
          </a:prstGeom>
          <a:solidFill>
            <a:srgbClr val="192332"/>
          </a:solidFill>
          <a:ln w="25400">
            <a:solidFill>
              <a:srgbClr val="F7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83479" y="1234439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7A261"/>
                </a:solidFill>
              </a:defRPr>
            </a:pPr>
            <a:r>
              <a:t>ZONE</a:t>
            </a:r>
            <a:br/>
            <a:r>
              <a:t>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83479" y="1783080"/>
            <a:ext cx="1645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0F0F0"/>
                </a:solidFill>
              </a:defRPr>
            </a:pPr>
            <a:r>
              <a:t>North: Reliance loading validation (due Sep 5)</a:t>
            </a:r>
            <a:br/>
            <a:r>
              <a:t>South-2: DMart store-level audit (due Sep 8)</a:t>
            </a:r>
            <a:br/>
            <a:r>
              <a:t>East: Stock position check (due Sep 8)</a:t>
            </a:r>
            <a:br/>
            <a:r>
              <a:t>Owner: Zone ZSMs | Timeline: Sep 5-15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931920"/>
            <a:ext cx="1828800" cy="2560320"/>
          </a:xfrm>
          <a:prstGeom prst="rect">
            <a:avLst/>
          </a:prstGeom>
          <a:solidFill>
            <a:srgbClr val="192332"/>
          </a:solidFill>
          <a:ln w="2540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0690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63946"/>
                </a:solidFill>
              </a:defRPr>
            </a:pPr>
            <a:r>
              <a:t>PROMO</a:t>
            </a:r>
            <a:br/>
            <a:r>
              <a:t>MECHANICS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617720"/>
            <a:ext cx="1645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0F0F0"/>
                </a:solidFill>
              </a:defRPr>
            </a:pPr>
            <a:r>
              <a:t>South-2 DMart: 10% discount × 7 days target ₹1.45L recovery</a:t>
            </a:r>
            <a:br/>
            <a:r>
              <a:t>East Reliance: Promo blitz on hero SKU (Rice, Onion)</a:t>
            </a:r>
            <a:br/>
            <a:r>
              <a:t>North: EAN-store pair quarantine if conv &lt; 80%</a:t>
            </a:r>
            <a:br/>
            <a:r>
              <a:t>Owner: Trade Lead | Timeline: Sep 10-30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92040" y="3931920"/>
            <a:ext cx="1828800" cy="2560320"/>
          </a:xfrm>
          <a:prstGeom prst="rect">
            <a:avLst/>
          </a:prstGeom>
          <a:solidFill>
            <a:srgbClr val="192332"/>
          </a:solidFill>
          <a:ln w="25400">
            <a:solidFill>
              <a:srgbClr val="2A9D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83479" y="40690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A9D7E"/>
                </a:solidFill>
              </a:defRPr>
            </a:pPr>
            <a:r>
              <a:t>WEEKLY</a:t>
            </a:r>
            <a:br/>
            <a:r>
              <a:t>TRACKING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79" y="4617720"/>
            <a:ext cx="1645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0F0F0"/>
                </a:solidFill>
              </a:defRPr>
            </a:pPr>
            <a:r>
              <a:t>Conversion trending dashboard (all 6 zones)</a:t>
            </a:r>
            <a:br/>
            <a:r>
              <a:t>Chain accountability scorecard</a:t>
            </a:r>
            <a:br/>
            <a:r>
              <a:t>Sell-out vs offtake reconciliation</a:t>
            </a:r>
            <a:br/>
            <a:r>
              <a:t>Owner: Analytics | Timeline: Weekly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A9DB0"/>
                </a:solidFill>
              </a:defRPr>
            </a:pPr>
            <a:r>
              <a:t>Forecast: Jul FY27 Run Rate &amp; Q2 Projection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7A261"/>
                </a:solidFill>
              </a:defRPr>
            </a:pPr>
            <a:r>
              <a:t>July Estimate: ₹71.42 Cr | Annualized FY27 Run Rate: ₹286 Cr (vs FY26 ₹356.9 Cr baseline)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Q1 FY27 (Apr-Jun Actual)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18288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A9D7E"/>
                </a:solidFill>
              </a:defRPr>
            </a:pPr>
            <a:r>
              <a:t>₹114.39 Cr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0" y="1828800"/>
            <a:ext cx="3383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0F0F0"/>
                </a:solidFill>
              </a:defRPr>
            </a:pPr>
            <a:r>
              <a:t>Confirmed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Q2 FY27 (Jul-Sep Estimate)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22860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A9D7E"/>
                </a:solidFill>
              </a:defRPr>
            </a:pPr>
            <a:r>
              <a:t>₹180-200 Cr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2286000"/>
            <a:ext cx="3383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0F0F0"/>
                </a:solidFill>
              </a:defRPr>
            </a:pPr>
            <a:r>
              <a:t>70% probability (zones normalize to 75%+ conv)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4320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Full FY27 Baseline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7432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A9D7E"/>
                </a:solidFill>
              </a:defRPr>
            </a:pPr>
            <a:r>
              <a:t>₹280-300 Cr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2743200"/>
            <a:ext cx="3383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0F0F0"/>
                </a:solidFill>
              </a:defRPr>
            </a:pPr>
            <a:r>
              <a:t>Subject to: North/East conversion recovery, no new chain loading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0040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Growth vs FY26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3200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A9D7E"/>
                </a:solidFill>
              </a:defRPr>
            </a:pPr>
            <a:r>
              <a:t>-15-20%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200400"/>
            <a:ext cx="3383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0F0F0"/>
                </a:solidFill>
              </a:defRPr>
            </a:pPr>
            <a:r>
              <a:t>Conservative (accounts for billed-not-sold gap ₹21.9 Cr)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840480"/>
            <a:ext cx="8229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A9DB0"/>
                </a:solidFill>
              </a:defRPr>
            </a:pPr>
            <a:r>
              <a:t>KEY ASSUMPTIONS:</a:t>
            </a:r>
          </a:p>
          <a:p>
            <a:pPr>
              <a:spcBef>
                <a:spcPts val="300"/>
              </a:spcBef>
              <a:defRPr sz="1000">
                <a:solidFill>
                  <a:srgbClr val="F0F0F0"/>
                </a:solidFill>
              </a:defRPr>
            </a:pPr>
            <a:r>
              <a:t>North zone conversion improves from 58.5% → 75% (Reliance loading resolved)</a:t>
            </a:r>
          </a:p>
          <a:p>
            <a:pPr>
              <a:spcBef>
                <a:spcPts val="300"/>
              </a:spcBef>
              <a:defRPr sz="1000">
                <a:solidFill>
                  <a:srgbClr val="F0F0F0"/>
                </a:solidFill>
              </a:defRPr>
            </a:pPr>
            <a:r>
              <a:t>East zone conversion improves from 45.3% → 65% (hero SKU focus, NPI halt)</a:t>
            </a:r>
          </a:p>
          <a:p>
            <a:pPr>
              <a:spcBef>
                <a:spcPts val="300"/>
              </a:spcBef>
              <a:defRPr sz="1000">
                <a:solidFill>
                  <a:srgbClr val="F0F0F0"/>
                </a:solidFill>
              </a:defRPr>
            </a:pPr>
            <a:r>
              <a:t>South-2 DMart conversion improves from 45.1% → 70% (promo + stock rebalance)</a:t>
            </a:r>
          </a:p>
          <a:p>
            <a:pPr>
              <a:spcBef>
                <a:spcPts val="300"/>
              </a:spcBef>
              <a:defRPr sz="1000">
                <a:solidFill>
                  <a:srgbClr val="F0F0F0"/>
                </a:solidFill>
              </a:defRPr>
            </a:pPr>
            <a:r>
              <a:t>No new chain loading until Q3 (WD/ND reconciliation locked by Sep 30)</a:t>
            </a:r>
          </a:p>
          <a:p>
            <a:pPr>
              <a:spcBef>
                <a:spcPts val="300"/>
              </a:spcBef>
              <a:defRPr sz="1000">
                <a:solidFill>
                  <a:srgbClr val="F0F0F0"/>
                </a:solidFill>
              </a:defRPr>
            </a:pPr>
            <a:r>
              <a:t>Sell-out gap narrows from 80.8% → 88%+ (3-format velocity pilot in DMart)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A9DB0"/>
                </a:solidFill>
              </a:defRPr>
            </a:pPr>
            <a:r>
              <a:t>Key Action Items: 30-Day Accountability Register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Priority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005840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100584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Owner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005840"/>
            <a:ext cx="12344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Deadline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100584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Success Metric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E63946"/>
                </a:solidFill>
              </a:defRPr>
            </a:pPr>
            <a:r>
              <a:t>P0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37160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0F0F0"/>
                </a:solidFill>
              </a:defRPr>
            </a:pPr>
            <a:r>
              <a:t>Validate Aug offtake (North Reliance)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37160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0F0F0"/>
                </a:solidFill>
              </a:defRPr>
            </a:pPr>
            <a:r>
              <a:t>North ZSM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1371600"/>
            <a:ext cx="11887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0F0F0"/>
                </a:solidFill>
              </a:defRPr>
            </a:pPr>
            <a:r>
              <a:t>05-Sep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137160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0F0F0"/>
                </a:solidFill>
              </a:defRPr>
            </a:pPr>
            <a:r>
              <a:t>Conversion ≥75%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673352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E63946"/>
                </a:solidFill>
              </a:defRPr>
            </a:pPr>
            <a:r>
              <a:t>P0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1673352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0F0F0"/>
                </a:solidFill>
              </a:defRPr>
            </a:pPr>
            <a:r>
              <a:t>Store audit (South-2 DMart)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1673352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0F0F0"/>
                </a:solidFill>
              </a:defRPr>
            </a:pPr>
            <a:r>
              <a:t>NKAM DMart S-2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1673352"/>
            <a:ext cx="11887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0F0F0"/>
                </a:solidFill>
              </a:defRPr>
            </a:pPr>
            <a:r>
              <a:t>08-Sep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1673352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0F0F0"/>
                </a:solidFill>
              </a:defRPr>
            </a:pPr>
            <a:r>
              <a:t>3 stores audited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975104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E63946"/>
                </a:solidFill>
              </a:defRPr>
            </a:pPr>
            <a:r>
              <a:t>P0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1975104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0F0F0"/>
                </a:solidFill>
              </a:defRPr>
            </a:pPr>
            <a:r>
              <a:t>Stock position check (East)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1975104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0F0F0"/>
                </a:solidFill>
              </a:defRPr>
            </a:pPr>
            <a:r>
              <a:t>East ZSM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1975104"/>
            <a:ext cx="11887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0F0F0"/>
                </a:solidFill>
              </a:defRPr>
            </a:pPr>
            <a:r>
              <a:t>08-Sep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1975104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0F0F0"/>
                </a:solidFill>
              </a:defRPr>
            </a:pPr>
            <a:r>
              <a:t>Current inv mapped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276856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F0F0F0"/>
                </a:solidFill>
              </a:defRPr>
            </a:pPr>
            <a:r>
              <a:t>P1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2276856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0F0F0"/>
                </a:solidFill>
              </a:defRPr>
            </a:pPr>
            <a:r>
              <a:t>Run promo blitz (South-2)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2276856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0F0F0"/>
                </a:solidFill>
              </a:defRPr>
            </a:pPr>
            <a:r>
              <a:t>Trade Lead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2276856"/>
            <a:ext cx="11887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0F0F0"/>
                </a:solidFill>
              </a:defRPr>
            </a:pPr>
            <a:r>
              <a:t>10-30 Sep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2276856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0F0F0"/>
                </a:solidFill>
              </a:defRPr>
            </a:pPr>
            <a:r>
              <a:t>₹1.45 Cr recovery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257860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F0F0F0"/>
                </a:solidFill>
              </a:defRPr>
            </a:pPr>
            <a:r>
              <a:t>P1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2578608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0F0F0"/>
                </a:solidFill>
              </a:defRPr>
            </a:pPr>
            <a:r>
              <a:t>Weekly tracking dashboard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257860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0F0F0"/>
                </a:solidFill>
              </a:defRPr>
            </a:pPr>
            <a:r>
              <a:t>Analytics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2578608"/>
            <a:ext cx="11887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0F0F0"/>
                </a:solidFill>
              </a:defRPr>
            </a:pPr>
            <a:r>
              <a:t>10-Sep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0" y="257860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0F0F0"/>
                </a:solidFill>
              </a:defRPr>
            </a:pPr>
            <a:r>
              <a:t>6 zones tracked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88036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F0F0F0"/>
                </a:solidFill>
              </a:defRPr>
            </a:pPr>
            <a:r>
              <a:t>P2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0160" y="288036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0F0F0"/>
                </a:solidFill>
              </a:defRPr>
            </a:pPr>
            <a:r>
              <a:t>WD/ND reconciliation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288036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0F0F0"/>
                </a:solidFill>
              </a:defRPr>
            </a:pPr>
            <a:r>
              <a:t>Analytics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5040" y="2880360"/>
            <a:ext cx="11887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0F0F0"/>
                </a:solidFill>
              </a:defRPr>
            </a:pPr>
            <a:r>
              <a:t>30-Sep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6640" y="288036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0F0F0"/>
                </a:solidFill>
              </a:defRPr>
            </a:pPr>
            <a:r>
              <a:t>Definitions locked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A9DB0"/>
                </a:solidFill>
              </a:defRPr>
            </a:pPr>
            <a:r>
              <a:t>Closing Remarks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A9DB0"/>
                </a:solidFill>
              </a:defRPr>
            </a:pPr>
            <a:r>
              <a:t>Q1 FY27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109728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0F0F0"/>
                </a:solidFill>
              </a:defRPr>
            </a:pPr>
            <a:r>
              <a:t>114 Cr offtake confirmed | 27% seq growth | 64% YoY growth | ₹21.9 Cr billed-not-sold gap identified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A9DB0"/>
                </a:solidFill>
              </a:defRPr>
            </a:pPr>
            <a:r>
              <a:t>ZONE ACCOUNTABILITY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69164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0F0F0"/>
                </a:solidFill>
              </a:defRPr>
            </a:pPr>
            <a:r>
              <a:t>3 priority zones (North, East, South-2) with recovery plans | Store audit program live | Weekly conversion tracking active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A9DB0"/>
                </a:solidFill>
              </a:defRPr>
            </a:pPr>
            <a:r>
              <a:t>CONVERSION FOCUS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28600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0F0F0"/>
                </a:solidFill>
              </a:defRPr>
            </a:pPr>
            <a:r>
              <a:t>West/South-1 healthy (82-84%) | North/East below benchmark (58.5%, 45.3%) | 30-day roadmaps will drive ₹9.25 Cr recovery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8036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A9DB0"/>
                </a:solidFill>
              </a:defRPr>
            </a:pPr>
            <a:r>
              <a:t>NEXT MONTH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88036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0F0F0"/>
                </a:solidFill>
              </a:defRPr>
            </a:pPr>
            <a:r>
              <a:t>Oct 5: Zone conversion validation | Oct 10: Promo impact assessment | Oct 15: Q2 performance review + Q3 planning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029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Questions? Contact:</a:t>
            </a:r>
          </a:p>
          <a:p>
            <a:pPr>
              <a:spcBef>
                <a:spcPts val="400"/>
              </a:spcBef>
              <a:defRPr sz="1100">
                <a:solidFill>
                  <a:srgbClr val="F0F0F0"/>
                </a:solidFill>
              </a:defRPr>
            </a:pPr>
            <a:r>
              <a:t>MT Channel Analytics Team</a:t>
            </a:r>
          </a:p>
          <a:p>
            <a:pPr>
              <a:spcBef>
                <a:spcPts val="200"/>
              </a:spcBef>
              <a:defRPr sz="1100">
                <a:solidFill>
                  <a:srgbClr val="2A9DB0"/>
                </a:solidFill>
              </a:defRPr>
            </a:pPr>
            <a:r>
              <a:t>aswal.sheshant@gmail.com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A9DB0"/>
                </a:solidFill>
              </a:defRPr>
            </a:pPr>
            <a:r>
              <a:t>Appendix: Detailed Data Tables &amp;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1000" b="1">
                <a:solidFill>
                  <a:srgbClr val="2A9DB0"/>
                </a:solidFill>
              </a:defRPr>
            </a:pPr>
            <a:r>
              <a:t>DATA SOURCES:</a:t>
            </a:r>
          </a:p>
          <a:p>
            <a:pPr lvl="1">
              <a:spcAft>
                <a:spcPts val="200"/>
              </a:spcAft>
              <a:defRPr sz="900">
                <a:solidFill>
                  <a:srgbClr val="F0F0F0"/>
                </a:solidFill>
              </a:defRPr>
            </a:pPr>
            <a:r>
              <a:t>Nielsen MAT (Jun-26), Chain-wise offtake (Apr-Jul FY27), Retail audits, Field reports</a:t>
            </a:r>
          </a:p>
          <a:p>
            <a:pPr>
              <a:spcBef>
                <a:spcPts val="400"/>
              </a:spcBef>
              <a:defRPr sz="1000" b="1">
                <a:solidFill>
                  <a:srgbClr val="2A9DB0"/>
                </a:solidFill>
              </a:defRPr>
            </a:pPr>
            <a:r>
              <a:t>CHAIN MAPPING:</a:t>
            </a:r>
          </a:p>
          <a:p>
            <a:pPr lvl="1">
              <a:spcAft>
                <a:spcPts val="200"/>
              </a:spcAft>
              <a:defRPr sz="900">
                <a:solidFill>
                  <a:srgbClr val="F0F0F0"/>
                </a:solidFill>
              </a:defRPr>
            </a:pPr>
            <a:r>
              <a:t>45 MT chains + 1 RBC (Reliance Brand Counter) isolated | Canonicalized naming applied</a:t>
            </a:r>
          </a:p>
          <a:p>
            <a:pPr>
              <a:spcBef>
                <a:spcPts val="400"/>
              </a:spcBef>
              <a:defRPr sz="1000" b="1">
                <a:solidFill>
                  <a:srgbClr val="2A9DB0"/>
                </a:solidFill>
              </a:defRPr>
            </a:pPr>
            <a:r>
              <a:t>ZONE DEFINITION:</a:t>
            </a:r>
          </a:p>
          <a:p>
            <a:pPr lvl="1">
              <a:spcAft>
                <a:spcPts val="200"/>
              </a:spcAft>
              <a:defRPr sz="900">
                <a:solidFill>
                  <a:srgbClr val="F0F0F0"/>
                </a:solidFill>
              </a:defRPr>
            </a:pPr>
            <a:r>
              <a:t>Central, East, North, South-1, South-2, West | 6 zones locked per PR #60 standards</a:t>
            </a:r>
          </a:p>
          <a:p>
            <a:pPr>
              <a:spcBef>
                <a:spcPts val="400"/>
              </a:spcBef>
              <a:defRPr sz="1000" b="1">
                <a:solidFill>
                  <a:srgbClr val="2A9DB0"/>
                </a:solidFill>
              </a:defRPr>
            </a:pPr>
            <a:r>
              <a:t>CONVERSION FORMULA:</a:t>
            </a:r>
          </a:p>
          <a:p>
            <a:pPr lvl="1">
              <a:spcAft>
                <a:spcPts val="200"/>
              </a:spcAft>
              <a:defRPr sz="900">
                <a:solidFill>
                  <a:srgbClr val="F0F0F0"/>
                </a:solidFill>
              </a:defRPr>
            </a:pPr>
            <a:r>
              <a:t>Conv % = Sell-out / Offtake × 100 | Target: 75-80% | Gap ₹ = Offtake − Sell-out</a:t>
            </a:r>
          </a:p>
          <a:p>
            <a:pPr>
              <a:spcBef>
                <a:spcPts val="400"/>
              </a:spcBef>
              <a:defRPr sz="1000" b="1">
                <a:solidFill>
                  <a:srgbClr val="2A9DB0"/>
                </a:solidFill>
              </a:defRPr>
            </a:pPr>
            <a:r>
              <a:t>EXCEL PATCHES:</a:t>
            </a:r>
          </a:p>
          <a:p>
            <a:pPr lvl="1">
              <a:spcAft>
                <a:spcPts val="200"/>
              </a:spcAft>
              <a:defRPr sz="900">
                <a:solidFill>
                  <a:srgbClr val="F0F0F0"/>
                </a:solidFill>
              </a:defRPr>
            </a:pPr>
            <a:r>
              <a:t>FY27 4-month (Apr-Jul) primary data: ₹185.81 Cr merged | File: Chain_Wise_Primary_Sale.xlsx</a:t>
            </a:r>
          </a:p>
          <a:p>
            <a:pPr>
              <a:spcBef>
                <a:spcPts val="400"/>
              </a:spcBef>
              <a:defRPr sz="1000" b="1">
                <a:solidFill>
                  <a:srgbClr val="2A9DB0"/>
                </a:solidFill>
              </a:defRPr>
            </a:pPr>
            <a:r>
              <a:t>VALIDATION:</a:t>
            </a:r>
          </a:p>
          <a:p>
            <a:pPr lvl="1">
              <a:spcAft>
                <a:spcPts val="200"/>
              </a:spcAft>
              <a:defRPr sz="900">
                <a:solidFill>
                  <a:srgbClr val="F0F0F0"/>
                </a:solidFill>
              </a:defRPr>
            </a:pPr>
            <a:r>
              <a:t>FY26 baseline locked: ₹311.28 Cr (43 chains) | RBC FY26: ₹45.62 Cr | Combined: ₹356.90 Cr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A9DB0"/>
                </a:solidFill>
              </a:defRPr>
            </a:pPr>
            <a:r>
              <a:t>Methodology: EIAO Framework &amp; Analytics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A9DB0"/>
                </a:solidFill>
              </a:defRPr>
            </a:pPr>
            <a:r>
              <a:t>Every insight follows EIAO (Evidence → Implication → Action → Owner):</a:t>
            </a:r>
          </a:p>
          <a:p>
            <a:pPr>
              <a:spcBef>
                <a:spcPts val="400"/>
              </a:spcBef>
              <a:defRPr sz="1000" b="1">
                <a:solidFill>
                  <a:srgbClr val="2A9DB0"/>
                </a:solidFill>
              </a:defRPr>
            </a:pPr>
            <a:r>
              <a:t>EVIDENCE: </a:t>
            </a:r>
            <a:r>
              <a:rPr sz="1000" b="0">
                <a:solidFill>
                  <a:srgbClr val="F0F0F0"/>
                </a:solidFill>
              </a:rPr>
              <a:t>Measurable fact: ₹X offtake, Y% conversion, Z pp market share change</a:t>
            </a:r>
          </a:p>
          <a:p>
            <a:pPr>
              <a:spcBef>
                <a:spcPts val="400"/>
              </a:spcBef>
              <a:defRPr sz="1000" b="1">
                <a:solidFill>
                  <a:srgbClr val="2A9DB0"/>
                </a:solidFill>
              </a:defRPr>
            </a:pPr>
            <a:r>
              <a:t>IMPLICATION: </a:t>
            </a:r>
            <a:r>
              <a:rPr sz="1000" b="0">
                <a:solidFill>
                  <a:srgbClr val="F0F0F0"/>
                </a:solidFill>
              </a:rPr>
              <a:t>Business impact: ₹M NSV at risk, N days of working capital tied up, O% share loss</a:t>
            </a:r>
          </a:p>
          <a:p>
            <a:pPr>
              <a:spcBef>
                <a:spcPts val="400"/>
              </a:spcBef>
              <a:defRPr sz="1000" b="1">
                <a:solidFill>
                  <a:srgbClr val="2A9DB0"/>
                </a:solidFill>
              </a:defRPr>
            </a:pPr>
            <a:r>
              <a:t>ACTION: </a:t>
            </a:r>
            <a:r>
              <a:rPr sz="1000" b="0">
                <a:solidFill>
                  <a:srgbClr val="F0F0F0"/>
                </a:solidFill>
              </a:rPr>
              <a:t>Specific decision: Run promo, audit stores, freeze loading, reallocate inventory</a:t>
            </a:r>
          </a:p>
          <a:p>
            <a:pPr>
              <a:spcBef>
                <a:spcPts val="400"/>
              </a:spcBef>
              <a:defRPr sz="1000" b="1">
                <a:solidFill>
                  <a:srgbClr val="2A9DB0"/>
                </a:solidFill>
              </a:defRPr>
            </a:pPr>
            <a:r>
              <a:t>OWNER: </a:t>
            </a:r>
            <a:r>
              <a:rPr sz="1000" b="0">
                <a:solidFill>
                  <a:srgbClr val="F0F0F0"/>
                </a:solidFill>
              </a:rPr>
              <a:t>Who is accountable and by when (e.g., NKAM Reliance North by 05-Sep)</a:t>
            </a:r>
          </a:p>
          <a:p>
            <a:pPr>
              <a:spcBef>
                <a:spcPts val="400"/>
              </a:spcBef>
              <a:defRPr sz="1000" b="1">
                <a:solidFill>
                  <a:srgbClr val="2A9DB0"/>
                </a:solidFill>
              </a:defRPr>
            </a:pPr>
            <a:r>
              <a:t>MONITORING: </a:t>
            </a:r>
            <a:r>
              <a:rPr sz="1000" b="0">
                <a:solidFill>
                  <a:srgbClr val="F0F0F0"/>
                </a:solidFill>
              </a:rPr>
              <a:t>Weekly conversion tracking vs 75-80% target | Zone scorecard updated every Mon</a:t>
            </a:r>
          </a:p>
          <a:p>
            <a:pPr>
              <a:spcBef>
                <a:spcPts val="400"/>
              </a:spcBef>
              <a:defRPr sz="1000" b="1">
                <a:solidFill>
                  <a:srgbClr val="2A9DB0"/>
                </a:solidFill>
              </a:defRPr>
            </a:pPr>
            <a:r>
              <a:t>ESCALATION: </a:t>
            </a:r>
            <a:r>
              <a:rPr sz="1000" b="0">
                <a:solidFill>
                  <a:srgbClr val="F0F0F0"/>
                </a:solidFill>
              </a:rPr>
              <a:t>If conversion &lt;75% after 2 weeks, trigger exception review with zone head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8526</TotalTime>
  <Words>1826</Words>
  <Application>Microsoft Office PowerPoint</Application>
  <PresentationFormat>Widescreen</PresentationFormat>
  <Paragraphs>406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MT Market Share May'26</dc:title>
  <dc:subject>PptxGenJS Presentation</dc:subject>
  <dc:creator>MT Channel Analytics</dc:creator>
  <cp:lastModifiedBy>Sheshant  Singh Aswal</cp:lastModifiedBy>
  <cp:revision>4</cp:revision>
  <dcterms:created xsi:type="dcterms:W3CDTF">2026-06-30T04:34:03Z</dcterms:created>
  <dcterms:modified xsi:type="dcterms:W3CDTF">2026-07-15T10:14:07Z</dcterms:modified>
</cp:coreProperties>
</file>