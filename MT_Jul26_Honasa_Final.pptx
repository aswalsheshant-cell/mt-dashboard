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1.xml" ContentType="application/vnd.openxmlformats-officedocument.drawingml.chart+xml"/>
  <Override PartName="/ppt/slides/charts/chart1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5.xml" ContentType="application/vnd.openxmlformats-officedocument.drawingml.chart+xml"/>
  <Override PartName="/ppt/slides/charts/chart16.xml" ContentType="application/vnd.openxmlformats-officedocument.drawingml.chart+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9.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0.xml" ContentType="application/vnd.openxmlformats-officedocument.drawingml.chart+xml"/>
  <Override PartName="/ppt/slides/charts/chart2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ac4d07194644cd" /><Relationship Type="http://schemas.openxmlformats.org/officeDocument/2006/relationships/extended-properties" Target="/docProps/app.xml" Id="R5819a01942624948" /><Relationship Type="http://schemas.openxmlformats.org/officeDocument/2006/relationships/officeDocument" Target="/ppt/presentation.xml" Id="Rad73cd0733c54abd" /></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2cb0f936a84191" /><Relationship Type="http://schemas.openxmlformats.org/officeDocument/2006/relationships/slideMaster" Target="/ppt/slideMasters/slideMaster1.xml" Id="R38b03c5eb4df4d87" /><Relationship Type="http://schemas.openxmlformats.org/officeDocument/2006/relationships/notesMaster" Target="/ppt/notesMasters/notesMaster1.xml" Id="R6868a0b9a914459b" /><Relationship Type="http://schemas.openxmlformats.org/officeDocument/2006/relationships/presProps" Target="/ppt/presProps.xml" Id="Rc5d61f3f6a2949d7" /><Relationship Type="http://schemas.openxmlformats.org/officeDocument/2006/relationships/tableStyles" Target="/ppt/tableStyles.xml" Id="R0cb90f825c0e46bb" /><Relationship Type="http://schemas.openxmlformats.org/officeDocument/2006/relationships/slide" Target="/ppt/slides/slide1.xml" Id="Re152d1a90d4e4190" /><Relationship Type="http://schemas.openxmlformats.org/officeDocument/2006/relationships/slide" Target="/ppt/slides/slide2.xml" Id="R0143c6fe06894d94" /><Relationship Type="http://schemas.openxmlformats.org/officeDocument/2006/relationships/slide" Target="/ppt/slides/slide3.xml" Id="R8f6247f9571f4052" /><Relationship Type="http://schemas.openxmlformats.org/officeDocument/2006/relationships/slide" Target="/ppt/slides/slide4.xml" Id="Re3e9a364b12d464d" /><Relationship Type="http://schemas.openxmlformats.org/officeDocument/2006/relationships/slide" Target="/ppt/slides/slide5.xml" Id="R3a4c5069b8bd4491" /><Relationship Type="http://schemas.openxmlformats.org/officeDocument/2006/relationships/slide" Target="/ppt/slides/slide6.xml" Id="R1795850fc7224e85" /><Relationship Type="http://schemas.openxmlformats.org/officeDocument/2006/relationships/slide" Target="/ppt/slides/slide7.xml" Id="Rad427f039d604c43" /><Relationship Type="http://schemas.openxmlformats.org/officeDocument/2006/relationships/slide" Target="/ppt/slides/slide8.xml" Id="Rf5b82ebdfaac47c3" /><Relationship Type="http://schemas.openxmlformats.org/officeDocument/2006/relationships/slide" Target="/ppt/slides/slide9.xml" Id="Rc4ed7e5eaa9344a0" /><Relationship Type="http://schemas.openxmlformats.org/officeDocument/2006/relationships/slide" Target="/ppt/slides/slide10.xml" Id="Re5d6b16e36d04042" /><Relationship Type="http://schemas.openxmlformats.org/officeDocument/2006/relationships/slide" Target="/ppt/slides/slide12.xml" Id="R1aa66965d6d4440c" /><Relationship Type="http://schemas.openxmlformats.org/officeDocument/2006/relationships/slide" Target="/ppt/slides/slide13.xml" Id="R2165f9be392c4f9c" /><Relationship Type="http://schemas.openxmlformats.org/officeDocument/2006/relationships/slide" Target="/ppt/slides/slide14.xml" Id="R2649de66fc444c71" /><Relationship Type="http://schemas.openxmlformats.org/officeDocument/2006/relationships/slide" Target="/ppt/slides/slide15.xml" Id="Re2c1f89efbdc4edd" /><Relationship Type="http://schemas.openxmlformats.org/officeDocument/2006/relationships/slide" Target="/ppt/slides/slide16.xml" Id="R38ff2dd4b1e142e5" /><Relationship Type="http://schemas.openxmlformats.org/officeDocument/2006/relationships/slide" Target="/ppt/slides/slide17.xml" Id="R733ce381be82410b" /><Relationship Type="http://schemas.openxmlformats.org/officeDocument/2006/relationships/slide" Target="/ppt/slides/slide18.xml" Id="R22da18962aef47f3" /><Relationship Type="http://schemas.openxmlformats.org/officeDocument/2006/relationships/slide" Target="/ppt/slides/slide19.xml" Id="R235672ef4d3749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91694783d74e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f9f3c17ce9428d" /><Relationship Type="http://schemas.openxmlformats.org/officeDocument/2006/relationships/notesMaster" Target="/ppt/notesMasters/notesMaster1.xml" Id="R4d86e85a510541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5a4892ac074ab7" /><Relationship Type="http://schemas.openxmlformats.org/officeDocument/2006/relationships/notesMaster" Target="/ppt/notesMasters/notesMaster1.xml" Id="R7dff8090fabe47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b4b8d55cf24a9d" /><Relationship Type="http://schemas.openxmlformats.org/officeDocument/2006/relationships/notesMaster" Target="/ppt/notesMasters/notesMaster1.xml" Id="Ra01d069e9e7b49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9e971c66144d42" /><Relationship Type="http://schemas.openxmlformats.org/officeDocument/2006/relationships/notesMaster" Target="/ppt/notesMasters/notesMaster1.xml" Id="R731ba1d494894b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7f726d180943d2" /><Relationship Type="http://schemas.openxmlformats.org/officeDocument/2006/relationships/notesMaster" Target="/ppt/notesMasters/notesMaster1.xml" Id="Rb3e8a0d0a31f4e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a816674e124930" /><Relationship Type="http://schemas.openxmlformats.org/officeDocument/2006/relationships/notesMaster" Target="/ppt/notesMasters/notesMaster1.xml" Id="R7e254495f4c545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e4bf92618e4ebe" /><Relationship Type="http://schemas.openxmlformats.org/officeDocument/2006/relationships/notesMaster" Target="/ppt/notesMasters/notesMaster1.xml" Id="Rc634250b801442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84da7b1e994db0" /><Relationship Type="http://schemas.openxmlformats.org/officeDocument/2006/relationships/notesMaster" Target="/ppt/notesMasters/notesMaster1.xml" Id="R2addd1c061f343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7afd1f61d54a9e" /><Relationship Type="http://schemas.openxmlformats.org/officeDocument/2006/relationships/notesMaster" Target="/ppt/notesMasters/notesMaster1.xml" Id="R985569addc0041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ce444c415e4b12" /><Relationship Type="http://schemas.openxmlformats.org/officeDocument/2006/relationships/notesMaster" Target="/ppt/notesMasters/notesMaster1.xml" Id="R7faacdd0292643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feae875ffd46d1" /><Relationship Type="http://schemas.openxmlformats.org/officeDocument/2006/relationships/notesMaster" Target="/ppt/notesMasters/notesMaster1.xml" Id="R98b21cc1f15f47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54920cef084968" /><Relationship Type="http://schemas.openxmlformats.org/officeDocument/2006/relationships/notesMaster" Target="/ppt/notesMasters/notesMaster1.xml" Id="Rcb98de9cc9b14e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da0ec43f9049de" /><Relationship Type="http://schemas.openxmlformats.org/officeDocument/2006/relationships/notesMaster" Target="/ppt/notesMasters/notesMaster1.xml" Id="R36b16739ffb74cb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bf9a4c54104910" /><Relationship Type="http://schemas.openxmlformats.org/officeDocument/2006/relationships/notesMaster" Target="/ppt/notesMasters/notesMaster1.xml" Id="R0b732f6ee0ea404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f0efd60bb34799" /><Relationship Type="http://schemas.openxmlformats.org/officeDocument/2006/relationships/notesMaster" Target="/ppt/notesMasters/notesMaster1.xml" Id="Rea8674ed1c20452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55abe7b15c40b9" /><Relationship Type="http://schemas.openxmlformats.org/officeDocument/2006/relationships/notesMaster" Target="/ppt/notesMasters/notesMaster1.xml" Id="Rc1b5834869ac4ad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3a85938f63c4a5c" /><Relationship Type="http://schemas.openxmlformats.org/officeDocument/2006/relationships/notesMaster" Target="/ppt/notesMasters/notesMaster1.xml" Id="Rc436e820ddd345b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8a3ab2aa01e4b87" /><Relationship Type="http://schemas.openxmlformats.org/officeDocument/2006/relationships/notesMaster" Target="/ppt/notesMasters/notesMaster1.xml" Id="Re5d92af4f6bf47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c6bb46fcea42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be0f88196e429d" /><Relationship Type="http://schemas.openxmlformats.org/officeDocument/2006/relationships/slideLayout" Target="/ppt/slideLayouts/slideLayout1.xml" Id="R0bd8547cca8b43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d6d401e5c34021" /><Relationship Type="http://schemas.openxmlformats.org/officeDocument/2006/relationships/chart" Target="/ppt/slides/charts/chart1.xml" Id="Ra97f89de9c7347da" /><Relationship Type="http://schemas.openxmlformats.org/officeDocument/2006/relationships/chart" Target="/ppt/slides/charts/chart2.xml" Id="Ra448820c4fed472f" /><Relationship Type="http://schemas.openxmlformats.org/officeDocument/2006/relationships/notesSlide" Target="/ppt/notesSlides/notesSlide1.xml" Id="R73f2505ae45144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f79984d5f474465" /><Relationship Type="http://schemas.openxmlformats.org/officeDocument/2006/relationships/notesSlide" Target="/ppt/notesSlides/notesSlide2.xml" Id="Rdd940aacabf746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8d77076322409e" /><Relationship Type="http://schemas.openxmlformats.org/officeDocument/2006/relationships/chart" Target="/ppt/slides/charts/chart3.xml" Id="R96fa285f352c4a08" /><Relationship Type="http://schemas.openxmlformats.org/officeDocument/2006/relationships/chart" Target="/ppt/slides/charts/chart4.xml" Id="R4153b290bfb44727" /><Relationship Type="http://schemas.openxmlformats.org/officeDocument/2006/relationships/notesSlide" Target="/ppt/notesSlides/notesSlide3.xml" Id="R8851c916779543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ba59b742f34872" /><Relationship Type="http://schemas.openxmlformats.org/officeDocument/2006/relationships/notesSlide" Target="/ppt/notesSlides/notesSlide4.xml" Id="Rc9ab5f64193e40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f9dc6ab950422f" /><Relationship Type="http://schemas.openxmlformats.org/officeDocument/2006/relationships/chart" Target="/ppt/slides/charts/chart5.xml" Id="R518c427094334fee" /><Relationship Type="http://schemas.openxmlformats.org/officeDocument/2006/relationships/chart" Target="/ppt/slides/charts/chart6.xml" Id="Ra434dfaead754aad" /><Relationship Type="http://schemas.openxmlformats.org/officeDocument/2006/relationships/notesSlide" Target="/ppt/notesSlides/notesSlide5.xml" Id="R0910ec1b05ac4f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d513a03ecf4c83" /><Relationship Type="http://schemas.openxmlformats.org/officeDocument/2006/relationships/chart" Target="/ppt/slides/charts/chart7.xml" Id="Rf35dca6890d040ce" /><Relationship Type="http://schemas.openxmlformats.org/officeDocument/2006/relationships/chart" Target="/ppt/slides/charts/chart8.xml" Id="Ra55689006f294729" /><Relationship Type="http://schemas.openxmlformats.org/officeDocument/2006/relationships/notesSlide" Target="/ppt/notesSlides/notesSlide6.xml" Id="R9505f958cd874f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9844c692d04079" /><Relationship Type="http://schemas.openxmlformats.org/officeDocument/2006/relationships/chart" Target="/ppt/slides/charts/chart9.xml" Id="R00c5267dba7a483d" /><Relationship Type="http://schemas.openxmlformats.org/officeDocument/2006/relationships/chart" Target="/ppt/slides/charts/chart10.xml" Id="R7927e8b58e0943c7" /><Relationship Type="http://schemas.openxmlformats.org/officeDocument/2006/relationships/notesSlide" Target="/ppt/notesSlides/notesSlide7.xml" Id="R98f43290b4d548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5b03d533bf485b" /><Relationship Type="http://schemas.openxmlformats.org/officeDocument/2006/relationships/chart" Target="/ppt/slides/charts/chart11.xml" Id="R467df232fc254c18" /><Relationship Type="http://schemas.openxmlformats.org/officeDocument/2006/relationships/chart" Target="/ppt/slides/charts/chart12.xml" Id="Rc954bdb8aef643bc" /><Relationship Type="http://schemas.openxmlformats.org/officeDocument/2006/relationships/notesSlide" Target="/ppt/notesSlides/notesSlide8.xml" Id="Ree55ceb70c614b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4f7f4bce79349a8" /><Relationship Type="http://schemas.openxmlformats.org/officeDocument/2006/relationships/chart" Target="/ppt/slides/charts/chart13.xml" Id="Rba3769e1c9484e65" /><Relationship Type="http://schemas.openxmlformats.org/officeDocument/2006/relationships/chart" Target="/ppt/slides/charts/chart14.xml" Id="R6b4d82ef6fd14b5e" /><Relationship Type="http://schemas.openxmlformats.org/officeDocument/2006/relationships/notesSlide" Target="/ppt/notesSlides/notesSlide9.xml" Id="R3525632b4f4244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8a3472b9f04a77" /><Relationship Type="http://schemas.openxmlformats.org/officeDocument/2006/relationships/chart" Target="/ppt/slides/charts/chart15.xml" Id="R8a1d343107c24bdb" /><Relationship Type="http://schemas.openxmlformats.org/officeDocument/2006/relationships/chart" Target="/ppt/slides/charts/chart16.xml" Id="Rcb7f0b9eee784ba4" /><Relationship Type="http://schemas.openxmlformats.org/officeDocument/2006/relationships/notesSlide" Target="/ppt/notesSlides/notesSlide10.xml" Id="R434f8afd3b1f40d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d371d46e64b4f09" /><Relationship Type="http://schemas.openxmlformats.org/officeDocument/2006/relationships/notesSlide" Target="/ppt/notesSlides/notesSlide12.xml" Id="Rba59c946b8484a1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cf3766ad67f4eaf" /><Relationship Type="http://schemas.openxmlformats.org/officeDocument/2006/relationships/notesSlide" Target="/ppt/notesSlides/notesSlide13.xml" Id="R45a0bb10762a4f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242104700a94c0a" /><Relationship Type="http://schemas.openxmlformats.org/officeDocument/2006/relationships/chart" Target="/ppt/slides/charts/chart19.xml" Id="R8f0a4c77f31e4342" /><Relationship Type="http://schemas.openxmlformats.org/officeDocument/2006/relationships/notesSlide" Target="/ppt/notesSlides/notesSlide14.xml" Id="R689d119e2ee3468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99a1b455d9141ee" /><Relationship Type="http://schemas.openxmlformats.org/officeDocument/2006/relationships/chart" Target="/ppt/slides/charts/chart20.xml" Id="Rcba08b6542dc47f0" /><Relationship Type="http://schemas.openxmlformats.org/officeDocument/2006/relationships/chart" Target="/ppt/slides/charts/chart21.xml" Id="R3e55ff4929954159" /><Relationship Type="http://schemas.openxmlformats.org/officeDocument/2006/relationships/notesSlide" Target="/ppt/notesSlides/notesSlide15.xml" Id="Reccea38adb4d4a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2f98875ff3f4eaf" /><Relationship Type="http://schemas.openxmlformats.org/officeDocument/2006/relationships/chart" Target="/ppt/slides/charts/chart22.xml" Id="Ra27a828a0da64f79" /><Relationship Type="http://schemas.openxmlformats.org/officeDocument/2006/relationships/notesSlide" Target="/ppt/notesSlides/notesSlide16.xml" Id="Ra1b553c7fb5a46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df7215c48414ca1" /><Relationship Type="http://schemas.openxmlformats.org/officeDocument/2006/relationships/chart" Target="/ppt/slides/charts/chart23.xml" Id="Rea60a2bb094b482c" /><Relationship Type="http://schemas.openxmlformats.org/officeDocument/2006/relationships/chart" Target="/ppt/slides/charts/chart24.xml" Id="R5d25aeb3a9924497" /><Relationship Type="http://schemas.openxmlformats.org/officeDocument/2006/relationships/chart" Target="/ppt/slides/charts/chart25.xml" Id="Rfb728f2d59d242c8" /><Relationship Type="http://schemas.openxmlformats.org/officeDocument/2006/relationships/notesSlide" Target="/ppt/notesSlides/notesSlide17.xml" Id="R194083b7cffb4ac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8a76b65749448fd" /><Relationship Type="http://schemas.openxmlformats.org/officeDocument/2006/relationships/notesSlide" Target="/ppt/notesSlides/notesSlide18.xml" Id="Rc87ba32ab0fa481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3fb7c7bd9164258" /><Relationship Type="http://schemas.openxmlformats.org/officeDocument/2006/relationships/notesSlide" Target="/ppt/notesSlides/notesSlide19.xml" Id="R94f7b10e41be42ee" /></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6F68"/>
                </a:solidFill>
              </a:defRPr>
            </a:pPr>
            <a:r>
              <a:rPr sz="1650" b="1">
                <a:solidFill>
                  <a:srgbClr val="116F68"/>
                </a:solidFill>
              </a:rPr>
              <a:t>₹36.1 Cr July offtake | 73.4%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183B39"/>
                </a:solidFill>
              </a:defRPr>
            </a:pPr>
            <a:r>
              <a:rPr sz="975" b="1">
                <a:solidFill>
                  <a:srgbClr val="183B39"/>
                </a:solidFill>
              </a:rPr>
              <a:t>₹49.2 Cr primary  •  ₹13.11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73.4% conversion | ₹13.11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70.5% of the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45.6%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₹8.28 Cr at 82.3%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₹8.19 Cr at 83.6%.</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₹4.97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45.3%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₹24.49 Cr | 73.4%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₹11.03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5 validated growth levers are live; SAH / WD / PDO / OOS fields not yet field-reconciled for July</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Decisions without field reconciliation treat stock-timing noise as demand signal and risk driving wrong actions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Reconcile SAH, WD and OOS for August cycle; add PDO by state-chain; publish validated diagnostic by 31-Aug</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ME Face Wash +3.1 pp YoY to 10.5% share (#4 nationally); Shampoo +1.2 pp to 3.7%; June Nielsen RMS confirms demand pull</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Shampoo at +80.3% L3M is the fastest-growing segment — delay in expanding controlled pack pilots cedes early-mover advantage to competitors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Run controlled Shampoo pack pilots (top 3 formats) in DMart and Apollo; protect Face Wash hero EAN availability above 95% in top-100 stores</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 NKAM DMart / Apollo | Pilots by 15-Sep</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78.8%</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MT offtake Jul-26: ₹36.06 Cr (+64.2% YoY vs Jul-25 ₹21.96 Cr); L3M May–Jul ₹114.66 Cr (+65.8% YoY vs ₹69.16 Cr LY); North (58.5% conv, ₹4.97 Cr gap) and East (45.3% conv, ₹4.28 Cr gap) hold 70.5% of national gap</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West and South-1 are self-sustaining at 82-84% conversion; concentrating intervention on North and East yields the highest recovery per rupee of resource</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Weekly ZSM-owned gap closure loop: North targets Reliance + DMart EANs; East targets Reliance exclusively; report to Sales Lead every Friday from 22-Aug</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East ZSM | Weekly from 22-Aug</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Watch and convert</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₹8.28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22.9% mix</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82.3%</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₹1.78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West delivers ₹8.28 Cr offtake, 22.9% of national value.</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₹10.05 Cr versus ₹8.28 Cr offtake.</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82.3% for July.</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₹1.78 Cr.</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ranks #1 by national offtake.</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West ₹8.28 Cr at 82.3% conversion; DMart West 94.2% is the best DMart rate nationally; Reliance West 54.5% is the only exception; Wellness Forever 134.9% is a timing signal</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West's 94.2% conversion proves EAN availability discipline works; Reliance West has 45% of billed inventory not selling through — recoverable with store-level action</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to map Reliance West EAN-store failures; restore top-10 declining articles by 30-Aug; hold Wellness Forever loading until timing discrepancy is explained</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Reliance West + NKAM Wellness | 30-Aug</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Watch and convert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₹8.19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22.7% mix</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83.6%</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₹1.61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Apollo exceptions  •  Protect hero-SKU OSA  •  Review conversion weekly</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Lulu  ₹1.22 Cr</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₹0.19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South-1 delivers ₹8.19 Cr offtake, 22.7% of national value.</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₹9.80 Cr versus ₹8.19 Cr offtake.</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83.6% for July.</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₹1.61 Cr.</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South-1 ranks #2 by national offtake.</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S-1 ₹8.19 Cr at 83.6% conversion; Apollo ₹2.84 Cr at 81.0% is the only exception; TDC Face Cleanser growing from ₹0.73 Cr (Feb) to ₹1.18 Cr (Jul)</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Karnataka anchors 50.1% of zone value — losing it hurts more than gaining Tamil Nadu; Apollo's conversion dip is 3 pp below its national benchmark</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Apollo NKAM to fix top-5 declining EAN-store pairs in Karnataka; maintain TDC Face Cleanser OSA which underpins zone conversion</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Apollo S-1 | 28-Aug</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Urgent gap closure</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₹6.99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19.4% mix</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58.5%</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₹4.97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North delivers ₹6.99 Cr offtake, 19.4% of national value.</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₹11.95 Cr versus ₹6.99 Cr offtake.</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58.5% for July.</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₹4.97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North ranks #3 by national offtake.</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₹11.95 Cr primary vs ₹6.99 Cr offtake; 58.5% conversion; Reliance North 44.9% is the most critical account nationally; Apollo North 98.3% is the exception</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gap is a Reliance execution failure, not a demand failure — Apollo 98.3% in the same zone proves demand is present; ₹4.97 Cr gap is recoverable through EAN-level corrections</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Pull Reliance North EAN-store pair list; recover top 20 declining items by 05-Sep; use Apollo's 98.3% ordering cadence as the Reliance North playbook</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NKAM Reliance North | 05-Sep</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Urgent gap closure</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₹4.91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13.6% mix</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71.3%</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₹1.98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South-2 delivers ₹4.91 Cr offtake, 13.6% of national value.</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₹6.89 Cr versus ₹4.91 Cr offtake.</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71.3% for July.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₹1.98 Cr.</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South-2 ranks #4 by national offtake.</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S-2 ₹6.89 Cr primary vs ₹4.91 Cr offtake; DMart S-2 at 45.1% is the lowest DMart conversion nationally; Apollo S-2 at 148.5% signals overbilling</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S-2 is the highest-value DMart recovery opportunity nationally; Apollo's &gt;100% rate is a data risk — treating it as a success signal would justify loading into an already full pipe</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NKAM to run S-2 store-level audit by 28-Aug; quarantine Apollo S-2 primary comparison until opening stock is reconciled; freeze new Apollo S-2 loading</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S-2 + Analytics | 28-Aug</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Urgent gap closure</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₹3.55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9.8% mix</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45.3%</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₹4.28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Reliance exceptions  •  Protect hero-SKU OSA  •  Review conversion weekly</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₹0.19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East delivers ₹3.55 Cr offtake, 9.8% of national value.</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₹7.83 Cr versus ₹3.55 Cr offtake.</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45.3% for July.</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₹4.28 Cr.</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East ranks #5 by national offtake.</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45.3% conversion — worst nationally; ₹7.83 Cr primary vs ₹3.55 Cr offtake; Reliance East 52.9% is the core problem; NPI mix 10.2% is highest nationally</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is over-loaded relative to demonstrated demand; 10.2% NPI mix risks inventory buildup if sellthrough is not confirmed before the next primary cycle</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ZSM to place non-Hero SKU loading moratorium pending August offtake data; Reliance East EAN-store failure list — weekly owner review from 22-Aug</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ZSM + NKAM Reliance East | Loading freeze by 22-Aug</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Watch and convert</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₹2.12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5.9% mix</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78.8%</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₹0.57 Cr</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Apollo  ₹0.19 Cr</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Central delivers ₹2.12 Cr offtake, 5.9% of national value.</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₹2.69 Cr versus ₹2.12 Cr offtake.</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78.8% for July.</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₹0.57 Cr.</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Central ranks #6 by national offtake.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₹0.19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Central ₹2.12 Cr at 78.8% conversion; DMart Central 95.3% is the best DMart rate nationally; zone data available from July only (first billing month)</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Central is a clean new zone — protecting its high conversion from day one avoids the pipeline problems North and East are correcting at significant cost</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Document Central DMart's EAN availability and ordering cadence as the national DMart benchmark; build state-level comparable data from August</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 Analytics | Framework by 31-Aug</a:t>
            </a:r>
          </a:p>
        </p:txBody>
      </p:sp>
    </p:spTree>
    <p:extLst>
      <p:ext uri="{BB962C8B-B14F-4D97-AF65-F5344CB8AC3E}">
        <p14:creationId xmlns:p14="http://schemas.microsoft.com/office/powerpoint/2010/main" val="2091225696"/>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Lulu +46.5%, VMM +18.2%, Sasta Sundar +127.8% are growth engines; Reliance -15.0%, Metro -20.5%, Arambagh -22.5% need urgent recovery</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Scale and recovery chains need different resources; diverting Lulu / VMM attention to fix Reliance risks losing growth momentum in the accounts that are working</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Parallel owner loops: Reliance / Metro / Arambagh on weekly exception EAN lists; Lulu / VMM on availability protection briefs; no cross-assignment</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(owner assignment per chain) | By 25-Aug</a:t>
            </a:r>
          </a:p>
        </p:txBody>
      </p:sp>
    </p:spTree>
    <p:extLst>
      <p:ext uri="{BB962C8B-B14F-4D97-AF65-F5344CB8AC3E}">
        <p14:creationId xmlns:p14="http://schemas.microsoft.com/office/powerpoint/2010/main" val="2099237179"/>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Three urgent recovery chains (Reliance -15%, Metro -20.5%, Arambagh -22.5%); three scale chains (Lulu +46.5%, VMM +18.2%, Sasta Sundar +127.8%); each has a distinct root cause</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Mix erosion (Reliance), range dilution (Metro), expansion execution (VMM), seasonal concentration (Wellness) — one intervention does not work across all; wrong diagnosis wastes three months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Each recovery chain gets a named owner and chain-specific KPI; scale chains get availability protection brief; 30-day convergence review for all nine chains</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(KPI design) | Owner assignment by 25-Aug</a:t>
            </a:r>
          </a:p>
        </p:txBody>
      </p:sp>
    </p:spTree>
    <p:extLst>
      <p:ext uri="{BB962C8B-B14F-4D97-AF65-F5344CB8AC3E}">
        <p14:creationId xmlns:p14="http://schemas.microsoft.com/office/powerpoint/2010/main" val="51911218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eB2B / FSN+Nykaa: ₹2.07 Cr at 99.4% flow; outperforms MT average by 26 pp</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eB2B channel | FSN + Nykaa | January–July 2026 | Pan India</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eB2B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₹2.20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Jul-26</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MT | FYTD ₹8.79 Cr</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+26.0 pp vs MT avg (73.4%)</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eB2B OFFTAKE TREND — JAN TO JUL 2026</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top-8 face-wash and sunscreen EANs; reverse June–July -4.6% by restoring Rice FW 100ml and Ubtan FW OSA to 100% on Nykaa; retain &gt;95% flow as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Jul-26 ₹2.07 Cr (-4.6% MoM vs Jun ₹2.17 Cr); 7-month trend Jan ₹1.64 Cr → Jul ₹2.07 Cr; eB2B FYTD ₹8.79 Cr; 99.4% flow vs MT 73.4%; EAN count 198 (was 222 in Jan); Rice FW 100ml top article ₹0.27 Cr</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MoM dip is article-mix softness, not account deterioration; declining EAN count while value holds = better productivity per EAN; top-2 articles (Rice FW 100ml + 50ml = ₹0.46 Cr) determine August recovery</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Raise OSA to 100% for Rice FW 100ml and Ubtan FW on Nykaa; review article sellthrough in Nykaa before September reorder; no new EAN additions until July sellthrough confirmed</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Supply | 30-Aug</a:t>
            </a:r>
          </a:p>
        </p:txBody>
      </p:sp>
    </p:spTree>
    <p:extLst>
      <p:ext uri="{BB962C8B-B14F-4D97-AF65-F5344CB8AC3E}">
        <p14:creationId xmlns:p14="http://schemas.microsoft.com/office/powerpoint/2010/main" val="75792334"/>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₹2.82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 | NSV basis</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₹2.82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7.82%</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Chain NSV share: Reliance 46.3% (₹1.30 Cr), DMart 34.6% (₹0.98 Cr), Lulu 6.4% (₹0.18 Cr), FSN 4.6% (₹0.13 Cr), H&amp;G 2.1%, Metro 1.8%, Wellness 1.3%, Sancus 1.1%.</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₹2.82 Cr NPI (7.82% mix), 58/60 EANs billing; CHAIN SHARE (NSV): Reliance 46.3% (₹1.30 Cr), DMart 34.6% (₹0.98 Cr), Lulu 6.4%, FSN 4.6%, H&amp;G 2.1%; East NPI mix 10.2% highest nationally; zero-sellers: BBLUNT Cherry Red 130g + TDC Peptide–Stem Cell Hair Serum</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2 zero-sellers represent an active listing / OSA risk; left unresolved past August review they become dead NPI inventory — early action is cheaper than post-launch recovery</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Audit both zero-sellers: confirm store receipt, shelf placement and scheme support by 28-Aug; prioritize Reliance + DMart NPI visibility (combined 80.9% of NPI value); no further NPI loading in same categories until zero-sellers clear</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Trade Marketing + Supply | 28-Aug</a:t>
            </a:r>
          </a:p>
        </p:txBody>
      </p:sp>
    </p:spTree>
    <p:extLst>
      <p:ext uri="{BB962C8B-B14F-4D97-AF65-F5344CB8AC3E}">
        <p14:creationId xmlns:p14="http://schemas.microsoft.com/office/powerpoint/2010/main" val="1096802741"/>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₹4.29 Cr gap (76.5% conv); Reliance ₹7.61 Cr gap (51.4% conv); Apollo ₹0.02 Cr gap (99.7% conv); two chains account for 90.7% of national gap</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Apollo's 99.7% conversion in the same assortment window proves demand is real — DMart and Reliance gaps are execution deficits; closing 50% adds ~₹5.9 Cr monthly offtake</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Map Apollo's EAN selection and replenishment cadence; present as the DMart and Reliance execution playbook in the 31-Aug account review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 Apollo audit by 31-Aug</a:t>
            </a:r>
          </a:p>
        </p:txBody>
      </p:sp>
    </p:spTree>
    <p:extLst>
      <p:ext uri="{BB962C8B-B14F-4D97-AF65-F5344CB8AC3E}">
        <p14:creationId xmlns:p14="http://schemas.microsoft.com/office/powerpoint/2010/main" val="174286193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67.8%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₹11.03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ME ₹24.49 Cr at 73.4% conv; TDC ₹11.03 Cr at 72.6% conv; Aqualogica ₹0.48 Cr at 117% (timing effect); BBlunt ₹0.06 Cr at 35.2% conv</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ME and TDC have nearly identical conversion — the same chain-zone-EAN fix applies to both brands simultaneously; BBlunt 35.2% is structural underperformance requiring a primary hold</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Hold BBlunt primary until offtake confirms store-level demand; reconcile Aqualogica opening stock before September load; apply chain-zone-EAN exception fix to TDC in parallel with ME</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(BBlunt, Aqualogica) + Supply | By 31-Aug</a:t>
            </a:r>
          </a:p>
        </p:txBody>
      </p:sp>
    </p:spTree>
    <p:extLst>
      <p:ext uri="{BB962C8B-B14F-4D97-AF65-F5344CB8AC3E}">
        <p14:creationId xmlns:p14="http://schemas.microsoft.com/office/powerpoint/2010/main" val="98803543"/>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MT offtake Jul-26: ₹36.06 Cr (+64.2% YoY); L3M May–Jul: ₹114.66 Cr (+65.8% YoY); ₹13.11 Cr national gap at 73.4% conversion (target &gt;90%); North + East hold 70.5% of gap</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The 90-day plan is sequential — reconciliation (phase 1) validates white-space sizing (phase 2), which de-risks scaling (phase 3); skipping phase 1 invalidates everything after it</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Weekly scoreboard live from 22-Aug: North ZSM + East ZSM on gap metrics; KAMs on Hero-SKU OSA; Analytics on data exceptions; no exceptions to owner-date accountability</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(weekly chair) | First review 22-Aug</a:t>
            </a:r>
          </a:p>
        </p:txBody>
      </p:sp>
    </p:spTree>
    <p:extLst>
      <p:ext uri="{BB962C8B-B14F-4D97-AF65-F5344CB8AC3E}">
        <p14:creationId xmlns:p14="http://schemas.microsoft.com/office/powerpoint/2010/main" val="595362946"/>
      </p:ext>
    </p:extLst>
  </p:cSld>
</p:sld>
</file>

<file path=ppt/slides/slide1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₹49.21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73.4%</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31,355 / 197,740 primary-offtake rows reconciled; 0 missing zone rows; period July 2026; SAH / WD / PDO / OOS not yet field-reconciled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Data coverage is sufficient for chain × zone × brand decisions; article-level causal conclusions need SAH / WD / OOS — acting without them risks wrong root-cause assignments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Publish reconciled SAH / WD fields by 31-Aug; every consequential commercial change requires named human approval before execution</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33505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