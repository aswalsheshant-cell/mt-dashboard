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slides/charts/chart1.xml" ContentType="application/vnd.openxmlformats-officedocument.drawingml.chart+xml"/>
  <Override PartName="/ppt/slides/charts/chart2.xml" ContentType="application/vnd.openxmlformats-officedocument.drawingml.chart+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slides/charts/chart3.xml" ContentType="application/vnd.openxmlformats-officedocument.drawingml.chart+xml"/>
  <Override PartName="/ppt/slides/charts/chart4.xml" ContentType="application/vnd.openxmlformats-officedocument.drawingml.chart+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slides/charts/chart5.xml" ContentType="application/vnd.openxmlformats-officedocument.drawingml.chart+xml"/>
  <Override PartName="/ppt/slides/charts/chart6.xml" ContentType="application/vnd.openxmlformats-officedocument.drawingml.chart+xml"/>
  <Override PartName="/ppt/notesSlides/notesSlide5.xml" ContentType="application/vnd.openxmlformats-officedocument.presentationml.notesSlide+xml"/>
  <Override PartName="/ppt/slides/slide6.xml" ContentType="application/vnd.openxmlformats-officedocument.presentationml.slide+xml"/>
  <Override PartName="/ppt/slides/charts/chart7.xml" ContentType="application/vnd.openxmlformats-officedocument.drawingml.chart+xml"/>
  <Override PartName="/ppt/slides/charts/chart8.xml" ContentType="application/vnd.openxmlformats-officedocument.drawingml.chart+xml"/>
  <Override PartName="/ppt/notesSlides/notesSlide6.xml" ContentType="application/vnd.openxmlformats-officedocument.presentationml.notesSlide+xml"/>
  <Override PartName="/ppt/slides/slide7.xml" ContentType="application/vnd.openxmlformats-officedocument.presentationml.slide+xml"/>
  <Override PartName="/ppt/slides/charts/chart9.xml" ContentType="application/vnd.openxmlformats-officedocument.drawingml.chart+xml"/>
  <Override PartName="/ppt/slides/charts/chart10.xml" ContentType="application/vnd.openxmlformats-officedocument.drawingml.chart+xml"/>
  <Override PartName="/ppt/notesSlides/notesSlide7.xml" ContentType="application/vnd.openxmlformats-officedocument.presentationml.notesSlide+xml"/>
  <Override PartName="/ppt/slides/slide8.xml" ContentType="application/vnd.openxmlformats-officedocument.presentationml.slide+xml"/>
  <Override PartName="/ppt/slides/charts/chart11.xml" ContentType="application/vnd.openxmlformats-officedocument.drawingml.chart+xml"/>
  <Override PartName="/ppt/slides/charts/chart12.xml" ContentType="application/vnd.openxmlformats-officedocument.drawingml.chart+xml"/>
  <Override PartName="/ppt/notesSlides/notesSlide8.xml" ContentType="application/vnd.openxmlformats-officedocument.presentationml.notesSlide+xml"/>
  <Override PartName="/ppt/slides/slide9.xml" ContentType="application/vnd.openxmlformats-officedocument.presentationml.slide+xml"/>
  <Override PartName="/ppt/slides/charts/chart13.xml" ContentType="application/vnd.openxmlformats-officedocument.drawingml.chart+xml"/>
  <Override PartName="/ppt/slides/charts/chart14.xml" ContentType="application/vnd.openxmlformats-officedocument.drawingml.chart+xml"/>
  <Override PartName="/ppt/notesSlides/notesSlide9.xml" ContentType="application/vnd.openxmlformats-officedocument.presentationml.notesSlide+xml"/>
  <Override PartName="/ppt/slides/slide10.xml" ContentType="application/vnd.openxmlformats-officedocument.presentationml.slide+xml"/>
  <Override PartName="/ppt/slides/charts/chart15.xml" ContentType="application/vnd.openxmlformats-officedocument.drawingml.chart+xml"/>
  <Override PartName="/ppt/slides/charts/chart16.xml" ContentType="application/vnd.openxmlformats-officedocument.drawingml.chart+xml"/>
  <Override PartName="/ppt/notesSlides/notesSlide10.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slides/charts/chart19.xml" ContentType="application/vnd.openxmlformats-officedocument.drawingml.chart+xml"/>
  <Override PartName="/ppt/notesSlides/notesSlide14.xml" ContentType="application/vnd.openxmlformats-officedocument.presentationml.notesSlide+xml"/>
  <Override PartName="/ppt/slides/slide15.xml" ContentType="application/vnd.openxmlformats-officedocument.presentationml.slide+xml"/>
  <Override PartName="/ppt/slides/charts/chart20.xml" ContentType="application/vnd.openxmlformats-officedocument.drawingml.chart+xml"/>
  <Override PartName="/ppt/slides/charts/chart21.xml" ContentType="application/vnd.openxmlformats-officedocument.drawingml.chart+xml"/>
  <Override PartName="/ppt/notesSlides/notesSlide15.xml" ContentType="application/vnd.openxmlformats-officedocument.presentationml.notesSlide+xml"/>
  <Override PartName="/ppt/slides/slide16.xml" ContentType="application/vnd.openxmlformats-officedocument.presentationml.slide+xml"/>
  <Override PartName="/ppt/slides/charts/chart22.xml" ContentType="application/vnd.openxmlformats-officedocument.drawingml.chart+xml"/>
  <Override PartName="/ppt/notesSlides/notesSlide16.xml" ContentType="application/vnd.openxmlformats-officedocument.presentationml.notesSlide+xml"/>
  <Override PartName="/ppt/slides/slide17.xml" ContentType="application/vnd.openxmlformats-officedocument.presentationml.slide+xml"/>
  <Override PartName="/ppt/slides/charts/chart23.xml" ContentType="application/vnd.openxmlformats-officedocument.drawingml.chart+xml"/>
  <Override PartName="/ppt/slides/charts/chart24.xml" ContentType="application/vnd.openxmlformats-officedocument.drawingml.chart+xml"/>
  <Override PartName="/ppt/slides/charts/chart25.xml" ContentType="application/vnd.openxmlformats-officedocument.drawingml.chart+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63ac4d07194644cd" /><Relationship Type="http://schemas.openxmlformats.org/officeDocument/2006/relationships/extended-properties" Target="/docProps/app.xml" Id="R5819a01942624948" /><Relationship Type="http://schemas.openxmlformats.org/officeDocument/2006/relationships/officeDocument" Target="/ppt/presentation.xml" Id="Rad73cd0733c54abd" /></Relationships>
</file>

<file path=ppt/presentation.xml><?xml version="1.0" encoding="utf-8"?>
<p:presentation xmlns:p="http://schemas.openxmlformats.org/presentationml/2006/main">
  <p:sldMasterIdLst>
    <p:sldMasterId xmlns:r="http://schemas.openxmlformats.org/officeDocument/2006/relationships" id="2147483648" r:id="R38b03c5eb4df4d87"/>
  </p:sldMasterIdLst>
  <p:notesMasterIdLst>
    <p:notesMasterId xmlns:r="http://schemas.openxmlformats.org/officeDocument/2006/relationships" r:id="R6868a0b9a914459b"/>
  </p:notesMasterIdLst>
  <p:sldIdLst>
    <p:sldId xmlns:r="http://schemas.openxmlformats.org/officeDocument/2006/relationships" id="256" r:id="Re152d1a90d4e4190"/>
    <p:sldId xmlns:r="http://schemas.openxmlformats.org/officeDocument/2006/relationships" id="257" r:id="R0143c6fe06894d94"/>
    <p:sldId xmlns:r="http://schemas.openxmlformats.org/officeDocument/2006/relationships" id="258" r:id="R8f6247f9571f4052"/>
    <p:sldId xmlns:r="http://schemas.openxmlformats.org/officeDocument/2006/relationships" id="259" r:id="Re3e9a364b12d464d"/>
    <p:sldId xmlns:r="http://schemas.openxmlformats.org/officeDocument/2006/relationships" id="260" r:id="R3a4c5069b8bd4491"/>
    <p:sldId xmlns:r="http://schemas.openxmlformats.org/officeDocument/2006/relationships" id="261" r:id="R1795850fc7224e85"/>
    <p:sldId xmlns:r="http://schemas.openxmlformats.org/officeDocument/2006/relationships" id="262" r:id="Rad427f039d604c43"/>
    <p:sldId xmlns:r="http://schemas.openxmlformats.org/officeDocument/2006/relationships" id="263" r:id="Rf5b82ebdfaac47c3"/>
    <p:sldId xmlns:r="http://schemas.openxmlformats.org/officeDocument/2006/relationships" id="264" r:id="Rc4ed7e5eaa9344a0"/>
    <p:sldId xmlns:r="http://schemas.openxmlformats.org/officeDocument/2006/relationships" id="265" r:id="Re5d6b16e36d04042"/>
    <p:sldId xmlns:r="http://schemas.openxmlformats.org/officeDocument/2006/relationships" id="267" r:id="R1aa66965d6d4440c"/>
    <p:sldId xmlns:r="http://schemas.openxmlformats.org/officeDocument/2006/relationships" id="268" r:id="R2165f9be392c4f9c"/>
    <p:sldId xmlns:r="http://schemas.openxmlformats.org/officeDocument/2006/relationships" id="269" r:id="R2649de66fc444c71"/>
    <p:sldId xmlns:r="http://schemas.openxmlformats.org/officeDocument/2006/relationships" id="270" r:id="Re2c1f89efbdc4edd"/>
    <p:sldId xmlns:r="http://schemas.openxmlformats.org/officeDocument/2006/relationships" id="271" r:id="R38ff2dd4b1e142e5"/>
    <p:sldId xmlns:r="http://schemas.openxmlformats.org/officeDocument/2006/relationships" id="272" r:id="R733ce381be82410b"/>
    <p:sldId xmlns:r="http://schemas.openxmlformats.org/officeDocument/2006/relationships" id="273" r:id="R22da18962aef47f3"/>
    <p:sldId xmlns:r="http://schemas.openxmlformats.org/officeDocument/2006/relationships" id="274" r:id="R235672ef4d3749a7"/>
  </p:sldIdLst>
  <p:sldSz cx="6858000" cy="12192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a72cb0f936a84191" /><Relationship Type="http://schemas.openxmlformats.org/officeDocument/2006/relationships/slideMaster" Target="/ppt/slideMasters/slideMaster1.xml" Id="R38b03c5eb4df4d87" /><Relationship Type="http://schemas.openxmlformats.org/officeDocument/2006/relationships/notesMaster" Target="/ppt/notesMasters/notesMaster1.xml" Id="R6868a0b9a914459b" /><Relationship Type="http://schemas.openxmlformats.org/officeDocument/2006/relationships/presProps" Target="/ppt/presProps.xml" Id="Rc5d61f3f6a2949d7" /><Relationship Type="http://schemas.openxmlformats.org/officeDocument/2006/relationships/tableStyles" Target="/ppt/tableStyles.xml" Id="R0cb90f825c0e46bb" /><Relationship Type="http://schemas.openxmlformats.org/officeDocument/2006/relationships/slide" Target="/ppt/slides/slide1.xml" Id="Re152d1a90d4e4190" /><Relationship Type="http://schemas.openxmlformats.org/officeDocument/2006/relationships/slide" Target="/ppt/slides/slide2.xml" Id="R0143c6fe06894d94" /><Relationship Type="http://schemas.openxmlformats.org/officeDocument/2006/relationships/slide" Target="/ppt/slides/slide3.xml" Id="R8f6247f9571f4052" /><Relationship Type="http://schemas.openxmlformats.org/officeDocument/2006/relationships/slide" Target="/ppt/slides/slide4.xml" Id="Re3e9a364b12d464d" /><Relationship Type="http://schemas.openxmlformats.org/officeDocument/2006/relationships/slide" Target="/ppt/slides/slide5.xml" Id="R3a4c5069b8bd4491" /><Relationship Type="http://schemas.openxmlformats.org/officeDocument/2006/relationships/slide" Target="/ppt/slides/slide6.xml" Id="R1795850fc7224e85" /><Relationship Type="http://schemas.openxmlformats.org/officeDocument/2006/relationships/slide" Target="/ppt/slides/slide7.xml" Id="Rad427f039d604c43" /><Relationship Type="http://schemas.openxmlformats.org/officeDocument/2006/relationships/slide" Target="/ppt/slides/slide8.xml" Id="Rf5b82ebdfaac47c3" /><Relationship Type="http://schemas.openxmlformats.org/officeDocument/2006/relationships/slide" Target="/ppt/slides/slide9.xml" Id="Rc4ed7e5eaa9344a0" /><Relationship Type="http://schemas.openxmlformats.org/officeDocument/2006/relationships/slide" Target="/ppt/slides/slide10.xml" Id="Re5d6b16e36d04042" /><Relationship Type="http://schemas.openxmlformats.org/officeDocument/2006/relationships/slide" Target="/ppt/slides/slide12.xml" Id="R1aa66965d6d4440c" /><Relationship Type="http://schemas.openxmlformats.org/officeDocument/2006/relationships/slide" Target="/ppt/slides/slide13.xml" Id="R2165f9be392c4f9c" /><Relationship Type="http://schemas.openxmlformats.org/officeDocument/2006/relationships/slide" Target="/ppt/slides/slide14.xml" Id="R2649de66fc444c71" /><Relationship Type="http://schemas.openxmlformats.org/officeDocument/2006/relationships/slide" Target="/ppt/slides/slide15.xml" Id="Re2c1f89efbdc4edd" /><Relationship Type="http://schemas.openxmlformats.org/officeDocument/2006/relationships/slide" Target="/ppt/slides/slide16.xml" Id="R38ff2dd4b1e142e5" /><Relationship Type="http://schemas.openxmlformats.org/officeDocument/2006/relationships/slide" Target="/ppt/slides/slide17.xml" Id="R733ce381be82410b" /><Relationship Type="http://schemas.openxmlformats.org/officeDocument/2006/relationships/slide" Target="/ppt/slides/slide18.xml" Id="R22da18962aef47f3" /><Relationship Type="http://schemas.openxmlformats.org/officeDocument/2006/relationships/slide" Target="/ppt/slides/slide19.xml" Id="R235672ef4d3749a7"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3e91694783d74e46"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f2f9f3c17ce9428d" /><Relationship Type="http://schemas.openxmlformats.org/officeDocument/2006/relationships/notesMaster" Target="/ppt/notesMasters/notesMaster1.xml" Id="R4d86e85a51054180" /></Relationships>
</file>

<file path=ppt/notesSlides/_rels/notesSlide2.xml.rels>&#65279;<?xml version="1.0" encoding="utf-8"?><Relationships xmlns="http://schemas.openxmlformats.org/package/2006/relationships"><Relationship Type="http://schemas.openxmlformats.org/officeDocument/2006/relationships/slide" Target="/ppt/slides/slide2.xml" Id="Rc05a4892ac074ab7" /><Relationship Type="http://schemas.openxmlformats.org/officeDocument/2006/relationships/notesMaster" Target="/ppt/notesMasters/notesMaster1.xml" Id="R7dff8090fabe47c2" /></Relationships>
</file>

<file path=ppt/notesSlides/_rels/notesSlide3.xml.rels>&#65279;<?xml version="1.0" encoding="utf-8"?><Relationships xmlns="http://schemas.openxmlformats.org/package/2006/relationships"><Relationship Type="http://schemas.openxmlformats.org/officeDocument/2006/relationships/slide" Target="/ppt/slides/slide3.xml" Id="R28b4b8d55cf24a9d" /><Relationship Type="http://schemas.openxmlformats.org/officeDocument/2006/relationships/notesMaster" Target="/ppt/notesMasters/notesMaster1.xml" Id="Ra01d069e9e7b491d" /></Relationships>
</file>

<file path=ppt/notesSlides/_rels/notesSlide4.xml.rels>&#65279;<?xml version="1.0" encoding="utf-8"?><Relationships xmlns="http://schemas.openxmlformats.org/package/2006/relationships"><Relationship Type="http://schemas.openxmlformats.org/officeDocument/2006/relationships/slide" Target="/ppt/slides/slide4.xml" Id="R519e971c66144d42" /><Relationship Type="http://schemas.openxmlformats.org/officeDocument/2006/relationships/notesMaster" Target="/ppt/notesMasters/notesMaster1.xml" Id="R731ba1d494894bbe" /></Relationships>
</file>

<file path=ppt/notesSlides/_rels/notesSlide5.xml.rels>&#65279;<?xml version="1.0" encoding="utf-8"?><Relationships xmlns="http://schemas.openxmlformats.org/package/2006/relationships"><Relationship Type="http://schemas.openxmlformats.org/officeDocument/2006/relationships/slide" Target="/ppt/slides/slide5.xml" Id="R2b7f726d180943d2" /><Relationship Type="http://schemas.openxmlformats.org/officeDocument/2006/relationships/notesMaster" Target="/ppt/notesMasters/notesMaster1.xml" Id="Rb3e8a0d0a31f4efa" /></Relationships>
</file>

<file path=ppt/notesSlides/_rels/notesSlide6.xml.rels>&#65279;<?xml version="1.0" encoding="utf-8"?><Relationships xmlns="http://schemas.openxmlformats.org/package/2006/relationships"><Relationship Type="http://schemas.openxmlformats.org/officeDocument/2006/relationships/slide" Target="/ppt/slides/slide6.xml" Id="R2ba816674e124930" /><Relationship Type="http://schemas.openxmlformats.org/officeDocument/2006/relationships/notesMaster" Target="/ppt/notesMasters/notesMaster1.xml" Id="R7e254495f4c5454d" /></Relationships>
</file>

<file path=ppt/notesSlides/_rels/notesSlide7.xml.rels>&#65279;<?xml version="1.0" encoding="utf-8"?><Relationships xmlns="http://schemas.openxmlformats.org/package/2006/relationships"><Relationship Type="http://schemas.openxmlformats.org/officeDocument/2006/relationships/slide" Target="/ppt/slides/slide7.xml" Id="R3fe4bf92618e4ebe" /><Relationship Type="http://schemas.openxmlformats.org/officeDocument/2006/relationships/notesMaster" Target="/ppt/notesMasters/notesMaster1.xml" Id="Rc634250b801442f2" /></Relationships>
</file>

<file path=ppt/notesSlides/_rels/notesSlide8.xml.rels>&#65279;<?xml version="1.0" encoding="utf-8"?><Relationships xmlns="http://schemas.openxmlformats.org/package/2006/relationships"><Relationship Type="http://schemas.openxmlformats.org/officeDocument/2006/relationships/slide" Target="/ppt/slides/slide8.xml" Id="Rfd84da7b1e994db0" /><Relationship Type="http://schemas.openxmlformats.org/officeDocument/2006/relationships/notesMaster" Target="/ppt/notesMasters/notesMaster1.xml" Id="R2addd1c061f34315" /></Relationships>
</file>

<file path=ppt/notesSlides/_rels/notesSlide9.xml.rels>&#65279;<?xml version="1.0" encoding="utf-8"?><Relationships xmlns="http://schemas.openxmlformats.org/package/2006/relationships"><Relationship Type="http://schemas.openxmlformats.org/officeDocument/2006/relationships/slide" Target="/ppt/slides/slide9.xml" Id="Rec7afd1f61d54a9e" /><Relationship Type="http://schemas.openxmlformats.org/officeDocument/2006/relationships/notesMaster" Target="/ppt/notesMasters/notesMaster1.xml" Id="R985569addc0041cb"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e1ce444c415e4b12" /><Relationship Type="http://schemas.openxmlformats.org/officeDocument/2006/relationships/notesMaster" Target="/ppt/notesMasters/notesMaster1.xml" Id="R7faacdd029264393"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a4feae875ffd46d1" /><Relationship Type="http://schemas.openxmlformats.org/officeDocument/2006/relationships/notesMaster" Target="/ppt/notesMasters/notesMaster1.xml" Id="R98b21cc1f15f474a"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6354920cef084968" /><Relationship Type="http://schemas.openxmlformats.org/officeDocument/2006/relationships/notesMaster" Target="/ppt/notesMasters/notesMaster1.xml" Id="Rcb98de9cc9b14eed"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0dda0ec43f9049de" /><Relationship Type="http://schemas.openxmlformats.org/officeDocument/2006/relationships/notesMaster" Target="/ppt/notesMasters/notesMaster1.xml" Id="R36b16739ffb74cbe"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e9bf9a4c54104910" /><Relationship Type="http://schemas.openxmlformats.org/officeDocument/2006/relationships/notesMaster" Target="/ppt/notesMasters/notesMaster1.xml" Id="R0b732f6ee0ea4041"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66f0efd60bb34799" /><Relationship Type="http://schemas.openxmlformats.org/officeDocument/2006/relationships/notesMaster" Target="/ppt/notesMasters/notesMaster1.xml" Id="Rea8674ed1c204523"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9755abe7b15c40b9" /><Relationship Type="http://schemas.openxmlformats.org/officeDocument/2006/relationships/notesMaster" Target="/ppt/notesMasters/notesMaster1.xml" Id="Rc1b5834869ac4ad3"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73a85938f63c4a5c" /><Relationship Type="http://schemas.openxmlformats.org/officeDocument/2006/relationships/notesMaster" Target="/ppt/notesMasters/notesMaster1.xml" Id="Rc436e820ddd345bd"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a8a3ab2aa01e4b87" /><Relationship Type="http://schemas.openxmlformats.org/officeDocument/2006/relationships/notesMaster" Target="/ppt/notesMasters/notesMaster1.xml" Id="Re5d92af4f6bf4716"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a:t>
            </a:r>
          </a:p>
          <a:p xmlns:a="http://schemas.openxmlformats.org/drawingml/2006/main">
            <a:r>
              <a:t>- July Compiled Offtake file (3).xlsx — Sheet1 transaction data</a:t>
            </a:r>
          </a:p>
          <a:p xmlns:a="http://schemas.openxmlformats.org/drawingml/2006/main">
            <a:r>
              <a:t>- July'26 primary and distributor secondary.xlsb — primary DIstributor wise; secondary for distributor</a:t>
            </a:r>
          </a:p>
          <a:p xmlns:a="http://schemas.openxmlformats.org/drawingml/2006/main">
            <a:r>
              <a:t>- Calculations: Codex analysis, units converted to INR crore for display</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a:t>
            </a:r>
          </a:p>
          <a:p xmlns:a="http://schemas.openxmlformats.org/drawingml/2006/main">
            <a:r>
              <a:t>- July Compiled Offtake file (3).xlsx — Sheet1 transaction data</a:t>
            </a:r>
          </a:p>
          <a:p xmlns:a="http://schemas.openxmlformats.org/drawingml/2006/main">
            <a:r>
              <a:t>- July'26 primary and distributor secondary.xlsb — primary DIstributor wise; secondary for distributor</a:t>
            </a:r>
          </a:p>
          <a:p xmlns:a="http://schemas.openxmlformats.org/drawingml/2006/main">
            <a:r>
              <a:t>- Calculations: Codex analysis, units converted to INR crore for display</a:t>
            </a:r>
          </a:p>
          <a:p xmlns:a="http://schemas.openxmlformats.org/drawingml/2006/main">
            <a:r>
              <a:t>[/Sources]</a:t>
            </a:r>
          </a:p>
          <a:p xmlns:a="http://schemas.openxmlformats.org/drawingml/2006/main">
            <a:r>
              <a:t>[Prompt-derived framework]</a:t>
            </a:r>
          </a:p>
          <a:p xmlns:a="http://schemas.openxmlformats.org/drawingml/2006/main">
            <a:r>
              <a:t>- Pasted leadership analysis supplied by the user; hypothetical examples excluded from measured claims.</a:t>
            </a:r>
          </a:p>
          <a:p xmlns:a="http://schemas.openxmlformats.org/drawingml/2006/main">
            <a:r>
              <a:t>[/Prompt-derived framework]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a:t>
            </a:r>
          </a:p>
          <a:p xmlns:a="http://schemas.openxmlformats.org/drawingml/2006/main">
            <a:r>
              <a:t>- Primary Performance &amp; Modern Trade Market Share Review (July '26).pptx — slide 4, June 2026 Nielsen RMS</a:t>
            </a:r>
          </a:p>
          <a:p xmlns:a="http://schemas.openxmlformats.org/drawingml/2006/main">
            <a:r>
              <a:t>- Market_Share_By_PackSize_June26.pptx — pack-size opportunity slides</a:t>
            </a:r>
          </a:p>
          <a:p xmlns:a="http://schemas.openxmlformats.org/drawingml/2006/main">
            <a:r>
              <a:t>- Calculations and implications: Codex analysis</a:t>
            </a:r>
          </a:p>
          <a:p xmlns:a="http://schemas.openxmlformats.org/drawingml/2006/main">
            <a:r>
              <a:t>[/Sources]</a:t>
            </a:r>
          </a:p>
          <a:p xmlns:a="http://schemas.openxmlformats.org/drawingml/2006/main">
            <a:r>
              <a:t/>
            </a:r>
          </a:p>
          <a:p xmlns:a="http://schemas.openxmlformats.org/drawingml/2006/main">
            <a:r>
              <a:t>[Presenter script]</a:t>
            </a:r>
          </a:p>
          <a:p xmlns:a="http://schemas.openxmlformats.org/drawingml/2006/main">
            <a:r>
              <a:t>June Nielsen RMS validates demand behind July billing. Defend Mamaearth Face Wash, expand Shampoo through controlled pack pilots, scale TDC selectively, and close July Modern Trade flow gaps through OSA rather than broad loading.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a:t>
            </a:r>
          </a:p>
          <a:p xmlns:a="http://schemas.openxmlformats.org/drawingml/2006/main">
            <a:r>
              <a:t>- July Compiled Offtake file (3).xlsx — Sheet1 transaction data</a:t>
            </a:r>
          </a:p>
          <a:p xmlns:a="http://schemas.openxmlformats.org/drawingml/2006/main">
            <a:r>
              <a:t>- July'26 primary and distributor secondary.xlsb — primary DIstributor wise; secondary for distributor</a:t>
            </a:r>
          </a:p>
          <a:p xmlns:a="http://schemas.openxmlformats.org/drawingml/2006/main">
            <a:r>
              <a:t>- Calculations: Codex analysis, units converted to INR crore for display</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a:t>
            </a:r>
          </a:p>
          <a:p xmlns:a="http://schemas.openxmlformats.org/drawingml/2006/main">
            <a:r>
              <a:t>- July Compiled Offtake file (3).xlsx — Sheet1 transaction data</a:t>
            </a:r>
          </a:p>
          <a:p xmlns:a="http://schemas.openxmlformats.org/drawingml/2006/main">
            <a:r>
              <a:t>- July'26 primary and distributor secondary.xlsb — primary DIstributor wise; secondary for distributor</a:t>
            </a:r>
          </a:p>
          <a:p xmlns:a="http://schemas.openxmlformats.org/drawingml/2006/main">
            <a:r>
              <a:t>- Calculations: Codex analysis, units converted to INR crore for display</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a:t>
            </a:r>
          </a:p>
          <a:p xmlns:a="http://schemas.openxmlformats.org/drawingml/2006/main">
            <a:r>
              <a:t>- July Compiled Offtake file (3).xlsx — Sheet1 transaction data</a:t>
            </a:r>
          </a:p>
          <a:p xmlns:a="http://schemas.openxmlformats.org/drawingml/2006/main">
            <a:r>
              <a:t>- July'26 primary and distributor secondary.xlsb — primary DIstributor wise; secondary for distributor</a:t>
            </a:r>
          </a:p>
          <a:p xmlns:a="http://schemas.openxmlformats.org/drawingml/2006/main">
            <a:r>
              <a:t>- Calculations: Codex analysis, units converted to INR crore for display</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a:t>
            </a:r>
          </a:p>
          <a:p xmlns:a="http://schemas.openxmlformats.org/drawingml/2006/main">
            <a:r>
              <a:t>- July Compiled Offtake file (3).xlsx — Sheet1 transaction data</a:t>
            </a:r>
          </a:p>
          <a:p xmlns:a="http://schemas.openxmlformats.org/drawingml/2006/main">
            <a:r>
              <a:t>- July'26 primary and distributor secondary.xlsb — primary DIstributor wise; secondary for distributor</a:t>
            </a:r>
          </a:p>
          <a:p xmlns:a="http://schemas.openxmlformats.org/drawingml/2006/main">
            <a:r>
              <a:t>- Calculations: Codex analysis, units converted to INR crore for display</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a:t>
            </a:r>
          </a:p>
          <a:p xmlns:a="http://schemas.openxmlformats.org/drawingml/2006/main">
            <a:r>
              <a:t>- July Compiled Offtake file (3).xlsx — Sheet1 transaction data</a:t>
            </a:r>
          </a:p>
          <a:p xmlns:a="http://schemas.openxmlformats.org/drawingml/2006/main">
            <a:r>
              <a:t>- July'26 primary and distributor secondary.xlsb — primary DIstributor wise; secondary for distributor</a:t>
            </a:r>
          </a:p>
          <a:p xmlns:a="http://schemas.openxmlformats.org/drawingml/2006/main">
            <a:r>
              <a:t>- Calculations: Codex analysis, units converted to INR crore for display</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a:t>
            </a:r>
          </a:p>
          <a:p xmlns:a="http://schemas.openxmlformats.org/drawingml/2006/main">
            <a:r>
              <a:t>- July Compiled Offtake file (3).xlsx — Sheet1 transaction data</a:t>
            </a:r>
          </a:p>
          <a:p xmlns:a="http://schemas.openxmlformats.org/drawingml/2006/main">
            <a:r>
              <a:t>- July'26 primary and distributor secondary.xlsb — primary DIstributor wise; secondary for distributor</a:t>
            </a:r>
          </a:p>
          <a:p xmlns:a="http://schemas.openxmlformats.org/drawingml/2006/main">
            <a:r>
              <a:t>- Calculations: Codex analysis, units converted to INR crore for display</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a:t>
            </a:r>
          </a:p>
          <a:p xmlns:a="http://schemas.openxmlformats.org/drawingml/2006/main">
            <a:r>
              <a:t>- July Compiled Offtake file (3).xlsx — Sheet1 transaction data</a:t>
            </a:r>
          </a:p>
          <a:p xmlns:a="http://schemas.openxmlformats.org/drawingml/2006/main">
            <a:r>
              <a:t>- July'26 primary and distributor secondary.xlsb — primary DIstributor wise; secondary for distributor</a:t>
            </a:r>
          </a:p>
          <a:p xmlns:a="http://schemas.openxmlformats.org/drawingml/2006/main">
            <a:r>
              <a:t>- Calculations: Codex analysis, units converted to INR crore for display</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a:t>
            </a:r>
          </a:p>
          <a:p xmlns:a="http://schemas.openxmlformats.org/drawingml/2006/main">
            <a:r>
              <a:t>- July Compiled Offtake file (3).xlsx — Sheet1 transaction data</a:t>
            </a:r>
          </a:p>
          <a:p xmlns:a="http://schemas.openxmlformats.org/drawingml/2006/main">
            <a:r>
              <a:t>- July'26 primary and distributor secondary.xlsb — primary DIstributor wise; secondary for distributor</a:t>
            </a:r>
          </a:p>
          <a:p xmlns:a="http://schemas.openxmlformats.org/drawingml/2006/main">
            <a:r>
              <a:t>- Calculations: Codex analysis, units converted to INR crore for display</a:t>
            </a:r>
          </a:p>
          <a:p xmlns:a="http://schemas.openxmlformats.org/drawingml/2006/main">
            <a:r>
              <a:t>[/Sources]</a:t>
            </a:r>
          </a:p>
          <a:p xmlns:a="http://schemas.openxmlformats.org/drawingml/2006/main">
            <a:r>
              <a:t>[Sources]</a:t>
            </a:r>
          </a:p>
          <a:p xmlns:a="http://schemas.openxmlformats.org/drawingml/2006/main">
            <a:r>
              <a:t>- L6M Offtake data (1).xlsx — All Chain</a:t>
            </a:r>
          </a:p>
          <a:p xmlns:a="http://schemas.openxmlformats.org/drawingml/2006/main">
            <a:r>
              <a:t>- chain_npi_payload.json — normalized June–July diagnostics</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a:t>
            </a:r>
          </a:p>
          <a:p xmlns:a="http://schemas.openxmlformats.org/drawingml/2006/main">
            <a:r>
              <a:t>- July Compiled Offtake file (3).xlsx — Sheet1 transaction data</a:t>
            </a:r>
          </a:p>
          <a:p xmlns:a="http://schemas.openxmlformats.org/drawingml/2006/main">
            <a:r>
              <a:t>- July'26 primary and distributor secondary.xlsb — primary DIstributor wise; secondary for distributor</a:t>
            </a:r>
          </a:p>
          <a:p xmlns:a="http://schemas.openxmlformats.org/drawingml/2006/main">
            <a:r>
              <a:t>- Calculations: Codex analysis, units converted to INR crore for display</a:t>
            </a:r>
          </a:p>
          <a:p xmlns:a="http://schemas.openxmlformats.org/drawingml/2006/main">
            <a:r>
              <a:t>[/Sources]</a:t>
            </a:r>
          </a:p>
          <a:p xmlns:a="http://schemas.openxmlformats.org/drawingml/2006/main">
            <a:r>
              <a:t>[Sources]</a:t>
            </a:r>
          </a:p>
          <a:p xmlns:a="http://schemas.openxmlformats.org/drawingml/2006/main">
            <a:r>
              <a:t>- July Compiled Offtake file (3).xlsx — Sheet1</a:t>
            </a:r>
          </a:p>
          <a:p xmlns:a="http://schemas.openxmlformats.org/drawingml/2006/main">
            <a:r>
              <a:t>- L6M Offtake data (1).xlsx — All Chain</a:t>
            </a:r>
          </a:p>
          <a:p xmlns:a="http://schemas.openxmlformats.org/drawingml/2006/main">
            <a:r>
              <a:t>- Calculations: chain_npi_payload.json</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a:t>
            </a:r>
          </a:p>
          <a:p xmlns:a="http://schemas.openxmlformats.org/drawingml/2006/main">
            <a:r>
              <a:t>- July Compiled Offtake file (3).xlsx — Sheet1 transaction data</a:t>
            </a:r>
          </a:p>
          <a:p xmlns:a="http://schemas.openxmlformats.org/drawingml/2006/main">
            <a:r>
              <a:t>- July'26 primary and distributor secondary.xlsb — primary DIstributor wise; secondary for distributor</a:t>
            </a:r>
          </a:p>
          <a:p xmlns:a="http://schemas.openxmlformats.org/drawingml/2006/main">
            <a:r>
              <a:t>- Calculations: Codex analysis, units converted to INR crore for display</a:t>
            </a:r>
          </a:p>
          <a:p xmlns:a="http://schemas.openxmlformats.org/drawingml/2006/main">
            <a:r>
              <a:t>[/Sources]</a:t>
            </a:r>
          </a:p>
          <a:p xmlns:a="http://schemas.openxmlformats.org/drawingml/2006/main">
            <a:r>
              <a:t>[Sources]</a:t>
            </a:r>
          </a:p>
          <a:p xmlns:a="http://schemas.openxmlformats.org/drawingml/2006/main">
            <a:r>
              <a:t>- L6M Offtake data (1).xlsx — FSN January–June</a:t>
            </a:r>
          </a:p>
          <a:p xmlns:a="http://schemas.openxmlformats.org/drawingml/2006/main">
            <a:r>
              <a:t>- July Compiled Offtake file (3).xlsx — FSN July</a:t>
            </a:r>
          </a:p>
          <a:p xmlns:a="http://schemas.openxmlformats.org/drawingml/2006/main">
            <a:r>
              <a:t>- July'26 primary and distributor secondary.xlsb — FSN primary</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a:t>
            </a:r>
          </a:p>
          <a:p xmlns:a="http://schemas.openxmlformats.org/drawingml/2006/main">
            <a:r>
              <a:t>- July Compiled Offtake file (3).xlsx — Sheet1 transaction data</a:t>
            </a:r>
          </a:p>
          <a:p xmlns:a="http://schemas.openxmlformats.org/drawingml/2006/main">
            <a:r>
              <a:t>- July'26 primary and distributor secondary.xlsb — primary DIstributor wise; secondary for distributor</a:t>
            </a:r>
          </a:p>
          <a:p xmlns:a="http://schemas.openxmlformats.org/drawingml/2006/main">
            <a:r>
              <a:t>- Calculations: Codex analysis, units converted to INR crore for display</a:t>
            </a:r>
          </a:p>
          <a:p xmlns:a="http://schemas.openxmlformats.org/drawingml/2006/main">
            <a:r>
              <a:t>[/Sources]</a:t>
            </a:r>
          </a:p>
          <a:p xmlns:a="http://schemas.openxmlformats.org/drawingml/2006/main">
            <a:r>
              <a:t>[Sources]</a:t>
            </a:r>
          </a:p>
          <a:p xmlns:a="http://schemas.openxmlformats.org/drawingml/2006/main">
            <a:r>
              <a:t>- Final NPI Articles.xlsx — NPI Articles, Final rows</a:t>
            </a:r>
          </a:p>
          <a:p xmlns:a="http://schemas.openxmlformats.org/drawingml/2006/main">
            <a:r>
              <a:t>- July Compiled Offtake file (3).xlsx — EAN-level NSV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a:t>
            </a:r>
          </a:p>
          <a:p xmlns:a="http://schemas.openxmlformats.org/drawingml/2006/main">
            <a:r>
              <a:t>- July Compiled Offtake file (3).xlsx — Sheet1 transaction data</a:t>
            </a:r>
          </a:p>
          <a:p xmlns:a="http://schemas.openxmlformats.org/drawingml/2006/main">
            <a:r>
              <a:t>- July'26 primary and distributor secondary.xlsb — primary DIstributor wise; secondary for distributor</a:t>
            </a:r>
          </a:p>
          <a:p xmlns:a="http://schemas.openxmlformats.org/drawingml/2006/main">
            <a:r>
              <a:t>- Calculations: Codex analysis, units converted to INR crore for display</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a:t>
            </a:r>
          </a:p>
          <a:p xmlns:a="http://schemas.openxmlformats.org/drawingml/2006/main">
            <a:r>
              <a:t>- July Compiled Offtake file (3).xlsx — Sheet1 transaction data</a:t>
            </a:r>
          </a:p>
          <a:p xmlns:a="http://schemas.openxmlformats.org/drawingml/2006/main">
            <a:r>
              <a:t>- July'26 primary and distributor secondary.xlsb — primary DIstributor wise; secondary for distributor</a:t>
            </a:r>
          </a:p>
          <a:p xmlns:a="http://schemas.openxmlformats.org/drawingml/2006/main">
            <a:r>
              <a:t>- Calculations: Codex analysis, units converted to INR crore for display</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a:t>
            </a:r>
          </a:p>
          <a:p xmlns:a="http://schemas.openxmlformats.org/drawingml/2006/main">
            <a:r>
              <a:t>- July Compiled Offtake file (3).xlsx — Sheet1 transaction data</a:t>
            </a:r>
          </a:p>
          <a:p xmlns:a="http://schemas.openxmlformats.org/drawingml/2006/main">
            <a:r>
              <a:t>- July'26 primary and distributor secondary.xlsb — primary DIstributor wise; secondary for distributor</a:t>
            </a:r>
          </a:p>
          <a:p xmlns:a="http://schemas.openxmlformats.org/drawingml/2006/main">
            <a:r>
              <a:t>- Calculations: Codex analysis, units converted to INR crore for display</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a:t>
            </a:r>
          </a:p>
          <a:p xmlns:a="http://schemas.openxmlformats.org/drawingml/2006/main">
            <a:r>
              <a:t>- July Compiled Offtake file (3).xlsx — Sheet1 transaction data</a:t>
            </a:r>
          </a:p>
          <a:p xmlns:a="http://schemas.openxmlformats.org/drawingml/2006/main">
            <a:r>
              <a:t>- July'26 primary and distributor secondary.xlsb — primary DIstributor wise; secondary for distributor</a:t>
            </a:r>
          </a:p>
          <a:p xmlns:a="http://schemas.openxmlformats.org/drawingml/2006/main">
            <a:r>
              <a:t>- Calculations: Codex analysis, units converted to INR crore for display</a:t>
            </a:r>
          </a:p>
          <a:p xmlns:a="http://schemas.openxmlformats.org/drawingml/2006/main">
            <a:r>
              <a:t>[/Sources]</a:t>
            </a:r>
          </a:p>
          <a:p xmlns:a="http://schemas.openxmlformats.org/drawingml/2006/main">
            <a:r>
              <a:t>[Governance]</a:t>
            </a:r>
          </a:p>
          <a:p xmlns:a="http://schemas.openxmlformats.org/drawingml/2006/main">
            <a:r>
              <a:t>- Human approval required before consequential commercial execution.</a:t>
            </a:r>
          </a:p>
          <a:p xmlns:a="http://schemas.openxmlformats.org/drawingml/2006/main">
            <a:r>
              <a:t>- Recommendation authority does not include autonomous loading, assortment or distribution changes.</a:t>
            </a:r>
          </a:p>
          <a:p xmlns:a="http://schemas.openxmlformats.org/drawingml/2006/main">
            <a:r>
              <a:t>[/Governance]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58c6bb46fcea4201"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4cbe0f88196e429d" /><Relationship Type="http://schemas.openxmlformats.org/officeDocument/2006/relationships/slideLayout" Target="/ppt/slideLayouts/slideLayout1.xml" Id="R0bd8547cca8b4347"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0bd8547cca8b4347"/>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23d6d401e5c34021" /><Relationship Type="http://schemas.openxmlformats.org/officeDocument/2006/relationships/chart" Target="/ppt/slides/charts/chart1.xml" Id="Ra97f89de9c7347da" /><Relationship Type="http://schemas.openxmlformats.org/officeDocument/2006/relationships/chart" Target="/ppt/slides/charts/chart2.xml" Id="Ra448820c4fed472f" /><Relationship Type="http://schemas.openxmlformats.org/officeDocument/2006/relationships/notesSlide" Target="/ppt/notesSlides/notesSlide1.xml" Id="R73f2505ae45144ef"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5f79984d5f474465" /><Relationship Type="http://schemas.openxmlformats.org/officeDocument/2006/relationships/notesSlide" Target="/ppt/notesSlides/notesSlide2.xml" Id="Rdd940aacabf7460e"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b38d77076322409e" /><Relationship Type="http://schemas.openxmlformats.org/officeDocument/2006/relationships/chart" Target="/ppt/slides/charts/chart3.xml" Id="R96fa285f352c4a08" /><Relationship Type="http://schemas.openxmlformats.org/officeDocument/2006/relationships/chart" Target="/ppt/slides/charts/chart4.xml" Id="R4153b290bfb44727" /><Relationship Type="http://schemas.openxmlformats.org/officeDocument/2006/relationships/notesSlide" Target="/ppt/notesSlides/notesSlide3.xml" Id="R8851c91677954379"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4fba59b742f34872" /><Relationship Type="http://schemas.openxmlformats.org/officeDocument/2006/relationships/notesSlide" Target="/ppt/notesSlides/notesSlide4.xml" Id="Rc9ab5f64193e40b8"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59f9dc6ab950422f" /><Relationship Type="http://schemas.openxmlformats.org/officeDocument/2006/relationships/chart" Target="/ppt/slides/charts/chart5.xml" Id="R518c427094334fee" /><Relationship Type="http://schemas.openxmlformats.org/officeDocument/2006/relationships/chart" Target="/ppt/slides/charts/chart6.xml" Id="Ra434dfaead754aad" /><Relationship Type="http://schemas.openxmlformats.org/officeDocument/2006/relationships/notesSlide" Target="/ppt/notesSlides/notesSlide5.xml" Id="R0910ec1b05ac4fb0"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8dd513a03ecf4c83" /><Relationship Type="http://schemas.openxmlformats.org/officeDocument/2006/relationships/chart" Target="/ppt/slides/charts/chart7.xml" Id="Rf35dca6890d040ce" /><Relationship Type="http://schemas.openxmlformats.org/officeDocument/2006/relationships/chart" Target="/ppt/slides/charts/chart8.xml" Id="Ra55689006f294729" /><Relationship Type="http://schemas.openxmlformats.org/officeDocument/2006/relationships/notesSlide" Target="/ppt/notesSlides/notesSlide6.xml" Id="R9505f958cd874f6d"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299844c692d04079" /><Relationship Type="http://schemas.openxmlformats.org/officeDocument/2006/relationships/chart" Target="/ppt/slides/charts/chart9.xml" Id="R00c5267dba7a483d" /><Relationship Type="http://schemas.openxmlformats.org/officeDocument/2006/relationships/chart" Target="/ppt/slides/charts/chart10.xml" Id="R7927e8b58e0943c7" /><Relationship Type="http://schemas.openxmlformats.org/officeDocument/2006/relationships/notesSlide" Target="/ppt/notesSlides/notesSlide7.xml" Id="R98f43290b4d548ec"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ba5b03d533bf485b" /><Relationship Type="http://schemas.openxmlformats.org/officeDocument/2006/relationships/chart" Target="/ppt/slides/charts/chart11.xml" Id="R467df232fc254c18" /><Relationship Type="http://schemas.openxmlformats.org/officeDocument/2006/relationships/chart" Target="/ppt/slides/charts/chart12.xml" Id="Rc954bdb8aef643bc" /><Relationship Type="http://schemas.openxmlformats.org/officeDocument/2006/relationships/notesSlide" Target="/ppt/notesSlides/notesSlide8.xml" Id="Ree55ceb70c614b93"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a4f7f4bce79349a8" /><Relationship Type="http://schemas.openxmlformats.org/officeDocument/2006/relationships/chart" Target="/ppt/slides/charts/chart13.xml" Id="Rba3769e1c9484e65" /><Relationship Type="http://schemas.openxmlformats.org/officeDocument/2006/relationships/chart" Target="/ppt/slides/charts/chart14.xml" Id="R6b4d82ef6fd14b5e" /><Relationship Type="http://schemas.openxmlformats.org/officeDocument/2006/relationships/notesSlide" Target="/ppt/notesSlides/notesSlide9.xml" Id="R3525632b4f424486"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a28a3472b9f04a77" /><Relationship Type="http://schemas.openxmlformats.org/officeDocument/2006/relationships/chart" Target="/ppt/slides/charts/chart15.xml" Id="R8a1d343107c24bdb" /><Relationship Type="http://schemas.openxmlformats.org/officeDocument/2006/relationships/chart" Target="/ppt/slides/charts/chart16.xml" Id="Rcb7f0b9eee784ba4" /><Relationship Type="http://schemas.openxmlformats.org/officeDocument/2006/relationships/notesSlide" Target="/ppt/notesSlides/notesSlide10.xml" Id="R434f8afd3b1f40df"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3d371d46e64b4f09" /><Relationship Type="http://schemas.openxmlformats.org/officeDocument/2006/relationships/notesSlide" Target="/ppt/notesSlides/notesSlide12.xml" Id="Rba59c946b8484a10"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4cf3766ad67f4eaf" /><Relationship Type="http://schemas.openxmlformats.org/officeDocument/2006/relationships/notesSlide" Target="/ppt/notesSlides/notesSlide13.xml" Id="R45a0bb10762a4f8f"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d242104700a94c0a" /><Relationship Type="http://schemas.openxmlformats.org/officeDocument/2006/relationships/chart" Target="/ppt/slides/charts/chart19.xml" Id="R8f0a4c77f31e4342" /><Relationship Type="http://schemas.openxmlformats.org/officeDocument/2006/relationships/notesSlide" Target="/ppt/notesSlides/notesSlide14.xml" Id="R689d119e2ee3468d"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699a1b455d9141ee" /><Relationship Type="http://schemas.openxmlformats.org/officeDocument/2006/relationships/chart" Target="/ppt/slides/charts/chart20.xml" Id="Rcba08b6542dc47f0" /><Relationship Type="http://schemas.openxmlformats.org/officeDocument/2006/relationships/chart" Target="/ppt/slides/charts/chart21.xml" Id="R3e55ff4929954159" /><Relationship Type="http://schemas.openxmlformats.org/officeDocument/2006/relationships/notesSlide" Target="/ppt/notesSlides/notesSlide15.xml" Id="Reccea38adb4d4a26"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02f98875ff3f4eaf" /><Relationship Type="http://schemas.openxmlformats.org/officeDocument/2006/relationships/chart" Target="/ppt/slides/charts/chart22.xml" Id="Ra27a828a0da64f79" /><Relationship Type="http://schemas.openxmlformats.org/officeDocument/2006/relationships/notesSlide" Target="/ppt/notesSlides/notesSlide16.xml" Id="Ra1b553c7fb5a464e"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4df7215c48414ca1" /><Relationship Type="http://schemas.openxmlformats.org/officeDocument/2006/relationships/chart" Target="/ppt/slides/charts/chart23.xml" Id="Rea60a2bb094b482c" /><Relationship Type="http://schemas.openxmlformats.org/officeDocument/2006/relationships/chart" Target="/ppt/slides/charts/chart24.xml" Id="R5d25aeb3a9924497" /><Relationship Type="http://schemas.openxmlformats.org/officeDocument/2006/relationships/chart" Target="/ppt/slides/charts/chart25.xml" Id="Rfb728f2d59d242c8" /><Relationship Type="http://schemas.openxmlformats.org/officeDocument/2006/relationships/notesSlide" Target="/ppt/notesSlides/notesSlide17.xml" Id="R194083b7cffb4ac1"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08a76b65749448fd" /><Relationship Type="http://schemas.openxmlformats.org/officeDocument/2006/relationships/notesSlide" Target="/ppt/notesSlides/notesSlide18.xml" Id="Rc87ba32ab0fa4811"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33fb7c7bd9164258" /><Relationship Type="http://schemas.openxmlformats.org/officeDocument/2006/relationships/notesSlide" Target="/ppt/notesSlides/notesSlide19.xml" Id="R94f7b10e41be42ee" /></Relationships>
</file>

<file path=ppt/slides/charts/chart1.xml><?xml version="1.0" encoding="utf-8"?>
<c:chartSpace xmlns:c="http://schemas.openxmlformats.org/drawingml/2006/chart">
  <c:lang val="en-US"/>
  <c:chart>
    <c:plotArea>
      <c:barChart>
        <c:barDir val="col"/>
        <c:varyColors val="0"/>
        <c:ser>
          <c:idx val="0"/>
          <c:order val="0"/>
          <c:tx>
            <c:v>Primary</c:v>
          </c:tx>
          <c:spPr>
            <a:solidFill xmlns:a="http://schemas.openxmlformats.org/drawingml/2006/main">
              <a:srgbClr val="2E7DA8"/>
            </a:solidFill>
          </c:spPr>
          <c:cat>
            <c:strLit>
              <c:ptCount val="6"/>
              <c:pt idx="0">
                <c:v>West</c:v>
              </c:pt>
              <c:pt idx="1">
                <c:v>S-1</c:v>
              </c:pt>
              <c:pt idx="2">
                <c:v>North</c:v>
              </c:pt>
              <c:pt idx="3">
                <c:v>S-2</c:v>
              </c:pt>
              <c:pt idx="4">
                <c:v>East</c:v>
              </c:pt>
              <c:pt idx="5">
                <c:v>Central</c:v>
              </c:pt>
            </c:strLit>
          </c:cat>
          <c:val>
            <c:numLit>
              <c:formatCode>0.0</c:formatCode>
              <c:ptCount val="6"/>
              <c:pt idx="0">
                <c:v>10.052393881</c:v>
              </c:pt>
              <c:pt idx="1">
                <c:v>9.798614822</c:v>
              </c:pt>
              <c:pt idx="2">
                <c:v>11.952749282</c:v>
              </c:pt>
              <c:pt idx="3">
                <c:v>6.891396535999999</c:v>
              </c:pt>
              <c:pt idx="4">
                <c:v>7.830629792</c:v>
              </c:pt>
              <c:pt idx="5">
                <c:v>2.6873093160000003</c:v>
              </c:pt>
            </c:numLit>
          </c:val>
        </c:ser>
        <c:ser>
          <c:idx val="1"/>
          <c:order val="1"/>
          <c:tx>
            <c:v>Offtake</c:v>
          </c:tx>
          <c:spPr>
            <a:solidFill xmlns:a="http://schemas.openxmlformats.org/drawingml/2006/main">
              <a:srgbClr val="28A596"/>
            </a:solidFill>
          </c:spPr>
          <c:cat>
            <c:strLit>
              <c:ptCount val="6"/>
              <c:pt idx="0">
                <c:v>West</c:v>
              </c:pt>
              <c:pt idx="1">
                <c:v>S-1</c:v>
              </c:pt>
              <c:pt idx="2">
                <c:v>North</c:v>
              </c:pt>
              <c:pt idx="3">
                <c:v>S-2</c:v>
              </c:pt>
              <c:pt idx="4">
                <c:v>East</c:v>
              </c:pt>
              <c:pt idx="5">
                <c:v>Central</c:v>
              </c:pt>
            </c:strLit>
          </c:cat>
          <c:val>
            <c:numLit>
              <c:formatCode>0.0</c:formatCode>
              <c:ptCount val="6"/>
              <c:pt idx="0">
                <c:v>8.276921131165</c:v>
              </c:pt>
              <c:pt idx="1">
                <c:v>8.188597756554</c:v>
              </c:pt>
              <c:pt idx="2">
                <c:v>6.987333165820001</c:v>
              </c:pt>
              <c:pt idx="3">
                <c:v>4.910239289621</c:v>
              </c:pt>
              <c:pt idx="4">
                <c:v>3.551067450665</c:v>
              </c:pt>
              <c:pt idx="5">
                <c:v>2.117706887988</c:v>
              </c:pt>
            </c:numLit>
          </c:val>
        </c:ser>
        <c:dLbls>
          <c:showLegendKey val="0"/>
          <c:showVal val="0"/>
          <c:showCatName val="0"/>
          <c:showSerName val="0"/>
          <c:showPercent val="0"/>
          <c:showBubbleSize val="0"/>
          <c:showLeaderLines val="0"/>
        </c:dLbls>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750">
                <a:solidFill>
                  <a:srgbClr val="666666"/>
                </a:solidFill>
              </a:defRPr>
            </a:pPr>
          </a:p>
        </c:txPr>
        <c:crossAx val="48672768"/>
      </c:catAx>
      <c:valAx>
        <c:axId val="48672768"/>
        <c:scaling>
          <c:orientation val="minMax"/>
        </c:scaling>
        <c:delete val="0"/>
        <c:axPos val="l"/>
        <c:majorGridlines>
          <c:spPr>
            <a:ln xmlns:a="http://schemas.openxmlformats.org/drawingml/2006/main" w="9525">
              <a:solidFill>
                <a:srgbClr val="E5EFEC"/>
              </a:solidFill>
              <a:prstDash val="solid"/>
            </a:ln>
          </c:spPr>
        </c:majorGridlines>
        <c:numFmt formatCode="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750">
                <a:solidFill>
                  <a:srgbClr val="666666"/>
                </a:solidFill>
              </a:defRPr>
            </a:pPr>
          </a:p>
        </c:txPr>
        <c:crossAx val="48650112"/>
        <c:crossBetween val="between"/>
      </c:valAx>
    </c:plotArea>
    <c:legend>
      <c:legendPos val="b"/>
      <c:overlay val="0"/>
      <c:txPr>
        <a:bodyPr xmlns:a="http://schemas.openxmlformats.org/drawingml/2006/main" anchorCtr="1"/>
        <a:lstStyle xmlns:a="http://schemas.openxmlformats.org/drawingml/2006/main"/>
        <a:p xmlns:a="http://schemas.openxmlformats.org/drawingml/2006/main">
          <a:pPr>
            <a:defRPr sz="750"/>
          </a:pPr>
        </a:p>
      </c:txPr>
    </c:legend>
    <c:plotVisOnly val="1"/>
  </c:chart>
</c:chartSpace>
</file>

<file path=ppt/slides/charts/chart2.xml><?xml version="1.0" encoding="utf-8"?>
<c:chartSpace xmlns:c="http://schemas.openxmlformats.org/drawingml/2006/chart">
  <c:lang val="en-US"/>
  <c:chart>
    <c:plotArea>
      <c:barChart>
        <c:barDir val="col"/>
        <c:varyColors val="0"/>
        <c:ser>
          <c:idx val="0"/>
          <c:order val="0"/>
          <c:tx>
            <c:v>Gap by account (₹ Cr)</c:v>
          </c:tx>
          <c:spPr>
            <a:solidFill xmlns:a="http://schemas.openxmlformats.org/drawingml/2006/main">
              <a:srgbClr val="D6544D"/>
            </a:solidFill>
          </c:spPr>
          <c:cat>
            <c:strLit>
              <c:ptCount val="3"/>
              <c:pt idx="0">
                <c:v>Reliance</c:v>
              </c:pt>
              <c:pt idx="1">
                <c:v>DMart</c:v>
              </c:pt>
              <c:pt idx="2">
                <c:v>Metro</c:v>
              </c:pt>
            </c:strLit>
          </c:cat>
          <c:val>
            <c:numLit>
              <c:formatCode>0.0</c:formatCode>
              <c:ptCount val="3"/>
              <c:pt idx="0">
                <c:v>7.605118863033</c:v>
              </c:pt>
              <c:pt idx="1">
                <c:v>4.2863779736089995</c:v>
              </c:pt>
              <c:pt idx="2">
                <c:v>1.3591535060870001</c:v>
              </c:pt>
            </c:numLit>
          </c:val>
        </c:ser>
        <c:dLbls>
          <c:dLblPos val="outEnd"/>
          <c:showLegendKey val="0"/>
          <c:showVal val="1"/>
          <c:showCatName val="0"/>
          <c:showSerName val="0"/>
          <c:showPercent val="0"/>
          <c:showBubbleSize val="0"/>
          <c:showLeaderLines val="0"/>
        </c:dLbls>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750">
                <a:solidFill>
                  <a:srgbClr val="666666"/>
                </a:solidFill>
              </a:defRPr>
            </a:pPr>
          </a:p>
        </c:txPr>
        <c:crossAx val="48672768"/>
      </c:catAx>
      <c:valAx>
        <c:axId val="48672768"/>
        <c:scaling>
          <c:orientation val="minMax"/>
        </c:scaling>
        <c:delete val="0"/>
        <c:axPos val="l"/>
        <c:majorGridlines>
          <c:spPr>
            <a:ln xmlns:a="http://schemas.openxmlformats.org/drawingml/2006/main" w="9525">
              <a:solidFill>
                <a:srgbClr val="E5EFEC"/>
              </a:solidFill>
              <a:prstDash val="solid"/>
            </a:ln>
          </c:spPr>
        </c:majorGridlines>
        <c:numFmt formatCode="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750">
                <a:solidFill>
                  <a:srgbClr val="666666"/>
                </a:solidFill>
              </a:defRPr>
            </a:pPr>
          </a:p>
        </c:txPr>
        <c:crossAx val="48650112"/>
        <c:crossBetween val="between"/>
      </c:valAx>
    </c:plotArea>
    <c:plotVisOnly val="1"/>
  </c:chart>
</c:chartSpace>
</file>

<file path=ppt/slides/charts/chart3.xml><?xml version="1.0" encoding="utf-8"?>
<c:chartSpace xmlns:c="http://schemas.openxmlformats.org/drawingml/2006/chart">
  <c:lang val="en-US"/>
  <c:chart>
    <c:plotArea>
      <c:barChart>
        <c:barDir val="col"/>
        <c:varyColors val="0"/>
        <c:ser>
          <c:idx val="0"/>
          <c:order val="0"/>
          <c:tx>
            <c:v>Face Wash value share (%)</c:v>
          </c:tx>
          <c:spPr>
            <a:solidFill xmlns:a="http://schemas.openxmlformats.org/drawingml/2006/main">
              <a:srgbClr val="28A596"/>
            </a:solidFill>
          </c:spPr>
          <c:cat>
            <c:strLit>
              <c:ptCount val="4"/>
              <c:pt idx="0">
                <c:v>Himalaya</c:v>
              </c:pt>
              <c:pt idx="1">
                <c:v>Garnier</c:v>
              </c:pt>
              <c:pt idx="2">
                <c:v>Pond's</c:v>
              </c:pt>
              <c:pt idx="3">
                <c:v>Mamaearth</c:v>
              </c:pt>
            </c:strLit>
          </c:cat>
          <c:val>
            <c:numLit>
              <c:formatCode>0.0</c:formatCode>
              <c:ptCount val="4"/>
              <c:pt idx="0">
                <c:v>22.6</c:v>
              </c:pt>
              <c:pt idx="1">
                <c:v>14.2</c:v>
              </c:pt>
              <c:pt idx="2">
                <c:v>13.8</c:v>
              </c:pt>
              <c:pt idx="3">
                <c:v>10.5</c:v>
              </c:pt>
            </c:numLit>
          </c:val>
        </c:ser>
        <c:dLbls>
          <c:dLblPos val="outEnd"/>
          <c:showLegendKey val="0"/>
          <c:showVal val="1"/>
          <c:showCatName val="0"/>
          <c:showSerName val="0"/>
          <c:showPercent val="0"/>
          <c:showBubbleSize val="0"/>
          <c:showLeaderLines val="0"/>
        </c:dLbls>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750">
                <a:solidFill>
                  <a:srgbClr val="666666"/>
                </a:solidFill>
              </a:defRPr>
            </a:pPr>
          </a:p>
        </c:txPr>
        <c:crossAx val="48672768"/>
      </c:catAx>
      <c:valAx>
        <c:axId val="48672768"/>
        <c:scaling>
          <c:orientation val="minMax"/>
        </c:scaling>
        <c:delete val="0"/>
        <c:axPos val="l"/>
        <c:majorGridlines>
          <c:spPr>
            <a:ln xmlns:a="http://schemas.openxmlformats.org/drawingml/2006/main" w="9525">
              <a:solidFill>
                <a:srgbClr val="E5EFEC"/>
              </a:solidFill>
              <a:prstDash val="solid"/>
            </a:ln>
          </c:spPr>
        </c:majorGridlines>
        <c:numFmt formatCode="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750">
                <a:solidFill>
                  <a:srgbClr val="666666"/>
                </a:solidFill>
              </a:defRPr>
            </a:pPr>
          </a:p>
        </c:txPr>
        <c:crossAx val="48650112"/>
        <c:crossBetween val="between"/>
      </c:valAx>
    </c:plotArea>
    <c:plotVisOnly val="1"/>
  </c:chart>
</c:chartSpace>
</file>

<file path=ppt/slides/charts/chart4.xml><?xml version="1.0" encoding="utf-8"?>
<c:chartSpace xmlns:c="http://schemas.openxmlformats.org/drawingml/2006/chart">
  <c:lang val="en-US"/>
  <c:chart>
    <c:plotArea>
      <c:barChart>
        <c:barDir val="col"/>
        <c:varyColors val="0"/>
        <c:ser>
          <c:idx val="0"/>
          <c:order val="0"/>
          <c:tx>
            <c:v>Shampoo value share (%)</c:v>
          </c:tx>
          <c:spPr>
            <a:solidFill xmlns:a="http://schemas.openxmlformats.org/drawingml/2006/main">
              <a:srgbClr val="2E7DA8"/>
            </a:solidFill>
          </c:spPr>
          <c:cat>
            <c:strLit>
              <c:ptCount val="3"/>
              <c:pt idx="0">
                <c:v>Dove</c:v>
              </c:pt>
              <c:pt idx="1">
                <c:v>H&amp;S</c:v>
              </c:pt>
              <c:pt idx="2">
                <c:v>Mamaearth</c:v>
              </c:pt>
            </c:strLit>
          </c:cat>
          <c:val>
            <c:numLit>
              <c:formatCode>0.0</c:formatCode>
              <c:ptCount val="3"/>
              <c:pt idx="0">
                <c:v>16.6</c:v>
              </c:pt>
              <c:pt idx="1">
                <c:v>13</c:v>
              </c:pt>
              <c:pt idx="2">
                <c:v>3.7</c:v>
              </c:pt>
            </c:numLit>
          </c:val>
        </c:ser>
        <c:dLbls>
          <c:dLblPos val="outEnd"/>
          <c:showLegendKey val="0"/>
          <c:showVal val="1"/>
          <c:showCatName val="0"/>
          <c:showSerName val="0"/>
          <c:showPercent val="0"/>
          <c:showBubbleSize val="0"/>
          <c:showLeaderLines val="0"/>
        </c:dLbls>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750">
                <a:solidFill>
                  <a:srgbClr val="666666"/>
                </a:solidFill>
              </a:defRPr>
            </a:pPr>
          </a:p>
        </c:txPr>
        <c:crossAx val="48672768"/>
      </c:catAx>
      <c:valAx>
        <c:axId val="48672768"/>
        <c:scaling>
          <c:orientation val="minMax"/>
        </c:scaling>
        <c:delete val="0"/>
        <c:axPos val="l"/>
        <c:majorGridlines>
          <c:spPr>
            <a:ln xmlns:a="http://schemas.openxmlformats.org/drawingml/2006/main" w="9525">
              <a:solidFill>
                <a:srgbClr val="E5EFEC"/>
              </a:solidFill>
              <a:prstDash val="solid"/>
            </a:ln>
          </c:spPr>
        </c:majorGridlines>
        <c:numFmt formatCode="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750">
                <a:solidFill>
                  <a:srgbClr val="666666"/>
                </a:solidFill>
              </a:defRPr>
            </a:pPr>
          </a:p>
        </c:txPr>
        <c:crossAx val="48650112"/>
        <c:crossBetween val="between"/>
      </c:valAx>
    </c:plotArea>
    <c:plotVisOnly val="1"/>
  </c:chart>
</c:chartSpace>
</file>

<file path=ppt/slides/charts/chart5.xml><?xml version="1.0" encoding="utf-8"?>
<c:chartSpace xmlns:c="http://schemas.openxmlformats.org/drawingml/2006/chart">
  <c:lang val="en-US"/>
  <c:chart>
    <c:plotArea>
      <c:lineChart>
        <c:grouping val="standard"/>
        <c:ser>
          <c:idx val="0"/>
          <c:order val="0"/>
          <c:tx>
            <c:v>Face Cleanser</c:v>
          </c:tx>
          <c:spPr>
            <a:solidFill xmlns:a="http://schemas.openxmlformats.org/drawingml/2006/main">
              <a:srgbClr val="28A596"/>
            </a:solidFill>
            <a:ln xmlns:a="http://schemas.openxmlformats.org/drawingml/2006/main" w="19050">
              <a:solidFill>
                <a:srgbClr val="28A596"/>
              </a:solidFill>
            </a:ln>
          </c:spPr>
          <c:marker>
            <c:symbol val="none"/>
          </c:marker>
          <c:cat>
            <c:strLit>
              <c:ptCount val="6"/>
              <c:pt idx="0">
                <c:v>Feb 26</c:v>
              </c:pt>
              <c:pt idx="1">
                <c:v>Mar 26</c:v>
              </c:pt>
              <c:pt idx="2">
                <c:v>Apr 26</c:v>
              </c:pt>
              <c:pt idx="3">
                <c:v>May 26</c:v>
              </c:pt>
              <c:pt idx="4">
                <c:v>Jun 26</c:v>
              </c:pt>
              <c:pt idx="5">
                <c:v>Jul 26</c:v>
              </c:pt>
            </c:strLit>
          </c:cat>
          <c:val>
            <c:numLit>
              <c:formatCode>0.0</c:formatCode>
              <c:ptCount val="6"/>
              <c:pt idx="0">
                <c:v>2.0929165796610167</c:v>
              </c:pt>
              <c:pt idx="1">
                <c:v>2.454015868220344</c:v>
              </c:pt>
              <c:pt idx="2">
                <c:v>2.4229626269567945</c:v>
              </c:pt>
              <c:pt idx="3">
                <c:v>2.725990969915256</c:v>
              </c:pt>
              <c:pt idx="4">
                <c:v>2.898826532102506</c:v>
              </c:pt>
              <c:pt idx="5">
                <c:v>2.389484659056954</c:v>
              </c:pt>
            </c:numLit>
          </c:val>
        </c:ser>
        <c:ser>
          <c:idx val="1"/>
          <c:order val="1"/>
          <c:tx>
            <c:v>Shampoo</c:v>
          </c:tx>
          <c:spPr>
            <a:solidFill xmlns:a="http://schemas.openxmlformats.org/drawingml/2006/main">
              <a:srgbClr val="2E7DA8"/>
            </a:solidFill>
            <a:ln xmlns:a="http://schemas.openxmlformats.org/drawingml/2006/main" w="19050">
              <a:solidFill>
                <a:srgbClr val="2E7DA8"/>
              </a:solidFill>
            </a:ln>
          </c:spPr>
          <c:marker>
            <c:symbol val="none"/>
          </c:marker>
          <c:cat>
            <c:strLit>
              <c:ptCount val="6"/>
              <c:pt idx="0">
                <c:v>Feb 26</c:v>
              </c:pt>
              <c:pt idx="1">
                <c:v>Mar 26</c:v>
              </c:pt>
              <c:pt idx="2">
                <c:v>Apr 26</c:v>
              </c:pt>
              <c:pt idx="3">
                <c:v>May 26</c:v>
              </c:pt>
              <c:pt idx="4">
                <c:v>Jun 26</c:v>
              </c:pt>
              <c:pt idx="5">
                <c:v>Jul 26</c:v>
              </c:pt>
            </c:strLit>
          </c:cat>
          <c:val>
            <c:numLit>
              <c:formatCode>0.0</c:formatCode>
              <c:ptCount val="6"/>
              <c:pt idx="0">
                <c:v>1.3295203760428516</c:v>
              </c:pt>
              <c:pt idx="1">
                <c:v>1.5493190121949063</c:v>
              </c:pt>
              <c:pt idx="2">
                <c:v>1.592404103333336</c:v>
              </c:pt>
              <c:pt idx="3">
                <c:v>1.6361014378443712</c:v>
              </c:pt>
              <c:pt idx="4">
                <c:v>1.7881283100720802</c:v>
              </c:pt>
              <c:pt idx="5">
                <c:v>1.5282999872960832</c:v>
              </c:pt>
            </c:numLit>
          </c:val>
        </c:ser>
        <c:ser>
          <c:idx val="2"/>
          <c:order val="2"/>
          <c:tx>
            <c:v>Sun Care</c:v>
          </c:tx>
          <c:spPr>
            <a:solidFill xmlns:a="http://schemas.openxmlformats.org/drawingml/2006/main">
              <a:srgbClr val="D6544D"/>
            </a:solidFill>
            <a:ln xmlns:a="http://schemas.openxmlformats.org/drawingml/2006/main" w="19050">
              <a:solidFill>
                <a:srgbClr val="D6544D"/>
              </a:solidFill>
            </a:ln>
          </c:spPr>
          <c:marker>
            <c:symbol val="none"/>
          </c:marker>
          <c:cat>
            <c:strLit>
              <c:ptCount val="6"/>
              <c:pt idx="0">
                <c:v>Feb 26</c:v>
              </c:pt>
              <c:pt idx="1">
                <c:v>Mar 26</c:v>
              </c:pt>
              <c:pt idx="2">
                <c:v>Apr 26</c:v>
              </c:pt>
              <c:pt idx="3">
                <c:v>May 26</c:v>
              </c:pt>
              <c:pt idx="4">
                <c:v>Jun 26</c:v>
              </c:pt>
              <c:pt idx="5">
                <c:v>Jul 26</c:v>
              </c:pt>
            </c:strLit>
          </c:cat>
          <c:val>
            <c:numLit>
              <c:formatCode>0.0</c:formatCode>
              <c:ptCount val="6"/>
              <c:pt idx="0">
                <c:v>0.4377989533898306</c:v>
              </c:pt>
              <c:pt idx="1">
                <c:v>1.0265064792372882</c:v>
              </c:pt>
              <c:pt idx="2">
                <c:v>0.9662510906779654</c:v>
              </c:pt>
              <c:pt idx="3">
                <c:v>0.8149806275423725</c:v>
              </c:pt>
              <c:pt idx="4">
                <c:v>0.4598846429237286</c:v>
              </c:pt>
              <c:pt idx="5">
                <c:v>0.21898529931926725</c:v>
              </c:pt>
            </c:numLit>
          </c:val>
        </c:ser>
        <c:dLbls>
          <c:showLegendKey val="0"/>
          <c:showVal val="0"/>
          <c:showCatName val="0"/>
          <c:showSerName val="0"/>
          <c:showPercent val="0"/>
          <c:showBubbleSize val="0"/>
          <c:showLeaderLines val="0"/>
        </c:dLbls>
        <c:axId val="48650112"/>
        <c:axId val="48672768"/>
      </c:lineChart>
      <c:catAx>
        <c:axId val="48650112"/>
        <c:scaling>
          <c:orientation val="minMax"/>
        </c:scaling>
        <c:delete val="0"/>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600">
                <a:solidFill>
                  <a:srgbClr val="666666"/>
                </a:solidFill>
              </a:defRPr>
            </a:pPr>
          </a:p>
        </c:txPr>
        <c:crossAx val="48672768"/>
      </c:catAx>
      <c:valAx>
        <c:axId val="48672768"/>
        <c:scaling>
          <c:orientation val="minMax"/>
        </c:scaling>
        <c:delete val="0"/>
        <c:axPos val="l"/>
        <c:majorGridlines>
          <c:spPr>
            <a:ln xmlns:a="http://schemas.openxmlformats.org/drawingml/2006/main" w="9525">
              <a:solidFill>
                <a:srgbClr val="E5EFEC"/>
              </a:solidFill>
              <a:prstDash val="solid"/>
            </a:ln>
          </c:spPr>
        </c:majorGridlines>
        <c:numFmt formatCode="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600">
                <a:solidFill>
                  <a:srgbClr val="666666"/>
                </a:solidFill>
              </a:defRPr>
            </a:pPr>
          </a:p>
        </c:txPr>
        <c:crossAx val="48650112"/>
        <c:crossBetween val="between"/>
      </c:valAx>
    </c:plotArea>
    <c:legend>
      <c:legendPos val="b"/>
      <c:overlay val="0"/>
      <c:txPr>
        <a:bodyPr xmlns:a="http://schemas.openxmlformats.org/drawingml/2006/main" anchorCtr="1"/>
        <a:lstStyle xmlns:a="http://schemas.openxmlformats.org/drawingml/2006/main"/>
        <a:p xmlns:a="http://schemas.openxmlformats.org/drawingml/2006/main">
          <a:pPr>
            <a:defRPr sz="600"/>
          </a:pPr>
        </a:p>
      </c:txPr>
    </c:legend>
    <c:plotVisOnly val="1"/>
  </c:chart>
</c:chartSpace>
</file>

<file path=ppt/slides/charts/chart6.xml><?xml version="1.0" encoding="utf-8"?>
<c:chartSpace xmlns:c="http://schemas.openxmlformats.org/drawingml/2006/chart">
  <c:lang val="en-US"/>
  <c:chart>
    <c:plotArea>
      <c:lineChart>
        <c:grouping val="standard"/>
        <c:ser>
          <c:idx val="0"/>
          <c:order val="0"/>
          <c:tx>
            <c:v>Face Cleanser</c:v>
          </c:tx>
          <c:spPr>
            <a:solidFill xmlns:a="http://schemas.openxmlformats.org/drawingml/2006/main">
              <a:srgbClr val="28A596"/>
            </a:solidFill>
            <a:ln xmlns:a="http://schemas.openxmlformats.org/drawingml/2006/main" w="19050">
              <a:solidFill>
                <a:srgbClr val="28A596"/>
              </a:solidFill>
            </a:ln>
          </c:spPr>
          <c:marker>
            <c:symbol val="none"/>
          </c:marker>
          <c:cat>
            <c:strLit>
              <c:ptCount val="6"/>
              <c:pt idx="0">
                <c:v>Feb 26</c:v>
              </c:pt>
              <c:pt idx="1">
                <c:v>Mar 26</c:v>
              </c:pt>
              <c:pt idx="2">
                <c:v>Apr 26</c:v>
              </c:pt>
              <c:pt idx="3">
                <c:v>May 26</c:v>
              </c:pt>
              <c:pt idx="4">
                <c:v>Jun 26</c:v>
              </c:pt>
              <c:pt idx="5">
                <c:v>Jul 26</c:v>
              </c:pt>
            </c:strLit>
          </c:cat>
          <c:val>
            <c:numLit>
              <c:formatCode>0.0</c:formatCode>
              <c:ptCount val="6"/>
              <c:pt idx="0">
                <c:v>1.1236853830404634</c:v>
              </c:pt>
              <c:pt idx="1">
                <c:v>1.3265368724576296</c:v>
              </c:pt>
              <c:pt idx="2">
                <c:v>1.4203488809322038</c:v>
              </c:pt>
              <c:pt idx="3">
                <c:v>2.039635367368729</c:v>
              </c:pt>
              <c:pt idx="4">
                <c:v>2.1850752567672</c:v>
              </c:pt>
              <c:pt idx="5">
                <c:v>2.843619604042692</c:v>
              </c:pt>
            </c:numLit>
          </c:val>
        </c:ser>
        <c:ser>
          <c:idx val="1"/>
          <c:order val="1"/>
          <c:tx>
            <c:v>Sun Care</c:v>
          </c:tx>
          <c:spPr>
            <a:solidFill xmlns:a="http://schemas.openxmlformats.org/drawingml/2006/main">
              <a:srgbClr val="2E7DA8"/>
            </a:solidFill>
            <a:ln xmlns:a="http://schemas.openxmlformats.org/drawingml/2006/main" w="19050">
              <a:solidFill>
                <a:srgbClr val="2E7DA8"/>
              </a:solidFill>
            </a:ln>
          </c:spPr>
          <c:marker>
            <c:symbol val="none"/>
          </c:marker>
          <c:cat>
            <c:strLit>
              <c:ptCount val="6"/>
              <c:pt idx="0">
                <c:v>Feb 26</c:v>
              </c:pt>
              <c:pt idx="1">
                <c:v>Mar 26</c:v>
              </c:pt>
              <c:pt idx="2">
                <c:v>Apr 26</c:v>
              </c:pt>
              <c:pt idx="3">
                <c:v>May 26</c:v>
              </c:pt>
              <c:pt idx="4">
                <c:v>Jun 26</c:v>
              </c:pt>
              <c:pt idx="5">
                <c:v>Jul 26</c:v>
              </c:pt>
            </c:strLit>
          </c:cat>
          <c:val>
            <c:numLit>
              <c:formatCode>0.0</c:formatCode>
              <c:ptCount val="6"/>
              <c:pt idx="0">
                <c:v>0.3484112330508481</c:v>
              </c:pt>
              <c:pt idx="1">
                <c:v>0.6646524949152547</c:v>
              </c:pt>
              <c:pt idx="2">
                <c:v>0.7280219737288144</c:v>
              </c:pt>
              <c:pt idx="3">
                <c:v>1.066454132203391</c:v>
              </c:pt>
              <c:pt idx="4">
                <c:v>0.6722089406779661</c:v>
              </c:pt>
              <c:pt idx="5">
                <c:v>0.5503133068432207</c:v>
              </c:pt>
            </c:numLit>
          </c:val>
        </c:ser>
        <c:ser>
          <c:idx val="2"/>
          <c:order val="2"/>
          <c:tx>
            <c:v>Face Serum</c:v>
          </c:tx>
          <c:spPr>
            <a:solidFill xmlns:a="http://schemas.openxmlformats.org/drawingml/2006/main">
              <a:srgbClr val="D6544D"/>
            </a:solidFill>
            <a:ln xmlns:a="http://schemas.openxmlformats.org/drawingml/2006/main" w="19050">
              <a:solidFill>
                <a:srgbClr val="D6544D"/>
              </a:solidFill>
            </a:ln>
          </c:spPr>
          <c:marker>
            <c:symbol val="none"/>
          </c:marker>
          <c:cat>
            <c:strLit>
              <c:ptCount val="6"/>
              <c:pt idx="0">
                <c:v>Feb 26</c:v>
              </c:pt>
              <c:pt idx="1">
                <c:v>Mar 26</c:v>
              </c:pt>
              <c:pt idx="2">
                <c:v>Apr 26</c:v>
              </c:pt>
              <c:pt idx="3">
                <c:v>May 26</c:v>
              </c:pt>
              <c:pt idx="4">
                <c:v>Jun 26</c:v>
              </c:pt>
              <c:pt idx="5">
                <c:v>Jul 26</c:v>
              </c:pt>
            </c:strLit>
          </c:cat>
          <c:val>
            <c:numLit>
              <c:formatCode>0.0</c:formatCode>
              <c:ptCount val="6"/>
              <c:pt idx="0">
                <c:v>0.17055334745762796</c:v>
              </c:pt>
              <c:pt idx="1">
                <c:v>0.17145600084745882</c:v>
              </c:pt>
              <c:pt idx="2">
                <c:v>0.19773794406779896</c:v>
              </c:pt>
              <c:pt idx="3">
                <c:v>0.167237134745765</c:v>
              </c:pt>
              <c:pt idx="4">
                <c:v>0.16285640847457875</c:v>
              </c:pt>
              <c:pt idx="5">
                <c:v>0.21806188682262398</c:v>
              </c:pt>
            </c:numLit>
          </c:val>
        </c:ser>
        <c:dLbls>
          <c:showLegendKey val="0"/>
          <c:showVal val="0"/>
          <c:showCatName val="0"/>
          <c:showSerName val="0"/>
          <c:showPercent val="0"/>
          <c:showBubbleSize val="0"/>
          <c:showLeaderLines val="0"/>
        </c:dLbls>
        <c:axId val="48650112"/>
        <c:axId val="48672768"/>
      </c:lineChart>
      <c:catAx>
        <c:axId val="48650112"/>
        <c:scaling>
          <c:orientation val="minMax"/>
        </c:scaling>
        <c:delete val="0"/>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600">
                <a:solidFill>
                  <a:srgbClr val="666666"/>
                </a:solidFill>
              </a:defRPr>
            </a:pPr>
          </a:p>
        </c:txPr>
        <c:crossAx val="48672768"/>
      </c:catAx>
      <c:valAx>
        <c:axId val="48672768"/>
        <c:scaling>
          <c:orientation val="minMax"/>
        </c:scaling>
        <c:delete val="0"/>
        <c:axPos val="l"/>
        <c:majorGridlines>
          <c:spPr>
            <a:ln xmlns:a="http://schemas.openxmlformats.org/drawingml/2006/main" w="9525">
              <a:solidFill>
                <a:srgbClr val="E5EFEC"/>
              </a:solidFill>
              <a:prstDash val="solid"/>
            </a:ln>
          </c:spPr>
        </c:majorGridlines>
        <c:numFmt formatCode="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600">
                <a:solidFill>
                  <a:srgbClr val="666666"/>
                </a:solidFill>
              </a:defRPr>
            </a:pPr>
          </a:p>
        </c:txPr>
        <c:crossAx val="48650112"/>
        <c:crossBetween val="between"/>
      </c:valAx>
    </c:plotArea>
    <c:legend>
      <c:legendPos val="b"/>
      <c:overlay val="0"/>
      <c:txPr>
        <a:bodyPr xmlns:a="http://schemas.openxmlformats.org/drawingml/2006/main" anchorCtr="1"/>
        <a:lstStyle xmlns:a="http://schemas.openxmlformats.org/drawingml/2006/main"/>
        <a:p xmlns:a="http://schemas.openxmlformats.org/drawingml/2006/main">
          <a:pPr>
            <a:defRPr sz="600"/>
          </a:pPr>
        </a:p>
      </c:txPr>
    </c:legend>
    <c:plotVisOnly val="1"/>
  </c:chart>
</c:chartSpace>
</file>

<file path=ppt/slides/charts/chart7.xml><?xml version="1.0" encoding="utf-8"?>
<c:chartSpace xmlns:c="http://schemas.openxmlformats.org/drawingml/2006/chart">
  <c:lang val="en-US"/>
  <c:chart>
    <c:plotArea>
      <c:lineChart>
        <c:grouping val="standard"/>
        <c:ser>
          <c:idx val="0"/>
          <c:order val="0"/>
          <c:tx>
            <c:v>Face Cleanser</c:v>
          </c:tx>
          <c:spPr>
            <a:solidFill xmlns:a="http://schemas.openxmlformats.org/drawingml/2006/main">
              <a:srgbClr val="28A596"/>
            </a:solidFill>
            <a:ln xmlns:a="http://schemas.openxmlformats.org/drawingml/2006/main" w="19050">
              <a:solidFill>
                <a:srgbClr val="28A596"/>
              </a:solidFill>
            </a:ln>
          </c:spPr>
          <c:marker>
            <c:symbol val="none"/>
          </c:marker>
          <c:cat>
            <c:strLit>
              <c:ptCount val="6"/>
              <c:pt idx="0">
                <c:v>Feb 26</c:v>
              </c:pt>
              <c:pt idx="1">
                <c:v>Mar 26</c:v>
              </c:pt>
              <c:pt idx="2">
                <c:v>Apr 26</c:v>
              </c:pt>
              <c:pt idx="3">
                <c:v>May 26</c:v>
              </c:pt>
              <c:pt idx="4">
                <c:v>Jun 26</c:v>
              </c:pt>
              <c:pt idx="5">
                <c:v>Jul 26</c:v>
              </c:pt>
            </c:strLit>
          </c:cat>
          <c:val>
            <c:numLit>
              <c:formatCode>0.0</c:formatCode>
              <c:ptCount val="6"/>
              <c:pt idx="0">
                <c:v>0.9361733618644084</c:v>
              </c:pt>
              <c:pt idx="1">
                <c:v>1.0263893792372887</c:v>
              </c:pt>
              <c:pt idx="2">
                <c:v>1.0768992559322026</c:v>
              </c:pt>
              <c:pt idx="3">
                <c:v>1.2855905292372878</c:v>
              </c:pt>
              <c:pt idx="4">
                <c:v>1.1223238462066172</c:v>
              </c:pt>
              <c:pt idx="5">
                <c:v>1.118814358037962</c:v>
              </c:pt>
            </c:numLit>
          </c:val>
        </c:ser>
        <c:ser>
          <c:idx val="1"/>
          <c:order val="1"/>
          <c:tx>
            <c:v>Shampoo</c:v>
          </c:tx>
          <c:spPr>
            <a:solidFill xmlns:a="http://schemas.openxmlformats.org/drawingml/2006/main">
              <a:srgbClr val="2E7DA8"/>
            </a:solidFill>
            <a:ln xmlns:a="http://schemas.openxmlformats.org/drawingml/2006/main" w="19050">
              <a:solidFill>
                <a:srgbClr val="2E7DA8"/>
              </a:solidFill>
            </a:ln>
          </c:spPr>
          <c:marker>
            <c:symbol val="none"/>
          </c:marker>
          <c:cat>
            <c:strLit>
              <c:ptCount val="6"/>
              <c:pt idx="0">
                <c:v>Feb 26</c:v>
              </c:pt>
              <c:pt idx="1">
                <c:v>Mar 26</c:v>
              </c:pt>
              <c:pt idx="2">
                <c:v>Apr 26</c:v>
              </c:pt>
              <c:pt idx="3">
                <c:v>May 26</c:v>
              </c:pt>
              <c:pt idx="4">
                <c:v>Jun 26</c:v>
              </c:pt>
              <c:pt idx="5">
                <c:v>Jul 26</c:v>
              </c:pt>
            </c:strLit>
          </c:cat>
          <c:val>
            <c:numLit>
              <c:formatCode>0.0</c:formatCode>
              <c:ptCount val="6"/>
              <c:pt idx="0">
                <c:v>0.8602589660644194</c:v>
              </c:pt>
              <c:pt idx="1">
                <c:v>0.9523185725828371</c:v>
              </c:pt>
              <c:pt idx="2">
                <c:v>0.9631582733333329</c:v>
              </c:pt>
              <c:pt idx="3">
                <c:v>1.2140642180560763</c:v>
              </c:pt>
              <c:pt idx="4">
                <c:v>1.2797615747624733</c:v>
              </c:pt>
              <c:pt idx="5">
                <c:v>1.2276969784037721</c:v>
              </c:pt>
            </c:numLit>
          </c:val>
        </c:ser>
        <c:ser>
          <c:idx val="2"/>
          <c:order val="2"/>
          <c:tx>
            <c:v>Sun Care</c:v>
          </c:tx>
          <c:spPr>
            <a:solidFill xmlns:a="http://schemas.openxmlformats.org/drawingml/2006/main">
              <a:srgbClr val="D6544D"/>
            </a:solidFill>
            <a:ln xmlns:a="http://schemas.openxmlformats.org/drawingml/2006/main" w="19050">
              <a:solidFill>
                <a:srgbClr val="D6544D"/>
              </a:solidFill>
            </a:ln>
          </c:spPr>
          <c:marker>
            <c:symbol val="none"/>
          </c:marker>
          <c:cat>
            <c:strLit>
              <c:ptCount val="6"/>
              <c:pt idx="0">
                <c:v>Feb 26</c:v>
              </c:pt>
              <c:pt idx="1">
                <c:v>Mar 26</c:v>
              </c:pt>
              <c:pt idx="2">
                <c:v>Apr 26</c:v>
              </c:pt>
              <c:pt idx="3">
                <c:v>May 26</c:v>
              </c:pt>
              <c:pt idx="4">
                <c:v>Jun 26</c:v>
              </c:pt>
              <c:pt idx="5">
                <c:v>Jul 26</c:v>
              </c:pt>
            </c:strLit>
          </c:cat>
          <c:val>
            <c:numLit>
              <c:formatCode>0.0</c:formatCode>
              <c:ptCount val="6"/>
              <c:pt idx="0">
                <c:v>0.2640958936440678</c:v>
              </c:pt>
              <c:pt idx="1">
                <c:v>0.3788152338983046</c:v>
              </c:pt>
              <c:pt idx="2">
                <c:v>0.45671053432203407</c:v>
              </c:pt>
              <c:pt idx="3">
                <c:v>0.47553797372881346</c:v>
              </c:pt>
              <c:pt idx="4">
                <c:v>0.33459229110169497</c:v>
              </c:pt>
              <c:pt idx="5">
                <c:v>0.32190140927839295</c:v>
              </c:pt>
            </c:numLit>
          </c:val>
        </c:ser>
        <c:dLbls>
          <c:showLegendKey val="0"/>
          <c:showVal val="0"/>
          <c:showCatName val="0"/>
          <c:showSerName val="0"/>
          <c:showPercent val="0"/>
          <c:showBubbleSize val="0"/>
          <c:showLeaderLines val="0"/>
        </c:dLbls>
        <c:axId val="48650112"/>
        <c:axId val="48672768"/>
      </c:lineChart>
      <c:catAx>
        <c:axId val="48650112"/>
        <c:scaling>
          <c:orientation val="minMax"/>
        </c:scaling>
        <c:delete val="0"/>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600">
                <a:solidFill>
                  <a:srgbClr val="666666"/>
                </a:solidFill>
              </a:defRPr>
            </a:pPr>
          </a:p>
        </c:txPr>
        <c:crossAx val="48672768"/>
      </c:catAx>
      <c:valAx>
        <c:axId val="48672768"/>
        <c:scaling>
          <c:orientation val="minMax"/>
        </c:scaling>
        <c:delete val="0"/>
        <c:axPos val="l"/>
        <c:majorGridlines>
          <c:spPr>
            <a:ln xmlns:a="http://schemas.openxmlformats.org/drawingml/2006/main" w="9525">
              <a:solidFill>
                <a:srgbClr val="E5EFEC"/>
              </a:solidFill>
              <a:prstDash val="solid"/>
            </a:ln>
          </c:spPr>
        </c:majorGridlines>
        <c:numFmt formatCode="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600">
                <a:solidFill>
                  <a:srgbClr val="666666"/>
                </a:solidFill>
              </a:defRPr>
            </a:pPr>
          </a:p>
        </c:txPr>
        <c:crossAx val="48650112"/>
        <c:crossBetween val="between"/>
      </c:valAx>
    </c:plotArea>
    <c:legend>
      <c:legendPos val="b"/>
      <c:overlay val="0"/>
      <c:txPr>
        <a:bodyPr xmlns:a="http://schemas.openxmlformats.org/drawingml/2006/main" anchorCtr="1"/>
        <a:lstStyle xmlns:a="http://schemas.openxmlformats.org/drawingml/2006/main"/>
        <a:p xmlns:a="http://schemas.openxmlformats.org/drawingml/2006/main">
          <a:pPr>
            <a:defRPr sz="600"/>
          </a:pPr>
        </a:p>
      </c:txPr>
    </c:legend>
    <c:plotVisOnly val="1"/>
  </c:chart>
</c:chartSpace>
</file>

<file path=ppt/slides/charts/chart8.xml><?xml version="1.0" encoding="utf-8"?>
<c:chartSpace xmlns:c="http://schemas.openxmlformats.org/drawingml/2006/chart">
  <c:lang val="en-US"/>
  <c:chart>
    <c:plotArea>
      <c:lineChart>
        <c:grouping val="standard"/>
        <c:ser>
          <c:idx val="0"/>
          <c:order val="0"/>
          <c:tx>
            <c:v>Face Cleanser</c:v>
          </c:tx>
          <c:spPr>
            <a:solidFill xmlns:a="http://schemas.openxmlformats.org/drawingml/2006/main">
              <a:srgbClr val="28A596"/>
            </a:solidFill>
            <a:ln xmlns:a="http://schemas.openxmlformats.org/drawingml/2006/main" w="19050">
              <a:solidFill>
                <a:srgbClr val="28A596"/>
              </a:solidFill>
            </a:ln>
          </c:spPr>
          <c:marker>
            <c:symbol val="none"/>
          </c:marker>
          <c:cat>
            <c:strLit>
              <c:ptCount val="6"/>
              <c:pt idx="0">
                <c:v>Feb 26</c:v>
              </c:pt>
              <c:pt idx="1">
                <c:v>Mar 26</c:v>
              </c:pt>
              <c:pt idx="2">
                <c:v>Apr 26</c:v>
              </c:pt>
              <c:pt idx="3">
                <c:v>May 26</c:v>
              </c:pt>
              <c:pt idx="4">
                <c:v>Jun 26</c:v>
              </c:pt>
              <c:pt idx="5">
                <c:v>Jul 26</c:v>
              </c:pt>
            </c:strLit>
          </c:cat>
          <c:val>
            <c:numLit>
              <c:formatCode>0.0</c:formatCode>
              <c:ptCount val="6"/>
              <c:pt idx="0">
                <c:v>0.3679410970318217</c:v>
              </c:pt>
              <c:pt idx="1">
                <c:v>0.398195364830509</c:v>
              </c:pt>
              <c:pt idx="2">
                <c:v>0.5193873161016951</c:v>
              </c:pt>
              <c:pt idx="3">
                <c:v>0.7715715338983056</c:v>
              </c:pt>
              <c:pt idx="4">
                <c:v>0.7147352381355934</c:v>
              </c:pt>
              <c:pt idx="5">
                <c:v>1.180182384708064</c:v>
              </c:pt>
            </c:numLit>
          </c:val>
        </c:ser>
        <c:ser>
          <c:idx val="1"/>
          <c:order val="1"/>
          <c:tx>
            <c:v>Sun Care</c:v>
          </c:tx>
          <c:spPr>
            <a:solidFill xmlns:a="http://schemas.openxmlformats.org/drawingml/2006/main">
              <a:srgbClr val="2E7DA8"/>
            </a:solidFill>
            <a:ln xmlns:a="http://schemas.openxmlformats.org/drawingml/2006/main" w="19050">
              <a:solidFill>
                <a:srgbClr val="2E7DA8"/>
              </a:solidFill>
            </a:ln>
          </c:spPr>
          <c:marker>
            <c:symbol val="none"/>
          </c:marker>
          <c:cat>
            <c:strLit>
              <c:ptCount val="6"/>
              <c:pt idx="0">
                <c:v>Feb 26</c:v>
              </c:pt>
              <c:pt idx="1">
                <c:v>Mar 26</c:v>
              </c:pt>
              <c:pt idx="2">
                <c:v>Apr 26</c:v>
              </c:pt>
              <c:pt idx="3">
                <c:v>May 26</c:v>
              </c:pt>
              <c:pt idx="4">
                <c:v>Jun 26</c:v>
              </c:pt>
              <c:pt idx="5">
                <c:v>Jul 26</c:v>
              </c:pt>
            </c:strLit>
          </c:cat>
          <c:val>
            <c:numLit>
              <c:formatCode>0.0</c:formatCode>
              <c:ptCount val="6"/>
              <c:pt idx="0">
                <c:v>0.2528822686440675</c:v>
              </c:pt>
              <c:pt idx="1">
                <c:v>0.43330280677966143</c:v>
              </c:pt>
              <c:pt idx="2">
                <c:v>0.6457934457627118</c:v>
              </c:pt>
              <c:pt idx="3">
                <c:v>0.8137555313559336</c:v>
              </c:pt>
              <c:pt idx="4">
                <c:v>0.5066291237288141</c:v>
              </c:pt>
              <c:pt idx="5">
                <c:v>0.6070136958845346</c:v>
              </c:pt>
            </c:numLit>
          </c:val>
        </c:ser>
        <c:ser>
          <c:idx val="2"/>
          <c:order val="2"/>
          <c:tx>
            <c:v>Face Serum</c:v>
          </c:tx>
          <c:spPr>
            <a:solidFill xmlns:a="http://schemas.openxmlformats.org/drawingml/2006/main">
              <a:srgbClr val="D6544D"/>
            </a:solidFill>
            <a:ln xmlns:a="http://schemas.openxmlformats.org/drawingml/2006/main" w="19050">
              <a:solidFill>
                <a:srgbClr val="D6544D"/>
              </a:solidFill>
            </a:ln>
          </c:spPr>
          <c:marker>
            <c:symbol val="none"/>
          </c:marker>
          <c:cat>
            <c:strLit>
              <c:ptCount val="6"/>
              <c:pt idx="0">
                <c:v>Feb 26</c:v>
              </c:pt>
              <c:pt idx="1">
                <c:v>Mar 26</c:v>
              </c:pt>
              <c:pt idx="2">
                <c:v>Apr 26</c:v>
              </c:pt>
              <c:pt idx="3">
                <c:v>May 26</c:v>
              </c:pt>
              <c:pt idx="4">
                <c:v>Jun 26</c:v>
              </c:pt>
              <c:pt idx="5">
                <c:v>Jul 26</c:v>
              </c:pt>
            </c:strLit>
          </c:cat>
          <c:val>
            <c:numLit>
              <c:formatCode>0.0</c:formatCode>
              <c:ptCount val="6"/>
              <c:pt idx="0">
                <c:v>0.14244565338983045</c:v>
              </c:pt>
              <c:pt idx="1">
                <c:v>0.14556713983050848</c:v>
              </c:pt>
              <c:pt idx="2">
                <c:v>0.16647275762711913</c:v>
              </c:pt>
              <c:pt idx="3">
                <c:v>0.1916630161016951</c:v>
              </c:pt>
              <c:pt idx="4">
                <c:v>0.19372925169491567</c:v>
              </c:pt>
              <c:pt idx="5">
                <c:v>0.18658883897098733</c:v>
              </c:pt>
            </c:numLit>
          </c:val>
        </c:ser>
        <c:dLbls>
          <c:showLegendKey val="0"/>
          <c:showVal val="0"/>
          <c:showCatName val="0"/>
          <c:showSerName val="0"/>
          <c:showPercent val="0"/>
          <c:showBubbleSize val="0"/>
          <c:showLeaderLines val="0"/>
        </c:dLbls>
        <c:axId val="48650112"/>
        <c:axId val="48672768"/>
      </c:lineChart>
      <c:catAx>
        <c:axId val="48650112"/>
        <c:scaling>
          <c:orientation val="minMax"/>
        </c:scaling>
        <c:delete val="0"/>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600">
                <a:solidFill>
                  <a:srgbClr val="666666"/>
                </a:solidFill>
              </a:defRPr>
            </a:pPr>
          </a:p>
        </c:txPr>
        <c:crossAx val="48672768"/>
      </c:catAx>
      <c:valAx>
        <c:axId val="48672768"/>
        <c:scaling>
          <c:orientation val="minMax"/>
        </c:scaling>
        <c:delete val="0"/>
        <c:axPos val="l"/>
        <c:majorGridlines>
          <c:spPr>
            <a:ln xmlns:a="http://schemas.openxmlformats.org/drawingml/2006/main" w="9525">
              <a:solidFill>
                <a:srgbClr val="E5EFEC"/>
              </a:solidFill>
              <a:prstDash val="solid"/>
            </a:ln>
          </c:spPr>
        </c:majorGridlines>
        <c:numFmt formatCode="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600">
                <a:solidFill>
                  <a:srgbClr val="666666"/>
                </a:solidFill>
              </a:defRPr>
            </a:pPr>
          </a:p>
        </c:txPr>
        <c:crossAx val="48650112"/>
        <c:crossBetween val="between"/>
      </c:valAx>
    </c:plotArea>
    <c:legend>
      <c:legendPos val="b"/>
      <c:overlay val="0"/>
      <c:txPr>
        <a:bodyPr xmlns:a="http://schemas.openxmlformats.org/drawingml/2006/main" anchorCtr="1"/>
        <a:lstStyle xmlns:a="http://schemas.openxmlformats.org/drawingml/2006/main"/>
        <a:p xmlns:a="http://schemas.openxmlformats.org/drawingml/2006/main">
          <a:pPr>
            <a:defRPr sz="600"/>
          </a:pPr>
        </a:p>
      </c:txPr>
    </c:legend>
    <c:plotVisOnly val="1"/>
  </c:chart>
</c:chartSpace>
</file>

<file path=ppt/slides/charts/chart9.xml><?xml version="1.0" encoding="utf-8"?>
<c:chartSpace xmlns:c="http://schemas.openxmlformats.org/drawingml/2006/chart">
  <c:lang val="en-US"/>
  <c:chart>
    <c:plotArea>
      <c:lineChart>
        <c:grouping val="standard"/>
        <c:ser>
          <c:idx val="0"/>
          <c:order val="0"/>
          <c:tx>
            <c:v>Face Cleanser</c:v>
          </c:tx>
          <c:spPr>
            <a:solidFill xmlns:a="http://schemas.openxmlformats.org/drawingml/2006/main">
              <a:srgbClr val="28A596"/>
            </a:solidFill>
            <a:ln xmlns:a="http://schemas.openxmlformats.org/drawingml/2006/main" w="19050">
              <a:solidFill>
                <a:srgbClr val="28A596"/>
              </a:solidFill>
            </a:ln>
          </c:spPr>
          <c:marker>
            <c:symbol val="none"/>
          </c:marker>
          <c:cat>
            <c:strLit>
              <c:ptCount val="6"/>
              <c:pt idx="0">
                <c:v>Feb 26</c:v>
              </c:pt>
              <c:pt idx="1">
                <c:v>Mar 26</c:v>
              </c:pt>
              <c:pt idx="2">
                <c:v>Apr 26</c:v>
              </c:pt>
              <c:pt idx="3">
                <c:v>May 26</c:v>
              </c:pt>
              <c:pt idx="4">
                <c:v>Jun 26</c:v>
              </c:pt>
              <c:pt idx="5">
                <c:v>Jul 26</c:v>
              </c:pt>
            </c:strLit>
          </c:cat>
          <c:val>
            <c:numLit>
              <c:formatCode>0.0</c:formatCode>
              <c:ptCount val="6"/>
              <c:pt idx="0">
                <c:v>1.7192357847457622</c:v>
              </c:pt>
              <c:pt idx="1">
                <c:v>2.0834724779660956</c:v>
              </c:pt>
              <c:pt idx="2">
                <c:v>2.231990952542369</c:v>
              </c:pt>
              <c:pt idx="3">
                <c:v>2.431865847288138</c:v>
              </c:pt>
              <c:pt idx="4">
                <c:v>2.2778219399112216</c:v>
              </c:pt>
              <c:pt idx="5">
                <c:v>2.091914400480206</c:v>
              </c:pt>
            </c:numLit>
          </c:val>
        </c:ser>
        <c:ser>
          <c:idx val="1"/>
          <c:order val="1"/>
          <c:tx>
            <c:v>Shampoo</c:v>
          </c:tx>
          <c:spPr>
            <a:solidFill xmlns:a="http://schemas.openxmlformats.org/drawingml/2006/main">
              <a:srgbClr val="2E7DA8"/>
            </a:solidFill>
            <a:ln xmlns:a="http://schemas.openxmlformats.org/drawingml/2006/main" w="19050">
              <a:solidFill>
                <a:srgbClr val="2E7DA8"/>
              </a:solidFill>
            </a:ln>
          </c:spPr>
          <c:marker>
            <c:symbol val="none"/>
          </c:marker>
          <c:cat>
            <c:strLit>
              <c:ptCount val="6"/>
              <c:pt idx="0">
                <c:v>Feb 26</c:v>
              </c:pt>
              <c:pt idx="1">
                <c:v>Mar 26</c:v>
              </c:pt>
              <c:pt idx="2">
                <c:v>Apr 26</c:v>
              </c:pt>
              <c:pt idx="3">
                <c:v>May 26</c:v>
              </c:pt>
              <c:pt idx="4">
                <c:v>Jun 26</c:v>
              </c:pt>
              <c:pt idx="5">
                <c:v>Jul 26</c:v>
              </c:pt>
            </c:strLit>
          </c:cat>
          <c:val>
            <c:numLit>
              <c:formatCode>0.0</c:formatCode>
              <c:ptCount val="6"/>
              <c:pt idx="0">
                <c:v>1.2172128800921742</c:v>
              </c:pt>
              <c:pt idx="1">
                <c:v>1.3299399376259158</c:v>
              </c:pt>
              <c:pt idx="2">
                <c:v>1.630853377619047</c:v>
              </c:pt>
              <c:pt idx="3">
                <c:v>1.750312086417502</c:v>
              </c:pt>
              <c:pt idx="4">
                <c:v>1.6846779548521476</c:v>
              </c:pt>
              <c:pt idx="5">
                <c:v>1.6785095182966683</c:v>
              </c:pt>
            </c:numLit>
          </c:val>
        </c:ser>
        <c:ser>
          <c:idx val="2"/>
          <c:order val="2"/>
          <c:tx>
            <c:v>Sun Care</c:v>
          </c:tx>
          <c:spPr>
            <a:solidFill xmlns:a="http://schemas.openxmlformats.org/drawingml/2006/main">
              <a:srgbClr val="D6544D"/>
            </a:solidFill>
            <a:ln xmlns:a="http://schemas.openxmlformats.org/drawingml/2006/main" w="19050">
              <a:solidFill>
                <a:srgbClr val="D6544D"/>
              </a:solidFill>
            </a:ln>
          </c:spPr>
          <c:marker>
            <c:symbol val="none"/>
          </c:marker>
          <c:cat>
            <c:strLit>
              <c:ptCount val="6"/>
              <c:pt idx="0">
                <c:v>Feb 26</c:v>
              </c:pt>
              <c:pt idx="1">
                <c:v>Mar 26</c:v>
              </c:pt>
              <c:pt idx="2">
                <c:v>Apr 26</c:v>
              </c:pt>
              <c:pt idx="3">
                <c:v>May 26</c:v>
              </c:pt>
              <c:pt idx="4">
                <c:v>Jun 26</c:v>
              </c:pt>
              <c:pt idx="5">
                <c:v>Jul 26</c:v>
              </c:pt>
            </c:strLit>
          </c:cat>
          <c:val>
            <c:numLit>
              <c:formatCode>0.0</c:formatCode>
              <c:ptCount val="6"/>
              <c:pt idx="0">
                <c:v>0.3860096177966101</c:v>
              </c:pt>
              <c:pt idx="1">
                <c:v>0.6554627258474575</c:v>
              </c:pt>
              <c:pt idx="2">
                <c:v>0.7693987889830508</c:v>
              </c:pt>
              <c:pt idx="3">
                <c:v>0.7900230165254243</c:v>
              </c:pt>
              <c:pt idx="4">
                <c:v>0.5646647410593222</c:v>
              </c:pt>
              <c:pt idx="5">
                <c:v>0.34590144114017446</c:v>
              </c:pt>
            </c:numLit>
          </c:val>
        </c:ser>
        <c:dLbls>
          <c:showLegendKey val="0"/>
          <c:showVal val="0"/>
          <c:showCatName val="0"/>
          <c:showSerName val="0"/>
          <c:showPercent val="0"/>
          <c:showBubbleSize val="0"/>
          <c:showLeaderLines val="0"/>
        </c:dLbls>
        <c:axId val="48650112"/>
        <c:axId val="48672768"/>
      </c:lineChart>
      <c:catAx>
        <c:axId val="48650112"/>
        <c:scaling>
          <c:orientation val="minMax"/>
        </c:scaling>
        <c:delete val="0"/>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600">
                <a:solidFill>
                  <a:srgbClr val="666666"/>
                </a:solidFill>
              </a:defRPr>
            </a:pPr>
          </a:p>
        </c:txPr>
        <c:crossAx val="48672768"/>
      </c:catAx>
      <c:valAx>
        <c:axId val="48672768"/>
        <c:scaling>
          <c:orientation val="minMax"/>
        </c:scaling>
        <c:delete val="0"/>
        <c:axPos val="l"/>
        <c:majorGridlines>
          <c:spPr>
            <a:ln xmlns:a="http://schemas.openxmlformats.org/drawingml/2006/main" w="9525">
              <a:solidFill>
                <a:srgbClr val="E5EFEC"/>
              </a:solidFill>
              <a:prstDash val="solid"/>
            </a:ln>
          </c:spPr>
        </c:majorGridlines>
        <c:numFmt formatCode="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600">
                <a:solidFill>
                  <a:srgbClr val="666666"/>
                </a:solidFill>
              </a:defRPr>
            </a:pPr>
          </a:p>
        </c:txPr>
        <c:crossAx val="48650112"/>
        <c:crossBetween val="between"/>
      </c:valAx>
    </c:plotArea>
    <c:legend>
      <c:legendPos val="b"/>
      <c:overlay val="0"/>
      <c:txPr>
        <a:bodyPr xmlns:a="http://schemas.openxmlformats.org/drawingml/2006/main" anchorCtr="1"/>
        <a:lstStyle xmlns:a="http://schemas.openxmlformats.org/drawingml/2006/main"/>
        <a:p xmlns:a="http://schemas.openxmlformats.org/drawingml/2006/main">
          <a:pPr>
            <a:defRPr sz="600"/>
          </a:pPr>
        </a:p>
      </c:txPr>
    </c:legend>
    <c:plotVisOnly val="1"/>
  </c:chart>
</c:chartSpace>
</file>

<file path=ppt/slides/charts/chart10.xml><?xml version="1.0" encoding="utf-8"?>
<c:chartSpace xmlns:c="http://schemas.openxmlformats.org/drawingml/2006/chart">
  <c:lang val="en-US"/>
  <c:chart>
    <c:plotArea>
      <c:lineChart>
        <c:grouping val="standard"/>
        <c:ser>
          <c:idx val="0"/>
          <c:order val="0"/>
          <c:tx>
            <c:v>Face Cleanser</c:v>
          </c:tx>
          <c:spPr>
            <a:solidFill xmlns:a="http://schemas.openxmlformats.org/drawingml/2006/main">
              <a:srgbClr val="28A596"/>
            </a:solidFill>
            <a:ln xmlns:a="http://schemas.openxmlformats.org/drawingml/2006/main" w="19050">
              <a:solidFill>
                <a:srgbClr val="28A596"/>
              </a:solidFill>
            </a:ln>
          </c:spPr>
          <c:marker>
            <c:symbol val="none"/>
          </c:marker>
          <c:cat>
            <c:strLit>
              <c:ptCount val="6"/>
              <c:pt idx="0">
                <c:v>Feb 26</c:v>
              </c:pt>
              <c:pt idx="1">
                <c:v>Mar 26</c:v>
              </c:pt>
              <c:pt idx="2">
                <c:v>Apr 26</c:v>
              </c:pt>
              <c:pt idx="3">
                <c:v>May 26</c:v>
              </c:pt>
              <c:pt idx="4">
                <c:v>Jun 26</c:v>
              </c:pt>
              <c:pt idx="5">
                <c:v>Jul 26</c:v>
              </c:pt>
            </c:strLit>
          </c:cat>
          <c:val>
            <c:numLit>
              <c:formatCode>0.0</c:formatCode>
              <c:ptCount val="6"/>
              <c:pt idx="0">
                <c:v>0.48769976398305126</c:v>
              </c:pt>
              <c:pt idx="1">
                <c:v>0.663972015677966</c:v>
              </c:pt>
              <c:pt idx="2">
                <c:v>0.7389134923728813</c:v>
              </c:pt>
              <c:pt idx="3">
                <c:v>1.0867242639830506</c:v>
              </c:pt>
              <c:pt idx="4">
                <c:v>1.1124746317796623</c:v>
              </c:pt>
              <c:pt idx="5">
                <c:v>1.413924686367639</c:v>
              </c:pt>
            </c:numLit>
          </c:val>
        </c:ser>
        <c:ser>
          <c:idx val="1"/>
          <c:order val="1"/>
          <c:tx>
            <c:v>Sun Care</c:v>
          </c:tx>
          <c:spPr>
            <a:solidFill xmlns:a="http://schemas.openxmlformats.org/drawingml/2006/main">
              <a:srgbClr val="2E7DA8"/>
            </a:solidFill>
            <a:ln xmlns:a="http://schemas.openxmlformats.org/drawingml/2006/main" w="19050">
              <a:solidFill>
                <a:srgbClr val="2E7DA8"/>
              </a:solidFill>
            </a:ln>
          </c:spPr>
          <c:marker>
            <c:symbol val="none"/>
          </c:marker>
          <c:cat>
            <c:strLit>
              <c:ptCount val="6"/>
              <c:pt idx="0">
                <c:v>Feb 26</c:v>
              </c:pt>
              <c:pt idx="1">
                <c:v>Mar 26</c:v>
              </c:pt>
              <c:pt idx="2">
                <c:v>Apr 26</c:v>
              </c:pt>
              <c:pt idx="3">
                <c:v>May 26</c:v>
              </c:pt>
              <c:pt idx="4">
                <c:v>Jun 26</c:v>
              </c:pt>
              <c:pt idx="5">
                <c:v>Jul 26</c:v>
              </c:pt>
            </c:strLit>
          </c:cat>
          <c:val>
            <c:numLit>
              <c:formatCode>0.0</c:formatCode>
              <c:ptCount val="6"/>
              <c:pt idx="0">
                <c:v>0.213627963559322</c:v>
              </c:pt>
              <c:pt idx="1">
                <c:v>0.4238376779661018</c:v>
              </c:pt>
              <c:pt idx="2">
                <c:v>0.4780378542372883</c:v>
              </c:pt>
              <c:pt idx="3">
                <c:v>0.707696112711864</c:v>
              </c:pt>
              <c:pt idx="4">
                <c:v>0.5110300186440676</c:v>
              </c:pt>
              <c:pt idx="5">
                <c:v>0.363848954161017</c:v>
              </c:pt>
            </c:numLit>
          </c:val>
        </c:ser>
        <c:ser>
          <c:idx val="2"/>
          <c:order val="2"/>
          <c:tx>
            <c:v>Face Serum</c:v>
          </c:tx>
          <c:spPr>
            <a:solidFill xmlns:a="http://schemas.openxmlformats.org/drawingml/2006/main">
              <a:srgbClr val="D6544D"/>
            </a:solidFill>
            <a:ln xmlns:a="http://schemas.openxmlformats.org/drawingml/2006/main" w="19050">
              <a:solidFill>
                <a:srgbClr val="D6544D"/>
              </a:solidFill>
            </a:ln>
          </c:spPr>
          <c:marker>
            <c:symbol val="none"/>
          </c:marker>
          <c:cat>
            <c:strLit>
              <c:ptCount val="6"/>
              <c:pt idx="0">
                <c:v>Feb 26</c:v>
              </c:pt>
              <c:pt idx="1">
                <c:v>Mar 26</c:v>
              </c:pt>
              <c:pt idx="2">
                <c:v>Apr 26</c:v>
              </c:pt>
              <c:pt idx="3">
                <c:v>May 26</c:v>
              </c:pt>
              <c:pt idx="4">
                <c:v>Jun 26</c:v>
              </c:pt>
              <c:pt idx="5">
                <c:v>Jul 26</c:v>
              </c:pt>
            </c:strLit>
          </c:cat>
          <c:val>
            <c:numLit>
              <c:formatCode>0.0</c:formatCode>
              <c:ptCount val="6"/>
              <c:pt idx="0">
                <c:v>0.07328365084745765</c:v>
              </c:pt>
              <c:pt idx="1">
                <c:v>0.10012137288135603</c:v>
              </c:pt>
              <c:pt idx="2">
                <c:v>0.11248016186440676</c:v>
              </c:pt>
              <c:pt idx="3">
                <c:v>0.10974237118644066</c:v>
              </c:pt>
              <c:pt idx="4">
                <c:v>0.09958371186440677</c:v>
              </c:pt>
              <c:pt idx="5">
                <c:v>0.10207695016572511</c:v>
              </c:pt>
            </c:numLit>
          </c:val>
        </c:ser>
        <c:dLbls>
          <c:showLegendKey val="0"/>
          <c:showVal val="0"/>
          <c:showCatName val="0"/>
          <c:showSerName val="0"/>
          <c:showPercent val="0"/>
          <c:showBubbleSize val="0"/>
          <c:showLeaderLines val="0"/>
        </c:dLbls>
        <c:axId val="48650112"/>
        <c:axId val="48672768"/>
      </c:lineChart>
      <c:catAx>
        <c:axId val="48650112"/>
        <c:scaling>
          <c:orientation val="minMax"/>
        </c:scaling>
        <c:delete val="0"/>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600">
                <a:solidFill>
                  <a:srgbClr val="666666"/>
                </a:solidFill>
              </a:defRPr>
            </a:pPr>
          </a:p>
        </c:txPr>
        <c:crossAx val="48672768"/>
      </c:catAx>
      <c:valAx>
        <c:axId val="48672768"/>
        <c:scaling>
          <c:orientation val="minMax"/>
        </c:scaling>
        <c:delete val="0"/>
        <c:axPos val="l"/>
        <c:majorGridlines>
          <c:spPr>
            <a:ln xmlns:a="http://schemas.openxmlformats.org/drawingml/2006/main" w="9525">
              <a:solidFill>
                <a:srgbClr val="E5EFEC"/>
              </a:solidFill>
              <a:prstDash val="solid"/>
            </a:ln>
          </c:spPr>
        </c:majorGridlines>
        <c:numFmt formatCode="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600">
                <a:solidFill>
                  <a:srgbClr val="666666"/>
                </a:solidFill>
              </a:defRPr>
            </a:pPr>
          </a:p>
        </c:txPr>
        <c:crossAx val="48650112"/>
        <c:crossBetween val="between"/>
      </c:valAx>
    </c:plotArea>
    <c:legend>
      <c:legendPos val="b"/>
      <c:overlay val="0"/>
      <c:txPr>
        <a:bodyPr xmlns:a="http://schemas.openxmlformats.org/drawingml/2006/main" anchorCtr="1"/>
        <a:lstStyle xmlns:a="http://schemas.openxmlformats.org/drawingml/2006/main"/>
        <a:p xmlns:a="http://schemas.openxmlformats.org/drawingml/2006/main">
          <a:pPr>
            <a:defRPr sz="600"/>
          </a:pPr>
        </a:p>
      </c:txPr>
    </c:legend>
    <c:plotVisOnly val="1"/>
  </c:chart>
</c:chartSpace>
</file>

<file path=ppt/slides/charts/chart11.xml><?xml version="1.0" encoding="utf-8"?>
<c:chartSpace xmlns:c="http://schemas.openxmlformats.org/drawingml/2006/chart">
  <c:lang val="en-US"/>
  <c:chart>
    <c:plotArea>
      <c:lineChart>
        <c:grouping val="standard"/>
        <c:ser>
          <c:idx val="0"/>
          <c:order val="0"/>
          <c:tx>
            <c:v>Face Cleanser</c:v>
          </c:tx>
          <c:spPr>
            <a:solidFill xmlns:a="http://schemas.openxmlformats.org/drawingml/2006/main">
              <a:srgbClr val="28A596"/>
            </a:solidFill>
            <a:ln xmlns:a="http://schemas.openxmlformats.org/drawingml/2006/main" w="19050">
              <a:solidFill>
                <a:srgbClr val="28A596"/>
              </a:solidFill>
            </a:ln>
          </c:spPr>
          <c:marker>
            <c:symbol val="none"/>
          </c:marker>
          <c:cat>
            <c:strLit>
              <c:ptCount val="6"/>
              <c:pt idx="0">
                <c:v>Feb 26</c:v>
              </c:pt>
              <c:pt idx="1">
                <c:v>Mar 26</c:v>
              </c:pt>
              <c:pt idx="2">
                <c:v>Apr 26</c:v>
              </c:pt>
              <c:pt idx="3">
                <c:v>May 26</c:v>
              </c:pt>
              <c:pt idx="4">
                <c:v>Jun 26</c:v>
              </c:pt>
              <c:pt idx="5">
                <c:v>Jul 26</c:v>
              </c:pt>
            </c:strLit>
          </c:cat>
          <c:val>
            <c:numLit>
              <c:formatCode>0.0</c:formatCode>
              <c:ptCount val="6"/>
              <c:pt idx="0">
                <c:v>0.7288669012711878</c:v>
              </c:pt>
              <c:pt idx="1">
                <c:v>0.8852280125423734</c:v>
              </c:pt>
              <c:pt idx="2">
                <c:v>0.8872169737288119</c:v>
              </c:pt>
              <c:pt idx="3">
                <c:v>1.0778703201329467</c:v>
              </c:pt>
              <c:pt idx="4">
                <c:v>1.2270465710855527</c:v>
              </c:pt>
              <c:pt idx="5">
                <c:v>1.042606371871927</c:v>
              </c:pt>
            </c:numLit>
          </c:val>
        </c:ser>
        <c:ser>
          <c:idx val="1"/>
          <c:order val="1"/>
          <c:tx>
            <c:v>Shampoo</c:v>
          </c:tx>
          <c:spPr>
            <a:solidFill xmlns:a="http://schemas.openxmlformats.org/drawingml/2006/main">
              <a:srgbClr val="2E7DA8"/>
            </a:solidFill>
            <a:ln xmlns:a="http://schemas.openxmlformats.org/drawingml/2006/main" w="19050">
              <a:solidFill>
                <a:srgbClr val="2E7DA8"/>
              </a:solidFill>
            </a:ln>
          </c:spPr>
          <c:marker>
            <c:symbol val="none"/>
          </c:marker>
          <c:cat>
            <c:strLit>
              <c:ptCount val="6"/>
              <c:pt idx="0">
                <c:v>Feb 26</c:v>
              </c:pt>
              <c:pt idx="1">
                <c:v>Mar 26</c:v>
              </c:pt>
              <c:pt idx="2">
                <c:v>Apr 26</c:v>
              </c:pt>
              <c:pt idx="3">
                <c:v>May 26</c:v>
              </c:pt>
              <c:pt idx="4">
                <c:v>Jun 26</c:v>
              </c:pt>
              <c:pt idx="5">
                <c:v>Jul 26</c:v>
              </c:pt>
            </c:strLit>
          </c:cat>
          <c:val>
            <c:numLit>
              <c:formatCode>0.0</c:formatCode>
              <c:ptCount val="6"/>
              <c:pt idx="0">
                <c:v>0.66142324832045</c:v>
              </c:pt>
              <c:pt idx="1">
                <c:v>0.7824134828002723</c:v>
              </c:pt>
              <c:pt idx="2">
                <c:v>0.8400582271428572</c:v>
              </c:pt>
              <c:pt idx="3">
                <c:v>0.8741300677354309</c:v>
              </c:pt>
              <c:pt idx="4">
                <c:v>0.9951620776666394</c:v>
              </c:pt>
              <c:pt idx="5">
                <c:v>0.9423246376217298</c:v>
              </c:pt>
            </c:numLit>
          </c:val>
        </c:ser>
        <c:ser>
          <c:idx val="2"/>
          <c:order val="2"/>
          <c:tx>
            <c:v>Sun Care</c:v>
          </c:tx>
          <c:spPr>
            <a:solidFill xmlns:a="http://schemas.openxmlformats.org/drawingml/2006/main">
              <a:srgbClr val="D6544D"/>
            </a:solidFill>
            <a:ln xmlns:a="http://schemas.openxmlformats.org/drawingml/2006/main" w="19050">
              <a:solidFill>
                <a:srgbClr val="D6544D"/>
              </a:solidFill>
            </a:ln>
          </c:spPr>
          <c:marker>
            <c:symbol val="none"/>
          </c:marker>
          <c:cat>
            <c:strLit>
              <c:ptCount val="6"/>
              <c:pt idx="0">
                <c:v>Feb 26</c:v>
              </c:pt>
              <c:pt idx="1">
                <c:v>Mar 26</c:v>
              </c:pt>
              <c:pt idx="2">
                <c:v>Apr 26</c:v>
              </c:pt>
              <c:pt idx="3">
                <c:v>May 26</c:v>
              </c:pt>
              <c:pt idx="4">
                <c:v>Jun 26</c:v>
              </c:pt>
              <c:pt idx="5">
                <c:v>Jul 26</c:v>
              </c:pt>
            </c:strLit>
          </c:cat>
          <c:val>
            <c:numLit>
              <c:formatCode>0.0</c:formatCode>
              <c:ptCount val="6"/>
              <c:pt idx="0">
                <c:v>0.12096933389830507</c:v>
              </c:pt>
              <c:pt idx="1">
                <c:v>0.24698384533898302</c:v>
              </c:pt>
              <c:pt idx="2">
                <c:v>0.28125931186440684</c:v>
              </c:pt>
              <c:pt idx="3">
                <c:v>0.28566097499999993</c:v>
              </c:pt>
              <c:pt idx="4">
                <c:v>0.20023780720338982</c:v>
              </c:pt>
              <c:pt idx="5">
                <c:v>0.1360992356626632</c:v>
              </c:pt>
            </c:numLit>
          </c:val>
        </c:ser>
        <c:dLbls>
          <c:showLegendKey val="0"/>
          <c:showVal val="0"/>
          <c:showCatName val="0"/>
          <c:showSerName val="0"/>
          <c:showPercent val="0"/>
          <c:showBubbleSize val="0"/>
          <c:showLeaderLines val="0"/>
        </c:dLbls>
        <c:axId val="48650112"/>
        <c:axId val="48672768"/>
      </c:lineChart>
      <c:catAx>
        <c:axId val="48650112"/>
        <c:scaling>
          <c:orientation val="minMax"/>
        </c:scaling>
        <c:delete val="0"/>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600">
                <a:solidFill>
                  <a:srgbClr val="666666"/>
                </a:solidFill>
              </a:defRPr>
            </a:pPr>
          </a:p>
        </c:txPr>
        <c:crossAx val="48672768"/>
      </c:catAx>
      <c:valAx>
        <c:axId val="48672768"/>
        <c:scaling>
          <c:orientation val="minMax"/>
        </c:scaling>
        <c:delete val="0"/>
        <c:axPos val="l"/>
        <c:majorGridlines>
          <c:spPr>
            <a:ln xmlns:a="http://schemas.openxmlformats.org/drawingml/2006/main" w="9525">
              <a:solidFill>
                <a:srgbClr val="E5EFEC"/>
              </a:solidFill>
              <a:prstDash val="solid"/>
            </a:ln>
          </c:spPr>
        </c:majorGridlines>
        <c:numFmt formatCode="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600">
                <a:solidFill>
                  <a:srgbClr val="666666"/>
                </a:solidFill>
              </a:defRPr>
            </a:pPr>
          </a:p>
        </c:txPr>
        <c:crossAx val="48650112"/>
        <c:crossBetween val="between"/>
      </c:valAx>
    </c:plotArea>
    <c:legend>
      <c:legendPos val="b"/>
      <c:overlay val="0"/>
      <c:txPr>
        <a:bodyPr xmlns:a="http://schemas.openxmlformats.org/drawingml/2006/main" anchorCtr="1"/>
        <a:lstStyle xmlns:a="http://schemas.openxmlformats.org/drawingml/2006/main"/>
        <a:p xmlns:a="http://schemas.openxmlformats.org/drawingml/2006/main">
          <a:pPr>
            <a:defRPr sz="600"/>
          </a:pPr>
        </a:p>
      </c:txPr>
    </c:legend>
    <c:plotVisOnly val="1"/>
  </c:chart>
</c:chartSpace>
</file>

<file path=ppt/slides/charts/chart12.xml><?xml version="1.0" encoding="utf-8"?>
<c:chartSpace xmlns:c="http://schemas.openxmlformats.org/drawingml/2006/chart">
  <c:lang val="en-US"/>
  <c:chart>
    <c:plotArea>
      <c:lineChart>
        <c:grouping val="standard"/>
        <c:ser>
          <c:idx val="0"/>
          <c:order val="0"/>
          <c:tx>
            <c:v>Face Cleanser</c:v>
          </c:tx>
          <c:spPr>
            <a:solidFill xmlns:a="http://schemas.openxmlformats.org/drawingml/2006/main">
              <a:srgbClr val="28A596"/>
            </a:solidFill>
            <a:ln xmlns:a="http://schemas.openxmlformats.org/drawingml/2006/main" w="19050">
              <a:solidFill>
                <a:srgbClr val="28A596"/>
              </a:solidFill>
            </a:ln>
          </c:spPr>
          <c:marker>
            <c:symbol val="none"/>
          </c:marker>
          <c:cat>
            <c:strLit>
              <c:ptCount val="6"/>
              <c:pt idx="0">
                <c:v>Feb 26</c:v>
              </c:pt>
              <c:pt idx="1">
                <c:v>Mar 26</c:v>
              </c:pt>
              <c:pt idx="2">
                <c:v>Apr 26</c:v>
              </c:pt>
              <c:pt idx="3">
                <c:v>May 26</c:v>
              </c:pt>
              <c:pt idx="4">
                <c:v>Jun 26</c:v>
              </c:pt>
              <c:pt idx="5">
                <c:v>Jul 26</c:v>
              </c:pt>
            </c:strLit>
          </c:cat>
          <c:val>
            <c:numLit>
              <c:formatCode>0.0</c:formatCode>
              <c:ptCount val="6"/>
              <c:pt idx="0">
                <c:v>0.11238790254237284</c:v>
              </c:pt>
              <c:pt idx="1">
                <c:v>0.18772117372881353</c:v>
              </c:pt>
              <c:pt idx="2">
                <c:v>0.2934759105932205</c:v>
              </c:pt>
              <c:pt idx="3">
                <c:v>0.4777736338983052</c:v>
              </c:pt>
              <c:pt idx="4">
                <c:v>0.5030391877118644</c:v>
              </c:pt>
              <c:pt idx="5">
                <c:v>0.5594061703685481</c:v>
              </c:pt>
            </c:numLit>
          </c:val>
        </c:ser>
        <c:ser>
          <c:idx val="1"/>
          <c:order val="1"/>
          <c:tx>
            <c:v>Sun Care</c:v>
          </c:tx>
          <c:spPr>
            <a:solidFill xmlns:a="http://schemas.openxmlformats.org/drawingml/2006/main">
              <a:srgbClr val="2E7DA8"/>
            </a:solidFill>
            <a:ln xmlns:a="http://schemas.openxmlformats.org/drawingml/2006/main" w="19050">
              <a:solidFill>
                <a:srgbClr val="2E7DA8"/>
              </a:solidFill>
            </a:ln>
          </c:spPr>
          <c:marker>
            <c:symbol val="none"/>
          </c:marker>
          <c:cat>
            <c:strLit>
              <c:ptCount val="6"/>
              <c:pt idx="0">
                <c:v>Feb 26</c:v>
              </c:pt>
              <c:pt idx="1">
                <c:v>Mar 26</c:v>
              </c:pt>
              <c:pt idx="2">
                <c:v>Apr 26</c:v>
              </c:pt>
              <c:pt idx="3">
                <c:v>May 26</c:v>
              </c:pt>
              <c:pt idx="4">
                <c:v>Jun 26</c:v>
              </c:pt>
              <c:pt idx="5">
                <c:v>Jul 26</c:v>
              </c:pt>
            </c:strLit>
          </c:cat>
          <c:val>
            <c:numLit>
              <c:formatCode>0.0</c:formatCode>
              <c:ptCount val="6"/>
              <c:pt idx="0">
                <c:v>0.08607024576271191</c:v>
              </c:pt>
              <c:pt idx="1">
                <c:v>0.1261214864406781</c:v>
              </c:pt>
              <c:pt idx="2">
                <c:v>0.17307248389830504</c:v>
              </c:pt>
              <c:pt idx="3">
                <c:v>0.36297387457627095</c:v>
              </c:pt>
              <c:pt idx="4">
                <c:v>0.20450621271186445</c:v>
              </c:pt>
              <c:pt idx="5">
                <c:v>0.19632746021610217</c:v>
              </c:pt>
            </c:numLit>
          </c:val>
        </c:ser>
        <c:ser>
          <c:idx val="2"/>
          <c:order val="2"/>
          <c:tx>
            <c:v>Face Serum</c:v>
          </c:tx>
          <c:spPr>
            <a:solidFill xmlns:a="http://schemas.openxmlformats.org/drawingml/2006/main">
              <a:srgbClr val="D6544D"/>
            </a:solidFill>
            <a:ln xmlns:a="http://schemas.openxmlformats.org/drawingml/2006/main" w="19050">
              <a:solidFill>
                <a:srgbClr val="D6544D"/>
              </a:solidFill>
            </a:ln>
          </c:spPr>
          <c:marker>
            <c:symbol val="none"/>
          </c:marker>
          <c:cat>
            <c:strLit>
              <c:ptCount val="6"/>
              <c:pt idx="0">
                <c:v>Feb 26</c:v>
              </c:pt>
              <c:pt idx="1">
                <c:v>Mar 26</c:v>
              </c:pt>
              <c:pt idx="2">
                <c:v>Apr 26</c:v>
              </c:pt>
              <c:pt idx="3">
                <c:v>May 26</c:v>
              </c:pt>
              <c:pt idx="4">
                <c:v>Jun 26</c:v>
              </c:pt>
              <c:pt idx="5">
                <c:v>Jul 26</c:v>
              </c:pt>
            </c:strLit>
          </c:cat>
          <c:val>
            <c:numLit>
              <c:formatCode>0.0</c:formatCode>
              <c:ptCount val="6"/>
              <c:pt idx="0">
                <c:v>0.039989291525423715</c:v>
              </c:pt>
              <c:pt idx="1">
                <c:v>0.03850241313559322</c:v>
              </c:pt>
              <c:pt idx="2">
                <c:v>0.045436595762711855</c:v>
              </c:pt>
              <c:pt idx="3">
                <c:v>0.048616676271186446</c:v>
              </c:pt>
              <c:pt idx="4">
                <c:v>0.043344267796610166</c:v>
              </c:pt>
              <c:pt idx="5">
                <c:v>0.051648345903013294</c:v>
              </c:pt>
            </c:numLit>
          </c:val>
        </c:ser>
        <c:dLbls>
          <c:showLegendKey val="0"/>
          <c:showVal val="0"/>
          <c:showCatName val="0"/>
          <c:showSerName val="0"/>
          <c:showPercent val="0"/>
          <c:showBubbleSize val="0"/>
          <c:showLeaderLines val="0"/>
        </c:dLbls>
        <c:axId val="48650112"/>
        <c:axId val="48672768"/>
      </c:lineChart>
      <c:catAx>
        <c:axId val="48650112"/>
        <c:scaling>
          <c:orientation val="minMax"/>
        </c:scaling>
        <c:delete val="0"/>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600">
                <a:solidFill>
                  <a:srgbClr val="666666"/>
                </a:solidFill>
              </a:defRPr>
            </a:pPr>
          </a:p>
        </c:txPr>
        <c:crossAx val="48672768"/>
      </c:catAx>
      <c:valAx>
        <c:axId val="48672768"/>
        <c:scaling>
          <c:orientation val="minMax"/>
        </c:scaling>
        <c:delete val="0"/>
        <c:axPos val="l"/>
        <c:majorGridlines>
          <c:spPr>
            <a:ln xmlns:a="http://schemas.openxmlformats.org/drawingml/2006/main" w="9525">
              <a:solidFill>
                <a:srgbClr val="E5EFEC"/>
              </a:solidFill>
              <a:prstDash val="solid"/>
            </a:ln>
          </c:spPr>
        </c:majorGridlines>
        <c:numFmt formatCode="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600">
                <a:solidFill>
                  <a:srgbClr val="666666"/>
                </a:solidFill>
              </a:defRPr>
            </a:pPr>
          </a:p>
        </c:txPr>
        <c:crossAx val="48650112"/>
        <c:crossBetween val="between"/>
      </c:valAx>
    </c:plotArea>
    <c:legend>
      <c:legendPos val="b"/>
      <c:overlay val="0"/>
      <c:txPr>
        <a:bodyPr xmlns:a="http://schemas.openxmlformats.org/drawingml/2006/main" anchorCtr="1"/>
        <a:lstStyle xmlns:a="http://schemas.openxmlformats.org/drawingml/2006/main"/>
        <a:p xmlns:a="http://schemas.openxmlformats.org/drawingml/2006/main">
          <a:pPr>
            <a:defRPr sz="600"/>
          </a:pPr>
        </a:p>
      </c:txPr>
    </c:legend>
    <c:plotVisOnly val="1"/>
  </c:chart>
</c:chartSpace>
</file>

<file path=ppt/slides/charts/chart13.xml><?xml version="1.0" encoding="utf-8"?>
<c:chartSpace xmlns:c="http://schemas.openxmlformats.org/drawingml/2006/chart">
  <c:lang val="en-US"/>
  <c:chart>
    <c:plotArea>
      <c:lineChart>
        <c:grouping val="standard"/>
        <c:ser>
          <c:idx val="0"/>
          <c:order val="0"/>
          <c:tx>
            <c:v>Face Cleanser</c:v>
          </c:tx>
          <c:spPr>
            <a:solidFill xmlns:a="http://schemas.openxmlformats.org/drawingml/2006/main">
              <a:srgbClr val="28A596"/>
            </a:solidFill>
            <a:ln xmlns:a="http://schemas.openxmlformats.org/drawingml/2006/main" w="19050">
              <a:solidFill>
                <a:srgbClr val="28A596"/>
              </a:solidFill>
            </a:ln>
          </c:spPr>
          <c:marker>
            <c:symbol val="none"/>
          </c:marker>
          <c:cat>
            <c:strLit>
              <c:ptCount val="6"/>
              <c:pt idx="0">
                <c:v>Feb 26</c:v>
              </c:pt>
              <c:pt idx="1">
                <c:v>Mar 26</c:v>
              </c:pt>
              <c:pt idx="2">
                <c:v>Apr 26</c:v>
              </c:pt>
              <c:pt idx="3">
                <c:v>May 26</c:v>
              </c:pt>
              <c:pt idx="4">
                <c:v>Jun 26</c:v>
              </c:pt>
              <c:pt idx="5">
                <c:v>Jul 26</c:v>
              </c:pt>
            </c:strLit>
          </c:cat>
          <c:val>
            <c:numLit>
              <c:formatCode>0.0</c:formatCode>
              <c:ptCount val="6"/>
              <c:pt idx="0">
                <c:v>0.8134922444915236</c:v>
              </c:pt>
              <c:pt idx="1">
                <c:v>0.9932462894067794</c:v>
              </c:pt>
              <c:pt idx="2">
                <c:v>1.0006511296610134</c:v>
              </c:pt>
              <c:pt idx="3">
                <c:v>1.1480350012711866</c:v>
              </c:pt>
              <c:pt idx="4">
                <c:v>1.0490465612187214</c:v>
              </c:pt>
              <c:pt idx="5">
                <c:v>1.3382867704285883</c:v>
              </c:pt>
            </c:numLit>
          </c:val>
        </c:ser>
        <c:ser>
          <c:idx val="1"/>
          <c:order val="1"/>
          <c:tx>
            <c:v>Shampoo</c:v>
          </c:tx>
          <c:spPr>
            <a:solidFill xmlns:a="http://schemas.openxmlformats.org/drawingml/2006/main">
              <a:srgbClr val="2E7DA8"/>
            </a:solidFill>
            <a:ln xmlns:a="http://schemas.openxmlformats.org/drawingml/2006/main" w="19050">
              <a:solidFill>
                <a:srgbClr val="2E7DA8"/>
              </a:solidFill>
            </a:ln>
          </c:spPr>
          <c:marker>
            <c:symbol val="none"/>
          </c:marker>
          <c:cat>
            <c:strLit>
              <c:ptCount val="6"/>
              <c:pt idx="0">
                <c:v>Feb 26</c:v>
              </c:pt>
              <c:pt idx="1">
                <c:v>Mar 26</c:v>
              </c:pt>
              <c:pt idx="2">
                <c:v>Apr 26</c:v>
              </c:pt>
              <c:pt idx="3">
                <c:v>May 26</c:v>
              </c:pt>
              <c:pt idx="4">
                <c:v>Jun 26</c:v>
              </c:pt>
              <c:pt idx="5">
                <c:v>Jul 26</c:v>
              </c:pt>
            </c:strLit>
          </c:cat>
          <c:val>
            <c:numLit>
              <c:formatCode>0.0</c:formatCode>
              <c:ptCount val="6"/>
              <c:pt idx="0">
                <c:v>0.6235220607225161</c:v>
              </c:pt>
              <c:pt idx="1">
                <c:v>0.662081408448777</c:v>
              </c:pt>
              <c:pt idx="2">
                <c:v>0.9505317119047622</c:v>
              </c:pt>
              <c:pt idx="3">
                <c:v>1.0708156791389973</c:v>
              </c:pt>
              <c:pt idx="4">
                <c:v>0.9618367498972701</c:v>
              </c:pt>
              <c:pt idx="5">
                <c:v>1.175496919999626</c:v>
              </c:pt>
            </c:numLit>
          </c:val>
        </c:ser>
        <c:ser>
          <c:idx val="2"/>
          <c:order val="2"/>
          <c:tx>
            <c:v>Sun Care</c:v>
          </c:tx>
          <c:spPr>
            <a:solidFill xmlns:a="http://schemas.openxmlformats.org/drawingml/2006/main">
              <a:srgbClr val="D6544D"/>
            </a:solidFill>
            <a:ln xmlns:a="http://schemas.openxmlformats.org/drawingml/2006/main" w="19050">
              <a:solidFill>
                <a:srgbClr val="D6544D"/>
              </a:solidFill>
            </a:ln>
          </c:spPr>
          <c:marker>
            <c:symbol val="none"/>
          </c:marker>
          <c:cat>
            <c:strLit>
              <c:ptCount val="6"/>
              <c:pt idx="0">
                <c:v>Feb 26</c:v>
              </c:pt>
              <c:pt idx="1">
                <c:v>Mar 26</c:v>
              </c:pt>
              <c:pt idx="2">
                <c:v>Apr 26</c:v>
              </c:pt>
              <c:pt idx="3">
                <c:v>May 26</c:v>
              </c:pt>
              <c:pt idx="4">
                <c:v>Jun 26</c:v>
              </c:pt>
              <c:pt idx="5">
                <c:v>Jul 26</c:v>
              </c:pt>
            </c:strLit>
          </c:cat>
          <c:val>
            <c:numLit>
              <c:formatCode>0.0</c:formatCode>
              <c:ptCount val="6"/>
              <c:pt idx="0">
                <c:v>0.1535229271186441</c:v>
              </c:pt>
              <c:pt idx="1">
                <c:v>0.1634265139830508</c:v>
              </c:pt>
              <c:pt idx="2">
                <c:v>0.2517059766949151</c:v>
              </c:pt>
              <c:pt idx="3">
                <c:v>0.30195650805084767</c:v>
              </c:pt>
              <c:pt idx="4">
                <c:v>0.19044822947941892</c:v>
              </c:pt>
              <c:pt idx="5">
                <c:v>0.18932685110733016</c:v>
              </c:pt>
            </c:numLit>
          </c:val>
        </c:ser>
        <c:dLbls>
          <c:showLegendKey val="0"/>
          <c:showVal val="0"/>
          <c:showCatName val="0"/>
          <c:showSerName val="0"/>
          <c:showPercent val="0"/>
          <c:showBubbleSize val="0"/>
          <c:showLeaderLines val="0"/>
        </c:dLbls>
        <c:axId val="48650112"/>
        <c:axId val="48672768"/>
      </c:lineChart>
      <c:catAx>
        <c:axId val="48650112"/>
        <c:scaling>
          <c:orientation val="minMax"/>
        </c:scaling>
        <c:delete val="0"/>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600">
                <a:solidFill>
                  <a:srgbClr val="666666"/>
                </a:solidFill>
              </a:defRPr>
            </a:pPr>
          </a:p>
        </c:txPr>
        <c:crossAx val="48672768"/>
      </c:catAx>
      <c:valAx>
        <c:axId val="48672768"/>
        <c:scaling>
          <c:orientation val="minMax"/>
        </c:scaling>
        <c:delete val="0"/>
        <c:axPos val="l"/>
        <c:majorGridlines>
          <c:spPr>
            <a:ln xmlns:a="http://schemas.openxmlformats.org/drawingml/2006/main" w="9525">
              <a:solidFill>
                <a:srgbClr val="E5EFEC"/>
              </a:solidFill>
              <a:prstDash val="solid"/>
            </a:ln>
          </c:spPr>
        </c:majorGridlines>
        <c:numFmt formatCode="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600">
                <a:solidFill>
                  <a:srgbClr val="666666"/>
                </a:solidFill>
              </a:defRPr>
            </a:pPr>
          </a:p>
        </c:txPr>
        <c:crossAx val="48650112"/>
        <c:crossBetween val="between"/>
      </c:valAx>
    </c:plotArea>
    <c:legend>
      <c:legendPos val="b"/>
      <c:overlay val="0"/>
      <c:txPr>
        <a:bodyPr xmlns:a="http://schemas.openxmlformats.org/drawingml/2006/main" anchorCtr="1"/>
        <a:lstStyle xmlns:a="http://schemas.openxmlformats.org/drawingml/2006/main"/>
        <a:p xmlns:a="http://schemas.openxmlformats.org/drawingml/2006/main">
          <a:pPr>
            <a:defRPr sz="600"/>
          </a:pPr>
        </a:p>
      </c:txPr>
    </c:legend>
    <c:plotVisOnly val="1"/>
  </c:chart>
</c:chartSpace>
</file>

<file path=ppt/slides/charts/chart14.xml><?xml version="1.0" encoding="utf-8"?>
<c:chartSpace xmlns:c="http://schemas.openxmlformats.org/drawingml/2006/chart">
  <c:lang val="en-US"/>
  <c:chart>
    <c:plotArea>
      <c:lineChart>
        <c:grouping val="standard"/>
        <c:ser>
          <c:idx val="0"/>
          <c:order val="0"/>
          <c:tx>
            <c:v>Face Cleanser</c:v>
          </c:tx>
          <c:spPr>
            <a:solidFill xmlns:a="http://schemas.openxmlformats.org/drawingml/2006/main">
              <a:srgbClr val="28A596"/>
            </a:solidFill>
            <a:ln xmlns:a="http://schemas.openxmlformats.org/drawingml/2006/main" w="19050">
              <a:solidFill>
                <a:srgbClr val="28A596"/>
              </a:solidFill>
            </a:ln>
          </c:spPr>
          <c:marker>
            <c:symbol val="none"/>
          </c:marker>
          <c:cat>
            <c:strLit>
              <c:ptCount val="6"/>
              <c:pt idx="0">
                <c:v>Feb 26</c:v>
              </c:pt>
              <c:pt idx="1">
                <c:v>Mar 26</c:v>
              </c:pt>
              <c:pt idx="2">
                <c:v>Apr 26</c:v>
              </c:pt>
              <c:pt idx="3">
                <c:v>May 26</c:v>
              </c:pt>
              <c:pt idx="4">
                <c:v>Jun 26</c:v>
              </c:pt>
              <c:pt idx="5">
                <c:v>Jul 26</c:v>
              </c:pt>
            </c:strLit>
          </c:cat>
          <c:val>
            <c:numLit>
              <c:formatCode>0.0</c:formatCode>
              <c:ptCount val="6"/>
              <c:pt idx="0">
                <c:v>0.06055977627118645</c:v>
              </c:pt>
              <c:pt idx="1">
                <c:v>0.07954539618644066</c:v>
              </c:pt>
              <c:pt idx="2">
                <c:v>0.11589175338983056</c:v>
              </c:pt>
              <c:pt idx="3">
                <c:v>0.11314247542372886</c:v>
              </c:pt>
              <c:pt idx="4">
                <c:v>0.15427855974576268</c:v>
              </c:pt>
              <c:pt idx="5">
                <c:v>0.4730197210513176</c:v>
              </c:pt>
            </c:numLit>
          </c:val>
        </c:ser>
        <c:ser>
          <c:idx val="1"/>
          <c:order val="1"/>
          <c:tx>
            <c:v>Sun Care</c:v>
          </c:tx>
          <c:spPr>
            <a:solidFill xmlns:a="http://schemas.openxmlformats.org/drawingml/2006/main">
              <a:srgbClr val="2E7DA8"/>
            </a:solidFill>
            <a:ln xmlns:a="http://schemas.openxmlformats.org/drawingml/2006/main" w="19050">
              <a:solidFill>
                <a:srgbClr val="2E7DA8"/>
              </a:solidFill>
            </a:ln>
          </c:spPr>
          <c:marker>
            <c:symbol val="none"/>
          </c:marker>
          <c:cat>
            <c:strLit>
              <c:ptCount val="6"/>
              <c:pt idx="0">
                <c:v>Feb 26</c:v>
              </c:pt>
              <c:pt idx="1">
                <c:v>Mar 26</c:v>
              </c:pt>
              <c:pt idx="2">
                <c:v>Apr 26</c:v>
              </c:pt>
              <c:pt idx="3">
                <c:v>May 26</c:v>
              </c:pt>
              <c:pt idx="4">
                <c:v>Jun 26</c:v>
              </c:pt>
              <c:pt idx="5">
                <c:v>Jul 26</c:v>
              </c:pt>
            </c:strLit>
          </c:cat>
          <c:val>
            <c:numLit>
              <c:formatCode>0.0</c:formatCode>
              <c:ptCount val="6"/>
              <c:pt idx="0">
                <c:v>0.055226990677966076</c:v>
              </c:pt>
              <c:pt idx="1">
                <c:v>0.05850210762711864</c:v>
              </c:pt>
              <c:pt idx="2">
                <c:v>0.08546515466101695</c:v>
              </c:pt>
              <c:pt idx="3">
                <c:v>0.10361546525423738</c:v>
              </c:pt>
              <c:pt idx="4">
                <c:v>0.06711377288135592</c:v>
              </c:pt>
              <c:pt idx="5">
                <c:v>0.09334029753177965</c:v>
              </c:pt>
            </c:numLit>
          </c:val>
        </c:ser>
        <c:ser>
          <c:idx val="2"/>
          <c:order val="2"/>
          <c:tx>
            <c:v>Face Serum</c:v>
          </c:tx>
          <c:spPr>
            <a:solidFill xmlns:a="http://schemas.openxmlformats.org/drawingml/2006/main">
              <a:srgbClr val="D6544D"/>
            </a:solidFill>
            <a:ln xmlns:a="http://schemas.openxmlformats.org/drawingml/2006/main" w="19050">
              <a:solidFill>
                <a:srgbClr val="D6544D"/>
              </a:solidFill>
            </a:ln>
          </c:spPr>
          <c:marker>
            <c:symbol val="none"/>
          </c:marker>
          <c:cat>
            <c:strLit>
              <c:ptCount val="6"/>
              <c:pt idx="0">
                <c:v>Feb 26</c:v>
              </c:pt>
              <c:pt idx="1">
                <c:v>Mar 26</c:v>
              </c:pt>
              <c:pt idx="2">
                <c:v>Apr 26</c:v>
              </c:pt>
              <c:pt idx="3">
                <c:v>May 26</c:v>
              </c:pt>
              <c:pt idx="4">
                <c:v>Jun 26</c:v>
              </c:pt>
              <c:pt idx="5">
                <c:v>Jul 26</c:v>
              </c:pt>
            </c:strLit>
          </c:cat>
          <c:val>
            <c:numLit>
              <c:formatCode>0.0</c:formatCode>
              <c:ptCount val="6"/>
              <c:pt idx="0">
                <c:v>0.03660066016949159</c:v>
              </c:pt>
              <c:pt idx="1">
                <c:v>0.030705991525423734</c:v>
              </c:pt>
              <c:pt idx="2">
                <c:v>0.04030162627118645</c:v>
              </c:pt>
              <c:pt idx="3">
                <c:v>0.04575218559322028</c:v>
              </c:pt>
              <c:pt idx="4">
                <c:v>0.07017247457627121</c:v>
              </c:pt>
              <c:pt idx="5">
                <c:v>0.05173149546516004</c:v>
              </c:pt>
            </c:numLit>
          </c:val>
        </c:ser>
        <c:dLbls>
          <c:showLegendKey val="0"/>
          <c:showVal val="0"/>
          <c:showCatName val="0"/>
          <c:showSerName val="0"/>
          <c:showPercent val="0"/>
          <c:showBubbleSize val="0"/>
          <c:showLeaderLines val="0"/>
        </c:dLbls>
        <c:axId val="48650112"/>
        <c:axId val="48672768"/>
      </c:lineChart>
      <c:catAx>
        <c:axId val="48650112"/>
        <c:scaling>
          <c:orientation val="minMax"/>
        </c:scaling>
        <c:delete val="0"/>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600">
                <a:solidFill>
                  <a:srgbClr val="666666"/>
                </a:solidFill>
              </a:defRPr>
            </a:pPr>
          </a:p>
        </c:txPr>
        <c:crossAx val="48672768"/>
      </c:catAx>
      <c:valAx>
        <c:axId val="48672768"/>
        <c:scaling>
          <c:orientation val="minMax"/>
        </c:scaling>
        <c:delete val="0"/>
        <c:axPos val="l"/>
        <c:majorGridlines>
          <c:spPr>
            <a:ln xmlns:a="http://schemas.openxmlformats.org/drawingml/2006/main" w="9525">
              <a:solidFill>
                <a:srgbClr val="E5EFEC"/>
              </a:solidFill>
              <a:prstDash val="solid"/>
            </a:ln>
          </c:spPr>
        </c:majorGridlines>
        <c:numFmt formatCode="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600">
                <a:solidFill>
                  <a:srgbClr val="666666"/>
                </a:solidFill>
              </a:defRPr>
            </a:pPr>
          </a:p>
        </c:txPr>
        <c:crossAx val="48650112"/>
        <c:crossBetween val="between"/>
      </c:valAx>
    </c:plotArea>
    <c:legend>
      <c:legendPos val="b"/>
      <c:overlay val="0"/>
      <c:txPr>
        <a:bodyPr xmlns:a="http://schemas.openxmlformats.org/drawingml/2006/main" anchorCtr="1"/>
        <a:lstStyle xmlns:a="http://schemas.openxmlformats.org/drawingml/2006/main"/>
        <a:p xmlns:a="http://schemas.openxmlformats.org/drawingml/2006/main">
          <a:pPr>
            <a:defRPr sz="600"/>
          </a:pPr>
        </a:p>
      </c:txPr>
    </c:legend>
    <c:plotVisOnly val="1"/>
  </c:chart>
</c:chartSpace>
</file>

<file path=ppt/slides/charts/chart15.xml><?xml version="1.0" encoding="utf-8"?>
<c:chartSpace xmlns:c="http://schemas.openxmlformats.org/drawingml/2006/chart">
  <c:lang val="en-US"/>
  <c:chart>
    <c:plotArea>
      <c:lineChart>
        <c:grouping val="standard"/>
        <c:ser>
          <c:idx val="0"/>
          <c:order val="0"/>
          <c:tx>
            <c:v>Face Cleanser</c:v>
          </c:tx>
          <c:spPr>
            <a:solidFill xmlns:a="http://schemas.openxmlformats.org/drawingml/2006/main">
              <a:srgbClr val="28A596"/>
            </a:solidFill>
            <a:ln xmlns:a="http://schemas.openxmlformats.org/drawingml/2006/main" w="19050">
              <a:solidFill>
                <a:srgbClr val="28A596"/>
              </a:solidFill>
            </a:ln>
          </c:spPr>
          <c:marker>
            <c:symbol val="none"/>
          </c:marker>
          <c:cat>
            <c:strLit>
              <c:ptCount val="6"/>
              <c:pt idx="0">
                <c:v>Feb 26</c:v>
              </c:pt>
              <c:pt idx="1">
                <c:v>Mar 26</c:v>
              </c:pt>
              <c:pt idx="2">
                <c:v>Apr 26</c:v>
              </c:pt>
              <c:pt idx="3">
                <c:v>May 26</c:v>
              </c:pt>
              <c:pt idx="4">
                <c:v>Jun 26</c:v>
              </c:pt>
              <c:pt idx="5">
                <c:v>Jul 26</c:v>
              </c:pt>
            </c:strLit>
          </c:cat>
          <c:val>
            <c:numLit>
              <c:formatCode>0.0</c:formatCode>
              <c:ptCount val="6"/>
              <c:pt idx="0">
                <c:v>0</c:v>
              </c:pt>
              <c:pt idx="1">
                <c:v>0</c:v>
              </c:pt>
              <c:pt idx="2">
                <c:v>0</c:v>
              </c:pt>
              <c:pt idx="3">
                <c:v>0</c:v>
              </c:pt>
              <c:pt idx="4">
                <c:v>0</c:v>
              </c:pt>
              <c:pt idx="5">
                <c:v>0.544592652434871</c:v>
              </c:pt>
            </c:numLit>
          </c:val>
        </c:ser>
        <c:ser>
          <c:idx val="1"/>
          <c:order val="1"/>
          <c:tx>
            <c:v>Shampoo</c:v>
          </c:tx>
          <c:spPr>
            <a:solidFill xmlns:a="http://schemas.openxmlformats.org/drawingml/2006/main">
              <a:srgbClr val="2E7DA8"/>
            </a:solidFill>
            <a:ln xmlns:a="http://schemas.openxmlformats.org/drawingml/2006/main" w="19050">
              <a:solidFill>
                <a:srgbClr val="2E7DA8"/>
              </a:solidFill>
            </a:ln>
          </c:spPr>
          <c:marker>
            <c:symbol val="none"/>
          </c:marker>
          <c:cat>
            <c:strLit>
              <c:ptCount val="6"/>
              <c:pt idx="0">
                <c:v>Feb 26</c:v>
              </c:pt>
              <c:pt idx="1">
                <c:v>Mar 26</c:v>
              </c:pt>
              <c:pt idx="2">
                <c:v>Apr 26</c:v>
              </c:pt>
              <c:pt idx="3">
                <c:v>May 26</c:v>
              </c:pt>
              <c:pt idx="4">
                <c:v>Jun 26</c:v>
              </c:pt>
              <c:pt idx="5">
                <c:v>Jul 26</c:v>
              </c:pt>
            </c:strLit>
          </c:cat>
          <c:val>
            <c:numLit>
              <c:formatCode>0.0</c:formatCode>
              <c:ptCount val="6"/>
              <c:pt idx="0">
                <c:v>0</c:v>
              </c:pt>
              <c:pt idx="1">
                <c:v>0</c:v>
              </c:pt>
              <c:pt idx="2">
                <c:v>0</c:v>
              </c:pt>
              <c:pt idx="3">
                <c:v>0</c:v>
              </c:pt>
              <c:pt idx="4">
                <c:v>0</c:v>
              </c:pt>
              <c:pt idx="5">
                <c:v>0.3980935291221317</c:v>
              </c:pt>
            </c:numLit>
          </c:val>
        </c:ser>
        <c:ser>
          <c:idx val="2"/>
          <c:order val="2"/>
          <c:tx>
            <c:v>Sun Care</c:v>
          </c:tx>
          <c:spPr>
            <a:solidFill xmlns:a="http://schemas.openxmlformats.org/drawingml/2006/main">
              <a:srgbClr val="D6544D"/>
            </a:solidFill>
            <a:ln xmlns:a="http://schemas.openxmlformats.org/drawingml/2006/main" w="19050">
              <a:solidFill>
                <a:srgbClr val="D6544D"/>
              </a:solidFill>
            </a:ln>
          </c:spPr>
          <c:marker>
            <c:symbol val="none"/>
          </c:marker>
          <c:cat>
            <c:strLit>
              <c:ptCount val="6"/>
              <c:pt idx="0">
                <c:v>Feb 26</c:v>
              </c:pt>
              <c:pt idx="1">
                <c:v>Mar 26</c:v>
              </c:pt>
              <c:pt idx="2">
                <c:v>Apr 26</c:v>
              </c:pt>
              <c:pt idx="3">
                <c:v>May 26</c:v>
              </c:pt>
              <c:pt idx="4">
                <c:v>Jun 26</c:v>
              </c:pt>
              <c:pt idx="5">
                <c:v>Jul 26</c:v>
              </c:pt>
            </c:strLit>
          </c:cat>
          <c:val>
            <c:numLit>
              <c:formatCode>0.0</c:formatCode>
              <c:ptCount val="6"/>
              <c:pt idx="0">
                <c:v>0</c:v>
              </c:pt>
              <c:pt idx="1">
                <c:v>0</c:v>
              </c:pt>
              <c:pt idx="2">
                <c:v>0</c:v>
              </c:pt>
              <c:pt idx="3">
                <c:v>0</c:v>
              </c:pt>
              <c:pt idx="4">
                <c:v>0</c:v>
              </c:pt>
              <c:pt idx="5">
                <c:v>0.09180079028993461</c:v>
              </c:pt>
            </c:numLit>
          </c:val>
        </c:ser>
        <c:dLbls>
          <c:showLegendKey val="0"/>
          <c:showVal val="0"/>
          <c:showCatName val="0"/>
          <c:showSerName val="0"/>
          <c:showPercent val="0"/>
          <c:showBubbleSize val="0"/>
          <c:showLeaderLines val="0"/>
        </c:dLbls>
        <c:axId val="48650112"/>
        <c:axId val="48672768"/>
      </c:lineChart>
      <c:catAx>
        <c:axId val="48650112"/>
        <c:scaling>
          <c:orientation val="minMax"/>
        </c:scaling>
        <c:delete val="0"/>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600">
                <a:solidFill>
                  <a:srgbClr val="666666"/>
                </a:solidFill>
              </a:defRPr>
            </a:pPr>
          </a:p>
        </c:txPr>
        <c:crossAx val="48672768"/>
      </c:catAx>
      <c:valAx>
        <c:axId val="48672768"/>
        <c:scaling>
          <c:orientation val="minMax"/>
        </c:scaling>
        <c:delete val="0"/>
        <c:axPos val="l"/>
        <c:majorGridlines>
          <c:spPr>
            <a:ln xmlns:a="http://schemas.openxmlformats.org/drawingml/2006/main" w="9525">
              <a:solidFill>
                <a:srgbClr val="E5EFEC"/>
              </a:solidFill>
              <a:prstDash val="solid"/>
            </a:ln>
          </c:spPr>
        </c:majorGridlines>
        <c:numFmt formatCode="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600">
                <a:solidFill>
                  <a:srgbClr val="666666"/>
                </a:solidFill>
              </a:defRPr>
            </a:pPr>
          </a:p>
        </c:txPr>
        <c:crossAx val="48650112"/>
        <c:crossBetween val="between"/>
      </c:valAx>
    </c:plotArea>
    <c:legend>
      <c:legendPos val="b"/>
      <c:overlay val="0"/>
      <c:txPr>
        <a:bodyPr xmlns:a="http://schemas.openxmlformats.org/drawingml/2006/main" anchorCtr="1"/>
        <a:lstStyle xmlns:a="http://schemas.openxmlformats.org/drawingml/2006/main"/>
        <a:p xmlns:a="http://schemas.openxmlformats.org/drawingml/2006/main">
          <a:pPr>
            <a:defRPr sz="600"/>
          </a:pPr>
        </a:p>
      </c:txPr>
    </c:legend>
    <c:plotVisOnly val="1"/>
  </c:chart>
</c:chartSpace>
</file>

<file path=ppt/slides/charts/chart16.xml><?xml version="1.0" encoding="utf-8"?>
<c:chartSpace xmlns:c="http://schemas.openxmlformats.org/drawingml/2006/chart">
  <c:lang val="en-US"/>
  <c:chart>
    <c:plotArea>
      <c:lineChart>
        <c:grouping val="standard"/>
        <c:ser>
          <c:idx val="0"/>
          <c:order val="0"/>
          <c:tx>
            <c:v>Face Cleanser</c:v>
          </c:tx>
          <c:spPr>
            <a:solidFill xmlns:a="http://schemas.openxmlformats.org/drawingml/2006/main">
              <a:srgbClr val="28A596"/>
            </a:solidFill>
            <a:ln xmlns:a="http://schemas.openxmlformats.org/drawingml/2006/main" w="19050">
              <a:solidFill>
                <a:srgbClr val="28A596"/>
              </a:solidFill>
            </a:ln>
          </c:spPr>
          <c:marker>
            <c:symbol val="none"/>
          </c:marker>
          <c:cat>
            <c:strLit>
              <c:ptCount val="6"/>
              <c:pt idx="0">
                <c:v>Feb 26</c:v>
              </c:pt>
              <c:pt idx="1">
                <c:v>Mar 26</c:v>
              </c:pt>
              <c:pt idx="2">
                <c:v>Apr 26</c:v>
              </c:pt>
              <c:pt idx="3">
                <c:v>May 26</c:v>
              </c:pt>
              <c:pt idx="4">
                <c:v>Jun 26</c:v>
              </c:pt>
              <c:pt idx="5">
                <c:v>Jul 26</c:v>
              </c:pt>
            </c:strLit>
          </c:cat>
          <c:val>
            <c:numLit>
              <c:formatCode>0.0</c:formatCode>
              <c:ptCount val="6"/>
              <c:pt idx="0">
                <c:v>0</c:v>
              </c:pt>
              <c:pt idx="1">
                <c:v>0</c:v>
              </c:pt>
              <c:pt idx="2">
                <c:v>0</c:v>
              </c:pt>
              <c:pt idx="3">
                <c:v>0</c:v>
              </c:pt>
              <c:pt idx="4">
                <c:v>0</c:v>
              </c:pt>
              <c:pt idx="5">
                <c:v>0.661077536770061</c:v>
              </c:pt>
            </c:numLit>
          </c:val>
        </c:ser>
        <c:ser>
          <c:idx val="1"/>
          <c:order val="1"/>
          <c:tx>
            <c:v>Sun Care</c:v>
          </c:tx>
          <c:spPr>
            <a:solidFill xmlns:a="http://schemas.openxmlformats.org/drawingml/2006/main">
              <a:srgbClr val="2E7DA8"/>
            </a:solidFill>
            <a:ln xmlns:a="http://schemas.openxmlformats.org/drawingml/2006/main" w="19050">
              <a:solidFill>
                <a:srgbClr val="2E7DA8"/>
              </a:solidFill>
            </a:ln>
          </c:spPr>
          <c:marker>
            <c:symbol val="none"/>
          </c:marker>
          <c:cat>
            <c:strLit>
              <c:ptCount val="6"/>
              <c:pt idx="0">
                <c:v>Feb 26</c:v>
              </c:pt>
              <c:pt idx="1">
                <c:v>Mar 26</c:v>
              </c:pt>
              <c:pt idx="2">
                <c:v>Apr 26</c:v>
              </c:pt>
              <c:pt idx="3">
                <c:v>May 26</c:v>
              </c:pt>
              <c:pt idx="4">
                <c:v>Jun 26</c:v>
              </c:pt>
              <c:pt idx="5">
                <c:v>Jul 26</c:v>
              </c:pt>
            </c:strLit>
          </c:cat>
          <c:val>
            <c:numLit>
              <c:formatCode>0.0</c:formatCode>
              <c:ptCount val="6"/>
              <c:pt idx="0">
                <c:v>0</c:v>
              </c:pt>
              <c:pt idx="1">
                <c:v>0</c:v>
              </c:pt>
              <c:pt idx="2">
                <c:v>0</c:v>
              </c:pt>
              <c:pt idx="3">
                <c:v>0</c:v>
              </c:pt>
              <c:pt idx="4">
                <c:v>0</c:v>
              </c:pt>
              <c:pt idx="5">
                <c:v>0.18061491097457633</c:v>
              </c:pt>
            </c:numLit>
          </c:val>
        </c:ser>
        <c:ser>
          <c:idx val="2"/>
          <c:order val="2"/>
          <c:tx>
            <c:v>Face Serum</c:v>
          </c:tx>
          <c:spPr>
            <a:solidFill xmlns:a="http://schemas.openxmlformats.org/drawingml/2006/main">
              <a:srgbClr val="D6544D"/>
            </a:solidFill>
            <a:ln xmlns:a="http://schemas.openxmlformats.org/drawingml/2006/main" w="19050">
              <a:solidFill>
                <a:srgbClr val="D6544D"/>
              </a:solidFill>
            </a:ln>
          </c:spPr>
          <c:marker>
            <c:symbol val="none"/>
          </c:marker>
          <c:cat>
            <c:strLit>
              <c:ptCount val="6"/>
              <c:pt idx="0">
                <c:v>Feb 26</c:v>
              </c:pt>
              <c:pt idx="1">
                <c:v>Mar 26</c:v>
              </c:pt>
              <c:pt idx="2">
                <c:v>Apr 26</c:v>
              </c:pt>
              <c:pt idx="3">
                <c:v>May 26</c:v>
              </c:pt>
              <c:pt idx="4">
                <c:v>Jun 26</c:v>
              </c:pt>
              <c:pt idx="5">
                <c:v>Jul 26</c:v>
              </c:pt>
            </c:strLit>
          </c:cat>
          <c:val>
            <c:numLit>
              <c:formatCode>0.0</c:formatCode>
              <c:ptCount val="6"/>
              <c:pt idx="0">
                <c:v>0</c:v>
              </c:pt>
              <c:pt idx="1">
                <c:v>0</c:v>
              </c:pt>
              <c:pt idx="2">
                <c:v>0</c:v>
              </c:pt>
              <c:pt idx="3">
                <c:v>0</c:v>
              </c:pt>
              <c:pt idx="4">
                <c:v>0</c:v>
              </c:pt>
              <c:pt idx="5">
                <c:v>0.018354513975694448</c:v>
              </c:pt>
            </c:numLit>
          </c:val>
        </c:ser>
        <c:dLbls>
          <c:showLegendKey val="0"/>
          <c:showVal val="0"/>
          <c:showCatName val="0"/>
          <c:showSerName val="0"/>
          <c:showPercent val="0"/>
          <c:showBubbleSize val="0"/>
          <c:showLeaderLines val="0"/>
        </c:dLbls>
        <c:axId val="48650112"/>
        <c:axId val="48672768"/>
      </c:lineChart>
      <c:catAx>
        <c:axId val="48650112"/>
        <c:scaling>
          <c:orientation val="minMax"/>
        </c:scaling>
        <c:delete val="0"/>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600">
                <a:solidFill>
                  <a:srgbClr val="666666"/>
                </a:solidFill>
              </a:defRPr>
            </a:pPr>
          </a:p>
        </c:txPr>
        <c:crossAx val="48672768"/>
      </c:catAx>
      <c:valAx>
        <c:axId val="48672768"/>
        <c:scaling>
          <c:orientation val="minMax"/>
        </c:scaling>
        <c:delete val="0"/>
        <c:axPos val="l"/>
        <c:majorGridlines>
          <c:spPr>
            <a:ln xmlns:a="http://schemas.openxmlformats.org/drawingml/2006/main" w="9525">
              <a:solidFill>
                <a:srgbClr val="E5EFEC"/>
              </a:solidFill>
              <a:prstDash val="solid"/>
            </a:ln>
          </c:spPr>
        </c:majorGridlines>
        <c:numFmt formatCode="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600">
                <a:solidFill>
                  <a:srgbClr val="666666"/>
                </a:solidFill>
              </a:defRPr>
            </a:pPr>
          </a:p>
        </c:txPr>
        <c:crossAx val="48650112"/>
        <c:crossBetween val="between"/>
      </c:valAx>
    </c:plotArea>
    <c:legend>
      <c:legendPos val="b"/>
      <c:overlay val="0"/>
      <c:txPr>
        <a:bodyPr xmlns:a="http://schemas.openxmlformats.org/drawingml/2006/main" anchorCtr="1"/>
        <a:lstStyle xmlns:a="http://schemas.openxmlformats.org/drawingml/2006/main"/>
        <a:p xmlns:a="http://schemas.openxmlformats.org/drawingml/2006/main">
          <a:pPr>
            <a:defRPr sz="600"/>
          </a:pPr>
        </a:p>
      </c:txPr>
    </c:legend>
    <c:plotVisOnly val="1"/>
  </c:chart>
</c:chartSpace>
</file>

<file path=ppt/slides/charts/chart19.xml><?xml version="1.0" encoding="utf-8"?>
<c:chartSpace xmlns:c="http://schemas.openxmlformats.org/drawingml/2006/chart">
  <c:lang val="en-US"/>
  <c:chart>
    <c:plotArea>
      <c:lineChart>
        <c:grouping val="standard"/>
        <c:ser>
          <c:idx val="0"/>
          <c:order val="0"/>
          <c:tx>
            <c:v>FSN/Nykaa</c:v>
          </c:tx>
          <c:spPr>
            <a:solidFill xmlns:a="http://schemas.openxmlformats.org/drawingml/2006/main">
              <a:srgbClr val="28A596"/>
            </a:solidFill>
            <a:ln xmlns:a="http://schemas.openxmlformats.org/drawingml/2006/main" w="28575">
              <a:solidFill>
                <a:srgbClr val="28A596"/>
              </a:solidFill>
            </a:ln>
          </c:spPr>
          <c:marker>
            <c:symbol val="none"/>
          </c:marker>
          <c:cat>
            <c:strLit>
              <c:ptCount val="7"/>
              <c:pt idx="0">
                <c:v>Jan</c:v>
              </c:pt>
              <c:pt idx="1">
                <c:v>Feb</c:v>
              </c:pt>
              <c:pt idx="2">
                <c:v>Mar</c:v>
              </c:pt>
              <c:pt idx="3">
                <c:v>Apr</c:v>
              </c:pt>
              <c:pt idx="4">
                <c:v>May</c:v>
              </c:pt>
              <c:pt idx="5">
                <c:v>Jun</c:v>
              </c:pt>
              <c:pt idx="6">
                <c:v>Jul</c:v>
              </c:pt>
            </c:strLit>
          </c:cat>
          <c:val>
            <c:numLit>
              <c:formatCode>0.0</c:formatCode>
              <c:ptCount val="7"/>
              <c:pt idx="0">
                <c:v>1.635787301352703</c:v>
              </c:pt>
              <c:pt idx="1">
                <c:v>1.681198560838982</c:v>
              </c:pt>
              <c:pt idx="2">
                <c:v>1.732099433008619</c:v>
              </c:pt>
              <c:pt idx="3">
                <c:v>2.288286214232375</c:v>
              </c:pt>
              <c:pt idx="4">
                <c:v>2.0787192463022595</c:v>
              </c:pt>
              <c:pt idx="5">
                <c:v>2.166747508322054</c:v>
              </c:pt>
              <c:pt idx="6">
                <c:v>2.0663963583023173</c:v>
              </c:pt>
            </c:numLit>
          </c:val>
        </c:ser>
        <c:dLbls>
          <c:showLegendKey val="0"/>
          <c:showVal val="1"/>
          <c:showCatName val="0"/>
          <c:showSerName val="0"/>
          <c:showPercent val="0"/>
          <c:showBubbleSize val="0"/>
          <c:showLeaderLines val="0"/>
        </c:dLbls>
        <c:axId val="48650112"/>
        <c:axId val="48672768"/>
      </c:lineChart>
      <c:catAx>
        <c:axId val="48650112"/>
        <c:scaling>
          <c:orientation val="minMax"/>
        </c:scaling>
        <c:delete val="0"/>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750">
                <a:solidFill>
                  <a:srgbClr val="666666"/>
                </a:solidFill>
              </a:defRPr>
            </a:pPr>
          </a:p>
        </c:txPr>
        <c:crossAx val="48672768"/>
      </c:catAx>
      <c:valAx>
        <c:axId val="48672768"/>
        <c:scaling>
          <c:orientation val="minMax"/>
        </c:scaling>
        <c:delete val="0"/>
        <c:axPos val="l"/>
        <c:majorGridlines>
          <c:spPr>
            <a:ln xmlns:a="http://schemas.openxmlformats.org/drawingml/2006/main" w="9525">
              <a:solidFill>
                <a:srgbClr val="E5EFEC"/>
              </a:solidFill>
              <a:prstDash val="solid"/>
            </a:ln>
          </c:spPr>
        </c:majorGridlines>
        <c:numFmt formatCode="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750">
                <a:solidFill>
                  <a:srgbClr val="666666"/>
                </a:solidFill>
              </a:defRPr>
            </a:pPr>
          </a:p>
        </c:txPr>
        <c:crossAx val="48650112"/>
        <c:crossBetween val="between"/>
      </c:valAx>
    </c:plotArea>
    <c:plotVisOnly val="1"/>
  </c:chart>
</c:chartSpace>
</file>

<file path=ppt/slides/charts/chart20.xml><?xml version="1.0" encoding="utf-8"?>
<c:chartSpace xmlns:c="http://schemas.openxmlformats.org/drawingml/2006/chart">
  <c:lang val="en-US"/>
  <c:chart>
    <c:plotArea>
      <c:barChart>
        <c:barDir val="col"/>
        <c:varyColors val="0"/>
        <c:ser>
          <c:idx val="0"/>
          <c:order val="0"/>
          <c:tx>
            <c:v>Contribution</c:v>
          </c:tx>
          <c:spPr>
            <a:solidFill xmlns:a="http://schemas.openxmlformats.org/drawingml/2006/main">
              <a:srgbClr val="28A596"/>
            </a:solidFill>
          </c:spPr>
          <c:cat>
            <c:strLit>
              <c:ptCount val="6"/>
              <c:pt idx="0">
                <c:v>North</c:v>
              </c:pt>
              <c:pt idx="1">
                <c:v>SOUTH-1</c:v>
              </c:pt>
              <c:pt idx="2">
                <c:v>WEST</c:v>
              </c:pt>
              <c:pt idx="3">
                <c:v>East</c:v>
              </c:pt>
              <c:pt idx="4">
                <c:v>SOUTH-2</c:v>
              </c:pt>
              <c:pt idx="5">
                <c:v>Central</c:v>
              </c:pt>
            </c:strLit>
          </c:cat>
          <c:val>
            <c:numLit>
              <c:formatCode>0.0</c:formatCode>
              <c:ptCount val="6"/>
              <c:pt idx="0">
                <c:v>9.243123252677371</c:v>
              </c:pt>
              <c:pt idx="1">
                <c:v>7.876316122867403</c:v>
              </c:pt>
              <c:pt idx="2">
                <c:v>6.584240628733099</c:v>
              </c:pt>
              <c:pt idx="3">
                <c:v>10.233721482045336</c:v>
              </c:pt>
              <c:pt idx="4">
                <c:v>6.374741757904187</c:v>
              </c:pt>
              <c:pt idx="5">
                <c:v>8.535988100989055</c:v>
              </c:pt>
            </c:numLit>
          </c:val>
        </c:ser>
        <c:dLbls>
          <c:showLegendKey val="0"/>
          <c:showVal val="0"/>
          <c:showCatName val="0"/>
          <c:showSerName val="0"/>
          <c:showPercent val="0"/>
          <c:showBubbleSize val="0"/>
          <c:showLeaderLines val="0"/>
        </c:dLbls>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600">
                <a:solidFill>
                  <a:srgbClr val="666666"/>
                </a:solidFill>
              </a:defRPr>
            </a:pPr>
          </a:p>
        </c:txPr>
        <c:crossAx val="48672768"/>
      </c:catAx>
      <c:valAx>
        <c:axId val="48672768"/>
        <c:scaling>
          <c:orientation val="minMax"/>
        </c:scaling>
        <c:delete val="0"/>
        <c:axPos val="l"/>
        <c:majorGridlines>
          <c:spPr>
            <a:ln xmlns:a="http://schemas.openxmlformats.org/drawingml/2006/main" w="9525">
              <a:solidFill>
                <a:srgbClr val="E5EFEC"/>
              </a:solidFill>
              <a:prstDash val="solid"/>
            </a:ln>
          </c:spPr>
        </c:majorGridlines>
        <c:numFmt formatCode="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600">
                <a:solidFill>
                  <a:srgbClr val="666666"/>
                </a:solidFill>
              </a:defRPr>
            </a:pPr>
          </a:p>
        </c:txPr>
        <c:crossAx val="48650112"/>
        <c:crossBetween val="between"/>
      </c:valAx>
    </c:plotArea>
    <c:plotVisOnly val="1"/>
  </c:chart>
</c:chartSpace>
</file>

<file path=ppt/slides/charts/chart21.xml><?xml version="1.0" encoding="utf-8"?>
<c:chartSpace xmlns:c="http://schemas.openxmlformats.org/drawingml/2006/chart">
  <c:lang val="en-US"/>
  <c:chart>
    <c:plotArea>
      <c:barChart>
        <c:barDir val="col"/>
        <c:varyColors val="0"/>
        <c:ser>
          <c:idx val="0"/>
          <c:order val="0"/>
          <c:tx>
            <c:v>NPI sales</c:v>
          </c:tx>
          <c:spPr>
            <a:solidFill xmlns:a="http://schemas.openxmlformats.org/drawingml/2006/main">
              <a:srgbClr val="2E7DA8"/>
            </a:solidFill>
          </c:spPr>
          <c:cat>
            <c:strLit>
              <c:ptCount val="8"/>
              <c:pt idx="0">
                <c:v>Reliance</c:v>
              </c:pt>
              <c:pt idx="1">
                <c:v>DMart</c:v>
              </c:pt>
              <c:pt idx="2">
                <c:v>Lulu</c:v>
              </c:pt>
              <c:pt idx="3">
                <c:v>FSN / Nykaa</c:v>
              </c:pt>
              <c:pt idx="4">
                <c:v>Health &amp; Gl…</c:v>
              </c:pt>
              <c:pt idx="5">
                <c:v>Metro</c:v>
              </c:pt>
              <c:pt idx="6">
                <c:v>Wellness Fo…</c:v>
              </c:pt>
              <c:pt idx="7">
                <c:v>Sancus(Rmt)</c:v>
              </c:pt>
            </c:strLit>
          </c:cat>
          <c:val>
            <c:numLit>
              <c:formatCode>0</c:formatCode>
              <c:ptCount val="8"/>
              <c:pt idx="0">
                <c:v>130.46875324374494</c:v>
              </c:pt>
              <c:pt idx="1">
                <c:v>97.70581176057532</c:v>
              </c:pt>
              <c:pt idx="2">
                <c:v>18.01568155770783</c:v>
              </c:pt>
              <c:pt idx="3">
                <c:v>12.933766985416367</c:v>
              </c:pt>
              <c:pt idx="4">
                <c:v>5.948510310734464</c:v>
              </c:pt>
              <c:pt idx="5">
                <c:v>5.021197693547858</c:v>
              </c:pt>
              <c:pt idx="6">
                <c:v>3.7383966675141247</c:v>
              </c:pt>
              <c:pt idx="7">
                <c:v>3.0031523551251014</c:v>
              </c:pt>
            </c:numLit>
          </c:val>
        </c:ser>
        <c:dLbls>
          <c:showLegendKey val="0"/>
          <c:showVal val="0"/>
          <c:showCatName val="0"/>
          <c:showSerName val="0"/>
          <c:showPercent val="0"/>
          <c:showBubbleSize val="0"/>
          <c:showLeaderLines val="0"/>
        </c:dLbls>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563">
                <a:solidFill>
                  <a:srgbClr val="666666"/>
                </a:solidFill>
              </a:defRPr>
            </a:pPr>
          </a:p>
        </c:txPr>
        <c:crossAx val="48672768"/>
      </c:catAx>
      <c:valAx>
        <c:axId val="48672768"/>
        <c:scaling>
          <c:orientation val="minMax"/>
        </c:scaling>
        <c:delete val="0"/>
        <c:axPos val="l"/>
        <c:majorGridlines>
          <c:spPr>
            <a:ln xmlns:a="http://schemas.openxmlformats.org/drawingml/2006/main" w="9525">
              <a:solidFill>
                <a:srgbClr val="E5EFEC"/>
              </a:solidFill>
              <a:prstDash val="solid"/>
            </a:ln>
          </c:spPr>
        </c:majorGridlines>
        <c:numFmt formatCod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600">
                <a:solidFill>
                  <a:srgbClr val="666666"/>
                </a:solidFill>
              </a:defRPr>
            </a:pPr>
          </a:p>
        </c:txPr>
        <c:crossAx val="48650112"/>
        <c:crossBetween val="between"/>
      </c:valAx>
    </c:plotArea>
    <c:plotVisOnly val="1"/>
  </c:chart>
</c:chartSpace>
</file>

<file path=ppt/slides/charts/chart22.xml><?xml version="1.0" encoding="utf-8"?>
<c:chartSpace xmlns:c="http://schemas.openxmlformats.org/drawingml/2006/chart">
  <c:lang val="en-US"/>
  <c:chart>
    <c:plotArea>
      <c:barChart>
        <c:barDir val="col"/>
        <c:varyColors val="0"/>
        <c:ser>
          <c:idx val="0"/>
          <c:order val="0"/>
          <c:tx>
            <c:v>Primary</c:v>
          </c:tx>
          <c:spPr>
            <a:solidFill xmlns:a="http://schemas.openxmlformats.org/drawingml/2006/main">
              <a:srgbClr val="2E7DA8"/>
            </a:solidFill>
          </c:spPr>
          <c:cat>
            <c:strLit>
              <c:ptCount val="8"/>
              <c:pt idx="0">
                <c:v>DMart</c:v>
              </c:pt>
              <c:pt idx="1">
                <c:v>Reliance</c:v>
              </c:pt>
              <c:pt idx="2">
                <c:v>Apollo</c:v>
              </c:pt>
              <c:pt idx="3">
                <c:v>FSN / Nykaa</c:v>
              </c:pt>
              <c:pt idx="4">
                <c:v>Lulu</c:v>
              </c:pt>
              <c:pt idx="5">
                <c:v>Wellness Forever</c:v>
              </c:pt>
              <c:pt idx="6">
                <c:v>Health &amp; Glow</c:v>
              </c:pt>
              <c:pt idx="7">
                <c:v>Metro</c:v>
              </c:pt>
            </c:strLit>
          </c:cat>
          <c:val>
            <c:numLit>
              <c:formatCode>0.0</c:formatCode>
              <c:ptCount val="8"/>
              <c:pt idx="0">
                <c:v>18.253556336</c:v>
              </c:pt>
              <c:pt idx="1">
                <c:v>15.661519612</c:v>
              </c:pt>
              <c:pt idx="2">
                <c:v>7.200340106</c:v>
              </c:pt>
              <c:pt idx="3">
                <c:v>2.07896006</c:v>
              </c:pt>
              <c:pt idx="4">
                <c:v>0</c:v>
              </c:pt>
              <c:pt idx="5">
                <c:v>0.485459574</c:v>
              </c:pt>
              <c:pt idx="6">
                <c:v>0.220295716</c:v>
              </c:pt>
              <c:pt idx="7">
                <c:v>1.844944906</c:v>
              </c:pt>
            </c:numLit>
          </c:val>
        </c:ser>
        <c:ser>
          <c:idx val="1"/>
          <c:order val="1"/>
          <c:tx>
            <c:v>Offtake</c:v>
          </c:tx>
          <c:spPr>
            <a:solidFill xmlns:a="http://schemas.openxmlformats.org/drawingml/2006/main">
              <a:srgbClr val="28A596"/>
            </a:solidFill>
          </c:spPr>
          <c:cat>
            <c:strLit>
              <c:ptCount val="8"/>
              <c:pt idx="0">
                <c:v>DMart</c:v>
              </c:pt>
              <c:pt idx="1">
                <c:v>Reliance</c:v>
              </c:pt>
              <c:pt idx="2">
                <c:v>Apollo</c:v>
              </c:pt>
              <c:pt idx="3">
                <c:v>FSN / Nykaa</c:v>
              </c:pt>
              <c:pt idx="4">
                <c:v>Lulu</c:v>
              </c:pt>
              <c:pt idx="5">
                <c:v>Wellness Forever</c:v>
              </c:pt>
              <c:pt idx="6">
                <c:v>Health &amp; Glow</c:v>
              </c:pt>
              <c:pt idx="7">
                <c:v>Metro</c:v>
              </c:pt>
            </c:strLit>
          </c:cat>
          <c:val>
            <c:numLit>
              <c:formatCode>0.0</c:formatCode>
              <c:ptCount val="8"/>
              <c:pt idx="0">
                <c:v>13.967178362391001</c:v>
              </c:pt>
              <c:pt idx="1">
                <c:v>8.056400748967</c:v>
              </c:pt>
              <c:pt idx="2">
                <c:v>7.181609127874</c:v>
              </c:pt>
              <c:pt idx="3">
                <c:v>2.066396358302</c:v>
              </c:pt>
              <c:pt idx="4">
                <c:v>1.697711524778</c:v>
              </c:pt>
              <c:pt idx="5">
                <c:v>0.720918141338</c:v>
              </c:pt>
              <c:pt idx="6">
                <c:v>0.5080814916140001</c:v>
              </c:pt>
              <c:pt idx="7">
                <c:v>0.485791399913</c:v>
              </c:pt>
            </c:numLit>
          </c:val>
        </c:ser>
        <c:dLbls>
          <c:showLegendKey val="0"/>
          <c:showVal val="0"/>
          <c:showCatName val="0"/>
          <c:showSerName val="0"/>
          <c:showPercent val="0"/>
          <c:showBubbleSize val="0"/>
          <c:showLeaderLines val="0"/>
        </c:dLbls>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750">
                <a:solidFill>
                  <a:srgbClr val="666666"/>
                </a:solidFill>
              </a:defRPr>
            </a:pPr>
          </a:p>
        </c:txPr>
        <c:crossAx val="48672768"/>
      </c:catAx>
      <c:valAx>
        <c:axId val="48672768"/>
        <c:scaling>
          <c:orientation val="minMax"/>
        </c:scaling>
        <c:delete val="0"/>
        <c:axPos val="l"/>
        <c:majorGridlines>
          <c:spPr>
            <a:ln xmlns:a="http://schemas.openxmlformats.org/drawingml/2006/main" w="9525">
              <a:solidFill>
                <a:srgbClr val="E5EFEC"/>
              </a:solidFill>
              <a:prstDash val="solid"/>
            </a:ln>
          </c:spPr>
        </c:majorGridlines>
        <c:numFmt formatCode="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750">
                <a:solidFill>
                  <a:srgbClr val="666666"/>
                </a:solidFill>
              </a:defRPr>
            </a:pPr>
          </a:p>
        </c:txPr>
        <c:crossAx val="48650112"/>
        <c:crossBetween val="between"/>
      </c:valAx>
    </c:plotArea>
    <c:legend>
      <c:legendPos val="b"/>
      <c:overlay val="0"/>
      <c:txPr>
        <a:bodyPr xmlns:a="http://schemas.openxmlformats.org/drawingml/2006/main" anchorCtr="1"/>
        <a:lstStyle xmlns:a="http://schemas.openxmlformats.org/drawingml/2006/main"/>
        <a:p xmlns:a="http://schemas.openxmlformats.org/drawingml/2006/main">
          <a:pPr>
            <a:defRPr sz="750"/>
          </a:pPr>
        </a:p>
      </c:txPr>
    </c:legend>
    <c:plotVisOnly val="1"/>
  </c:chart>
</c:chartSpace>
</file>

<file path=ppt/slides/charts/chart23.xml><?xml version="1.0" encoding="utf-8"?>
<c:chartSpace xmlns:c="http://schemas.openxmlformats.org/drawingml/2006/chart">
  <c:lang val="en-US"/>
  <c:chart>
    <c:plotArea>
      <c:barChart>
        <c:barDir val="col"/>
        <c:varyColors val="0"/>
        <c:ser>
          <c:idx val="0"/>
          <c:order val="0"/>
          <c:tx>
            <c:v>Primary</c:v>
          </c:tx>
          <c:spPr>
            <a:solidFill xmlns:a="http://schemas.openxmlformats.org/drawingml/2006/main">
              <a:srgbClr val="2E7DA8"/>
            </a:solidFill>
          </c:spPr>
          <c:cat>
            <c:strLit>
              <c:ptCount val="5"/>
              <c:pt idx="0">
                <c:v>Mamaearth</c:v>
              </c:pt>
              <c:pt idx="1">
                <c:v>The Derma Co.</c:v>
              </c:pt>
              <c:pt idx="2">
                <c:v>Aqualogica</c:v>
              </c:pt>
              <c:pt idx="3">
                <c:v>BBlunt</c:v>
              </c:pt>
              <c:pt idx="4">
                <c:v>Dr. Sheth's</c:v>
              </c:pt>
            </c:strLit>
          </c:cat>
          <c:val>
            <c:numLit>
              <c:formatCode>0.0</c:formatCode>
              <c:ptCount val="5"/>
              <c:pt idx="0">
                <c:v>33.377952082</c:v>
              </c:pt>
              <c:pt idx="1">
                <c:v>15.191596085</c:v>
              </c:pt>
              <c:pt idx="2">
                <c:v>0.412349412</c:v>
              </c:pt>
              <c:pt idx="3">
                <c:v>0.18023983300000002</c:v>
              </c:pt>
              <c:pt idx="4">
                <c:v>0</c:v>
              </c:pt>
            </c:numLit>
          </c:val>
        </c:ser>
        <c:ser>
          <c:idx val="1"/>
          <c:order val="1"/>
          <c:tx>
            <c:v>Offtake</c:v>
          </c:tx>
          <c:spPr>
            <a:solidFill xmlns:a="http://schemas.openxmlformats.org/drawingml/2006/main">
              <a:srgbClr val="28A596"/>
            </a:solidFill>
          </c:spPr>
          <c:cat>
            <c:strLit>
              <c:ptCount val="5"/>
              <c:pt idx="0">
                <c:v>Mamaearth</c:v>
              </c:pt>
              <c:pt idx="1">
                <c:v>The Derma Co.</c:v>
              </c:pt>
              <c:pt idx="2">
                <c:v>Aqualogica</c:v>
              </c:pt>
              <c:pt idx="3">
                <c:v>BBlunt</c:v>
              </c:pt>
              <c:pt idx="4">
                <c:v>Dr. Sheth's</c:v>
              </c:pt>
            </c:strLit>
          </c:cat>
          <c:val>
            <c:numLit>
              <c:formatCode>0.0</c:formatCode>
              <c:ptCount val="5"/>
              <c:pt idx="0">
                <c:v>24.488127502297</c:v>
              </c:pt>
              <c:pt idx="1">
                <c:v>11.027240750433</c:v>
              </c:pt>
              <c:pt idx="2">
                <c:v>0.483263033179</c:v>
              </c:pt>
              <c:pt idx="3">
                <c:v>0.063422062106</c:v>
              </c:pt>
              <c:pt idx="4">
                <c:v>0.03335883578</c:v>
              </c:pt>
            </c:numLit>
          </c:val>
        </c:ser>
        <c:dLbls>
          <c:showLegendKey val="0"/>
          <c:showVal val="0"/>
          <c:showCatName val="0"/>
          <c:showSerName val="0"/>
          <c:showPercent val="0"/>
          <c:showBubbleSize val="0"/>
          <c:showLeaderLines val="0"/>
        </c:dLbls>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750">
                <a:solidFill>
                  <a:srgbClr val="666666"/>
                </a:solidFill>
              </a:defRPr>
            </a:pPr>
          </a:p>
        </c:txPr>
        <c:crossAx val="48672768"/>
      </c:catAx>
      <c:valAx>
        <c:axId val="48672768"/>
        <c:scaling>
          <c:orientation val="minMax"/>
        </c:scaling>
        <c:delete val="0"/>
        <c:axPos val="l"/>
        <c:majorGridlines>
          <c:spPr>
            <a:ln xmlns:a="http://schemas.openxmlformats.org/drawingml/2006/main" w="9525">
              <a:solidFill>
                <a:srgbClr val="E5EFEC"/>
              </a:solidFill>
              <a:prstDash val="solid"/>
            </a:ln>
          </c:spPr>
        </c:majorGridlines>
        <c:numFmt formatCode="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750">
                <a:solidFill>
                  <a:srgbClr val="666666"/>
                </a:solidFill>
              </a:defRPr>
            </a:pPr>
          </a:p>
        </c:txPr>
        <c:crossAx val="48650112"/>
        <c:crossBetween val="between"/>
      </c:valAx>
    </c:plotArea>
    <c:legend>
      <c:legendPos val="b"/>
      <c:overlay val="0"/>
      <c:txPr>
        <a:bodyPr xmlns:a="http://schemas.openxmlformats.org/drawingml/2006/main" anchorCtr="1"/>
        <a:lstStyle xmlns:a="http://schemas.openxmlformats.org/drawingml/2006/main"/>
        <a:p xmlns:a="http://schemas.openxmlformats.org/drawingml/2006/main">
          <a:pPr>
            <a:defRPr sz="750"/>
          </a:pPr>
        </a:p>
      </c:txPr>
    </c:legend>
    <c:plotVisOnly val="1"/>
  </c:chart>
</c:chartSpace>
</file>

<file path=ppt/slides/charts/chart24.xml><?xml version="1.0" encoding="utf-8"?>
<c:chartSpace xmlns:c="http://schemas.openxmlformats.org/drawingml/2006/chart">
  <c:lang val="en-US"/>
  <c:chart>
    <c:plotArea>
      <c:lineChart>
        <c:grouping val="standard"/>
        <c:ser>
          <c:idx val="0"/>
          <c:order val="0"/>
          <c:tx>
            <c:v>Face Cleanser</c:v>
          </c:tx>
          <c:spPr>
            <a:solidFill xmlns:a="http://schemas.openxmlformats.org/drawingml/2006/main">
              <a:srgbClr val="28A596"/>
            </a:solidFill>
            <a:ln xmlns:a="http://schemas.openxmlformats.org/drawingml/2006/main" w="19050">
              <a:solidFill>
                <a:srgbClr val="28A596"/>
              </a:solidFill>
            </a:ln>
          </c:spPr>
          <c:marker>
            <c:symbol val="none"/>
          </c:marker>
          <c:cat>
            <c:strLit>
              <c:ptCount val="6"/>
              <c:pt idx="0">
                <c:v>Feb 26</c:v>
              </c:pt>
              <c:pt idx="1">
                <c:v>Mar 26</c:v>
              </c:pt>
              <c:pt idx="2">
                <c:v>Apr 26</c:v>
              </c:pt>
              <c:pt idx="3">
                <c:v>May 26</c:v>
              </c:pt>
              <c:pt idx="4">
                <c:v>Jun 26</c:v>
              </c:pt>
              <c:pt idx="5">
                <c:v>Jul 26</c:v>
              </c:pt>
            </c:strLit>
          </c:cat>
          <c:val>
            <c:numLit>
              <c:formatCode>0.0</c:formatCode>
              <c:ptCount val="6"/>
              <c:pt idx="0">
                <c:v>7.0274458695339</c:v>
              </c:pt>
              <c:pt idx="1">
                <c:v>8.1685070095939</c:v>
              </c:pt>
              <c:pt idx="2">
                <c:v>8.54747040608769</c:v>
              </c:pt>
              <c:pt idx="3">
                <c:v>9.625725271531207</c:v>
              </c:pt>
              <c:pt idx="4">
                <c:v>9.65129313840557</c:v>
              </c:pt>
              <c:pt idx="5">
                <c:v>8.525699212310604</c:v>
              </c:pt>
            </c:numLit>
          </c:val>
        </c:ser>
        <c:ser>
          <c:idx val="1"/>
          <c:order val="1"/>
          <c:tx>
            <c:v>Shampoo</c:v>
          </c:tx>
          <c:spPr>
            <a:solidFill xmlns:a="http://schemas.openxmlformats.org/drawingml/2006/main">
              <a:srgbClr val="2E7DA8"/>
            </a:solidFill>
            <a:ln xmlns:a="http://schemas.openxmlformats.org/drawingml/2006/main" w="19050">
              <a:solidFill>
                <a:srgbClr val="2E7DA8"/>
              </a:solidFill>
            </a:ln>
          </c:spPr>
          <c:marker>
            <c:symbol val="none"/>
          </c:marker>
          <c:cat>
            <c:strLit>
              <c:ptCount val="6"/>
              <c:pt idx="0">
                <c:v>Feb 26</c:v>
              </c:pt>
              <c:pt idx="1">
                <c:v>Mar 26</c:v>
              </c:pt>
              <c:pt idx="2">
                <c:v>Apr 26</c:v>
              </c:pt>
              <c:pt idx="3">
                <c:v>May 26</c:v>
              </c:pt>
              <c:pt idx="4">
                <c:v>Jun 26</c:v>
              </c:pt>
              <c:pt idx="5">
                <c:v>Jul 26</c:v>
              </c:pt>
            </c:strLit>
          </c:cat>
          <c:val>
            <c:numLit>
              <c:formatCode>0.0</c:formatCode>
              <c:ptCount val="6"/>
              <c:pt idx="0">
                <c:v>4.806642209242419</c:v>
              </c:pt>
              <c:pt idx="1">
                <c:v>5.382461690234582</c:v>
              </c:pt>
              <c:pt idx="2">
                <c:v>6.112540917298102</c:v>
              </c:pt>
              <c:pt idx="3">
                <c:v>6.680284398525697</c:v>
              </c:pt>
              <c:pt idx="4">
                <c:v>6.869488657303347</c:v>
              </c:pt>
              <c:pt idx="5">
                <c:v>6.950421570739898</c:v>
              </c:pt>
            </c:numLit>
          </c:val>
        </c:ser>
        <c:ser>
          <c:idx val="2"/>
          <c:order val="2"/>
          <c:tx>
            <c:v>Sun Care</c:v>
          </c:tx>
          <c:spPr>
            <a:solidFill xmlns:a="http://schemas.openxmlformats.org/drawingml/2006/main">
              <a:srgbClr val="D6544D"/>
            </a:solidFill>
            <a:ln xmlns:a="http://schemas.openxmlformats.org/drawingml/2006/main" w="19050">
              <a:solidFill>
                <a:srgbClr val="D6544D"/>
              </a:solidFill>
            </a:ln>
          </c:spPr>
          <c:marker>
            <c:symbol val="none"/>
          </c:marker>
          <c:cat>
            <c:strLit>
              <c:ptCount val="6"/>
              <c:pt idx="0">
                <c:v>Feb 26</c:v>
              </c:pt>
              <c:pt idx="1">
                <c:v>Mar 26</c:v>
              </c:pt>
              <c:pt idx="2">
                <c:v>Apr 26</c:v>
              </c:pt>
              <c:pt idx="3">
                <c:v>May 26</c:v>
              </c:pt>
              <c:pt idx="4">
                <c:v>Jun 26</c:v>
              </c:pt>
              <c:pt idx="5">
                <c:v>Jul 26</c:v>
              </c:pt>
            </c:strLit>
          </c:cat>
          <c:val>
            <c:numLit>
              <c:formatCode>0.0</c:formatCode>
              <c:ptCount val="6"/>
              <c:pt idx="0">
                <c:v>1.5518222267796629</c:v>
              </c:pt>
              <c:pt idx="1">
                <c:v>2.7323272933050897</c:v>
              </c:pt>
              <c:pt idx="2">
                <c:v>3.095018487573208</c:v>
              </c:pt>
              <c:pt idx="3">
                <c:v>2.954287254110174</c:v>
              </c:pt>
              <c:pt idx="4">
                <c:v>1.9909915966746283</c:v>
              </c:pt>
              <c:pt idx="5">
                <c:v>1.3040150267977844</c:v>
              </c:pt>
            </c:numLit>
          </c:val>
        </c:ser>
        <c:dLbls>
          <c:showLegendKey val="0"/>
          <c:showVal val="0"/>
          <c:showCatName val="0"/>
          <c:showSerName val="0"/>
          <c:showPercent val="0"/>
          <c:showBubbleSize val="0"/>
          <c:showLeaderLines val="0"/>
        </c:dLbls>
        <c:axId val="48650112"/>
        <c:axId val="48672768"/>
      </c:lineChart>
      <c:catAx>
        <c:axId val="48650112"/>
        <c:scaling>
          <c:orientation val="minMax"/>
        </c:scaling>
        <c:delete val="0"/>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600">
                <a:solidFill>
                  <a:srgbClr val="666666"/>
                </a:solidFill>
              </a:defRPr>
            </a:pPr>
          </a:p>
        </c:txPr>
        <c:crossAx val="48672768"/>
      </c:catAx>
      <c:valAx>
        <c:axId val="48672768"/>
        <c:scaling>
          <c:orientation val="minMax"/>
        </c:scaling>
        <c:delete val="0"/>
        <c:axPos val="l"/>
        <c:majorGridlines>
          <c:spPr>
            <a:ln xmlns:a="http://schemas.openxmlformats.org/drawingml/2006/main" w="9525">
              <a:solidFill>
                <a:srgbClr val="E5EFEC"/>
              </a:solidFill>
              <a:prstDash val="solid"/>
            </a:ln>
          </c:spPr>
        </c:majorGridlines>
        <c:numFmt formatCode="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600">
                <a:solidFill>
                  <a:srgbClr val="666666"/>
                </a:solidFill>
              </a:defRPr>
            </a:pPr>
          </a:p>
        </c:txPr>
        <c:crossAx val="48650112"/>
        <c:crossBetween val="between"/>
      </c:valAx>
    </c:plotArea>
    <c:legend>
      <c:legendPos val="b"/>
      <c:overlay val="0"/>
      <c:txPr>
        <a:bodyPr xmlns:a="http://schemas.openxmlformats.org/drawingml/2006/main" anchorCtr="1"/>
        <a:lstStyle xmlns:a="http://schemas.openxmlformats.org/drawingml/2006/main"/>
        <a:p xmlns:a="http://schemas.openxmlformats.org/drawingml/2006/main">
          <a:pPr>
            <a:defRPr sz="600"/>
          </a:pPr>
        </a:p>
      </c:txPr>
    </c:legend>
    <c:plotVisOnly val="1"/>
  </c:chart>
</c:chartSpace>
</file>

<file path=ppt/slides/charts/chart25.xml><?xml version="1.0" encoding="utf-8"?>
<c:chartSpace xmlns:c="http://schemas.openxmlformats.org/drawingml/2006/chart">
  <c:lang val="en-US"/>
  <c:chart>
    <c:plotArea>
      <c:lineChart>
        <c:grouping val="standard"/>
        <c:ser>
          <c:idx val="0"/>
          <c:order val="0"/>
          <c:tx>
            <c:v>Face Cleanser</c:v>
          </c:tx>
          <c:spPr>
            <a:solidFill xmlns:a="http://schemas.openxmlformats.org/drawingml/2006/main">
              <a:srgbClr val="28A596"/>
            </a:solidFill>
            <a:ln xmlns:a="http://schemas.openxmlformats.org/drawingml/2006/main" w="19050">
              <a:solidFill>
                <a:srgbClr val="28A596"/>
              </a:solidFill>
            </a:ln>
          </c:spPr>
          <c:marker>
            <c:symbol val="none"/>
          </c:marker>
          <c:cat>
            <c:strLit>
              <c:ptCount val="6"/>
              <c:pt idx="0">
                <c:v>Feb 26</c:v>
              </c:pt>
              <c:pt idx="1">
                <c:v>Mar 26</c:v>
              </c:pt>
              <c:pt idx="2">
                <c:v>Apr 26</c:v>
              </c:pt>
              <c:pt idx="3">
                <c:v>May 26</c:v>
              </c:pt>
              <c:pt idx="4">
                <c:v>Jun 26</c:v>
              </c:pt>
              <c:pt idx="5">
                <c:v>Jul 26</c:v>
              </c:pt>
            </c:strLit>
          </c:cat>
          <c:val>
            <c:numLit>
              <c:formatCode>0.0</c:formatCode>
              <c:ptCount val="6"/>
              <c:pt idx="0">
                <c:v>2.251536238546865</c:v>
              </c:pt>
              <c:pt idx="1">
                <c:v>2.7532157369945676</c:v>
              </c:pt>
              <c:pt idx="2">
                <c:v>3.236738844446417</c:v>
              </c:pt>
              <c:pt idx="3">
                <c:v>4.628215136648375</c:v>
              </c:pt>
              <c:pt idx="4">
                <c:v>4.831780463592964</c:v>
              </c:pt>
              <c:pt idx="5">
                <c:v>7.131230103308225</c:v>
              </c:pt>
            </c:numLit>
          </c:val>
        </c:ser>
        <c:ser>
          <c:idx val="1"/>
          <c:order val="1"/>
          <c:tx>
            <c:v>Sun Care</c:v>
          </c:tx>
          <c:spPr>
            <a:solidFill xmlns:a="http://schemas.openxmlformats.org/drawingml/2006/main">
              <a:srgbClr val="2E7DA8"/>
            </a:solidFill>
            <a:ln xmlns:a="http://schemas.openxmlformats.org/drawingml/2006/main" w="19050">
              <a:solidFill>
                <a:srgbClr val="2E7DA8"/>
              </a:solidFill>
            </a:ln>
          </c:spPr>
          <c:marker>
            <c:symbol val="none"/>
          </c:marker>
          <c:cat>
            <c:strLit>
              <c:ptCount val="6"/>
              <c:pt idx="0">
                <c:v>Feb 26</c:v>
              </c:pt>
              <c:pt idx="1">
                <c:v>Mar 26</c:v>
              </c:pt>
              <c:pt idx="2">
                <c:v>Apr 26</c:v>
              </c:pt>
              <c:pt idx="3">
                <c:v>May 26</c:v>
              </c:pt>
              <c:pt idx="4">
                <c:v>Jun 26</c:v>
              </c:pt>
              <c:pt idx="5">
                <c:v>Jul 26</c:v>
              </c:pt>
            </c:strLit>
          </c:cat>
          <c:val>
            <c:numLit>
              <c:formatCode>0.0</c:formatCode>
              <c:ptCount val="6"/>
              <c:pt idx="0">
                <c:v>1.0422448786016945</c:v>
              </c:pt>
              <c:pt idx="1">
                <c:v>1.8094295477288134</c:v>
              </c:pt>
              <c:pt idx="2">
                <c:v>2.2740327432357414</c:v>
              </c:pt>
              <c:pt idx="3">
                <c:v>3.1776238722457544</c:v>
              </c:pt>
              <c:pt idx="4">
                <c:v>2.0479297918304478</c:v>
              </c:pt>
              <c:pt idx="5">
                <c:v>1.9914586256112359</c:v>
              </c:pt>
            </c:numLit>
          </c:val>
        </c:ser>
        <c:ser>
          <c:idx val="2"/>
          <c:order val="2"/>
          <c:tx>
            <c:v>Face Serum</c:v>
          </c:tx>
          <c:spPr>
            <a:solidFill xmlns:a="http://schemas.openxmlformats.org/drawingml/2006/main">
              <a:srgbClr val="D6544D"/>
            </a:solidFill>
            <a:ln xmlns:a="http://schemas.openxmlformats.org/drawingml/2006/main" w="19050">
              <a:solidFill>
                <a:srgbClr val="D6544D"/>
              </a:solidFill>
            </a:ln>
          </c:spPr>
          <c:marker>
            <c:symbol val="none"/>
          </c:marker>
          <c:cat>
            <c:strLit>
              <c:ptCount val="6"/>
              <c:pt idx="0">
                <c:v>Feb 26</c:v>
              </c:pt>
              <c:pt idx="1">
                <c:v>Mar 26</c:v>
              </c:pt>
              <c:pt idx="2">
                <c:v>Apr 26</c:v>
              </c:pt>
              <c:pt idx="3">
                <c:v>May 26</c:v>
              </c:pt>
              <c:pt idx="4">
                <c:v>Jun 26</c:v>
              </c:pt>
              <c:pt idx="5">
                <c:v>Jul 26</c:v>
              </c:pt>
            </c:strLit>
          </c:cat>
          <c:val>
            <c:numLit>
              <c:formatCode>0.0</c:formatCode>
              <c:ptCount val="6"/>
              <c:pt idx="0">
                <c:v>0.5634957294491558</c:v>
              </c:pt>
              <c:pt idx="1">
                <c:v>0.5747576362203403</c:v>
              </c:pt>
              <c:pt idx="2">
                <c:v>0.6938144442486761</c:v>
              </c:pt>
              <c:pt idx="3">
                <c:v>0.6606829137711888</c:v>
              </c:pt>
              <c:pt idx="4">
                <c:v>0.6634509447254208</c:v>
              </c:pt>
              <c:pt idx="5">
                <c:v>0.6284620313031921</c:v>
              </c:pt>
            </c:numLit>
          </c:val>
        </c:ser>
        <c:dLbls>
          <c:showLegendKey val="0"/>
          <c:showVal val="0"/>
          <c:showCatName val="0"/>
          <c:showSerName val="0"/>
          <c:showPercent val="0"/>
          <c:showBubbleSize val="0"/>
          <c:showLeaderLines val="0"/>
        </c:dLbls>
        <c:axId val="48650112"/>
        <c:axId val="48672768"/>
      </c:lineChart>
      <c:catAx>
        <c:axId val="48650112"/>
        <c:scaling>
          <c:orientation val="minMax"/>
        </c:scaling>
        <c:delete val="0"/>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600">
                <a:solidFill>
                  <a:srgbClr val="666666"/>
                </a:solidFill>
              </a:defRPr>
            </a:pPr>
          </a:p>
        </c:txPr>
        <c:crossAx val="48672768"/>
      </c:catAx>
      <c:valAx>
        <c:axId val="48672768"/>
        <c:scaling>
          <c:orientation val="minMax"/>
        </c:scaling>
        <c:delete val="0"/>
        <c:axPos val="l"/>
        <c:majorGridlines>
          <c:spPr>
            <a:ln xmlns:a="http://schemas.openxmlformats.org/drawingml/2006/main" w="9525">
              <a:solidFill>
                <a:srgbClr val="E5EFEC"/>
              </a:solidFill>
              <a:prstDash val="solid"/>
            </a:ln>
          </c:spPr>
        </c:majorGridlines>
        <c:numFmt formatCode="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600">
                <a:solidFill>
                  <a:srgbClr val="666666"/>
                </a:solidFill>
              </a:defRPr>
            </a:pPr>
          </a:p>
        </c:txPr>
        <c:crossAx val="48650112"/>
        <c:crossBetween val="between"/>
      </c:valAx>
    </c:plotArea>
    <c:legend>
      <c:legendPos val="b"/>
      <c:overlay val="0"/>
      <c:txPr>
        <a:bodyPr xmlns:a="http://schemas.openxmlformats.org/drawingml/2006/main" anchorCtr="1"/>
        <a:lstStyle xmlns:a="http://schemas.openxmlformats.org/drawingml/2006/main"/>
        <a:p xmlns:a="http://schemas.openxmlformats.org/drawingml/2006/main">
          <a:pPr>
            <a:defRPr sz="600"/>
          </a:pPr>
        </a:p>
      </c:txPr>
    </c:legend>
    <c:plotVisOnly val="1"/>
  </c:chart>
</c:chartSpace>
</file>

<file path=ppt/slides/slide1.xml><?xml version="1.0" encoding="utf-8"?>
<p:sld xmlns:p="http://schemas.openxmlformats.org/presentationml/2006/main">
  <p:cSld>
    <p:bg>
      <p:bgPr>
        <a:solidFill xmlns:a="http://schemas.openxmlformats.org/drawingml/2006/main">
          <a:srgbClr val="F7FBFA"/>
        </a:solidFill>
      </p:bgPr>
    </p:bg>
    <p:spTree>
      <p:nvGrpSpPr>
        <p:cNvPr id="1" name=""/>
        <p:cNvGrpSpPr/>
        <p:nvPr/>
      </p:nvGrpSpPr>
      <p:grpSpPr>
        <a:xfrm xmlns:a="http://schemas.openxmlformats.org/drawingml/2006/main"/>
      </p:grpSpPr>
      <p:sp>
        <p:nvSpPr>
          <p:cNvPr id="126" name="">
            <a:extLst xmlns:a="http://schemas.openxmlformats.org/drawingml/2006/main">
              <a:ext uri="{FF2B5EF4-FFF2-40B4-BE49-F238E27FC236}">
                <a16:creationId xmlns:a16="http://schemas.microsoft.com/office/drawing/2014/main" id="{2DAE02CE-57D4-4F3A-9C1A-FB6D4AFE4ECC}"/>
              </a:ext>
            </a:extLst>
          </p:cNvPr>
          <p:cNvSpPr>
            <a:spLocks xmlns:a="http://schemas.openxmlformats.org/drawingml/2006/main" noGrp="1"/>
          </p:cNvSpPr>
          <p:nvPr/>
        </p:nvSpPr>
        <p:spPr>
          <a:xfrm xmlns:a="http://schemas.openxmlformats.org/drawingml/2006/main">
            <a:off x="0" y="0"/>
            <a:ext cx="6858000" cy="1000125"/>
          </a:xfrm>
          <a:prstGeom xmlns:a="http://schemas.openxmlformats.org/drawingml/2006/main" prst="rect">
            <a:avLst/>
          </a:prstGeom>
          <a:solidFill xmlns:a="http://schemas.openxmlformats.org/drawingml/2006/main">
            <a:srgbClr val="116F68"/>
          </a:solidFill>
          <a:ln xmlns:a="http://schemas.openxmlformats.org/drawingml/2006/main" w="0">
            <a:solidFill>
              <a:srgbClr val="116F68"/>
            </a:solidFill>
            <a:prstDash val="solid"/>
          </a:ln>
        </p:spPr>
      </p:sp>
      <p:sp>
        <p:nvSpPr>
          <p:cNvPr id="2" name="">
            <a:extLst xmlns:a="http://schemas.openxmlformats.org/drawingml/2006/main">
              <a:ext uri="{FF2B5EF4-FFF2-40B4-BE49-F238E27FC236}">
                <a16:creationId xmlns:a16="http://schemas.microsoft.com/office/drawing/2014/main" id="{9BE82138-0F1A-4F75-AA02-71907B2A1BBF}"/>
              </a:ext>
            </a:extLst>
          </p:cNvPr>
          <p:cNvSpPr>
            <a:spLocks xmlns:a="http://schemas.openxmlformats.org/drawingml/2006/main" noGrp="1"/>
          </p:cNvSpPr>
          <p:nvPr/>
        </p:nvSpPr>
        <p:spPr>
          <a:xfrm xmlns:a="http://schemas.openxmlformats.org/drawingml/2006/main">
            <a:off x="361950" y="228600"/>
            <a:ext cx="59055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2025" b="1">
                <a:solidFill>
                  <a:srgbClr val="FFFFFF"/>
                </a:solidFill>
              </a:defRPr>
            </a:pPr>
            <a:r>
              <a:rPr sz="2025" b="1">
                <a:solidFill>
                  <a:srgbClr val="FFFFFF"/>
                </a:solidFill>
              </a:rPr>
              <a:t>JULY MODERN TRADE GROWTH COMMAND CENTER</a:t>
            </a:r>
          </a:p>
        </p:txBody>
      </p:sp>
      <p:sp>
        <p:nvSpPr>
          <p:cNvPr id="3" name="">
            <a:extLst xmlns:a="http://schemas.openxmlformats.org/drawingml/2006/main">
              <a:ext uri="{FF2B5EF4-FFF2-40B4-BE49-F238E27FC236}">
                <a16:creationId xmlns:a16="http://schemas.microsoft.com/office/drawing/2014/main" id="{AB6E8D31-83B6-435A-9391-6FF21EFF8B23}"/>
              </a:ext>
            </a:extLst>
          </p:cNvPr>
          <p:cNvSpPr>
            <a:spLocks xmlns:a="http://schemas.openxmlformats.org/drawingml/2006/main" noGrp="1"/>
          </p:cNvSpPr>
          <p:nvPr/>
        </p:nvSpPr>
        <p:spPr>
          <a:xfrm xmlns:a="http://schemas.openxmlformats.org/drawingml/2006/main">
            <a:off x="381000" y="695325"/>
            <a:ext cx="57150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75" b="0">
                <a:solidFill>
                  <a:srgbClr val="DFF2ED"/>
                </a:solidFill>
              </a:defRPr>
            </a:pPr>
            <a:r>
              <a:rPr sz="975" b="0">
                <a:solidFill>
                  <a:srgbClr val="DFF2ED"/>
                </a:solidFill>
              </a:rPr>
              <a:t>Honasa Consumer | Primary, offtake, portfolio and execution | July 2026</a:t>
            </a:r>
          </a:p>
        </p:txBody>
      </p:sp>
      <p:sp>
        <p:nvSpPr>
          <p:cNvPr id="4" name="">
            <a:extLst xmlns:a="http://schemas.openxmlformats.org/drawingml/2006/main">
              <a:ext uri="{FF2B5EF4-FFF2-40B4-BE49-F238E27FC236}">
                <a16:creationId xmlns:a16="http://schemas.microsoft.com/office/drawing/2014/main" id="{A4B9596B-084C-4722-99B0-009BE7AB42EA}"/>
              </a:ext>
            </a:extLst>
          </p:cNvPr>
          <p:cNvSpPr>
            <a:spLocks xmlns:a="http://schemas.openxmlformats.org/drawingml/2006/main" noGrp="1"/>
          </p:cNvSpPr>
          <p:nvPr/>
        </p:nvSpPr>
        <p:spPr>
          <a:xfrm xmlns:a="http://schemas.openxmlformats.org/drawingml/2006/main">
            <a:off x="6191250" y="361950"/>
            <a:ext cx="3429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900" b="1">
                <a:solidFill>
                  <a:srgbClr val="FFFFFF"/>
                </a:solidFill>
              </a:defRPr>
            </a:pPr>
            <a:r>
              <a:rPr sz="900" b="1">
                <a:solidFill>
                  <a:srgbClr val="FFFFFF"/>
                </a:solidFill>
              </a:rPr>
              <a:t>01</a:t>
            </a:r>
          </a:p>
        </p:txBody>
      </p:sp>
      <p:sp>
        <p:nvSpPr>
          <p:cNvPr id="5" name="">
            <a:extLst xmlns:a="http://schemas.openxmlformats.org/drawingml/2006/main">
              <a:ext uri="{FF2B5EF4-FFF2-40B4-BE49-F238E27FC236}">
                <a16:creationId xmlns:a16="http://schemas.microsoft.com/office/drawing/2014/main" id="{526D3E93-B16E-4F07-B6BC-191E0FFC43D0}"/>
              </a:ext>
            </a:extLst>
          </p:cNvPr>
          <p:cNvSpPr>
            <a:spLocks xmlns:a="http://schemas.openxmlformats.org/drawingml/2006/main" noGrp="1"/>
          </p:cNvSpPr>
          <p:nvPr/>
        </p:nvSpPr>
        <p:spPr>
          <a:xfrm xmlns:a="http://schemas.openxmlformats.org/drawingml/2006/main">
            <a:off x="266700" y="1123950"/>
            <a:ext cx="6324600" cy="1162050"/>
          </a:xfrm>
          <a:prstGeom xmlns:a="http://schemas.openxmlformats.org/drawingml/2006/main" prst="roundRect">
            <a:avLst>
              <a:gd name="adj" fmla="val 6557"/>
            </a:avLst>
          </a:prstGeom>
          <a:solidFill xmlns:a="http://schemas.openxmlformats.org/drawingml/2006/main">
            <a:srgbClr val="DFF2ED"/>
          </a:solidFill>
          <a:ln xmlns:a="http://schemas.openxmlformats.org/drawingml/2006/main" w="9525">
            <a:solidFill>
              <a:srgbClr val="28A596"/>
            </a:solidFill>
            <a:prstDash val="solid"/>
          </a:ln>
        </p:spPr>
      </p:sp>
      <p:sp>
        <p:nvSpPr>
          <p:cNvPr id="6" name="">
            <a:extLst xmlns:a="http://schemas.openxmlformats.org/drawingml/2006/main">
              <a:ext uri="{FF2B5EF4-FFF2-40B4-BE49-F238E27FC236}">
                <a16:creationId xmlns:a16="http://schemas.microsoft.com/office/drawing/2014/main" id="{18D08C73-BC3D-4242-A347-95E3AD62ADBD}"/>
              </a:ext>
            </a:extLst>
          </p:cNvPr>
          <p:cNvSpPr>
            <a:spLocks xmlns:a="http://schemas.openxmlformats.org/drawingml/2006/main" noGrp="1"/>
          </p:cNvSpPr>
          <p:nvPr/>
        </p:nvSpPr>
        <p:spPr>
          <a:xfrm xmlns:a="http://schemas.openxmlformats.org/drawingml/2006/main">
            <a:off x="419100" y="1238250"/>
            <a:ext cx="5905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650" b="1">
                <a:solidFill>
                  <a:srgbClr val="116F68"/>
                </a:solidFill>
              </a:defRPr>
            </a:pPr>
            <a:r>
              <a:rPr sz="1650" b="1">
                <a:solidFill>
                  <a:srgbClr val="116F68"/>
                </a:solidFill>
              </a:rPr>
              <a:t>₹36.1 Cr July offtake | 73.4% flow conversion</a:t>
            </a:r>
          </a:p>
        </p:txBody>
      </p:sp>
      <p:sp>
        <p:nvSpPr>
          <p:cNvPr id="7" name="">
            <a:extLst xmlns:a="http://schemas.openxmlformats.org/drawingml/2006/main">
              <a:ext uri="{FF2B5EF4-FFF2-40B4-BE49-F238E27FC236}">
                <a16:creationId xmlns:a16="http://schemas.microsoft.com/office/drawing/2014/main" id="{3E940D65-91B1-42B5-A1A3-2D2B64FF0600}"/>
              </a:ext>
            </a:extLst>
          </p:cNvPr>
          <p:cNvSpPr>
            <a:spLocks xmlns:a="http://schemas.openxmlformats.org/drawingml/2006/main" noGrp="1"/>
          </p:cNvSpPr>
          <p:nvPr/>
        </p:nvSpPr>
        <p:spPr>
          <a:xfrm xmlns:a="http://schemas.openxmlformats.org/drawingml/2006/main">
            <a:off x="419100" y="1581150"/>
            <a:ext cx="5905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975" b="1">
                <a:solidFill>
                  <a:srgbClr val="183B39"/>
                </a:solidFill>
              </a:defRPr>
            </a:pPr>
            <a:r>
              <a:rPr sz="975" b="1">
                <a:solidFill>
                  <a:srgbClr val="183B39"/>
                </a:solidFill>
              </a:rPr>
              <a:t>₹49.2 Cr primary  •  ₹13.11 Cr gap  •  90.7% concentrated in DMart + Reliance</a:t>
            </a:r>
          </a:p>
        </p:txBody>
      </p:sp>
      <p:sp>
        <p:nvSpPr>
          <p:cNvPr id="8" name="">
            <a:extLst xmlns:a="http://schemas.openxmlformats.org/drawingml/2006/main">
              <a:ext uri="{FF2B5EF4-FFF2-40B4-BE49-F238E27FC236}">
                <a16:creationId xmlns:a16="http://schemas.microsoft.com/office/drawing/2014/main" id="{7DE4EFE5-8D8A-4E2C-94E3-E374875E7C57}"/>
              </a:ext>
            </a:extLst>
          </p:cNvPr>
          <p:cNvSpPr>
            <a:spLocks xmlns:a="http://schemas.openxmlformats.org/drawingml/2006/main" noGrp="1"/>
          </p:cNvSpPr>
          <p:nvPr/>
        </p:nvSpPr>
        <p:spPr>
          <a:xfrm xmlns:a="http://schemas.openxmlformats.org/drawingml/2006/main">
            <a:off x="514350" y="1885950"/>
            <a:ext cx="5715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863" b="0">
                <a:solidFill>
                  <a:srgbClr val="5F716E"/>
                </a:solidFill>
              </a:defRPr>
            </a:pPr>
            <a:r>
              <a:rPr sz="863" b="0">
                <a:solidFill>
                  <a:srgbClr val="5F716E"/>
                </a:solidFill>
              </a:rPr>
              <a:t>Leadership mandate: convert concentrated gaps through availability and account discipline—not indiscriminate loading.</a:t>
            </a:r>
          </a:p>
        </p:txBody>
      </p:sp>
      <p:sp>
        <p:nvSpPr>
          <p:cNvPr id="9" name="">
            <a:extLst xmlns:a="http://schemas.openxmlformats.org/drawingml/2006/main">
              <a:ext uri="{FF2B5EF4-FFF2-40B4-BE49-F238E27FC236}">
                <a16:creationId xmlns:a16="http://schemas.microsoft.com/office/drawing/2014/main" id="{EAD3E965-FE9E-49B6-923E-7A7A4E3B323E}"/>
              </a:ext>
            </a:extLst>
          </p:cNvPr>
          <p:cNvSpPr>
            <a:spLocks xmlns:a="http://schemas.openxmlformats.org/drawingml/2006/main" noGrp="1"/>
          </p:cNvSpPr>
          <p:nvPr/>
        </p:nvSpPr>
        <p:spPr>
          <a:xfrm xmlns:a="http://schemas.openxmlformats.org/drawingml/2006/main">
            <a:off x="266700" y="2457450"/>
            <a:ext cx="1981200" cy="2590800"/>
          </a:xfrm>
          <a:prstGeom xmlns:a="http://schemas.openxmlformats.org/drawingml/2006/main" prst="roundRect">
            <a:avLst>
              <a:gd name="adj" fmla="val 3846"/>
            </a:avLst>
          </a:prstGeom>
          <a:solidFill xmlns:a="http://schemas.openxmlformats.org/drawingml/2006/main">
            <a:srgbClr val="FFFFFF"/>
          </a:solidFill>
          <a:ln xmlns:a="http://schemas.openxmlformats.org/drawingml/2006/main" w="9525">
            <a:solidFill>
              <a:srgbClr val="C8DCD7"/>
            </a:solidFill>
            <a:prstDash val="solid"/>
          </a:ln>
        </p:spPr>
      </p:sp>
      <p:sp>
        <p:nvSpPr>
          <p:cNvPr id="10" name="">
            <a:extLst xmlns:a="http://schemas.openxmlformats.org/drawingml/2006/main">
              <a:ext uri="{FF2B5EF4-FFF2-40B4-BE49-F238E27FC236}">
                <a16:creationId xmlns:a16="http://schemas.microsoft.com/office/drawing/2014/main" id="{AFBF0265-4C67-4496-94E6-6E2B58032B05}"/>
              </a:ext>
            </a:extLst>
          </p:cNvPr>
          <p:cNvSpPr>
            <a:spLocks xmlns:a="http://schemas.openxmlformats.org/drawingml/2006/main" noGrp="1"/>
          </p:cNvSpPr>
          <p:nvPr/>
        </p:nvSpPr>
        <p:spPr>
          <a:xfrm xmlns:a="http://schemas.openxmlformats.org/drawingml/2006/main">
            <a:off x="266700" y="2457450"/>
            <a:ext cx="1981200" cy="285750"/>
          </a:xfrm>
          <a:prstGeom xmlns:a="http://schemas.openxmlformats.org/drawingml/2006/main" prst="rect">
            <a:avLst/>
          </a:prstGeom>
          <a:solidFill xmlns:a="http://schemas.openxmlformats.org/drawingml/2006/main">
            <a:srgbClr val="116F68"/>
          </a:solidFill>
          <a:ln xmlns:a="http://schemas.openxmlformats.org/drawingml/2006/main" w="0">
            <a:solidFill>
              <a:srgbClr val="116F68"/>
            </a:solidFill>
            <a:prstDash val="solid"/>
          </a:ln>
        </p:spPr>
      </p:sp>
      <p:sp>
        <p:nvSpPr>
          <p:cNvPr id="11" name="">
            <a:extLst xmlns:a="http://schemas.openxmlformats.org/drawingml/2006/main">
              <a:ext uri="{FF2B5EF4-FFF2-40B4-BE49-F238E27FC236}">
                <a16:creationId xmlns:a16="http://schemas.microsoft.com/office/drawing/2014/main" id="{C08224FE-0EC2-45B0-ADA4-6C9AF1A0C2EB}"/>
              </a:ext>
            </a:extLst>
          </p:cNvPr>
          <p:cNvSpPr>
            <a:spLocks xmlns:a="http://schemas.openxmlformats.org/drawingml/2006/main" noGrp="1"/>
          </p:cNvSpPr>
          <p:nvPr/>
        </p:nvSpPr>
        <p:spPr>
          <a:xfrm xmlns:a="http://schemas.openxmlformats.org/drawingml/2006/main">
            <a:off x="352425" y="2476500"/>
            <a:ext cx="18097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788" b="1">
                <a:solidFill>
                  <a:srgbClr val="FFFFFF"/>
                </a:solidFill>
              </a:defRPr>
            </a:pPr>
            <a:r>
              <a:rPr sz="788" b="1">
                <a:solidFill>
                  <a:srgbClr val="FFFFFF"/>
                </a:solidFill>
              </a:rPr>
              <a:t>SALES FLOW</a:t>
            </a:r>
          </a:p>
        </p:txBody>
      </p:sp>
      <p:sp>
        <p:nvSpPr>
          <p:cNvPr id="12" name="">
            <a:extLst xmlns:a="http://schemas.openxmlformats.org/drawingml/2006/main">
              <a:ext uri="{FF2B5EF4-FFF2-40B4-BE49-F238E27FC236}">
                <a16:creationId xmlns:a16="http://schemas.microsoft.com/office/drawing/2014/main" id="{2B392A5A-69AF-4C9F-A7F9-C827AFFAAEC2}"/>
              </a:ext>
            </a:extLst>
          </p:cNvPr>
          <p:cNvSpPr>
            <a:spLocks xmlns:a="http://schemas.openxmlformats.org/drawingml/2006/main" noGrp="1"/>
          </p:cNvSpPr>
          <p:nvPr/>
        </p:nvSpPr>
        <p:spPr>
          <a:xfrm xmlns:a="http://schemas.openxmlformats.org/drawingml/2006/main">
            <a:off x="361950" y="2838450"/>
            <a:ext cx="17907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050" b="1">
                <a:solidFill>
                  <a:srgbClr val="183B39"/>
                </a:solidFill>
              </a:defRPr>
            </a:pPr>
            <a:r>
              <a:rPr sz="1050" b="1">
                <a:solidFill>
                  <a:srgbClr val="183B39"/>
                </a:solidFill>
              </a:rPr>
              <a:t>Primary vs offtake</a:t>
            </a:r>
          </a:p>
        </p:txBody>
      </p:sp>
      <p:graphicFrame>
        <p:nvGraphicFramePr>
          <p:cNvPr id="138" name="Chart"/>
          <p:cNvGraphicFramePr/>
          <p:nvPr/>
        </p:nvGraphicFramePr>
        <p:xfrm>
          <a:off xmlns:a="http://schemas.openxmlformats.org/drawingml/2006/main" x="361950" y="3124200"/>
          <a:ext xmlns:a="http://schemas.openxmlformats.org/drawingml/2006/main" cx="1790700" cy="1428750"/>
        </p:xfrm>
        <a:graphic xmlns:a="http://schemas.openxmlformats.org/drawingml/2006/main">
          <a:graphicData uri="http://schemas.openxmlformats.org/drawingml/2006/chart">
            <c:chart xmlns:r="http://schemas.openxmlformats.org/officeDocument/2006/relationships" xmlns:c="http://schemas.openxmlformats.org/drawingml/2006/chart" r:id="Ra97f89de9c7347da"/>
          </a:graphicData>
        </a:graphic>
      </p:graphicFrame>
      <p:sp>
        <p:nvSpPr>
          <p:cNvPr id="14" name="">
            <a:extLst xmlns:a="http://schemas.openxmlformats.org/drawingml/2006/main">
              <a:ext uri="{FF2B5EF4-FFF2-40B4-BE49-F238E27FC236}">
                <a16:creationId xmlns:a16="http://schemas.microsoft.com/office/drawing/2014/main" id="{1AFE4305-0DE2-4062-A128-F012BE99CFA4}"/>
              </a:ext>
            </a:extLst>
          </p:cNvPr>
          <p:cNvSpPr>
            <a:spLocks xmlns:a="http://schemas.openxmlformats.org/drawingml/2006/main" noGrp="1"/>
          </p:cNvSpPr>
          <p:nvPr/>
        </p:nvSpPr>
        <p:spPr>
          <a:xfrm xmlns:a="http://schemas.openxmlformats.org/drawingml/2006/main">
            <a:off x="381000" y="4591050"/>
            <a:ext cx="1752600"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863" b="1">
                <a:solidFill>
                  <a:srgbClr val="D6544D"/>
                </a:solidFill>
              </a:defRPr>
            </a:pPr>
            <a:r>
              <a:rPr sz="863" b="1">
                <a:solidFill>
                  <a:srgbClr val="D6544D"/>
                </a:solidFill>
              </a:rPr>
              <a:t>73.4% conversion | ₹13.11 Cr gap</a:t>
            </a:r>
          </a:p>
        </p:txBody>
      </p:sp>
      <p:sp>
        <p:nvSpPr>
          <p:cNvPr id="15" name="">
            <a:extLst xmlns:a="http://schemas.openxmlformats.org/drawingml/2006/main">
              <a:ext uri="{FF2B5EF4-FFF2-40B4-BE49-F238E27FC236}">
                <a16:creationId xmlns:a16="http://schemas.microsoft.com/office/drawing/2014/main" id="{4BE234C1-0DAC-4160-B208-97D615E1E54D}"/>
              </a:ext>
            </a:extLst>
          </p:cNvPr>
          <p:cNvSpPr>
            <a:spLocks xmlns:a="http://schemas.openxmlformats.org/drawingml/2006/main" noGrp="1"/>
          </p:cNvSpPr>
          <p:nvPr/>
        </p:nvSpPr>
        <p:spPr>
          <a:xfrm xmlns:a="http://schemas.openxmlformats.org/drawingml/2006/main">
            <a:off x="2438400" y="2457450"/>
            <a:ext cx="1981200" cy="2590800"/>
          </a:xfrm>
          <a:prstGeom xmlns:a="http://schemas.openxmlformats.org/drawingml/2006/main" prst="roundRect">
            <a:avLst>
              <a:gd name="adj" fmla="val 3846"/>
            </a:avLst>
          </a:prstGeom>
          <a:solidFill xmlns:a="http://schemas.openxmlformats.org/drawingml/2006/main">
            <a:srgbClr val="FFFFFF"/>
          </a:solidFill>
          <a:ln xmlns:a="http://schemas.openxmlformats.org/drawingml/2006/main" w="9525">
            <a:solidFill>
              <a:srgbClr val="C8DCD7"/>
            </a:solidFill>
            <a:prstDash val="solid"/>
          </a:ln>
        </p:spPr>
      </p:sp>
      <p:sp>
        <p:nvSpPr>
          <p:cNvPr id="16" name="">
            <a:extLst xmlns:a="http://schemas.openxmlformats.org/drawingml/2006/main">
              <a:ext uri="{FF2B5EF4-FFF2-40B4-BE49-F238E27FC236}">
                <a16:creationId xmlns:a16="http://schemas.microsoft.com/office/drawing/2014/main" id="{DF549A77-2823-49FF-98E1-4FA5B6FBA31E}"/>
              </a:ext>
            </a:extLst>
          </p:cNvPr>
          <p:cNvSpPr>
            <a:spLocks xmlns:a="http://schemas.openxmlformats.org/drawingml/2006/main" noGrp="1"/>
          </p:cNvSpPr>
          <p:nvPr/>
        </p:nvSpPr>
        <p:spPr>
          <a:xfrm xmlns:a="http://schemas.openxmlformats.org/drawingml/2006/main">
            <a:off x="2438400" y="2457450"/>
            <a:ext cx="1981200" cy="285750"/>
          </a:xfrm>
          <a:prstGeom xmlns:a="http://schemas.openxmlformats.org/drawingml/2006/main" prst="rect">
            <a:avLst/>
          </a:prstGeom>
          <a:solidFill xmlns:a="http://schemas.openxmlformats.org/drawingml/2006/main">
            <a:srgbClr val="116F68"/>
          </a:solidFill>
          <a:ln xmlns:a="http://schemas.openxmlformats.org/drawingml/2006/main" w="0">
            <a:solidFill>
              <a:srgbClr val="116F68"/>
            </a:solidFill>
            <a:prstDash val="solid"/>
          </a:ln>
        </p:spPr>
      </p:sp>
      <p:sp>
        <p:nvSpPr>
          <p:cNvPr id="17" name="">
            <a:extLst xmlns:a="http://schemas.openxmlformats.org/drawingml/2006/main">
              <a:ext uri="{FF2B5EF4-FFF2-40B4-BE49-F238E27FC236}">
                <a16:creationId xmlns:a16="http://schemas.microsoft.com/office/drawing/2014/main" id="{1876FAF1-C845-49C7-92A1-25C42EC9AAD1}"/>
              </a:ext>
            </a:extLst>
          </p:cNvPr>
          <p:cNvSpPr>
            <a:spLocks xmlns:a="http://schemas.openxmlformats.org/drawingml/2006/main" noGrp="1"/>
          </p:cNvSpPr>
          <p:nvPr/>
        </p:nvSpPr>
        <p:spPr>
          <a:xfrm xmlns:a="http://schemas.openxmlformats.org/drawingml/2006/main">
            <a:off x="2524125" y="2476500"/>
            <a:ext cx="18097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788" b="1">
                <a:solidFill>
                  <a:srgbClr val="FFFFFF"/>
                </a:solidFill>
              </a:defRPr>
            </a:pPr>
            <a:r>
              <a:rPr sz="788" b="1">
                <a:solidFill>
                  <a:srgbClr val="FFFFFF"/>
                </a:solidFill>
              </a:rPr>
              <a:t>MANAGEMENT PRIORITY</a:t>
            </a:r>
          </a:p>
        </p:txBody>
      </p:sp>
      <p:sp>
        <p:nvSpPr>
          <p:cNvPr id="18" name="">
            <a:extLst xmlns:a="http://schemas.openxmlformats.org/drawingml/2006/main">
              <a:ext uri="{FF2B5EF4-FFF2-40B4-BE49-F238E27FC236}">
                <a16:creationId xmlns:a16="http://schemas.microsoft.com/office/drawing/2014/main" id="{A007394D-7F4F-41EA-A29B-4413BAB7E060}"/>
              </a:ext>
            </a:extLst>
          </p:cNvPr>
          <p:cNvSpPr>
            <a:spLocks xmlns:a="http://schemas.openxmlformats.org/drawingml/2006/main" noGrp="1"/>
          </p:cNvSpPr>
          <p:nvPr/>
        </p:nvSpPr>
        <p:spPr>
          <a:xfrm xmlns:a="http://schemas.openxmlformats.org/drawingml/2006/main">
            <a:off x="2552700" y="2867025"/>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D6544D"/>
                </a:solidFill>
              </a:defRPr>
            </a:pPr>
            <a:r>
              <a:rPr sz="600" b="1">
                <a:solidFill>
                  <a:srgbClr val="D6544D"/>
                </a:solidFill>
              </a:rPr>
              <a:t>●</a:t>
            </a:r>
          </a:p>
        </p:txBody>
      </p:sp>
      <p:sp>
        <p:nvSpPr>
          <p:cNvPr id="19" name="">
            <a:extLst xmlns:a="http://schemas.openxmlformats.org/drawingml/2006/main">
              <a:ext uri="{FF2B5EF4-FFF2-40B4-BE49-F238E27FC236}">
                <a16:creationId xmlns:a16="http://schemas.microsoft.com/office/drawing/2014/main" id="{462DD3C2-1183-4866-A4A0-9A55EC3D8ECA}"/>
              </a:ext>
            </a:extLst>
          </p:cNvPr>
          <p:cNvSpPr>
            <a:spLocks xmlns:a="http://schemas.openxmlformats.org/drawingml/2006/main" noGrp="1"/>
          </p:cNvSpPr>
          <p:nvPr/>
        </p:nvSpPr>
        <p:spPr>
          <a:xfrm xmlns:a="http://schemas.openxmlformats.org/drawingml/2006/main">
            <a:off x="2695575" y="2867025"/>
            <a:ext cx="1609725" cy="3905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1">
                <a:solidFill>
                  <a:srgbClr val="183B39"/>
                </a:solidFill>
              </a:defRPr>
            </a:pPr>
            <a:r>
              <a:rPr sz="765" b="1">
                <a:solidFill>
                  <a:srgbClr val="183B39"/>
                </a:solidFill>
              </a:rPr>
              <a:t>North + East hold 70.5% of the gap.</a:t>
            </a:r>
          </a:p>
        </p:txBody>
      </p:sp>
      <p:sp>
        <p:nvSpPr>
          <p:cNvPr id="20" name="">
            <a:extLst xmlns:a="http://schemas.openxmlformats.org/drawingml/2006/main">
              <a:ext uri="{FF2B5EF4-FFF2-40B4-BE49-F238E27FC236}">
                <a16:creationId xmlns:a16="http://schemas.microsoft.com/office/drawing/2014/main" id="{88737CB4-3062-4350-9DA6-6407C349AC22}"/>
              </a:ext>
            </a:extLst>
          </p:cNvPr>
          <p:cNvSpPr>
            <a:spLocks xmlns:a="http://schemas.openxmlformats.org/drawingml/2006/main" noGrp="1"/>
          </p:cNvSpPr>
          <p:nvPr/>
        </p:nvSpPr>
        <p:spPr>
          <a:xfrm xmlns:a="http://schemas.openxmlformats.org/drawingml/2006/main">
            <a:off x="2552700" y="3267075"/>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B9A66"/>
                </a:solidFill>
              </a:defRPr>
            </a:pPr>
            <a:r>
              <a:rPr sz="600" b="1">
                <a:solidFill>
                  <a:srgbClr val="2B9A66"/>
                </a:solidFill>
              </a:rPr>
              <a:t>●</a:t>
            </a:r>
          </a:p>
        </p:txBody>
      </p:sp>
      <p:sp>
        <p:nvSpPr>
          <p:cNvPr id="21" name="">
            <a:extLst xmlns:a="http://schemas.openxmlformats.org/drawingml/2006/main">
              <a:ext uri="{FF2B5EF4-FFF2-40B4-BE49-F238E27FC236}">
                <a16:creationId xmlns:a16="http://schemas.microsoft.com/office/drawing/2014/main" id="{21423D2F-DCDF-4C6E-9B0B-007B244D2223}"/>
              </a:ext>
            </a:extLst>
          </p:cNvPr>
          <p:cNvSpPr>
            <a:spLocks xmlns:a="http://schemas.openxmlformats.org/drawingml/2006/main" noGrp="1"/>
          </p:cNvSpPr>
          <p:nvPr/>
        </p:nvSpPr>
        <p:spPr>
          <a:xfrm xmlns:a="http://schemas.openxmlformats.org/drawingml/2006/main">
            <a:off x="2695575" y="3267075"/>
            <a:ext cx="1609725" cy="3905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West + South‑1 deliver 45.6% of offtake.</a:t>
            </a:r>
          </a:p>
        </p:txBody>
      </p:sp>
      <p:sp>
        <p:nvSpPr>
          <p:cNvPr id="22" name="">
            <a:extLst xmlns:a="http://schemas.openxmlformats.org/drawingml/2006/main">
              <a:ext uri="{FF2B5EF4-FFF2-40B4-BE49-F238E27FC236}">
                <a16:creationId xmlns:a16="http://schemas.microsoft.com/office/drawing/2014/main" id="{ABDE22E4-68DA-4DBE-BDB4-3719FD8EB8A7}"/>
              </a:ext>
            </a:extLst>
          </p:cNvPr>
          <p:cNvSpPr>
            <a:spLocks xmlns:a="http://schemas.openxmlformats.org/drawingml/2006/main" noGrp="1"/>
          </p:cNvSpPr>
          <p:nvPr/>
        </p:nvSpPr>
        <p:spPr>
          <a:xfrm xmlns:a="http://schemas.openxmlformats.org/drawingml/2006/main">
            <a:off x="2552700" y="3667125"/>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F2B84B"/>
                </a:solidFill>
              </a:defRPr>
            </a:pPr>
            <a:r>
              <a:rPr sz="600" b="1">
                <a:solidFill>
                  <a:srgbClr val="F2B84B"/>
                </a:solidFill>
              </a:rPr>
              <a:t>●</a:t>
            </a:r>
          </a:p>
        </p:txBody>
      </p:sp>
      <p:sp>
        <p:nvSpPr>
          <p:cNvPr id="23" name="">
            <a:extLst xmlns:a="http://schemas.openxmlformats.org/drawingml/2006/main">
              <a:ext uri="{FF2B5EF4-FFF2-40B4-BE49-F238E27FC236}">
                <a16:creationId xmlns:a16="http://schemas.microsoft.com/office/drawing/2014/main" id="{073D16F5-D9FA-40B1-9A05-D3267A1FB54E}"/>
              </a:ext>
            </a:extLst>
          </p:cNvPr>
          <p:cNvSpPr>
            <a:spLocks xmlns:a="http://schemas.openxmlformats.org/drawingml/2006/main" noGrp="1"/>
          </p:cNvSpPr>
          <p:nvPr/>
        </p:nvSpPr>
        <p:spPr>
          <a:xfrm xmlns:a="http://schemas.openxmlformats.org/drawingml/2006/main">
            <a:off x="2695575" y="3667125"/>
            <a:ext cx="1609725" cy="3905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Protect hero-SKU OSA while closing weak chain-zone exceptions.</a:t>
            </a:r>
          </a:p>
        </p:txBody>
      </p:sp>
      <p:sp>
        <p:nvSpPr>
          <p:cNvPr id="24" name="">
            <a:extLst xmlns:a="http://schemas.openxmlformats.org/drawingml/2006/main">
              <a:ext uri="{FF2B5EF4-FFF2-40B4-BE49-F238E27FC236}">
                <a16:creationId xmlns:a16="http://schemas.microsoft.com/office/drawing/2014/main" id="{B3F85997-4E50-43E9-8779-2426FEED6F54}"/>
              </a:ext>
            </a:extLst>
          </p:cNvPr>
          <p:cNvSpPr>
            <a:spLocks xmlns:a="http://schemas.openxmlformats.org/drawingml/2006/main" noGrp="1"/>
          </p:cNvSpPr>
          <p:nvPr/>
        </p:nvSpPr>
        <p:spPr>
          <a:xfrm xmlns:a="http://schemas.openxmlformats.org/drawingml/2006/main">
            <a:off x="2552700" y="4067175"/>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B9A66"/>
                </a:solidFill>
              </a:defRPr>
            </a:pPr>
            <a:r>
              <a:rPr sz="600" b="1">
                <a:solidFill>
                  <a:srgbClr val="2B9A66"/>
                </a:solidFill>
              </a:rPr>
              <a:t>●</a:t>
            </a:r>
          </a:p>
        </p:txBody>
      </p:sp>
      <p:sp>
        <p:nvSpPr>
          <p:cNvPr id="25" name="">
            <a:extLst xmlns:a="http://schemas.openxmlformats.org/drawingml/2006/main">
              <a:ext uri="{FF2B5EF4-FFF2-40B4-BE49-F238E27FC236}">
                <a16:creationId xmlns:a16="http://schemas.microsoft.com/office/drawing/2014/main" id="{C6A31861-304C-4212-B3CD-033CA2A65101}"/>
              </a:ext>
            </a:extLst>
          </p:cNvPr>
          <p:cNvSpPr>
            <a:spLocks xmlns:a="http://schemas.openxmlformats.org/drawingml/2006/main" noGrp="1"/>
          </p:cNvSpPr>
          <p:nvPr/>
        </p:nvSpPr>
        <p:spPr>
          <a:xfrm xmlns:a="http://schemas.openxmlformats.org/drawingml/2006/main">
            <a:off x="2695575" y="4067175"/>
            <a:ext cx="1609725" cy="3905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Use Apollo and FSN/Nykaa as flow-governance benchmarks.</a:t>
            </a:r>
          </a:p>
        </p:txBody>
      </p:sp>
      <p:sp>
        <p:nvSpPr>
          <p:cNvPr id="26" name="">
            <a:extLst xmlns:a="http://schemas.openxmlformats.org/drawingml/2006/main">
              <a:ext uri="{FF2B5EF4-FFF2-40B4-BE49-F238E27FC236}">
                <a16:creationId xmlns:a16="http://schemas.microsoft.com/office/drawing/2014/main" id="{528FCADC-76E7-4A44-9428-EAC37EBAC7D4}"/>
              </a:ext>
            </a:extLst>
          </p:cNvPr>
          <p:cNvSpPr>
            <a:spLocks xmlns:a="http://schemas.openxmlformats.org/drawingml/2006/main" noGrp="1"/>
          </p:cNvSpPr>
          <p:nvPr/>
        </p:nvSpPr>
        <p:spPr>
          <a:xfrm xmlns:a="http://schemas.openxmlformats.org/drawingml/2006/main">
            <a:off x="2552700" y="4467225"/>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8A596"/>
                </a:solidFill>
              </a:defRPr>
            </a:pPr>
            <a:r>
              <a:rPr sz="600" b="1">
                <a:solidFill>
                  <a:srgbClr val="28A596"/>
                </a:solidFill>
              </a:rPr>
              <a:t>●</a:t>
            </a:r>
          </a:p>
        </p:txBody>
      </p:sp>
      <p:sp>
        <p:nvSpPr>
          <p:cNvPr id="27" name="">
            <a:extLst xmlns:a="http://schemas.openxmlformats.org/drawingml/2006/main">
              <a:ext uri="{FF2B5EF4-FFF2-40B4-BE49-F238E27FC236}">
                <a16:creationId xmlns:a16="http://schemas.microsoft.com/office/drawing/2014/main" id="{63B269A2-D887-40B7-8D16-E985050D2D60}"/>
              </a:ext>
            </a:extLst>
          </p:cNvPr>
          <p:cNvSpPr>
            <a:spLocks xmlns:a="http://schemas.openxmlformats.org/drawingml/2006/main" noGrp="1"/>
          </p:cNvSpPr>
          <p:nvPr/>
        </p:nvSpPr>
        <p:spPr>
          <a:xfrm xmlns:a="http://schemas.openxmlformats.org/drawingml/2006/main">
            <a:off x="2695575" y="4467225"/>
            <a:ext cx="1609725" cy="3905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Review chain × zone × EAN exceptions weekly.</a:t>
            </a:r>
          </a:p>
        </p:txBody>
      </p:sp>
      <p:sp>
        <p:nvSpPr>
          <p:cNvPr id="28" name="">
            <a:extLst xmlns:a="http://schemas.openxmlformats.org/drawingml/2006/main">
              <a:ext uri="{FF2B5EF4-FFF2-40B4-BE49-F238E27FC236}">
                <a16:creationId xmlns:a16="http://schemas.microsoft.com/office/drawing/2014/main" id="{22AABB17-05A9-45AA-8B6A-63EF1D1F5FA6}"/>
              </a:ext>
            </a:extLst>
          </p:cNvPr>
          <p:cNvSpPr>
            <a:spLocks xmlns:a="http://schemas.openxmlformats.org/drawingml/2006/main" noGrp="1"/>
          </p:cNvSpPr>
          <p:nvPr/>
        </p:nvSpPr>
        <p:spPr>
          <a:xfrm xmlns:a="http://schemas.openxmlformats.org/drawingml/2006/main">
            <a:off x="4610100" y="2457450"/>
            <a:ext cx="1981200" cy="2590800"/>
          </a:xfrm>
          <a:prstGeom xmlns:a="http://schemas.openxmlformats.org/drawingml/2006/main" prst="roundRect">
            <a:avLst>
              <a:gd name="adj" fmla="val 3846"/>
            </a:avLst>
          </a:prstGeom>
          <a:solidFill xmlns:a="http://schemas.openxmlformats.org/drawingml/2006/main">
            <a:srgbClr val="FFFFFF"/>
          </a:solidFill>
          <a:ln xmlns:a="http://schemas.openxmlformats.org/drawingml/2006/main" w="9525">
            <a:solidFill>
              <a:srgbClr val="C8DCD7"/>
            </a:solidFill>
            <a:prstDash val="solid"/>
          </a:ln>
        </p:spPr>
      </p:sp>
      <p:sp>
        <p:nvSpPr>
          <p:cNvPr id="29" name="">
            <a:extLst xmlns:a="http://schemas.openxmlformats.org/drawingml/2006/main">
              <a:ext uri="{FF2B5EF4-FFF2-40B4-BE49-F238E27FC236}">
                <a16:creationId xmlns:a16="http://schemas.microsoft.com/office/drawing/2014/main" id="{376CD8D8-B9FA-4D87-9333-F25F93895E52}"/>
              </a:ext>
            </a:extLst>
          </p:cNvPr>
          <p:cNvSpPr>
            <a:spLocks xmlns:a="http://schemas.openxmlformats.org/drawingml/2006/main" noGrp="1"/>
          </p:cNvSpPr>
          <p:nvPr/>
        </p:nvSpPr>
        <p:spPr>
          <a:xfrm xmlns:a="http://schemas.openxmlformats.org/drawingml/2006/main">
            <a:off x="4610100" y="2457450"/>
            <a:ext cx="1981200" cy="285750"/>
          </a:xfrm>
          <a:prstGeom xmlns:a="http://schemas.openxmlformats.org/drawingml/2006/main" prst="rect">
            <a:avLst/>
          </a:prstGeom>
          <a:solidFill xmlns:a="http://schemas.openxmlformats.org/drawingml/2006/main">
            <a:srgbClr val="D6544D"/>
          </a:solidFill>
          <a:ln xmlns:a="http://schemas.openxmlformats.org/drawingml/2006/main" w="0">
            <a:solidFill>
              <a:srgbClr val="D6544D"/>
            </a:solidFill>
            <a:prstDash val="solid"/>
          </a:ln>
        </p:spPr>
      </p:sp>
      <p:sp>
        <p:nvSpPr>
          <p:cNvPr id="30" name="">
            <a:extLst xmlns:a="http://schemas.openxmlformats.org/drawingml/2006/main">
              <a:ext uri="{FF2B5EF4-FFF2-40B4-BE49-F238E27FC236}">
                <a16:creationId xmlns:a16="http://schemas.microsoft.com/office/drawing/2014/main" id="{86C08914-9C27-4222-8B6A-6DEF1C589A73}"/>
              </a:ext>
            </a:extLst>
          </p:cNvPr>
          <p:cNvSpPr>
            <a:spLocks xmlns:a="http://schemas.openxmlformats.org/drawingml/2006/main" noGrp="1"/>
          </p:cNvSpPr>
          <p:nvPr/>
        </p:nvSpPr>
        <p:spPr>
          <a:xfrm xmlns:a="http://schemas.openxmlformats.org/drawingml/2006/main">
            <a:off x="4695825" y="2476500"/>
            <a:ext cx="18097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788" b="1">
                <a:solidFill>
                  <a:srgbClr val="FFFFFF"/>
                </a:solidFill>
              </a:defRPr>
            </a:pPr>
            <a:r>
              <a:rPr sz="788" b="1">
                <a:solidFill>
                  <a:srgbClr val="FFFFFF"/>
                </a:solidFill>
              </a:rPr>
              <a:t>GAP CONCENTRATION</a:t>
            </a:r>
          </a:p>
        </p:txBody>
      </p:sp>
      <p:sp>
        <p:nvSpPr>
          <p:cNvPr id="31" name="">
            <a:extLst xmlns:a="http://schemas.openxmlformats.org/drawingml/2006/main">
              <a:ext uri="{FF2B5EF4-FFF2-40B4-BE49-F238E27FC236}">
                <a16:creationId xmlns:a16="http://schemas.microsoft.com/office/drawing/2014/main" id="{39B95340-F909-46A0-9622-2115F125DDFC}"/>
              </a:ext>
            </a:extLst>
          </p:cNvPr>
          <p:cNvSpPr>
            <a:spLocks xmlns:a="http://schemas.openxmlformats.org/drawingml/2006/main" noGrp="1"/>
          </p:cNvSpPr>
          <p:nvPr/>
        </p:nvSpPr>
        <p:spPr>
          <a:xfrm xmlns:a="http://schemas.openxmlformats.org/drawingml/2006/main">
            <a:off x="4752975" y="2867025"/>
            <a:ext cx="16954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2250" b="1">
                <a:solidFill>
                  <a:srgbClr val="D6544D"/>
                </a:solidFill>
              </a:defRPr>
            </a:pPr>
            <a:r>
              <a:rPr sz="2250" b="1">
                <a:solidFill>
                  <a:srgbClr val="D6544D"/>
                </a:solidFill>
              </a:rPr>
              <a:t>90.7%</a:t>
            </a:r>
          </a:p>
        </p:txBody>
      </p:sp>
      <p:sp>
        <p:nvSpPr>
          <p:cNvPr id="32" name="">
            <a:extLst xmlns:a="http://schemas.openxmlformats.org/drawingml/2006/main">
              <a:ext uri="{FF2B5EF4-FFF2-40B4-BE49-F238E27FC236}">
                <a16:creationId xmlns:a16="http://schemas.microsoft.com/office/drawing/2014/main" id="{55094BEB-410E-4758-BB6D-F2B1EF8AA861}"/>
              </a:ext>
            </a:extLst>
          </p:cNvPr>
          <p:cNvSpPr>
            <a:spLocks xmlns:a="http://schemas.openxmlformats.org/drawingml/2006/main" noGrp="1"/>
          </p:cNvSpPr>
          <p:nvPr/>
        </p:nvSpPr>
        <p:spPr>
          <a:xfrm xmlns:a="http://schemas.openxmlformats.org/drawingml/2006/main">
            <a:off x="4781550" y="3343275"/>
            <a:ext cx="16383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900" b="1">
                <a:solidFill>
                  <a:srgbClr val="183B39"/>
                </a:solidFill>
              </a:defRPr>
            </a:pPr>
            <a:r>
              <a:rPr sz="900" b="1">
                <a:solidFill>
                  <a:srgbClr val="183B39"/>
                </a:solidFill>
              </a:rPr>
              <a:t>of national gap sits in DMart + Reliance</a:t>
            </a:r>
          </a:p>
        </p:txBody>
      </p:sp>
      <p:sp>
        <p:nvSpPr>
          <p:cNvPr id="33" name="">
            <a:extLst xmlns:a="http://schemas.openxmlformats.org/drawingml/2006/main">
              <a:ext uri="{FF2B5EF4-FFF2-40B4-BE49-F238E27FC236}">
                <a16:creationId xmlns:a16="http://schemas.microsoft.com/office/drawing/2014/main" id="{709E771E-1BFF-42DD-9372-37C26935E5AC}"/>
              </a:ext>
            </a:extLst>
          </p:cNvPr>
          <p:cNvSpPr>
            <a:spLocks xmlns:a="http://schemas.openxmlformats.org/drawingml/2006/main" noGrp="1"/>
          </p:cNvSpPr>
          <p:nvPr/>
        </p:nvSpPr>
        <p:spPr>
          <a:xfrm xmlns:a="http://schemas.openxmlformats.org/drawingml/2006/main">
            <a:off x="4724400" y="3819525"/>
            <a:ext cx="17526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050" b="1">
                <a:solidFill>
                  <a:srgbClr val="183B39"/>
                </a:solidFill>
              </a:defRPr>
            </a:pPr>
            <a:r>
              <a:rPr sz="1050" b="1">
                <a:solidFill>
                  <a:srgbClr val="183B39"/>
                </a:solidFill>
              </a:rPr>
              <a:t>Gap by account (₹ Cr)</a:t>
            </a:r>
          </a:p>
        </p:txBody>
      </p:sp>
      <p:graphicFrame>
        <p:nvGraphicFramePr>
          <p:cNvPr id="159" name="Chart"/>
          <p:cNvGraphicFramePr/>
          <p:nvPr/>
        </p:nvGraphicFramePr>
        <p:xfrm>
          <a:off xmlns:a="http://schemas.openxmlformats.org/drawingml/2006/main" x="4724400" y="4105275"/>
          <a:ext xmlns:a="http://schemas.openxmlformats.org/drawingml/2006/main" cx="1752600" cy="809625"/>
        </p:xfrm>
        <a:graphic xmlns:a="http://schemas.openxmlformats.org/drawingml/2006/main">
          <a:graphicData uri="http://schemas.openxmlformats.org/drawingml/2006/chart">
            <c:chart xmlns:r="http://schemas.openxmlformats.org/officeDocument/2006/relationships" xmlns:c="http://schemas.openxmlformats.org/drawingml/2006/chart" r:id="Ra448820c4fed472f"/>
          </a:graphicData>
        </a:graphic>
      </p:graphicFrame>
      <p:sp>
        <p:nvSpPr>
          <p:cNvPr id="35" name="">
            <a:extLst xmlns:a="http://schemas.openxmlformats.org/drawingml/2006/main">
              <a:ext uri="{FF2B5EF4-FFF2-40B4-BE49-F238E27FC236}">
                <a16:creationId xmlns:a16="http://schemas.microsoft.com/office/drawing/2014/main" id="{C29716F0-2F10-4733-A0EF-E242A50C15E2}"/>
              </a:ext>
            </a:extLst>
          </p:cNvPr>
          <p:cNvSpPr>
            <a:spLocks xmlns:a="http://schemas.openxmlformats.org/drawingml/2006/main" noGrp="1"/>
          </p:cNvSpPr>
          <p:nvPr/>
        </p:nvSpPr>
        <p:spPr>
          <a:xfrm xmlns:a="http://schemas.openxmlformats.org/drawingml/2006/main">
            <a:off x="266700" y="5267325"/>
            <a:ext cx="1981200" cy="2590800"/>
          </a:xfrm>
          <a:prstGeom xmlns:a="http://schemas.openxmlformats.org/drawingml/2006/main" prst="roundRect">
            <a:avLst>
              <a:gd name="adj" fmla="val 3846"/>
            </a:avLst>
          </a:prstGeom>
          <a:solidFill xmlns:a="http://schemas.openxmlformats.org/drawingml/2006/main">
            <a:srgbClr val="FFFFFF"/>
          </a:solidFill>
          <a:ln xmlns:a="http://schemas.openxmlformats.org/drawingml/2006/main" w="9525">
            <a:solidFill>
              <a:srgbClr val="C8DCD7"/>
            </a:solidFill>
            <a:prstDash val="solid"/>
          </a:ln>
        </p:spPr>
      </p:sp>
      <p:sp>
        <p:nvSpPr>
          <p:cNvPr id="36" name="">
            <a:extLst xmlns:a="http://schemas.openxmlformats.org/drawingml/2006/main">
              <a:ext uri="{FF2B5EF4-FFF2-40B4-BE49-F238E27FC236}">
                <a16:creationId xmlns:a16="http://schemas.microsoft.com/office/drawing/2014/main" id="{9A433728-82F6-4277-8D51-357433F735B3}"/>
              </a:ext>
            </a:extLst>
          </p:cNvPr>
          <p:cNvSpPr>
            <a:spLocks xmlns:a="http://schemas.openxmlformats.org/drawingml/2006/main" noGrp="1"/>
          </p:cNvSpPr>
          <p:nvPr/>
        </p:nvSpPr>
        <p:spPr>
          <a:xfrm xmlns:a="http://schemas.openxmlformats.org/drawingml/2006/main">
            <a:off x="266700" y="5267325"/>
            <a:ext cx="1981200" cy="285750"/>
          </a:xfrm>
          <a:prstGeom xmlns:a="http://schemas.openxmlformats.org/drawingml/2006/main" prst="rect">
            <a:avLst/>
          </a:prstGeom>
          <a:solidFill xmlns:a="http://schemas.openxmlformats.org/drawingml/2006/main">
            <a:srgbClr val="28A596"/>
          </a:solidFill>
          <a:ln xmlns:a="http://schemas.openxmlformats.org/drawingml/2006/main" w="0">
            <a:solidFill>
              <a:srgbClr val="28A596"/>
            </a:solidFill>
            <a:prstDash val="solid"/>
          </a:ln>
        </p:spPr>
      </p:sp>
      <p:sp>
        <p:nvSpPr>
          <p:cNvPr id="37" name="">
            <a:extLst xmlns:a="http://schemas.openxmlformats.org/drawingml/2006/main">
              <a:ext uri="{FF2B5EF4-FFF2-40B4-BE49-F238E27FC236}">
                <a16:creationId xmlns:a16="http://schemas.microsoft.com/office/drawing/2014/main" id="{FE6D36BD-B317-4093-9212-0A76ACC3A876}"/>
              </a:ext>
            </a:extLst>
          </p:cNvPr>
          <p:cNvSpPr>
            <a:spLocks xmlns:a="http://schemas.openxmlformats.org/drawingml/2006/main" noGrp="1"/>
          </p:cNvSpPr>
          <p:nvPr/>
        </p:nvSpPr>
        <p:spPr>
          <a:xfrm xmlns:a="http://schemas.openxmlformats.org/drawingml/2006/main">
            <a:off x="352425" y="5286375"/>
            <a:ext cx="18097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788" b="1">
                <a:solidFill>
                  <a:srgbClr val="FFFFFF"/>
                </a:solidFill>
              </a:defRPr>
            </a:pPr>
            <a:r>
              <a:rPr sz="788" b="1">
                <a:solidFill>
                  <a:srgbClr val="FFFFFF"/>
                </a:solidFill>
              </a:rPr>
              <a:t>GEOGRAPHIC ENGINES</a:t>
            </a:r>
          </a:p>
        </p:txBody>
      </p:sp>
      <p:sp>
        <p:nvSpPr>
          <p:cNvPr id="38" name="">
            <a:extLst xmlns:a="http://schemas.openxmlformats.org/drawingml/2006/main">
              <a:ext uri="{FF2B5EF4-FFF2-40B4-BE49-F238E27FC236}">
                <a16:creationId xmlns:a16="http://schemas.microsoft.com/office/drawing/2014/main" id="{C44D1ECF-D6BE-4D61-9EAE-1A14D836AB72}"/>
              </a:ext>
            </a:extLst>
          </p:cNvPr>
          <p:cNvSpPr>
            <a:spLocks xmlns:a="http://schemas.openxmlformats.org/drawingml/2006/main" noGrp="1"/>
          </p:cNvSpPr>
          <p:nvPr/>
        </p:nvSpPr>
        <p:spPr>
          <a:xfrm xmlns:a="http://schemas.openxmlformats.org/drawingml/2006/main">
            <a:off x="381000" y="5676900"/>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B9A66"/>
                </a:solidFill>
              </a:defRPr>
            </a:pPr>
            <a:r>
              <a:rPr sz="600" b="1">
                <a:solidFill>
                  <a:srgbClr val="2B9A66"/>
                </a:solidFill>
              </a:rPr>
              <a:t>●</a:t>
            </a:r>
          </a:p>
        </p:txBody>
      </p:sp>
      <p:sp>
        <p:nvSpPr>
          <p:cNvPr id="39" name="">
            <a:extLst xmlns:a="http://schemas.openxmlformats.org/drawingml/2006/main">
              <a:ext uri="{FF2B5EF4-FFF2-40B4-BE49-F238E27FC236}">
                <a16:creationId xmlns:a16="http://schemas.microsoft.com/office/drawing/2014/main" id="{0C5B5EE0-96AB-45AD-9E81-EBC060B1FFDD}"/>
              </a:ext>
            </a:extLst>
          </p:cNvPr>
          <p:cNvSpPr>
            <a:spLocks xmlns:a="http://schemas.openxmlformats.org/drawingml/2006/main" noGrp="1"/>
          </p:cNvSpPr>
          <p:nvPr/>
        </p:nvSpPr>
        <p:spPr>
          <a:xfrm xmlns:a="http://schemas.openxmlformats.org/drawingml/2006/main">
            <a:off x="523875" y="5676900"/>
            <a:ext cx="1609725" cy="3905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1">
                <a:solidFill>
                  <a:srgbClr val="183B39"/>
                </a:solidFill>
              </a:defRPr>
            </a:pPr>
            <a:r>
              <a:rPr sz="765" b="1">
                <a:solidFill>
                  <a:srgbClr val="183B39"/>
                </a:solidFill>
              </a:rPr>
              <a:t>West: ₹8.28 Cr at 82.3% conversion.</a:t>
            </a:r>
          </a:p>
        </p:txBody>
      </p:sp>
      <p:sp>
        <p:nvSpPr>
          <p:cNvPr id="40" name="">
            <a:extLst xmlns:a="http://schemas.openxmlformats.org/drawingml/2006/main">
              <a:ext uri="{FF2B5EF4-FFF2-40B4-BE49-F238E27FC236}">
                <a16:creationId xmlns:a16="http://schemas.microsoft.com/office/drawing/2014/main" id="{15FBB5FE-CE74-4E4C-8A4B-086B77F249C8}"/>
              </a:ext>
            </a:extLst>
          </p:cNvPr>
          <p:cNvSpPr>
            <a:spLocks xmlns:a="http://schemas.openxmlformats.org/drawingml/2006/main" noGrp="1"/>
          </p:cNvSpPr>
          <p:nvPr/>
        </p:nvSpPr>
        <p:spPr>
          <a:xfrm xmlns:a="http://schemas.openxmlformats.org/drawingml/2006/main">
            <a:off x="381000" y="6076950"/>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B9A66"/>
                </a:solidFill>
              </a:defRPr>
            </a:pPr>
            <a:r>
              <a:rPr sz="600" b="1">
                <a:solidFill>
                  <a:srgbClr val="2B9A66"/>
                </a:solidFill>
              </a:rPr>
              <a:t>●</a:t>
            </a:r>
          </a:p>
        </p:txBody>
      </p:sp>
      <p:sp>
        <p:nvSpPr>
          <p:cNvPr id="41" name="">
            <a:extLst xmlns:a="http://schemas.openxmlformats.org/drawingml/2006/main">
              <a:ext uri="{FF2B5EF4-FFF2-40B4-BE49-F238E27FC236}">
                <a16:creationId xmlns:a16="http://schemas.microsoft.com/office/drawing/2014/main" id="{0768CA17-FB4F-46F0-81EB-121F06D0779F}"/>
              </a:ext>
            </a:extLst>
          </p:cNvPr>
          <p:cNvSpPr>
            <a:spLocks xmlns:a="http://schemas.openxmlformats.org/drawingml/2006/main" noGrp="1"/>
          </p:cNvSpPr>
          <p:nvPr/>
        </p:nvSpPr>
        <p:spPr>
          <a:xfrm xmlns:a="http://schemas.openxmlformats.org/drawingml/2006/main">
            <a:off x="523875" y="6076950"/>
            <a:ext cx="1609725" cy="3905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South‑1: ₹8.19 Cr at 83.6%.</a:t>
            </a:r>
          </a:p>
        </p:txBody>
      </p:sp>
      <p:sp>
        <p:nvSpPr>
          <p:cNvPr id="42" name="">
            <a:extLst xmlns:a="http://schemas.openxmlformats.org/drawingml/2006/main">
              <a:ext uri="{FF2B5EF4-FFF2-40B4-BE49-F238E27FC236}">
                <a16:creationId xmlns:a16="http://schemas.microsoft.com/office/drawing/2014/main" id="{B697A001-E5DF-4E74-9087-7695A882C3DF}"/>
              </a:ext>
            </a:extLst>
          </p:cNvPr>
          <p:cNvSpPr>
            <a:spLocks xmlns:a="http://schemas.openxmlformats.org/drawingml/2006/main" noGrp="1"/>
          </p:cNvSpPr>
          <p:nvPr/>
        </p:nvSpPr>
        <p:spPr>
          <a:xfrm xmlns:a="http://schemas.openxmlformats.org/drawingml/2006/main">
            <a:off x="381000" y="6477000"/>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D6544D"/>
                </a:solidFill>
              </a:defRPr>
            </a:pPr>
            <a:r>
              <a:rPr sz="600" b="1">
                <a:solidFill>
                  <a:srgbClr val="D6544D"/>
                </a:solidFill>
              </a:rPr>
              <a:t>●</a:t>
            </a:r>
          </a:p>
        </p:txBody>
      </p:sp>
      <p:sp>
        <p:nvSpPr>
          <p:cNvPr id="43" name="">
            <a:extLst xmlns:a="http://schemas.openxmlformats.org/drawingml/2006/main">
              <a:ext uri="{FF2B5EF4-FFF2-40B4-BE49-F238E27FC236}">
                <a16:creationId xmlns:a16="http://schemas.microsoft.com/office/drawing/2014/main" id="{183F6582-241B-4E00-B4DD-C35B969AC9AA}"/>
              </a:ext>
            </a:extLst>
          </p:cNvPr>
          <p:cNvSpPr>
            <a:spLocks xmlns:a="http://schemas.openxmlformats.org/drawingml/2006/main" noGrp="1"/>
          </p:cNvSpPr>
          <p:nvPr/>
        </p:nvSpPr>
        <p:spPr>
          <a:xfrm xmlns:a="http://schemas.openxmlformats.org/drawingml/2006/main">
            <a:off x="523875" y="6477000"/>
            <a:ext cx="1609725" cy="3905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North: ₹4.97 Cr gap; largest recovery pool.</a:t>
            </a:r>
          </a:p>
        </p:txBody>
      </p:sp>
      <p:sp>
        <p:nvSpPr>
          <p:cNvPr id="44" name="">
            <a:extLst xmlns:a="http://schemas.openxmlformats.org/drawingml/2006/main">
              <a:ext uri="{FF2B5EF4-FFF2-40B4-BE49-F238E27FC236}">
                <a16:creationId xmlns:a16="http://schemas.microsoft.com/office/drawing/2014/main" id="{19BDAC29-C2E8-4F86-A09C-370B5C655FD6}"/>
              </a:ext>
            </a:extLst>
          </p:cNvPr>
          <p:cNvSpPr>
            <a:spLocks xmlns:a="http://schemas.openxmlformats.org/drawingml/2006/main" noGrp="1"/>
          </p:cNvSpPr>
          <p:nvPr/>
        </p:nvSpPr>
        <p:spPr>
          <a:xfrm xmlns:a="http://schemas.openxmlformats.org/drawingml/2006/main">
            <a:off x="381000" y="6877050"/>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D6544D"/>
                </a:solidFill>
              </a:defRPr>
            </a:pPr>
            <a:r>
              <a:rPr sz="600" b="1">
                <a:solidFill>
                  <a:srgbClr val="D6544D"/>
                </a:solidFill>
              </a:rPr>
              <a:t>●</a:t>
            </a:r>
          </a:p>
        </p:txBody>
      </p:sp>
      <p:sp>
        <p:nvSpPr>
          <p:cNvPr id="45" name="">
            <a:extLst xmlns:a="http://schemas.openxmlformats.org/drawingml/2006/main">
              <a:ext uri="{FF2B5EF4-FFF2-40B4-BE49-F238E27FC236}">
                <a16:creationId xmlns:a16="http://schemas.microsoft.com/office/drawing/2014/main" id="{201C8D90-FA6B-461D-A3B4-DC5EBF76D862}"/>
              </a:ext>
            </a:extLst>
          </p:cNvPr>
          <p:cNvSpPr>
            <a:spLocks xmlns:a="http://schemas.openxmlformats.org/drawingml/2006/main" noGrp="1"/>
          </p:cNvSpPr>
          <p:nvPr/>
        </p:nvSpPr>
        <p:spPr>
          <a:xfrm xmlns:a="http://schemas.openxmlformats.org/drawingml/2006/main">
            <a:off x="523875" y="6877050"/>
            <a:ext cx="1609725" cy="3905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East: 45.3% conversion; weakest flow.</a:t>
            </a:r>
          </a:p>
        </p:txBody>
      </p:sp>
      <p:sp>
        <p:nvSpPr>
          <p:cNvPr id="46" name="">
            <a:extLst xmlns:a="http://schemas.openxmlformats.org/drawingml/2006/main">
              <a:ext uri="{FF2B5EF4-FFF2-40B4-BE49-F238E27FC236}">
                <a16:creationId xmlns:a16="http://schemas.microsoft.com/office/drawing/2014/main" id="{CF58C2C6-78B6-4A02-BD82-B869EAF953A5}"/>
              </a:ext>
            </a:extLst>
          </p:cNvPr>
          <p:cNvSpPr>
            <a:spLocks xmlns:a="http://schemas.openxmlformats.org/drawingml/2006/main" noGrp="1"/>
          </p:cNvSpPr>
          <p:nvPr/>
        </p:nvSpPr>
        <p:spPr>
          <a:xfrm xmlns:a="http://schemas.openxmlformats.org/drawingml/2006/main">
            <a:off x="381000" y="7277100"/>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F2B84B"/>
                </a:solidFill>
              </a:defRPr>
            </a:pPr>
            <a:r>
              <a:rPr sz="600" b="1">
                <a:solidFill>
                  <a:srgbClr val="F2B84B"/>
                </a:solidFill>
              </a:rPr>
              <a:t>●</a:t>
            </a:r>
          </a:p>
        </p:txBody>
      </p:sp>
      <p:sp>
        <p:nvSpPr>
          <p:cNvPr id="47" name="">
            <a:extLst xmlns:a="http://schemas.openxmlformats.org/drawingml/2006/main">
              <a:ext uri="{FF2B5EF4-FFF2-40B4-BE49-F238E27FC236}">
                <a16:creationId xmlns:a16="http://schemas.microsoft.com/office/drawing/2014/main" id="{9B104EEC-7A0A-427C-9C1E-121C489B4EBE}"/>
              </a:ext>
            </a:extLst>
          </p:cNvPr>
          <p:cNvSpPr>
            <a:spLocks xmlns:a="http://schemas.openxmlformats.org/drawingml/2006/main" noGrp="1"/>
          </p:cNvSpPr>
          <p:nvPr/>
        </p:nvSpPr>
        <p:spPr>
          <a:xfrm xmlns:a="http://schemas.openxmlformats.org/drawingml/2006/main">
            <a:off x="523875" y="7277100"/>
            <a:ext cx="1609725" cy="3905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Replicate strong-zone availability cadence selectively.</a:t>
            </a:r>
          </a:p>
        </p:txBody>
      </p:sp>
      <p:sp>
        <p:nvSpPr>
          <p:cNvPr id="48" name="">
            <a:extLst xmlns:a="http://schemas.openxmlformats.org/drawingml/2006/main">
              <a:ext uri="{FF2B5EF4-FFF2-40B4-BE49-F238E27FC236}">
                <a16:creationId xmlns:a16="http://schemas.microsoft.com/office/drawing/2014/main" id="{E5EBA9F6-C7F2-43AC-A5FB-CA2DC4F135B4}"/>
              </a:ext>
            </a:extLst>
          </p:cNvPr>
          <p:cNvSpPr>
            <a:spLocks xmlns:a="http://schemas.openxmlformats.org/drawingml/2006/main" noGrp="1"/>
          </p:cNvSpPr>
          <p:nvPr/>
        </p:nvSpPr>
        <p:spPr>
          <a:xfrm xmlns:a="http://schemas.openxmlformats.org/drawingml/2006/main">
            <a:off x="2438400" y="5267325"/>
            <a:ext cx="1981200" cy="2590800"/>
          </a:xfrm>
          <a:prstGeom xmlns:a="http://schemas.openxmlformats.org/drawingml/2006/main" prst="roundRect">
            <a:avLst>
              <a:gd name="adj" fmla="val 3846"/>
            </a:avLst>
          </a:prstGeom>
          <a:solidFill xmlns:a="http://schemas.openxmlformats.org/drawingml/2006/main">
            <a:srgbClr val="FFFFFF"/>
          </a:solidFill>
          <a:ln xmlns:a="http://schemas.openxmlformats.org/drawingml/2006/main" w="9525">
            <a:solidFill>
              <a:srgbClr val="C8DCD7"/>
            </a:solidFill>
            <a:prstDash val="solid"/>
          </a:ln>
        </p:spPr>
      </p:sp>
      <p:sp>
        <p:nvSpPr>
          <p:cNvPr id="49" name="">
            <a:extLst xmlns:a="http://schemas.openxmlformats.org/drawingml/2006/main">
              <a:ext uri="{FF2B5EF4-FFF2-40B4-BE49-F238E27FC236}">
                <a16:creationId xmlns:a16="http://schemas.microsoft.com/office/drawing/2014/main" id="{CC10C0EC-1A55-419A-BBED-F96EE1BFDC92}"/>
              </a:ext>
            </a:extLst>
          </p:cNvPr>
          <p:cNvSpPr>
            <a:spLocks xmlns:a="http://schemas.openxmlformats.org/drawingml/2006/main" noGrp="1"/>
          </p:cNvSpPr>
          <p:nvPr/>
        </p:nvSpPr>
        <p:spPr>
          <a:xfrm xmlns:a="http://schemas.openxmlformats.org/drawingml/2006/main">
            <a:off x="2438400" y="5267325"/>
            <a:ext cx="1981200" cy="285750"/>
          </a:xfrm>
          <a:prstGeom xmlns:a="http://schemas.openxmlformats.org/drawingml/2006/main" prst="rect">
            <a:avLst/>
          </a:prstGeom>
          <a:solidFill xmlns:a="http://schemas.openxmlformats.org/drawingml/2006/main">
            <a:srgbClr val="2B9A66"/>
          </a:solidFill>
          <a:ln xmlns:a="http://schemas.openxmlformats.org/drawingml/2006/main" w="0">
            <a:solidFill>
              <a:srgbClr val="2B9A66"/>
            </a:solidFill>
            <a:prstDash val="solid"/>
          </a:ln>
        </p:spPr>
      </p:sp>
      <p:sp>
        <p:nvSpPr>
          <p:cNvPr id="50" name="">
            <a:extLst xmlns:a="http://schemas.openxmlformats.org/drawingml/2006/main">
              <a:ext uri="{FF2B5EF4-FFF2-40B4-BE49-F238E27FC236}">
                <a16:creationId xmlns:a16="http://schemas.microsoft.com/office/drawing/2014/main" id="{8A490CED-C62D-4506-AA64-E541FF6CE246}"/>
              </a:ext>
            </a:extLst>
          </p:cNvPr>
          <p:cNvSpPr>
            <a:spLocks xmlns:a="http://schemas.openxmlformats.org/drawingml/2006/main" noGrp="1"/>
          </p:cNvSpPr>
          <p:nvPr/>
        </p:nvSpPr>
        <p:spPr>
          <a:xfrm xmlns:a="http://schemas.openxmlformats.org/drawingml/2006/main">
            <a:off x="2524125" y="5286375"/>
            <a:ext cx="18097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788" b="1">
                <a:solidFill>
                  <a:srgbClr val="FFFFFF"/>
                </a:solidFill>
              </a:defRPr>
            </a:pPr>
            <a:r>
              <a:rPr sz="788" b="1">
                <a:solidFill>
                  <a:srgbClr val="FFFFFF"/>
                </a:solidFill>
              </a:rPr>
              <a:t>PORTFOLIO ENGINES</a:t>
            </a:r>
          </a:p>
        </p:txBody>
      </p:sp>
      <p:sp>
        <p:nvSpPr>
          <p:cNvPr id="51" name="">
            <a:extLst xmlns:a="http://schemas.openxmlformats.org/drawingml/2006/main">
              <a:ext uri="{FF2B5EF4-FFF2-40B4-BE49-F238E27FC236}">
                <a16:creationId xmlns:a16="http://schemas.microsoft.com/office/drawing/2014/main" id="{02C08D5C-0987-4A78-9F5C-EA2EA3B9D629}"/>
              </a:ext>
            </a:extLst>
          </p:cNvPr>
          <p:cNvSpPr>
            <a:spLocks xmlns:a="http://schemas.openxmlformats.org/drawingml/2006/main" noGrp="1"/>
          </p:cNvSpPr>
          <p:nvPr/>
        </p:nvSpPr>
        <p:spPr>
          <a:xfrm xmlns:a="http://schemas.openxmlformats.org/drawingml/2006/main">
            <a:off x="2533650" y="5667375"/>
            <a:ext cx="17907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2025" b="1">
                <a:solidFill>
                  <a:srgbClr val="2B9A66"/>
                </a:solidFill>
              </a:defRPr>
            </a:pPr>
            <a:r>
              <a:rPr sz="2025" b="1">
                <a:solidFill>
                  <a:srgbClr val="2B9A66"/>
                </a:solidFill>
              </a:rPr>
              <a:t>98.4%</a:t>
            </a:r>
          </a:p>
        </p:txBody>
      </p:sp>
      <p:sp>
        <p:nvSpPr>
          <p:cNvPr id="52" name="">
            <a:extLst xmlns:a="http://schemas.openxmlformats.org/drawingml/2006/main">
              <a:ext uri="{FF2B5EF4-FFF2-40B4-BE49-F238E27FC236}">
                <a16:creationId xmlns:a16="http://schemas.microsoft.com/office/drawing/2014/main" id="{5A690F1F-5D4B-416B-9336-D5D2A508D14B}"/>
              </a:ext>
            </a:extLst>
          </p:cNvPr>
          <p:cNvSpPr>
            <a:spLocks xmlns:a="http://schemas.openxmlformats.org/drawingml/2006/main" noGrp="1"/>
          </p:cNvSpPr>
          <p:nvPr/>
        </p:nvSpPr>
        <p:spPr>
          <a:xfrm xmlns:a="http://schemas.openxmlformats.org/drawingml/2006/main">
            <a:off x="2571750" y="6067425"/>
            <a:ext cx="17145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825" b="1">
                <a:solidFill>
                  <a:srgbClr val="183B39"/>
                </a:solidFill>
              </a:defRPr>
            </a:pPr>
            <a:r>
              <a:rPr sz="825" b="1">
                <a:solidFill>
                  <a:srgbClr val="183B39"/>
                </a:solidFill>
              </a:rPr>
              <a:t>of offtake from Mamaearth + The Derma Co.</a:t>
            </a:r>
          </a:p>
        </p:txBody>
      </p:sp>
      <p:sp>
        <p:nvSpPr>
          <p:cNvPr id="53" name="">
            <a:extLst xmlns:a="http://schemas.openxmlformats.org/drawingml/2006/main">
              <a:ext uri="{FF2B5EF4-FFF2-40B4-BE49-F238E27FC236}">
                <a16:creationId xmlns:a16="http://schemas.microsoft.com/office/drawing/2014/main" id="{3038CF5F-F912-4CD5-8B13-8617415B4CCE}"/>
              </a:ext>
            </a:extLst>
          </p:cNvPr>
          <p:cNvSpPr>
            <a:spLocks xmlns:a="http://schemas.openxmlformats.org/drawingml/2006/main" noGrp="1"/>
          </p:cNvSpPr>
          <p:nvPr/>
        </p:nvSpPr>
        <p:spPr>
          <a:xfrm xmlns:a="http://schemas.openxmlformats.org/drawingml/2006/main">
            <a:off x="2552700" y="6524625"/>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B9A66"/>
                </a:solidFill>
              </a:defRPr>
            </a:pPr>
            <a:r>
              <a:rPr sz="600" b="1">
                <a:solidFill>
                  <a:srgbClr val="2B9A66"/>
                </a:solidFill>
              </a:rPr>
              <a:t>●</a:t>
            </a:r>
          </a:p>
        </p:txBody>
      </p:sp>
      <p:sp>
        <p:nvSpPr>
          <p:cNvPr id="54" name="">
            <a:extLst xmlns:a="http://schemas.openxmlformats.org/drawingml/2006/main">
              <a:ext uri="{FF2B5EF4-FFF2-40B4-BE49-F238E27FC236}">
                <a16:creationId xmlns:a16="http://schemas.microsoft.com/office/drawing/2014/main" id="{E38F7E1E-AED3-43BE-8093-6E6F303C38B6}"/>
              </a:ext>
            </a:extLst>
          </p:cNvPr>
          <p:cNvSpPr>
            <a:spLocks xmlns:a="http://schemas.openxmlformats.org/drawingml/2006/main" noGrp="1"/>
          </p:cNvSpPr>
          <p:nvPr/>
        </p:nvSpPr>
        <p:spPr>
          <a:xfrm xmlns:a="http://schemas.openxmlformats.org/drawingml/2006/main">
            <a:off x="2695575" y="6524625"/>
            <a:ext cx="1609725"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Mamaearth ₹24.49 Cr | 73.4% conversion.</a:t>
            </a:r>
          </a:p>
        </p:txBody>
      </p:sp>
      <p:sp>
        <p:nvSpPr>
          <p:cNvPr id="55" name="">
            <a:extLst xmlns:a="http://schemas.openxmlformats.org/drawingml/2006/main">
              <a:ext uri="{FF2B5EF4-FFF2-40B4-BE49-F238E27FC236}">
                <a16:creationId xmlns:a16="http://schemas.microsoft.com/office/drawing/2014/main" id="{9275B581-FA98-4A98-98C8-B501B2B39487}"/>
              </a:ext>
            </a:extLst>
          </p:cNvPr>
          <p:cNvSpPr>
            <a:spLocks xmlns:a="http://schemas.openxmlformats.org/drawingml/2006/main" noGrp="1"/>
          </p:cNvSpPr>
          <p:nvPr/>
        </p:nvSpPr>
        <p:spPr>
          <a:xfrm xmlns:a="http://schemas.openxmlformats.org/drawingml/2006/main">
            <a:off x="2552700" y="6905625"/>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F2B84B"/>
                </a:solidFill>
              </a:defRPr>
            </a:pPr>
            <a:r>
              <a:rPr sz="600" b="1">
                <a:solidFill>
                  <a:srgbClr val="F2B84B"/>
                </a:solidFill>
              </a:rPr>
              <a:t>●</a:t>
            </a:r>
          </a:p>
        </p:txBody>
      </p:sp>
      <p:sp>
        <p:nvSpPr>
          <p:cNvPr id="56" name="">
            <a:extLst xmlns:a="http://schemas.openxmlformats.org/drawingml/2006/main">
              <a:ext uri="{FF2B5EF4-FFF2-40B4-BE49-F238E27FC236}">
                <a16:creationId xmlns:a16="http://schemas.microsoft.com/office/drawing/2014/main" id="{04CB1ECF-F521-45C0-808A-464CC30D6605}"/>
              </a:ext>
            </a:extLst>
          </p:cNvPr>
          <p:cNvSpPr>
            <a:spLocks xmlns:a="http://schemas.openxmlformats.org/drawingml/2006/main" noGrp="1"/>
          </p:cNvSpPr>
          <p:nvPr/>
        </p:nvSpPr>
        <p:spPr>
          <a:xfrm xmlns:a="http://schemas.openxmlformats.org/drawingml/2006/main">
            <a:off x="2695575" y="6905625"/>
            <a:ext cx="1609725"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TDC ₹11.03 Cr | ₹4.16 Cr gap.</a:t>
            </a:r>
          </a:p>
        </p:txBody>
      </p:sp>
      <p:sp>
        <p:nvSpPr>
          <p:cNvPr id="57" name="">
            <a:extLst xmlns:a="http://schemas.openxmlformats.org/drawingml/2006/main">
              <a:ext uri="{FF2B5EF4-FFF2-40B4-BE49-F238E27FC236}">
                <a16:creationId xmlns:a16="http://schemas.microsoft.com/office/drawing/2014/main" id="{21D90E41-4007-4D1C-8149-89BE6884617B}"/>
              </a:ext>
            </a:extLst>
          </p:cNvPr>
          <p:cNvSpPr>
            <a:spLocks xmlns:a="http://schemas.openxmlformats.org/drawingml/2006/main" noGrp="1"/>
          </p:cNvSpPr>
          <p:nvPr/>
        </p:nvSpPr>
        <p:spPr>
          <a:xfrm xmlns:a="http://schemas.openxmlformats.org/drawingml/2006/main">
            <a:off x="2552700" y="7286625"/>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8A596"/>
                </a:solidFill>
              </a:defRPr>
            </a:pPr>
            <a:r>
              <a:rPr sz="600" b="1">
                <a:solidFill>
                  <a:srgbClr val="28A596"/>
                </a:solidFill>
              </a:rPr>
              <a:t>●</a:t>
            </a:r>
          </a:p>
        </p:txBody>
      </p:sp>
      <p:sp>
        <p:nvSpPr>
          <p:cNvPr id="58" name="">
            <a:extLst xmlns:a="http://schemas.openxmlformats.org/drawingml/2006/main">
              <a:ext uri="{FF2B5EF4-FFF2-40B4-BE49-F238E27FC236}">
                <a16:creationId xmlns:a16="http://schemas.microsoft.com/office/drawing/2014/main" id="{FB3A4A4B-F060-4A65-A2D9-7D6F71A42911}"/>
              </a:ext>
            </a:extLst>
          </p:cNvPr>
          <p:cNvSpPr>
            <a:spLocks xmlns:a="http://schemas.openxmlformats.org/drawingml/2006/main" noGrp="1"/>
          </p:cNvSpPr>
          <p:nvPr/>
        </p:nvSpPr>
        <p:spPr>
          <a:xfrm xmlns:a="http://schemas.openxmlformats.org/drawingml/2006/main">
            <a:off x="2695575" y="7286625"/>
            <a:ext cx="1609725"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ME Face Cleanser ₹8.53 Cr in July.</a:t>
            </a:r>
          </a:p>
        </p:txBody>
      </p:sp>
      <p:sp>
        <p:nvSpPr>
          <p:cNvPr id="59" name="">
            <a:extLst xmlns:a="http://schemas.openxmlformats.org/drawingml/2006/main">
              <a:ext uri="{FF2B5EF4-FFF2-40B4-BE49-F238E27FC236}">
                <a16:creationId xmlns:a16="http://schemas.microsoft.com/office/drawing/2014/main" id="{5E118900-512F-4BDF-9034-1F5FA5959CB8}"/>
              </a:ext>
            </a:extLst>
          </p:cNvPr>
          <p:cNvSpPr>
            <a:spLocks xmlns:a="http://schemas.openxmlformats.org/drawingml/2006/main" noGrp="1"/>
          </p:cNvSpPr>
          <p:nvPr/>
        </p:nvSpPr>
        <p:spPr>
          <a:xfrm xmlns:a="http://schemas.openxmlformats.org/drawingml/2006/main">
            <a:off x="2552700" y="7667625"/>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8A596"/>
                </a:solidFill>
              </a:defRPr>
            </a:pPr>
            <a:r>
              <a:rPr sz="600" b="1">
                <a:solidFill>
                  <a:srgbClr val="28A596"/>
                </a:solidFill>
              </a:rPr>
              <a:t>●</a:t>
            </a:r>
          </a:p>
        </p:txBody>
      </p:sp>
      <p:sp>
        <p:nvSpPr>
          <p:cNvPr id="60" name="">
            <a:extLst xmlns:a="http://schemas.openxmlformats.org/drawingml/2006/main">
              <a:ext uri="{FF2B5EF4-FFF2-40B4-BE49-F238E27FC236}">
                <a16:creationId xmlns:a16="http://schemas.microsoft.com/office/drawing/2014/main" id="{D867BE9E-0F34-4A4A-8401-7C0C4C1133E7}"/>
              </a:ext>
            </a:extLst>
          </p:cNvPr>
          <p:cNvSpPr>
            <a:spLocks xmlns:a="http://schemas.openxmlformats.org/drawingml/2006/main" noGrp="1"/>
          </p:cNvSpPr>
          <p:nvPr/>
        </p:nvSpPr>
        <p:spPr>
          <a:xfrm xmlns:a="http://schemas.openxmlformats.org/drawingml/2006/main">
            <a:off x="2695575" y="7667625"/>
            <a:ext cx="1609725"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TDC Face Cleanser ₹7.13 Cr in July.</a:t>
            </a:r>
          </a:p>
        </p:txBody>
      </p:sp>
      <p:sp>
        <p:nvSpPr>
          <p:cNvPr id="61" name="">
            <a:extLst xmlns:a="http://schemas.openxmlformats.org/drawingml/2006/main">
              <a:ext uri="{FF2B5EF4-FFF2-40B4-BE49-F238E27FC236}">
                <a16:creationId xmlns:a16="http://schemas.microsoft.com/office/drawing/2014/main" id="{02FB9347-E04F-4687-8B31-6A3EE1AF0B36}"/>
              </a:ext>
            </a:extLst>
          </p:cNvPr>
          <p:cNvSpPr>
            <a:spLocks xmlns:a="http://schemas.openxmlformats.org/drawingml/2006/main" noGrp="1"/>
          </p:cNvSpPr>
          <p:nvPr/>
        </p:nvSpPr>
        <p:spPr>
          <a:xfrm xmlns:a="http://schemas.openxmlformats.org/drawingml/2006/main">
            <a:off x="4610100" y="5267325"/>
            <a:ext cx="1981200" cy="2590800"/>
          </a:xfrm>
          <a:prstGeom xmlns:a="http://schemas.openxmlformats.org/drawingml/2006/main" prst="roundRect">
            <a:avLst>
              <a:gd name="adj" fmla="val 3846"/>
            </a:avLst>
          </a:prstGeom>
          <a:solidFill xmlns:a="http://schemas.openxmlformats.org/drawingml/2006/main">
            <a:srgbClr val="FFFFFF"/>
          </a:solidFill>
          <a:ln xmlns:a="http://schemas.openxmlformats.org/drawingml/2006/main" w="9525">
            <a:solidFill>
              <a:srgbClr val="C8DCD7"/>
            </a:solidFill>
            <a:prstDash val="solid"/>
          </a:ln>
        </p:spPr>
      </p:sp>
      <p:sp>
        <p:nvSpPr>
          <p:cNvPr id="62" name="">
            <a:extLst xmlns:a="http://schemas.openxmlformats.org/drawingml/2006/main">
              <a:ext uri="{FF2B5EF4-FFF2-40B4-BE49-F238E27FC236}">
                <a16:creationId xmlns:a16="http://schemas.microsoft.com/office/drawing/2014/main" id="{FFDE20FB-1944-4003-A85A-F0C0FD08E42C}"/>
              </a:ext>
            </a:extLst>
          </p:cNvPr>
          <p:cNvSpPr>
            <a:spLocks xmlns:a="http://schemas.openxmlformats.org/drawingml/2006/main" noGrp="1"/>
          </p:cNvSpPr>
          <p:nvPr/>
        </p:nvSpPr>
        <p:spPr>
          <a:xfrm xmlns:a="http://schemas.openxmlformats.org/drawingml/2006/main">
            <a:off x="4610100" y="5267325"/>
            <a:ext cx="1981200" cy="285750"/>
          </a:xfrm>
          <a:prstGeom xmlns:a="http://schemas.openxmlformats.org/drawingml/2006/main" prst="rect">
            <a:avLst/>
          </a:prstGeom>
          <a:solidFill xmlns:a="http://schemas.openxmlformats.org/drawingml/2006/main">
            <a:srgbClr val="2E7DA8"/>
          </a:solidFill>
          <a:ln xmlns:a="http://schemas.openxmlformats.org/drawingml/2006/main" w="0">
            <a:solidFill>
              <a:srgbClr val="2E7DA8"/>
            </a:solidFill>
            <a:prstDash val="solid"/>
          </a:ln>
        </p:spPr>
      </p:sp>
      <p:sp>
        <p:nvSpPr>
          <p:cNvPr id="63" name="">
            <a:extLst xmlns:a="http://schemas.openxmlformats.org/drawingml/2006/main">
              <a:ext uri="{FF2B5EF4-FFF2-40B4-BE49-F238E27FC236}">
                <a16:creationId xmlns:a16="http://schemas.microsoft.com/office/drawing/2014/main" id="{9C2B0A56-FE3A-4C60-8DB1-706D5EF4F4E8}"/>
              </a:ext>
            </a:extLst>
          </p:cNvPr>
          <p:cNvSpPr>
            <a:spLocks xmlns:a="http://schemas.openxmlformats.org/drawingml/2006/main" noGrp="1"/>
          </p:cNvSpPr>
          <p:nvPr/>
        </p:nvSpPr>
        <p:spPr>
          <a:xfrm xmlns:a="http://schemas.openxmlformats.org/drawingml/2006/main">
            <a:off x="4695825" y="5286375"/>
            <a:ext cx="18097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788" b="1">
                <a:solidFill>
                  <a:srgbClr val="FFFFFF"/>
                </a:solidFill>
              </a:defRPr>
            </a:pPr>
            <a:r>
              <a:rPr sz="788" b="1">
                <a:solidFill>
                  <a:srgbClr val="FFFFFF"/>
                </a:solidFill>
              </a:rPr>
              <a:t>ACCOUNT SIGNALS</a:t>
            </a:r>
          </a:p>
        </p:txBody>
      </p:sp>
      <p:sp>
        <p:nvSpPr>
          <p:cNvPr id="64" name="">
            <a:extLst xmlns:a="http://schemas.openxmlformats.org/drawingml/2006/main">
              <a:ext uri="{FF2B5EF4-FFF2-40B4-BE49-F238E27FC236}">
                <a16:creationId xmlns:a16="http://schemas.microsoft.com/office/drawing/2014/main" id="{D7A105CB-2EA6-4885-8A2B-07CF41FA52C1}"/>
              </a:ext>
            </a:extLst>
          </p:cNvPr>
          <p:cNvSpPr>
            <a:spLocks xmlns:a="http://schemas.openxmlformats.org/drawingml/2006/main" noGrp="1"/>
          </p:cNvSpPr>
          <p:nvPr/>
        </p:nvSpPr>
        <p:spPr>
          <a:xfrm xmlns:a="http://schemas.openxmlformats.org/drawingml/2006/main">
            <a:off x="4724400" y="5676900"/>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F2B84B"/>
                </a:solidFill>
              </a:defRPr>
            </a:pPr>
            <a:r>
              <a:rPr sz="600" b="1">
                <a:solidFill>
                  <a:srgbClr val="F2B84B"/>
                </a:solidFill>
              </a:rPr>
              <a:t>●</a:t>
            </a:r>
          </a:p>
        </p:txBody>
      </p:sp>
      <p:sp>
        <p:nvSpPr>
          <p:cNvPr id="65" name="">
            <a:extLst xmlns:a="http://schemas.openxmlformats.org/drawingml/2006/main">
              <a:ext uri="{FF2B5EF4-FFF2-40B4-BE49-F238E27FC236}">
                <a16:creationId xmlns:a16="http://schemas.microsoft.com/office/drawing/2014/main" id="{3AC4E041-9410-48B2-A2A2-660E9C26D685}"/>
              </a:ext>
            </a:extLst>
          </p:cNvPr>
          <p:cNvSpPr>
            <a:spLocks xmlns:a="http://schemas.openxmlformats.org/drawingml/2006/main" noGrp="1"/>
          </p:cNvSpPr>
          <p:nvPr/>
        </p:nvSpPr>
        <p:spPr>
          <a:xfrm xmlns:a="http://schemas.openxmlformats.org/drawingml/2006/main">
            <a:off x="4867275" y="5676900"/>
            <a:ext cx="1609725" cy="3905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1">
                <a:solidFill>
                  <a:srgbClr val="183B39"/>
                </a:solidFill>
              </a:defRPr>
            </a:pPr>
            <a:r>
              <a:rPr sz="765" b="1">
                <a:solidFill>
                  <a:srgbClr val="183B39"/>
                </a:solidFill>
              </a:rPr>
              <a:t>DMart ₹13.97 Cr | 76.5% conversion.</a:t>
            </a:r>
          </a:p>
        </p:txBody>
      </p:sp>
      <p:sp>
        <p:nvSpPr>
          <p:cNvPr id="66" name="">
            <a:extLst xmlns:a="http://schemas.openxmlformats.org/drawingml/2006/main">
              <a:ext uri="{FF2B5EF4-FFF2-40B4-BE49-F238E27FC236}">
                <a16:creationId xmlns:a16="http://schemas.microsoft.com/office/drawing/2014/main" id="{EE8590F9-242E-4719-81DF-601C2A5EF5D6}"/>
              </a:ext>
            </a:extLst>
          </p:cNvPr>
          <p:cNvSpPr>
            <a:spLocks xmlns:a="http://schemas.openxmlformats.org/drawingml/2006/main" noGrp="1"/>
          </p:cNvSpPr>
          <p:nvPr/>
        </p:nvSpPr>
        <p:spPr>
          <a:xfrm xmlns:a="http://schemas.openxmlformats.org/drawingml/2006/main">
            <a:off x="4724400" y="6076950"/>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D6544D"/>
                </a:solidFill>
              </a:defRPr>
            </a:pPr>
            <a:r>
              <a:rPr sz="600" b="1">
                <a:solidFill>
                  <a:srgbClr val="D6544D"/>
                </a:solidFill>
              </a:rPr>
              <a:t>●</a:t>
            </a:r>
          </a:p>
        </p:txBody>
      </p:sp>
      <p:sp>
        <p:nvSpPr>
          <p:cNvPr id="67" name="">
            <a:extLst xmlns:a="http://schemas.openxmlformats.org/drawingml/2006/main">
              <a:ext uri="{FF2B5EF4-FFF2-40B4-BE49-F238E27FC236}">
                <a16:creationId xmlns:a16="http://schemas.microsoft.com/office/drawing/2014/main" id="{3FCDC6FA-F77D-4FAC-8ACD-EC0ABF812A2E}"/>
              </a:ext>
            </a:extLst>
          </p:cNvPr>
          <p:cNvSpPr>
            <a:spLocks xmlns:a="http://schemas.openxmlformats.org/drawingml/2006/main" noGrp="1"/>
          </p:cNvSpPr>
          <p:nvPr/>
        </p:nvSpPr>
        <p:spPr>
          <a:xfrm xmlns:a="http://schemas.openxmlformats.org/drawingml/2006/main">
            <a:off x="4867275" y="6076950"/>
            <a:ext cx="1609725" cy="3905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Reliance ₹8.06 Cr | 51.4% conversion.</a:t>
            </a:r>
          </a:p>
        </p:txBody>
      </p:sp>
      <p:sp>
        <p:nvSpPr>
          <p:cNvPr id="68" name="">
            <a:extLst xmlns:a="http://schemas.openxmlformats.org/drawingml/2006/main">
              <a:ext uri="{FF2B5EF4-FFF2-40B4-BE49-F238E27FC236}">
                <a16:creationId xmlns:a16="http://schemas.microsoft.com/office/drawing/2014/main" id="{6947170A-1DA0-4F5E-92FB-84564F645C65}"/>
              </a:ext>
            </a:extLst>
          </p:cNvPr>
          <p:cNvSpPr>
            <a:spLocks xmlns:a="http://schemas.openxmlformats.org/drawingml/2006/main" noGrp="1"/>
          </p:cNvSpPr>
          <p:nvPr/>
        </p:nvSpPr>
        <p:spPr>
          <a:xfrm xmlns:a="http://schemas.openxmlformats.org/drawingml/2006/main">
            <a:off x="4724400" y="6477000"/>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B9A66"/>
                </a:solidFill>
              </a:defRPr>
            </a:pPr>
            <a:r>
              <a:rPr sz="600" b="1">
                <a:solidFill>
                  <a:srgbClr val="2B9A66"/>
                </a:solidFill>
              </a:rPr>
              <a:t>●</a:t>
            </a:r>
          </a:p>
        </p:txBody>
      </p:sp>
      <p:sp>
        <p:nvSpPr>
          <p:cNvPr id="69" name="">
            <a:extLst xmlns:a="http://schemas.openxmlformats.org/drawingml/2006/main">
              <a:ext uri="{FF2B5EF4-FFF2-40B4-BE49-F238E27FC236}">
                <a16:creationId xmlns:a16="http://schemas.microsoft.com/office/drawing/2014/main" id="{CD1A2719-8EB3-444F-9D4B-73D5D641AFAF}"/>
              </a:ext>
            </a:extLst>
          </p:cNvPr>
          <p:cNvSpPr>
            <a:spLocks xmlns:a="http://schemas.openxmlformats.org/drawingml/2006/main" noGrp="1"/>
          </p:cNvSpPr>
          <p:nvPr/>
        </p:nvSpPr>
        <p:spPr>
          <a:xfrm xmlns:a="http://schemas.openxmlformats.org/drawingml/2006/main">
            <a:off x="4867275" y="6477000"/>
            <a:ext cx="1609725" cy="3905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Apollo 99.7% conversion—benchmark cadence.</a:t>
            </a:r>
          </a:p>
        </p:txBody>
      </p:sp>
      <p:sp>
        <p:nvSpPr>
          <p:cNvPr id="70" name="">
            <a:extLst xmlns:a="http://schemas.openxmlformats.org/drawingml/2006/main">
              <a:ext uri="{FF2B5EF4-FFF2-40B4-BE49-F238E27FC236}">
                <a16:creationId xmlns:a16="http://schemas.microsoft.com/office/drawing/2014/main" id="{36897705-0EE7-49F9-9EC1-83F2318AEFB1}"/>
              </a:ext>
            </a:extLst>
          </p:cNvPr>
          <p:cNvSpPr>
            <a:spLocks xmlns:a="http://schemas.openxmlformats.org/drawingml/2006/main" noGrp="1"/>
          </p:cNvSpPr>
          <p:nvPr/>
        </p:nvSpPr>
        <p:spPr>
          <a:xfrm xmlns:a="http://schemas.openxmlformats.org/drawingml/2006/main">
            <a:off x="4724400" y="6877050"/>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B9A66"/>
                </a:solidFill>
              </a:defRPr>
            </a:pPr>
            <a:r>
              <a:rPr sz="600" b="1">
                <a:solidFill>
                  <a:srgbClr val="2B9A66"/>
                </a:solidFill>
              </a:rPr>
              <a:t>●</a:t>
            </a:r>
          </a:p>
        </p:txBody>
      </p:sp>
      <p:sp>
        <p:nvSpPr>
          <p:cNvPr id="71" name="">
            <a:extLst xmlns:a="http://schemas.openxmlformats.org/drawingml/2006/main">
              <a:ext uri="{FF2B5EF4-FFF2-40B4-BE49-F238E27FC236}">
                <a16:creationId xmlns:a16="http://schemas.microsoft.com/office/drawing/2014/main" id="{A08759A1-1E10-4F46-A30D-4AC5FADBB99F}"/>
              </a:ext>
            </a:extLst>
          </p:cNvPr>
          <p:cNvSpPr>
            <a:spLocks xmlns:a="http://schemas.openxmlformats.org/drawingml/2006/main" noGrp="1"/>
          </p:cNvSpPr>
          <p:nvPr/>
        </p:nvSpPr>
        <p:spPr>
          <a:xfrm xmlns:a="http://schemas.openxmlformats.org/drawingml/2006/main">
            <a:off x="4867275" y="6877050"/>
            <a:ext cx="1609725" cy="3905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FSN/Nykaa ₹2.07 Cr combined.</a:t>
            </a:r>
          </a:p>
        </p:txBody>
      </p:sp>
      <p:sp>
        <p:nvSpPr>
          <p:cNvPr id="72" name="">
            <a:extLst xmlns:a="http://schemas.openxmlformats.org/drawingml/2006/main">
              <a:ext uri="{FF2B5EF4-FFF2-40B4-BE49-F238E27FC236}">
                <a16:creationId xmlns:a16="http://schemas.microsoft.com/office/drawing/2014/main" id="{B9CF71DD-A97D-4D8F-89E4-27936641C4E3}"/>
              </a:ext>
            </a:extLst>
          </p:cNvPr>
          <p:cNvSpPr>
            <a:spLocks xmlns:a="http://schemas.openxmlformats.org/drawingml/2006/main" noGrp="1"/>
          </p:cNvSpPr>
          <p:nvPr/>
        </p:nvSpPr>
        <p:spPr>
          <a:xfrm xmlns:a="http://schemas.openxmlformats.org/drawingml/2006/main">
            <a:off x="4724400" y="7277100"/>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8A596"/>
                </a:solidFill>
              </a:defRPr>
            </a:pPr>
            <a:r>
              <a:rPr sz="600" b="1">
                <a:solidFill>
                  <a:srgbClr val="28A596"/>
                </a:solidFill>
              </a:rPr>
              <a:t>●</a:t>
            </a:r>
          </a:p>
        </p:txBody>
      </p:sp>
      <p:sp>
        <p:nvSpPr>
          <p:cNvPr id="73" name="">
            <a:extLst xmlns:a="http://schemas.openxmlformats.org/drawingml/2006/main">
              <a:ext uri="{FF2B5EF4-FFF2-40B4-BE49-F238E27FC236}">
                <a16:creationId xmlns:a16="http://schemas.microsoft.com/office/drawing/2014/main" id="{9D35437E-B2A6-4BD6-A9CB-F8EF9FAC08EB}"/>
              </a:ext>
            </a:extLst>
          </p:cNvPr>
          <p:cNvSpPr>
            <a:spLocks xmlns:a="http://schemas.openxmlformats.org/drawingml/2006/main" noGrp="1"/>
          </p:cNvSpPr>
          <p:nvPr/>
        </p:nvSpPr>
        <p:spPr>
          <a:xfrm xmlns:a="http://schemas.openxmlformats.org/drawingml/2006/main">
            <a:off x="4867275" y="7277100"/>
            <a:ext cx="1609725" cy="3905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Treat &gt;100% account flows as timing/stock signals, not success claims.</a:t>
            </a:r>
          </a:p>
        </p:txBody>
      </p:sp>
      <p:sp>
        <p:nvSpPr>
          <p:cNvPr id="74" name="">
            <a:extLst xmlns:a="http://schemas.openxmlformats.org/drawingml/2006/main">
              <a:ext uri="{FF2B5EF4-FFF2-40B4-BE49-F238E27FC236}">
                <a16:creationId xmlns:a16="http://schemas.microsoft.com/office/drawing/2014/main" id="{1B5B5E42-9EEB-448E-89D5-BEB753A9AAC3}"/>
              </a:ext>
            </a:extLst>
          </p:cNvPr>
          <p:cNvSpPr>
            <a:spLocks xmlns:a="http://schemas.openxmlformats.org/drawingml/2006/main" noGrp="1"/>
          </p:cNvSpPr>
          <p:nvPr/>
        </p:nvSpPr>
        <p:spPr>
          <a:xfrm xmlns:a="http://schemas.openxmlformats.org/drawingml/2006/main">
            <a:off x="266700" y="8077200"/>
            <a:ext cx="1981200" cy="2590800"/>
          </a:xfrm>
          <a:prstGeom xmlns:a="http://schemas.openxmlformats.org/drawingml/2006/main" prst="roundRect">
            <a:avLst>
              <a:gd name="adj" fmla="val 3846"/>
            </a:avLst>
          </a:prstGeom>
          <a:solidFill xmlns:a="http://schemas.openxmlformats.org/drawingml/2006/main">
            <a:srgbClr val="FFFFFF"/>
          </a:solidFill>
          <a:ln xmlns:a="http://schemas.openxmlformats.org/drawingml/2006/main" w="9525">
            <a:solidFill>
              <a:srgbClr val="C8DCD7"/>
            </a:solidFill>
            <a:prstDash val="solid"/>
          </a:ln>
        </p:spPr>
      </p:sp>
      <p:sp>
        <p:nvSpPr>
          <p:cNvPr id="75" name="">
            <a:extLst xmlns:a="http://schemas.openxmlformats.org/drawingml/2006/main">
              <a:ext uri="{FF2B5EF4-FFF2-40B4-BE49-F238E27FC236}">
                <a16:creationId xmlns:a16="http://schemas.microsoft.com/office/drawing/2014/main" id="{7F5D799D-F54B-4401-9D28-3BACBA31A4D9}"/>
              </a:ext>
            </a:extLst>
          </p:cNvPr>
          <p:cNvSpPr>
            <a:spLocks xmlns:a="http://schemas.openxmlformats.org/drawingml/2006/main" noGrp="1"/>
          </p:cNvSpPr>
          <p:nvPr/>
        </p:nvSpPr>
        <p:spPr>
          <a:xfrm xmlns:a="http://schemas.openxmlformats.org/drawingml/2006/main">
            <a:off x="266700" y="8077200"/>
            <a:ext cx="1981200" cy="285750"/>
          </a:xfrm>
          <a:prstGeom xmlns:a="http://schemas.openxmlformats.org/drawingml/2006/main" prst="rect">
            <a:avLst/>
          </a:prstGeom>
          <a:solidFill xmlns:a="http://schemas.openxmlformats.org/drawingml/2006/main">
            <a:srgbClr val="116F68"/>
          </a:solidFill>
          <a:ln xmlns:a="http://schemas.openxmlformats.org/drawingml/2006/main" w="0">
            <a:solidFill>
              <a:srgbClr val="116F68"/>
            </a:solidFill>
            <a:prstDash val="solid"/>
          </a:ln>
        </p:spPr>
      </p:sp>
      <p:sp>
        <p:nvSpPr>
          <p:cNvPr id="76" name="">
            <a:extLst xmlns:a="http://schemas.openxmlformats.org/drawingml/2006/main">
              <a:ext uri="{FF2B5EF4-FFF2-40B4-BE49-F238E27FC236}">
                <a16:creationId xmlns:a16="http://schemas.microsoft.com/office/drawing/2014/main" id="{60CB4961-25C5-44E8-8877-6CA5D4BEFB65}"/>
              </a:ext>
            </a:extLst>
          </p:cNvPr>
          <p:cNvSpPr>
            <a:spLocks xmlns:a="http://schemas.openxmlformats.org/drawingml/2006/main" noGrp="1"/>
          </p:cNvSpPr>
          <p:nvPr/>
        </p:nvSpPr>
        <p:spPr>
          <a:xfrm xmlns:a="http://schemas.openxmlformats.org/drawingml/2006/main">
            <a:off x="352425" y="8096250"/>
            <a:ext cx="18097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788" b="1">
                <a:solidFill>
                  <a:srgbClr val="FFFFFF"/>
                </a:solidFill>
              </a:defRPr>
            </a:pPr>
            <a:r>
              <a:rPr sz="788" b="1">
                <a:solidFill>
                  <a:srgbClr val="FFFFFF"/>
                </a:solidFill>
              </a:rPr>
              <a:t>90-DAY COMMERCIAL MOVES</a:t>
            </a:r>
          </a:p>
        </p:txBody>
      </p:sp>
      <p:sp>
        <p:nvSpPr>
          <p:cNvPr id="77" name="">
            <a:extLst xmlns:a="http://schemas.openxmlformats.org/drawingml/2006/main">
              <a:ext uri="{FF2B5EF4-FFF2-40B4-BE49-F238E27FC236}">
                <a16:creationId xmlns:a16="http://schemas.microsoft.com/office/drawing/2014/main" id="{40B0C671-1915-4B3D-BBED-46A7EA4EB730}"/>
              </a:ext>
            </a:extLst>
          </p:cNvPr>
          <p:cNvSpPr>
            <a:spLocks xmlns:a="http://schemas.openxmlformats.org/drawingml/2006/main" noGrp="1"/>
          </p:cNvSpPr>
          <p:nvPr/>
        </p:nvSpPr>
        <p:spPr>
          <a:xfrm xmlns:a="http://schemas.openxmlformats.org/drawingml/2006/main">
            <a:off x="381000" y="8486775"/>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D6544D"/>
                </a:solidFill>
              </a:defRPr>
            </a:pPr>
            <a:r>
              <a:rPr sz="600" b="1">
                <a:solidFill>
                  <a:srgbClr val="D6544D"/>
                </a:solidFill>
              </a:rPr>
              <a:t>●</a:t>
            </a:r>
          </a:p>
        </p:txBody>
      </p:sp>
      <p:sp>
        <p:nvSpPr>
          <p:cNvPr id="78" name="">
            <a:extLst xmlns:a="http://schemas.openxmlformats.org/drawingml/2006/main">
              <a:ext uri="{FF2B5EF4-FFF2-40B4-BE49-F238E27FC236}">
                <a16:creationId xmlns:a16="http://schemas.microsoft.com/office/drawing/2014/main" id="{5E4246FD-2FEF-41D4-9322-02D7223F8698}"/>
              </a:ext>
            </a:extLst>
          </p:cNvPr>
          <p:cNvSpPr>
            <a:spLocks xmlns:a="http://schemas.openxmlformats.org/drawingml/2006/main" noGrp="1"/>
          </p:cNvSpPr>
          <p:nvPr/>
        </p:nvSpPr>
        <p:spPr>
          <a:xfrm xmlns:a="http://schemas.openxmlformats.org/drawingml/2006/main">
            <a:off x="523875" y="8486775"/>
            <a:ext cx="1609725" cy="3905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1">
                <a:solidFill>
                  <a:srgbClr val="183B39"/>
                </a:solidFill>
              </a:defRPr>
            </a:pPr>
            <a:r>
              <a:rPr sz="765" b="1">
                <a:solidFill>
                  <a:srgbClr val="183B39"/>
                </a:solidFill>
              </a:rPr>
              <a:t>0–30d: validate mappings and publish exception list.</a:t>
            </a:r>
          </a:p>
        </p:txBody>
      </p:sp>
      <p:sp>
        <p:nvSpPr>
          <p:cNvPr id="79" name="">
            <a:extLst xmlns:a="http://schemas.openxmlformats.org/drawingml/2006/main">
              <a:ext uri="{FF2B5EF4-FFF2-40B4-BE49-F238E27FC236}">
                <a16:creationId xmlns:a16="http://schemas.microsoft.com/office/drawing/2014/main" id="{19350E2D-C38E-4BB5-B38F-292161069226}"/>
              </a:ext>
            </a:extLst>
          </p:cNvPr>
          <p:cNvSpPr>
            <a:spLocks xmlns:a="http://schemas.openxmlformats.org/drawingml/2006/main" noGrp="1"/>
          </p:cNvSpPr>
          <p:nvPr/>
        </p:nvSpPr>
        <p:spPr>
          <a:xfrm xmlns:a="http://schemas.openxmlformats.org/drawingml/2006/main">
            <a:off x="381000" y="8886825"/>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D6544D"/>
                </a:solidFill>
              </a:defRPr>
            </a:pPr>
            <a:r>
              <a:rPr sz="600" b="1">
                <a:solidFill>
                  <a:srgbClr val="D6544D"/>
                </a:solidFill>
              </a:rPr>
              <a:t>●</a:t>
            </a:r>
          </a:p>
        </p:txBody>
      </p:sp>
      <p:sp>
        <p:nvSpPr>
          <p:cNvPr id="80" name="">
            <a:extLst xmlns:a="http://schemas.openxmlformats.org/drawingml/2006/main">
              <a:ext uri="{FF2B5EF4-FFF2-40B4-BE49-F238E27FC236}">
                <a16:creationId xmlns:a16="http://schemas.microsoft.com/office/drawing/2014/main" id="{812BED93-25C4-48C3-B969-0822EBEF1085}"/>
              </a:ext>
            </a:extLst>
          </p:cNvPr>
          <p:cNvSpPr>
            <a:spLocks xmlns:a="http://schemas.openxmlformats.org/drawingml/2006/main" noGrp="1"/>
          </p:cNvSpPr>
          <p:nvPr/>
        </p:nvSpPr>
        <p:spPr>
          <a:xfrm xmlns:a="http://schemas.openxmlformats.org/drawingml/2006/main">
            <a:off x="523875" y="8886825"/>
            <a:ext cx="1609725" cy="3905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0–30d: fix North/East hero-SKU OSA.</a:t>
            </a:r>
          </a:p>
        </p:txBody>
      </p:sp>
      <p:sp>
        <p:nvSpPr>
          <p:cNvPr id="81" name="">
            <a:extLst xmlns:a="http://schemas.openxmlformats.org/drawingml/2006/main">
              <a:ext uri="{FF2B5EF4-FFF2-40B4-BE49-F238E27FC236}">
                <a16:creationId xmlns:a16="http://schemas.microsoft.com/office/drawing/2014/main" id="{993D7E16-98FB-4FC2-9649-0D72844A3337}"/>
              </a:ext>
            </a:extLst>
          </p:cNvPr>
          <p:cNvSpPr>
            <a:spLocks xmlns:a="http://schemas.openxmlformats.org/drawingml/2006/main" noGrp="1"/>
          </p:cNvSpPr>
          <p:nvPr/>
        </p:nvSpPr>
        <p:spPr>
          <a:xfrm xmlns:a="http://schemas.openxmlformats.org/drawingml/2006/main">
            <a:off x="381000" y="9286875"/>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F2B84B"/>
                </a:solidFill>
              </a:defRPr>
            </a:pPr>
            <a:r>
              <a:rPr sz="600" b="1">
                <a:solidFill>
                  <a:srgbClr val="F2B84B"/>
                </a:solidFill>
              </a:rPr>
              <a:t>●</a:t>
            </a:r>
          </a:p>
        </p:txBody>
      </p:sp>
      <p:sp>
        <p:nvSpPr>
          <p:cNvPr id="82" name="">
            <a:extLst xmlns:a="http://schemas.openxmlformats.org/drawingml/2006/main">
              <a:ext uri="{FF2B5EF4-FFF2-40B4-BE49-F238E27FC236}">
                <a16:creationId xmlns:a16="http://schemas.microsoft.com/office/drawing/2014/main" id="{3237C43C-8F63-45F0-8098-CDDBF2B33A33}"/>
              </a:ext>
            </a:extLst>
          </p:cNvPr>
          <p:cNvSpPr>
            <a:spLocks xmlns:a="http://schemas.openxmlformats.org/drawingml/2006/main" noGrp="1"/>
          </p:cNvSpPr>
          <p:nvPr/>
        </p:nvSpPr>
        <p:spPr>
          <a:xfrm xmlns:a="http://schemas.openxmlformats.org/drawingml/2006/main">
            <a:off x="523875" y="9286875"/>
            <a:ext cx="1609725" cy="3905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31–60d: close DMart South‑2 and Reliance North/East.</a:t>
            </a:r>
          </a:p>
        </p:txBody>
      </p:sp>
      <p:sp>
        <p:nvSpPr>
          <p:cNvPr id="83" name="">
            <a:extLst xmlns:a="http://schemas.openxmlformats.org/drawingml/2006/main">
              <a:ext uri="{FF2B5EF4-FFF2-40B4-BE49-F238E27FC236}">
                <a16:creationId xmlns:a16="http://schemas.microsoft.com/office/drawing/2014/main" id="{1A77D2F6-F205-40EF-AA50-1C83F483794C}"/>
              </a:ext>
            </a:extLst>
          </p:cNvPr>
          <p:cNvSpPr>
            <a:spLocks xmlns:a="http://schemas.openxmlformats.org/drawingml/2006/main" noGrp="1"/>
          </p:cNvSpPr>
          <p:nvPr/>
        </p:nvSpPr>
        <p:spPr>
          <a:xfrm xmlns:a="http://schemas.openxmlformats.org/drawingml/2006/main">
            <a:off x="381000" y="9686925"/>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B9A66"/>
                </a:solidFill>
              </a:defRPr>
            </a:pPr>
            <a:r>
              <a:rPr sz="600" b="1">
                <a:solidFill>
                  <a:srgbClr val="2B9A66"/>
                </a:solidFill>
              </a:rPr>
              <a:t>●</a:t>
            </a:r>
          </a:p>
        </p:txBody>
      </p:sp>
      <p:sp>
        <p:nvSpPr>
          <p:cNvPr id="84" name="">
            <a:extLst xmlns:a="http://schemas.openxmlformats.org/drawingml/2006/main">
              <a:ext uri="{FF2B5EF4-FFF2-40B4-BE49-F238E27FC236}">
                <a16:creationId xmlns:a16="http://schemas.microsoft.com/office/drawing/2014/main" id="{BFFFFDC8-B8F1-472C-8003-D548DF81E5E1}"/>
              </a:ext>
            </a:extLst>
          </p:cNvPr>
          <p:cNvSpPr>
            <a:spLocks xmlns:a="http://schemas.openxmlformats.org/drawingml/2006/main" noGrp="1"/>
          </p:cNvSpPr>
          <p:nvPr/>
        </p:nvSpPr>
        <p:spPr>
          <a:xfrm xmlns:a="http://schemas.openxmlformats.org/drawingml/2006/main">
            <a:off x="523875" y="9686925"/>
            <a:ext cx="1609725" cy="3905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61–90d: reset loading rules by verified conversion.</a:t>
            </a:r>
          </a:p>
        </p:txBody>
      </p:sp>
      <p:sp>
        <p:nvSpPr>
          <p:cNvPr id="85" name="">
            <a:extLst xmlns:a="http://schemas.openxmlformats.org/drawingml/2006/main">
              <a:ext uri="{FF2B5EF4-FFF2-40B4-BE49-F238E27FC236}">
                <a16:creationId xmlns:a16="http://schemas.microsoft.com/office/drawing/2014/main" id="{D5BAE5DE-0117-450F-A3F7-9C11F300AD6F}"/>
              </a:ext>
            </a:extLst>
          </p:cNvPr>
          <p:cNvSpPr>
            <a:spLocks xmlns:a="http://schemas.openxmlformats.org/drawingml/2006/main" noGrp="1"/>
          </p:cNvSpPr>
          <p:nvPr/>
        </p:nvSpPr>
        <p:spPr>
          <a:xfrm xmlns:a="http://schemas.openxmlformats.org/drawingml/2006/main">
            <a:off x="381000" y="10086975"/>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B9A66"/>
                </a:solidFill>
              </a:defRPr>
            </a:pPr>
            <a:r>
              <a:rPr sz="600" b="1">
                <a:solidFill>
                  <a:srgbClr val="2B9A66"/>
                </a:solidFill>
              </a:rPr>
              <a:t>●</a:t>
            </a:r>
          </a:p>
        </p:txBody>
      </p:sp>
      <p:sp>
        <p:nvSpPr>
          <p:cNvPr id="86" name="">
            <a:extLst xmlns:a="http://schemas.openxmlformats.org/drawingml/2006/main">
              <a:ext uri="{FF2B5EF4-FFF2-40B4-BE49-F238E27FC236}">
                <a16:creationId xmlns:a16="http://schemas.microsoft.com/office/drawing/2014/main" id="{D4278A87-B582-4615-8D0F-586E24FC754E}"/>
              </a:ext>
            </a:extLst>
          </p:cNvPr>
          <p:cNvSpPr>
            <a:spLocks xmlns:a="http://schemas.openxmlformats.org/drawingml/2006/main" noGrp="1"/>
          </p:cNvSpPr>
          <p:nvPr/>
        </p:nvSpPr>
        <p:spPr>
          <a:xfrm xmlns:a="http://schemas.openxmlformats.org/drawingml/2006/main">
            <a:off x="523875" y="10086975"/>
            <a:ext cx="1609725" cy="3905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Scale only interventions proven through offtake.</a:t>
            </a:r>
          </a:p>
        </p:txBody>
      </p:sp>
      <p:sp>
        <p:nvSpPr>
          <p:cNvPr id="87" name="">
            <a:extLst xmlns:a="http://schemas.openxmlformats.org/drawingml/2006/main">
              <a:ext uri="{FF2B5EF4-FFF2-40B4-BE49-F238E27FC236}">
                <a16:creationId xmlns:a16="http://schemas.microsoft.com/office/drawing/2014/main" id="{B348D4F2-E15B-42B2-BFF1-F01171B92E53}"/>
              </a:ext>
            </a:extLst>
          </p:cNvPr>
          <p:cNvSpPr>
            <a:spLocks xmlns:a="http://schemas.openxmlformats.org/drawingml/2006/main" noGrp="1"/>
          </p:cNvSpPr>
          <p:nvPr/>
        </p:nvSpPr>
        <p:spPr>
          <a:xfrm xmlns:a="http://schemas.openxmlformats.org/drawingml/2006/main">
            <a:off x="2438400" y="8077200"/>
            <a:ext cx="1981200" cy="2590800"/>
          </a:xfrm>
          <a:prstGeom xmlns:a="http://schemas.openxmlformats.org/drawingml/2006/main" prst="roundRect">
            <a:avLst>
              <a:gd name="adj" fmla="val 3846"/>
            </a:avLst>
          </a:prstGeom>
          <a:solidFill xmlns:a="http://schemas.openxmlformats.org/drawingml/2006/main">
            <a:srgbClr val="FFFFFF"/>
          </a:solidFill>
          <a:ln xmlns:a="http://schemas.openxmlformats.org/drawingml/2006/main" w="9525">
            <a:solidFill>
              <a:srgbClr val="C8DCD7"/>
            </a:solidFill>
            <a:prstDash val="solid"/>
          </a:ln>
        </p:spPr>
      </p:sp>
      <p:sp>
        <p:nvSpPr>
          <p:cNvPr id="88" name="">
            <a:extLst xmlns:a="http://schemas.openxmlformats.org/drawingml/2006/main">
              <a:ext uri="{FF2B5EF4-FFF2-40B4-BE49-F238E27FC236}">
                <a16:creationId xmlns:a16="http://schemas.microsoft.com/office/drawing/2014/main" id="{4AC63DC0-DA35-48B1-8344-EA86E2101A92}"/>
              </a:ext>
            </a:extLst>
          </p:cNvPr>
          <p:cNvSpPr>
            <a:spLocks xmlns:a="http://schemas.openxmlformats.org/drawingml/2006/main" noGrp="1"/>
          </p:cNvSpPr>
          <p:nvPr/>
        </p:nvSpPr>
        <p:spPr>
          <a:xfrm xmlns:a="http://schemas.openxmlformats.org/drawingml/2006/main">
            <a:off x="2438400" y="8077200"/>
            <a:ext cx="1981200" cy="285750"/>
          </a:xfrm>
          <a:prstGeom xmlns:a="http://schemas.openxmlformats.org/drawingml/2006/main" prst="rect">
            <a:avLst/>
          </a:prstGeom>
          <a:solidFill xmlns:a="http://schemas.openxmlformats.org/drawingml/2006/main">
            <a:srgbClr val="28A596"/>
          </a:solidFill>
          <a:ln xmlns:a="http://schemas.openxmlformats.org/drawingml/2006/main" w="0">
            <a:solidFill>
              <a:srgbClr val="28A596"/>
            </a:solidFill>
            <a:prstDash val="solid"/>
          </a:ln>
        </p:spPr>
      </p:sp>
      <p:sp>
        <p:nvSpPr>
          <p:cNvPr id="89" name="">
            <a:extLst xmlns:a="http://schemas.openxmlformats.org/drawingml/2006/main">
              <a:ext uri="{FF2B5EF4-FFF2-40B4-BE49-F238E27FC236}">
                <a16:creationId xmlns:a16="http://schemas.microsoft.com/office/drawing/2014/main" id="{12DF3B0E-9377-42F0-B294-97D2EB0C974D}"/>
              </a:ext>
            </a:extLst>
          </p:cNvPr>
          <p:cNvSpPr>
            <a:spLocks xmlns:a="http://schemas.openxmlformats.org/drawingml/2006/main" noGrp="1"/>
          </p:cNvSpPr>
          <p:nvPr/>
        </p:nvSpPr>
        <p:spPr>
          <a:xfrm xmlns:a="http://schemas.openxmlformats.org/drawingml/2006/main">
            <a:off x="2524125" y="8096250"/>
            <a:ext cx="18097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788" b="1">
                <a:solidFill>
                  <a:srgbClr val="FFFFFF"/>
                </a:solidFill>
              </a:defRPr>
            </a:pPr>
            <a:r>
              <a:rPr sz="788" b="1">
                <a:solidFill>
                  <a:srgbClr val="FFFFFF"/>
                </a:solidFill>
              </a:rPr>
              <a:t>LEADERSHIP SCOREBOARD</a:t>
            </a:r>
          </a:p>
        </p:txBody>
      </p:sp>
      <p:sp>
        <p:nvSpPr>
          <p:cNvPr id="90" name="">
            <a:extLst xmlns:a="http://schemas.openxmlformats.org/drawingml/2006/main">
              <a:ext uri="{FF2B5EF4-FFF2-40B4-BE49-F238E27FC236}">
                <a16:creationId xmlns:a16="http://schemas.microsoft.com/office/drawing/2014/main" id="{1FA5EE51-9D41-4578-9E76-EE7D662E03CF}"/>
              </a:ext>
            </a:extLst>
          </p:cNvPr>
          <p:cNvSpPr>
            <a:spLocks xmlns:a="http://schemas.openxmlformats.org/drawingml/2006/main" noGrp="1"/>
          </p:cNvSpPr>
          <p:nvPr/>
        </p:nvSpPr>
        <p:spPr>
          <a:xfrm xmlns:a="http://schemas.openxmlformats.org/drawingml/2006/main">
            <a:off x="2552700" y="8486775"/>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B9A66"/>
                </a:solidFill>
              </a:defRPr>
            </a:pPr>
            <a:r>
              <a:rPr sz="600" b="1">
                <a:solidFill>
                  <a:srgbClr val="2B9A66"/>
                </a:solidFill>
              </a:rPr>
              <a:t>●</a:t>
            </a:r>
          </a:p>
        </p:txBody>
      </p:sp>
      <p:sp>
        <p:nvSpPr>
          <p:cNvPr id="91" name="">
            <a:extLst xmlns:a="http://schemas.openxmlformats.org/drawingml/2006/main">
              <a:ext uri="{FF2B5EF4-FFF2-40B4-BE49-F238E27FC236}">
                <a16:creationId xmlns:a16="http://schemas.microsoft.com/office/drawing/2014/main" id="{78A8A96B-AF8C-486C-9448-426A2ACD838E}"/>
              </a:ext>
            </a:extLst>
          </p:cNvPr>
          <p:cNvSpPr>
            <a:spLocks xmlns:a="http://schemas.openxmlformats.org/drawingml/2006/main" noGrp="1"/>
          </p:cNvSpPr>
          <p:nvPr/>
        </p:nvSpPr>
        <p:spPr>
          <a:xfrm xmlns:a="http://schemas.openxmlformats.org/drawingml/2006/main">
            <a:off x="2695575" y="8486775"/>
            <a:ext cx="1609725" cy="3905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1">
                <a:solidFill>
                  <a:srgbClr val="183B39"/>
                </a:solidFill>
              </a:defRPr>
            </a:pPr>
            <a:r>
              <a:rPr sz="765" b="1">
                <a:solidFill>
                  <a:srgbClr val="183B39"/>
                </a:solidFill>
              </a:rPr>
              <a:t>Flow conversion: move toward &gt;90%.</a:t>
            </a:r>
          </a:p>
        </p:txBody>
      </p:sp>
      <p:sp>
        <p:nvSpPr>
          <p:cNvPr id="92" name="">
            <a:extLst xmlns:a="http://schemas.openxmlformats.org/drawingml/2006/main">
              <a:ext uri="{FF2B5EF4-FFF2-40B4-BE49-F238E27FC236}">
                <a16:creationId xmlns:a16="http://schemas.microsoft.com/office/drawing/2014/main" id="{65AF5F51-9725-4BCA-A8F8-B2EAD5E7885B}"/>
              </a:ext>
            </a:extLst>
          </p:cNvPr>
          <p:cNvSpPr>
            <a:spLocks xmlns:a="http://schemas.openxmlformats.org/drawingml/2006/main" noGrp="1"/>
          </p:cNvSpPr>
          <p:nvPr/>
        </p:nvSpPr>
        <p:spPr>
          <a:xfrm xmlns:a="http://schemas.openxmlformats.org/drawingml/2006/main">
            <a:off x="2552700" y="8886825"/>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F2B84B"/>
                </a:solidFill>
              </a:defRPr>
            </a:pPr>
            <a:r>
              <a:rPr sz="600" b="1">
                <a:solidFill>
                  <a:srgbClr val="F2B84B"/>
                </a:solidFill>
              </a:rPr>
              <a:t>●</a:t>
            </a:r>
          </a:p>
        </p:txBody>
      </p:sp>
      <p:sp>
        <p:nvSpPr>
          <p:cNvPr id="93" name="">
            <a:extLst xmlns:a="http://schemas.openxmlformats.org/drawingml/2006/main">
              <a:ext uri="{FF2B5EF4-FFF2-40B4-BE49-F238E27FC236}">
                <a16:creationId xmlns:a16="http://schemas.microsoft.com/office/drawing/2014/main" id="{4F1E87E6-3128-47D8-B058-1E4BCE338F62}"/>
              </a:ext>
            </a:extLst>
          </p:cNvPr>
          <p:cNvSpPr>
            <a:spLocks xmlns:a="http://schemas.openxmlformats.org/drawingml/2006/main" noGrp="1"/>
          </p:cNvSpPr>
          <p:nvPr/>
        </p:nvSpPr>
        <p:spPr>
          <a:xfrm xmlns:a="http://schemas.openxmlformats.org/drawingml/2006/main">
            <a:off x="2695575" y="8886825"/>
            <a:ext cx="1609725" cy="3905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DMart + Reliance gap: close 50% with named owners.</a:t>
            </a:r>
          </a:p>
        </p:txBody>
      </p:sp>
      <p:sp>
        <p:nvSpPr>
          <p:cNvPr id="94" name="">
            <a:extLst xmlns:a="http://schemas.openxmlformats.org/drawingml/2006/main">
              <a:ext uri="{FF2B5EF4-FFF2-40B4-BE49-F238E27FC236}">
                <a16:creationId xmlns:a16="http://schemas.microsoft.com/office/drawing/2014/main" id="{22CB7921-76D2-435A-BB88-B584860B166A}"/>
              </a:ext>
            </a:extLst>
          </p:cNvPr>
          <p:cNvSpPr>
            <a:spLocks xmlns:a="http://schemas.openxmlformats.org/drawingml/2006/main" noGrp="1"/>
          </p:cNvSpPr>
          <p:nvPr/>
        </p:nvSpPr>
        <p:spPr>
          <a:xfrm xmlns:a="http://schemas.openxmlformats.org/drawingml/2006/main">
            <a:off x="2552700" y="9286875"/>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B9A66"/>
                </a:solidFill>
              </a:defRPr>
            </a:pPr>
            <a:r>
              <a:rPr sz="600" b="1">
                <a:solidFill>
                  <a:srgbClr val="2B9A66"/>
                </a:solidFill>
              </a:rPr>
              <a:t>●</a:t>
            </a:r>
          </a:p>
        </p:txBody>
      </p:sp>
      <p:sp>
        <p:nvSpPr>
          <p:cNvPr id="95" name="">
            <a:extLst xmlns:a="http://schemas.openxmlformats.org/drawingml/2006/main">
              <a:ext uri="{FF2B5EF4-FFF2-40B4-BE49-F238E27FC236}">
                <a16:creationId xmlns:a16="http://schemas.microsoft.com/office/drawing/2014/main" id="{8D49B0AF-9F1C-49EC-8938-6A8FC6A45098}"/>
              </a:ext>
            </a:extLst>
          </p:cNvPr>
          <p:cNvSpPr>
            <a:spLocks xmlns:a="http://schemas.openxmlformats.org/drawingml/2006/main" noGrp="1"/>
          </p:cNvSpPr>
          <p:nvPr/>
        </p:nvSpPr>
        <p:spPr>
          <a:xfrm xmlns:a="http://schemas.openxmlformats.org/drawingml/2006/main">
            <a:off x="2695575" y="9286875"/>
            <a:ext cx="1609725" cy="3905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Hero-SKU OSA: maintain &gt;95% in priority stores.</a:t>
            </a:r>
          </a:p>
        </p:txBody>
      </p:sp>
      <p:sp>
        <p:nvSpPr>
          <p:cNvPr id="96" name="">
            <a:extLst xmlns:a="http://schemas.openxmlformats.org/drawingml/2006/main">
              <a:ext uri="{FF2B5EF4-FFF2-40B4-BE49-F238E27FC236}">
                <a16:creationId xmlns:a16="http://schemas.microsoft.com/office/drawing/2014/main" id="{BC9673D3-7C43-4883-8F95-EA2F496A0D37}"/>
              </a:ext>
            </a:extLst>
          </p:cNvPr>
          <p:cNvSpPr>
            <a:spLocks xmlns:a="http://schemas.openxmlformats.org/drawingml/2006/main" noGrp="1"/>
          </p:cNvSpPr>
          <p:nvPr/>
        </p:nvSpPr>
        <p:spPr>
          <a:xfrm xmlns:a="http://schemas.openxmlformats.org/drawingml/2006/main">
            <a:off x="2552700" y="9686925"/>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D6544D"/>
                </a:solidFill>
              </a:defRPr>
            </a:pPr>
            <a:r>
              <a:rPr sz="600" b="1">
                <a:solidFill>
                  <a:srgbClr val="D6544D"/>
                </a:solidFill>
              </a:rPr>
              <a:t>●</a:t>
            </a:r>
          </a:p>
        </p:txBody>
      </p:sp>
      <p:sp>
        <p:nvSpPr>
          <p:cNvPr id="97" name="">
            <a:extLst xmlns:a="http://schemas.openxmlformats.org/drawingml/2006/main">
              <a:ext uri="{FF2B5EF4-FFF2-40B4-BE49-F238E27FC236}">
                <a16:creationId xmlns:a16="http://schemas.microsoft.com/office/drawing/2014/main" id="{66DEFAD2-3B52-4D71-80C9-086D922D79A8}"/>
              </a:ext>
            </a:extLst>
          </p:cNvPr>
          <p:cNvSpPr>
            <a:spLocks xmlns:a="http://schemas.openxmlformats.org/drawingml/2006/main" noGrp="1"/>
          </p:cNvSpPr>
          <p:nvPr/>
        </p:nvSpPr>
        <p:spPr>
          <a:xfrm xmlns:a="http://schemas.openxmlformats.org/drawingml/2006/main">
            <a:off x="2695575" y="9686925"/>
            <a:ext cx="1609725" cy="3905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North and East gaps: decline every week.</a:t>
            </a:r>
          </a:p>
        </p:txBody>
      </p:sp>
      <p:sp>
        <p:nvSpPr>
          <p:cNvPr id="98" name="">
            <a:extLst xmlns:a="http://schemas.openxmlformats.org/drawingml/2006/main">
              <a:ext uri="{FF2B5EF4-FFF2-40B4-BE49-F238E27FC236}">
                <a16:creationId xmlns:a16="http://schemas.microsoft.com/office/drawing/2014/main" id="{8022CF32-B3CA-4C3D-BCC3-B213968CACE5}"/>
              </a:ext>
            </a:extLst>
          </p:cNvPr>
          <p:cNvSpPr>
            <a:spLocks xmlns:a="http://schemas.openxmlformats.org/drawingml/2006/main" noGrp="1"/>
          </p:cNvSpPr>
          <p:nvPr/>
        </p:nvSpPr>
        <p:spPr>
          <a:xfrm xmlns:a="http://schemas.openxmlformats.org/drawingml/2006/main">
            <a:off x="2552700" y="10086975"/>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8A596"/>
                </a:solidFill>
              </a:defRPr>
            </a:pPr>
            <a:r>
              <a:rPr sz="600" b="1">
                <a:solidFill>
                  <a:srgbClr val="28A596"/>
                </a:solidFill>
              </a:rPr>
              <a:t>●</a:t>
            </a:r>
          </a:p>
        </p:txBody>
      </p:sp>
      <p:sp>
        <p:nvSpPr>
          <p:cNvPr id="99" name="">
            <a:extLst xmlns:a="http://schemas.openxmlformats.org/drawingml/2006/main">
              <a:ext uri="{FF2B5EF4-FFF2-40B4-BE49-F238E27FC236}">
                <a16:creationId xmlns:a16="http://schemas.microsoft.com/office/drawing/2014/main" id="{FF37F801-E44F-4F56-95B7-A630076F9990}"/>
              </a:ext>
            </a:extLst>
          </p:cNvPr>
          <p:cNvSpPr>
            <a:spLocks xmlns:a="http://schemas.openxmlformats.org/drawingml/2006/main" noGrp="1"/>
          </p:cNvSpPr>
          <p:nvPr/>
        </p:nvSpPr>
        <p:spPr>
          <a:xfrm xmlns:a="http://schemas.openxmlformats.org/drawingml/2006/main">
            <a:off x="2695575" y="10086975"/>
            <a:ext cx="1609725" cy="3905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Data exceptions: zero unresolved before review.</a:t>
            </a:r>
          </a:p>
        </p:txBody>
      </p:sp>
      <p:sp>
        <p:nvSpPr>
          <p:cNvPr id="100" name="">
            <a:extLst xmlns:a="http://schemas.openxmlformats.org/drawingml/2006/main">
              <a:ext uri="{FF2B5EF4-FFF2-40B4-BE49-F238E27FC236}">
                <a16:creationId xmlns:a16="http://schemas.microsoft.com/office/drawing/2014/main" id="{F03B86A6-7CC1-4074-A2D9-9210955E41E0}"/>
              </a:ext>
            </a:extLst>
          </p:cNvPr>
          <p:cNvSpPr>
            <a:spLocks xmlns:a="http://schemas.openxmlformats.org/drawingml/2006/main" noGrp="1"/>
          </p:cNvSpPr>
          <p:nvPr/>
        </p:nvSpPr>
        <p:spPr>
          <a:xfrm xmlns:a="http://schemas.openxmlformats.org/drawingml/2006/main">
            <a:off x="4610100" y="8077200"/>
            <a:ext cx="1981200" cy="2590800"/>
          </a:xfrm>
          <a:prstGeom xmlns:a="http://schemas.openxmlformats.org/drawingml/2006/main" prst="roundRect">
            <a:avLst>
              <a:gd name="adj" fmla="val 3846"/>
            </a:avLst>
          </a:prstGeom>
          <a:solidFill xmlns:a="http://schemas.openxmlformats.org/drawingml/2006/main">
            <a:srgbClr val="FFFFFF"/>
          </a:solidFill>
          <a:ln xmlns:a="http://schemas.openxmlformats.org/drawingml/2006/main" w="9525">
            <a:solidFill>
              <a:srgbClr val="C8DCD7"/>
            </a:solidFill>
            <a:prstDash val="solid"/>
          </a:ln>
        </p:spPr>
      </p:sp>
      <p:sp>
        <p:nvSpPr>
          <p:cNvPr id="101" name="">
            <a:extLst xmlns:a="http://schemas.openxmlformats.org/drawingml/2006/main">
              <a:ext uri="{FF2B5EF4-FFF2-40B4-BE49-F238E27FC236}">
                <a16:creationId xmlns:a16="http://schemas.microsoft.com/office/drawing/2014/main" id="{3BF01DDF-E01B-40DC-B3E5-F8411FA14581}"/>
              </a:ext>
            </a:extLst>
          </p:cNvPr>
          <p:cNvSpPr>
            <a:spLocks xmlns:a="http://schemas.openxmlformats.org/drawingml/2006/main" noGrp="1"/>
          </p:cNvSpPr>
          <p:nvPr/>
        </p:nvSpPr>
        <p:spPr>
          <a:xfrm xmlns:a="http://schemas.openxmlformats.org/drawingml/2006/main">
            <a:off x="4610100" y="8077200"/>
            <a:ext cx="1981200" cy="285750"/>
          </a:xfrm>
          <a:prstGeom xmlns:a="http://schemas.openxmlformats.org/drawingml/2006/main" prst="rect">
            <a:avLst/>
          </a:prstGeom>
          <a:solidFill xmlns:a="http://schemas.openxmlformats.org/drawingml/2006/main">
            <a:srgbClr val="F2B84B"/>
          </a:solidFill>
          <a:ln xmlns:a="http://schemas.openxmlformats.org/drawingml/2006/main" w="0">
            <a:solidFill>
              <a:srgbClr val="F2B84B"/>
            </a:solidFill>
            <a:prstDash val="solid"/>
          </a:ln>
        </p:spPr>
      </p:sp>
      <p:sp>
        <p:nvSpPr>
          <p:cNvPr id="102" name="">
            <a:extLst xmlns:a="http://schemas.openxmlformats.org/drawingml/2006/main">
              <a:ext uri="{FF2B5EF4-FFF2-40B4-BE49-F238E27FC236}">
                <a16:creationId xmlns:a16="http://schemas.microsoft.com/office/drawing/2014/main" id="{04A20532-8066-4A0F-A630-31B885EBF34E}"/>
              </a:ext>
            </a:extLst>
          </p:cNvPr>
          <p:cNvSpPr>
            <a:spLocks xmlns:a="http://schemas.openxmlformats.org/drawingml/2006/main" noGrp="1"/>
          </p:cNvSpPr>
          <p:nvPr/>
        </p:nvSpPr>
        <p:spPr>
          <a:xfrm xmlns:a="http://schemas.openxmlformats.org/drawingml/2006/main">
            <a:off x="4695825" y="8096250"/>
            <a:ext cx="18097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788" b="1">
                <a:solidFill>
                  <a:srgbClr val="FFFFFF"/>
                </a:solidFill>
              </a:defRPr>
            </a:pPr>
            <a:r>
              <a:rPr sz="788" b="1">
                <a:solidFill>
                  <a:srgbClr val="FFFFFF"/>
                </a:solidFill>
              </a:rPr>
              <a:t>DECISION SAFEGUARDS</a:t>
            </a:r>
          </a:p>
        </p:txBody>
      </p:sp>
      <p:sp>
        <p:nvSpPr>
          <p:cNvPr id="103" name="">
            <a:extLst xmlns:a="http://schemas.openxmlformats.org/drawingml/2006/main">
              <a:ext uri="{FF2B5EF4-FFF2-40B4-BE49-F238E27FC236}">
                <a16:creationId xmlns:a16="http://schemas.microsoft.com/office/drawing/2014/main" id="{9CEA58B7-3376-47B3-A3AE-6F83E1D5FA01}"/>
              </a:ext>
            </a:extLst>
          </p:cNvPr>
          <p:cNvSpPr>
            <a:spLocks xmlns:a="http://schemas.openxmlformats.org/drawingml/2006/main" noGrp="1"/>
          </p:cNvSpPr>
          <p:nvPr/>
        </p:nvSpPr>
        <p:spPr>
          <a:xfrm xmlns:a="http://schemas.openxmlformats.org/drawingml/2006/main">
            <a:off x="4724400" y="8486775"/>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D6544D"/>
                </a:solidFill>
              </a:defRPr>
            </a:pPr>
            <a:r>
              <a:rPr sz="600" b="1">
                <a:solidFill>
                  <a:srgbClr val="D6544D"/>
                </a:solidFill>
              </a:rPr>
              <a:t>●</a:t>
            </a:r>
          </a:p>
        </p:txBody>
      </p:sp>
      <p:sp>
        <p:nvSpPr>
          <p:cNvPr id="104" name="">
            <a:extLst xmlns:a="http://schemas.openxmlformats.org/drawingml/2006/main">
              <a:ext uri="{FF2B5EF4-FFF2-40B4-BE49-F238E27FC236}">
                <a16:creationId xmlns:a16="http://schemas.microsoft.com/office/drawing/2014/main" id="{835AEF7D-72D5-4CF9-B922-07B6EBABE8FE}"/>
              </a:ext>
            </a:extLst>
          </p:cNvPr>
          <p:cNvSpPr>
            <a:spLocks xmlns:a="http://schemas.openxmlformats.org/drawingml/2006/main" noGrp="1"/>
          </p:cNvSpPr>
          <p:nvPr/>
        </p:nvSpPr>
        <p:spPr>
          <a:xfrm xmlns:a="http://schemas.openxmlformats.org/drawingml/2006/main">
            <a:off x="4867275" y="8486775"/>
            <a:ext cx="1609725" cy="3905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1">
                <a:solidFill>
                  <a:srgbClr val="183B39"/>
                </a:solidFill>
              </a:defRPr>
            </a:pPr>
            <a:r>
              <a:rPr sz="765" b="1">
                <a:solidFill>
                  <a:srgbClr val="183B39"/>
                </a:solidFill>
              </a:rPr>
              <a:t>Flow gap is not closing inventory or stock cover.</a:t>
            </a:r>
          </a:p>
        </p:txBody>
      </p:sp>
      <p:sp>
        <p:nvSpPr>
          <p:cNvPr id="105" name="">
            <a:extLst xmlns:a="http://schemas.openxmlformats.org/drawingml/2006/main">
              <a:ext uri="{FF2B5EF4-FFF2-40B4-BE49-F238E27FC236}">
                <a16:creationId xmlns:a16="http://schemas.microsoft.com/office/drawing/2014/main" id="{9B575BFD-8875-4AE2-AB93-AAD22D99BA43}"/>
              </a:ext>
            </a:extLst>
          </p:cNvPr>
          <p:cNvSpPr>
            <a:spLocks xmlns:a="http://schemas.openxmlformats.org/drawingml/2006/main" noGrp="1"/>
          </p:cNvSpPr>
          <p:nvPr/>
        </p:nvSpPr>
        <p:spPr>
          <a:xfrm xmlns:a="http://schemas.openxmlformats.org/drawingml/2006/main">
            <a:off x="4724400" y="8886825"/>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B9A66"/>
                </a:solidFill>
              </a:defRPr>
            </a:pPr>
            <a:r>
              <a:rPr sz="600" b="1">
                <a:solidFill>
                  <a:srgbClr val="2B9A66"/>
                </a:solidFill>
              </a:rPr>
              <a:t>●</a:t>
            </a:r>
          </a:p>
        </p:txBody>
      </p:sp>
      <p:sp>
        <p:nvSpPr>
          <p:cNvPr id="106" name="">
            <a:extLst xmlns:a="http://schemas.openxmlformats.org/drawingml/2006/main">
              <a:ext uri="{FF2B5EF4-FFF2-40B4-BE49-F238E27FC236}">
                <a16:creationId xmlns:a16="http://schemas.microsoft.com/office/drawing/2014/main" id="{827983BA-601C-4939-AAA6-92EE71FF6858}"/>
              </a:ext>
            </a:extLst>
          </p:cNvPr>
          <p:cNvSpPr>
            <a:spLocks xmlns:a="http://schemas.openxmlformats.org/drawingml/2006/main" noGrp="1"/>
          </p:cNvSpPr>
          <p:nvPr/>
        </p:nvSpPr>
        <p:spPr>
          <a:xfrm xmlns:a="http://schemas.openxmlformats.org/drawingml/2006/main">
            <a:off x="4867275" y="8886825"/>
            <a:ext cx="1609725" cy="3905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East leads NPI mix at 10.2%; protect launch availability.</a:t>
            </a:r>
          </a:p>
        </p:txBody>
      </p:sp>
      <p:sp>
        <p:nvSpPr>
          <p:cNvPr id="107" name="">
            <a:extLst xmlns:a="http://schemas.openxmlformats.org/drawingml/2006/main">
              <a:ext uri="{FF2B5EF4-FFF2-40B4-BE49-F238E27FC236}">
                <a16:creationId xmlns:a16="http://schemas.microsoft.com/office/drawing/2014/main" id="{D35F470C-74EC-4959-9726-C5DAC2E12E27}"/>
              </a:ext>
            </a:extLst>
          </p:cNvPr>
          <p:cNvSpPr>
            <a:spLocks xmlns:a="http://schemas.openxmlformats.org/drawingml/2006/main" noGrp="1"/>
          </p:cNvSpPr>
          <p:nvPr/>
        </p:nvSpPr>
        <p:spPr>
          <a:xfrm xmlns:a="http://schemas.openxmlformats.org/drawingml/2006/main">
            <a:off x="4724400" y="9286875"/>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B9A66"/>
                </a:solidFill>
              </a:defRPr>
            </a:pPr>
            <a:r>
              <a:rPr sz="600" b="1">
                <a:solidFill>
                  <a:srgbClr val="2B9A66"/>
                </a:solidFill>
              </a:rPr>
              <a:t>●</a:t>
            </a:r>
          </a:p>
        </p:txBody>
      </p:sp>
      <p:sp>
        <p:nvSpPr>
          <p:cNvPr id="108" name="">
            <a:extLst xmlns:a="http://schemas.openxmlformats.org/drawingml/2006/main">
              <a:ext uri="{FF2B5EF4-FFF2-40B4-BE49-F238E27FC236}">
                <a16:creationId xmlns:a16="http://schemas.microsoft.com/office/drawing/2014/main" id="{286DC97F-F552-4C01-8EEC-9BAF837B92FB}"/>
              </a:ext>
            </a:extLst>
          </p:cNvPr>
          <p:cNvSpPr>
            <a:spLocks xmlns:a="http://schemas.openxmlformats.org/drawingml/2006/main" noGrp="1"/>
          </p:cNvSpPr>
          <p:nvPr/>
        </p:nvSpPr>
        <p:spPr>
          <a:xfrm xmlns:a="http://schemas.openxmlformats.org/drawingml/2006/main">
            <a:off x="4867275" y="9286875"/>
            <a:ext cx="1609725" cy="3905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FSN/Nykaa sustains 99.4% flow despite July softness.</a:t>
            </a:r>
          </a:p>
        </p:txBody>
      </p:sp>
      <p:sp>
        <p:nvSpPr>
          <p:cNvPr id="109" name="">
            <a:extLst xmlns:a="http://schemas.openxmlformats.org/drawingml/2006/main">
              <a:ext uri="{FF2B5EF4-FFF2-40B4-BE49-F238E27FC236}">
                <a16:creationId xmlns:a16="http://schemas.microsoft.com/office/drawing/2014/main" id="{45D5D098-4322-4963-91DC-8AE2780B8B3C}"/>
              </a:ext>
            </a:extLst>
          </p:cNvPr>
          <p:cNvSpPr>
            <a:spLocks xmlns:a="http://schemas.openxmlformats.org/drawingml/2006/main" noGrp="1"/>
          </p:cNvSpPr>
          <p:nvPr/>
        </p:nvSpPr>
        <p:spPr>
          <a:xfrm xmlns:a="http://schemas.openxmlformats.org/drawingml/2006/main">
            <a:off x="4724400" y="9686925"/>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F2B84B"/>
                </a:solidFill>
              </a:defRPr>
            </a:pPr>
            <a:r>
              <a:rPr sz="600" b="1">
                <a:solidFill>
                  <a:srgbClr val="F2B84B"/>
                </a:solidFill>
              </a:rPr>
              <a:t>●</a:t>
            </a:r>
          </a:p>
        </p:txBody>
      </p:sp>
      <p:sp>
        <p:nvSpPr>
          <p:cNvPr id="110" name="">
            <a:extLst xmlns:a="http://schemas.openxmlformats.org/drawingml/2006/main">
              <a:ext uri="{FF2B5EF4-FFF2-40B4-BE49-F238E27FC236}">
                <a16:creationId xmlns:a16="http://schemas.microsoft.com/office/drawing/2014/main" id="{A4EF80CC-B848-4A98-BA5E-1937D6DFA955}"/>
              </a:ext>
            </a:extLst>
          </p:cNvPr>
          <p:cNvSpPr>
            <a:spLocks xmlns:a="http://schemas.openxmlformats.org/drawingml/2006/main" noGrp="1"/>
          </p:cNvSpPr>
          <p:nvPr/>
        </p:nvSpPr>
        <p:spPr>
          <a:xfrm xmlns:a="http://schemas.openxmlformats.org/drawingml/2006/main">
            <a:off x="4867275" y="9686925"/>
            <a:ext cx="1609725" cy="3905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No YoY or target claim without matched comparator data.</a:t>
            </a:r>
          </a:p>
        </p:txBody>
      </p:sp>
      <p:sp>
        <p:nvSpPr>
          <p:cNvPr id="111" name="">
            <a:extLst xmlns:a="http://schemas.openxmlformats.org/drawingml/2006/main">
              <a:ext uri="{FF2B5EF4-FFF2-40B4-BE49-F238E27FC236}">
                <a16:creationId xmlns:a16="http://schemas.microsoft.com/office/drawing/2014/main" id="{6FAF5857-FD41-4943-BD9D-C3A1D53D05C3}"/>
              </a:ext>
            </a:extLst>
          </p:cNvPr>
          <p:cNvSpPr>
            <a:spLocks xmlns:a="http://schemas.openxmlformats.org/drawingml/2006/main" noGrp="1"/>
          </p:cNvSpPr>
          <p:nvPr/>
        </p:nvSpPr>
        <p:spPr>
          <a:xfrm xmlns:a="http://schemas.openxmlformats.org/drawingml/2006/main">
            <a:off x="4724400" y="10086975"/>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B9A66"/>
                </a:solidFill>
              </a:defRPr>
            </a:pPr>
            <a:r>
              <a:rPr sz="600" b="1">
                <a:solidFill>
                  <a:srgbClr val="2B9A66"/>
                </a:solidFill>
              </a:rPr>
              <a:t>●</a:t>
            </a:r>
          </a:p>
        </p:txBody>
      </p:sp>
      <p:sp>
        <p:nvSpPr>
          <p:cNvPr id="112" name="">
            <a:extLst xmlns:a="http://schemas.openxmlformats.org/drawingml/2006/main">
              <a:ext uri="{FF2B5EF4-FFF2-40B4-BE49-F238E27FC236}">
                <a16:creationId xmlns:a16="http://schemas.microsoft.com/office/drawing/2014/main" id="{C2DBAA8E-F68C-4E71-B5E3-4A51D1E6E3E4}"/>
              </a:ext>
            </a:extLst>
          </p:cNvPr>
          <p:cNvSpPr>
            <a:spLocks xmlns:a="http://schemas.openxmlformats.org/drawingml/2006/main" noGrp="1"/>
          </p:cNvSpPr>
          <p:nvPr/>
        </p:nvSpPr>
        <p:spPr>
          <a:xfrm xmlns:a="http://schemas.openxmlformats.org/drawingml/2006/main">
            <a:off x="4867275" y="10086975"/>
            <a:ext cx="1609725" cy="3905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FSN and Nykaa SS are combined at article level.</a:t>
            </a:r>
          </a:p>
        </p:txBody>
      </p:sp>
      <p:sp>
        <p:nvSpPr>
          <p:cNvPr id="113" name="">
            <a:extLst xmlns:a="http://schemas.openxmlformats.org/drawingml/2006/main">
              <a:ext uri="{FF2B5EF4-FFF2-40B4-BE49-F238E27FC236}">
                <a16:creationId xmlns:a16="http://schemas.microsoft.com/office/drawing/2014/main" id="{EBE4D2E3-2872-4C72-8A47-518EFDDC24C1}"/>
              </a:ext>
            </a:extLst>
          </p:cNvPr>
          <p:cNvSpPr>
            <a:spLocks xmlns:a="http://schemas.openxmlformats.org/drawingml/2006/main" noGrp="1"/>
          </p:cNvSpPr>
          <p:nvPr/>
        </p:nvSpPr>
        <p:spPr>
          <a:xfrm xmlns:a="http://schemas.openxmlformats.org/drawingml/2006/main">
            <a:off x="266700" y="10858500"/>
            <a:ext cx="6324600" cy="723900"/>
          </a:xfrm>
          <a:prstGeom xmlns:a="http://schemas.openxmlformats.org/drawingml/2006/main" prst="roundRect">
            <a:avLst>
              <a:gd name="adj" fmla="val 10526"/>
            </a:avLst>
          </a:prstGeom>
          <a:solidFill xmlns:a="http://schemas.openxmlformats.org/drawingml/2006/main">
            <a:srgbClr val="DFF2ED"/>
          </a:solidFill>
          <a:ln xmlns:a="http://schemas.openxmlformats.org/drawingml/2006/main" w="9525">
            <a:solidFill>
              <a:srgbClr val="28A596"/>
            </a:solidFill>
            <a:prstDash val="solid"/>
          </a:ln>
        </p:spPr>
      </p:sp>
      <p:sp>
        <p:nvSpPr>
          <p:cNvPr id="114" name="">
            <a:extLst xmlns:a="http://schemas.openxmlformats.org/drawingml/2006/main">
              <a:ext uri="{FF2B5EF4-FFF2-40B4-BE49-F238E27FC236}">
                <a16:creationId xmlns:a16="http://schemas.microsoft.com/office/drawing/2014/main" id="{CF222217-E1F4-4601-B07C-E6A29E253CA2}"/>
              </a:ext>
            </a:extLst>
          </p:cNvPr>
          <p:cNvSpPr>
            <a:spLocks xmlns:a="http://schemas.openxmlformats.org/drawingml/2006/main" noGrp="1"/>
          </p:cNvSpPr>
          <p:nvPr/>
        </p:nvSpPr>
        <p:spPr>
          <a:xfrm xmlns:a="http://schemas.openxmlformats.org/drawingml/2006/main">
            <a:off x="371475" y="10953750"/>
            <a:ext cx="14287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750" b="1">
                <a:solidFill>
                  <a:srgbClr val="116F68"/>
                </a:solidFill>
              </a:defRPr>
            </a:pPr>
            <a:r>
              <a:rPr sz="750" b="1">
                <a:solidFill>
                  <a:srgbClr val="116F68"/>
                </a:solidFill>
              </a:rPr>
              <a:t>DEMAND</a:t>
            </a:r>
          </a:p>
        </p:txBody>
      </p:sp>
      <p:sp>
        <p:nvSpPr>
          <p:cNvPr id="115" name="">
            <a:extLst xmlns:a="http://schemas.openxmlformats.org/drawingml/2006/main">
              <a:ext uri="{FF2B5EF4-FFF2-40B4-BE49-F238E27FC236}">
                <a16:creationId xmlns:a16="http://schemas.microsoft.com/office/drawing/2014/main" id="{528B51BB-A478-469C-8AFE-24CEC77B96A8}"/>
              </a:ext>
            </a:extLst>
          </p:cNvPr>
          <p:cNvSpPr>
            <a:spLocks xmlns:a="http://schemas.openxmlformats.org/drawingml/2006/main" noGrp="1"/>
          </p:cNvSpPr>
          <p:nvPr/>
        </p:nvSpPr>
        <p:spPr>
          <a:xfrm xmlns:a="http://schemas.openxmlformats.org/drawingml/2006/main">
            <a:off x="371475" y="11172825"/>
            <a:ext cx="1428750" cy="2571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713" b="0">
                <a:solidFill>
                  <a:srgbClr val="183B39"/>
                </a:solidFill>
              </a:defRPr>
            </a:pPr>
            <a:r>
              <a:rPr sz="713" b="0">
                <a:solidFill>
                  <a:srgbClr val="183B39"/>
                </a:solidFill>
              </a:rPr>
              <a:t>Protect hero SKUs</a:t>
            </a:r>
          </a:p>
        </p:txBody>
      </p:sp>
      <p:sp>
        <p:nvSpPr>
          <p:cNvPr id="116" name="">
            <a:extLst xmlns:a="http://schemas.openxmlformats.org/drawingml/2006/main">
              <a:ext uri="{FF2B5EF4-FFF2-40B4-BE49-F238E27FC236}">
                <a16:creationId xmlns:a16="http://schemas.microsoft.com/office/drawing/2014/main" id="{91BB7695-B806-4DD0-9425-C91DCA589551}"/>
              </a:ext>
            </a:extLst>
          </p:cNvPr>
          <p:cNvSpPr>
            <a:spLocks xmlns:a="http://schemas.openxmlformats.org/drawingml/2006/main" noGrp="1"/>
          </p:cNvSpPr>
          <p:nvPr/>
        </p:nvSpPr>
        <p:spPr>
          <a:xfrm xmlns:a="http://schemas.openxmlformats.org/drawingml/2006/main">
            <a:off x="1885950" y="10972800"/>
            <a:ext cx="0" cy="466725"/>
          </a:xfrm>
          <a:prstGeom xmlns:a="http://schemas.openxmlformats.org/drawingml/2006/main" prst="line">
            <a:avLst/>
          </a:prstGeom>
          <a:ln xmlns:a="http://schemas.openxmlformats.org/drawingml/2006/main" w="9525">
            <a:solidFill>
              <a:srgbClr val="C8DCD7"/>
            </a:solidFill>
            <a:prstDash val="solid"/>
          </a:ln>
        </p:spPr>
      </p:sp>
      <p:sp>
        <p:nvSpPr>
          <p:cNvPr id="117" name="">
            <a:extLst xmlns:a="http://schemas.openxmlformats.org/drawingml/2006/main">
              <a:ext uri="{FF2B5EF4-FFF2-40B4-BE49-F238E27FC236}">
                <a16:creationId xmlns:a16="http://schemas.microsoft.com/office/drawing/2014/main" id="{C53AD965-531C-43E4-A43A-6AAB3EF29E86}"/>
              </a:ext>
            </a:extLst>
          </p:cNvPr>
          <p:cNvSpPr>
            <a:spLocks xmlns:a="http://schemas.openxmlformats.org/drawingml/2006/main" noGrp="1"/>
          </p:cNvSpPr>
          <p:nvPr/>
        </p:nvSpPr>
        <p:spPr>
          <a:xfrm xmlns:a="http://schemas.openxmlformats.org/drawingml/2006/main">
            <a:off x="1933575" y="10953750"/>
            <a:ext cx="14287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750" b="1">
                <a:solidFill>
                  <a:srgbClr val="116F68"/>
                </a:solidFill>
              </a:defRPr>
            </a:pPr>
            <a:r>
              <a:rPr sz="750" b="1">
                <a:solidFill>
                  <a:srgbClr val="116F68"/>
                </a:solidFill>
              </a:rPr>
              <a:t>DISTRIBUTION</a:t>
            </a:r>
          </a:p>
        </p:txBody>
      </p:sp>
      <p:sp>
        <p:nvSpPr>
          <p:cNvPr id="118" name="">
            <a:extLst xmlns:a="http://schemas.openxmlformats.org/drawingml/2006/main">
              <a:ext uri="{FF2B5EF4-FFF2-40B4-BE49-F238E27FC236}">
                <a16:creationId xmlns:a16="http://schemas.microsoft.com/office/drawing/2014/main" id="{634EE2B1-97B7-4C35-933F-7094716BFBE4}"/>
              </a:ext>
            </a:extLst>
          </p:cNvPr>
          <p:cNvSpPr>
            <a:spLocks xmlns:a="http://schemas.openxmlformats.org/drawingml/2006/main" noGrp="1"/>
          </p:cNvSpPr>
          <p:nvPr/>
        </p:nvSpPr>
        <p:spPr>
          <a:xfrm xmlns:a="http://schemas.openxmlformats.org/drawingml/2006/main">
            <a:off x="1933575" y="11172825"/>
            <a:ext cx="1428750" cy="2571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713" b="0">
                <a:solidFill>
                  <a:srgbClr val="183B39"/>
                </a:solidFill>
              </a:defRPr>
            </a:pPr>
            <a:r>
              <a:rPr sz="713" b="0">
                <a:solidFill>
                  <a:srgbClr val="183B39"/>
                </a:solidFill>
              </a:rPr>
              <a:t>Close chain-zone gaps</a:t>
            </a:r>
          </a:p>
        </p:txBody>
      </p:sp>
      <p:sp>
        <p:nvSpPr>
          <p:cNvPr id="119" name="">
            <a:extLst xmlns:a="http://schemas.openxmlformats.org/drawingml/2006/main">
              <a:ext uri="{FF2B5EF4-FFF2-40B4-BE49-F238E27FC236}">
                <a16:creationId xmlns:a16="http://schemas.microsoft.com/office/drawing/2014/main" id="{4ABECCB0-2E0A-4481-9CE1-272FDF979453}"/>
              </a:ext>
            </a:extLst>
          </p:cNvPr>
          <p:cNvSpPr>
            <a:spLocks xmlns:a="http://schemas.openxmlformats.org/drawingml/2006/main" noGrp="1"/>
          </p:cNvSpPr>
          <p:nvPr/>
        </p:nvSpPr>
        <p:spPr>
          <a:xfrm xmlns:a="http://schemas.openxmlformats.org/drawingml/2006/main">
            <a:off x="3448050" y="10972800"/>
            <a:ext cx="0" cy="466725"/>
          </a:xfrm>
          <a:prstGeom xmlns:a="http://schemas.openxmlformats.org/drawingml/2006/main" prst="line">
            <a:avLst/>
          </a:prstGeom>
          <a:ln xmlns:a="http://schemas.openxmlformats.org/drawingml/2006/main" w="9525">
            <a:solidFill>
              <a:srgbClr val="C8DCD7"/>
            </a:solidFill>
            <a:prstDash val="solid"/>
          </a:ln>
        </p:spPr>
      </p:sp>
      <p:sp>
        <p:nvSpPr>
          <p:cNvPr id="120" name="">
            <a:extLst xmlns:a="http://schemas.openxmlformats.org/drawingml/2006/main">
              <a:ext uri="{FF2B5EF4-FFF2-40B4-BE49-F238E27FC236}">
                <a16:creationId xmlns:a16="http://schemas.microsoft.com/office/drawing/2014/main" id="{F6FD627D-7134-4D24-A3D9-70E77E11C09D}"/>
              </a:ext>
            </a:extLst>
          </p:cNvPr>
          <p:cNvSpPr>
            <a:spLocks xmlns:a="http://schemas.openxmlformats.org/drawingml/2006/main" noGrp="1"/>
          </p:cNvSpPr>
          <p:nvPr/>
        </p:nvSpPr>
        <p:spPr>
          <a:xfrm xmlns:a="http://schemas.openxmlformats.org/drawingml/2006/main">
            <a:off x="3495675" y="10953750"/>
            <a:ext cx="14287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750" b="1">
                <a:solidFill>
                  <a:srgbClr val="116F68"/>
                </a:solidFill>
              </a:defRPr>
            </a:pPr>
            <a:r>
              <a:rPr sz="750" b="1">
                <a:solidFill>
                  <a:srgbClr val="116F68"/>
                </a:solidFill>
              </a:rPr>
              <a:t>CONVERSION</a:t>
            </a:r>
          </a:p>
        </p:txBody>
      </p:sp>
      <p:sp>
        <p:nvSpPr>
          <p:cNvPr id="121" name="">
            <a:extLst xmlns:a="http://schemas.openxmlformats.org/drawingml/2006/main">
              <a:ext uri="{FF2B5EF4-FFF2-40B4-BE49-F238E27FC236}">
                <a16:creationId xmlns:a16="http://schemas.microsoft.com/office/drawing/2014/main" id="{AD60DA7E-CC1E-45B5-A2AC-579275CA4109}"/>
              </a:ext>
            </a:extLst>
          </p:cNvPr>
          <p:cNvSpPr>
            <a:spLocks xmlns:a="http://schemas.openxmlformats.org/drawingml/2006/main" noGrp="1"/>
          </p:cNvSpPr>
          <p:nvPr/>
        </p:nvSpPr>
        <p:spPr>
          <a:xfrm xmlns:a="http://schemas.openxmlformats.org/drawingml/2006/main">
            <a:off x="3495675" y="11172825"/>
            <a:ext cx="1428750" cy="2571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713" b="0">
                <a:solidFill>
                  <a:srgbClr val="183B39"/>
                </a:solidFill>
              </a:defRPr>
            </a:pPr>
            <a:r>
              <a:rPr sz="713" b="0">
                <a:solidFill>
                  <a:srgbClr val="183B39"/>
                </a:solidFill>
              </a:rPr>
              <a:t>Move toward &gt;90%</a:t>
            </a:r>
          </a:p>
        </p:txBody>
      </p:sp>
      <p:sp>
        <p:nvSpPr>
          <p:cNvPr id="122" name="">
            <a:extLst xmlns:a="http://schemas.openxmlformats.org/drawingml/2006/main">
              <a:ext uri="{FF2B5EF4-FFF2-40B4-BE49-F238E27FC236}">
                <a16:creationId xmlns:a16="http://schemas.microsoft.com/office/drawing/2014/main" id="{E982FEA7-7596-4E5F-9E37-3CA259A48887}"/>
              </a:ext>
            </a:extLst>
          </p:cNvPr>
          <p:cNvSpPr>
            <a:spLocks xmlns:a="http://schemas.openxmlformats.org/drawingml/2006/main" noGrp="1"/>
          </p:cNvSpPr>
          <p:nvPr/>
        </p:nvSpPr>
        <p:spPr>
          <a:xfrm xmlns:a="http://schemas.openxmlformats.org/drawingml/2006/main">
            <a:off x="5010150" y="10972800"/>
            <a:ext cx="0" cy="466725"/>
          </a:xfrm>
          <a:prstGeom xmlns:a="http://schemas.openxmlformats.org/drawingml/2006/main" prst="line">
            <a:avLst/>
          </a:prstGeom>
          <a:ln xmlns:a="http://schemas.openxmlformats.org/drawingml/2006/main" w="9525">
            <a:solidFill>
              <a:srgbClr val="C8DCD7"/>
            </a:solidFill>
            <a:prstDash val="solid"/>
          </a:ln>
        </p:spPr>
      </p:sp>
      <p:sp>
        <p:nvSpPr>
          <p:cNvPr id="123" name="">
            <a:extLst xmlns:a="http://schemas.openxmlformats.org/drawingml/2006/main">
              <a:ext uri="{FF2B5EF4-FFF2-40B4-BE49-F238E27FC236}">
                <a16:creationId xmlns:a16="http://schemas.microsoft.com/office/drawing/2014/main" id="{8BCFE678-A7E8-4F45-A444-9F0B178FA2E0}"/>
              </a:ext>
            </a:extLst>
          </p:cNvPr>
          <p:cNvSpPr>
            <a:spLocks xmlns:a="http://schemas.openxmlformats.org/drawingml/2006/main" noGrp="1"/>
          </p:cNvSpPr>
          <p:nvPr/>
        </p:nvSpPr>
        <p:spPr>
          <a:xfrm xmlns:a="http://schemas.openxmlformats.org/drawingml/2006/main">
            <a:off x="5057775" y="10953750"/>
            <a:ext cx="14287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750" b="1">
                <a:solidFill>
                  <a:srgbClr val="116F68"/>
                </a:solidFill>
              </a:defRPr>
            </a:pPr>
            <a:r>
              <a:rPr sz="750" b="1">
                <a:solidFill>
                  <a:srgbClr val="116F68"/>
                </a:solidFill>
              </a:rPr>
              <a:t>GOVERNANCE</a:t>
            </a:r>
          </a:p>
        </p:txBody>
      </p:sp>
      <p:sp>
        <p:nvSpPr>
          <p:cNvPr id="124" name="">
            <a:extLst xmlns:a="http://schemas.openxmlformats.org/drawingml/2006/main">
              <a:ext uri="{FF2B5EF4-FFF2-40B4-BE49-F238E27FC236}">
                <a16:creationId xmlns:a16="http://schemas.microsoft.com/office/drawing/2014/main" id="{B3254425-F670-449F-B4C2-8C828DA2465E}"/>
              </a:ext>
            </a:extLst>
          </p:cNvPr>
          <p:cNvSpPr>
            <a:spLocks xmlns:a="http://schemas.openxmlformats.org/drawingml/2006/main" noGrp="1"/>
          </p:cNvSpPr>
          <p:nvPr/>
        </p:nvSpPr>
        <p:spPr>
          <a:xfrm xmlns:a="http://schemas.openxmlformats.org/drawingml/2006/main">
            <a:off x="5057775" y="11172825"/>
            <a:ext cx="1428750" cy="2571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713" b="0">
                <a:solidFill>
                  <a:srgbClr val="183B39"/>
                </a:solidFill>
              </a:defRPr>
            </a:pPr>
            <a:r>
              <a:rPr sz="713" b="0">
                <a:solidFill>
                  <a:srgbClr val="183B39"/>
                </a:solidFill>
              </a:rPr>
              <a:t>Weekly EAN review</a:t>
            </a:r>
          </a:p>
        </p:txBody>
      </p:sp>
      <p:sp>
        <p:nvSpPr>
          <p:cNvPr id="125" name="">
            <a:extLst xmlns:a="http://schemas.openxmlformats.org/drawingml/2006/main">
              <a:ext uri="{FF2B5EF4-FFF2-40B4-BE49-F238E27FC236}">
                <a16:creationId xmlns:a16="http://schemas.microsoft.com/office/drawing/2014/main" id="{FE7F8994-012C-4885-992B-809965A5389E}"/>
              </a:ext>
            </a:extLst>
          </p:cNvPr>
          <p:cNvSpPr>
            <a:spLocks xmlns:a="http://schemas.openxmlformats.org/drawingml/2006/main" noGrp="1"/>
          </p:cNvSpPr>
          <p:nvPr/>
        </p:nvSpPr>
        <p:spPr>
          <a:xfrm xmlns:a="http://schemas.openxmlformats.org/drawingml/2006/main">
            <a:off x="304800" y="11753850"/>
            <a:ext cx="62484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713" b="0">
                <a:solidFill>
                  <a:srgbClr val="5F716E"/>
                </a:solidFill>
              </a:defRPr>
            </a:pPr>
            <a:r>
              <a:rPr sz="713" b="0">
                <a:solidFill>
                  <a:srgbClr val="5F716E"/>
                </a:solidFill>
              </a:rPr>
              <a:t>Source-backed July management view | Values in ₹ Cr | Gap = primary minus offtake for comparable mapped cuts</a:t>
            </a:r>
          </a:p>
        </p:txBody>
      </p:sp>
    </p:spTree>
    <p:extLst>
      <p:ext uri="{BB962C8B-B14F-4D97-AF65-F5344CB8AC3E}">
        <p14:creationId xmlns:p14="http://schemas.microsoft.com/office/powerpoint/2010/main" val="247501611"/>
      </p:ext>
    </p:extLst>
  </p:cSld>
</p:sld>
</file>

<file path=ppt/slides/slide2.xml><?xml version="1.0" encoding="utf-8"?>
<p:sld xmlns:p="http://schemas.openxmlformats.org/presentationml/2006/main">
  <p:cSld>
    <p:bg>
      <p:bgPr>
        <a:solidFill xmlns:a="http://schemas.openxmlformats.org/drawingml/2006/main">
          <a:srgbClr val="F7FBFA"/>
        </a:solidFill>
      </p:bgPr>
    </p:bg>
    <p:spTree>
      <p:nvGrpSpPr>
        <p:cNvPr id="1" name=""/>
        <p:cNvGrpSpPr/>
        <p:nvPr/>
      </p:nvGrpSpPr>
      <p:grpSpPr>
        <a:xfrm xmlns:a="http://schemas.openxmlformats.org/drawingml/2006/main"/>
      </p:grpSpPr>
      <p:sp>
        <p:nvSpPr>
          <p:cNvPr id="123" name="">
            <a:extLst xmlns:a="http://schemas.openxmlformats.org/drawingml/2006/main">
              <a:ext uri="{FF2B5EF4-FFF2-40B4-BE49-F238E27FC236}">
                <a16:creationId xmlns:a16="http://schemas.microsoft.com/office/drawing/2014/main" id="{63ED312C-F840-4A08-979B-5EAB77F834D7}"/>
              </a:ext>
            </a:extLst>
          </p:cNvPr>
          <p:cNvSpPr>
            <a:spLocks xmlns:a="http://schemas.openxmlformats.org/drawingml/2006/main" noGrp="1"/>
          </p:cNvSpPr>
          <p:nvPr/>
        </p:nvSpPr>
        <p:spPr>
          <a:xfrm xmlns:a="http://schemas.openxmlformats.org/drawingml/2006/main">
            <a:off x="0" y="0"/>
            <a:ext cx="6858000" cy="1000125"/>
          </a:xfrm>
          <a:prstGeom xmlns:a="http://schemas.openxmlformats.org/drawingml/2006/main" prst="rect">
            <a:avLst/>
          </a:prstGeom>
          <a:solidFill xmlns:a="http://schemas.openxmlformats.org/drawingml/2006/main">
            <a:srgbClr val="116F68"/>
          </a:solidFill>
          <a:ln xmlns:a="http://schemas.openxmlformats.org/drawingml/2006/main" w="0">
            <a:solidFill>
              <a:srgbClr val="116F68"/>
            </a:solidFill>
            <a:prstDash val="solid"/>
          </a:ln>
        </p:spPr>
      </p:sp>
      <p:sp>
        <p:nvSpPr>
          <p:cNvPr id="2" name="">
            <a:extLst xmlns:a="http://schemas.openxmlformats.org/drawingml/2006/main">
              <a:ext uri="{FF2B5EF4-FFF2-40B4-BE49-F238E27FC236}">
                <a16:creationId xmlns:a16="http://schemas.microsoft.com/office/drawing/2014/main" id="{D1C613D6-9C7D-4232-84C4-C8483A42D9E1}"/>
              </a:ext>
            </a:extLst>
          </p:cNvPr>
          <p:cNvSpPr>
            <a:spLocks xmlns:a="http://schemas.openxmlformats.org/drawingml/2006/main" noGrp="1"/>
          </p:cNvSpPr>
          <p:nvPr/>
        </p:nvSpPr>
        <p:spPr>
          <a:xfrm xmlns:a="http://schemas.openxmlformats.org/drawingml/2006/main">
            <a:off x="361950" y="228600"/>
            <a:ext cx="59055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2025" b="1">
                <a:solidFill>
                  <a:srgbClr val="FFFFFF"/>
                </a:solidFill>
              </a:defRPr>
            </a:pPr>
            <a:r>
              <a:rPr sz="2025" b="1">
                <a:solidFill>
                  <a:srgbClr val="FFFFFF"/>
                </a:solidFill>
              </a:rPr>
              <a:t>Convert reporting into a State × Chain × SKU growth engine</a:t>
            </a:r>
          </a:p>
        </p:txBody>
      </p:sp>
      <p:sp>
        <p:nvSpPr>
          <p:cNvPr id="3" name="">
            <a:extLst xmlns:a="http://schemas.openxmlformats.org/drawingml/2006/main">
              <a:ext uri="{FF2B5EF4-FFF2-40B4-BE49-F238E27FC236}">
                <a16:creationId xmlns:a16="http://schemas.microsoft.com/office/drawing/2014/main" id="{8F71D9DD-FD96-4E54-9FCE-4632780F196C}"/>
              </a:ext>
            </a:extLst>
          </p:cNvPr>
          <p:cNvSpPr>
            <a:spLocks xmlns:a="http://schemas.openxmlformats.org/drawingml/2006/main" noGrp="1"/>
          </p:cNvSpPr>
          <p:nvPr/>
        </p:nvSpPr>
        <p:spPr>
          <a:xfrm xmlns:a="http://schemas.openxmlformats.org/drawingml/2006/main">
            <a:off x="381000" y="695325"/>
            <a:ext cx="57150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75" b="0">
                <a:solidFill>
                  <a:srgbClr val="DFF2ED"/>
                </a:solidFill>
              </a:defRPr>
            </a:pPr>
            <a:r>
              <a:rPr sz="975" b="0">
                <a:solidFill>
                  <a:srgbClr val="DFF2ED"/>
                </a:solidFill>
              </a:rPr>
              <a:t>Decision framework | source-backed measures plus clearly labelled diagnostic extensions</a:t>
            </a:r>
          </a:p>
        </p:txBody>
      </p:sp>
      <p:sp>
        <p:nvSpPr>
          <p:cNvPr id="4" name="">
            <a:extLst xmlns:a="http://schemas.openxmlformats.org/drawingml/2006/main">
              <a:ext uri="{FF2B5EF4-FFF2-40B4-BE49-F238E27FC236}">
                <a16:creationId xmlns:a16="http://schemas.microsoft.com/office/drawing/2014/main" id="{2A0E5BF2-2910-4D02-B3F7-A7EFE569E7D2}"/>
              </a:ext>
            </a:extLst>
          </p:cNvPr>
          <p:cNvSpPr>
            <a:spLocks xmlns:a="http://schemas.openxmlformats.org/drawingml/2006/main" noGrp="1"/>
          </p:cNvSpPr>
          <p:nvPr/>
        </p:nvSpPr>
        <p:spPr>
          <a:xfrm xmlns:a="http://schemas.openxmlformats.org/drawingml/2006/main">
            <a:off x="6191250" y="361950"/>
            <a:ext cx="3429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900" b="1">
                <a:solidFill>
                  <a:srgbClr val="FFFFFF"/>
                </a:solidFill>
              </a:defRPr>
            </a:pPr>
            <a:r>
              <a:rPr sz="900" b="1">
                <a:solidFill>
                  <a:srgbClr val="FFFFFF"/>
                </a:solidFill>
              </a:rPr>
              <a:t>02</a:t>
            </a:r>
          </a:p>
        </p:txBody>
      </p:sp>
      <p:sp>
        <p:nvSpPr>
          <p:cNvPr id="5" name="">
            <a:extLst xmlns:a="http://schemas.openxmlformats.org/drawingml/2006/main">
              <a:ext uri="{FF2B5EF4-FFF2-40B4-BE49-F238E27FC236}">
                <a16:creationId xmlns:a16="http://schemas.microsoft.com/office/drawing/2014/main" id="{FD08A1FC-D728-4209-96B2-97D4597376DE}"/>
              </a:ext>
            </a:extLst>
          </p:cNvPr>
          <p:cNvSpPr>
            <a:spLocks xmlns:a="http://schemas.openxmlformats.org/drawingml/2006/main" noGrp="1"/>
          </p:cNvSpPr>
          <p:nvPr/>
        </p:nvSpPr>
        <p:spPr>
          <a:xfrm xmlns:a="http://schemas.openxmlformats.org/drawingml/2006/main">
            <a:off x="266700" y="1123950"/>
            <a:ext cx="6324600" cy="1162050"/>
          </a:xfrm>
          <a:prstGeom xmlns:a="http://schemas.openxmlformats.org/drawingml/2006/main" prst="roundRect">
            <a:avLst>
              <a:gd name="adj" fmla="val 6557"/>
            </a:avLst>
          </a:prstGeom>
          <a:solidFill xmlns:a="http://schemas.openxmlformats.org/drawingml/2006/main">
            <a:srgbClr val="DFF2ED"/>
          </a:solidFill>
          <a:ln xmlns:a="http://schemas.openxmlformats.org/drawingml/2006/main" w="9525">
            <a:solidFill>
              <a:srgbClr val="28A596"/>
            </a:solidFill>
            <a:prstDash val="solid"/>
          </a:ln>
        </p:spPr>
      </p:sp>
      <p:sp>
        <p:nvSpPr>
          <p:cNvPr id="6" name="">
            <a:extLst xmlns:a="http://schemas.openxmlformats.org/drawingml/2006/main">
              <a:ext uri="{FF2B5EF4-FFF2-40B4-BE49-F238E27FC236}">
                <a16:creationId xmlns:a16="http://schemas.microsoft.com/office/drawing/2014/main" id="{AF7306CC-B3B5-4CA0-A40D-C06915758189}"/>
              </a:ext>
            </a:extLst>
          </p:cNvPr>
          <p:cNvSpPr>
            <a:spLocks xmlns:a="http://schemas.openxmlformats.org/drawingml/2006/main" noGrp="1"/>
          </p:cNvSpPr>
          <p:nvPr/>
        </p:nvSpPr>
        <p:spPr>
          <a:xfrm xmlns:a="http://schemas.openxmlformats.org/drawingml/2006/main">
            <a:off x="457200" y="1276350"/>
            <a:ext cx="59436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425" b="1">
                <a:solidFill>
                  <a:srgbClr val="116F68"/>
                </a:solidFill>
              </a:defRPr>
            </a:pPr>
            <a:r>
              <a:rPr sz="1425" b="1">
                <a:solidFill>
                  <a:srgbClr val="116F68"/>
                </a:solidFill>
              </a:rPr>
              <a:t>The decision is not “push more primary”; it is “find proven demand constrained by execution.”</a:t>
            </a:r>
          </a:p>
        </p:txBody>
      </p:sp>
      <p:sp>
        <p:nvSpPr>
          <p:cNvPr id="7" name="">
            <a:extLst xmlns:a="http://schemas.openxmlformats.org/drawingml/2006/main">
              <a:ext uri="{FF2B5EF4-FFF2-40B4-BE49-F238E27FC236}">
                <a16:creationId xmlns:a16="http://schemas.microsoft.com/office/drawing/2014/main" id="{44A8AC96-5B94-4BB0-A5CD-6BDE34E0B45E}"/>
              </a:ext>
            </a:extLst>
          </p:cNvPr>
          <p:cNvSpPr>
            <a:spLocks xmlns:a="http://schemas.openxmlformats.org/drawingml/2006/main" noGrp="1"/>
          </p:cNvSpPr>
          <p:nvPr/>
        </p:nvSpPr>
        <p:spPr>
          <a:xfrm xmlns:a="http://schemas.openxmlformats.org/drawingml/2006/main">
            <a:off x="552450" y="1724025"/>
            <a:ext cx="57531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863" b="0">
                <a:solidFill>
                  <a:srgbClr val="5F716E"/>
                </a:solidFill>
              </a:defRPr>
            </a:pPr>
            <a:r>
              <a:rPr sz="863" b="0">
                <a:solidFill>
                  <a:srgbClr val="5F716E"/>
                </a:solidFill>
              </a:rPr>
              <a:t>Use validated July flow measures now; add SAH, PDO, OOS and stock fields only after reconciliation.</a:t>
            </a:r>
          </a:p>
        </p:txBody>
      </p:sp>
      <p:sp>
        <p:nvSpPr>
          <p:cNvPr id="8" name="">
            <a:extLst xmlns:a="http://schemas.openxmlformats.org/drawingml/2006/main">
              <a:ext uri="{FF2B5EF4-FFF2-40B4-BE49-F238E27FC236}">
                <a16:creationId xmlns:a16="http://schemas.microsoft.com/office/drawing/2014/main" id="{688EEE5E-FFA5-47C3-BFC7-747A8762D5AE}"/>
              </a:ext>
            </a:extLst>
          </p:cNvPr>
          <p:cNvSpPr>
            <a:spLocks xmlns:a="http://schemas.openxmlformats.org/drawingml/2006/main" noGrp="1"/>
          </p:cNvSpPr>
          <p:nvPr/>
        </p:nvSpPr>
        <p:spPr>
          <a:xfrm xmlns:a="http://schemas.openxmlformats.org/drawingml/2006/main">
            <a:off x="266700" y="2457450"/>
            <a:ext cx="1981200" cy="2590800"/>
          </a:xfrm>
          <a:prstGeom xmlns:a="http://schemas.openxmlformats.org/drawingml/2006/main" prst="roundRect">
            <a:avLst>
              <a:gd name="adj" fmla="val 3846"/>
            </a:avLst>
          </a:prstGeom>
          <a:solidFill xmlns:a="http://schemas.openxmlformats.org/drawingml/2006/main">
            <a:srgbClr val="FFFFFF"/>
          </a:solidFill>
          <a:ln xmlns:a="http://schemas.openxmlformats.org/drawingml/2006/main" w="9525">
            <a:solidFill>
              <a:srgbClr val="C8DCD7"/>
            </a:solidFill>
            <a:prstDash val="solid"/>
          </a:ln>
        </p:spPr>
      </p:sp>
      <p:sp>
        <p:nvSpPr>
          <p:cNvPr id="9" name="">
            <a:extLst xmlns:a="http://schemas.openxmlformats.org/drawingml/2006/main">
              <a:ext uri="{FF2B5EF4-FFF2-40B4-BE49-F238E27FC236}">
                <a16:creationId xmlns:a16="http://schemas.microsoft.com/office/drawing/2014/main" id="{59EB116F-873D-45B7-A1E7-6611B658A325}"/>
              </a:ext>
            </a:extLst>
          </p:cNvPr>
          <p:cNvSpPr>
            <a:spLocks xmlns:a="http://schemas.openxmlformats.org/drawingml/2006/main" noGrp="1"/>
          </p:cNvSpPr>
          <p:nvPr/>
        </p:nvSpPr>
        <p:spPr>
          <a:xfrm xmlns:a="http://schemas.openxmlformats.org/drawingml/2006/main">
            <a:off x="266700" y="2457450"/>
            <a:ext cx="1981200" cy="285750"/>
          </a:xfrm>
          <a:prstGeom xmlns:a="http://schemas.openxmlformats.org/drawingml/2006/main" prst="rect">
            <a:avLst/>
          </a:prstGeom>
          <a:solidFill xmlns:a="http://schemas.openxmlformats.org/drawingml/2006/main">
            <a:srgbClr val="116F68"/>
          </a:solidFill>
          <a:ln xmlns:a="http://schemas.openxmlformats.org/drawingml/2006/main" w="0">
            <a:solidFill>
              <a:srgbClr val="116F68"/>
            </a:solidFill>
            <a:prstDash val="solid"/>
          </a:ln>
        </p:spPr>
      </p:sp>
      <p:sp>
        <p:nvSpPr>
          <p:cNvPr id="10" name="">
            <a:extLst xmlns:a="http://schemas.openxmlformats.org/drawingml/2006/main">
              <a:ext uri="{FF2B5EF4-FFF2-40B4-BE49-F238E27FC236}">
                <a16:creationId xmlns:a16="http://schemas.microsoft.com/office/drawing/2014/main" id="{CF95EB9F-5D6E-4BEB-B8C3-32CD8E6F3260}"/>
              </a:ext>
            </a:extLst>
          </p:cNvPr>
          <p:cNvSpPr>
            <a:spLocks xmlns:a="http://schemas.openxmlformats.org/drawingml/2006/main" noGrp="1"/>
          </p:cNvSpPr>
          <p:nvPr/>
        </p:nvSpPr>
        <p:spPr>
          <a:xfrm xmlns:a="http://schemas.openxmlformats.org/drawingml/2006/main">
            <a:off x="352425" y="2476500"/>
            <a:ext cx="18097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788" b="1">
                <a:solidFill>
                  <a:srgbClr val="FFFFFF"/>
                </a:solidFill>
              </a:defRPr>
            </a:pPr>
            <a:r>
              <a:rPr sz="788" b="1">
                <a:solidFill>
                  <a:srgbClr val="FFFFFF"/>
                </a:solidFill>
              </a:rPr>
              <a:t>GROWTH EQUATION</a:t>
            </a:r>
          </a:p>
        </p:txBody>
      </p:sp>
      <p:sp>
        <p:nvSpPr>
          <p:cNvPr id="11" name="">
            <a:extLst xmlns:a="http://schemas.openxmlformats.org/drawingml/2006/main">
              <a:ext uri="{FF2B5EF4-FFF2-40B4-BE49-F238E27FC236}">
                <a16:creationId xmlns:a16="http://schemas.microsoft.com/office/drawing/2014/main" id="{212295D9-025E-466C-8299-E94DBD1C385A}"/>
              </a:ext>
            </a:extLst>
          </p:cNvPr>
          <p:cNvSpPr>
            <a:spLocks xmlns:a="http://schemas.openxmlformats.org/drawingml/2006/main" noGrp="1"/>
          </p:cNvSpPr>
          <p:nvPr/>
        </p:nvSpPr>
        <p:spPr>
          <a:xfrm xmlns:a="http://schemas.openxmlformats.org/drawingml/2006/main">
            <a:off x="381000" y="2857500"/>
            <a:ext cx="17526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350" b="1">
                <a:solidFill>
                  <a:srgbClr val="116F68"/>
                </a:solidFill>
              </a:defRPr>
            </a:pPr>
            <a:r>
              <a:rPr sz="1350" b="1">
                <a:solidFill>
                  <a:srgbClr val="116F68"/>
                </a:solidFill>
              </a:rPr>
              <a:t>5 levers</a:t>
            </a:r>
          </a:p>
        </p:txBody>
      </p:sp>
      <p:sp>
        <p:nvSpPr>
          <p:cNvPr id="12" name="">
            <a:extLst xmlns:a="http://schemas.openxmlformats.org/drawingml/2006/main">
              <a:ext uri="{FF2B5EF4-FFF2-40B4-BE49-F238E27FC236}">
                <a16:creationId xmlns:a16="http://schemas.microsoft.com/office/drawing/2014/main" id="{6E358416-C47E-4098-8585-C0A8C6258FEC}"/>
              </a:ext>
            </a:extLst>
          </p:cNvPr>
          <p:cNvSpPr>
            <a:spLocks xmlns:a="http://schemas.openxmlformats.org/drawingml/2006/main" noGrp="1"/>
          </p:cNvSpPr>
          <p:nvPr/>
        </p:nvSpPr>
        <p:spPr>
          <a:xfrm xmlns:a="http://schemas.openxmlformats.org/drawingml/2006/main">
            <a:off x="400050" y="3333750"/>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B9A66"/>
                </a:solidFill>
              </a:defRPr>
            </a:pPr>
            <a:r>
              <a:rPr sz="600" b="1">
                <a:solidFill>
                  <a:srgbClr val="2B9A66"/>
                </a:solidFill>
              </a:rPr>
              <a:t>●</a:t>
            </a:r>
          </a:p>
        </p:txBody>
      </p:sp>
      <p:sp>
        <p:nvSpPr>
          <p:cNvPr id="13" name="">
            <a:extLst xmlns:a="http://schemas.openxmlformats.org/drawingml/2006/main">
              <a:ext uri="{FF2B5EF4-FFF2-40B4-BE49-F238E27FC236}">
                <a16:creationId xmlns:a16="http://schemas.microsoft.com/office/drawing/2014/main" id="{CCFF3F3D-8F85-4E7A-9575-FD1804479F49}"/>
              </a:ext>
            </a:extLst>
          </p:cNvPr>
          <p:cNvSpPr>
            <a:spLocks xmlns:a="http://schemas.openxmlformats.org/drawingml/2006/main" noGrp="1"/>
          </p:cNvSpPr>
          <p:nvPr/>
        </p:nvSpPr>
        <p:spPr>
          <a:xfrm xmlns:a="http://schemas.openxmlformats.org/drawingml/2006/main">
            <a:off x="542925" y="3333750"/>
            <a:ext cx="1571625" cy="295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1">
                <a:solidFill>
                  <a:srgbClr val="183B39"/>
                </a:solidFill>
              </a:defRPr>
            </a:pPr>
            <a:r>
              <a:rPr sz="765" b="1">
                <a:solidFill>
                  <a:srgbClr val="183B39"/>
                </a:solidFill>
              </a:rPr>
              <a:t>Distribution white space</a:t>
            </a:r>
          </a:p>
        </p:txBody>
      </p:sp>
      <p:sp>
        <p:nvSpPr>
          <p:cNvPr id="14" name="">
            <a:extLst xmlns:a="http://schemas.openxmlformats.org/drawingml/2006/main">
              <a:ext uri="{FF2B5EF4-FFF2-40B4-BE49-F238E27FC236}">
                <a16:creationId xmlns:a16="http://schemas.microsoft.com/office/drawing/2014/main" id="{0FBFB8CA-48DA-4430-B2E5-87B141A5D9A6}"/>
              </a:ext>
            </a:extLst>
          </p:cNvPr>
          <p:cNvSpPr>
            <a:spLocks xmlns:a="http://schemas.openxmlformats.org/drawingml/2006/main" noGrp="1"/>
          </p:cNvSpPr>
          <p:nvPr/>
        </p:nvSpPr>
        <p:spPr>
          <a:xfrm xmlns:a="http://schemas.openxmlformats.org/drawingml/2006/main">
            <a:off x="400050" y="3638550"/>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8A596"/>
                </a:solidFill>
              </a:defRPr>
            </a:pPr>
            <a:r>
              <a:rPr sz="600" b="1">
                <a:solidFill>
                  <a:srgbClr val="28A596"/>
                </a:solidFill>
              </a:rPr>
              <a:t>●</a:t>
            </a:r>
          </a:p>
        </p:txBody>
      </p:sp>
      <p:sp>
        <p:nvSpPr>
          <p:cNvPr id="15" name="">
            <a:extLst xmlns:a="http://schemas.openxmlformats.org/drawingml/2006/main">
              <a:ext uri="{FF2B5EF4-FFF2-40B4-BE49-F238E27FC236}">
                <a16:creationId xmlns:a16="http://schemas.microsoft.com/office/drawing/2014/main" id="{62C1DF15-9853-494A-882D-CF4127155400}"/>
              </a:ext>
            </a:extLst>
          </p:cNvPr>
          <p:cNvSpPr>
            <a:spLocks xmlns:a="http://schemas.openxmlformats.org/drawingml/2006/main" noGrp="1"/>
          </p:cNvSpPr>
          <p:nvPr/>
        </p:nvSpPr>
        <p:spPr>
          <a:xfrm xmlns:a="http://schemas.openxmlformats.org/drawingml/2006/main">
            <a:off x="542925" y="3638550"/>
            <a:ext cx="1571625" cy="295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Assortment and pack</a:t>
            </a:r>
          </a:p>
        </p:txBody>
      </p:sp>
      <p:sp>
        <p:nvSpPr>
          <p:cNvPr id="16" name="">
            <a:extLst xmlns:a="http://schemas.openxmlformats.org/drawingml/2006/main">
              <a:ext uri="{FF2B5EF4-FFF2-40B4-BE49-F238E27FC236}">
                <a16:creationId xmlns:a16="http://schemas.microsoft.com/office/drawing/2014/main" id="{5D70D53E-2CB8-4776-9ED4-A90AF12D0A18}"/>
              </a:ext>
            </a:extLst>
          </p:cNvPr>
          <p:cNvSpPr>
            <a:spLocks xmlns:a="http://schemas.openxmlformats.org/drawingml/2006/main" noGrp="1"/>
          </p:cNvSpPr>
          <p:nvPr/>
        </p:nvSpPr>
        <p:spPr>
          <a:xfrm xmlns:a="http://schemas.openxmlformats.org/drawingml/2006/main">
            <a:off x="400050" y="3943350"/>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8A596"/>
                </a:solidFill>
              </a:defRPr>
            </a:pPr>
            <a:r>
              <a:rPr sz="600" b="1">
                <a:solidFill>
                  <a:srgbClr val="28A596"/>
                </a:solidFill>
              </a:rPr>
              <a:t>●</a:t>
            </a:r>
          </a:p>
        </p:txBody>
      </p:sp>
      <p:sp>
        <p:nvSpPr>
          <p:cNvPr id="17" name="">
            <a:extLst xmlns:a="http://schemas.openxmlformats.org/drawingml/2006/main">
              <a:ext uri="{FF2B5EF4-FFF2-40B4-BE49-F238E27FC236}">
                <a16:creationId xmlns:a16="http://schemas.microsoft.com/office/drawing/2014/main" id="{7BBD5D0B-AD75-4257-98F7-A407867B66BF}"/>
              </a:ext>
            </a:extLst>
          </p:cNvPr>
          <p:cNvSpPr>
            <a:spLocks xmlns:a="http://schemas.openxmlformats.org/drawingml/2006/main" noGrp="1"/>
          </p:cNvSpPr>
          <p:nvPr/>
        </p:nvSpPr>
        <p:spPr>
          <a:xfrm xmlns:a="http://schemas.openxmlformats.org/drawingml/2006/main">
            <a:off x="542925" y="3943350"/>
            <a:ext cx="1571625" cy="295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Availability recovery</a:t>
            </a:r>
          </a:p>
        </p:txBody>
      </p:sp>
      <p:sp>
        <p:nvSpPr>
          <p:cNvPr id="18" name="">
            <a:extLst xmlns:a="http://schemas.openxmlformats.org/drawingml/2006/main">
              <a:ext uri="{FF2B5EF4-FFF2-40B4-BE49-F238E27FC236}">
                <a16:creationId xmlns:a16="http://schemas.microsoft.com/office/drawing/2014/main" id="{D02278C5-9A28-4F01-963D-7572F9305DD1}"/>
              </a:ext>
            </a:extLst>
          </p:cNvPr>
          <p:cNvSpPr>
            <a:spLocks xmlns:a="http://schemas.openxmlformats.org/drawingml/2006/main" noGrp="1"/>
          </p:cNvSpPr>
          <p:nvPr/>
        </p:nvSpPr>
        <p:spPr>
          <a:xfrm xmlns:a="http://schemas.openxmlformats.org/drawingml/2006/main">
            <a:off x="400050" y="4248150"/>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8A596"/>
                </a:solidFill>
              </a:defRPr>
            </a:pPr>
            <a:r>
              <a:rPr sz="600" b="1">
                <a:solidFill>
                  <a:srgbClr val="28A596"/>
                </a:solidFill>
              </a:rPr>
              <a:t>●</a:t>
            </a:r>
          </a:p>
        </p:txBody>
      </p:sp>
      <p:sp>
        <p:nvSpPr>
          <p:cNvPr id="19" name="">
            <a:extLst xmlns:a="http://schemas.openxmlformats.org/drawingml/2006/main">
              <a:ext uri="{FF2B5EF4-FFF2-40B4-BE49-F238E27FC236}">
                <a16:creationId xmlns:a16="http://schemas.microsoft.com/office/drawing/2014/main" id="{4DD854B3-72CE-4493-B910-D830105F1340}"/>
              </a:ext>
            </a:extLst>
          </p:cNvPr>
          <p:cNvSpPr>
            <a:spLocks xmlns:a="http://schemas.openxmlformats.org/drawingml/2006/main" noGrp="1"/>
          </p:cNvSpPr>
          <p:nvPr/>
        </p:nvSpPr>
        <p:spPr>
          <a:xfrm xmlns:a="http://schemas.openxmlformats.org/drawingml/2006/main">
            <a:off x="542925" y="4248150"/>
            <a:ext cx="1571625" cy="295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Hero-SKU scaling</a:t>
            </a:r>
          </a:p>
        </p:txBody>
      </p:sp>
      <p:sp>
        <p:nvSpPr>
          <p:cNvPr id="20" name="">
            <a:extLst xmlns:a="http://schemas.openxmlformats.org/drawingml/2006/main">
              <a:ext uri="{FF2B5EF4-FFF2-40B4-BE49-F238E27FC236}">
                <a16:creationId xmlns:a16="http://schemas.microsoft.com/office/drawing/2014/main" id="{38B2F671-3715-4105-9C90-3513F046543F}"/>
              </a:ext>
            </a:extLst>
          </p:cNvPr>
          <p:cNvSpPr>
            <a:spLocks xmlns:a="http://schemas.openxmlformats.org/drawingml/2006/main" noGrp="1"/>
          </p:cNvSpPr>
          <p:nvPr/>
        </p:nvSpPr>
        <p:spPr>
          <a:xfrm xmlns:a="http://schemas.openxmlformats.org/drawingml/2006/main">
            <a:off x="400050" y="4552950"/>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8A596"/>
                </a:solidFill>
              </a:defRPr>
            </a:pPr>
            <a:r>
              <a:rPr sz="600" b="1">
                <a:solidFill>
                  <a:srgbClr val="28A596"/>
                </a:solidFill>
              </a:rPr>
              <a:t>●</a:t>
            </a:r>
          </a:p>
        </p:txBody>
      </p:sp>
      <p:sp>
        <p:nvSpPr>
          <p:cNvPr id="21" name="">
            <a:extLst xmlns:a="http://schemas.openxmlformats.org/drawingml/2006/main">
              <a:ext uri="{FF2B5EF4-FFF2-40B4-BE49-F238E27FC236}">
                <a16:creationId xmlns:a16="http://schemas.microsoft.com/office/drawing/2014/main" id="{6AE11311-AD0A-4FCC-ADC4-3D82CD10DA1D}"/>
              </a:ext>
            </a:extLst>
          </p:cNvPr>
          <p:cNvSpPr>
            <a:spLocks xmlns:a="http://schemas.openxmlformats.org/drawingml/2006/main" noGrp="1"/>
          </p:cNvSpPr>
          <p:nvPr/>
        </p:nvSpPr>
        <p:spPr>
          <a:xfrm xmlns:a="http://schemas.openxmlformats.org/drawingml/2006/main">
            <a:off x="542925" y="4552950"/>
            <a:ext cx="1571625" cy="295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Conversion productivity</a:t>
            </a:r>
          </a:p>
        </p:txBody>
      </p:sp>
      <p:sp>
        <p:nvSpPr>
          <p:cNvPr id="22" name="">
            <a:extLst xmlns:a="http://schemas.openxmlformats.org/drawingml/2006/main">
              <a:ext uri="{FF2B5EF4-FFF2-40B4-BE49-F238E27FC236}">
                <a16:creationId xmlns:a16="http://schemas.microsoft.com/office/drawing/2014/main" id="{D393BE76-E428-461D-9E20-B33F6B93E7E2}"/>
              </a:ext>
            </a:extLst>
          </p:cNvPr>
          <p:cNvSpPr>
            <a:spLocks xmlns:a="http://schemas.openxmlformats.org/drawingml/2006/main" noGrp="1"/>
          </p:cNvSpPr>
          <p:nvPr/>
        </p:nvSpPr>
        <p:spPr>
          <a:xfrm xmlns:a="http://schemas.openxmlformats.org/drawingml/2006/main">
            <a:off x="2438400" y="2457450"/>
            <a:ext cx="1981200" cy="2590800"/>
          </a:xfrm>
          <a:prstGeom xmlns:a="http://schemas.openxmlformats.org/drawingml/2006/main" prst="roundRect">
            <a:avLst>
              <a:gd name="adj" fmla="val 3846"/>
            </a:avLst>
          </a:prstGeom>
          <a:solidFill xmlns:a="http://schemas.openxmlformats.org/drawingml/2006/main">
            <a:srgbClr val="FFFFFF"/>
          </a:solidFill>
          <a:ln xmlns:a="http://schemas.openxmlformats.org/drawingml/2006/main" w="9525">
            <a:solidFill>
              <a:srgbClr val="C8DCD7"/>
            </a:solidFill>
            <a:prstDash val="solid"/>
          </a:ln>
        </p:spPr>
      </p:sp>
      <p:sp>
        <p:nvSpPr>
          <p:cNvPr id="23" name="">
            <a:extLst xmlns:a="http://schemas.openxmlformats.org/drawingml/2006/main">
              <a:ext uri="{FF2B5EF4-FFF2-40B4-BE49-F238E27FC236}">
                <a16:creationId xmlns:a16="http://schemas.microsoft.com/office/drawing/2014/main" id="{2FB69A15-E3E8-441D-9C82-9DAD77A0055C}"/>
              </a:ext>
            </a:extLst>
          </p:cNvPr>
          <p:cNvSpPr>
            <a:spLocks xmlns:a="http://schemas.openxmlformats.org/drawingml/2006/main" noGrp="1"/>
          </p:cNvSpPr>
          <p:nvPr/>
        </p:nvSpPr>
        <p:spPr>
          <a:xfrm xmlns:a="http://schemas.openxmlformats.org/drawingml/2006/main">
            <a:off x="2438400" y="2457450"/>
            <a:ext cx="1981200" cy="285750"/>
          </a:xfrm>
          <a:prstGeom xmlns:a="http://schemas.openxmlformats.org/drawingml/2006/main" prst="rect">
            <a:avLst/>
          </a:prstGeom>
          <a:solidFill xmlns:a="http://schemas.openxmlformats.org/drawingml/2006/main">
            <a:srgbClr val="28A596"/>
          </a:solidFill>
          <a:ln xmlns:a="http://schemas.openxmlformats.org/drawingml/2006/main" w="0">
            <a:solidFill>
              <a:srgbClr val="28A596"/>
            </a:solidFill>
            <a:prstDash val="solid"/>
          </a:ln>
        </p:spPr>
      </p:sp>
      <p:sp>
        <p:nvSpPr>
          <p:cNvPr id="24" name="">
            <a:extLst xmlns:a="http://schemas.openxmlformats.org/drawingml/2006/main">
              <a:ext uri="{FF2B5EF4-FFF2-40B4-BE49-F238E27FC236}">
                <a16:creationId xmlns:a16="http://schemas.microsoft.com/office/drawing/2014/main" id="{860FFDD5-A4EC-40EC-9506-FBFD344FB3B8}"/>
              </a:ext>
            </a:extLst>
          </p:cNvPr>
          <p:cNvSpPr>
            <a:spLocks xmlns:a="http://schemas.openxmlformats.org/drawingml/2006/main" noGrp="1"/>
          </p:cNvSpPr>
          <p:nvPr/>
        </p:nvSpPr>
        <p:spPr>
          <a:xfrm xmlns:a="http://schemas.openxmlformats.org/drawingml/2006/main">
            <a:off x="2524125" y="2476500"/>
            <a:ext cx="18097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788" b="1">
                <a:solidFill>
                  <a:srgbClr val="FFFFFF"/>
                </a:solidFill>
              </a:defRPr>
            </a:pPr>
            <a:r>
              <a:rPr sz="788" b="1">
                <a:solidFill>
                  <a:srgbClr val="FFFFFF"/>
                </a:solidFill>
              </a:rPr>
              <a:t>SAH × SHARE DIAGNOSIS</a:t>
            </a:r>
          </a:p>
        </p:txBody>
      </p:sp>
      <p:sp>
        <p:nvSpPr>
          <p:cNvPr id="25" name="">
            <a:extLst xmlns:a="http://schemas.openxmlformats.org/drawingml/2006/main">
              <a:ext uri="{FF2B5EF4-FFF2-40B4-BE49-F238E27FC236}">
                <a16:creationId xmlns:a16="http://schemas.microsoft.com/office/drawing/2014/main" id="{0298F53E-6199-43A8-8D53-B8D9529133FA}"/>
              </a:ext>
            </a:extLst>
          </p:cNvPr>
          <p:cNvSpPr>
            <a:spLocks xmlns:a="http://schemas.openxmlformats.org/drawingml/2006/main" noGrp="1"/>
          </p:cNvSpPr>
          <p:nvPr/>
        </p:nvSpPr>
        <p:spPr>
          <a:xfrm xmlns:a="http://schemas.openxmlformats.org/drawingml/2006/main">
            <a:off x="2552700" y="2857500"/>
            <a:ext cx="17526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350" b="1">
                <a:solidFill>
                  <a:srgbClr val="28A596"/>
                </a:solidFill>
              </a:defRPr>
            </a:pPr>
            <a:r>
              <a:rPr sz="1350" b="1">
                <a:solidFill>
                  <a:srgbClr val="28A596"/>
                </a:solidFill>
              </a:rPr>
              <a:t>Root cause</a:t>
            </a:r>
          </a:p>
        </p:txBody>
      </p:sp>
      <p:sp>
        <p:nvSpPr>
          <p:cNvPr id="26" name="">
            <a:extLst xmlns:a="http://schemas.openxmlformats.org/drawingml/2006/main">
              <a:ext uri="{FF2B5EF4-FFF2-40B4-BE49-F238E27FC236}">
                <a16:creationId xmlns:a16="http://schemas.microsoft.com/office/drawing/2014/main" id="{6817854B-868F-4B6A-8ABE-4A588B76129E}"/>
              </a:ext>
            </a:extLst>
          </p:cNvPr>
          <p:cNvSpPr>
            <a:spLocks xmlns:a="http://schemas.openxmlformats.org/drawingml/2006/main" noGrp="1"/>
          </p:cNvSpPr>
          <p:nvPr/>
        </p:nvSpPr>
        <p:spPr>
          <a:xfrm xmlns:a="http://schemas.openxmlformats.org/drawingml/2006/main">
            <a:off x="2571750" y="3333750"/>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B9A66"/>
                </a:solidFill>
              </a:defRPr>
            </a:pPr>
            <a:r>
              <a:rPr sz="600" b="1">
                <a:solidFill>
                  <a:srgbClr val="2B9A66"/>
                </a:solidFill>
              </a:rPr>
              <a:t>●</a:t>
            </a:r>
          </a:p>
        </p:txBody>
      </p:sp>
      <p:sp>
        <p:nvSpPr>
          <p:cNvPr id="27" name="">
            <a:extLst xmlns:a="http://schemas.openxmlformats.org/drawingml/2006/main">
              <a:ext uri="{FF2B5EF4-FFF2-40B4-BE49-F238E27FC236}">
                <a16:creationId xmlns:a16="http://schemas.microsoft.com/office/drawing/2014/main" id="{A719A74C-16B3-427D-A038-0257B0713E1E}"/>
              </a:ext>
            </a:extLst>
          </p:cNvPr>
          <p:cNvSpPr>
            <a:spLocks xmlns:a="http://schemas.openxmlformats.org/drawingml/2006/main" noGrp="1"/>
          </p:cNvSpPr>
          <p:nvPr/>
        </p:nvSpPr>
        <p:spPr>
          <a:xfrm xmlns:a="http://schemas.openxmlformats.org/drawingml/2006/main">
            <a:off x="2714625" y="3333750"/>
            <a:ext cx="1571625" cy="295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1">
                <a:solidFill>
                  <a:srgbClr val="183B39"/>
                </a:solidFill>
              </a:defRPr>
            </a:pPr>
            <a:r>
              <a:rPr sz="765" b="1">
                <a:solidFill>
                  <a:srgbClr val="183B39"/>
                </a:solidFill>
              </a:rPr>
              <a:t>High SAH + low share: test distribution constraint</a:t>
            </a:r>
          </a:p>
        </p:txBody>
      </p:sp>
      <p:sp>
        <p:nvSpPr>
          <p:cNvPr id="28" name="">
            <a:extLst xmlns:a="http://schemas.openxmlformats.org/drawingml/2006/main">
              <a:ext uri="{FF2B5EF4-FFF2-40B4-BE49-F238E27FC236}">
                <a16:creationId xmlns:a16="http://schemas.microsoft.com/office/drawing/2014/main" id="{6ADCFB88-02C9-4F9C-AB22-033C7A2DCB1C}"/>
              </a:ext>
            </a:extLst>
          </p:cNvPr>
          <p:cNvSpPr>
            <a:spLocks xmlns:a="http://schemas.openxmlformats.org/drawingml/2006/main" noGrp="1"/>
          </p:cNvSpPr>
          <p:nvPr/>
        </p:nvSpPr>
        <p:spPr>
          <a:xfrm xmlns:a="http://schemas.openxmlformats.org/drawingml/2006/main">
            <a:off x="2571750" y="3638550"/>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8A596"/>
                </a:solidFill>
              </a:defRPr>
            </a:pPr>
            <a:r>
              <a:rPr sz="600" b="1">
                <a:solidFill>
                  <a:srgbClr val="28A596"/>
                </a:solidFill>
              </a:rPr>
              <a:t>●</a:t>
            </a:r>
          </a:p>
        </p:txBody>
      </p:sp>
      <p:sp>
        <p:nvSpPr>
          <p:cNvPr id="29" name="">
            <a:extLst xmlns:a="http://schemas.openxmlformats.org/drawingml/2006/main">
              <a:ext uri="{FF2B5EF4-FFF2-40B4-BE49-F238E27FC236}">
                <a16:creationId xmlns:a16="http://schemas.microsoft.com/office/drawing/2014/main" id="{B149C385-6244-4C70-BA53-831E0CDBCEAD}"/>
              </a:ext>
            </a:extLst>
          </p:cNvPr>
          <p:cNvSpPr>
            <a:spLocks xmlns:a="http://schemas.openxmlformats.org/drawingml/2006/main" noGrp="1"/>
          </p:cNvSpPr>
          <p:nvPr/>
        </p:nvSpPr>
        <p:spPr>
          <a:xfrm xmlns:a="http://schemas.openxmlformats.org/drawingml/2006/main">
            <a:off x="2714625" y="3638550"/>
            <a:ext cx="1571625" cy="295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Low SAH + high WD: fix proposition/range</a:t>
            </a:r>
          </a:p>
        </p:txBody>
      </p:sp>
      <p:sp>
        <p:nvSpPr>
          <p:cNvPr id="30" name="">
            <a:extLst xmlns:a="http://schemas.openxmlformats.org/drawingml/2006/main">
              <a:ext uri="{FF2B5EF4-FFF2-40B4-BE49-F238E27FC236}">
                <a16:creationId xmlns:a16="http://schemas.microsoft.com/office/drawing/2014/main" id="{EA478EE8-DAE0-4F65-BC4E-49FCA3185680}"/>
              </a:ext>
            </a:extLst>
          </p:cNvPr>
          <p:cNvSpPr>
            <a:spLocks xmlns:a="http://schemas.openxmlformats.org/drawingml/2006/main" noGrp="1"/>
          </p:cNvSpPr>
          <p:nvPr/>
        </p:nvSpPr>
        <p:spPr>
          <a:xfrm xmlns:a="http://schemas.openxmlformats.org/drawingml/2006/main">
            <a:off x="2571750" y="3943350"/>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8A596"/>
                </a:solidFill>
              </a:defRPr>
            </a:pPr>
            <a:r>
              <a:rPr sz="600" b="1">
                <a:solidFill>
                  <a:srgbClr val="28A596"/>
                </a:solidFill>
              </a:rPr>
              <a:t>●</a:t>
            </a:r>
          </a:p>
        </p:txBody>
      </p:sp>
      <p:sp>
        <p:nvSpPr>
          <p:cNvPr id="31" name="">
            <a:extLst xmlns:a="http://schemas.openxmlformats.org/drawingml/2006/main">
              <a:ext uri="{FF2B5EF4-FFF2-40B4-BE49-F238E27FC236}">
                <a16:creationId xmlns:a16="http://schemas.microsoft.com/office/drawing/2014/main" id="{13EEDF61-C910-421A-872D-8AD472933E13}"/>
              </a:ext>
            </a:extLst>
          </p:cNvPr>
          <p:cNvSpPr>
            <a:spLocks xmlns:a="http://schemas.openxmlformats.org/drawingml/2006/main" noGrp="1"/>
          </p:cNvSpPr>
          <p:nvPr/>
        </p:nvSpPr>
        <p:spPr>
          <a:xfrm xmlns:a="http://schemas.openxmlformats.org/drawingml/2006/main">
            <a:off x="2714625" y="3943350"/>
            <a:ext cx="1571625" cy="295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Causal conclusions require field reconciliation</a:t>
            </a:r>
          </a:p>
        </p:txBody>
      </p:sp>
      <p:sp>
        <p:nvSpPr>
          <p:cNvPr id="32" name="">
            <a:extLst xmlns:a="http://schemas.openxmlformats.org/drawingml/2006/main">
              <a:ext uri="{FF2B5EF4-FFF2-40B4-BE49-F238E27FC236}">
                <a16:creationId xmlns:a16="http://schemas.microsoft.com/office/drawing/2014/main" id="{247CEE94-87A3-4A2B-9FB0-2D4D5D95D25A}"/>
              </a:ext>
            </a:extLst>
          </p:cNvPr>
          <p:cNvSpPr>
            <a:spLocks xmlns:a="http://schemas.openxmlformats.org/drawingml/2006/main" noGrp="1"/>
          </p:cNvSpPr>
          <p:nvPr/>
        </p:nvSpPr>
        <p:spPr>
          <a:xfrm xmlns:a="http://schemas.openxmlformats.org/drawingml/2006/main">
            <a:off x="4610100" y="2457450"/>
            <a:ext cx="1981200" cy="2590800"/>
          </a:xfrm>
          <a:prstGeom xmlns:a="http://schemas.openxmlformats.org/drawingml/2006/main" prst="roundRect">
            <a:avLst>
              <a:gd name="adj" fmla="val 3846"/>
            </a:avLst>
          </a:prstGeom>
          <a:solidFill xmlns:a="http://schemas.openxmlformats.org/drawingml/2006/main">
            <a:srgbClr val="FFFFFF"/>
          </a:solidFill>
          <a:ln xmlns:a="http://schemas.openxmlformats.org/drawingml/2006/main" w="9525">
            <a:solidFill>
              <a:srgbClr val="C8DCD7"/>
            </a:solidFill>
            <a:prstDash val="solid"/>
          </a:ln>
        </p:spPr>
      </p:sp>
      <p:sp>
        <p:nvSpPr>
          <p:cNvPr id="33" name="">
            <a:extLst xmlns:a="http://schemas.openxmlformats.org/drawingml/2006/main">
              <a:ext uri="{FF2B5EF4-FFF2-40B4-BE49-F238E27FC236}">
                <a16:creationId xmlns:a16="http://schemas.microsoft.com/office/drawing/2014/main" id="{390586E3-BADD-4525-AAF3-ECFB38EC0974}"/>
              </a:ext>
            </a:extLst>
          </p:cNvPr>
          <p:cNvSpPr>
            <a:spLocks xmlns:a="http://schemas.openxmlformats.org/drawingml/2006/main" noGrp="1"/>
          </p:cNvSpPr>
          <p:nvPr/>
        </p:nvSpPr>
        <p:spPr>
          <a:xfrm xmlns:a="http://schemas.openxmlformats.org/drawingml/2006/main">
            <a:off x="4610100" y="2457450"/>
            <a:ext cx="1981200" cy="285750"/>
          </a:xfrm>
          <a:prstGeom xmlns:a="http://schemas.openxmlformats.org/drawingml/2006/main" prst="rect">
            <a:avLst/>
          </a:prstGeom>
          <a:solidFill xmlns:a="http://schemas.openxmlformats.org/drawingml/2006/main">
            <a:srgbClr val="2E7DA8"/>
          </a:solidFill>
          <a:ln xmlns:a="http://schemas.openxmlformats.org/drawingml/2006/main" w="0">
            <a:solidFill>
              <a:srgbClr val="2E7DA8"/>
            </a:solidFill>
            <a:prstDash val="solid"/>
          </a:ln>
        </p:spPr>
      </p:sp>
      <p:sp>
        <p:nvSpPr>
          <p:cNvPr id="34" name="">
            <a:extLst xmlns:a="http://schemas.openxmlformats.org/drawingml/2006/main">
              <a:ext uri="{FF2B5EF4-FFF2-40B4-BE49-F238E27FC236}">
                <a16:creationId xmlns:a16="http://schemas.microsoft.com/office/drawing/2014/main" id="{B4BF02BF-A31E-43AF-8E38-15A00036780C}"/>
              </a:ext>
            </a:extLst>
          </p:cNvPr>
          <p:cNvSpPr>
            <a:spLocks xmlns:a="http://schemas.openxmlformats.org/drawingml/2006/main" noGrp="1"/>
          </p:cNvSpPr>
          <p:nvPr/>
        </p:nvSpPr>
        <p:spPr>
          <a:xfrm xmlns:a="http://schemas.openxmlformats.org/drawingml/2006/main">
            <a:off x="4695825" y="2476500"/>
            <a:ext cx="18097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788" b="1">
                <a:solidFill>
                  <a:srgbClr val="FFFFFF"/>
                </a:solidFill>
              </a:defRPr>
            </a:pPr>
            <a:r>
              <a:rPr sz="788" b="1">
                <a:solidFill>
                  <a:srgbClr val="FFFFFF"/>
                </a:solidFill>
              </a:rPr>
              <a:t>DISTRIBUTION PRODUCTIVITY</a:t>
            </a:r>
          </a:p>
        </p:txBody>
      </p:sp>
      <p:sp>
        <p:nvSpPr>
          <p:cNvPr id="35" name="">
            <a:extLst xmlns:a="http://schemas.openxmlformats.org/drawingml/2006/main">
              <a:ext uri="{FF2B5EF4-FFF2-40B4-BE49-F238E27FC236}">
                <a16:creationId xmlns:a16="http://schemas.microsoft.com/office/drawing/2014/main" id="{803480B0-D428-4315-8103-91ABA256704F}"/>
              </a:ext>
            </a:extLst>
          </p:cNvPr>
          <p:cNvSpPr>
            <a:spLocks xmlns:a="http://schemas.openxmlformats.org/drawingml/2006/main" noGrp="1"/>
          </p:cNvSpPr>
          <p:nvPr/>
        </p:nvSpPr>
        <p:spPr>
          <a:xfrm xmlns:a="http://schemas.openxmlformats.org/drawingml/2006/main">
            <a:off x="4724400" y="2857500"/>
            <a:ext cx="17526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350" b="1">
                <a:solidFill>
                  <a:srgbClr val="2E7DA8"/>
                </a:solidFill>
              </a:defRPr>
            </a:pPr>
            <a:r>
              <a:rPr sz="1350" b="1">
                <a:solidFill>
                  <a:srgbClr val="2E7DA8"/>
                </a:solidFill>
              </a:rPr>
              <a:t>SPD = MS ÷ WD</a:t>
            </a:r>
          </a:p>
        </p:txBody>
      </p:sp>
      <p:sp>
        <p:nvSpPr>
          <p:cNvPr id="36" name="">
            <a:extLst xmlns:a="http://schemas.openxmlformats.org/drawingml/2006/main">
              <a:ext uri="{FF2B5EF4-FFF2-40B4-BE49-F238E27FC236}">
                <a16:creationId xmlns:a16="http://schemas.microsoft.com/office/drawing/2014/main" id="{133C3B45-5C2D-4984-8B62-F66E9A9A48D9}"/>
              </a:ext>
            </a:extLst>
          </p:cNvPr>
          <p:cNvSpPr>
            <a:spLocks xmlns:a="http://schemas.openxmlformats.org/drawingml/2006/main" noGrp="1"/>
          </p:cNvSpPr>
          <p:nvPr/>
        </p:nvSpPr>
        <p:spPr>
          <a:xfrm xmlns:a="http://schemas.openxmlformats.org/drawingml/2006/main">
            <a:off x="4743450" y="3333750"/>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B9A66"/>
                </a:solidFill>
              </a:defRPr>
            </a:pPr>
            <a:r>
              <a:rPr sz="600" b="1">
                <a:solidFill>
                  <a:srgbClr val="2B9A66"/>
                </a:solidFill>
              </a:rPr>
              <a:t>●</a:t>
            </a:r>
          </a:p>
        </p:txBody>
      </p:sp>
      <p:sp>
        <p:nvSpPr>
          <p:cNvPr id="37" name="">
            <a:extLst xmlns:a="http://schemas.openxmlformats.org/drawingml/2006/main">
              <a:ext uri="{FF2B5EF4-FFF2-40B4-BE49-F238E27FC236}">
                <a16:creationId xmlns:a16="http://schemas.microsoft.com/office/drawing/2014/main" id="{D6320F3D-75E5-4302-A1A8-09D2D4BE0F4C}"/>
              </a:ext>
            </a:extLst>
          </p:cNvPr>
          <p:cNvSpPr>
            <a:spLocks xmlns:a="http://schemas.openxmlformats.org/drawingml/2006/main" noGrp="1"/>
          </p:cNvSpPr>
          <p:nvPr/>
        </p:nvSpPr>
        <p:spPr>
          <a:xfrm xmlns:a="http://schemas.openxmlformats.org/drawingml/2006/main">
            <a:off x="4886325" y="3333750"/>
            <a:ext cx="1571625" cy="295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1">
                <a:solidFill>
                  <a:srgbClr val="183B39"/>
                </a:solidFill>
              </a:defRPr>
            </a:pPr>
            <a:r>
              <a:rPr sz="765" b="1">
                <a:solidFill>
                  <a:srgbClr val="183B39"/>
                </a:solidFill>
              </a:rPr>
              <a:t>Higher SPD means each distribution point works harder</a:t>
            </a:r>
          </a:p>
        </p:txBody>
      </p:sp>
      <p:sp>
        <p:nvSpPr>
          <p:cNvPr id="38" name="">
            <a:extLst xmlns:a="http://schemas.openxmlformats.org/drawingml/2006/main">
              <a:ext uri="{FF2B5EF4-FFF2-40B4-BE49-F238E27FC236}">
                <a16:creationId xmlns:a16="http://schemas.microsoft.com/office/drawing/2014/main" id="{C3613D73-0260-4E58-9816-A4C6BA65771C}"/>
              </a:ext>
            </a:extLst>
          </p:cNvPr>
          <p:cNvSpPr>
            <a:spLocks xmlns:a="http://schemas.openxmlformats.org/drawingml/2006/main" noGrp="1"/>
          </p:cNvSpPr>
          <p:nvPr/>
        </p:nvSpPr>
        <p:spPr>
          <a:xfrm xmlns:a="http://schemas.openxmlformats.org/drawingml/2006/main">
            <a:off x="4743450" y="3638550"/>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8A596"/>
                </a:solidFill>
              </a:defRPr>
            </a:pPr>
            <a:r>
              <a:rPr sz="600" b="1">
                <a:solidFill>
                  <a:srgbClr val="28A596"/>
                </a:solidFill>
              </a:rPr>
              <a:t>●</a:t>
            </a:r>
          </a:p>
        </p:txBody>
      </p:sp>
      <p:sp>
        <p:nvSpPr>
          <p:cNvPr id="39" name="">
            <a:extLst xmlns:a="http://schemas.openxmlformats.org/drawingml/2006/main">
              <a:ext uri="{FF2B5EF4-FFF2-40B4-BE49-F238E27FC236}">
                <a16:creationId xmlns:a16="http://schemas.microsoft.com/office/drawing/2014/main" id="{FAF1EF1A-CEA1-4D2A-BD3B-88668C626AEF}"/>
              </a:ext>
            </a:extLst>
          </p:cNvPr>
          <p:cNvSpPr>
            <a:spLocks xmlns:a="http://schemas.openxmlformats.org/drawingml/2006/main" noGrp="1"/>
          </p:cNvSpPr>
          <p:nvPr/>
        </p:nvSpPr>
        <p:spPr>
          <a:xfrm xmlns:a="http://schemas.openxmlformats.org/drawingml/2006/main">
            <a:off x="4886325" y="3638550"/>
            <a:ext cx="1571625" cy="295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Combine SPD with PDO</a:t>
            </a:r>
          </a:p>
        </p:txBody>
      </p:sp>
      <p:sp>
        <p:nvSpPr>
          <p:cNvPr id="40" name="">
            <a:extLst xmlns:a="http://schemas.openxmlformats.org/drawingml/2006/main">
              <a:ext uri="{FF2B5EF4-FFF2-40B4-BE49-F238E27FC236}">
                <a16:creationId xmlns:a16="http://schemas.microsoft.com/office/drawing/2014/main" id="{F0849BCB-D6BA-4428-89B4-9C8376047DC2}"/>
              </a:ext>
            </a:extLst>
          </p:cNvPr>
          <p:cNvSpPr>
            <a:spLocks xmlns:a="http://schemas.openxmlformats.org/drawingml/2006/main" noGrp="1"/>
          </p:cNvSpPr>
          <p:nvPr/>
        </p:nvSpPr>
        <p:spPr>
          <a:xfrm xmlns:a="http://schemas.openxmlformats.org/drawingml/2006/main">
            <a:off x="4743450" y="3943350"/>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8A596"/>
                </a:solidFill>
              </a:defRPr>
            </a:pPr>
            <a:r>
              <a:rPr sz="600" b="1">
                <a:solidFill>
                  <a:srgbClr val="28A596"/>
                </a:solidFill>
              </a:rPr>
              <a:t>●</a:t>
            </a:r>
          </a:p>
        </p:txBody>
      </p:sp>
      <p:sp>
        <p:nvSpPr>
          <p:cNvPr id="41" name="">
            <a:extLst xmlns:a="http://schemas.openxmlformats.org/drawingml/2006/main">
              <a:ext uri="{FF2B5EF4-FFF2-40B4-BE49-F238E27FC236}">
                <a16:creationId xmlns:a16="http://schemas.microsoft.com/office/drawing/2014/main" id="{76FA183D-D985-4104-BDA7-B1C8B226716E}"/>
              </a:ext>
            </a:extLst>
          </p:cNvPr>
          <p:cNvSpPr>
            <a:spLocks xmlns:a="http://schemas.openxmlformats.org/drawingml/2006/main" noGrp="1"/>
          </p:cNvSpPr>
          <p:nvPr/>
        </p:nvSpPr>
        <p:spPr>
          <a:xfrm xmlns:a="http://schemas.openxmlformats.org/drawingml/2006/main">
            <a:off x="4886325" y="3943350"/>
            <a:ext cx="1571625" cy="295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Low WD + high PDO is the priority test cell</a:t>
            </a:r>
          </a:p>
        </p:txBody>
      </p:sp>
      <p:sp>
        <p:nvSpPr>
          <p:cNvPr id="42" name="">
            <a:extLst xmlns:a="http://schemas.openxmlformats.org/drawingml/2006/main">
              <a:ext uri="{FF2B5EF4-FFF2-40B4-BE49-F238E27FC236}">
                <a16:creationId xmlns:a16="http://schemas.microsoft.com/office/drawing/2014/main" id="{AE4EC85A-0A88-4F86-A6AC-C9994871B0EB}"/>
              </a:ext>
            </a:extLst>
          </p:cNvPr>
          <p:cNvSpPr>
            <a:spLocks xmlns:a="http://schemas.openxmlformats.org/drawingml/2006/main" noGrp="1"/>
          </p:cNvSpPr>
          <p:nvPr/>
        </p:nvSpPr>
        <p:spPr>
          <a:xfrm xmlns:a="http://schemas.openxmlformats.org/drawingml/2006/main">
            <a:off x="266700" y="5267325"/>
            <a:ext cx="1981200" cy="2590800"/>
          </a:xfrm>
          <a:prstGeom xmlns:a="http://schemas.openxmlformats.org/drawingml/2006/main" prst="roundRect">
            <a:avLst>
              <a:gd name="adj" fmla="val 3846"/>
            </a:avLst>
          </a:prstGeom>
          <a:solidFill xmlns:a="http://schemas.openxmlformats.org/drawingml/2006/main">
            <a:srgbClr val="FFFFFF"/>
          </a:solidFill>
          <a:ln xmlns:a="http://schemas.openxmlformats.org/drawingml/2006/main" w="9525">
            <a:solidFill>
              <a:srgbClr val="C8DCD7"/>
            </a:solidFill>
            <a:prstDash val="solid"/>
          </a:ln>
        </p:spPr>
      </p:sp>
      <p:sp>
        <p:nvSpPr>
          <p:cNvPr id="43" name="">
            <a:extLst xmlns:a="http://schemas.openxmlformats.org/drawingml/2006/main">
              <a:ext uri="{FF2B5EF4-FFF2-40B4-BE49-F238E27FC236}">
                <a16:creationId xmlns:a16="http://schemas.microsoft.com/office/drawing/2014/main" id="{49A7910D-12B2-4472-BD1D-5DF03D21AA7E}"/>
              </a:ext>
            </a:extLst>
          </p:cNvPr>
          <p:cNvSpPr>
            <a:spLocks xmlns:a="http://schemas.openxmlformats.org/drawingml/2006/main" noGrp="1"/>
          </p:cNvSpPr>
          <p:nvPr/>
        </p:nvSpPr>
        <p:spPr>
          <a:xfrm xmlns:a="http://schemas.openxmlformats.org/drawingml/2006/main">
            <a:off x="266700" y="5267325"/>
            <a:ext cx="1981200" cy="285750"/>
          </a:xfrm>
          <a:prstGeom xmlns:a="http://schemas.openxmlformats.org/drawingml/2006/main" prst="rect">
            <a:avLst/>
          </a:prstGeom>
          <a:solidFill xmlns:a="http://schemas.openxmlformats.org/drawingml/2006/main">
            <a:srgbClr val="2B9A66"/>
          </a:solidFill>
          <a:ln xmlns:a="http://schemas.openxmlformats.org/drawingml/2006/main" w="0">
            <a:solidFill>
              <a:srgbClr val="2B9A66"/>
            </a:solidFill>
            <a:prstDash val="solid"/>
          </a:ln>
        </p:spPr>
      </p:sp>
      <p:sp>
        <p:nvSpPr>
          <p:cNvPr id="44" name="">
            <a:extLst xmlns:a="http://schemas.openxmlformats.org/drawingml/2006/main">
              <a:ext uri="{FF2B5EF4-FFF2-40B4-BE49-F238E27FC236}">
                <a16:creationId xmlns:a16="http://schemas.microsoft.com/office/drawing/2014/main" id="{396E9D70-90B0-45C6-B9D8-E04D1AC56916}"/>
              </a:ext>
            </a:extLst>
          </p:cNvPr>
          <p:cNvSpPr>
            <a:spLocks xmlns:a="http://schemas.openxmlformats.org/drawingml/2006/main" noGrp="1"/>
          </p:cNvSpPr>
          <p:nvPr/>
        </p:nvSpPr>
        <p:spPr>
          <a:xfrm xmlns:a="http://schemas.openxmlformats.org/drawingml/2006/main">
            <a:off x="352425" y="5286375"/>
            <a:ext cx="18097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788" b="1">
                <a:solidFill>
                  <a:srgbClr val="FFFFFF"/>
                </a:solidFill>
              </a:defRPr>
            </a:pPr>
            <a:r>
              <a:rPr sz="788" b="1">
                <a:solidFill>
                  <a:srgbClr val="FFFFFF"/>
                </a:solidFill>
              </a:rPr>
              <a:t>FACE WASH</a:t>
            </a:r>
          </a:p>
        </p:txBody>
      </p:sp>
      <p:sp>
        <p:nvSpPr>
          <p:cNvPr id="45" name="">
            <a:extLst xmlns:a="http://schemas.openxmlformats.org/drawingml/2006/main">
              <a:ext uri="{FF2B5EF4-FFF2-40B4-BE49-F238E27FC236}">
                <a16:creationId xmlns:a16="http://schemas.microsoft.com/office/drawing/2014/main" id="{60608C8A-6224-45E2-A31B-FF840DA3FB26}"/>
              </a:ext>
            </a:extLst>
          </p:cNvPr>
          <p:cNvSpPr>
            <a:spLocks xmlns:a="http://schemas.openxmlformats.org/drawingml/2006/main" noGrp="1"/>
          </p:cNvSpPr>
          <p:nvPr/>
        </p:nvSpPr>
        <p:spPr>
          <a:xfrm xmlns:a="http://schemas.openxmlformats.org/drawingml/2006/main">
            <a:off x="381000" y="5667375"/>
            <a:ext cx="17526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350" b="1">
                <a:solidFill>
                  <a:srgbClr val="2B9A66"/>
                </a:solidFill>
              </a:defRPr>
            </a:pPr>
            <a:r>
              <a:rPr sz="1350" b="1">
                <a:solidFill>
                  <a:srgbClr val="2B9A66"/>
                </a:solidFill>
              </a:rPr>
              <a:t>Scale strength</a:t>
            </a:r>
          </a:p>
        </p:txBody>
      </p:sp>
      <p:sp>
        <p:nvSpPr>
          <p:cNvPr id="46" name="">
            <a:extLst xmlns:a="http://schemas.openxmlformats.org/drawingml/2006/main">
              <a:ext uri="{FF2B5EF4-FFF2-40B4-BE49-F238E27FC236}">
                <a16:creationId xmlns:a16="http://schemas.microsoft.com/office/drawing/2014/main" id="{28AE381F-1340-49A0-A8A2-E796A0904621}"/>
              </a:ext>
            </a:extLst>
          </p:cNvPr>
          <p:cNvSpPr>
            <a:spLocks xmlns:a="http://schemas.openxmlformats.org/drawingml/2006/main" noGrp="1"/>
          </p:cNvSpPr>
          <p:nvPr/>
        </p:nvSpPr>
        <p:spPr>
          <a:xfrm xmlns:a="http://schemas.openxmlformats.org/drawingml/2006/main">
            <a:off x="400050" y="6143625"/>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B9A66"/>
                </a:solidFill>
              </a:defRPr>
            </a:pPr>
            <a:r>
              <a:rPr sz="600" b="1">
                <a:solidFill>
                  <a:srgbClr val="2B9A66"/>
                </a:solidFill>
              </a:rPr>
              <a:t>●</a:t>
            </a:r>
          </a:p>
        </p:txBody>
      </p:sp>
      <p:sp>
        <p:nvSpPr>
          <p:cNvPr id="47" name="">
            <a:extLst xmlns:a="http://schemas.openxmlformats.org/drawingml/2006/main">
              <a:ext uri="{FF2B5EF4-FFF2-40B4-BE49-F238E27FC236}">
                <a16:creationId xmlns:a16="http://schemas.microsoft.com/office/drawing/2014/main" id="{5D65FD8B-6277-4B7C-998C-E2AC4BF057C5}"/>
              </a:ext>
            </a:extLst>
          </p:cNvPr>
          <p:cNvSpPr>
            <a:spLocks xmlns:a="http://schemas.openxmlformats.org/drawingml/2006/main" noGrp="1"/>
          </p:cNvSpPr>
          <p:nvPr/>
        </p:nvSpPr>
        <p:spPr>
          <a:xfrm xmlns:a="http://schemas.openxmlformats.org/drawingml/2006/main">
            <a:off x="542925" y="6143625"/>
            <a:ext cx="1571625" cy="295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1">
                <a:solidFill>
                  <a:srgbClr val="183B39"/>
                </a:solidFill>
              </a:defRPr>
            </a:pPr>
            <a:r>
              <a:rPr sz="765" b="1">
                <a:solidFill>
                  <a:srgbClr val="183B39"/>
                </a:solidFill>
              </a:rPr>
              <a:t>Protect Rice and Ubtan heroes</a:t>
            </a:r>
          </a:p>
        </p:txBody>
      </p:sp>
      <p:sp>
        <p:nvSpPr>
          <p:cNvPr id="48" name="">
            <a:extLst xmlns:a="http://schemas.openxmlformats.org/drawingml/2006/main">
              <a:ext uri="{FF2B5EF4-FFF2-40B4-BE49-F238E27FC236}">
                <a16:creationId xmlns:a16="http://schemas.microsoft.com/office/drawing/2014/main" id="{49EFCD76-EBF5-4B85-84A5-051A0D604CB5}"/>
              </a:ext>
            </a:extLst>
          </p:cNvPr>
          <p:cNvSpPr>
            <a:spLocks xmlns:a="http://schemas.openxmlformats.org/drawingml/2006/main" noGrp="1"/>
          </p:cNvSpPr>
          <p:nvPr/>
        </p:nvSpPr>
        <p:spPr>
          <a:xfrm xmlns:a="http://schemas.openxmlformats.org/drawingml/2006/main">
            <a:off x="400050" y="6448425"/>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8A596"/>
                </a:solidFill>
              </a:defRPr>
            </a:pPr>
            <a:r>
              <a:rPr sz="600" b="1">
                <a:solidFill>
                  <a:srgbClr val="28A596"/>
                </a:solidFill>
              </a:rPr>
              <a:t>●</a:t>
            </a:r>
          </a:p>
        </p:txBody>
      </p:sp>
      <p:sp>
        <p:nvSpPr>
          <p:cNvPr id="49" name="">
            <a:extLst xmlns:a="http://schemas.openxmlformats.org/drawingml/2006/main">
              <a:ext uri="{FF2B5EF4-FFF2-40B4-BE49-F238E27FC236}">
                <a16:creationId xmlns:a16="http://schemas.microsoft.com/office/drawing/2014/main" id="{0FBCE863-9005-4CB5-87AF-FD996EDE59E0}"/>
              </a:ext>
            </a:extLst>
          </p:cNvPr>
          <p:cNvSpPr>
            <a:spLocks xmlns:a="http://schemas.openxmlformats.org/drawingml/2006/main" noGrp="1"/>
          </p:cNvSpPr>
          <p:nvPr/>
        </p:nvSpPr>
        <p:spPr>
          <a:xfrm xmlns:a="http://schemas.openxmlformats.org/drawingml/2006/main">
            <a:off x="542925" y="6448425"/>
            <a:ext cx="1571625" cy="295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Expand only where demand signals are proven</a:t>
            </a:r>
          </a:p>
        </p:txBody>
      </p:sp>
      <p:sp>
        <p:nvSpPr>
          <p:cNvPr id="50" name="">
            <a:extLst xmlns:a="http://schemas.openxmlformats.org/drawingml/2006/main">
              <a:ext uri="{FF2B5EF4-FFF2-40B4-BE49-F238E27FC236}">
                <a16:creationId xmlns:a16="http://schemas.microsoft.com/office/drawing/2014/main" id="{1F56FE86-B2ED-47AB-ACFB-9B6104A4A640}"/>
              </a:ext>
            </a:extLst>
          </p:cNvPr>
          <p:cNvSpPr>
            <a:spLocks xmlns:a="http://schemas.openxmlformats.org/drawingml/2006/main" noGrp="1"/>
          </p:cNvSpPr>
          <p:nvPr/>
        </p:nvSpPr>
        <p:spPr>
          <a:xfrm xmlns:a="http://schemas.openxmlformats.org/drawingml/2006/main">
            <a:off x="400050" y="6753225"/>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8A596"/>
                </a:solidFill>
              </a:defRPr>
            </a:pPr>
            <a:r>
              <a:rPr sz="600" b="1">
                <a:solidFill>
                  <a:srgbClr val="28A596"/>
                </a:solidFill>
              </a:rPr>
              <a:t>●</a:t>
            </a:r>
          </a:p>
        </p:txBody>
      </p:sp>
      <p:sp>
        <p:nvSpPr>
          <p:cNvPr id="51" name="">
            <a:extLst xmlns:a="http://schemas.openxmlformats.org/drawingml/2006/main">
              <a:ext uri="{FF2B5EF4-FFF2-40B4-BE49-F238E27FC236}">
                <a16:creationId xmlns:a16="http://schemas.microsoft.com/office/drawing/2014/main" id="{66C38DA5-BF3F-4A3C-9106-2A80F9E5CA4C}"/>
              </a:ext>
            </a:extLst>
          </p:cNvPr>
          <p:cNvSpPr>
            <a:spLocks xmlns:a="http://schemas.openxmlformats.org/drawingml/2006/main" noGrp="1"/>
          </p:cNvSpPr>
          <p:nvPr/>
        </p:nvSpPr>
        <p:spPr>
          <a:xfrm xmlns:a="http://schemas.openxmlformats.org/drawingml/2006/main">
            <a:off x="542925" y="6753225"/>
            <a:ext cx="1571625" cy="295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Prioritize availability before blanket discounting</a:t>
            </a:r>
          </a:p>
        </p:txBody>
      </p:sp>
      <p:sp>
        <p:nvSpPr>
          <p:cNvPr id="52" name="">
            <a:extLst xmlns:a="http://schemas.openxmlformats.org/drawingml/2006/main">
              <a:ext uri="{FF2B5EF4-FFF2-40B4-BE49-F238E27FC236}">
                <a16:creationId xmlns:a16="http://schemas.microsoft.com/office/drawing/2014/main" id="{AD784DE5-3FE6-4ACD-89FD-150A5CB0E7EF}"/>
              </a:ext>
            </a:extLst>
          </p:cNvPr>
          <p:cNvSpPr>
            <a:spLocks xmlns:a="http://schemas.openxmlformats.org/drawingml/2006/main" noGrp="1"/>
          </p:cNvSpPr>
          <p:nvPr/>
        </p:nvSpPr>
        <p:spPr>
          <a:xfrm xmlns:a="http://schemas.openxmlformats.org/drawingml/2006/main">
            <a:off x="2438400" y="5267325"/>
            <a:ext cx="1981200" cy="2590800"/>
          </a:xfrm>
          <a:prstGeom xmlns:a="http://schemas.openxmlformats.org/drawingml/2006/main" prst="roundRect">
            <a:avLst>
              <a:gd name="adj" fmla="val 3846"/>
            </a:avLst>
          </a:prstGeom>
          <a:solidFill xmlns:a="http://schemas.openxmlformats.org/drawingml/2006/main">
            <a:srgbClr val="FFFFFF"/>
          </a:solidFill>
          <a:ln xmlns:a="http://schemas.openxmlformats.org/drawingml/2006/main" w="9525">
            <a:solidFill>
              <a:srgbClr val="C8DCD7"/>
            </a:solidFill>
            <a:prstDash val="solid"/>
          </a:ln>
        </p:spPr>
      </p:sp>
      <p:sp>
        <p:nvSpPr>
          <p:cNvPr id="53" name="">
            <a:extLst xmlns:a="http://schemas.openxmlformats.org/drawingml/2006/main">
              <a:ext uri="{FF2B5EF4-FFF2-40B4-BE49-F238E27FC236}">
                <a16:creationId xmlns:a16="http://schemas.microsoft.com/office/drawing/2014/main" id="{9A24273A-559B-44EC-A2F9-B711394218F3}"/>
              </a:ext>
            </a:extLst>
          </p:cNvPr>
          <p:cNvSpPr>
            <a:spLocks xmlns:a="http://schemas.openxmlformats.org/drawingml/2006/main" noGrp="1"/>
          </p:cNvSpPr>
          <p:nvPr/>
        </p:nvSpPr>
        <p:spPr>
          <a:xfrm xmlns:a="http://schemas.openxmlformats.org/drawingml/2006/main">
            <a:off x="2438400" y="5267325"/>
            <a:ext cx="1981200" cy="285750"/>
          </a:xfrm>
          <a:prstGeom xmlns:a="http://schemas.openxmlformats.org/drawingml/2006/main" prst="rect">
            <a:avLst/>
          </a:prstGeom>
          <a:solidFill xmlns:a="http://schemas.openxmlformats.org/drawingml/2006/main">
            <a:srgbClr val="F2B84B"/>
          </a:solidFill>
          <a:ln xmlns:a="http://schemas.openxmlformats.org/drawingml/2006/main" w="0">
            <a:solidFill>
              <a:srgbClr val="F2B84B"/>
            </a:solidFill>
            <a:prstDash val="solid"/>
          </a:ln>
        </p:spPr>
      </p:sp>
      <p:sp>
        <p:nvSpPr>
          <p:cNvPr id="54" name="">
            <a:extLst xmlns:a="http://schemas.openxmlformats.org/drawingml/2006/main">
              <a:ext uri="{FF2B5EF4-FFF2-40B4-BE49-F238E27FC236}">
                <a16:creationId xmlns:a16="http://schemas.microsoft.com/office/drawing/2014/main" id="{63E57D8A-EC9A-4B5D-9BD5-26AC3D334286}"/>
              </a:ext>
            </a:extLst>
          </p:cNvPr>
          <p:cNvSpPr>
            <a:spLocks xmlns:a="http://schemas.openxmlformats.org/drawingml/2006/main" noGrp="1"/>
          </p:cNvSpPr>
          <p:nvPr/>
        </p:nvSpPr>
        <p:spPr>
          <a:xfrm xmlns:a="http://schemas.openxmlformats.org/drawingml/2006/main">
            <a:off x="2524125" y="5286375"/>
            <a:ext cx="18097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788" b="1">
                <a:solidFill>
                  <a:srgbClr val="FFFFFF"/>
                </a:solidFill>
              </a:defRPr>
            </a:pPr>
            <a:r>
              <a:rPr sz="788" b="1">
                <a:solidFill>
                  <a:srgbClr val="FFFFFF"/>
                </a:solidFill>
              </a:rPr>
              <a:t>SHAMPOO</a:t>
            </a:r>
          </a:p>
        </p:txBody>
      </p:sp>
      <p:sp>
        <p:nvSpPr>
          <p:cNvPr id="55" name="">
            <a:extLst xmlns:a="http://schemas.openxmlformats.org/drawingml/2006/main">
              <a:ext uri="{FF2B5EF4-FFF2-40B4-BE49-F238E27FC236}">
                <a16:creationId xmlns:a16="http://schemas.microsoft.com/office/drawing/2014/main" id="{D17B0818-9043-406C-9B06-24726837509D}"/>
              </a:ext>
            </a:extLst>
          </p:cNvPr>
          <p:cNvSpPr>
            <a:spLocks xmlns:a="http://schemas.openxmlformats.org/drawingml/2006/main" noGrp="1"/>
          </p:cNvSpPr>
          <p:nvPr/>
        </p:nvSpPr>
        <p:spPr>
          <a:xfrm xmlns:a="http://schemas.openxmlformats.org/drawingml/2006/main">
            <a:off x="2552700" y="5667375"/>
            <a:ext cx="17526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350" b="1">
                <a:solidFill>
                  <a:srgbClr val="F2B84B"/>
                </a:solidFill>
              </a:defRPr>
            </a:pPr>
            <a:r>
              <a:rPr sz="1350" b="1">
                <a:solidFill>
                  <a:srgbClr val="F2B84B"/>
                </a:solidFill>
              </a:rPr>
              <a:t>Selective headroom</a:t>
            </a:r>
          </a:p>
        </p:txBody>
      </p:sp>
      <p:sp>
        <p:nvSpPr>
          <p:cNvPr id="56" name="">
            <a:extLst xmlns:a="http://schemas.openxmlformats.org/drawingml/2006/main">
              <a:ext uri="{FF2B5EF4-FFF2-40B4-BE49-F238E27FC236}">
                <a16:creationId xmlns:a16="http://schemas.microsoft.com/office/drawing/2014/main" id="{9CC1B9F9-EB8F-429C-8CC7-00EF3E05AB6F}"/>
              </a:ext>
            </a:extLst>
          </p:cNvPr>
          <p:cNvSpPr>
            <a:spLocks xmlns:a="http://schemas.openxmlformats.org/drawingml/2006/main" noGrp="1"/>
          </p:cNvSpPr>
          <p:nvPr/>
        </p:nvSpPr>
        <p:spPr>
          <a:xfrm xmlns:a="http://schemas.openxmlformats.org/drawingml/2006/main">
            <a:off x="2571750" y="6143625"/>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B9A66"/>
                </a:solidFill>
              </a:defRPr>
            </a:pPr>
            <a:r>
              <a:rPr sz="600" b="1">
                <a:solidFill>
                  <a:srgbClr val="2B9A66"/>
                </a:solidFill>
              </a:rPr>
              <a:t>●</a:t>
            </a:r>
          </a:p>
        </p:txBody>
      </p:sp>
      <p:sp>
        <p:nvSpPr>
          <p:cNvPr id="57" name="">
            <a:extLst xmlns:a="http://schemas.openxmlformats.org/drawingml/2006/main">
              <a:ext uri="{FF2B5EF4-FFF2-40B4-BE49-F238E27FC236}">
                <a16:creationId xmlns:a16="http://schemas.microsoft.com/office/drawing/2014/main" id="{609CF2C1-0084-42DD-9F2E-645DF37CD151}"/>
              </a:ext>
            </a:extLst>
          </p:cNvPr>
          <p:cNvSpPr>
            <a:spLocks xmlns:a="http://schemas.openxmlformats.org/drawingml/2006/main" noGrp="1"/>
          </p:cNvSpPr>
          <p:nvPr/>
        </p:nvSpPr>
        <p:spPr>
          <a:xfrm xmlns:a="http://schemas.openxmlformats.org/drawingml/2006/main">
            <a:off x="2714625" y="6143625"/>
            <a:ext cx="1571625" cy="295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1">
                <a:solidFill>
                  <a:srgbClr val="183B39"/>
                </a:solidFill>
              </a:defRPr>
            </a:pPr>
            <a:r>
              <a:rPr sz="765" b="1">
                <a:solidFill>
                  <a:srgbClr val="183B39"/>
                </a:solidFill>
              </a:rPr>
              <a:t>Scale winning variant × pack × state × chain</a:t>
            </a:r>
          </a:p>
        </p:txBody>
      </p:sp>
      <p:sp>
        <p:nvSpPr>
          <p:cNvPr id="58" name="">
            <a:extLst xmlns:a="http://schemas.openxmlformats.org/drawingml/2006/main">
              <a:ext uri="{FF2B5EF4-FFF2-40B4-BE49-F238E27FC236}">
                <a16:creationId xmlns:a16="http://schemas.microsoft.com/office/drawing/2014/main" id="{6A4A0EE1-56D6-4BEB-8D98-4DAE8DFDA6B8}"/>
              </a:ext>
            </a:extLst>
          </p:cNvPr>
          <p:cNvSpPr>
            <a:spLocks xmlns:a="http://schemas.openxmlformats.org/drawingml/2006/main" noGrp="1"/>
          </p:cNvSpPr>
          <p:nvPr/>
        </p:nvSpPr>
        <p:spPr>
          <a:xfrm xmlns:a="http://schemas.openxmlformats.org/drawingml/2006/main">
            <a:off x="2571750" y="6448425"/>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8A596"/>
                </a:solidFill>
              </a:defRPr>
            </a:pPr>
            <a:r>
              <a:rPr sz="600" b="1">
                <a:solidFill>
                  <a:srgbClr val="28A596"/>
                </a:solidFill>
              </a:rPr>
              <a:t>●</a:t>
            </a:r>
          </a:p>
        </p:txBody>
      </p:sp>
      <p:sp>
        <p:nvSpPr>
          <p:cNvPr id="59" name="">
            <a:extLst xmlns:a="http://schemas.openxmlformats.org/drawingml/2006/main">
              <a:ext uri="{FF2B5EF4-FFF2-40B4-BE49-F238E27FC236}">
                <a16:creationId xmlns:a16="http://schemas.microsoft.com/office/drawing/2014/main" id="{CE8C7479-318E-4F65-919D-8889BCF2B822}"/>
              </a:ext>
            </a:extLst>
          </p:cNvPr>
          <p:cNvSpPr>
            <a:spLocks xmlns:a="http://schemas.openxmlformats.org/drawingml/2006/main" noGrp="1"/>
          </p:cNvSpPr>
          <p:nvPr/>
        </p:nvSpPr>
        <p:spPr>
          <a:xfrm xmlns:a="http://schemas.openxmlformats.org/drawingml/2006/main">
            <a:off x="2714625" y="6448425"/>
            <a:ext cx="1571625" cy="295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Lead with Onion and Rosemary heroes</a:t>
            </a:r>
          </a:p>
        </p:txBody>
      </p:sp>
      <p:sp>
        <p:nvSpPr>
          <p:cNvPr id="60" name="">
            <a:extLst xmlns:a="http://schemas.openxmlformats.org/drawingml/2006/main">
              <a:ext uri="{FF2B5EF4-FFF2-40B4-BE49-F238E27FC236}">
                <a16:creationId xmlns:a16="http://schemas.microsoft.com/office/drawing/2014/main" id="{9E9E8729-B74B-457C-B77F-70F41AE2B00E}"/>
              </a:ext>
            </a:extLst>
          </p:cNvPr>
          <p:cNvSpPr>
            <a:spLocks xmlns:a="http://schemas.openxmlformats.org/drawingml/2006/main" noGrp="1"/>
          </p:cNvSpPr>
          <p:nvPr/>
        </p:nvSpPr>
        <p:spPr>
          <a:xfrm xmlns:a="http://schemas.openxmlformats.org/drawingml/2006/main">
            <a:off x="2571750" y="6753225"/>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8A596"/>
                </a:solidFill>
              </a:defRPr>
            </a:pPr>
            <a:r>
              <a:rPr sz="600" b="1">
                <a:solidFill>
                  <a:srgbClr val="28A596"/>
                </a:solidFill>
              </a:rPr>
              <a:t>●</a:t>
            </a:r>
          </a:p>
        </p:txBody>
      </p:sp>
      <p:sp>
        <p:nvSpPr>
          <p:cNvPr id="61" name="">
            <a:extLst xmlns:a="http://schemas.openxmlformats.org/drawingml/2006/main">
              <a:ext uri="{FF2B5EF4-FFF2-40B4-BE49-F238E27FC236}">
                <a16:creationId xmlns:a16="http://schemas.microsoft.com/office/drawing/2014/main" id="{14201F2C-762B-4894-8ADD-EF8994FCA4A3}"/>
              </a:ext>
            </a:extLst>
          </p:cNvPr>
          <p:cNvSpPr>
            <a:spLocks xmlns:a="http://schemas.openxmlformats.org/drawingml/2006/main" noGrp="1"/>
          </p:cNvSpPr>
          <p:nvPr/>
        </p:nvSpPr>
        <p:spPr>
          <a:xfrm xmlns:a="http://schemas.openxmlformats.org/drawingml/2006/main">
            <a:off x="2714625" y="6753225"/>
            <a:ext cx="1571625" cy="295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Avoid full-range rollout without productivity proof</a:t>
            </a:r>
          </a:p>
        </p:txBody>
      </p:sp>
      <p:sp>
        <p:nvSpPr>
          <p:cNvPr id="62" name="">
            <a:extLst xmlns:a="http://schemas.openxmlformats.org/drawingml/2006/main">
              <a:ext uri="{FF2B5EF4-FFF2-40B4-BE49-F238E27FC236}">
                <a16:creationId xmlns:a16="http://schemas.microsoft.com/office/drawing/2014/main" id="{92F98DAE-F1C6-4ACB-92E3-948021674CF8}"/>
              </a:ext>
            </a:extLst>
          </p:cNvPr>
          <p:cNvSpPr>
            <a:spLocks xmlns:a="http://schemas.openxmlformats.org/drawingml/2006/main" noGrp="1"/>
          </p:cNvSpPr>
          <p:nvPr/>
        </p:nvSpPr>
        <p:spPr>
          <a:xfrm xmlns:a="http://schemas.openxmlformats.org/drawingml/2006/main">
            <a:off x="4610100" y="5267325"/>
            <a:ext cx="1981200" cy="2590800"/>
          </a:xfrm>
          <a:prstGeom xmlns:a="http://schemas.openxmlformats.org/drawingml/2006/main" prst="roundRect">
            <a:avLst>
              <a:gd name="adj" fmla="val 3846"/>
            </a:avLst>
          </a:prstGeom>
          <a:solidFill xmlns:a="http://schemas.openxmlformats.org/drawingml/2006/main">
            <a:srgbClr val="FFFFFF"/>
          </a:solidFill>
          <a:ln xmlns:a="http://schemas.openxmlformats.org/drawingml/2006/main" w="9525">
            <a:solidFill>
              <a:srgbClr val="C8DCD7"/>
            </a:solidFill>
            <a:prstDash val="solid"/>
          </a:ln>
        </p:spPr>
      </p:sp>
      <p:sp>
        <p:nvSpPr>
          <p:cNvPr id="63" name="">
            <a:extLst xmlns:a="http://schemas.openxmlformats.org/drawingml/2006/main">
              <a:ext uri="{FF2B5EF4-FFF2-40B4-BE49-F238E27FC236}">
                <a16:creationId xmlns:a16="http://schemas.microsoft.com/office/drawing/2014/main" id="{C809D7EE-8A1C-465F-8E94-E1B35F371AEE}"/>
              </a:ext>
            </a:extLst>
          </p:cNvPr>
          <p:cNvSpPr>
            <a:spLocks xmlns:a="http://schemas.openxmlformats.org/drawingml/2006/main" noGrp="1"/>
          </p:cNvSpPr>
          <p:nvPr/>
        </p:nvSpPr>
        <p:spPr>
          <a:xfrm xmlns:a="http://schemas.openxmlformats.org/drawingml/2006/main">
            <a:off x="4610100" y="5267325"/>
            <a:ext cx="1981200" cy="285750"/>
          </a:xfrm>
          <a:prstGeom xmlns:a="http://schemas.openxmlformats.org/drawingml/2006/main" prst="rect">
            <a:avLst/>
          </a:prstGeom>
          <a:solidFill xmlns:a="http://schemas.openxmlformats.org/drawingml/2006/main">
            <a:srgbClr val="D6544D"/>
          </a:solidFill>
          <a:ln xmlns:a="http://schemas.openxmlformats.org/drawingml/2006/main" w="0">
            <a:solidFill>
              <a:srgbClr val="D6544D"/>
            </a:solidFill>
            <a:prstDash val="solid"/>
          </a:ln>
        </p:spPr>
      </p:sp>
      <p:sp>
        <p:nvSpPr>
          <p:cNvPr id="64" name="">
            <a:extLst xmlns:a="http://schemas.openxmlformats.org/drawingml/2006/main">
              <a:ext uri="{FF2B5EF4-FFF2-40B4-BE49-F238E27FC236}">
                <a16:creationId xmlns:a16="http://schemas.microsoft.com/office/drawing/2014/main" id="{49B15949-DC9D-4BB4-B696-3B94D920385C}"/>
              </a:ext>
            </a:extLst>
          </p:cNvPr>
          <p:cNvSpPr>
            <a:spLocks xmlns:a="http://schemas.openxmlformats.org/drawingml/2006/main" noGrp="1"/>
          </p:cNvSpPr>
          <p:nvPr/>
        </p:nvSpPr>
        <p:spPr>
          <a:xfrm xmlns:a="http://schemas.openxmlformats.org/drawingml/2006/main">
            <a:off x="4695825" y="5286375"/>
            <a:ext cx="18097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788" b="1">
                <a:solidFill>
                  <a:srgbClr val="FFFFFF"/>
                </a:solidFill>
              </a:defRPr>
            </a:pPr>
            <a:r>
              <a:rPr sz="788" b="1">
                <a:solidFill>
                  <a:srgbClr val="FFFFFF"/>
                </a:solidFill>
              </a:rPr>
              <a:t>HERO-SKU AVAILABILITY</a:t>
            </a:r>
          </a:p>
        </p:txBody>
      </p:sp>
      <p:sp>
        <p:nvSpPr>
          <p:cNvPr id="65" name="">
            <a:extLst xmlns:a="http://schemas.openxmlformats.org/drawingml/2006/main">
              <a:ext uri="{FF2B5EF4-FFF2-40B4-BE49-F238E27FC236}">
                <a16:creationId xmlns:a16="http://schemas.microsoft.com/office/drawing/2014/main" id="{EFCD7BA4-A7CE-40CB-B496-B9AC86A214D9}"/>
              </a:ext>
            </a:extLst>
          </p:cNvPr>
          <p:cNvSpPr>
            <a:spLocks xmlns:a="http://schemas.openxmlformats.org/drawingml/2006/main" noGrp="1"/>
          </p:cNvSpPr>
          <p:nvPr/>
        </p:nvSpPr>
        <p:spPr>
          <a:xfrm xmlns:a="http://schemas.openxmlformats.org/drawingml/2006/main">
            <a:off x="4724400" y="5667375"/>
            <a:ext cx="17526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350" b="1">
                <a:solidFill>
                  <a:srgbClr val="D6544D"/>
                </a:solidFill>
              </a:defRPr>
            </a:pPr>
            <a:r>
              <a:rPr sz="1350" b="1">
                <a:solidFill>
                  <a:srgbClr val="D6544D"/>
                </a:solidFill>
              </a:rPr>
              <a:t>Must-stock first</a:t>
            </a:r>
          </a:p>
        </p:txBody>
      </p:sp>
      <p:sp>
        <p:nvSpPr>
          <p:cNvPr id="66" name="">
            <a:extLst xmlns:a="http://schemas.openxmlformats.org/drawingml/2006/main">
              <a:ext uri="{FF2B5EF4-FFF2-40B4-BE49-F238E27FC236}">
                <a16:creationId xmlns:a16="http://schemas.microsoft.com/office/drawing/2014/main" id="{67746EEE-CA3F-45E1-A97E-2183807C6181}"/>
              </a:ext>
            </a:extLst>
          </p:cNvPr>
          <p:cNvSpPr>
            <a:spLocks xmlns:a="http://schemas.openxmlformats.org/drawingml/2006/main" noGrp="1"/>
          </p:cNvSpPr>
          <p:nvPr/>
        </p:nvSpPr>
        <p:spPr>
          <a:xfrm xmlns:a="http://schemas.openxmlformats.org/drawingml/2006/main">
            <a:off x="4743450" y="6143625"/>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B9A66"/>
                </a:solidFill>
              </a:defRPr>
            </a:pPr>
            <a:r>
              <a:rPr sz="600" b="1">
                <a:solidFill>
                  <a:srgbClr val="2B9A66"/>
                </a:solidFill>
              </a:rPr>
              <a:t>●</a:t>
            </a:r>
          </a:p>
        </p:txBody>
      </p:sp>
      <p:sp>
        <p:nvSpPr>
          <p:cNvPr id="67" name="">
            <a:extLst xmlns:a="http://schemas.openxmlformats.org/drawingml/2006/main">
              <a:ext uri="{FF2B5EF4-FFF2-40B4-BE49-F238E27FC236}">
                <a16:creationId xmlns:a16="http://schemas.microsoft.com/office/drawing/2014/main" id="{0A024FCB-DB81-408A-AB36-F814A97F8722}"/>
              </a:ext>
            </a:extLst>
          </p:cNvPr>
          <p:cNvSpPr>
            <a:spLocks xmlns:a="http://schemas.openxmlformats.org/drawingml/2006/main" noGrp="1"/>
          </p:cNvSpPr>
          <p:nvPr/>
        </p:nvSpPr>
        <p:spPr>
          <a:xfrm xmlns:a="http://schemas.openxmlformats.org/drawingml/2006/main">
            <a:off x="4886325" y="6143625"/>
            <a:ext cx="1571625" cy="295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1">
                <a:solidFill>
                  <a:srgbClr val="183B39"/>
                </a:solidFill>
              </a:defRPr>
            </a:pPr>
            <a:r>
              <a:rPr sz="765" b="1">
                <a:solidFill>
                  <a:srgbClr val="183B39"/>
                </a:solidFill>
              </a:rPr>
              <a:t>Measure hero availability %, not only SKU count</a:t>
            </a:r>
          </a:p>
        </p:txBody>
      </p:sp>
      <p:sp>
        <p:nvSpPr>
          <p:cNvPr id="68" name="">
            <a:extLst xmlns:a="http://schemas.openxmlformats.org/drawingml/2006/main">
              <a:ext uri="{FF2B5EF4-FFF2-40B4-BE49-F238E27FC236}">
                <a16:creationId xmlns:a16="http://schemas.microsoft.com/office/drawing/2014/main" id="{B24EE923-EA6D-467C-9DA0-BF97B009E32B}"/>
              </a:ext>
            </a:extLst>
          </p:cNvPr>
          <p:cNvSpPr>
            <a:spLocks xmlns:a="http://schemas.openxmlformats.org/drawingml/2006/main" noGrp="1"/>
          </p:cNvSpPr>
          <p:nvPr/>
        </p:nvSpPr>
        <p:spPr>
          <a:xfrm xmlns:a="http://schemas.openxmlformats.org/drawingml/2006/main">
            <a:off x="4743450" y="6448425"/>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8A596"/>
                </a:solidFill>
              </a:defRPr>
            </a:pPr>
            <a:r>
              <a:rPr sz="600" b="1">
                <a:solidFill>
                  <a:srgbClr val="28A596"/>
                </a:solidFill>
              </a:rPr>
              <a:t>●</a:t>
            </a:r>
          </a:p>
        </p:txBody>
      </p:sp>
      <p:sp>
        <p:nvSpPr>
          <p:cNvPr id="69" name="">
            <a:extLst xmlns:a="http://schemas.openxmlformats.org/drawingml/2006/main">
              <a:ext uri="{FF2B5EF4-FFF2-40B4-BE49-F238E27FC236}">
                <a16:creationId xmlns:a16="http://schemas.microsoft.com/office/drawing/2014/main" id="{3F757573-13D0-4593-9EE5-7130D2D5CA12}"/>
              </a:ext>
            </a:extLst>
          </p:cNvPr>
          <p:cNvSpPr>
            <a:spLocks xmlns:a="http://schemas.openxmlformats.org/drawingml/2006/main" noGrp="1"/>
          </p:cNvSpPr>
          <p:nvPr/>
        </p:nvSpPr>
        <p:spPr>
          <a:xfrm xmlns:a="http://schemas.openxmlformats.org/drawingml/2006/main">
            <a:off x="4886325" y="6448425"/>
            <a:ext cx="1571625" cy="295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Missing #1 hero should fail assortment score</a:t>
            </a:r>
          </a:p>
        </p:txBody>
      </p:sp>
      <p:sp>
        <p:nvSpPr>
          <p:cNvPr id="70" name="">
            <a:extLst xmlns:a="http://schemas.openxmlformats.org/drawingml/2006/main">
              <a:ext uri="{FF2B5EF4-FFF2-40B4-BE49-F238E27FC236}">
                <a16:creationId xmlns:a16="http://schemas.microsoft.com/office/drawing/2014/main" id="{A4C47078-5005-49E0-8BD3-7B1BD9576953}"/>
              </a:ext>
            </a:extLst>
          </p:cNvPr>
          <p:cNvSpPr>
            <a:spLocks xmlns:a="http://schemas.openxmlformats.org/drawingml/2006/main" noGrp="1"/>
          </p:cNvSpPr>
          <p:nvPr/>
        </p:nvSpPr>
        <p:spPr>
          <a:xfrm xmlns:a="http://schemas.openxmlformats.org/drawingml/2006/main">
            <a:off x="4743450" y="6753225"/>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8A596"/>
                </a:solidFill>
              </a:defRPr>
            </a:pPr>
            <a:r>
              <a:rPr sz="600" b="1">
                <a:solidFill>
                  <a:srgbClr val="28A596"/>
                </a:solidFill>
              </a:rPr>
              <a:t>●</a:t>
            </a:r>
          </a:p>
        </p:txBody>
      </p:sp>
      <p:sp>
        <p:nvSpPr>
          <p:cNvPr id="71" name="">
            <a:extLst xmlns:a="http://schemas.openxmlformats.org/drawingml/2006/main">
              <a:ext uri="{FF2B5EF4-FFF2-40B4-BE49-F238E27FC236}">
                <a16:creationId xmlns:a16="http://schemas.microsoft.com/office/drawing/2014/main" id="{CF04E905-CE31-4D48-86E1-19E161CB3560}"/>
              </a:ext>
            </a:extLst>
          </p:cNvPr>
          <p:cNvSpPr>
            <a:spLocks xmlns:a="http://schemas.openxmlformats.org/drawingml/2006/main" noGrp="1"/>
          </p:cNvSpPr>
          <p:nvPr/>
        </p:nvSpPr>
        <p:spPr>
          <a:xfrm xmlns:a="http://schemas.openxmlformats.org/drawingml/2006/main">
            <a:off x="4886325" y="6753225"/>
            <a:ext cx="1571625" cy="295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Long tail follows proven heroes</a:t>
            </a:r>
          </a:p>
        </p:txBody>
      </p:sp>
      <p:sp>
        <p:nvSpPr>
          <p:cNvPr id="72" name="">
            <a:extLst xmlns:a="http://schemas.openxmlformats.org/drawingml/2006/main">
              <a:ext uri="{FF2B5EF4-FFF2-40B4-BE49-F238E27FC236}">
                <a16:creationId xmlns:a16="http://schemas.microsoft.com/office/drawing/2014/main" id="{D4F7914E-A53B-4F69-B50D-0DE3C6B31D5D}"/>
              </a:ext>
            </a:extLst>
          </p:cNvPr>
          <p:cNvSpPr>
            <a:spLocks xmlns:a="http://schemas.openxmlformats.org/drawingml/2006/main" noGrp="1"/>
          </p:cNvSpPr>
          <p:nvPr/>
        </p:nvSpPr>
        <p:spPr>
          <a:xfrm xmlns:a="http://schemas.openxmlformats.org/drawingml/2006/main">
            <a:off x="266700" y="8077200"/>
            <a:ext cx="1981200" cy="2590800"/>
          </a:xfrm>
          <a:prstGeom xmlns:a="http://schemas.openxmlformats.org/drawingml/2006/main" prst="roundRect">
            <a:avLst>
              <a:gd name="adj" fmla="val 3846"/>
            </a:avLst>
          </a:prstGeom>
          <a:solidFill xmlns:a="http://schemas.openxmlformats.org/drawingml/2006/main">
            <a:srgbClr val="FFFFFF"/>
          </a:solidFill>
          <a:ln xmlns:a="http://schemas.openxmlformats.org/drawingml/2006/main" w="9525">
            <a:solidFill>
              <a:srgbClr val="C8DCD7"/>
            </a:solidFill>
            <a:prstDash val="solid"/>
          </a:ln>
        </p:spPr>
      </p:sp>
      <p:sp>
        <p:nvSpPr>
          <p:cNvPr id="73" name="">
            <a:extLst xmlns:a="http://schemas.openxmlformats.org/drawingml/2006/main">
              <a:ext uri="{FF2B5EF4-FFF2-40B4-BE49-F238E27FC236}">
                <a16:creationId xmlns:a16="http://schemas.microsoft.com/office/drawing/2014/main" id="{1CC97562-183D-4D32-97A0-D732D61CE59B}"/>
              </a:ext>
            </a:extLst>
          </p:cNvPr>
          <p:cNvSpPr>
            <a:spLocks xmlns:a="http://schemas.openxmlformats.org/drawingml/2006/main" noGrp="1"/>
          </p:cNvSpPr>
          <p:nvPr/>
        </p:nvSpPr>
        <p:spPr>
          <a:xfrm xmlns:a="http://schemas.openxmlformats.org/drawingml/2006/main">
            <a:off x="266700" y="8077200"/>
            <a:ext cx="1981200" cy="285750"/>
          </a:xfrm>
          <a:prstGeom xmlns:a="http://schemas.openxmlformats.org/drawingml/2006/main" prst="rect">
            <a:avLst/>
          </a:prstGeom>
          <a:solidFill xmlns:a="http://schemas.openxmlformats.org/drawingml/2006/main">
            <a:srgbClr val="28A596"/>
          </a:solidFill>
          <a:ln xmlns:a="http://schemas.openxmlformats.org/drawingml/2006/main" w="0">
            <a:solidFill>
              <a:srgbClr val="28A596"/>
            </a:solidFill>
            <a:prstDash val="solid"/>
          </a:ln>
        </p:spPr>
      </p:sp>
      <p:sp>
        <p:nvSpPr>
          <p:cNvPr id="74" name="">
            <a:extLst xmlns:a="http://schemas.openxmlformats.org/drawingml/2006/main">
              <a:ext uri="{FF2B5EF4-FFF2-40B4-BE49-F238E27FC236}">
                <a16:creationId xmlns:a16="http://schemas.microsoft.com/office/drawing/2014/main" id="{CC472854-4DB6-4760-909E-782297F1EC3D}"/>
              </a:ext>
            </a:extLst>
          </p:cNvPr>
          <p:cNvSpPr>
            <a:spLocks xmlns:a="http://schemas.openxmlformats.org/drawingml/2006/main" noGrp="1"/>
          </p:cNvSpPr>
          <p:nvPr/>
        </p:nvSpPr>
        <p:spPr>
          <a:xfrm xmlns:a="http://schemas.openxmlformats.org/drawingml/2006/main">
            <a:off x="352425" y="8096250"/>
            <a:ext cx="18097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788" b="1">
                <a:solidFill>
                  <a:srgbClr val="FFFFFF"/>
                </a:solidFill>
              </a:defRPr>
            </a:pPr>
            <a:r>
              <a:rPr sz="788" b="1">
                <a:solidFill>
                  <a:srgbClr val="FFFFFF"/>
                </a:solidFill>
              </a:rPr>
              <a:t>PACK ARCHITECTURE</a:t>
            </a:r>
          </a:p>
        </p:txBody>
      </p:sp>
      <p:sp>
        <p:nvSpPr>
          <p:cNvPr id="75" name="">
            <a:extLst xmlns:a="http://schemas.openxmlformats.org/drawingml/2006/main">
              <a:ext uri="{FF2B5EF4-FFF2-40B4-BE49-F238E27FC236}">
                <a16:creationId xmlns:a16="http://schemas.microsoft.com/office/drawing/2014/main" id="{21E6B707-A46C-4D51-8388-DB1D858F17BF}"/>
              </a:ext>
            </a:extLst>
          </p:cNvPr>
          <p:cNvSpPr>
            <a:spLocks xmlns:a="http://schemas.openxmlformats.org/drawingml/2006/main" noGrp="1"/>
          </p:cNvSpPr>
          <p:nvPr/>
        </p:nvSpPr>
        <p:spPr>
          <a:xfrm xmlns:a="http://schemas.openxmlformats.org/drawingml/2006/main">
            <a:off x="381000" y="8477250"/>
            <a:ext cx="17526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350" b="1">
                <a:solidFill>
                  <a:srgbClr val="28A596"/>
                </a:solidFill>
              </a:defRPr>
            </a:pPr>
            <a:r>
              <a:rPr sz="1350" b="1">
                <a:solidFill>
                  <a:srgbClr val="28A596"/>
                </a:solidFill>
              </a:rPr>
              <a:t>4 pack roles</a:t>
            </a:r>
          </a:p>
        </p:txBody>
      </p:sp>
      <p:sp>
        <p:nvSpPr>
          <p:cNvPr id="76" name="">
            <a:extLst xmlns:a="http://schemas.openxmlformats.org/drawingml/2006/main">
              <a:ext uri="{FF2B5EF4-FFF2-40B4-BE49-F238E27FC236}">
                <a16:creationId xmlns:a16="http://schemas.microsoft.com/office/drawing/2014/main" id="{967A1F23-3658-414D-AC0E-C3D5AF3E4290}"/>
              </a:ext>
            </a:extLst>
          </p:cNvPr>
          <p:cNvSpPr>
            <a:spLocks xmlns:a="http://schemas.openxmlformats.org/drawingml/2006/main" noGrp="1"/>
          </p:cNvSpPr>
          <p:nvPr/>
        </p:nvSpPr>
        <p:spPr>
          <a:xfrm xmlns:a="http://schemas.openxmlformats.org/drawingml/2006/main">
            <a:off x="400050" y="8953500"/>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B9A66"/>
                </a:solidFill>
              </a:defRPr>
            </a:pPr>
            <a:r>
              <a:rPr sz="600" b="1">
                <a:solidFill>
                  <a:srgbClr val="2B9A66"/>
                </a:solidFill>
              </a:rPr>
              <a:t>●</a:t>
            </a:r>
          </a:p>
        </p:txBody>
      </p:sp>
      <p:sp>
        <p:nvSpPr>
          <p:cNvPr id="77" name="">
            <a:extLst xmlns:a="http://schemas.openxmlformats.org/drawingml/2006/main">
              <a:ext uri="{FF2B5EF4-FFF2-40B4-BE49-F238E27FC236}">
                <a16:creationId xmlns:a16="http://schemas.microsoft.com/office/drawing/2014/main" id="{D822FC49-0A65-4E4A-BC8D-EB5EB7DB534D}"/>
              </a:ext>
            </a:extLst>
          </p:cNvPr>
          <p:cNvSpPr>
            <a:spLocks xmlns:a="http://schemas.openxmlformats.org/drawingml/2006/main" noGrp="1"/>
          </p:cNvSpPr>
          <p:nvPr/>
        </p:nvSpPr>
        <p:spPr>
          <a:xfrm xmlns:a="http://schemas.openxmlformats.org/drawingml/2006/main">
            <a:off x="542925" y="8953500"/>
            <a:ext cx="1571625" cy="295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1">
                <a:solidFill>
                  <a:srgbClr val="183B39"/>
                </a:solidFill>
              </a:defRPr>
            </a:pPr>
            <a:r>
              <a:rPr sz="765" b="1">
                <a:solidFill>
                  <a:srgbClr val="183B39"/>
                </a:solidFill>
              </a:rPr>
              <a:t>Traffic pack</a:t>
            </a:r>
          </a:p>
        </p:txBody>
      </p:sp>
      <p:sp>
        <p:nvSpPr>
          <p:cNvPr id="78" name="">
            <a:extLst xmlns:a="http://schemas.openxmlformats.org/drawingml/2006/main">
              <a:ext uri="{FF2B5EF4-FFF2-40B4-BE49-F238E27FC236}">
                <a16:creationId xmlns:a16="http://schemas.microsoft.com/office/drawing/2014/main" id="{33F28274-CD8E-4BEF-A0DC-31AE78EBA975}"/>
              </a:ext>
            </a:extLst>
          </p:cNvPr>
          <p:cNvSpPr>
            <a:spLocks xmlns:a="http://schemas.openxmlformats.org/drawingml/2006/main" noGrp="1"/>
          </p:cNvSpPr>
          <p:nvPr/>
        </p:nvSpPr>
        <p:spPr>
          <a:xfrm xmlns:a="http://schemas.openxmlformats.org/drawingml/2006/main">
            <a:off x="400050" y="9258300"/>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8A596"/>
                </a:solidFill>
              </a:defRPr>
            </a:pPr>
            <a:r>
              <a:rPr sz="600" b="1">
                <a:solidFill>
                  <a:srgbClr val="28A596"/>
                </a:solidFill>
              </a:rPr>
              <a:t>●</a:t>
            </a:r>
          </a:p>
        </p:txBody>
      </p:sp>
      <p:sp>
        <p:nvSpPr>
          <p:cNvPr id="79" name="">
            <a:extLst xmlns:a="http://schemas.openxmlformats.org/drawingml/2006/main">
              <a:ext uri="{FF2B5EF4-FFF2-40B4-BE49-F238E27FC236}">
                <a16:creationId xmlns:a16="http://schemas.microsoft.com/office/drawing/2014/main" id="{A6736A48-EBA9-4B19-A504-D4D17BAC8658}"/>
              </a:ext>
            </a:extLst>
          </p:cNvPr>
          <p:cNvSpPr>
            <a:spLocks xmlns:a="http://schemas.openxmlformats.org/drawingml/2006/main" noGrp="1"/>
          </p:cNvSpPr>
          <p:nvPr/>
        </p:nvSpPr>
        <p:spPr>
          <a:xfrm xmlns:a="http://schemas.openxmlformats.org/drawingml/2006/main">
            <a:off x="542925" y="9258300"/>
            <a:ext cx="1571625" cy="295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Core-volume pack</a:t>
            </a:r>
          </a:p>
        </p:txBody>
      </p:sp>
      <p:sp>
        <p:nvSpPr>
          <p:cNvPr id="80" name="">
            <a:extLst xmlns:a="http://schemas.openxmlformats.org/drawingml/2006/main">
              <a:ext uri="{FF2B5EF4-FFF2-40B4-BE49-F238E27FC236}">
                <a16:creationId xmlns:a16="http://schemas.microsoft.com/office/drawing/2014/main" id="{27FF0202-B544-4552-8B89-8821396D0CAB}"/>
              </a:ext>
            </a:extLst>
          </p:cNvPr>
          <p:cNvSpPr>
            <a:spLocks xmlns:a="http://schemas.openxmlformats.org/drawingml/2006/main" noGrp="1"/>
          </p:cNvSpPr>
          <p:nvPr/>
        </p:nvSpPr>
        <p:spPr>
          <a:xfrm xmlns:a="http://schemas.openxmlformats.org/drawingml/2006/main">
            <a:off x="400050" y="9563100"/>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8A596"/>
                </a:solidFill>
              </a:defRPr>
            </a:pPr>
            <a:r>
              <a:rPr sz="600" b="1">
                <a:solidFill>
                  <a:srgbClr val="28A596"/>
                </a:solidFill>
              </a:rPr>
              <a:t>●</a:t>
            </a:r>
          </a:p>
        </p:txBody>
      </p:sp>
      <p:sp>
        <p:nvSpPr>
          <p:cNvPr id="81" name="">
            <a:extLst xmlns:a="http://schemas.openxmlformats.org/drawingml/2006/main">
              <a:ext uri="{FF2B5EF4-FFF2-40B4-BE49-F238E27FC236}">
                <a16:creationId xmlns:a16="http://schemas.microsoft.com/office/drawing/2014/main" id="{0541A6D6-B41D-4F1D-81AA-1E80F6206DB9}"/>
              </a:ext>
            </a:extLst>
          </p:cNvPr>
          <p:cNvSpPr>
            <a:spLocks xmlns:a="http://schemas.openxmlformats.org/drawingml/2006/main" noGrp="1"/>
          </p:cNvSpPr>
          <p:nvPr/>
        </p:nvSpPr>
        <p:spPr>
          <a:xfrm xmlns:a="http://schemas.openxmlformats.org/drawingml/2006/main">
            <a:off x="542925" y="9563100"/>
            <a:ext cx="1571625" cy="295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Premium/value-upgrade pack</a:t>
            </a:r>
          </a:p>
        </p:txBody>
      </p:sp>
      <p:sp>
        <p:nvSpPr>
          <p:cNvPr id="82" name="">
            <a:extLst xmlns:a="http://schemas.openxmlformats.org/drawingml/2006/main">
              <a:ext uri="{FF2B5EF4-FFF2-40B4-BE49-F238E27FC236}">
                <a16:creationId xmlns:a16="http://schemas.microsoft.com/office/drawing/2014/main" id="{7F980FC0-11A7-4727-A67E-247C24DD9234}"/>
              </a:ext>
            </a:extLst>
          </p:cNvPr>
          <p:cNvSpPr>
            <a:spLocks xmlns:a="http://schemas.openxmlformats.org/drawingml/2006/main" noGrp="1"/>
          </p:cNvSpPr>
          <p:nvPr/>
        </p:nvSpPr>
        <p:spPr>
          <a:xfrm xmlns:a="http://schemas.openxmlformats.org/drawingml/2006/main">
            <a:off x="400050" y="9867900"/>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8A596"/>
                </a:solidFill>
              </a:defRPr>
            </a:pPr>
            <a:r>
              <a:rPr sz="600" b="1">
                <a:solidFill>
                  <a:srgbClr val="28A596"/>
                </a:solidFill>
              </a:rPr>
              <a:t>●</a:t>
            </a:r>
          </a:p>
        </p:txBody>
      </p:sp>
      <p:sp>
        <p:nvSpPr>
          <p:cNvPr id="83" name="">
            <a:extLst xmlns:a="http://schemas.openxmlformats.org/drawingml/2006/main">
              <a:ext uri="{FF2B5EF4-FFF2-40B4-BE49-F238E27FC236}">
                <a16:creationId xmlns:a16="http://schemas.microsoft.com/office/drawing/2014/main" id="{498ACBC5-CA06-4920-80C0-2C051F7AB4A7}"/>
              </a:ext>
            </a:extLst>
          </p:cNvPr>
          <p:cNvSpPr>
            <a:spLocks xmlns:a="http://schemas.openxmlformats.org/drawingml/2006/main" noGrp="1"/>
          </p:cNvSpPr>
          <p:nvPr/>
        </p:nvSpPr>
        <p:spPr>
          <a:xfrm xmlns:a="http://schemas.openxmlformats.org/drawingml/2006/main">
            <a:off x="542925" y="9867900"/>
            <a:ext cx="1571625" cy="295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Dead or low-productivity pack</a:t>
            </a:r>
          </a:p>
        </p:txBody>
      </p:sp>
      <p:sp>
        <p:nvSpPr>
          <p:cNvPr id="84" name="">
            <a:extLst xmlns:a="http://schemas.openxmlformats.org/drawingml/2006/main">
              <a:ext uri="{FF2B5EF4-FFF2-40B4-BE49-F238E27FC236}">
                <a16:creationId xmlns:a16="http://schemas.microsoft.com/office/drawing/2014/main" id="{0483D738-F85D-40C9-98F2-B02FD1E794C9}"/>
              </a:ext>
            </a:extLst>
          </p:cNvPr>
          <p:cNvSpPr>
            <a:spLocks xmlns:a="http://schemas.openxmlformats.org/drawingml/2006/main" noGrp="1"/>
          </p:cNvSpPr>
          <p:nvPr/>
        </p:nvSpPr>
        <p:spPr>
          <a:xfrm xmlns:a="http://schemas.openxmlformats.org/drawingml/2006/main">
            <a:off x="400050" y="10172700"/>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8A596"/>
                </a:solidFill>
              </a:defRPr>
            </a:pPr>
            <a:r>
              <a:rPr sz="600" b="1">
                <a:solidFill>
                  <a:srgbClr val="28A596"/>
                </a:solidFill>
              </a:rPr>
              <a:t>●</a:t>
            </a:r>
          </a:p>
        </p:txBody>
      </p:sp>
      <p:sp>
        <p:nvSpPr>
          <p:cNvPr id="85" name="">
            <a:extLst xmlns:a="http://schemas.openxmlformats.org/drawingml/2006/main">
              <a:ext uri="{FF2B5EF4-FFF2-40B4-BE49-F238E27FC236}">
                <a16:creationId xmlns:a16="http://schemas.microsoft.com/office/drawing/2014/main" id="{24412FF0-A948-4A0A-BABA-26207CCFBD69}"/>
              </a:ext>
            </a:extLst>
          </p:cNvPr>
          <p:cNvSpPr>
            <a:spLocks xmlns:a="http://schemas.openxmlformats.org/drawingml/2006/main" noGrp="1"/>
          </p:cNvSpPr>
          <p:nvPr/>
        </p:nvSpPr>
        <p:spPr>
          <a:xfrm xmlns:a="http://schemas.openxmlformats.org/drawingml/2006/main">
            <a:off x="542925" y="10172700"/>
            <a:ext cx="1571625" cy="295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Do not give every format every pack</a:t>
            </a:r>
          </a:p>
        </p:txBody>
      </p:sp>
      <p:sp>
        <p:nvSpPr>
          <p:cNvPr id="86" name="">
            <a:extLst xmlns:a="http://schemas.openxmlformats.org/drawingml/2006/main">
              <a:ext uri="{FF2B5EF4-FFF2-40B4-BE49-F238E27FC236}">
                <a16:creationId xmlns:a16="http://schemas.microsoft.com/office/drawing/2014/main" id="{6D8F3428-E231-462D-95FA-D204C6E966F0}"/>
              </a:ext>
            </a:extLst>
          </p:cNvPr>
          <p:cNvSpPr>
            <a:spLocks xmlns:a="http://schemas.openxmlformats.org/drawingml/2006/main" noGrp="1"/>
          </p:cNvSpPr>
          <p:nvPr/>
        </p:nvSpPr>
        <p:spPr>
          <a:xfrm xmlns:a="http://schemas.openxmlformats.org/drawingml/2006/main">
            <a:off x="2438400" y="8077200"/>
            <a:ext cx="1981200" cy="2590800"/>
          </a:xfrm>
          <a:prstGeom xmlns:a="http://schemas.openxmlformats.org/drawingml/2006/main" prst="roundRect">
            <a:avLst>
              <a:gd name="adj" fmla="val 3846"/>
            </a:avLst>
          </a:prstGeom>
          <a:solidFill xmlns:a="http://schemas.openxmlformats.org/drawingml/2006/main">
            <a:srgbClr val="FFFFFF"/>
          </a:solidFill>
          <a:ln xmlns:a="http://schemas.openxmlformats.org/drawingml/2006/main" w="9525">
            <a:solidFill>
              <a:srgbClr val="C8DCD7"/>
            </a:solidFill>
            <a:prstDash val="solid"/>
          </a:ln>
        </p:spPr>
      </p:sp>
      <p:sp>
        <p:nvSpPr>
          <p:cNvPr id="87" name="">
            <a:extLst xmlns:a="http://schemas.openxmlformats.org/drawingml/2006/main">
              <a:ext uri="{FF2B5EF4-FFF2-40B4-BE49-F238E27FC236}">
                <a16:creationId xmlns:a16="http://schemas.microsoft.com/office/drawing/2014/main" id="{710AA54F-FD09-4A16-A26D-A05ED1746C59}"/>
              </a:ext>
            </a:extLst>
          </p:cNvPr>
          <p:cNvSpPr>
            <a:spLocks xmlns:a="http://schemas.openxmlformats.org/drawingml/2006/main" noGrp="1"/>
          </p:cNvSpPr>
          <p:nvPr/>
        </p:nvSpPr>
        <p:spPr>
          <a:xfrm xmlns:a="http://schemas.openxmlformats.org/drawingml/2006/main">
            <a:off x="2438400" y="8077200"/>
            <a:ext cx="1981200" cy="285750"/>
          </a:xfrm>
          <a:prstGeom xmlns:a="http://schemas.openxmlformats.org/drawingml/2006/main" prst="rect">
            <a:avLst/>
          </a:prstGeom>
          <a:solidFill xmlns:a="http://schemas.openxmlformats.org/drawingml/2006/main">
            <a:srgbClr val="2E7DA8"/>
          </a:solidFill>
          <a:ln xmlns:a="http://schemas.openxmlformats.org/drawingml/2006/main" w="0">
            <a:solidFill>
              <a:srgbClr val="2E7DA8"/>
            </a:solidFill>
            <a:prstDash val="solid"/>
          </a:ln>
        </p:spPr>
      </p:sp>
      <p:sp>
        <p:nvSpPr>
          <p:cNvPr id="88" name="">
            <a:extLst xmlns:a="http://schemas.openxmlformats.org/drawingml/2006/main">
              <a:ext uri="{FF2B5EF4-FFF2-40B4-BE49-F238E27FC236}">
                <a16:creationId xmlns:a16="http://schemas.microsoft.com/office/drawing/2014/main" id="{A1DFD689-E02E-4AE3-B4F3-168CF5E36776}"/>
              </a:ext>
            </a:extLst>
          </p:cNvPr>
          <p:cNvSpPr>
            <a:spLocks xmlns:a="http://schemas.openxmlformats.org/drawingml/2006/main" noGrp="1"/>
          </p:cNvSpPr>
          <p:nvPr/>
        </p:nvSpPr>
        <p:spPr>
          <a:xfrm xmlns:a="http://schemas.openxmlformats.org/drawingml/2006/main">
            <a:off x="2524125" y="8096250"/>
            <a:ext cx="18097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788" b="1">
                <a:solidFill>
                  <a:srgbClr val="FFFFFF"/>
                </a:solidFill>
              </a:defRPr>
            </a:pPr>
            <a:r>
              <a:rPr sz="788" b="1">
                <a:solidFill>
                  <a:srgbClr val="FFFFFF"/>
                </a:solidFill>
              </a:rPr>
              <a:t>MARKET × FLOW RULE</a:t>
            </a:r>
          </a:p>
        </p:txBody>
      </p:sp>
      <p:sp>
        <p:nvSpPr>
          <p:cNvPr id="89" name="">
            <a:extLst xmlns:a="http://schemas.openxmlformats.org/drawingml/2006/main">
              <a:ext uri="{FF2B5EF4-FFF2-40B4-BE49-F238E27FC236}">
                <a16:creationId xmlns:a16="http://schemas.microsoft.com/office/drawing/2014/main" id="{BA065314-9305-4886-B74F-145DFBC97A79}"/>
              </a:ext>
            </a:extLst>
          </p:cNvPr>
          <p:cNvSpPr>
            <a:spLocks xmlns:a="http://schemas.openxmlformats.org/drawingml/2006/main" noGrp="1"/>
          </p:cNvSpPr>
          <p:nvPr/>
        </p:nvSpPr>
        <p:spPr>
          <a:xfrm xmlns:a="http://schemas.openxmlformats.org/drawingml/2006/main">
            <a:off x="2552700" y="8477250"/>
            <a:ext cx="17526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350" b="1">
                <a:solidFill>
                  <a:srgbClr val="2E7DA8"/>
                </a:solidFill>
              </a:defRPr>
            </a:pPr>
            <a:r>
              <a:rPr sz="1350" b="1">
                <a:solidFill>
                  <a:srgbClr val="2E7DA8"/>
                </a:solidFill>
              </a:rPr>
              <a:t>Scale / Fix / Hold</a:t>
            </a:r>
          </a:p>
        </p:txBody>
      </p:sp>
      <p:sp>
        <p:nvSpPr>
          <p:cNvPr id="90" name="">
            <a:extLst xmlns:a="http://schemas.openxmlformats.org/drawingml/2006/main">
              <a:ext uri="{FF2B5EF4-FFF2-40B4-BE49-F238E27FC236}">
                <a16:creationId xmlns:a16="http://schemas.microsoft.com/office/drawing/2014/main" id="{E18CE450-F899-4A0C-B1BF-A331FEA739B5}"/>
              </a:ext>
            </a:extLst>
          </p:cNvPr>
          <p:cNvSpPr>
            <a:spLocks xmlns:a="http://schemas.openxmlformats.org/drawingml/2006/main" noGrp="1"/>
          </p:cNvSpPr>
          <p:nvPr/>
        </p:nvSpPr>
        <p:spPr>
          <a:xfrm xmlns:a="http://schemas.openxmlformats.org/drawingml/2006/main">
            <a:off x="2571750" y="8953500"/>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B9A66"/>
                </a:solidFill>
              </a:defRPr>
            </a:pPr>
            <a:r>
              <a:rPr sz="600" b="1">
                <a:solidFill>
                  <a:srgbClr val="2B9A66"/>
                </a:solidFill>
              </a:rPr>
              <a:t>●</a:t>
            </a:r>
          </a:p>
        </p:txBody>
      </p:sp>
      <p:sp>
        <p:nvSpPr>
          <p:cNvPr id="91" name="">
            <a:extLst xmlns:a="http://schemas.openxmlformats.org/drawingml/2006/main">
              <a:ext uri="{FF2B5EF4-FFF2-40B4-BE49-F238E27FC236}">
                <a16:creationId xmlns:a16="http://schemas.microsoft.com/office/drawing/2014/main" id="{F0B9536D-B986-4EAA-A3B0-AC6A3B895CA3}"/>
              </a:ext>
            </a:extLst>
          </p:cNvPr>
          <p:cNvSpPr>
            <a:spLocks xmlns:a="http://schemas.openxmlformats.org/drawingml/2006/main" noGrp="1"/>
          </p:cNvSpPr>
          <p:nvPr/>
        </p:nvSpPr>
        <p:spPr>
          <a:xfrm xmlns:a="http://schemas.openxmlformats.org/drawingml/2006/main">
            <a:off x="2714625" y="8953500"/>
            <a:ext cx="1571625" cy="295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1">
                <a:solidFill>
                  <a:srgbClr val="183B39"/>
                </a:solidFill>
              </a:defRPr>
            </a:pPr>
            <a:r>
              <a:rPr sz="765" b="1">
                <a:solidFill>
                  <a:srgbClr val="183B39"/>
                </a:solidFill>
              </a:rPr>
              <a:t>Share ↑ + offtake ↑: scale</a:t>
            </a:r>
          </a:p>
        </p:txBody>
      </p:sp>
      <p:sp>
        <p:nvSpPr>
          <p:cNvPr id="92" name="">
            <a:extLst xmlns:a="http://schemas.openxmlformats.org/drawingml/2006/main">
              <a:ext uri="{FF2B5EF4-FFF2-40B4-BE49-F238E27FC236}">
                <a16:creationId xmlns:a16="http://schemas.microsoft.com/office/drawing/2014/main" id="{EC570D88-3C01-463B-995C-0532AD932DE2}"/>
              </a:ext>
            </a:extLst>
          </p:cNvPr>
          <p:cNvSpPr>
            <a:spLocks xmlns:a="http://schemas.openxmlformats.org/drawingml/2006/main" noGrp="1"/>
          </p:cNvSpPr>
          <p:nvPr/>
        </p:nvSpPr>
        <p:spPr>
          <a:xfrm xmlns:a="http://schemas.openxmlformats.org/drawingml/2006/main">
            <a:off x="2571750" y="9258300"/>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8A596"/>
                </a:solidFill>
              </a:defRPr>
            </a:pPr>
            <a:r>
              <a:rPr sz="600" b="1">
                <a:solidFill>
                  <a:srgbClr val="28A596"/>
                </a:solidFill>
              </a:rPr>
              <a:t>●</a:t>
            </a:r>
          </a:p>
        </p:txBody>
      </p:sp>
      <p:sp>
        <p:nvSpPr>
          <p:cNvPr id="93" name="">
            <a:extLst xmlns:a="http://schemas.openxmlformats.org/drawingml/2006/main">
              <a:ext uri="{FF2B5EF4-FFF2-40B4-BE49-F238E27FC236}">
                <a16:creationId xmlns:a16="http://schemas.microsoft.com/office/drawing/2014/main" id="{CA9B3DDF-860E-4C51-810F-8ACEA452939B}"/>
              </a:ext>
            </a:extLst>
          </p:cNvPr>
          <p:cNvSpPr>
            <a:spLocks xmlns:a="http://schemas.openxmlformats.org/drawingml/2006/main" noGrp="1"/>
          </p:cNvSpPr>
          <p:nvPr/>
        </p:nvSpPr>
        <p:spPr>
          <a:xfrm xmlns:a="http://schemas.openxmlformats.org/drawingml/2006/main">
            <a:off x="2714625" y="9258300"/>
            <a:ext cx="1571625" cy="295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Primary ↑ + offtake weak: stop loading</a:t>
            </a:r>
          </a:p>
        </p:txBody>
      </p:sp>
      <p:sp>
        <p:nvSpPr>
          <p:cNvPr id="94" name="">
            <a:extLst xmlns:a="http://schemas.openxmlformats.org/drawingml/2006/main">
              <a:ext uri="{FF2B5EF4-FFF2-40B4-BE49-F238E27FC236}">
                <a16:creationId xmlns:a16="http://schemas.microsoft.com/office/drawing/2014/main" id="{19668740-D441-40E3-9CFA-2360A33BE963}"/>
              </a:ext>
            </a:extLst>
          </p:cNvPr>
          <p:cNvSpPr>
            <a:spLocks xmlns:a="http://schemas.openxmlformats.org/drawingml/2006/main" noGrp="1"/>
          </p:cNvSpPr>
          <p:nvPr/>
        </p:nvSpPr>
        <p:spPr>
          <a:xfrm xmlns:a="http://schemas.openxmlformats.org/drawingml/2006/main">
            <a:off x="2571750" y="9563100"/>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8A596"/>
                </a:solidFill>
              </a:defRPr>
            </a:pPr>
            <a:r>
              <a:rPr sz="600" b="1">
                <a:solidFill>
                  <a:srgbClr val="28A596"/>
                </a:solidFill>
              </a:rPr>
              <a:t>●</a:t>
            </a:r>
          </a:p>
        </p:txBody>
      </p:sp>
      <p:sp>
        <p:nvSpPr>
          <p:cNvPr id="95" name="">
            <a:extLst xmlns:a="http://schemas.openxmlformats.org/drawingml/2006/main">
              <a:ext uri="{FF2B5EF4-FFF2-40B4-BE49-F238E27FC236}">
                <a16:creationId xmlns:a16="http://schemas.microsoft.com/office/drawing/2014/main" id="{623B656F-25A0-4EC5-9C32-36CCADB50B2A}"/>
              </a:ext>
            </a:extLst>
          </p:cNvPr>
          <p:cNvSpPr>
            <a:spLocks xmlns:a="http://schemas.openxmlformats.org/drawingml/2006/main" noGrp="1"/>
          </p:cNvSpPr>
          <p:nvPr/>
        </p:nvSpPr>
        <p:spPr>
          <a:xfrm xmlns:a="http://schemas.openxmlformats.org/drawingml/2006/main">
            <a:off x="2714625" y="9563100"/>
            <a:ext cx="1571625" cy="295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Offtake ↑ + supply weak: replenish</a:t>
            </a:r>
          </a:p>
        </p:txBody>
      </p:sp>
      <p:sp>
        <p:nvSpPr>
          <p:cNvPr id="96" name="">
            <a:extLst xmlns:a="http://schemas.openxmlformats.org/drawingml/2006/main">
              <a:ext uri="{FF2B5EF4-FFF2-40B4-BE49-F238E27FC236}">
                <a16:creationId xmlns:a16="http://schemas.microsoft.com/office/drawing/2014/main" id="{CC317E84-7B93-47DA-904A-6C2C8417CB72}"/>
              </a:ext>
            </a:extLst>
          </p:cNvPr>
          <p:cNvSpPr>
            <a:spLocks xmlns:a="http://schemas.openxmlformats.org/drawingml/2006/main" noGrp="1"/>
          </p:cNvSpPr>
          <p:nvPr/>
        </p:nvSpPr>
        <p:spPr>
          <a:xfrm xmlns:a="http://schemas.openxmlformats.org/drawingml/2006/main">
            <a:off x="2571750" y="9867900"/>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8A596"/>
                </a:solidFill>
              </a:defRPr>
            </a:pPr>
            <a:r>
              <a:rPr sz="600" b="1">
                <a:solidFill>
                  <a:srgbClr val="28A596"/>
                </a:solidFill>
              </a:rPr>
              <a:t>●</a:t>
            </a:r>
          </a:p>
        </p:txBody>
      </p:sp>
      <p:sp>
        <p:nvSpPr>
          <p:cNvPr id="97" name="">
            <a:extLst xmlns:a="http://schemas.openxmlformats.org/drawingml/2006/main">
              <a:ext uri="{FF2B5EF4-FFF2-40B4-BE49-F238E27FC236}">
                <a16:creationId xmlns:a16="http://schemas.microsoft.com/office/drawing/2014/main" id="{BB348B55-41D4-4D59-97F9-F6834C8C3268}"/>
              </a:ext>
            </a:extLst>
          </p:cNvPr>
          <p:cNvSpPr>
            <a:spLocks xmlns:a="http://schemas.openxmlformats.org/drawingml/2006/main" noGrp="1"/>
          </p:cNvSpPr>
          <p:nvPr/>
        </p:nvSpPr>
        <p:spPr>
          <a:xfrm xmlns:a="http://schemas.openxmlformats.org/drawingml/2006/main">
            <a:off x="2714625" y="9867900"/>
            <a:ext cx="1571625" cy="295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Share ↓: validate competitor/OOS transfer</a:t>
            </a:r>
          </a:p>
        </p:txBody>
      </p:sp>
      <p:sp>
        <p:nvSpPr>
          <p:cNvPr id="98" name="">
            <a:extLst xmlns:a="http://schemas.openxmlformats.org/drawingml/2006/main">
              <a:ext uri="{FF2B5EF4-FFF2-40B4-BE49-F238E27FC236}">
                <a16:creationId xmlns:a16="http://schemas.microsoft.com/office/drawing/2014/main" id="{7DF3787D-6DB7-4B96-9734-56AA2E8720BF}"/>
              </a:ext>
            </a:extLst>
          </p:cNvPr>
          <p:cNvSpPr>
            <a:spLocks xmlns:a="http://schemas.openxmlformats.org/drawingml/2006/main" noGrp="1"/>
          </p:cNvSpPr>
          <p:nvPr/>
        </p:nvSpPr>
        <p:spPr>
          <a:xfrm xmlns:a="http://schemas.openxmlformats.org/drawingml/2006/main">
            <a:off x="4610100" y="8077200"/>
            <a:ext cx="1981200" cy="2590800"/>
          </a:xfrm>
          <a:prstGeom xmlns:a="http://schemas.openxmlformats.org/drawingml/2006/main" prst="roundRect">
            <a:avLst>
              <a:gd name="adj" fmla="val 3846"/>
            </a:avLst>
          </a:prstGeom>
          <a:solidFill xmlns:a="http://schemas.openxmlformats.org/drawingml/2006/main">
            <a:srgbClr val="FFFFFF"/>
          </a:solidFill>
          <a:ln xmlns:a="http://schemas.openxmlformats.org/drawingml/2006/main" w="9525">
            <a:solidFill>
              <a:srgbClr val="C8DCD7"/>
            </a:solidFill>
            <a:prstDash val="solid"/>
          </a:ln>
        </p:spPr>
      </p:sp>
      <p:sp>
        <p:nvSpPr>
          <p:cNvPr id="99" name="">
            <a:extLst xmlns:a="http://schemas.openxmlformats.org/drawingml/2006/main">
              <a:ext uri="{FF2B5EF4-FFF2-40B4-BE49-F238E27FC236}">
                <a16:creationId xmlns:a16="http://schemas.microsoft.com/office/drawing/2014/main" id="{538E42D4-0EA0-4166-BD60-710F015BD225}"/>
              </a:ext>
            </a:extLst>
          </p:cNvPr>
          <p:cNvSpPr>
            <a:spLocks xmlns:a="http://schemas.openxmlformats.org/drawingml/2006/main" noGrp="1"/>
          </p:cNvSpPr>
          <p:nvPr/>
        </p:nvSpPr>
        <p:spPr>
          <a:xfrm xmlns:a="http://schemas.openxmlformats.org/drawingml/2006/main">
            <a:off x="4610100" y="8077200"/>
            <a:ext cx="1981200" cy="285750"/>
          </a:xfrm>
          <a:prstGeom xmlns:a="http://schemas.openxmlformats.org/drawingml/2006/main" prst="rect">
            <a:avLst/>
          </a:prstGeom>
          <a:solidFill xmlns:a="http://schemas.openxmlformats.org/drawingml/2006/main">
            <a:srgbClr val="2B9A66"/>
          </a:solidFill>
          <a:ln xmlns:a="http://schemas.openxmlformats.org/drawingml/2006/main" w="0">
            <a:solidFill>
              <a:srgbClr val="2B9A66"/>
            </a:solidFill>
            <a:prstDash val="solid"/>
          </a:ln>
        </p:spPr>
      </p:sp>
      <p:sp>
        <p:nvSpPr>
          <p:cNvPr id="100" name="">
            <a:extLst xmlns:a="http://schemas.openxmlformats.org/drawingml/2006/main">
              <a:ext uri="{FF2B5EF4-FFF2-40B4-BE49-F238E27FC236}">
                <a16:creationId xmlns:a16="http://schemas.microsoft.com/office/drawing/2014/main" id="{0BFA1196-3973-44EB-ADEF-251203666182}"/>
              </a:ext>
            </a:extLst>
          </p:cNvPr>
          <p:cNvSpPr>
            <a:spLocks xmlns:a="http://schemas.openxmlformats.org/drawingml/2006/main" noGrp="1"/>
          </p:cNvSpPr>
          <p:nvPr/>
        </p:nvSpPr>
        <p:spPr>
          <a:xfrm xmlns:a="http://schemas.openxmlformats.org/drawingml/2006/main">
            <a:off x="4695825" y="8096250"/>
            <a:ext cx="18097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788" b="1">
                <a:solidFill>
                  <a:srgbClr val="FFFFFF"/>
                </a:solidFill>
              </a:defRPr>
            </a:pPr>
            <a:r>
              <a:rPr sz="788" b="1">
                <a:solidFill>
                  <a:srgbClr val="FFFFFF"/>
                </a:solidFill>
              </a:rPr>
              <a:t>₹ WHITE-SPACE SIZE</a:t>
            </a:r>
          </a:p>
        </p:txBody>
      </p:sp>
      <p:sp>
        <p:nvSpPr>
          <p:cNvPr id="101" name="">
            <a:extLst xmlns:a="http://schemas.openxmlformats.org/drawingml/2006/main">
              <a:ext uri="{FF2B5EF4-FFF2-40B4-BE49-F238E27FC236}">
                <a16:creationId xmlns:a16="http://schemas.microsoft.com/office/drawing/2014/main" id="{1B8C747F-944E-4E98-B4A0-EABD518ABFD9}"/>
              </a:ext>
            </a:extLst>
          </p:cNvPr>
          <p:cNvSpPr>
            <a:spLocks xmlns:a="http://schemas.openxmlformats.org/drawingml/2006/main" noGrp="1"/>
          </p:cNvSpPr>
          <p:nvPr/>
        </p:nvSpPr>
        <p:spPr>
          <a:xfrm xmlns:a="http://schemas.openxmlformats.org/drawingml/2006/main">
            <a:off x="4724400" y="8477250"/>
            <a:ext cx="17526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350" b="1">
                <a:solidFill>
                  <a:srgbClr val="2B9A66"/>
                </a:solidFill>
              </a:defRPr>
            </a:pPr>
            <a:r>
              <a:rPr sz="1350" b="1">
                <a:solidFill>
                  <a:srgbClr val="2B9A66"/>
                </a:solidFill>
              </a:rPr>
              <a:t>Stores × PDO</a:t>
            </a:r>
          </a:p>
        </p:txBody>
      </p:sp>
      <p:sp>
        <p:nvSpPr>
          <p:cNvPr id="102" name="">
            <a:extLst xmlns:a="http://schemas.openxmlformats.org/drawingml/2006/main">
              <a:ext uri="{FF2B5EF4-FFF2-40B4-BE49-F238E27FC236}">
                <a16:creationId xmlns:a16="http://schemas.microsoft.com/office/drawing/2014/main" id="{C7D9ED04-73FC-452B-81F2-A105F5CAEA0C}"/>
              </a:ext>
            </a:extLst>
          </p:cNvPr>
          <p:cNvSpPr>
            <a:spLocks xmlns:a="http://schemas.openxmlformats.org/drawingml/2006/main" noGrp="1"/>
          </p:cNvSpPr>
          <p:nvPr/>
        </p:nvSpPr>
        <p:spPr>
          <a:xfrm xmlns:a="http://schemas.openxmlformats.org/drawingml/2006/main">
            <a:off x="4743450" y="8953500"/>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B9A66"/>
                </a:solidFill>
              </a:defRPr>
            </a:pPr>
            <a:r>
              <a:rPr sz="600" b="1">
                <a:solidFill>
                  <a:srgbClr val="2B9A66"/>
                </a:solidFill>
              </a:rPr>
              <a:t>●</a:t>
            </a:r>
          </a:p>
        </p:txBody>
      </p:sp>
      <p:sp>
        <p:nvSpPr>
          <p:cNvPr id="103" name="">
            <a:extLst xmlns:a="http://schemas.openxmlformats.org/drawingml/2006/main">
              <a:ext uri="{FF2B5EF4-FFF2-40B4-BE49-F238E27FC236}">
                <a16:creationId xmlns:a16="http://schemas.microsoft.com/office/drawing/2014/main" id="{BB6F6F5D-976D-42BA-95EB-2770646D3ED7}"/>
              </a:ext>
            </a:extLst>
          </p:cNvPr>
          <p:cNvSpPr>
            <a:spLocks xmlns:a="http://schemas.openxmlformats.org/drawingml/2006/main" noGrp="1"/>
          </p:cNvSpPr>
          <p:nvPr/>
        </p:nvSpPr>
        <p:spPr>
          <a:xfrm xmlns:a="http://schemas.openxmlformats.org/drawingml/2006/main">
            <a:off x="4886325" y="8953500"/>
            <a:ext cx="1571625" cy="295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1">
                <a:solidFill>
                  <a:srgbClr val="183B39"/>
                </a:solidFill>
              </a:defRPr>
            </a:pPr>
            <a:r>
              <a:rPr sz="765" b="1">
                <a:solidFill>
                  <a:srgbClr val="183B39"/>
                </a:solidFill>
              </a:rPr>
              <a:t>Potential stores − current productive stores</a:t>
            </a:r>
          </a:p>
        </p:txBody>
      </p:sp>
      <p:sp>
        <p:nvSpPr>
          <p:cNvPr id="104" name="">
            <a:extLst xmlns:a="http://schemas.openxmlformats.org/drawingml/2006/main">
              <a:ext uri="{FF2B5EF4-FFF2-40B4-BE49-F238E27FC236}">
                <a16:creationId xmlns:a16="http://schemas.microsoft.com/office/drawing/2014/main" id="{A2D5FE43-D4E9-43D5-ABF9-5811011EBD30}"/>
              </a:ext>
            </a:extLst>
          </p:cNvPr>
          <p:cNvSpPr>
            <a:spLocks xmlns:a="http://schemas.openxmlformats.org/drawingml/2006/main" noGrp="1"/>
          </p:cNvSpPr>
          <p:nvPr/>
        </p:nvSpPr>
        <p:spPr>
          <a:xfrm xmlns:a="http://schemas.openxmlformats.org/drawingml/2006/main">
            <a:off x="4743450" y="9258300"/>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8A596"/>
                </a:solidFill>
              </a:defRPr>
            </a:pPr>
            <a:r>
              <a:rPr sz="600" b="1">
                <a:solidFill>
                  <a:srgbClr val="28A596"/>
                </a:solidFill>
              </a:rPr>
              <a:t>●</a:t>
            </a:r>
          </a:p>
        </p:txBody>
      </p:sp>
      <p:sp>
        <p:nvSpPr>
          <p:cNvPr id="105" name="">
            <a:extLst xmlns:a="http://schemas.openxmlformats.org/drawingml/2006/main">
              <a:ext uri="{FF2B5EF4-FFF2-40B4-BE49-F238E27FC236}">
                <a16:creationId xmlns:a16="http://schemas.microsoft.com/office/drawing/2014/main" id="{D96389FD-29F7-4DCB-B94E-FED692002CE2}"/>
              </a:ext>
            </a:extLst>
          </p:cNvPr>
          <p:cNvSpPr>
            <a:spLocks xmlns:a="http://schemas.openxmlformats.org/drawingml/2006/main" noGrp="1"/>
          </p:cNvSpPr>
          <p:nvPr/>
        </p:nvSpPr>
        <p:spPr>
          <a:xfrm xmlns:a="http://schemas.openxmlformats.org/drawingml/2006/main">
            <a:off x="4886325" y="9258300"/>
            <a:ext cx="1571625" cy="295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Multiply by benchmark monthly PDO</a:t>
            </a:r>
          </a:p>
        </p:txBody>
      </p:sp>
      <p:sp>
        <p:nvSpPr>
          <p:cNvPr id="106" name="">
            <a:extLst xmlns:a="http://schemas.openxmlformats.org/drawingml/2006/main">
              <a:ext uri="{FF2B5EF4-FFF2-40B4-BE49-F238E27FC236}">
                <a16:creationId xmlns:a16="http://schemas.microsoft.com/office/drawing/2014/main" id="{D0D34F5F-825C-4DA3-B2EA-5A0D085220D8}"/>
              </a:ext>
            </a:extLst>
          </p:cNvPr>
          <p:cNvSpPr>
            <a:spLocks xmlns:a="http://schemas.openxmlformats.org/drawingml/2006/main" noGrp="1"/>
          </p:cNvSpPr>
          <p:nvPr/>
        </p:nvSpPr>
        <p:spPr>
          <a:xfrm xmlns:a="http://schemas.openxmlformats.org/drawingml/2006/main">
            <a:off x="4743450" y="9563100"/>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8A596"/>
                </a:solidFill>
              </a:defRPr>
            </a:pPr>
            <a:r>
              <a:rPr sz="600" b="1">
                <a:solidFill>
                  <a:srgbClr val="28A596"/>
                </a:solidFill>
              </a:rPr>
              <a:t>●</a:t>
            </a:r>
          </a:p>
        </p:txBody>
      </p:sp>
      <p:sp>
        <p:nvSpPr>
          <p:cNvPr id="107" name="">
            <a:extLst xmlns:a="http://schemas.openxmlformats.org/drawingml/2006/main">
              <a:ext uri="{FF2B5EF4-FFF2-40B4-BE49-F238E27FC236}">
                <a16:creationId xmlns:a16="http://schemas.microsoft.com/office/drawing/2014/main" id="{91CED247-8ADA-4293-A7A6-4A5709037BFB}"/>
              </a:ext>
            </a:extLst>
          </p:cNvPr>
          <p:cNvSpPr>
            <a:spLocks xmlns:a="http://schemas.openxmlformats.org/drawingml/2006/main" noGrp="1"/>
          </p:cNvSpPr>
          <p:nvPr/>
        </p:nvSpPr>
        <p:spPr>
          <a:xfrm xmlns:a="http://schemas.openxmlformats.org/drawingml/2006/main">
            <a:off x="4886325" y="9563100"/>
            <a:ext cx="1571625" cy="295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Annualize only after a controlled pilot</a:t>
            </a:r>
          </a:p>
        </p:txBody>
      </p:sp>
      <p:sp>
        <p:nvSpPr>
          <p:cNvPr id="108" name="">
            <a:extLst xmlns:a="http://schemas.openxmlformats.org/drawingml/2006/main">
              <a:ext uri="{FF2B5EF4-FFF2-40B4-BE49-F238E27FC236}">
                <a16:creationId xmlns:a16="http://schemas.microsoft.com/office/drawing/2014/main" id="{15F00AC3-0C64-4ADE-A793-D3757152E91B}"/>
              </a:ext>
            </a:extLst>
          </p:cNvPr>
          <p:cNvSpPr>
            <a:spLocks xmlns:a="http://schemas.openxmlformats.org/drawingml/2006/main" noGrp="1"/>
          </p:cNvSpPr>
          <p:nvPr/>
        </p:nvSpPr>
        <p:spPr>
          <a:xfrm xmlns:a="http://schemas.openxmlformats.org/drawingml/2006/main">
            <a:off x="4743450" y="9867900"/>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8A596"/>
                </a:solidFill>
              </a:defRPr>
            </a:pPr>
            <a:r>
              <a:rPr sz="600" b="1">
                <a:solidFill>
                  <a:srgbClr val="28A596"/>
                </a:solidFill>
              </a:rPr>
              <a:t>●</a:t>
            </a:r>
          </a:p>
        </p:txBody>
      </p:sp>
      <p:sp>
        <p:nvSpPr>
          <p:cNvPr id="109" name="">
            <a:extLst xmlns:a="http://schemas.openxmlformats.org/drawingml/2006/main">
              <a:ext uri="{FF2B5EF4-FFF2-40B4-BE49-F238E27FC236}">
                <a16:creationId xmlns:a16="http://schemas.microsoft.com/office/drawing/2014/main" id="{4FF1122C-85DF-4F2E-80F5-369F8BD80B44}"/>
              </a:ext>
            </a:extLst>
          </p:cNvPr>
          <p:cNvSpPr>
            <a:spLocks xmlns:a="http://schemas.openxmlformats.org/drawingml/2006/main" noGrp="1"/>
          </p:cNvSpPr>
          <p:nvPr/>
        </p:nvSpPr>
        <p:spPr>
          <a:xfrm xmlns:a="http://schemas.openxmlformats.org/drawingml/2006/main">
            <a:off x="4886325" y="9867900"/>
            <a:ext cx="1571625" cy="295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Rank actions by ₹ and named owner</a:t>
            </a:r>
          </a:p>
        </p:txBody>
      </p:sp>
      <p:sp>
        <p:nvSpPr>
          <p:cNvPr id="110" name="">
            <a:extLst xmlns:a="http://schemas.openxmlformats.org/drawingml/2006/main">
              <a:ext uri="{FF2B5EF4-FFF2-40B4-BE49-F238E27FC236}">
                <a16:creationId xmlns:a16="http://schemas.microsoft.com/office/drawing/2014/main" id="{F5203CDB-5EFF-4057-B946-BE1D006B37F1}"/>
              </a:ext>
            </a:extLst>
          </p:cNvPr>
          <p:cNvSpPr>
            <a:spLocks xmlns:a="http://schemas.openxmlformats.org/drawingml/2006/main" noGrp="1"/>
          </p:cNvSpPr>
          <p:nvPr/>
        </p:nvSpPr>
        <p:spPr>
          <a:xfrm xmlns:a="http://schemas.openxmlformats.org/drawingml/2006/main">
            <a:off x="304800" y="11753850"/>
            <a:ext cx="62484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713" b="0">
                <a:solidFill>
                  <a:srgbClr val="5F716E"/>
                </a:solidFill>
              </a:defRPr>
            </a:pPr>
            <a:r>
              <a:rPr sz="713" b="0">
                <a:solidFill>
                  <a:srgbClr val="5F716E"/>
                </a:solidFill>
              </a:rPr>
              <a:t>Diagnostic extensions are recommendations, not measured July claims until Nielsen state/chain fields are reconciled.</a:t>
            </a:r>
          </a:p>
        </p:txBody>
      </p:sp>
      <p:sp>
        <p:nvSpPr>
          <p:cNvPr id="111" name="">
            <a:extLst xmlns:a="http://schemas.openxmlformats.org/drawingml/2006/main">
              <a:ext uri="{FF2B5EF4-FFF2-40B4-BE49-F238E27FC236}">
                <a16:creationId xmlns:a16="http://schemas.microsoft.com/office/drawing/2014/main" id="{22E9F5A3-1AEA-4C3E-AF1F-8BDCA455D83D}"/>
              </a:ext>
            </a:extLst>
          </p:cNvPr>
          <p:cNvSpPr>
            <a:spLocks xmlns:a="http://schemas.openxmlformats.org/drawingml/2006/main" noGrp="1"/>
          </p:cNvSpPr>
          <p:nvPr/>
        </p:nvSpPr>
        <p:spPr>
          <a:xfrm xmlns:a="http://schemas.openxmlformats.org/drawingml/2006/main">
            <a:off x="361950" y="11544300"/>
            <a:ext cx="6134100" cy="457200"/>
          </a:xfrm>
          <a:prstGeom xmlns:a="http://schemas.openxmlformats.org/drawingml/2006/main" prst="roundRect">
            <a:avLst>
              <a:gd name="adj" fmla="val 16667"/>
            </a:avLst>
          </a:prstGeom>
          <a:solidFill xmlns:a="http://schemas.openxmlformats.org/drawingml/2006/main">
            <a:srgbClr val="DFF2ED"/>
          </a:solidFill>
          <a:ln xmlns:a="http://schemas.openxmlformats.org/drawingml/2006/main" w="9525">
            <a:solidFill>
              <a:srgbClr val="28A596"/>
            </a:solidFill>
            <a:prstDash val="solid"/>
          </a:ln>
        </p:spPr>
      </p:sp>
      <p:sp>
        <p:nvSpPr>
          <p:cNvPr id="112" name="">
            <a:extLst xmlns:a="http://schemas.openxmlformats.org/drawingml/2006/main">
              <a:ext uri="{FF2B5EF4-FFF2-40B4-BE49-F238E27FC236}">
                <a16:creationId xmlns:a16="http://schemas.microsoft.com/office/drawing/2014/main" id="{3EAD1DBF-7675-4DEA-AEDF-B024AB278A1F}"/>
              </a:ext>
            </a:extLst>
          </p:cNvPr>
          <p:cNvSpPr>
            <a:spLocks xmlns:a="http://schemas.openxmlformats.org/drawingml/2006/main" noGrp="1"/>
          </p:cNvSpPr>
          <p:nvPr/>
        </p:nvSpPr>
        <p:spPr>
          <a:xfrm xmlns:a="http://schemas.openxmlformats.org/drawingml/2006/main">
            <a:off x="438150" y="11582400"/>
            <a:ext cx="142875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38" b="1">
                <a:solidFill>
                  <a:srgbClr val="116F68"/>
                </a:solidFill>
              </a:defRPr>
            </a:pPr>
            <a:r>
              <a:rPr sz="638" b="1">
                <a:solidFill>
                  <a:srgbClr val="116F68"/>
                </a:solidFill>
              </a:rPr>
              <a:t>EVIDENCE</a:t>
            </a:r>
          </a:p>
        </p:txBody>
      </p:sp>
      <p:sp>
        <p:nvSpPr>
          <p:cNvPr id="113" name="">
            <a:extLst xmlns:a="http://schemas.openxmlformats.org/drawingml/2006/main">
              <a:ext uri="{FF2B5EF4-FFF2-40B4-BE49-F238E27FC236}">
                <a16:creationId xmlns:a16="http://schemas.microsoft.com/office/drawing/2014/main" id="{DE85794F-ABF1-4AA5-BD39-D3EC0415B85C}"/>
              </a:ext>
            </a:extLst>
          </p:cNvPr>
          <p:cNvSpPr>
            <a:spLocks xmlns:a="http://schemas.openxmlformats.org/drawingml/2006/main" noGrp="1"/>
          </p:cNvSpPr>
          <p:nvPr/>
        </p:nvSpPr>
        <p:spPr>
          <a:xfrm xmlns:a="http://schemas.openxmlformats.org/drawingml/2006/main">
            <a:off x="438150" y="11734800"/>
            <a:ext cx="1428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00" b="0">
                <a:solidFill>
                  <a:srgbClr val="183B39"/>
                </a:solidFill>
              </a:defRPr>
            </a:pPr>
            <a:r>
              <a:rPr sz="600" b="0">
                <a:solidFill>
                  <a:srgbClr val="183B39"/>
                </a:solidFill>
              </a:rPr>
              <a:t>5 validated growth levers are live; SAH / WD / PDO / OOS fields not yet field-reconciled for July</a:t>
            </a:r>
          </a:p>
        </p:txBody>
      </p:sp>
      <p:sp>
        <p:nvSpPr>
          <p:cNvPr id="114" name="">
            <a:extLst xmlns:a="http://schemas.openxmlformats.org/drawingml/2006/main">
              <a:ext uri="{FF2B5EF4-FFF2-40B4-BE49-F238E27FC236}">
                <a16:creationId xmlns:a16="http://schemas.microsoft.com/office/drawing/2014/main" id="{5AAD0876-3C61-484D-BAA8-5130054E4F1E}"/>
              </a:ext>
            </a:extLst>
          </p:cNvPr>
          <p:cNvSpPr>
            <a:spLocks xmlns:a="http://schemas.openxmlformats.org/drawingml/2006/main" noGrp="1"/>
          </p:cNvSpPr>
          <p:nvPr/>
        </p:nvSpPr>
        <p:spPr>
          <a:xfrm xmlns:a="http://schemas.openxmlformats.org/drawingml/2006/main">
            <a:off x="1924050" y="11610975"/>
            <a:ext cx="0" cy="304800"/>
          </a:xfrm>
          <a:prstGeom xmlns:a="http://schemas.openxmlformats.org/drawingml/2006/main" prst="line">
            <a:avLst/>
          </a:prstGeom>
          <a:ln xmlns:a="http://schemas.openxmlformats.org/drawingml/2006/main" w="9525">
            <a:solidFill>
              <a:srgbClr val="C8DCD7"/>
            </a:solidFill>
            <a:prstDash val="solid"/>
          </a:ln>
        </p:spPr>
      </p:sp>
      <p:sp>
        <p:nvSpPr>
          <p:cNvPr id="115" name="">
            <a:extLst xmlns:a="http://schemas.openxmlformats.org/drawingml/2006/main">
              <a:ext uri="{FF2B5EF4-FFF2-40B4-BE49-F238E27FC236}">
                <a16:creationId xmlns:a16="http://schemas.microsoft.com/office/drawing/2014/main" id="{CE2E7D6E-C3D7-4310-B118-6519CF3D102E}"/>
              </a:ext>
            </a:extLst>
          </p:cNvPr>
          <p:cNvSpPr>
            <a:spLocks xmlns:a="http://schemas.openxmlformats.org/drawingml/2006/main" noGrp="1"/>
          </p:cNvSpPr>
          <p:nvPr/>
        </p:nvSpPr>
        <p:spPr>
          <a:xfrm xmlns:a="http://schemas.openxmlformats.org/drawingml/2006/main">
            <a:off x="1952625" y="11582400"/>
            <a:ext cx="142875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38" b="1">
                <a:solidFill>
                  <a:srgbClr val="116F68"/>
                </a:solidFill>
              </a:defRPr>
            </a:pPr>
            <a:r>
              <a:rPr sz="638" b="1">
                <a:solidFill>
                  <a:srgbClr val="116F68"/>
                </a:solidFill>
              </a:rPr>
              <a:t>IMPLICATION</a:t>
            </a:r>
          </a:p>
        </p:txBody>
      </p:sp>
      <p:sp>
        <p:nvSpPr>
          <p:cNvPr id="116" name="">
            <a:extLst xmlns:a="http://schemas.openxmlformats.org/drawingml/2006/main">
              <a:ext uri="{FF2B5EF4-FFF2-40B4-BE49-F238E27FC236}">
                <a16:creationId xmlns:a16="http://schemas.microsoft.com/office/drawing/2014/main" id="{E6AEA86C-E35A-45AD-AE9D-66A9B71A57C3}"/>
              </a:ext>
            </a:extLst>
          </p:cNvPr>
          <p:cNvSpPr>
            <a:spLocks xmlns:a="http://schemas.openxmlformats.org/drawingml/2006/main" noGrp="1"/>
          </p:cNvSpPr>
          <p:nvPr/>
        </p:nvSpPr>
        <p:spPr>
          <a:xfrm xmlns:a="http://schemas.openxmlformats.org/drawingml/2006/main">
            <a:off x="1952625" y="11734800"/>
            <a:ext cx="1428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00" b="0">
                <a:solidFill>
                  <a:srgbClr val="183B39"/>
                </a:solidFill>
              </a:defRPr>
            </a:pPr>
            <a:r>
              <a:rPr sz="600" b="0">
                <a:solidFill>
                  <a:srgbClr val="183B39"/>
                </a:solidFill>
              </a:rPr>
              <a:t>Decisions without field reconciliation treat stock-timing noise as demand signal and risk driving wrong actions</a:t>
            </a:r>
          </a:p>
        </p:txBody>
      </p:sp>
      <p:sp>
        <p:nvSpPr>
          <p:cNvPr id="117" name="">
            <a:extLst xmlns:a="http://schemas.openxmlformats.org/drawingml/2006/main">
              <a:ext uri="{FF2B5EF4-FFF2-40B4-BE49-F238E27FC236}">
                <a16:creationId xmlns:a16="http://schemas.microsoft.com/office/drawing/2014/main" id="{1E4C1058-A4B2-4217-BB33-6A51B436A8B1}"/>
              </a:ext>
            </a:extLst>
          </p:cNvPr>
          <p:cNvSpPr>
            <a:spLocks xmlns:a="http://schemas.openxmlformats.org/drawingml/2006/main" noGrp="1"/>
          </p:cNvSpPr>
          <p:nvPr/>
        </p:nvSpPr>
        <p:spPr>
          <a:xfrm xmlns:a="http://schemas.openxmlformats.org/drawingml/2006/main">
            <a:off x="3438525" y="11610975"/>
            <a:ext cx="0" cy="304800"/>
          </a:xfrm>
          <a:prstGeom xmlns:a="http://schemas.openxmlformats.org/drawingml/2006/main" prst="line">
            <a:avLst/>
          </a:prstGeom>
          <a:ln xmlns:a="http://schemas.openxmlformats.org/drawingml/2006/main" w="9525">
            <a:solidFill>
              <a:srgbClr val="C8DCD7"/>
            </a:solidFill>
            <a:prstDash val="solid"/>
          </a:ln>
        </p:spPr>
      </p:sp>
      <p:sp>
        <p:nvSpPr>
          <p:cNvPr id="118" name="">
            <a:extLst xmlns:a="http://schemas.openxmlformats.org/drawingml/2006/main">
              <a:ext uri="{FF2B5EF4-FFF2-40B4-BE49-F238E27FC236}">
                <a16:creationId xmlns:a16="http://schemas.microsoft.com/office/drawing/2014/main" id="{02195F9A-13E0-48E7-9BD4-7828853345A6}"/>
              </a:ext>
            </a:extLst>
          </p:cNvPr>
          <p:cNvSpPr>
            <a:spLocks xmlns:a="http://schemas.openxmlformats.org/drawingml/2006/main" noGrp="1"/>
          </p:cNvSpPr>
          <p:nvPr/>
        </p:nvSpPr>
        <p:spPr>
          <a:xfrm xmlns:a="http://schemas.openxmlformats.org/drawingml/2006/main">
            <a:off x="3467100" y="11582400"/>
            <a:ext cx="142875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38" b="1">
                <a:solidFill>
                  <a:srgbClr val="116F68"/>
                </a:solidFill>
              </a:defRPr>
            </a:pPr>
            <a:r>
              <a:rPr sz="638" b="1">
                <a:solidFill>
                  <a:srgbClr val="116F68"/>
                </a:solidFill>
              </a:rPr>
              <a:t>ACTION</a:t>
            </a:r>
          </a:p>
        </p:txBody>
      </p:sp>
      <p:sp>
        <p:nvSpPr>
          <p:cNvPr id="119" name="">
            <a:extLst xmlns:a="http://schemas.openxmlformats.org/drawingml/2006/main">
              <a:ext uri="{FF2B5EF4-FFF2-40B4-BE49-F238E27FC236}">
                <a16:creationId xmlns:a16="http://schemas.microsoft.com/office/drawing/2014/main" id="{03B06F78-12B6-420B-8684-13FF74D26040}"/>
              </a:ext>
            </a:extLst>
          </p:cNvPr>
          <p:cNvSpPr>
            <a:spLocks xmlns:a="http://schemas.openxmlformats.org/drawingml/2006/main" noGrp="1"/>
          </p:cNvSpPr>
          <p:nvPr/>
        </p:nvSpPr>
        <p:spPr>
          <a:xfrm xmlns:a="http://schemas.openxmlformats.org/drawingml/2006/main">
            <a:off x="3467100" y="11734800"/>
            <a:ext cx="1428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00" b="0">
                <a:solidFill>
                  <a:srgbClr val="183B39"/>
                </a:solidFill>
              </a:defRPr>
            </a:pPr>
            <a:r>
              <a:rPr sz="600" b="0">
                <a:solidFill>
                  <a:srgbClr val="183B39"/>
                </a:solidFill>
              </a:rPr>
              <a:t>Reconcile SAH, WD and OOS for August cycle; add PDO by state-chain; publish validated diagnostic by 31-Aug</a:t>
            </a:r>
          </a:p>
        </p:txBody>
      </p:sp>
      <p:sp>
        <p:nvSpPr>
          <p:cNvPr id="120" name="">
            <a:extLst xmlns:a="http://schemas.openxmlformats.org/drawingml/2006/main">
              <a:ext uri="{FF2B5EF4-FFF2-40B4-BE49-F238E27FC236}">
                <a16:creationId xmlns:a16="http://schemas.microsoft.com/office/drawing/2014/main" id="{7D316A50-4199-4ADF-9222-EF0A2BF6D593}"/>
              </a:ext>
            </a:extLst>
          </p:cNvPr>
          <p:cNvSpPr>
            <a:spLocks xmlns:a="http://schemas.openxmlformats.org/drawingml/2006/main" noGrp="1"/>
          </p:cNvSpPr>
          <p:nvPr/>
        </p:nvSpPr>
        <p:spPr>
          <a:xfrm xmlns:a="http://schemas.openxmlformats.org/drawingml/2006/main">
            <a:off x="4953000" y="11610975"/>
            <a:ext cx="0" cy="304800"/>
          </a:xfrm>
          <a:prstGeom xmlns:a="http://schemas.openxmlformats.org/drawingml/2006/main" prst="line">
            <a:avLst/>
          </a:prstGeom>
          <a:ln xmlns:a="http://schemas.openxmlformats.org/drawingml/2006/main" w="9525">
            <a:solidFill>
              <a:srgbClr val="C8DCD7"/>
            </a:solidFill>
            <a:prstDash val="solid"/>
          </a:ln>
        </p:spPr>
      </p:sp>
      <p:sp>
        <p:nvSpPr>
          <p:cNvPr id="121" name="">
            <a:extLst xmlns:a="http://schemas.openxmlformats.org/drawingml/2006/main">
              <a:ext uri="{FF2B5EF4-FFF2-40B4-BE49-F238E27FC236}">
                <a16:creationId xmlns:a16="http://schemas.microsoft.com/office/drawing/2014/main" id="{3EBBAFEB-EB37-490F-9E75-E40B75CBA095}"/>
              </a:ext>
            </a:extLst>
          </p:cNvPr>
          <p:cNvSpPr>
            <a:spLocks xmlns:a="http://schemas.openxmlformats.org/drawingml/2006/main" noGrp="1"/>
          </p:cNvSpPr>
          <p:nvPr/>
        </p:nvSpPr>
        <p:spPr>
          <a:xfrm xmlns:a="http://schemas.openxmlformats.org/drawingml/2006/main">
            <a:off x="4981575" y="11582400"/>
            <a:ext cx="142875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38" b="1">
                <a:solidFill>
                  <a:srgbClr val="116F68"/>
                </a:solidFill>
              </a:defRPr>
            </a:pPr>
            <a:r>
              <a:rPr sz="638" b="1">
                <a:solidFill>
                  <a:srgbClr val="116F68"/>
                </a:solidFill>
              </a:rPr>
              <a:t>OWNER</a:t>
            </a:r>
          </a:p>
        </p:txBody>
      </p:sp>
      <p:sp>
        <p:nvSpPr>
          <p:cNvPr id="122" name="">
            <a:extLst xmlns:a="http://schemas.openxmlformats.org/drawingml/2006/main">
              <a:ext uri="{FF2B5EF4-FFF2-40B4-BE49-F238E27FC236}">
                <a16:creationId xmlns:a16="http://schemas.microsoft.com/office/drawing/2014/main" id="{7D6F9A75-87B7-44A8-BC0E-668462F21DBA}"/>
              </a:ext>
            </a:extLst>
          </p:cNvPr>
          <p:cNvSpPr>
            <a:spLocks xmlns:a="http://schemas.openxmlformats.org/drawingml/2006/main" noGrp="1"/>
          </p:cNvSpPr>
          <p:nvPr/>
        </p:nvSpPr>
        <p:spPr>
          <a:xfrm xmlns:a="http://schemas.openxmlformats.org/drawingml/2006/main">
            <a:off x="4981575" y="11734800"/>
            <a:ext cx="1428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00" b="0">
                <a:solidFill>
                  <a:srgbClr val="183B39"/>
                </a:solidFill>
              </a:defRPr>
            </a:pPr>
            <a:r>
              <a:rPr sz="600" b="0">
                <a:solidFill>
                  <a:srgbClr val="183B39"/>
                </a:solidFill>
              </a:rPr>
              <a:t>Analytics | 31-Aug</a:t>
            </a:r>
          </a:p>
        </p:txBody>
      </p:sp>
    </p:spTree>
    <p:extLst>
      <p:ext uri="{BB962C8B-B14F-4D97-AF65-F5344CB8AC3E}">
        <p14:creationId xmlns:p14="http://schemas.microsoft.com/office/powerpoint/2010/main" val="1855783719"/>
      </p:ext>
    </p:extLst>
  </p:cSld>
</p:sld>
</file>

<file path=ppt/slides/slide3.xml><?xml version="1.0" encoding="utf-8"?>
<p:sld xmlns:p="http://schemas.openxmlformats.org/presentationml/2006/main">
  <p:cSld>
    <p:bg>
      <p:bgPr>
        <a:solidFill xmlns:a="http://schemas.openxmlformats.org/drawingml/2006/main">
          <a:srgbClr val="F7FBFA"/>
        </a:solidFill>
      </p:bgPr>
    </p:bg>
    <p:spTree>
      <p:nvGrpSpPr>
        <p:cNvPr id="1" name=""/>
        <p:cNvGrpSpPr/>
        <p:nvPr/>
      </p:nvGrpSpPr>
      <p:grpSpPr>
        <a:xfrm xmlns:a="http://schemas.openxmlformats.org/drawingml/2006/main"/>
      </p:grpSpPr>
      <p:sp>
        <p:nvSpPr>
          <p:cNvPr id="56" name="">
            <a:extLst xmlns:a="http://schemas.openxmlformats.org/drawingml/2006/main">
              <a:ext uri="{FF2B5EF4-FFF2-40B4-BE49-F238E27FC236}">
                <a16:creationId xmlns:a16="http://schemas.microsoft.com/office/drawing/2014/main" id="{97C94B25-BF1A-4B45-A120-BF122207A935}"/>
              </a:ext>
            </a:extLst>
          </p:cNvPr>
          <p:cNvSpPr>
            <a:spLocks xmlns:a="http://schemas.openxmlformats.org/drawingml/2006/main" noGrp="1"/>
          </p:cNvSpPr>
          <p:nvPr/>
        </p:nvSpPr>
        <p:spPr>
          <a:xfrm xmlns:a="http://schemas.openxmlformats.org/drawingml/2006/main">
            <a:off x="0" y="0"/>
            <a:ext cx="6858000" cy="1000125"/>
          </a:xfrm>
          <a:prstGeom xmlns:a="http://schemas.openxmlformats.org/drawingml/2006/main" prst="rect">
            <a:avLst/>
          </a:prstGeom>
          <a:solidFill xmlns:a="http://schemas.openxmlformats.org/drawingml/2006/main">
            <a:srgbClr val="116F68"/>
          </a:solidFill>
          <a:ln xmlns:a="http://schemas.openxmlformats.org/drawingml/2006/main" w="0">
            <a:solidFill>
              <a:srgbClr val="116F68"/>
            </a:solidFill>
            <a:prstDash val="solid"/>
          </a:ln>
        </p:spPr>
      </p:sp>
      <p:sp>
        <p:nvSpPr>
          <p:cNvPr id="2" name="">
            <a:extLst xmlns:a="http://schemas.openxmlformats.org/drawingml/2006/main">
              <a:ext uri="{FF2B5EF4-FFF2-40B4-BE49-F238E27FC236}">
                <a16:creationId xmlns:a16="http://schemas.microsoft.com/office/drawing/2014/main" id="{E3D50AA9-1E3C-440C-BB8D-2EF50CF2E752}"/>
              </a:ext>
            </a:extLst>
          </p:cNvPr>
          <p:cNvSpPr>
            <a:spLocks xmlns:a="http://schemas.openxmlformats.org/drawingml/2006/main" noGrp="1"/>
          </p:cNvSpPr>
          <p:nvPr/>
        </p:nvSpPr>
        <p:spPr>
          <a:xfrm xmlns:a="http://schemas.openxmlformats.org/drawingml/2006/main">
            <a:off x="361950" y="228600"/>
            <a:ext cx="59055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2025" b="1">
                <a:solidFill>
                  <a:srgbClr val="FFFFFF"/>
                </a:solidFill>
              </a:defRPr>
            </a:pPr>
            <a:r>
              <a:rPr sz="2025" b="1">
                <a:solidFill>
                  <a:srgbClr val="FFFFFF"/>
                </a:solidFill>
              </a:rPr>
              <a:t>Mamaearth is gaining share in both strategic categories</a:t>
            </a:r>
          </a:p>
        </p:txBody>
      </p:sp>
      <p:sp>
        <p:nvSpPr>
          <p:cNvPr id="3" name="">
            <a:extLst xmlns:a="http://schemas.openxmlformats.org/drawingml/2006/main">
              <a:ext uri="{FF2B5EF4-FFF2-40B4-BE49-F238E27FC236}">
                <a16:creationId xmlns:a16="http://schemas.microsoft.com/office/drawing/2014/main" id="{9ACF95E5-B17B-4711-BCD2-914EEDA5C45C}"/>
              </a:ext>
            </a:extLst>
          </p:cNvPr>
          <p:cNvSpPr>
            <a:spLocks xmlns:a="http://schemas.openxmlformats.org/drawingml/2006/main" noGrp="1"/>
          </p:cNvSpPr>
          <p:nvPr/>
        </p:nvSpPr>
        <p:spPr>
          <a:xfrm xmlns:a="http://schemas.openxmlformats.org/drawingml/2006/main">
            <a:off x="381000" y="695325"/>
            <a:ext cx="57150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75" b="0">
                <a:solidFill>
                  <a:srgbClr val="DFF2ED"/>
                </a:solidFill>
              </a:defRPr>
            </a:pPr>
            <a:r>
              <a:rPr sz="975" b="0">
                <a:solidFill>
                  <a:srgbClr val="DFF2ED"/>
                </a:solidFill>
              </a:rPr>
              <a:t>June 2026 market share | Nielsen RMS | value share</a:t>
            </a:r>
          </a:p>
        </p:txBody>
      </p:sp>
      <p:sp>
        <p:nvSpPr>
          <p:cNvPr id="4" name="">
            <a:extLst xmlns:a="http://schemas.openxmlformats.org/drawingml/2006/main">
              <a:ext uri="{FF2B5EF4-FFF2-40B4-BE49-F238E27FC236}">
                <a16:creationId xmlns:a16="http://schemas.microsoft.com/office/drawing/2014/main" id="{5E046E57-C0A6-44F4-8EB7-38B4B105FE80}"/>
              </a:ext>
            </a:extLst>
          </p:cNvPr>
          <p:cNvSpPr>
            <a:spLocks xmlns:a="http://schemas.openxmlformats.org/drawingml/2006/main" noGrp="1"/>
          </p:cNvSpPr>
          <p:nvPr/>
        </p:nvSpPr>
        <p:spPr>
          <a:xfrm xmlns:a="http://schemas.openxmlformats.org/drawingml/2006/main">
            <a:off x="6191250" y="361950"/>
            <a:ext cx="3429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900" b="1">
                <a:solidFill>
                  <a:srgbClr val="FFFFFF"/>
                </a:solidFill>
              </a:defRPr>
            </a:pPr>
            <a:r>
              <a:rPr sz="900" b="1">
                <a:solidFill>
                  <a:srgbClr val="FFFFFF"/>
                </a:solidFill>
              </a:rPr>
              <a:t>03</a:t>
            </a:r>
          </a:p>
        </p:txBody>
      </p:sp>
      <p:sp>
        <p:nvSpPr>
          <p:cNvPr id="5" name="">
            <a:extLst xmlns:a="http://schemas.openxmlformats.org/drawingml/2006/main">
              <a:ext uri="{FF2B5EF4-FFF2-40B4-BE49-F238E27FC236}">
                <a16:creationId xmlns:a16="http://schemas.microsoft.com/office/drawing/2014/main" id="{95F4A42A-C8B3-4F4A-9EB5-755F1F3A778D}"/>
              </a:ext>
            </a:extLst>
          </p:cNvPr>
          <p:cNvSpPr>
            <a:spLocks xmlns:a="http://schemas.openxmlformats.org/drawingml/2006/main" noGrp="1"/>
          </p:cNvSpPr>
          <p:nvPr/>
        </p:nvSpPr>
        <p:spPr>
          <a:xfrm xmlns:a="http://schemas.openxmlformats.org/drawingml/2006/main">
            <a:off x="361950" y="1285875"/>
            <a:ext cx="192405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9525">
            <a:solidFill>
              <a:srgbClr val="C8DCD7"/>
            </a:solidFill>
            <a:prstDash val="solid"/>
          </a:ln>
        </p:spPr>
      </p:sp>
      <p:sp>
        <p:nvSpPr>
          <p:cNvPr id="6" name="">
            <a:extLst xmlns:a="http://schemas.openxmlformats.org/drawingml/2006/main">
              <a:ext uri="{FF2B5EF4-FFF2-40B4-BE49-F238E27FC236}">
                <a16:creationId xmlns:a16="http://schemas.microsoft.com/office/drawing/2014/main" id="{A066155C-B5BC-4498-A5C1-937C37E33845}"/>
              </a:ext>
            </a:extLst>
          </p:cNvPr>
          <p:cNvSpPr>
            <a:spLocks xmlns:a="http://schemas.openxmlformats.org/drawingml/2006/main" noGrp="1"/>
          </p:cNvSpPr>
          <p:nvPr/>
        </p:nvSpPr>
        <p:spPr>
          <a:xfrm xmlns:a="http://schemas.openxmlformats.org/drawingml/2006/main">
            <a:off x="361950" y="1285875"/>
            <a:ext cx="76200" cy="1066800"/>
          </a:xfrm>
          <a:prstGeom xmlns:a="http://schemas.openxmlformats.org/drawingml/2006/main" prst="rect">
            <a:avLst/>
          </a:prstGeom>
          <a:solidFill xmlns:a="http://schemas.openxmlformats.org/drawingml/2006/main">
            <a:srgbClr val="2B9A66"/>
          </a:solidFill>
          <a:ln xmlns:a="http://schemas.openxmlformats.org/drawingml/2006/main" w="0">
            <a:solidFill>
              <a:srgbClr val="2B9A66"/>
            </a:solidFill>
            <a:prstDash val="solid"/>
          </a:ln>
        </p:spPr>
      </p:sp>
      <p:sp>
        <p:nvSpPr>
          <p:cNvPr id="7" name="">
            <a:extLst xmlns:a="http://schemas.openxmlformats.org/drawingml/2006/main">
              <a:ext uri="{FF2B5EF4-FFF2-40B4-BE49-F238E27FC236}">
                <a16:creationId xmlns:a16="http://schemas.microsoft.com/office/drawing/2014/main" id="{84503E66-217E-46DE-9F7C-E1C41DBC213E}"/>
              </a:ext>
            </a:extLst>
          </p:cNvPr>
          <p:cNvSpPr>
            <a:spLocks xmlns:a="http://schemas.openxmlformats.org/drawingml/2006/main" noGrp="1"/>
          </p:cNvSpPr>
          <p:nvPr/>
        </p:nvSpPr>
        <p:spPr>
          <a:xfrm xmlns:a="http://schemas.openxmlformats.org/drawingml/2006/main">
            <a:off x="533400" y="1400175"/>
            <a:ext cx="16573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5F716E"/>
                </a:solidFill>
              </a:defRPr>
            </a:pPr>
            <a:r>
              <a:rPr sz="900" b="1">
                <a:solidFill>
                  <a:srgbClr val="5F716E"/>
                </a:solidFill>
              </a:rPr>
              <a:t>FACE WASH SHARE</a:t>
            </a:r>
          </a:p>
        </p:txBody>
      </p:sp>
      <p:sp>
        <p:nvSpPr>
          <p:cNvPr id="8" name="">
            <a:extLst xmlns:a="http://schemas.openxmlformats.org/drawingml/2006/main">
              <a:ext uri="{FF2B5EF4-FFF2-40B4-BE49-F238E27FC236}">
                <a16:creationId xmlns:a16="http://schemas.microsoft.com/office/drawing/2014/main" id="{D0FEE50B-3A36-4118-A92E-F8642D547A28}"/>
              </a:ext>
            </a:extLst>
          </p:cNvPr>
          <p:cNvSpPr>
            <a:spLocks xmlns:a="http://schemas.openxmlformats.org/drawingml/2006/main" noGrp="1"/>
          </p:cNvSpPr>
          <p:nvPr/>
        </p:nvSpPr>
        <p:spPr>
          <a:xfrm xmlns:a="http://schemas.openxmlformats.org/drawingml/2006/main">
            <a:off x="533400" y="1628775"/>
            <a:ext cx="16573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875" b="1">
                <a:solidFill>
                  <a:srgbClr val="2B9A66"/>
                </a:solidFill>
              </a:defRPr>
            </a:pPr>
            <a:r>
              <a:rPr sz="1875" b="1">
                <a:solidFill>
                  <a:srgbClr val="2B9A66"/>
                </a:solidFill>
              </a:rPr>
              <a:t>10.5%</a:t>
            </a:r>
          </a:p>
        </p:txBody>
      </p:sp>
      <p:sp>
        <p:nvSpPr>
          <p:cNvPr id="9" name="">
            <a:extLst xmlns:a="http://schemas.openxmlformats.org/drawingml/2006/main">
              <a:ext uri="{FF2B5EF4-FFF2-40B4-BE49-F238E27FC236}">
                <a16:creationId xmlns:a16="http://schemas.microsoft.com/office/drawing/2014/main" id="{8AE86EC4-33E8-46BC-A3FB-C3930B8D5C81}"/>
              </a:ext>
            </a:extLst>
          </p:cNvPr>
          <p:cNvSpPr>
            <a:spLocks xmlns:a="http://schemas.openxmlformats.org/drawingml/2006/main" noGrp="1"/>
          </p:cNvSpPr>
          <p:nvPr/>
        </p:nvSpPr>
        <p:spPr>
          <a:xfrm xmlns:a="http://schemas.openxmlformats.org/drawingml/2006/main">
            <a:off x="533400" y="2028825"/>
            <a:ext cx="16573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0">
                <a:solidFill>
                  <a:srgbClr val="5F716E"/>
                </a:solidFill>
              </a:defRPr>
            </a:pPr>
            <a:r>
              <a:rPr sz="825" b="0">
                <a:solidFill>
                  <a:srgbClr val="5F716E"/>
                </a:solidFill>
              </a:rPr>
              <a:t>#4 | +3.1 pp YoY</a:t>
            </a:r>
          </a:p>
        </p:txBody>
      </p:sp>
      <p:sp>
        <p:nvSpPr>
          <p:cNvPr id="10" name="">
            <a:extLst xmlns:a="http://schemas.openxmlformats.org/drawingml/2006/main">
              <a:ext uri="{FF2B5EF4-FFF2-40B4-BE49-F238E27FC236}">
                <a16:creationId xmlns:a16="http://schemas.microsoft.com/office/drawing/2014/main" id="{652F3761-56A7-4F57-808D-33778C1D23B9}"/>
              </a:ext>
            </a:extLst>
          </p:cNvPr>
          <p:cNvSpPr>
            <a:spLocks xmlns:a="http://schemas.openxmlformats.org/drawingml/2006/main" noGrp="1"/>
          </p:cNvSpPr>
          <p:nvPr/>
        </p:nvSpPr>
        <p:spPr>
          <a:xfrm xmlns:a="http://schemas.openxmlformats.org/drawingml/2006/main">
            <a:off x="2466975" y="1285875"/>
            <a:ext cx="192405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9525">
            <a:solidFill>
              <a:srgbClr val="C8DCD7"/>
            </a:solidFill>
            <a:prstDash val="solid"/>
          </a:ln>
        </p:spPr>
      </p:sp>
      <p:sp>
        <p:nvSpPr>
          <p:cNvPr id="11" name="">
            <a:extLst xmlns:a="http://schemas.openxmlformats.org/drawingml/2006/main">
              <a:ext uri="{FF2B5EF4-FFF2-40B4-BE49-F238E27FC236}">
                <a16:creationId xmlns:a16="http://schemas.microsoft.com/office/drawing/2014/main" id="{7FBF2035-2DF8-41A0-A074-08EF9E7F757B}"/>
              </a:ext>
            </a:extLst>
          </p:cNvPr>
          <p:cNvSpPr>
            <a:spLocks xmlns:a="http://schemas.openxmlformats.org/drawingml/2006/main" noGrp="1"/>
          </p:cNvSpPr>
          <p:nvPr/>
        </p:nvSpPr>
        <p:spPr>
          <a:xfrm xmlns:a="http://schemas.openxmlformats.org/drawingml/2006/main">
            <a:off x="2466975" y="1285875"/>
            <a:ext cx="76200" cy="1066800"/>
          </a:xfrm>
          <a:prstGeom xmlns:a="http://schemas.openxmlformats.org/drawingml/2006/main" prst="rect">
            <a:avLst/>
          </a:prstGeom>
          <a:solidFill xmlns:a="http://schemas.openxmlformats.org/drawingml/2006/main">
            <a:srgbClr val="2B9A66"/>
          </a:solidFill>
          <a:ln xmlns:a="http://schemas.openxmlformats.org/drawingml/2006/main" w="0">
            <a:solidFill>
              <a:srgbClr val="2B9A66"/>
            </a:solidFill>
            <a:prstDash val="solid"/>
          </a:ln>
        </p:spPr>
      </p:sp>
      <p:sp>
        <p:nvSpPr>
          <p:cNvPr id="12" name="">
            <a:extLst xmlns:a="http://schemas.openxmlformats.org/drawingml/2006/main">
              <a:ext uri="{FF2B5EF4-FFF2-40B4-BE49-F238E27FC236}">
                <a16:creationId xmlns:a16="http://schemas.microsoft.com/office/drawing/2014/main" id="{F79CC29A-BA11-42AD-8083-7ADCB7DE3AF7}"/>
              </a:ext>
            </a:extLst>
          </p:cNvPr>
          <p:cNvSpPr>
            <a:spLocks xmlns:a="http://schemas.openxmlformats.org/drawingml/2006/main" noGrp="1"/>
          </p:cNvSpPr>
          <p:nvPr/>
        </p:nvSpPr>
        <p:spPr>
          <a:xfrm xmlns:a="http://schemas.openxmlformats.org/drawingml/2006/main">
            <a:off x="2638425" y="1400175"/>
            <a:ext cx="16573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5F716E"/>
                </a:solidFill>
              </a:defRPr>
            </a:pPr>
            <a:r>
              <a:rPr sz="900" b="1">
                <a:solidFill>
                  <a:srgbClr val="5F716E"/>
                </a:solidFill>
              </a:rPr>
              <a:t>SHAMPOO SHARE</a:t>
            </a:r>
          </a:p>
        </p:txBody>
      </p:sp>
      <p:sp>
        <p:nvSpPr>
          <p:cNvPr id="13" name="">
            <a:extLst xmlns:a="http://schemas.openxmlformats.org/drawingml/2006/main">
              <a:ext uri="{FF2B5EF4-FFF2-40B4-BE49-F238E27FC236}">
                <a16:creationId xmlns:a16="http://schemas.microsoft.com/office/drawing/2014/main" id="{15FC5C88-0AD8-4886-BDE4-E1B6A02C0C90}"/>
              </a:ext>
            </a:extLst>
          </p:cNvPr>
          <p:cNvSpPr>
            <a:spLocks xmlns:a="http://schemas.openxmlformats.org/drawingml/2006/main" noGrp="1"/>
          </p:cNvSpPr>
          <p:nvPr/>
        </p:nvSpPr>
        <p:spPr>
          <a:xfrm xmlns:a="http://schemas.openxmlformats.org/drawingml/2006/main">
            <a:off x="2638425" y="1628775"/>
            <a:ext cx="16573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875" b="1">
                <a:solidFill>
                  <a:srgbClr val="2B9A66"/>
                </a:solidFill>
              </a:defRPr>
            </a:pPr>
            <a:r>
              <a:rPr sz="1875" b="1">
                <a:solidFill>
                  <a:srgbClr val="2B9A66"/>
                </a:solidFill>
              </a:rPr>
              <a:t>3.7%</a:t>
            </a:r>
          </a:p>
        </p:txBody>
      </p:sp>
      <p:sp>
        <p:nvSpPr>
          <p:cNvPr id="14" name="">
            <a:extLst xmlns:a="http://schemas.openxmlformats.org/drawingml/2006/main">
              <a:ext uri="{FF2B5EF4-FFF2-40B4-BE49-F238E27FC236}">
                <a16:creationId xmlns:a16="http://schemas.microsoft.com/office/drawing/2014/main" id="{A94DABFB-022F-4FC7-A363-B241230F3E28}"/>
              </a:ext>
            </a:extLst>
          </p:cNvPr>
          <p:cNvSpPr>
            <a:spLocks xmlns:a="http://schemas.openxmlformats.org/drawingml/2006/main" noGrp="1"/>
          </p:cNvSpPr>
          <p:nvPr/>
        </p:nvSpPr>
        <p:spPr>
          <a:xfrm xmlns:a="http://schemas.openxmlformats.org/drawingml/2006/main">
            <a:off x="2638425" y="2028825"/>
            <a:ext cx="16573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0">
                <a:solidFill>
                  <a:srgbClr val="5F716E"/>
                </a:solidFill>
              </a:defRPr>
            </a:pPr>
            <a:r>
              <a:rPr sz="825" b="0">
                <a:solidFill>
                  <a:srgbClr val="5F716E"/>
                </a:solidFill>
              </a:rPr>
              <a:t>+1.2 pp YoY</a:t>
            </a:r>
          </a:p>
        </p:txBody>
      </p:sp>
      <p:sp>
        <p:nvSpPr>
          <p:cNvPr id="15" name="">
            <a:extLst xmlns:a="http://schemas.openxmlformats.org/drawingml/2006/main">
              <a:ext uri="{FF2B5EF4-FFF2-40B4-BE49-F238E27FC236}">
                <a16:creationId xmlns:a16="http://schemas.microsoft.com/office/drawing/2014/main" id="{BA74E9D4-A0E0-45B9-B17E-620E6012FE11}"/>
              </a:ext>
            </a:extLst>
          </p:cNvPr>
          <p:cNvSpPr>
            <a:spLocks xmlns:a="http://schemas.openxmlformats.org/drawingml/2006/main" noGrp="1"/>
          </p:cNvSpPr>
          <p:nvPr/>
        </p:nvSpPr>
        <p:spPr>
          <a:xfrm xmlns:a="http://schemas.openxmlformats.org/drawingml/2006/main">
            <a:off x="4572000" y="1285875"/>
            <a:ext cx="192405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9525">
            <a:solidFill>
              <a:srgbClr val="C8DCD7"/>
            </a:solidFill>
            <a:prstDash val="solid"/>
          </a:ln>
        </p:spPr>
      </p:sp>
      <p:sp>
        <p:nvSpPr>
          <p:cNvPr id="16" name="">
            <a:extLst xmlns:a="http://schemas.openxmlformats.org/drawingml/2006/main">
              <a:ext uri="{FF2B5EF4-FFF2-40B4-BE49-F238E27FC236}">
                <a16:creationId xmlns:a16="http://schemas.microsoft.com/office/drawing/2014/main" id="{ECC5BB32-BE08-4A10-A1F4-3B45738190B3}"/>
              </a:ext>
            </a:extLst>
          </p:cNvPr>
          <p:cNvSpPr>
            <a:spLocks xmlns:a="http://schemas.openxmlformats.org/drawingml/2006/main" noGrp="1"/>
          </p:cNvSpPr>
          <p:nvPr/>
        </p:nvSpPr>
        <p:spPr>
          <a:xfrm xmlns:a="http://schemas.openxmlformats.org/drawingml/2006/main">
            <a:off x="4572000" y="1285875"/>
            <a:ext cx="76200" cy="1066800"/>
          </a:xfrm>
          <a:prstGeom xmlns:a="http://schemas.openxmlformats.org/drawingml/2006/main" prst="rect">
            <a:avLst/>
          </a:prstGeom>
          <a:solidFill xmlns:a="http://schemas.openxmlformats.org/drawingml/2006/main">
            <a:srgbClr val="F2B84B"/>
          </a:solidFill>
          <a:ln xmlns:a="http://schemas.openxmlformats.org/drawingml/2006/main" w="0">
            <a:solidFill>
              <a:srgbClr val="F2B84B"/>
            </a:solidFill>
            <a:prstDash val="solid"/>
          </a:ln>
        </p:spPr>
      </p:sp>
      <p:sp>
        <p:nvSpPr>
          <p:cNvPr id="17" name="">
            <a:extLst xmlns:a="http://schemas.openxmlformats.org/drawingml/2006/main">
              <a:ext uri="{FF2B5EF4-FFF2-40B4-BE49-F238E27FC236}">
                <a16:creationId xmlns:a16="http://schemas.microsoft.com/office/drawing/2014/main" id="{3A7C2B85-5D1C-477C-82DE-FE9DDA4F8610}"/>
              </a:ext>
            </a:extLst>
          </p:cNvPr>
          <p:cNvSpPr>
            <a:spLocks xmlns:a="http://schemas.openxmlformats.org/drawingml/2006/main" noGrp="1"/>
          </p:cNvSpPr>
          <p:nvPr/>
        </p:nvSpPr>
        <p:spPr>
          <a:xfrm xmlns:a="http://schemas.openxmlformats.org/drawingml/2006/main">
            <a:off x="4743450" y="1400175"/>
            <a:ext cx="16573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5F716E"/>
                </a:solidFill>
              </a:defRPr>
            </a:pPr>
            <a:r>
              <a:rPr sz="900" b="1">
                <a:solidFill>
                  <a:srgbClr val="5F716E"/>
                </a:solidFill>
              </a:rPr>
              <a:t>TDC FACE WASH</a:t>
            </a:r>
          </a:p>
        </p:txBody>
      </p:sp>
      <p:sp>
        <p:nvSpPr>
          <p:cNvPr id="18" name="">
            <a:extLst xmlns:a="http://schemas.openxmlformats.org/drawingml/2006/main">
              <a:ext uri="{FF2B5EF4-FFF2-40B4-BE49-F238E27FC236}">
                <a16:creationId xmlns:a16="http://schemas.microsoft.com/office/drawing/2014/main" id="{EEB200FE-031F-4526-80A7-1613030144AB}"/>
              </a:ext>
            </a:extLst>
          </p:cNvPr>
          <p:cNvSpPr>
            <a:spLocks xmlns:a="http://schemas.openxmlformats.org/drawingml/2006/main" noGrp="1"/>
          </p:cNvSpPr>
          <p:nvPr/>
        </p:nvSpPr>
        <p:spPr>
          <a:xfrm xmlns:a="http://schemas.openxmlformats.org/drawingml/2006/main">
            <a:off x="4743450" y="1628775"/>
            <a:ext cx="16573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875" b="1">
                <a:solidFill>
                  <a:srgbClr val="F2B84B"/>
                </a:solidFill>
              </a:defRPr>
            </a:pPr>
            <a:r>
              <a:rPr sz="1875" b="1">
                <a:solidFill>
                  <a:srgbClr val="F2B84B"/>
                </a:solidFill>
              </a:rPr>
              <a:t>0.4%</a:t>
            </a:r>
          </a:p>
        </p:txBody>
      </p:sp>
      <p:sp>
        <p:nvSpPr>
          <p:cNvPr id="19" name="">
            <a:extLst xmlns:a="http://schemas.openxmlformats.org/drawingml/2006/main">
              <a:ext uri="{FF2B5EF4-FFF2-40B4-BE49-F238E27FC236}">
                <a16:creationId xmlns:a16="http://schemas.microsoft.com/office/drawing/2014/main" id="{E1420199-F5FE-4F30-9D4F-9ABEC74A219A}"/>
              </a:ext>
            </a:extLst>
          </p:cNvPr>
          <p:cNvSpPr>
            <a:spLocks xmlns:a="http://schemas.openxmlformats.org/drawingml/2006/main" noGrp="1"/>
          </p:cNvSpPr>
          <p:nvPr/>
        </p:nvSpPr>
        <p:spPr>
          <a:xfrm xmlns:a="http://schemas.openxmlformats.org/drawingml/2006/main">
            <a:off x="4743450" y="2028825"/>
            <a:ext cx="16573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0">
                <a:solidFill>
                  <a:srgbClr val="5F716E"/>
                </a:solidFill>
              </a:defRPr>
            </a:pPr>
            <a:r>
              <a:rPr sz="825" b="0">
                <a:solidFill>
                  <a:srgbClr val="5F716E"/>
                </a:solidFill>
              </a:rPr>
              <a:t>+0.3 pp YoY</a:t>
            </a:r>
          </a:p>
        </p:txBody>
      </p:sp>
      <p:sp>
        <p:nvSpPr>
          <p:cNvPr id="20" name="">
            <a:extLst xmlns:a="http://schemas.openxmlformats.org/drawingml/2006/main">
              <a:ext uri="{FF2B5EF4-FFF2-40B4-BE49-F238E27FC236}">
                <a16:creationId xmlns:a16="http://schemas.microsoft.com/office/drawing/2014/main" id="{7E0CCCD2-228F-4054-84F3-770BDA754616}"/>
              </a:ext>
            </a:extLst>
          </p:cNvPr>
          <p:cNvSpPr>
            <a:spLocks xmlns:a="http://schemas.openxmlformats.org/drawingml/2006/main" noGrp="1"/>
          </p:cNvSpPr>
          <p:nvPr/>
        </p:nvSpPr>
        <p:spPr>
          <a:xfrm xmlns:a="http://schemas.openxmlformats.org/drawingml/2006/main">
            <a:off x="361950" y="2857500"/>
            <a:ext cx="28956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050" b="1">
                <a:solidFill>
                  <a:srgbClr val="183B39"/>
                </a:solidFill>
              </a:defRPr>
            </a:pPr>
            <a:r>
              <a:rPr sz="1050" b="1">
                <a:solidFill>
                  <a:srgbClr val="183B39"/>
                </a:solidFill>
              </a:rPr>
              <a:t>Face Wash value share (%)</a:t>
            </a:r>
          </a:p>
        </p:txBody>
      </p:sp>
      <p:graphicFrame>
        <p:nvGraphicFramePr>
          <p:cNvPr id="76" name="Chart"/>
          <p:cNvGraphicFramePr/>
          <p:nvPr/>
        </p:nvGraphicFramePr>
        <p:xfrm>
          <a:off xmlns:a="http://schemas.openxmlformats.org/drawingml/2006/main" x="361950" y="3143250"/>
          <a:ext xmlns:a="http://schemas.openxmlformats.org/drawingml/2006/main" cx="2895600" cy="2571750"/>
        </p:xfrm>
        <a:graphic xmlns:a="http://schemas.openxmlformats.org/drawingml/2006/main">
          <a:graphicData uri="http://schemas.openxmlformats.org/drawingml/2006/chart">
            <c:chart xmlns:r="http://schemas.openxmlformats.org/officeDocument/2006/relationships" xmlns:c="http://schemas.openxmlformats.org/drawingml/2006/chart" r:id="R96fa285f352c4a08"/>
          </a:graphicData>
        </a:graphic>
      </p:graphicFrame>
      <p:sp>
        <p:nvSpPr>
          <p:cNvPr id="22" name="">
            <a:extLst xmlns:a="http://schemas.openxmlformats.org/drawingml/2006/main">
              <a:ext uri="{FF2B5EF4-FFF2-40B4-BE49-F238E27FC236}">
                <a16:creationId xmlns:a16="http://schemas.microsoft.com/office/drawing/2014/main" id="{DAA02B76-56D1-4028-8B19-D0636AE0CD65}"/>
              </a:ext>
            </a:extLst>
          </p:cNvPr>
          <p:cNvSpPr>
            <a:spLocks xmlns:a="http://schemas.openxmlformats.org/drawingml/2006/main" noGrp="1"/>
          </p:cNvSpPr>
          <p:nvPr/>
        </p:nvSpPr>
        <p:spPr>
          <a:xfrm xmlns:a="http://schemas.openxmlformats.org/drawingml/2006/main">
            <a:off x="3600450" y="2857500"/>
            <a:ext cx="28956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050" b="1">
                <a:solidFill>
                  <a:srgbClr val="183B39"/>
                </a:solidFill>
              </a:defRPr>
            </a:pPr>
            <a:r>
              <a:rPr sz="1050" b="1">
                <a:solidFill>
                  <a:srgbClr val="183B39"/>
                </a:solidFill>
              </a:rPr>
              <a:t>Shampoo value share (%)</a:t>
            </a:r>
          </a:p>
        </p:txBody>
      </p:sp>
      <p:graphicFrame>
        <p:nvGraphicFramePr>
          <p:cNvPr id="78" name="Chart"/>
          <p:cNvGraphicFramePr/>
          <p:nvPr/>
        </p:nvGraphicFramePr>
        <p:xfrm>
          <a:off xmlns:a="http://schemas.openxmlformats.org/drawingml/2006/main" x="3600450" y="3143250"/>
          <a:ext xmlns:a="http://schemas.openxmlformats.org/drawingml/2006/main" cx="2895600" cy="2571750"/>
        </p:xfrm>
        <a:graphic xmlns:a="http://schemas.openxmlformats.org/drawingml/2006/main">
          <a:graphicData uri="http://schemas.openxmlformats.org/drawingml/2006/chart">
            <c:chart xmlns:r="http://schemas.openxmlformats.org/officeDocument/2006/relationships" xmlns:c="http://schemas.openxmlformats.org/drawingml/2006/chart" r:id="R4153b290bfb44727"/>
          </a:graphicData>
        </a:graphic>
      </p:graphicFrame>
      <p:sp>
        <p:nvSpPr>
          <p:cNvPr id="24" name="">
            <a:extLst xmlns:a="http://schemas.openxmlformats.org/drawingml/2006/main">
              <a:ext uri="{FF2B5EF4-FFF2-40B4-BE49-F238E27FC236}">
                <a16:creationId xmlns:a16="http://schemas.microsoft.com/office/drawing/2014/main" id="{723213ED-AED7-4885-9143-A1CE4FA5A416}"/>
              </a:ext>
            </a:extLst>
          </p:cNvPr>
          <p:cNvSpPr>
            <a:spLocks xmlns:a="http://schemas.openxmlformats.org/drawingml/2006/main" noGrp="1"/>
          </p:cNvSpPr>
          <p:nvPr/>
        </p:nvSpPr>
        <p:spPr>
          <a:xfrm xmlns:a="http://schemas.openxmlformats.org/drawingml/2006/main">
            <a:off x="361950" y="6048375"/>
            <a:ext cx="6134100" cy="257175"/>
          </a:xfrm>
          <a:prstGeom xmlns:a="http://schemas.openxmlformats.org/drawingml/2006/main" prst="rect">
            <a:avLst/>
          </a:prstGeom>
          <a:solidFill xmlns:a="http://schemas.openxmlformats.org/drawingml/2006/main">
            <a:srgbClr val="116F68"/>
          </a:solidFill>
          <a:ln xmlns:a="http://schemas.openxmlformats.org/drawingml/2006/main" w="0">
            <a:solidFill>
              <a:srgbClr val="116F68"/>
            </a:solidFill>
            <a:prstDash val="solid"/>
          </a:ln>
        </p:spPr>
      </p:sp>
      <p:sp>
        <p:nvSpPr>
          <p:cNvPr id="25" name="">
            <a:extLst xmlns:a="http://schemas.openxmlformats.org/drawingml/2006/main">
              <a:ext uri="{FF2B5EF4-FFF2-40B4-BE49-F238E27FC236}">
                <a16:creationId xmlns:a16="http://schemas.microsoft.com/office/drawing/2014/main" id="{FD7296C3-4618-40E1-B944-A10A97FF85FB}"/>
              </a:ext>
            </a:extLst>
          </p:cNvPr>
          <p:cNvSpPr>
            <a:spLocks xmlns:a="http://schemas.openxmlformats.org/drawingml/2006/main" noGrp="1"/>
          </p:cNvSpPr>
          <p:nvPr/>
        </p:nvSpPr>
        <p:spPr>
          <a:xfrm xmlns:a="http://schemas.openxmlformats.org/drawingml/2006/main">
            <a:off x="457200" y="6057900"/>
            <a:ext cx="59436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FFFFFF"/>
                </a:solidFill>
              </a:defRPr>
            </a:pPr>
            <a:r>
              <a:rPr sz="900" b="1">
                <a:solidFill>
                  <a:srgbClr val="FFFFFF"/>
                </a:solidFill>
              </a:rPr>
              <a:t>GROWTH, DISTRIBUTION AND PACK OPPORTUNITY</a:t>
            </a:r>
          </a:p>
        </p:txBody>
      </p:sp>
      <p:sp>
        <p:nvSpPr>
          <p:cNvPr id="26" name="">
            <a:extLst xmlns:a="http://schemas.openxmlformats.org/drawingml/2006/main">
              <a:ext uri="{FF2B5EF4-FFF2-40B4-BE49-F238E27FC236}">
                <a16:creationId xmlns:a16="http://schemas.microsoft.com/office/drawing/2014/main" id="{E80EF19B-D82F-4A1C-A338-A92445A2676A}"/>
              </a:ext>
            </a:extLst>
          </p:cNvPr>
          <p:cNvSpPr>
            <a:spLocks xmlns:a="http://schemas.openxmlformats.org/drawingml/2006/main" noGrp="1"/>
          </p:cNvSpPr>
          <p:nvPr/>
        </p:nvSpPr>
        <p:spPr>
          <a:xfrm xmlns:a="http://schemas.openxmlformats.org/drawingml/2006/main">
            <a:off x="476250" y="6477000"/>
            <a:ext cx="1524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2B9A66"/>
                </a:solidFill>
              </a:defRPr>
            </a:pPr>
            <a:r>
              <a:rPr sz="900" b="1">
                <a:solidFill>
                  <a:srgbClr val="2B9A66"/>
                </a:solidFill>
              </a:rPr>
              <a:t>●</a:t>
            </a:r>
          </a:p>
        </p:txBody>
      </p:sp>
      <p:sp>
        <p:nvSpPr>
          <p:cNvPr id="27" name="">
            <a:extLst xmlns:a="http://schemas.openxmlformats.org/drawingml/2006/main">
              <a:ext uri="{FF2B5EF4-FFF2-40B4-BE49-F238E27FC236}">
                <a16:creationId xmlns:a16="http://schemas.microsoft.com/office/drawing/2014/main" id="{DA5B5D57-86E3-4682-B974-B564B806C496}"/>
              </a:ext>
            </a:extLst>
          </p:cNvPr>
          <p:cNvSpPr>
            <a:spLocks xmlns:a="http://schemas.openxmlformats.org/drawingml/2006/main" noGrp="1"/>
          </p:cNvSpPr>
          <p:nvPr/>
        </p:nvSpPr>
        <p:spPr>
          <a:xfrm xmlns:a="http://schemas.openxmlformats.org/drawingml/2006/main">
            <a:off x="685800" y="6477000"/>
            <a:ext cx="56959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050" b="0">
                <a:solidFill>
                  <a:srgbClr val="183B39"/>
                </a:solidFill>
              </a:defRPr>
            </a:pPr>
            <a:r>
              <a:rPr sz="1050" b="0">
                <a:solidFill>
                  <a:srgbClr val="183B39"/>
                </a:solidFill>
              </a:rPr>
              <a:t>Face Wash: Mamaearth L3M growth is +58.2% YoY, with 89.0% weighted distribution (+6.0 pp).</a:t>
            </a:r>
          </a:p>
        </p:txBody>
      </p:sp>
      <p:sp>
        <p:nvSpPr>
          <p:cNvPr id="28" name="">
            <a:extLst xmlns:a="http://schemas.openxmlformats.org/drawingml/2006/main">
              <a:ext uri="{FF2B5EF4-FFF2-40B4-BE49-F238E27FC236}">
                <a16:creationId xmlns:a16="http://schemas.microsoft.com/office/drawing/2014/main" id="{9BE3218D-74E1-4DC8-AB7B-2B58295C50BC}"/>
              </a:ext>
            </a:extLst>
          </p:cNvPr>
          <p:cNvSpPr>
            <a:spLocks xmlns:a="http://schemas.openxmlformats.org/drawingml/2006/main" noGrp="1"/>
          </p:cNvSpPr>
          <p:nvPr/>
        </p:nvSpPr>
        <p:spPr>
          <a:xfrm xmlns:a="http://schemas.openxmlformats.org/drawingml/2006/main">
            <a:off x="476250" y="6934200"/>
            <a:ext cx="1524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2B9A66"/>
                </a:solidFill>
              </a:defRPr>
            </a:pPr>
            <a:r>
              <a:rPr sz="900" b="1">
                <a:solidFill>
                  <a:srgbClr val="2B9A66"/>
                </a:solidFill>
              </a:rPr>
              <a:t>●</a:t>
            </a:r>
          </a:p>
        </p:txBody>
      </p:sp>
      <p:sp>
        <p:nvSpPr>
          <p:cNvPr id="29" name="">
            <a:extLst xmlns:a="http://schemas.openxmlformats.org/drawingml/2006/main">
              <a:ext uri="{FF2B5EF4-FFF2-40B4-BE49-F238E27FC236}">
                <a16:creationId xmlns:a16="http://schemas.microsoft.com/office/drawing/2014/main" id="{F7794876-56F0-404A-9C3D-5ECD9D5E62CD}"/>
              </a:ext>
            </a:extLst>
          </p:cNvPr>
          <p:cNvSpPr>
            <a:spLocks xmlns:a="http://schemas.openxmlformats.org/drawingml/2006/main" noGrp="1"/>
          </p:cNvSpPr>
          <p:nvPr/>
        </p:nvSpPr>
        <p:spPr>
          <a:xfrm xmlns:a="http://schemas.openxmlformats.org/drawingml/2006/main">
            <a:off x="685800" y="6934200"/>
            <a:ext cx="56959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050" b="0">
                <a:solidFill>
                  <a:srgbClr val="183B39"/>
                </a:solidFill>
              </a:defRPr>
            </a:pPr>
            <a:r>
              <a:rPr sz="1050" b="0">
                <a:solidFill>
                  <a:srgbClr val="183B39"/>
                </a:solidFill>
              </a:rPr>
              <a:t>Shampoo: Mamaearth L3M growth is +80.3% YoY, with 81.5% weighted distribution (+4.4 pp).</a:t>
            </a:r>
          </a:p>
        </p:txBody>
      </p:sp>
      <p:sp>
        <p:nvSpPr>
          <p:cNvPr id="30" name="">
            <a:extLst xmlns:a="http://schemas.openxmlformats.org/drawingml/2006/main">
              <a:ext uri="{FF2B5EF4-FFF2-40B4-BE49-F238E27FC236}">
                <a16:creationId xmlns:a16="http://schemas.microsoft.com/office/drawing/2014/main" id="{A08C518B-6CF0-465E-8525-E1E3922C2CE4}"/>
              </a:ext>
            </a:extLst>
          </p:cNvPr>
          <p:cNvSpPr>
            <a:spLocks xmlns:a="http://schemas.openxmlformats.org/drawingml/2006/main" noGrp="1"/>
          </p:cNvSpPr>
          <p:nvPr/>
        </p:nvSpPr>
        <p:spPr>
          <a:xfrm xmlns:a="http://schemas.openxmlformats.org/drawingml/2006/main">
            <a:off x="476250" y="7391400"/>
            <a:ext cx="1524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F2B84B"/>
                </a:solidFill>
              </a:defRPr>
            </a:pPr>
            <a:r>
              <a:rPr sz="900" b="1">
                <a:solidFill>
                  <a:srgbClr val="F2B84B"/>
                </a:solidFill>
              </a:rPr>
              <a:t>●</a:t>
            </a:r>
          </a:p>
        </p:txBody>
      </p:sp>
      <p:sp>
        <p:nvSpPr>
          <p:cNvPr id="31" name="">
            <a:extLst xmlns:a="http://schemas.openxmlformats.org/drawingml/2006/main">
              <a:ext uri="{FF2B5EF4-FFF2-40B4-BE49-F238E27FC236}">
                <a16:creationId xmlns:a16="http://schemas.microsoft.com/office/drawing/2014/main" id="{05E22E56-3010-4B19-B26F-68ED6D215037}"/>
              </a:ext>
            </a:extLst>
          </p:cNvPr>
          <p:cNvSpPr>
            <a:spLocks xmlns:a="http://schemas.openxmlformats.org/drawingml/2006/main" noGrp="1"/>
          </p:cNvSpPr>
          <p:nvPr/>
        </p:nvSpPr>
        <p:spPr>
          <a:xfrm xmlns:a="http://schemas.openxmlformats.org/drawingml/2006/main">
            <a:off x="685800" y="7391400"/>
            <a:ext cx="56959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050" b="0">
                <a:solidFill>
                  <a:srgbClr val="183B39"/>
                </a:solidFill>
              </a:defRPr>
            </a:pPr>
            <a:r>
              <a:rPr sz="1050" b="0">
                <a:solidFill>
                  <a:srgbClr val="183B39"/>
                </a:solidFill>
              </a:rPr>
              <a:t>The Derma Co. Face Wash reaches 27.3% weighted distribution; scale selectively with store productivity proof.</a:t>
            </a:r>
          </a:p>
        </p:txBody>
      </p:sp>
      <p:sp>
        <p:nvSpPr>
          <p:cNvPr id="32" name="">
            <a:extLst xmlns:a="http://schemas.openxmlformats.org/drawingml/2006/main">
              <a:ext uri="{FF2B5EF4-FFF2-40B4-BE49-F238E27FC236}">
                <a16:creationId xmlns:a16="http://schemas.microsoft.com/office/drawing/2014/main" id="{FF07F208-8A7D-48A7-BFC8-C390FCE2CB3F}"/>
              </a:ext>
            </a:extLst>
          </p:cNvPr>
          <p:cNvSpPr>
            <a:spLocks xmlns:a="http://schemas.openxmlformats.org/drawingml/2006/main" noGrp="1"/>
          </p:cNvSpPr>
          <p:nvPr/>
        </p:nvSpPr>
        <p:spPr>
          <a:xfrm xmlns:a="http://schemas.openxmlformats.org/drawingml/2006/main">
            <a:off x="476250" y="7848600"/>
            <a:ext cx="1524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F2B84B"/>
                </a:solidFill>
              </a:defRPr>
            </a:pPr>
            <a:r>
              <a:rPr sz="900" b="1">
                <a:solidFill>
                  <a:srgbClr val="F2B84B"/>
                </a:solidFill>
              </a:rPr>
              <a:t>●</a:t>
            </a:r>
          </a:p>
        </p:txBody>
      </p:sp>
      <p:sp>
        <p:nvSpPr>
          <p:cNvPr id="33" name="">
            <a:extLst xmlns:a="http://schemas.openxmlformats.org/drawingml/2006/main">
              <a:ext uri="{FF2B5EF4-FFF2-40B4-BE49-F238E27FC236}">
                <a16:creationId xmlns:a16="http://schemas.microsoft.com/office/drawing/2014/main" id="{A783EAD7-E80A-43B2-8983-129557B720F6}"/>
              </a:ext>
            </a:extLst>
          </p:cNvPr>
          <p:cNvSpPr>
            <a:spLocks xmlns:a="http://schemas.openxmlformats.org/drawingml/2006/main" noGrp="1"/>
          </p:cNvSpPr>
          <p:nvPr/>
        </p:nvSpPr>
        <p:spPr>
          <a:xfrm xmlns:a="http://schemas.openxmlformats.org/drawingml/2006/main">
            <a:off x="685800" y="7848600"/>
            <a:ext cx="56959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050" b="0">
                <a:solidFill>
                  <a:srgbClr val="183B39"/>
                </a:solidFill>
              </a:defRPr>
            </a:pPr>
            <a:r>
              <a:rPr sz="1050" b="0">
                <a:solidFill>
                  <a:srgbClr val="183B39"/>
                </a:solidFill>
              </a:rPr>
              <a:t>Face Wash missing packs represent 5% of category value; prioritize 240 ml and 60 ml selectively.</a:t>
            </a:r>
          </a:p>
        </p:txBody>
      </p:sp>
      <p:sp>
        <p:nvSpPr>
          <p:cNvPr id="34" name="">
            <a:extLst xmlns:a="http://schemas.openxmlformats.org/drawingml/2006/main">
              <a:ext uri="{FF2B5EF4-FFF2-40B4-BE49-F238E27FC236}">
                <a16:creationId xmlns:a16="http://schemas.microsoft.com/office/drawing/2014/main" id="{28DF39A7-1A00-4A4E-ACFC-C7E987B97460}"/>
              </a:ext>
            </a:extLst>
          </p:cNvPr>
          <p:cNvSpPr>
            <a:spLocks xmlns:a="http://schemas.openxmlformats.org/drawingml/2006/main" noGrp="1"/>
          </p:cNvSpPr>
          <p:nvPr/>
        </p:nvSpPr>
        <p:spPr>
          <a:xfrm xmlns:a="http://schemas.openxmlformats.org/drawingml/2006/main">
            <a:off x="476250" y="8305800"/>
            <a:ext cx="1524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D6544D"/>
                </a:solidFill>
              </a:defRPr>
            </a:pPr>
            <a:r>
              <a:rPr sz="900" b="1">
                <a:solidFill>
                  <a:srgbClr val="D6544D"/>
                </a:solidFill>
              </a:rPr>
              <a:t>●</a:t>
            </a:r>
          </a:p>
        </p:txBody>
      </p:sp>
      <p:sp>
        <p:nvSpPr>
          <p:cNvPr id="35" name="">
            <a:extLst xmlns:a="http://schemas.openxmlformats.org/drawingml/2006/main">
              <a:ext uri="{FF2B5EF4-FFF2-40B4-BE49-F238E27FC236}">
                <a16:creationId xmlns:a16="http://schemas.microsoft.com/office/drawing/2014/main" id="{4ABB59B6-617C-476E-95BD-8353C0C44D1D}"/>
              </a:ext>
            </a:extLst>
          </p:cNvPr>
          <p:cNvSpPr>
            <a:spLocks xmlns:a="http://schemas.openxmlformats.org/drawingml/2006/main" noGrp="1"/>
          </p:cNvSpPr>
          <p:nvPr/>
        </p:nvSpPr>
        <p:spPr>
          <a:xfrm xmlns:a="http://schemas.openxmlformats.org/drawingml/2006/main">
            <a:off x="685800" y="8305800"/>
            <a:ext cx="56959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050" b="0">
                <a:solidFill>
                  <a:srgbClr val="183B39"/>
                </a:solidFill>
              </a:defRPr>
            </a:pPr>
            <a:r>
              <a:rPr sz="1050" b="0">
                <a:solidFill>
                  <a:srgbClr val="183B39"/>
                </a:solidFill>
              </a:rPr>
              <a:t>Shampoo misses 12 of 16 formats representing 66% of category value; pilot the largest formats.</a:t>
            </a:r>
          </a:p>
        </p:txBody>
      </p:sp>
      <p:sp>
        <p:nvSpPr>
          <p:cNvPr id="36" name="">
            <a:extLst xmlns:a="http://schemas.openxmlformats.org/drawingml/2006/main">
              <a:ext uri="{FF2B5EF4-FFF2-40B4-BE49-F238E27FC236}">
                <a16:creationId xmlns:a16="http://schemas.microsoft.com/office/drawing/2014/main" id="{19665CD3-5396-4A44-9717-483A4F2B0B3D}"/>
              </a:ext>
            </a:extLst>
          </p:cNvPr>
          <p:cNvSpPr>
            <a:spLocks xmlns:a="http://schemas.openxmlformats.org/drawingml/2006/main" noGrp="1"/>
          </p:cNvSpPr>
          <p:nvPr/>
        </p:nvSpPr>
        <p:spPr>
          <a:xfrm xmlns:a="http://schemas.openxmlformats.org/drawingml/2006/main">
            <a:off x="361950" y="8953500"/>
            <a:ext cx="2952750" cy="1714500"/>
          </a:xfrm>
          <a:prstGeom xmlns:a="http://schemas.openxmlformats.org/drawingml/2006/main" prst="roundRect">
            <a:avLst>
              <a:gd name="adj" fmla="val 4444"/>
            </a:avLst>
          </a:prstGeom>
          <a:solidFill xmlns:a="http://schemas.openxmlformats.org/drawingml/2006/main">
            <a:srgbClr val="FFFFFF"/>
          </a:solidFill>
          <a:ln xmlns:a="http://schemas.openxmlformats.org/drawingml/2006/main" w="9525">
            <a:solidFill>
              <a:srgbClr val="C8DCD7"/>
            </a:solidFill>
            <a:prstDash val="solid"/>
          </a:ln>
        </p:spPr>
      </p:sp>
      <p:sp>
        <p:nvSpPr>
          <p:cNvPr id="37" name="">
            <a:extLst xmlns:a="http://schemas.openxmlformats.org/drawingml/2006/main">
              <a:ext uri="{FF2B5EF4-FFF2-40B4-BE49-F238E27FC236}">
                <a16:creationId xmlns:a16="http://schemas.microsoft.com/office/drawing/2014/main" id="{9B9BB521-F896-420E-BFA5-9818ABD5A648}"/>
              </a:ext>
            </a:extLst>
          </p:cNvPr>
          <p:cNvSpPr>
            <a:spLocks xmlns:a="http://schemas.openxmlformats.org/drawingml/2006/main" noGrp="1"/>
          </p:cNvSpPr>
          <p:nvPr/>
        </p:nvSpPr>
        <p:spPr>
          <a:xfrm xmlns:a="http://schemas.openxmlformats.org/drawingml/2006/main">
            <a:off x="523875" y="9096375"/>
            <a:ext cx="2476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75" b="1">
                <a:solidFill>
                  <a:srgbClr val="28A596"/>
                </a:solidFill>
              </a:defRPr>
            </a:pPr>
            <a:r>
              <a:rPr sz="975" b="1">
                <a:solidFill>
                  <a:srgbClr val="28A596"/>
                </a:solidFill>
              </a:rPr>
              <a:t>FACE WASH PACKS</a:t>
            </a:r>
          </a:p>
        </p:txBody>
      </p:sp>
      <p:sp>
        <p:nvSpPr>
          <p:cNvPr id="38" name="">
            <a:extLst xmlns:a="http://schemas.openxmlformats.org/drawingml/2006/main">
              <a:ext uri="{FF2B5EF4-FFF2-40B4-BE49-F238E27FC236}">
                <a16:creationId xmlns:a16="http://schemas.microsoft.com/office/drawing/2014/main" id="{E7B5A0B3-9B84-4806-96FD-C6059EC52C8D}"/>
              </a:ext>
            </a:extLst>
          </p:cNvPr>
          <p:cNvSpPr>
            <a:spLocks xmlns:a="http://schemas.openxmlformats.org/drawingml/2006/main" noGrp="1"/>
          </p:cNvSpPr>
          <p:nvPr/>
        </p:nvSpPr>
        <p:spPr>
          <a:xfrm xmlns:a="http://schemas.openxmlformats.org/drawingml/2006/main">
            <a:off x="523875" y="9410700"/>
            <a:ext cx="24765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125" b="1">
                <a:solidFill>
                  <a:srgbClr val="183B39"/>
                </a:solidFill>
              </a:defRPr>
            </a:pPr>
            <a:r>
              <a:rPr sz="1125" b="1">
                <a:solidFill>
                  <a:srgbClr val="183B39"/>
                </a:solidFill>
              </a:rPr>
              <a:t>7/16 established | 2 newly entered | 7 missing</a:t>
            </a:r>
          </a:p>
        </p:txBody>
      </p:sp>
      <p:sp>
        <p:nvSpPr>
          <p:cNvPr id="39" name="">
            <a:extLst xmlns:a="http://schemas.openxmlformats.org/drawingml/2006/main">
              <a:ext uri="{FF2B5EF4-FFF2-40B4-BE49-F238E27FC236}">
                <a16:creationId xmlns:a16="http://schemas.microsoft.com/office/drawing/2014/main" id="{B9772C92-AA98-4391-8DBA-118FE1C20779}"/>
              </a:ext>
            </a:extLst>
          </p:cNvPr>
          <p:cNvSpPr>
            <a:spLocks xmlns:a="http://schemas.openxmlformats.org/drawingml/2006/main" noGrp="1"/>
          </p:cNvSpPr>
          <p:nvPr/>
        </p:nvSpPr>
        <p:spPr>
          <a:xfrm xmlns:a="http://schemas.openxmlformats.org/drawingml/2006/main">
            <a:off x="523875" y="9906000"/>
            <a:ext cx="24765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050" b="0">
                <a:solidFill>
                  <a:srgbClr val="183B39"/>
                </a:solidFill>
              </a:defRPr>
            </a:pPr>
            <a:r>
              <a:rPr sz="1050" b="0">
                <a:solidFill>
                  <a:srgbClr val="183B39"/>
                </a:solidFill>
              </a:rPr>
              <a:t>Decision: defend core availability; expand only high-value white spaces.</a:t>
            </a:r>
          </a:p>
        </p:txBody>
      </p:sp>
      <p:sp>
        <p:nvSpPr>
          <p:cNvPr id="40" name="">
            <a:extLst xmlns:a="http://schemas.openxmlformats.org/drawingml/2006/main">
              <a:ext uri="{FF2B5EF4-FFF2-40B4-BE49-F238E27FC236}">
                <a16:creationId xmlns:a16="http://schemas.microsoft.com/office/drawing/2014/main" id="{D400FA67-4739-4BEE-92AD-7906847264AF}"/>
              </a:ext>
            </a:extLst>
          </p:cNvPr>
          <p:cNvSpPr>
            <a:spLocks xmlns:a="http://schemas.openxmlformats.org/drawingml/2006/main" noGrp="1"/>
          </p:cNvSpPr>
          <p:nvPr/>
        </p:nvSpPr>
        <p:spPr>
          <a:xfrm xmlns:a="http://schemas.openxmlformats.org/drawingml/2006/main">
            <a:off x="3543300" y="8953500"/>
            <a:ext cx="2952750" cy="1714500"/>
          </a:xfrm>
          <a:prstGeom xmlns:a="http://schemas.openxmlformats.org/drawingml/2006/main" prst="roundRect">
            <a:avLst>
              <a:gd name="adj" fmla="val 4444"/>
            </a:avLst>
          </a:prstGeom>
          <a:solidFill xmlns:a="http://schemas.openxmlformats.org/drawingml/2006/main">
            <a:srgbClr val="FFFFFF"/>
          </a:solidFill>
          <a:ln xmlns:a="http://schemas.openxmlformats.org/drawingml/2006/main" w="9525">
            <a:solidFill>
              <a:srgbClr val="C8DCD7"/>
            </a:solidFill>
            <a:prstDash val="solid"/>
          </a:ln>
        </p:spPr>
      </p:sp>
      <p:sp>
        <p:nvSpPr>
          <p:cNvPr id="41" name="">
            <a:extLst xmlns:a="http://schemas.openxmlformats.org/drawingml/2006/main">
              <a:ext uri="{FF2B5EF4-FFF2-40B4-BE49-F238E27FC236}">
                <a16:creationId xmlns:a16="http://schemas.microsoft.com/office/drawing/2014/main" id="{2EB97F71-D194-40BB-8CA7-1F75ED6280A9}"/>
              </a:ext>
            </a:extLst>
          </p:cNvPr>
          <p:cNvSpPr>
            <a:spLocks xmlns:a="http://schemas.openxmlformats.org/drawingml/2006/main" noGrp="1"/>
          </p:cNvSpPr>
          <p:nvPr/>
        </p:nvSpPr>
        <p:spPr>
          <a:xfrm xmlns:a="http://schemas.openxmlformats.org/drawingml/2006/main">
            <a:off x="3705225" y="9096375"/>
            <a:ext cx="2476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75" b="1">
                <a:solidFill>
                  <a:srgbClr val="D6544D"/>
                </a:solidFill>
              </a:defRPr>
            </a:pPr>
            <a:r>
              <a:rPr sz="975" b="1">
                <a:solidFill>
                  <a:srgbClr val="D6544D"/>
                </a:solidFill>
              </a:rPr>
              <a:t>SHAMPOO PACKS</a:t>
            </a:r>
          </a:p>
        </p:txBody>
      </p:sp>
      <p:sp>
        <p:nvSpPr>
          <p:cNvPr id="42" name="">
            <a:extLst xmlns:a="http://schemas.openxmlformats.org/drawingml/2006/main">
              <a:ext uri="{FF2B5EF4-FFF2-40B4-BE49-F238E27FC236}">
                <a16:creationId xmlns:a16="http://schemas.microsoft.com/office/drawing/2014/main" id="{5B9DF038-05D9-4790-80BA-B92DE90FD9D2}"/>
              </a:ext>
            </a:extLst>
          </p:cNvPr>
          <p:cNvSpPr>
            <a:spLocks xmlns:a="http://schemas.openxmlformats.org/drawingml/2006/main" noGrp="1"/>
          </p:cNvSpPr>
          <p:nvPr/>
        </p:nvSpPr>
        <p:spPr>
          <a:xfrm xmlns:a="http://schemas.openxmlformats.org/drawingml/2006/main">
            <a:off x="3705225" y="9410700"/>
            <a:ext cx="24765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125" b="1">
                <a:solidFill>
                  <a:srgbClr val="183B39"/>
                </a:solidFill>
              </a:defRPr>
            </a:pPr>
            <a:r>
              <a:rPr sz="1125" b="1">
                <a:solidFill>
                  <a:srgbClr val="183B39"/>
                </a:solidFill>
              </a:rPr>
              <a:t>3/16 established | 1 newly entered | 12 missing</a:t>
            </a:r>
          </a:p>
        </p:txBody>
      </p:sp>
      <p:sp>
        <p:nvSpPr>
          <p:cNvPr id="43" name="">
            <a:extLst xmlns:a="http://schemas.openxmlformats.org/drawingml/2006/main">
              <a:ext uri="{FF2B5EF4-FFF2-40B4-BE49-F238E27FC236}">
                <a16:creationId xmlns:a16="http://schemas.microsoft.com/office/drawing/2014/main" id="{0AC5F6DD-80F6-4597-A96D-268F0E90E6C5}"/>
              </a:ext>
            </a:extLst>
          </p:cNvPr>
          <p:cNvSpPr>
            <a:spLocks xmlns:a="http://schemas.openxmlformats.org/drawingml/2006/main" noGrp="1"/>
          </p:cNvSpPr>
          <p:nvPr/>
        </p:nvSpPr>
        <p:spPr>
          <a:xfrm xmlns:a="http://schemas.openxmlformats.org/drawingml/2006/main">
            <a:off x="3705225" y="9906000"/>
            <a:ext cx="24765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050" b="0">
                <a:solidFill>
                  <a:srgbClr val="183B39"/>
                </a:solidFill>
              </a:defRPr>
            </a:pPr>
            <a:r>
              <a:rPr sz="1050" b="0">
                <a:solidFill>
                  <a:srgbClr val="183B39"/>
                </a:solidFill>
              </a:rPr>
              <a:t>Decision: use +80.3% L3M growth to win controlled pack pilots.</a:t>
            </a:r>
          </a:p>
        </p:txBody>
      </p:sp>
      <p:sp>
        <p:nvSpPr>
          <p:cNvPr id="44" name="">
            <a:extLst xmlns:a="http://schemas.openxmlformats.org/drawingml/2006/main">
              <a:ext uri="{FF2B5EF4-FFF2-40B4-BE49-F238E27FC236}">
                <a16:creationId xmlns:a16="http://schemas.microsoft.com/office/drawing/2014/main" id="{D075E500-C304-4081-8302-C126B3753DC3}"/>
              </a:ext>
            </a:extLst>
          </p:cNvPr>
          <p:cNvSpPr>
            <a:spLocks xmlns:a="http://schemas.openxmlformats.org/drawingml/2006/main" noGrp="1"/>
          </p:cNvSpPr>
          <p:nvPr/>
        </p:nvSpPr>
        <p:spPr>
          <a:xfrm xmlns:a="http://schemas.openxmlformats.org/drawingml/2006/main">
            <a:off x="361950" y="11544300"/>
            <a:ext cx="6134100" cy="457200"/>
          </a:xfrm>
          <a:prstGeom xmlns:a="http://schemas.openxmlformats.org/drawingml/2006/main" prst="roundRect">
            <a:avLst>
              <a:gd name="adj" fmla="val 16667"/>
            </a:avLst>
          </a:prstGeom>
          <a:solidFill xmlns:a="http://schemas.openxmlformats.org/drawingml/2006/main">
            <a:srgbClr val="DFF2ED"/>
          </a:solidFill>
          <a:ln xmlns:a="http://schemas.openxmlformats.org/drawingml/2006/main" w="9525">
            <a:solidFill>
              <a:srgbClr val="28A596"/>
            </a:solidFill>
            <a:prstDash val="solid"/>
          </a:ln>
        </p:spPr>
      </p:sp>
      <p:sp>
        <p:nvSpPr>
          <p:cNvPr id="45" name="">
            <a:extLst xmlns:a="http://schemas.openxmlformats.org/drawingml/2006/main">
              <a:ext uri="{FF2B5EF4-FFF2-40B4-BE49-F238E27FC236}">
                <a16:creationId xmlns:a16="http://schemas.microsoft.com/office/drawing/2014/main" id="{DB0FDFE2-AF91-4CEA-B45D-FE8F1F3666F4}"/>
              </a:ext>
            </a:extLst>
          </p:cNvPr>
          <p:cNvSpPr>
            <a:spLocks xmlns:a="http://schemas.openxmlformats.org/drawingml/2006/main" noGrp="1"/>
          </p:cNvSpPr>
          <p:nvPr/>
        </p:nvSpPr>
        <p:spPr>
          <a:xfrm xmlns:a="http://schemas.openxmlformats.org/drawingml/2006/main">
            <a:off x="438150" y="11582400"/>
            <a:ext cx="142875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38" b="1">
                <a:solidFill>
                  <a:srgbClr val="116F68"/>
                </a:solidFill>
              </a:defRPr>
            </a:pPr>
            <a:r>
              <a:rPr sz="638" b="1">
                <a:solidFill>
                  <a:srgbClr val="116F68"/>
                </a:solidFill>
              </a:rPr>
              <a:t>EVIDENCE</a:t>
            </a:r>
          </a:p>
        </p:txBody>
      </p:sp>
      <p:sp>
        <p:nvSpPr>
          <p:cNvPr id="46" name="">
            <a:extLst xmlns:a="http://schemas.openxmlformats.org/drawingml/2006/main">
              <a:ext uri="{FF2B5EF4-FFF2-40B4-BE49-F238E27FC236}">
                <a16:creationId xmlns:a16="http://schemas.microsoft.com/office/drawing/2014/main" id="{834025A2-352B-40ED-9971-CD1A764D9CE7}"/>
              </a:ext>
            </a:extLst>
          </p:cNvPr>
          <p:cNvSpPr>
            <a:spLocks xmlns:a="http://schemas.openxmlformats.org/drawingml/2006/main" noGrp="1"/>
          </p:cNvSpPr>
          <p:nvPr/>
        </p:nvSpPr>
        <p:spPr>
          <a:xfrm xmlns:a="http://schemas.openxmlformats.org/drawingml/2006/main">
            <a:off x="438150" y="11734800"/>
            <a:ext cx="1428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00" b="0">
                <a:solidFill>
                  <a:srgbClr val="183B39"/>
                </a:solidFill>
              </a:defRPr>
            </a:pPr>
            <a:r>
              <a:rPr sz="600" b="0">
                <a:solidFill>
                  <a:srgbClr val="183B39"/>
                </a:solidFill>
              </a:rPr>
              <a:t>ME Face Wash +3.1 pp YoY to 10.5% share (#4 nationally); Shampoo +1.2 pp to 3.7%; June Nielsen RMS confirms demand pull</a:t>
            </a:r>
          </a:p>
        </p:txBody>
      </p:sp>
      <p:sp>
        <p:nvSpPr>
          <p:cNvPr id="47" name="">
            <a:extLst xmlns:a="http://schemas.openxmlformats.org/drawingml/2006/main">
              <a:ext uri="{FF2B5EF4-FFF2-40B4-BE49-F238E27FC236}">
                <a16:creationId xmlns:a16="http://schemas.microsoft.com/office/drawing/2014/main" id="{B46F5A52-0D0E-4314-8960-043D55B60428}"/>
              </a:ext>
            </a:extLst>
          </p:cNvPr>
          <p:cNvSpPr>
            <a:spLocks xmlns:a="http://schemas.openxmlformats.org/drawingml/2006/main" noGrp="1"/>
          </p:cNvSpPr>
          <p:nvPr/>
        </p:nvSpPr>
        <p:spPr>
          <a:xfrm xmlns:a="http://schemas.openxmlformats.org/drawingml/2006/main">
            <a:off x="1924050" y="11610975"/>
            <a:ext cx="0" cy="304800"/>
          </a:xfrm>
          <a:prstGeom xmlns:a="http://schemas.openxmlformats.org/drawingml/2006/main" prst="line">
            <a:avLst/>
          </a:prstGeom>
          <a:ln xmlns:a="http://schemas.openxmlformats.org/drawingml/2006/main" w="9525">
            <a:solidFill>
              <a:srgbClr val="C8DCD7"/>
            </a:solidFill>
            <a:prstDash val="solid"/>
          </a:ln>
        </p:spPr>
      </p:sp>
      <p:sp>
        <p:nvSpPr>
          <p:cNvPr id="48" name="">
            <a:extLst xmlns:a="http://schemas.openxmlformats.org/drawingml/2006/main">
              <a:ext uri="{FF2B5EF4-FFF2-40B4-BE49-F238E27FC236}">
                <a16:creationId xmlns:a16="http://schemas.microsoft.com/office/drawing/2014/main" id="{7D77EB1B-AECA-48F1-911F-6C6A77E60E9D}"/>
              </a:ext>
            </a:extLst>
          </p:cNvPr>
          <p:cNvSpPr>
            <a:spLocks xmlns:a="http://schemas.openxmlformats.org/drawingml/2006/main" noGrp="1"/>
          </p:cNvSpPr>
          <p:nvPr/>
        </p:nvSpPr>
        <p:spPr>
          <a:xfrm xmlns:a="http://schemas.openxmlformats.org/drawingml/2006/main">
            <a:off x="1952625" y="11582400"/>
            <a:ext cx="142875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38" b="1">
                <a:solidFill>
                  <a:srgbClr val="116F68"/>
                </a:solidFill>
              </a:defRPr>
            </a:pPr>
            <a:r>
              <a:rPr sz="638" b="1">
                <a:solidFill>
                  <a:srgbClr val="116F68"/>
                </a:solidFill>
              </a:rPr>
              <a:t>IMPLICATION</a:t>
            </a:r>
          </a:p>
        </p:txBody>
      </p:sp>
      <p:sp>
        <p:nvSpPr>
          <p:cNvPr id="49" name="">
            <a:extLst xmlns:a="http://schemas.openxmlformats.org/drawingml/2006/main">
              <a:ext uri="{FF2B5EF4-FFF2-40B4-BE49-F238E27FC236}">
                <a16:creationId xmlns:a16="http://schemas.microsoft.com/office/drawing/2014/main" id="{94553349-9552-4F44-806E-B302CB5B9B86}"/>
              </a:ext>
            </a:extLst>
          </p:cNvPr>
          <p:cNvSpPr>
            <a:spLocks xmlns:a="http://schemas.openxmlformats.org/drawingml/2006/main" noGrp="1"/>
          </p:cNvSpPr>
          <p:nvPr/>
        </p:nvSpPr>
        <p:spPr>
          <a:xfrm xmlns:a="http://schemas.openxmlformats.org/drawingml/2006/main">
            <a:off x="1952625" y="11734800"/>
            <a:ext cx="1428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00" b="0">
                <a:solidFill>
                  <a:srgbClr val="183B39"/>
                </a:solidFill>
              </a:defRPr>
            </a:pPr>
            <a:r>
              <a:rPr sz="600" b="0">
                <a:solidFill>
                  <a:srgbClr val="183B39"/>
                </a:solidFill>
              </a:rPr>
              <a:t>Shampoo at +80.3% L3M is the fastest-growing segment — delay in expanding controlled pack pilots cedes early-mover advantage to competitors</a:t>
            </a:r>
          </a:p>
        </p:txBody>
      </p:sp>
      <p:sp>
        <p:nvSpPr>
          <p:cNvPr id="50" name="">
            <a:extLst xmlns:a="http://schemas.openxmlformats.org/drawingml/2006/main">
              <a:ext uri="{FF2B5EF4-FFF2-40B4-BE49-F238E27FC236}">
                <a16:creationId xmlns:a16="http://schemas.microsoft.com/office/drawing/2014/main" id="{2476A872-7DDC-4321-BD47-D5E501FE1462}"/>
              </a:ext>
            </a:extLst>
          </p:cNvPr>
          <p:cNvSpPr>
            <a:spLocks xmlns:a="http://schemas.openxmlformats.org/drawingml/2006/main" noGrp="1"/>
          </p:cNvSpPr>
          <p:nvPr/>
        </p:nvSpPr>
        <p:spPr>
          <a:xfrm xmlns:a="http://schemas.openxmlformats.org/drawingml/2006/main">
            <a:off x="3438525" y="11610975"/>
            <a:ext cx="0" cy="304800"/>
          </a:xfrm>
          <a:prstGeom xmlns:a="http://schemas.openxmlformats.org/drawingml/2006/main" prst="line">
            <a:avLst/>
          </a:prstGeom>
          <a:ln xmlns:a="http://schemas.openxmlformats.org/drawingml/2006/main" w="9525">
            <a:solidFill>
              <a:srgbClr val="C8DCD7"/>
            </a:solidFill>
            <a:prstDash val="solid"/>
          </a:ln>
        </p:spPr>
      </p:sp>
      <p:sp>
        <p:nvSpPr>
          <p:cNvPr id="51" name="">
            <a:extLst xmlns:a="http://schemas.openxmlformats.org/drawingml/2006/main">
              <a:ext uri="{FF2B5EF4-FFF2-40B4-BE49-F238E27FC236}">
                <a16:creationId xmlns:a16="http://schemas.microsoft.com/office/drawing/2014/main" id="{071B755B-1578-426E-9D4C-73B42ACCE215}"/>
              </a:ext>
            </a:extLst>
          </p:cNvPr>
          <p:cNvSpPr>
            <a:spLocks xmlns:a="http://schemas.openxmlformats.org/drawingml/2006/main" noGrp="1"/>
          </p:cNvSpPr>
          <p:nvPr/>
        </p:nvSpPr>
        <p:spPr>
          <a:xfrm xmlns:a="http://schemas.openxmlformats.org/drawingml/2006/main">
            <a:off x="3467100" y="11582400"/>
            <a:ext cx="142875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38" b="1">
                <a:solidFill>
                  <a:srgbClr val="116F68"/>
                </a:solidFill>
              </a:defRPr>
            </a:pPr>
            <a:r>
              <a:rPr sz="638" b="1">
                <a:solidFill>
                  <a:srgbClr val="116F68"/>
                </a:solidFill>
              </a:rPr>
              <a:t>ACTION</a:t>
            </a:r>
          </a:p>
        </p:txBody>
      </p:sp>
      <p:sp>
        <p:nvSpPr>
          <p:cNvPr id="52" name="">
            <a:extLst xmlns:a="http://schemas.openxmlformats.org/drawingml/2006/main">
              <a:ext uri="{FF2B5EF4-FFF2-40B4-BE49-F238E27FC236}">
                <a16:creationId xmlns:a16="http://schemas.microsoft.com/office/drawing/2014/main" id="{67077F0D-AF55-4CA1-B317-BD691CD971EB}"/>
              </a:ext>
            </a:extLst>
          </p:cNvPr>
          <p:cNvSpPr>
            <a:spLocks xmlns:a="http://schemas.openxmlformats.org/drawingml/2006/main" noGrp="1"/>
          </p:cNvSpPr>
          <p:nvPr/>
        </p:nvSpPr>
        <p:spPr>
          <a:xfrm xmlns:a="http://schemas.openxmlformats.org/drawingml/2006/main">
            <a:off x="3467100" y="11734800"/>
            <a:ext cx="1428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00" b="0">
                <a:solidFill>
                  <a:srgbClr val="183B39"/>
                </a:solidFill>
              </a:defRPr>
            </a:pPr>
            <a:r>
              <a:rPr sz="600" b="0">
                <a:solidFill>
                  <a:srgbClr val="183B39"/>
                </a:solidFill>
              </a:rPr>
              <a:t>Run controlled Shampoo pack pilots (top 3 formats) in DMart and Apollo; protect Face Wash hero EAN availability above 95% in top-100 stores</a:t>
            </a:r>
          </a:p>
        </p:txBody>
      </p:sp>
      <p:sp>
        <p:nvSpPr>
          <p:cNvPr id="53" name="">
            <a:extLst xmlns:a="http://schemas.openxmlformats.org/drawingml/2006/main">
              <a:ext uri="{FF2B5EF4-FFF2-40B4-BE49-F238E27FC236}">
                <a16:creationId xmlns:a16="http://schemas.microsoft.com/office/drawing/2014/main" id="{5A22C543-7B0D-4586-908A-EB893E178F75}"/>
              </a:ext>
            </a:extLst>
          </p:cNvPr>
          <p:cNvSpPr>
            <a:spLocks xmlns:a="http://schemas.openxmlformats.org/drawingml/2006/main" noGrp="1"/>
          </p:cNvSpPr>
          <p:nvPr/>
        </p:nvSpPr>
        <p:spPr>
          <a:xfrm xmlns:a="http://schemas.openxmlformats.org/drawingml/2006/main">
            <a:off x="4953000" y="11610975"/>
            <a:ext cx="0" cy="304800"/>
          </a:xfrm>
          <a:prstGeom xmlns:a="http://schemas.openxmlformats.org/drawingml/2006/main" prst="line">
            <a:avLst/>
          </a:prstGeom>
          <a:ln xmlns:a="http://schemas.openxmlformats.org/drawingml/2006/main" w="9525">
            <a:solidFill>
              <a:srgbClr val="C8DCD7"/>
            </a:solidFill>
            <a:prstDash val="solid"/>
          </a:ln>
        </p:spPr>
      </p:sp>
      <p:sp>
        <p:nvSpPr>
          <p:cNvPr id="54" name="">
            <a:extLst xmlns:a="http://schemas.openxmlformats.org/drawingml/2006/main">
              <a:ext uri="{FF2B5EF4-FFF2-40B4-BE49-F238E27FC236}">
                <a16:creationId xmlns:a16="http://schemas.microsoft.com/office/drawing/2014/main" id="{4FB57E31-9733-437C-A6B3-CFCE5B6168B6}"/>
              </a:ext>
            </a:extLst>
          </p:cNvPr>
          <p:cNvSpPr>
            <a:spLocks xmlns:a="http://schemas.openxmlformats.org/drawingml/2006/main" noGrp="1"/>
          </p:cNvSpPr>
          <p:nvPr/>
        </p:nvSpPr>
        <p:spPr>
          <a:xfrm xmlns:a="http://schemas.openxmlformats.org/drawingml/2006/main">
            <a:off x="4981575" y="11582400"/>
            <a:ext cx="142875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38" b="1">
                <a:solidFill>
                  <a:srgbClr val="116F68"/>
                </a:solidFill>
              </a:defRPr>
            </a:pPr>
            <a:r>
              <a:rPr sz="638" b="1">
                <a:solidFill>
                  <a:srgbClr val="116F68"/>
                </a:solidFill>
              </a:rPr>
              <a:t>OWNER</a:t>
            </a:r>
          </a:p>
        </p:txBody>
      </p:sp>
      <p:sp>
        <p:nvSpPr>
          <p:cNvPr id="55" name="">
            <a:extLst xmlns:a="http://schemas.openxmlformats.org/drawingml/2006/main">
              <a:ext uri="{FF2B5EF4-FFF2-40B4-BE49-F238E27FC236}">
                <a16:creationId xmlns:a16="http://schemas.microsoft.com/office/drawing/2014/main" id="{63E71244-95E6-48CE-9335-C4F289664CA1}"/>
              </a:ext>
            </a:extLst>
          </p:cNvPr>
          <p:cNvSpPr>
            <a:spLocks xmlns:a="http://schemas.openxmlformats.org/drawingml/2006/main" noGrp="1"/>
          </p:cNvSpPr>
          <p:nvPr/>
        </p:nvSpPr>
        <p:spPr>
          <a:xfrm xmlns:a="http://schemas.openxmlformats.org/drawingml/2006/main">
            <a:off x="4981575" y="11734800"/>
            <a:ext cx="1428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00" b="0">
                <a:solidFill>
                  <a:srgbClr val="183B39"/>
                </a:solidFill>
              </a:defRPr>
            </a:pPr>
            <a:r>
              <a:rPr sz="600" b="0">
                <a:solidFill>
                  <a:srgbClr val="183B39"/>
                </a:solidFill>
              </a:rPr>
              <a:t>Category + NKAM DMart / Apollo | Pilots by 15-Sep</a:t>
            </a:r>
          </a:p>
        </p:txBody>
      </p:sp>
    </p:spTree>
    <p:extLst>
      <p:ext uri="{BB962C8B-B14F-4D97-AF65-F5344CB8AC3E}">
        <p14:creationId xmlns:p14="http://schemas.microsoft.com/office/powerpoint/2010/main" val="1797428502"/>
      </p:ext>
    </p:extLst>
  </p:cSld>
</p:sld>
</file>

<file path=ppt/slides/slide4.xml><?xml version="1.0" encoding="utf-8"?>
<p:sld xmlns:p="http://schemas.openxmlformats.org/presentationml/2006/main">
  <p:cSld>
    <p:bg>
      <p:bgPr>
        <a:solidFill xmlns:a="http://schemas.openxmlformats.org/drawingml/2006/main">
          <a:srgbClr val="F7FBFA"/>
        </a:solidFill>
      </p:bgPr>
    </p:bg>
    <p:spTree>
      <p:nvGrpSpPr>
        <p:cNvPr id="1" name=""/>
        <p:cNvGrpSpPr/>
        <p:nvPr/>
      </p:nvGrpSpPr>
      <p:grpSpPr>
        <a:xfrm xmlns:a="http://schemas.openxmlformats.org/drawingml/2006/main"/>
      </p:grpSpPr>
      <p:sp>
        <p:nvSpPr>
          <p:cNvPr id="97" name="">
            <a:extLst xmlns:a="http://schemas.openxmlformats.org/drawingml/2006/main">
              <a:ext uri="{FF2B5EF4-FFF2-40B4-BE49-F238E27FC236}">
                <a16:creationId xmlns:a16="http://schemas.microsoft.com/office/drawing/2014/main" id="{1A653C6C-6ECE-4686-BF64-742EA2237BF7}"/>
              </a:ext>
            </a:extLst>
          </p:cNvPr>
          <p:cNvSpPr>
            <a:spLocks xmlns:a="http://schemas.openxmlformats.org/drawingml/2006/main" noGrp="1"/>
          </p:cNvSpPr>
          <p:nvPr/>
        </p:nvSpPr>
        <p:spPr>
          <a:xfrm xmlns:a="http://schemas.openxmlformats.org/drawingml/2006/main">
            <a:off x="0" y="0"/>
            <a:ext cx="6858000" cy="1000125"/>
          </a:xfrm>
          <a:prstGeom xmlns:a="http://schemas.openxmlformats.org/drawingml/2006/main" prst="rect">
            <a:avLst/>
          </a:prstGeom>
          <a:solidFill xmlns:a="http://schemas.openxmlformats.org/drawingml/2006/main">
            <a:srgbClr val="116F68"/>
          </a:solidFill>
          <a:ln xmlns:a="http://schemas.openxmlformats.org/drawingml/2006/main" w="0">
            <a:solidFill>
              <a:srgbClr val="116F68"/>
            </a:solidFill>
            <a:prstDash val="solid"/>
          </a:ln>
        </p:spPr>
      </p:sp>
      <p:sp>
        <p:nvSpPr>
          <p:cNvPr id="2" name="">
            <a:extLst xmlns:a="http://schemas.openxmlformats.org/drawingml/2006/main">
              <a:ext uri="{FF2B5EF4-FFF2-40B4-BE49-F238E27FC236}">
                <a16:creationId xmlns:a16="http://schemas.microsoft.com/office/drawing/2014/main" id="{383B4E07-33D9-437B-AED8-27E84074D22D}"/>
              </a:ext>
            </a:extLst>
          </p:cNvPr>
          <p:cNvSpPr>
            <a:spLocks xmlns:a="http://schemas.openxmlformats.org/drawingml/2006/main" noGrp="1"/>
          </p:cNvSpPr>
          <p:nvPr/>
        </p:nvSpPr>
        <p:spPr>
          <a:xfrm xmlns:a="http://schemas.openxmlformats.org/drawingml/2006/main">
            <a:off x="361950" y="228600"/>
            <a:ext cx="59055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2025" b="1">
                <a:solidFill>
                  <a:srgbClr val="FFFFFF"/>
                </a:solidFill>
              </a:defRPr>
            </a:pPr>
            <a:r>
              <a:rPr sz="2025" b="1">
                <a:solidFill>
                  <a:srgbClr val="FFFFFF"/>
                </a:solidFill>
              </a:rPr>
              <a:t>Two high-conversion zones can fund focused intervention in North and East</a:t>
            </a:r>
          </a:p>
        </p:txBody>
      </p:sp>
      <p:sp>
        <p:nvSpPr>
          <p:cNvPr id="3" name="">
            <a:extLst xmlns:a="http://schemas.openxmlformats.org/drawingml/2006/main">
              <a:ext uri="{FF2B5EF4-FFF2-40B4-BE49-F238E27FC236}">
                <a16:creationId xmlns:a16="http://schemas.microsoft.com/office/drawing/2014/main" id="{24A9E876-2423-43AC-8DA6-802E52323D2F}"/>
              </a:ext>
            </a:extLst>
          </p:cNvPr>
          <p:cNvSpPr>
            <a:spLocks xmlns:a="http://schemas.openxmlformats.org/drawingml/2006/main" noGrp="1"/>
          </p:cNvSpPr>
          <p:nvPr/>
        </p:nvSpPr>
        <p:spPr>
          <a:xfrm xmlns:a="http://schemas.openxmlformats.org/drawingml/2006/main">
            <a:off x="381000" y="695325"/>
            <a:ext cx="57150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75" b="0">
                <a:solidFill>
                  <a:srgbClr val="DFF2ED"/>
                </a:solidFill>
              </a:defRPr>
            </a:pPr>
            <a:r>
              <a:rPr sz="975" b="0">
                <a:solidFill>
                  <a:srgbClr val="DFF2ED"/>
                </a:solidFill>
              </a:rPr>
              <a:t>Zone portfolio | contribution, conversion and action</a:t>
            </a:r>
          </a:p>
        </p:txBody>
      </p:sp>
      <p:sp>
        <p:nvSpPr>
          <p:cNvPr id="4" name="">
            <a:extLst xmlns:a="http://schemas.openxmlformats.org/drawingml/2006/main">
              <a:ext uri="{FF2B5EF4-FFF2-40B4-BE49-F238E27FC236}">
                <a16:creationId xmlns:a16="http://schemas.microsoft.com/office/drawing/2014/main" id="{934CB3B3-F787-491F-B64A-256713E530EC}"/>
              </a:ext>
            </a:extLst>
          </p:cNvPr>
          <p:cNvSpPr>
            <a:spLocks xmlns:a="http://schemas.openxmlformats.org/drawingml/2006/main" noGrp="1"/>
          </p:cNvSpPr>
          <p:nvPr/>
        </p:nvSpPr>
        <p:spPr>
          <a:xfrm xmlns:a="http://schemas.openxmlformats.org/drawingml/2006/main">
            <a:off x="6191250" y="361950"/>
            <a:ext cx="3429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900" b="1">
                <a:solidFill>
                  <a:srgbClr val="FFFFFF"/>
                </a:solidFill>
              </a:defRPr>
            </a:pPr>
            <a:r>
              <a:rPr sz="900" b="1">
                <a:solidFill>
                  <a:srgbClr val="FFFFFF"/>
                </a:solidFill>
              </a:rPr>
              <a:t>04</a:t>
            </a:r>
          </a:p>
        </p:txBody>
      </p:sp>
      <p:sp>
        <p:nvSpPr>
          <p:cNvPr id="5" name="">
            <a:extLst xmlns:a="http://schemas.openxmlformats.org/drawingml/2006/main">
              <a:ext uri="{FF2B5EF4-FFF2-40B4-BE49-F238E27FC236}">
                <a16:creationId xmlns:a16="http://schemas.microsoft.com/office/drawing/2014/main" id="{B73410F4-6F35-4711-BB4D-C2F75BEEFC80}"/>
              </a:ext>
            </a:extLst>
          </p:cNvPr>
          <p:cNvSpPr>
            <a:spLocks xmlns:a="http://schemas.openxmlformats.org/drawingml/2006/main" noGrp="1"/>
          </p:cNvSpPr>
          <p:nvPr/>
        </p:nvSpPr>
        <p:spPr>
          <a:xfrm xmlns:a="http://schemas.openxmlformats.org/drawingml/2006/main">
            <a:off x="361950" y="1238250"/>
            <a:ext cx="6134100" cy="257175"/>
          </a:xfrm>
          <a:prstGeom xmlns:a="http://schemas.openxmlformats.org/drawingml/2006/main" prst="rect">
            <a:avLst/>
          </a:prstGeom>
          <a:solidFill xmlns:a="http://schemas.openxmlformats.org/drawingml/2006/main">
            <a:srgbClr val="116F68"/>
          </a:solidFill>
          <a:ln xmlns:a="http://schemas.openxmlformats.org/drawingml/2006/main" w="0">
            <a:solidFill>
              <a:srgbClr val="116F68"/>
            </a:solidFill>
            <a:prstDash val="solid"/>
          </a:ln>
        </p:spPr>
      </p:sp>
      <p:sp>
        <p:nvSpPr>
          <p:cNvPr id="6" name="">
            <a:extLst xmlns:a="http://schemas.openxmlformats.org/drawingml/2006/main">
              <a:ext uri="{FF2B5EF4-FFF2-40B4-BE49-F238E27FC236}">
                <a16:creationId xmlns:a16="http://schemas.microsoft.com/office/drawing/2014/main" id="{7B866A9E-1B1A-490A-9B59-53C766B4F2FD}"/>
              </a:ext>
            </a:extLst>
          </p:cNvPr>
          <p:cNvSpPr>
            <a:spLocks xmlns:a="http://schemas.openxmlformats.org/drawingml/2006/main" noGrp="1"/>
          </p:cNvSpPr>
          <p:nvPr/>
        </p:nvSpPr>
        <p:spPr>
          <a:xfrm xmlns:a="http://schemas.openxmlformats.org/drawingml/2006/main">
            <a:off x="457200" y="1247775"/>
            <a:ext cx="59436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FFFFFF"/>
                </a:solidFill>
              </a:defRPr>
            </a:pPr>
            <a:r>
              <a:rPr sz="900" b="1">
                <a:solidFill>
                  <a:srgbClr val="FFFFFF"/>
                </a:solidFill>
              </a:rPr>
              <a:t>ZONE SCORECARD</a:t>
            </a:r>
          </a:p>
        </p:txBody>
      </p:sp>
      <p:sp>
        <p:nvSpPr>
          <p:cNvPr id="7" name="">
            <a:extLst xmlns:a="http://schemas.openxmlformats.org/drawingml/2006/main">
              <a:ext uri="{FF2B5EF4-FFF2-40B4-BE49-F238E27FC236}">
                <a16:creationId xmlns:a16="http://schemas.microsoft.com/office/drawing/2014/main" id="{5D3D7BB1-1584-4CC2-8946-7CBC6DB115B0}"/>
              </a:ext>
            </a:extLst>
          </p:cNvPr>
          <p:cNvSpPr>
            <a:spLocks xmlns:a="http://schemas.openxmlformats.org/drawingml/2006/main" noGrp="1"/>
          </p:cNvSpPr>
          <p:nvPr/>
        </p:nvSpPr>
        <p:spPr>
          <a:xfrm xmlns:a="http://schemas.openxmlformats.org/drawingml/2006/main">
            <a:off x="428625" y="1666875"/>
            <a:ext cx="904875"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900" b="1">
                <a:solidFill>
                  <a:srgbClr val="FFFFFF"/>
                </a:solidFill>
              </a:defRPr>
            </a:pPr>
            <a:r>
              <a:rPr sz="900" b="1">
                <a:solidFill>
                  <a:srgbClr val="FFFFFF"/>
                </a:solidFill>
              </a:rPr>
              <a:t>Zone</a:t>
            </a:r>
          </a:p>
        </p:txBody>
      </p:sp>
      <p:sp>
        <p:nvSpPr>
          <p:cNvPr id="8" name="">
            <a:extLst xmlns:a="http://schemas.openxmlformats.org/drawingml/2006/main">
              <a:ext uri="{FF2B5EF4-FFF2-40B4-BE49-F238E27FC236}">
                <a16:creationId xmlns:a16="http://schemas.microsoft.com/office/drawing/2014/main" id="{3A64C09A-FB83-4594-967F-98A348FFFEF7}"/>
              </a:ext>
            </a:extLst>
          </p:cNvPr>
          <p:cNvSpPr>
            <a:spLocks xmlns:a="http://schemas.openxmlformats.org/drawingml/2006/main" noGrp="1"/>
          </p:cNvSpPr>
          <p:nvPr/>
        </p:nvSpPr>
        <p:spPr>
          <a:xfrm xmlns:a="http://schemas.openxmlformats.org/drawingml/2006/main">
            <a:off x="1428750" y="1666875"/>
            <a:ext cx="809625"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900" b="1">
                <a:solidFill>
                  <a:srgbClr val="FFFFFF"/>
                </a:solidFill>
              </a:defRPr>
            </a:pPr>
            <a:r>
              <a:rPr sz="900" b="1">
                <a:solidFill>
                  <a:srgbClr val="FFFFFF"/>
                </a:solidFill>
              </a:rPr>
              <a:t>Primary</a:t>
            </a:r>
          </a:p>
        </p:txBody>
      </p:sp>
      <p:sp>
        <p:nvSpPr>
          <p:cNvPr id="9" name="">
            <a:extLst xmlns:a="http://schemas.openxmlformats.org/drawingml/2006/main">
              <a:ext uri="{FF2B5EF4-FFF2-40B4-BE49-F238E27FC236}">
                <a16:creationId xmlns:a16="http://schemas.microsoft.com/office/drawing/2014/main" id="{230ED65B-E4A5-4EDA-8CE6-A3D17E41ED9C}"/>
              </a:ext>
            </a:extLst>
          </p:cNvPr>
          <p:cNvSpPr>
            <a:spLocks xmlns:a="http://schemas.openxmlformats.org/drawingml/2006/main" noGrp="1"/>
          </p:cNvSpPr>
          <p:nvPr/>
        </p:nvSpPr>
        <p:spPr>
          <a:xfrm xmlns:a="http://schemas.openxmlformats.org/drawingml/2006/main">
            <a:off x="2333625" y="1666875"/>
            <a:ext cx="809625"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900" b="1">
                <a:solidFill>
                  <a:srgbClr val="FFFFFF"/>
                </a:solidFill>
              </a:defRPr>
            </a:pPr>
            <a:r>
              <a:rPr sz="900" b="1">
                <a:solidFill>
                  <a:srgbClr val="FFFFFF"/>
                </a:solidFill>
              </a:rPr>
              <a:t>Offtake</a:t>
            </a:r>
          </a:p>
        </p:txBody>
      </p:sp>
      <p:sp>
        <p:nvSpPr>
          <p:cNvPr id="10" name="">
            <a:extLst xmlns:a="http://schemas.openxmlformats.org/drawingml/2006/main">
              <a:ext uri="{FF2B5EF4-FFF2-40B4-BE49-F238E27FC236}">
                <a16:creationId xmlns:a16="http://schemas.microsoft.com/office/drawing/2014/main" id="{51189FC4-46DC-4C96-82CC-AED66BD94645}"/>
              </a:ext>
            </a:extLst>
          </p:cNvPr>
          <p:cNvSpPr>
            <a:spLocks xmlns:a="http://schemas.openxmlformats.org/drawingml/2006/main" noGrp="1"/>
          </p:cNvSpPr>
          <p:nvPr/>
        </p:nvSpPr>
        <p:spPr>
          <a:xfrm xmlns:a="http://schemas.openxmlformats.org/drawingml/2006/main">
            <a:off x="3238500" y="1666875"/>
            <a:ext cx="571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900" b="1">
                <a:solidFill>
                  <a:srgbClr val="FFFFFF"/>
                </a:solidFill>
              </a:defRPr>
            </a:pPr>
            <a:r>
              <a:rPr sz="900" b="1">
                <a:solidFill>
                  <a:srgbClr val="FFFFFF"/>
                </a:solidFill>
              </a:rPr>
              <a:t>Mix</a:t>
            </a:r>
          </a:p>
        </p:txBody>
      </p:sp>
      <p:sp>
        <p:nvSpPr>
          <p:cNvPr id="11" name="">
            <a:extLst xmlns:a="http://schemas.openxmlformats.org/drawingml/2006/main">
              <a:ext uri="{FF2B5EF4-FFF2-40B4-BE49-F238E27FC236}">
                <a16:creationId xmlns:a16="http://schemas.microsoft.com/office/drawing/2014/main" id="{D5A4DC0D-090A-4F70-BC7C-72487D72AEAB}"/>
              </a:ext>
            </a:extLst>
          </p:cNvPr>
          <p:cNvSpPr>
            <a:spLocks xmlns:a="http://schemas.openxmlformats.org/drawingml/2006/main" noGrp="1"/>
          </p:cNvSpPr>
          <p:nvPr/>
        </p:nvSpPr>
        <p:spPr>
          <a:xfrm xmlns:a="http://schemas.openxmlformats.org/drawingml/2006/main">
            <a:off x="3905250" y="1666875"/>
            <a:ext cx="571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900" b="1">
                <a:solidFill>
                  <a:srgbClr val="FFFFFF"/>
                </a:solidFill>
              </a:defRPr>
            </a:pPr>
            <a:r>
              <a:rPr sz="900" b="1">
                <a:solidFill>
                  <a:srgbClr val="FFFFFF"/>
                </a:solidFill>
              </a:rPr>
              <a:t>Conv.</a:t>
            </a:r>
          </a:p>
        </p:txBody>
      </p:sp>
      <p:sp>
        <p:nvSpPr>
          <p:cNvPr id="12" name="">
            <a:extLst xmlns:a="http://schemas.openxmlformats.org/drawingml/2006/main">
              <a:ext uri="{FF2B5EF4-FFF2-40B4-BE49-F238E27FC236}">
                <a16:creationId xmlns:a16="http://schemas.microsoft.com/office/drawing/2014/main" id="{ECA999A6-714B-4A7E-AEA9-C663DF8C9522}"/>
              </a:ext>
            </a:extLst>
          </p:cNvPr>
          <p:cNvSpPr>
            <a:spLocks xmlns:a="http://schemas.openxmlformats.org/drawingml/2006/main" noGrp="1"/>
          </p:cNvSpPr>
          <p:nvPr/>
        </p:nvSpPr>
        <p:spPr>
          <a:xfrm xmlns:a="http://schemas.openxmlformats.org/drawingml/2006/main">
            <a:off x="4591050" y="1666875"/>
            <a:ext cx="6858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900" b="1">
                <a:solidFill>
                  <a:srgbClr val="FFFFFF"/>
                </a:solidFill>
              </a:defRPr>
            </a:pPr>
            <a:r>
              <a:rPr sz="900" b="1">
                <a:solidFill>
                  <a:srgbClr val="FFFFFF"/>
                </a:solidFill>
              </a:rPr>
              <a:t>Gap</a:t>
            </a:r>
          </a:p>
        </p:txBody>
      </p:sp>
      <p:sp>
        <p:nvSpPr>
          <p:cNvPr id="13" name="">
            <a:extLst xmlns:a="http://schemas.openxmlformats.org/drawingml/2006/main">
              <a:ext uri="{FF2B5EF4-FFF2-40B4-BE49-F238E27FC236}">
                <a16:creationId xmlns:a16="http://schemas.microsoft.com/office/drawing/2014/main" id="{FE53698B-CDE1-4781-AFEB-D0BB30987D8C}"/>
              </a:ext>
            </a:extLst>
          </p:cNvPr>
          <p:cNvSpPr>
            <a:spLocks xmlns:a="http://schemas.openxmlformats.org/drawingml/2006/main" noGrp="1"/>
          </p:cNvSpPr>
          <p:nvPr/>
        </p:nvSpPr>
        <p:spPr>
          <a:xfrm xmlns:a="http://schemas.openxmlformats.org/drawingml/2006/main">
            <a:off x="5381625" y="1666875"/>
            <a:ext cx="1000125"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900" b="1">
                <a:solidFill>
                  <a:srgbClr val="FFFFFF"/>
                </a:solidFill>
              </a:defRPr>
            </a:pPr>
            <a:r>
              <a:rPr sz="900" b="1">
                <a:solidFill>
                  <a:srgbClr val="FFFFFF"/>
                </a:solidFill>
              </a:rPr>
              <a:t>Action</a:t>
            </a:r>
          </a:p>
        </p:txBody>
      </p:sp>
      <p:sp>
        <p:nvSpPr>
          <p:cNvPr id="14" name="">
            <a:extLst xmlns:a="http://schemas.openxmlformats.org/drawingml/2006/main">
              <a:ext uri="{FF2B5EF4-FFF2-40B4-BE49-F238E27FC236}">
                <a16:creationId xmlns:a16="http://schemas.microsoft.com/office/drawing/2014/main" id="{65E04108-0BD2-40E6-95C7-B37258F41222}"/>
              </a:ext>
            </a:extLst>
          </p:cNvPr>
          <p:cNvSpPr>
            <a:spLocks xmlns:a="http://schemas.openxmlformats.org/drawingml/2006/main" noGrp="1"/>
          </p:cNvSpPr>
          <p:nvPr/>
        </p:nvSpPr>
        <p:spPr>
          <a:xfrm xmlns:a="http://schemas.openxmlformats.org/drawingml/2006/main">
            <a:off x="361950" y="1666875"/>
            <a:ext cx="6134100" cy="285750"/>
          </a:xfrm>
          <a:prstGeom xmlns:a="http://schemas.openxmlformats.org/drawingml/2006/main" prst="rect">
            <a:avLst/>
          </a:prstGeom>
          <a:solidFill xmlns:a="http://schemas.openxmlformats.org/drawingml/2006/main">
            <a:srgbClr val="116F68"/>
          </a:solidFill>
          <a:ln xmlns:a="http://schemas.openxmlformats.org/drawingml/2006/main" w="0">
            <a:solidFill>
              <a:srgbClr val="116F68"/>
            </a:solidFill>
            <a:prstDash val="solid"/>
          </a:ln>
        </p:spPr>
      </p:sp>
      <p:sp>
        <p:nvSpPr>
          <p:cNvPr id="15" name="">
            <a:extLst xmlns:a="http://schemas.openxmlformats.org/drawingml/2006/main">
              <a:ext uri="{FF2B5EF4-FFF2-40B4-BE49-F238E27FC236}">
                <a16:creationId xmlns:a16="http://schemas.microsoft.com/office/drawing/2014/main" id="{0A36AF04-6D1C-4E84-A68A-95FCC5708937}"/>
              </a:ext>
            </a:extLst>
          </p:cNvPr>
          <p:cNvSpPr>
            <a:spLocks xmlns:a="http://schemas.openxmlformats.org/drawingml/2006/main" noGrp="1"/>
          </p:cNvSpPr>
          <p:nvPr/>
        </p:nvSpPr>
        <p:spPr>
          <a:xfrm xmlns:a="http://schemas.openxmlformats.org/drawingml/2006/main">
            <a:off x="361950" y="1971675"/>
            <a:ext cx="6134100" cy="552450"/>
          </a:xfrm>
          <a:prstGeom xmlns:a="http://schemas.openxmlformats.org/drawingml/2006/main" prst="rect">
            <a:avLst/>
          </a:prstGeom>
          <a:solidFill xmlns:a="http://schemas.openxmlformats.org/drawingml/2006/main">
            <a:srgbClr val="FFFFFF"/>
          </a:solidFill>
          <a:ln xmlns:a="http://schemas.openxmlformats.org/drawingml/2006/main" w="0">
            <a:solidFill>
              <a:srgbClr val="FFFFFF"/>
            </a:solidFill>
            <a:prstDash val="solid"/>
          </a:ln>
        </p:spPr>
      </p:sp>
      <p:sp>
        <p:nvSpPr>
          <p:cNvPr id="16" name="">
            <a:extLst xmlns:a="http://schemas.openxmlformats.org/drawingml/2006/main">
              <a:ext uri="{FF2B5EF4-FFF2-40B4-BE49-F238E27FC236}">
                <a16:creationId xmlns:a16="http://schemas.microsoft.com/office/drawing/2014/main" id="{D7B13F1D-5DE1-4E42-A8B9-2CB99BF43124}"/>
              </a:ext>
            </a:extLst>
          </p:cNvPr>
          <p:cNvSpPr>
            <a:spLocks xmlns:a="http://schemas.openxmlformats.org/drawingml/2006/main" noGrp="1"/>
          </p:cNvSpPr>
          <p:nvPr/>
        </p:nvSpPr>
        <p:spPr>
          <a:xfrm xmlns:a="http://schemas.openxmlformats.org/drawingml/2006/main">
            <a:off x="428625" y="1971675"/>
            <a:ext cx="90487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050" b="1">
                <a:solidFill>
                  <a:srgbClr val="183B39"/>
                </a:solidFill>
              </a:defRPr>
            </a:pPr>
            <a:r>
              <a:rPr sz="1050" b="1">
                <a:solidFill>
                  <a:srgbClr val="183B39"/>
                </a:solidFill>
              </a:rPr>
              <a:t>West</a:t>
            </a:r>
          </a:p>
        </p:txBody>
      </p:sp>
      <p:sp>
        <p:nvSpPr>
          <p:cNvPr id="17" name="">
            <a:extLst xmlns:a="http://schemas.openxmlformats.org/drawingml/2006/main">
              <a:ext uri="{FF2B5EF4-FFF2-40B4-BE49-F238E27FC236}">
                <a16:creationId xmlns:a16="http://schemas.microsoft.com/office/drawing/2014/main" id="{8E1CEF9A-88F4-4A3A-8FE0-FD582E20CD9F}"/>
              </a:ext>
            </a:extLst>
          </p:cNvPr>
          <p:cNvSpPr>
            <a:spLocks xmlns:a="http://schemas.openxmlformats.org/drawingml/2006/main" noGrp="1"/>
          </p:cNvSpPr>
          <p:nvPr/>
        </p:nvSpPr>
        <p:spPr>
          <a:xfrm xmlns:a="http://schemas.openxmlformats.org/drawingml/2006/main">
            <a:off x="1428750" y="1971675"/>
            <a:ext cx="8096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050" b="0">
                <a:solidFill>
                  <a:srgbClr val="183B39"/>
                </a:solidFill>
              </a:defRPr>
            </a:pPr>
            <a:r>
              <a:rPr sz="1050" b="0">
                <a:solidFill>
                  <a:srgbClr val="183B39"/>
                </a:solidFill>
              </a:rPr>
              <a:t>10.05</a:t>
            </a:r>
          </a:p>
        </p:txBody>
      </p:sp>
      <p:sp>
        <p:nvSpPr>
          <p:cNvPr id="18" name="">
            <a:extLst xmlns:a="http://schemas.openxmlformats.org/drawingml/2006/main">
              <a:ext uri="{FF2B5EF4-FFF2-40B4-BE49-F238E27FC236}">
                <a16:creationId xmlns:a16="http://schemas.microsoft.com/office/drawing/2014/main" id="{EBF77490-F10F-4C72-B9F3-2548CAB81B8E}"/>
              </a:ext>
            </a:extLst>
          </p:cNvPr>
          <p:cNvSpPr>
            <a:spLocks xmlns:a="http://schemas.openxmlformats.org/drawingml/2006/main" noGrp="1"/>
          </p:cNvSpPr>
          <p:nvPr/>
        </p:nvSpPr>
        <p:spPr>
          <a:xfrm xmlns:a="http://schemas.openxmlformats.org/drawingml/2006/main">
            <a:off x="2333625" y="1971675"/>
            <a:ext cx="8096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050" b="0">
                <a:solidFill>
                  <a:srgbClr val="183B39"/>
                </a:solidFill>
              </a:defRPr>
            </a:pPr>
            <a:r>
              <a:rPr sz="1050" b="0">
                <a:solidFill>
                  <a:srgbClr val="183B39"/>
                </a:solidFill>
              </a:rPr>
              <a:t>8.28</a:t>
            </a:r>
          </a:p>
        </p:txBody>
      </p:sp>
      <p:sp>
        <p:nvSpPr>
          <p:cNvPr id="19" name="">
            <a:extLst xmlns:a="http://schemas.openxmlformats.org/drawingml/2006/main">
              <a:ext uri="{FF2B5EF4-FFF2-40B4-BE49-F238E27FC236}">
                <a16:creationId xmlns:a16="http://schemas.microsoft.com/office/drawing/2014/main" id="{BD959EE7-776D-45FF-AABB-30EC3F264C01}"/>
              </a:ext>
            </a:extLst>
          </p:cNvPr>
          <p:cNvSpPr>
            <a:spLocks xmlns:a="http://schemas.openxmlformats.org/drawingml/2006/main" noGrp="1"/>
          </p:cNvSpPr>
          <p:nvPr/>
        </p:nvSpPr>
        <p:spPr>
          <a:xfrm xmlns:a="http://schemas.openxmlformats.org/drawingml/2006/main">
            <a:off x="3238500" y="1971675"/>
            <a:ext cx="571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050" b="0">
                <a:solidFill>
                  <a:srgbClr val="183B39"/>
                </a:solidFill>
              </a:defRPr>
            </a:pPr>
            <a:r>
              <a:rPr sz="1050" b="0">
                <a:solidFill>
                  <a:srgbClr val="183B39"/>
                </a:solidFill>
              </a:rPr>
              <a:t>22.9%</a:t>
            </a:r>
          </a:p>
        </p:txBody>
      </p:sp>
      <p:sp>
        <p:nvSpPr>
          <p:cNvPr id="20" name="">
            <a:extLst xmlns:a="http://schemas.openxmlformats.org/drawingml/2006/main">
              <a:ext uri="{FF2B5EF4-FFF2-40B4-BE49-F238E27FC236}">
                <a16:creationId xmlns:a16="http://schemas.microsoft.com/office/drawing/2014/main" id="{A6DFECDA-C7C0-485D-8A77-49D16694D770}"/>
              </a:ext>
            </a:extLst>
          </p:cNvPr>
          <p:cNvSpPr>
            <a:spLocks xmlns:a="http://schemas.openxmlformats.org/drawingml/2006/main" noGrp="1"/>
          </p:cNvSpPr>
          <p:nvPr/>
        </p:nvSpPr>
        <p:spPr>
          <a:xfrm xmlns:a="http://schemas.openxmlformats.org/drawingml/2006/main">
            <a:off x="3905250" y="1971675"/>
            <a:ext cx="571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050" b="1">
                <a:solidFill>
                  <a:srgbClr val="F2B84B"/>
                </a:solidFill>
              </a:defRPr>
            </a:pPr>
            <a:r>
              <a:rPr sz="1050" b="1">
                <a:solidFill>
                  <a:srgbClr val="F2B84B"/>
                </a:solidFill>
              </a:rPr>
              <a:t>82.3%</a:t>
            </a:r>
          </a:p>
        </p:txBody>
      </p:sp>
      <p:sp>
        <p:nvSpPr>
          <p:cNvPr id="21" name="">
            <a:extLst xmlns:a="http://schemas.openxmlformats.org/drawingml/2006/main">
              <a:ext uri="{FF2B5EF4-FFF2-40B4-BE49-F238E27FC236}">
                <a16:creationId xmlns:a16="http://schemas.microsoft.com/office/drawing/2014/main" id="{0E28E8C1-2FF8-416C-A13A-DFF03855D3C3}"/>
              </a:ext>
            </a:extLst>
          </p:cNvPr>
          <p:cNvSpPr>
            <a:spLocks xmlns:a="http://schemas.openxmlformats.org/drawingml/2006/main" noGrp="1"/>
          </p:cNvSpPr>
          <p:nvPr/>
        </p:nvSpPr>
        <p:spPr>
          <a:xfrm xmlns:a="http://schemas.openxmlformats.org/drawingml/2006/main">
            <a:off x="4591050" y="1971675"/>
            <a:ext cx="685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050" b="0">
                <a:solidFill>
                  <a:srgbClr val="183B39"/>
                </a:solidFill>
              </a:defRPr>
            </a:pPr>
            <a:r>
              <a:rPr sz="1050" b="0">
                <a:solidFill>
                  <a:srgbClr val="183B39"/>
                </a:solidFill>
              </a:rPr>
              <a:t>1.78</a:t>
            </a:r>
          </a:p>
        </p:txBody>
      </p:sp>
      <p:sp>
        <p:nvSpPr>
          <p:cNvPr id="22" name="">
            <a:extLst xmlns:a="http://schemas.openxmlformats.org/drawingml/2006/main">
              <a:ext uri="{FF2B5EF4-FFF2-40B4-BE49-F238E27FC236}">
                <a16:creationId xmlns:a16="http://schemas.microsoft.com/office/drawing/2014/main" id="{A033684C-0E54-4936-9A2A-E66D02FC9F72}"/>
              </a:ext>
            </a:extLst>
          </p:cNvPr>
          <p:cNvSpPr>
            <a:spLocks xmlns:a="http://schemas.openxmlformats.org/drawingml/2006/main" noGrp="1"/>
          </p:cNvSpPr>
          <p:nvPr/>
        </p:nvSpPr>
        <p:spPr>
          <a:xfrm xmlns:a="http://schemas.openxmlformats.org/drawingml/2006/main">
            <a:off x="5381625" y="1971675"/>
            <a:ext cx="10001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900" b="1">
                <a:solidFill>
                  <a:srgbClr val="F2B84B"/>
                </a:solidFill>
              </a:defRPr>
            </a:pPr>
            <a:r>
              <a:rPr sz="900" b="1">
                <a:solidFill>
                  <a:srgbClr val="F2B84B"/>
                </a:solidFill>
              </a:rPr>
              <a:t>WATCH</a:t>
            </a:r>
          </a:p>
        </p:txBody>
      </p:sp>
      <p:sp>
        <p:nvSpPr>
          <p:cNvPr id="23" name="">
            <a:extLst xmlns:a="http://schemas.openxmlformats.org/drawingml/2006/main">
              <a:ext uri="{FF2B5EF4-FFF2-40B4-BE49-F238E27FC236}">
                <a16:creationId xmlns:a16="http://schemas.microsoft.com/office/drawing/2014/main" id="{1B6B7B9F-9ECA-4C90-B74E-781F0F5E6525}"/>
              </a:ext>
            </a:extLst>
          </p:cNvPr>
          <p:cNvSpPr>
            <a:spLocks xmlns:a="http://schemas.openxmlformats.org/drawingml/2006/main" noGrp="1"/>
          </p:cNvSpPr>
          <p:nvPr/>
        </p:nvSpPr>
        <p:spPr>
          <a:xfrm xmlns:a="http://schemas.openxmlformats.org/drawingml/2006/main">
            <a:off x="428625" y="2562225"/>
            <a:ext cx="90487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050" b="1">
                <a:solidFill>
                  <a:srgbClr val="183B39"/>
                </a:solidFill>
              </a:defRPr>
            </a:pPr>
            <a:r>
              <a:rPr sz="1050" b="1">
                <a:solidFill>
                  <a:srgbClr val="183B39"/>
                </a:solidFill>
              </a:rPr>
              <a:t>South-1</a:t>
            </a:r>
          </a:p>
        </p:txBody>
      </p:sp>
      <p:sp>
        <p:nvSpPr>
          <p:cNvPr id="24" name="">
            <a:extLst xmlns:a="http://schemas.openxmlformats.org/drawingml/2006/main">
              <a:ext uri="{FF2B5EF4-FFF2-40B4-BE49-F238E27FC236}">
                <a16:creationId xmlns:a16="http://schemas.microsoft.com/office/drawing/2014/main" id="{D57B6728-3D29-40A5-ACEA-60D50705ED05}"/>
              </a:ext>
            </a:extLst>
          </p:cNvPr>
          <p:cNvSpPr>
            <a:spLocks xmlns:a="http://schemas.openxmlformats.org/drawingml/2006/main" noGrp="1"/>
          </p:cNvSpPr>
          <p:nvPr/>
        </p:nvSpPr>
        <p:spPr>
          <a:xfrm xmlns:a="http://schemas.openxmlformats.org/drawingml/2006/main">
            <a:off x="1428750" y="2562225"/>
            <a:ext cx="8096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050" b="0">
                <a:solidFill>
                  <a:srgbClr val="183B39"/>
                </a:solidFill>
              </a:defRPr>
            </a:pPr>
            <a:r>
              <a:rPr sz="1050" b="0">
                <a:solidFill>
                  <a:srgbClr val="183B39"/>
                </a:solidFill>
              </a:rPr>
              <a:t>9.80</a:t>
            </a:r>
          </a:p>
        </p:txBody>
      </p:sp>
      <p:sp>
        <p:nvSpPr>
          <p:cNvPr id="25" name="">
            <a:extLst xmlns:a="http://schemas.openxmlformats.org/drawingml/2006/main">
              <a:ext uri="{FF2B5EF4-FFF2-40B4-BE49-F238E27FC236}">
                <a16:creationId xmlns:a16="http://schemas.microsoft.com/office/drawing/2014/main" id="{241490D1-ED6F-4B07-80A1-EACCF2EB0344}"/>
              </a:ext>
            </a:extLst>
          </p:cNvPr>
          <p:cNvSpPr>
            <a:spLocks xmlns:a="http://schemas.openxmlformats.org/drawingml/2006/main" noGrp="1"/>
          </p:cNvSpPr>
          <p:nvPr/>
        </p:nvSpPr>
        <p:spPr>
          <a:xfrm xmlns:a="http://schemas.openxmlformats.org/drawingml/2006/main">
            <a:off x="2333625" y="2562225"/>
            <a:ext cx="8096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050" b="0">
                <a:solidFill>
                  <a:srgbClr val="183B39"/>
                </a:solidFill>
              </a:defRPr>
            </a:pPr>
            <a:r>
              <a:rPr sz="1050" b="0">
                <a:solidFill>
                  <a:srgbClr val="183B39"/>
                </a:solidFill>
              </a:rPr>
              <a:t>8.19</a:t>
            </a:r>
          </a:p>
        </p:txBody>
      </p:sp>
      <p:sp>
        <p:nvSpPr>
          <p:cNvPr id="26" name="">
            <a:extLst xmlns:a="http://schemas.openxmlformats.org/drawingml/2006/main">
              <a:ext uri="{FF2B5EF4-FFF2-40B4-BE49-F238E27FC236}">
                <a16:creationId xmlns:a16="http://schemas.microsoft.com/office/drawing/2014/main" id="{F3687C17-76BD-4FBD-A8FB-ABBB07FF3CCE}"/>
              </a:ext>
            </a:extLst>
          </p:cNvPr>
          <p:cNvSpPr>
            <a:spLocks xmlns:a="http://schemas.openxmlformats.org/drawingml/2006/main" noGrp="1"/>
          </p:cNvSpPr>
          <p:nvPr/>
        </p:nvSpPr>
        <p:spPr>
          <a:xfrm xmlns:a="http://schemas.openxmlformats.org/drawingml/2006/main">
            <a:off x="3238500" y="2562225"/>
            <a:ext cx="571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050" b="0">
                <a:solidFill>
                  <a:srgbClr val="183B39"/>
                </a:solidFill>
              </a:defRPr>
            </a:pPr>
            <a:r>
              <a:rPr sz="1050" b="0">
                <a:solidFill>
                  <a:srgbClr val="183B39"/>
                </a:solidFill>
              </a:rPr>
              <a:t>22.7%</a:t>
            </a:r>
          </a:p>
        </p:txBody>
      </p:sp>
      <p:sp>
        <p:nvSpPr>
          <p:cNvPr id="27" name="">
            <a:extLst xmlns:a="http://schemas.openxmlformats.org/drawingml/2006/main">
              <a:ext uri="{FF2B5EF4-FFF2-40B4-BE49-F238E27FC236}">
                <a16:creationId xmlns:a16="http://schemas.microsoft.com/office/drawing/2014/main" id="{D97DB9F3-86D1-4B03-83F5-EFAA5A26EFFD}"/>
              </a:ext>
            </a:extLst>
          </p:cNvPr>
          <p:cNvSpPr>
            <a:spLocks xmlns:a="http://schemas.openxmlformats.org/drawingml/2006/main" noGrp="1"/>
          </p:cNvSpPr>
          <p:nvPr/>
        </p:nvSpPr>
        <p:spPr>
          <a:xfrm xmlns:a="http://schemas.openxmlformats.org/drawingml/2006/main">
            <a:off x="3905250" y="2562225"/>
            <a:ext cx="571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050" b="1">
                <a:solidFill>
                  <a:srgbClr val="F2B84B"/>
                </a:solidFill>
              </a:defRPr>
            </a:pPr>
            <a:r>
              <a:rPr sz="1050" b="1">
                <a:solidFill>
                  <a:srgbClr val="F2B84B"/>
                </a:solidFill>
              </a:rPr>
              <a:t>83.6%</a:t>
            </a:r>
          </a:p>
        </p:txBody>
      </p:sp>
      <p:sp>
        <p:nvSpPr>
          <p:cNvPr id="28" name="">
            <a:extLst xmlns:a="http://schemas.openxmlformats.org/drawingml/2006/main">
              <a:ext uri="{FF2B5EF4-FFF2-40B4-BE49-F238E27FC236}">
                <a16:creationId xmlns:a16="http://schemas.microsoft.com/office/drawing/2014/main" id="{9AE6D366-49CB-4FBB-AD00-7E9DE01BB432}"/>
              </a:ext>
            </a:extLst>
          </p:cNvPr>
          <p:cNvSpPr>
            <a:spLocks xmlns:a="http://schemas.openxmlformats.org/drawingml/2006/main" noGrp="1"/>
          </p:cNvSpPr>
          <p:nvPr/>
        </p:nvSpPr>
        <p:spPr>
          <a:xfrm xmlns:a="http://schemas.openxmlformats.org/drawingml/2006/main">
            <a:off x="4591050" y="2562225"/>
            <a:ext cx="685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050" b="0">
                <a:solidFill>
                  <a:srgbClr val="183B39"/>
                </a:solidFill>
              </a:defRPr>
            </a:pPr>
            <a:r>
              <a:rPr sz="1050" b="0">
                <a:solidFill>
                  <a:srgbClr val="183B39"/>
                </a:solidFill>
              </a:rPr>
              <a:t>1.61</a:t>
            </a:r>
          </a:p>
        </p:txBody>
      </p:sp>
      <p:sp>
        <p:nvSpPr>
          <p:cNvPr id="29" name="">
            <a:extLst xmlns:a="http://schemas.openxmlformats.org/drawingml/2006/main">
              <a:ext uri="{FF2B5EF4-FFF2-40B4-BE49-F238E27FC236}">
                <a16:creationId xmlns:a16="http://schemas.microsoft.com/office/drawing/2014/main" id="{B7D89A80-1875-4A95-A7D7-8D3F1749F3D0}"/>
              </a:ext>
            </a:extLst>
          </p:cNvPr>
          <p:cNvSpPr>
            <a:spLocks xmlns:a="http://schemas.openxmlformats.org/drawingml/2006/main" noGrp="1"/>
          </p:cNvSpPr>
          <p:nvPr/>
        </p:nvSpPr>
        <p:spPr>
          <a:xfrm xmlns:a="http://schemas.openxmlformats.org/drawingml/2006/main">
            <a:off x="5381625" y="2562225"/>
            <a:ext cx="10001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900" b="1">
                <a:solidFill>
                  <a:srgbClr val="F2B84B"/>
                </a:solidFill>
              </a:defRPr>
            </a:pPr>
            <a:r>
              <a:rPr sz="900" b="1">
                <a:solidFill>
                  <a:srgbClr val="F2B84B"/>
                </a:solidFill>
              </a:rPr>
              <a:t>WATCH</a:t>
            </a:r>
          </a:p>
        </p:txBody>
      </p:sp>
      <p:sp>
        <p:nvSpPr>
          <p:cNvPr id="30" name="">
            <a:extLst xmlns:a="http://schemas.openxmlformats.org/drawingml/2006/main">
              <a:ext uri="{FF2B5EF4-FFF2-40B4-BE49-F238E27FC236}">
                <a16:creationId xmlns:a16="http://schemas.microsoft.com/office/drawing/2014/main" id="{BDB79163-4E49-463A-9115-EDE7D1FB8E2F}"/>
              </a:ext>
            </a:extLst>
          </p:cNvPr>
          <p:cNvSpPr>
            <a:spLocks xmlns:a="http://schemas.openxmlformats.org/drawingml/2006/main" noGrp="1"/>
          </p:cNvSpPr>
          <p:nvPr/>
        </p:nvSpPr>
        <p:spPr>
          <a:xfrm xmlns:a="http://schemas.openxmlformats.org/drawingml/2006/main">
            <a:off x="361950" y="3152775"/>
            <a:ext cx="6134100" cy="552450"/>
          </a:xfrm>
          <a:prstGeom xmlns:a="http://schemas.openxmlformats.org/drawingml/2006/main" prst="rect">
            <a:avLst/>
          </a:prstGeom>
          <a:solidFill xmlns:a="http://schemas.openxmlformats.org/drawingml/2006/main">
            <a:srgbClr val="FFFFFF"/>
          </a:solidFill>
          <a:ln xmlns:a="http://schemas.openxmlformats.org/drawingml/2006/main" w="0">
            <a:solidFill>
              <a:srgbClr val="FFFFFF"/>
            </a:solidFill>
            <a:prstDash val="solid"/>
          </a:ln>
        </p:spPr>
      </p:sp>
      <p:sp>
        <p:nvSpPr>
          <p:cNvPr id="31" name="">
            <a:extLst xmlns:a="http://schemas.openxmlformats.org/drawingml/2006/main">
              <a:ext uri="{FF2B5EF4-FFF2-40B4-BE49-F238E27FC236}">
                <a16:creationId xmlns:a16="http://schemas.microsoft.com/office/drawing/2014/main" id="{E1E26230-9FF4-47C1-8D6F-13C819D0F61F}"/>
              </a:ext>
            </a:extLst>
          </p:cNvPr>
          <p:cNvSpPr>
            <a:spLocks xmlns:a="http://schemas.openxmlformats.org/drawingml/2006/main" noGrp="1"/>
          </p:cNvSpPr>
          <p:nvPr/>
        </p:nvSpPr>
        <p:spPr>
          <a:xfrm xmlns:a="http://schemas.openxmlformats.org/drawingml/2006/main">
            <a:off x="428625" y="3152775"/>
            <a:ext cx="90487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050" b="1">
                <a:solidFill>
                  <a:srgbClr val="183B39"/>
                </a:solidFill>
              </a:defRPr>
            </a:pPr>
            <a:r>
              <a:rPr sz="1050" b="1">
                <a:solidFill>
                  <a:srgbClr val="183B39"/>
                </a:solidFill>
              </a:rPr>
              <a:t>North</a:t>
            </a:r>
          </a:p>
        </p:txBody>
      </p:sp>
      <p:sp>
        <p:nvSpPr>
          <p:cNvPr id="32" name="">
            <a:extLst xmlns:a="http://schemas.openxmlformats.org/drawingml/2006/main">
              <a:ext uri="{FF2B5EF4-FFF2-40B4-BE49-F238E27FC236}">
                <a16:creationId xmlns:a16="http://schemas.microsoft.com/office/drawing/2014/main" id="{445FC2AB-ADC5-4942-B19D-637C26B83B06}"/>
              </a:ext>
            </a:extLst>
          </p:cNvPr>
          <p:cNvSpPr>
            <a:spLocks xmlns:a="http://schemas.openxmlformats.org/drawingml/2006/main" noGrp="1"/>
          </p:cNvSpPr>
          <p:nvPr/>
        </p:nvSpPr>
        <p:spPr>
          <a:xfrm xmlns:a="http://schemas.openxmlformats.org/drawingml/2006/main">
            <a:off x="1428750" y="3152775"/>
            <a:ext cx="8096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050" b="0">
                <a:solidFill>
                  <a:srgbClr val="183B39"/>
                </a:solidFill>
              </a:defRPr>
            </a:pPr>
            <a:r>
              <a:rPr sz="1050" b="0">
                <a:solidFill>
                  <a:srgbClr val="183B39"/>
                </a:solidFill>
              </a:rPr>
              <a:t>11.95</a:t>
            </a:r>
          </a:p>
        </p:txBody>
      </p:sp>
      <p:sp>
        <p:nvSpPr>
          <p:cNvPr id="33" name="">
            <a:extLst xmlns:a="http://schemas.openxmlformats.org/drawingml/2006/main">
              <a:ext uri="{FF2B5EF4-FFF2-40B4-BE49-F238E27FC236}">
                <a16:creationId xmlns:a16="http://schemas.microsoft.com/office/drawing/2014/main" id="{B8B89E9E-B11A-4CD9-8A93-C27042E8FEF6}"/>
              </a:ext>
            </a:extLst>
          </p:cNvPr>
          <p:cNvSpPr>
            <a:spLocks xmlns:a="http://schemas.openxmlformats.org/drawingml/2006/main" noGrp="1"/>
          </p:cNvSpPr>
          <p:nvPr/>
        </p:nvSpPr>
        <p:spPr>
          <a:xfrm xmlns:a="http://schemas.openxmlformats.org/drawingml/2006/main">
            <a:off x="2333625" y="3152775"/>
            <a:ext cx="8096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050" b="0">
                <a:solidFill>
                  <a:srgbClr val="183B39"/>
                </a:solidFill>
              </a:defRPr>
            </a:pPr>
            <a:r>
              <a:rPr sz="1050" b="0">
                <a:solidFill>
                  <a:srgbClr val="183B39"/>
                </a:solidFill>
              </a:rPr>
              <a:t>6.99</a:t>
            </a:r>
          </a:p>
        </p:txBody>
      </p:sp>
      <p:sp>
        <p:nvSpPr>
          <p:cNvPr id="34" name="">
            <a:extLst xmlns:a="http://schemas.openxmlformats.org/drawingml/2006/main">
              <a:ext uri="{FF2B5EF4-FFF2-40B4-BE49-F238E27FC236}">
                <a16:creationId xmlns:a16="http://schemas.microsoft.com/office/drawing/2014/main" id="{83A631B8-EF02-4F39-9030-57596A307CB5}"/>
              </a:ext>
            </a:extLst>
          </p:cNvPr>
          <p:cNvSpPr>
            <a:spLocks xmlns:a="http://schemas.openxmlformats.org/drawingml/2006/main" noGrp="1"/>
          </p:cNvSpPr>
          <p:nvPr/>
        </p:nvSpPr>
        <p:spPr>
          <a:xfrm xmlns:a="http://schemas.openxmlformats.org/drawingml/2006/main">
            <a:off x="3238500" y="3152775"/>
            <a:ext cx="571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050" b="0">
                <a:solidFill>
                  <a:srgbClr val="183B39"/>
                </a:solidFill>
              </a:defRPr>
            </a:pPr>
            <a:r>
              <a:rPr sz="1050" b="0">
                <a:solidFill>
                  <a:srgbClr val="183B39"/>
                </a:solidFill>
              </a:rPr>
              <a:t>19.4%</a:t>
            </a:r>
          </a:p>
        </p:txBody>
      </p:sp>
      <p:sp>
        <p:nvSpPr>
          <p:cNvPr id="35" name="">
            <a:extLst xmlns:a="http://schemas.openxmlformats.org/drawingml/2006/main">
              <a:ext uri="{FF2B5EF4-FFF2-40B4-BE49-F238E27FC236}">
                <a16:creationId xmlns:a16="http://schemas.microsoft.com/office/drawing/2014/main" id="{BFB77215-72C2-42C0-ABDA-6AE80BCA3C53}"/>
              </a:ext>
            </a:extLst>
          </p:cNvPr>
          <p:cNvSpPr>
            <a:spLocks xmlns:a="http://schemas.openxmlformats.org/drawingml/2006/main" noGrp="1"/>
          </p:cNvSpPr>
          <p:nvPr/>
        </p:nvSpPr>
        <p:spPr>
          <a:xfrm xmlns:a="http://schemas.openxmlformats.org/drawingml/2006/main">
            <a:off x="3905250" y="3152775"/>
            <a:ext cx="571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050" b="1">
                <a:solidFill>
                  <a:srgbClr val="D6544D"/>
                </a:solidFill>
              </a:defRPr>
            </a:pPr>
            <a:r>
              <a:rPr sz="1050" b="1">
                <a:solidFill>
                  <a:srgbClr val="D6544D"/>
                </a:solidFill>
              </a:rPr>
              <a:t>58.5%</a:t>
            </a:r>
          </a:p>
        </p:txBody>
      </p:sp>
      <p:sp>
        <p:nvSpPr>
          <p:cNvPr id="36" name="">
            <a:extLst xmlns:a="http://schemas.openxmlformats.org/drawingml/2006/main">
              <a:ext uri="{FF2B5EF4-FFF2-40B4-BE49-F238E27FC236}">
                <a16:creationId xmlns:a16="http://schemas.microsoft.com/office/drawing/2014/main" id="{BBF56DD7-A535-434F-912B-4E0EAFB652AE}"/>
              </a:ext>
            </a:extLst>
          </p:cNvPr>
          <p:cNvSpPr>
            <a:spLocks xmlns:a="http://schemas.openxmlformats.org/drawingml/2006/main" noGrp="1"/>
          </p:cNvSpPr>
          <p:nvPr/>
        </p:nvSpPr>
        <p:spPr>
          <a:xfrm xmlns:a="http://schemas.openxmlformats.org/drawingml/2006/main">
            <a:off x="4591050" y="3152775"/>
            <a:ext cx="685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050" b="0">
                <a:solidFill>
                  <a:srgbClr val="183B39"/>
                </a:solidFill>
              </a:defRPr>
            </a:pPr>
            <a:r>
              <a:rPr sz="1050" b="0">
                <a:solidFill>
                  <a:srgbClr val="183B39"/>
                </a:solidFill>
              </a:rPr>
              <a:t>4.97</a:t>
            </a:r>
          </a:p>
        </p:txBody>
      </p:sp>
      <p:sp>
        <p:nvSpPr>
          <p:cNvPr id="37" name="">
            <a:extLst xmlns:a="http://schemas.openxmlformats.org/drawingml/2006/main">
              <a:ext uri="{FF2B5EF4-FFF2-40B4-BE49-F238E27FC236}">
                <a16:creationId xmlns:a16="http://schemas.microsoft.com/office/drawing/2014/main" id="{77A6B904-874D-4757-83F7-CE57794A62FE}"/>
              </a:ext>
            </a:extLst>
          </p:cNvPr>
          <p:cNvSpPr>
            <a:spLocks xmlns:a="http://schemas.openxmlformats.org/drawingml/2006/main" noGrp="1"/>
          </p:cNvSpPr>
          <p:nvPr/>
        </p:nvSpPr>
        <p:spPr>
          <a:xfrm xmlns:a="http://schemas.openxmlformats.org/drawingml/2006/main">
            <a:off x="5381625" y="3152775"/>
            <a:ext cx="10001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900" b="1">
                <a:solidFill>
                  <a:srgbClr val="D6544D"/>
                </a:solidFill>
              </a:defRPr>
            </a:pPr>
            <a:r>
              <a:rPr sz="900" b="1">
                <a:solidFill>
                  <a:srgbClr val="D6544D"/>
                </a:solidFill>
              </a:rPr>
              <a:t>FIX</a:t>
            </a:r>
          </a:p>
        </p:txBody>
      </p:sp>
      <p:sp>
        <p:nvSpPr>
          <p:cNvPr id="38" name="">
            <a:extLst xmlns:a="http://schemas.openxmlformats.org/drawingml/2006/main">
              <a:ext uri="{FF2B5EF4-FFF2-40B4-BE49-F238E27FC236}">
                <a16:creationId xmlns:a16="http://schemas.microsoft.com/office/drawing/2014/main" id="{23FD55BB-3A52-40CE-A711-BB5472F97ED7}"/>
              </a:ext>
            </a:extLst>
          </p:cNvPr>
          <p:cNvSpPr>
            <a:spLocks xmlns:a="http://schemas.openxmlformats.org/drawingml/2006/main" noGrp="1"/>
          </p:cNvSpPr>
          <p:nvPr/>
        </p:nvSpPr>
        <p:spPr>
          <a:xfrm xmlns:a="http://schemas.openxmlformats.org/drawingml/2006/main">
            <a:off x="428625" y="3743325"/>
            <a:ext cx="90487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050" b="1">
                <a:solidFill>
                  <a:srgbClr val="183B39"/>
                </a:solidFill>
              </a:defRPr>
            </a:pPr>
            <a:r>
              <a:rPr sz="1050" b="1">
                <a:solidFill>
                  <a:srgbClr val="183B39"/>
                </a:solidFill>
              </a:rPr>
              <a:t>South-2</a:t>
            </a:r>
          </a:p>
        </p:txBody>
      </p:sp>
      <p:sp>
        <p:nvSpPr>
          <p:cNvPr id="39" name="">
            <a:extLst xmlns:a="http://schemas.openxmlformats.org/drawingml/2006/main">
              <a:ext uri="{FF2B5EF4-FFF2-40B4-BE49-F238E27FC236}">
                <a16:creationId xmlns:a16="http://schemas.microsoft.com/office/drawing/2014/main" id="{84E90240-530B-4EE7-AE98-9FE1C8CA63AA}"/>
              </a:ext>
            </a:extLst>
          </p:cNvPr>
          <p:cNvSpPr>
            <a:spLocks xmlns:a="http://schemas.openxmlformats.org/drawingml/2006/main" noGrp="1"/>
          </p:cNvSpPr>
          <p:nvPr/>
        </p:nvSpPr>
        <p:spPr>
          <a:xfrm xmlns:a="http://schemas.openxmlformats.org/drawingml/2006/main">
            <a:off x="1428750" y="3743325"/>
            <a:ext cx="8096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050" b="0">
                <a:solidFill>
                  <a:srgbClr val="183B39"/>
                </a:solidFill>
              </a:defRPr>
            </a:pPr>
            <a:r>
              <a:rPr sz="1050" b="0">
                <a:solidFill>
                  <a:srgbClr val="183B39"/>
                </a:solidFill>
              </a:rPr>
              <a:t>6.89</a:t>
            </a:r>
          </a:p>
        </p:txBody>
      </p:sp>
      <p:sp>
        <p:nvSpPr>
          <p:cNvPr id="40" name="">
            <a:extLst xmlns:a="http://schemas.openxmlformats.org/drawingml/2006/main">
              <a:ext uri="{FF2B5EF4-FFF2-40B4-BE49-F238E27FC236}">
                <a16:creationId xmlns:a16="http://schemas.microsoft.com/office/drawing/2014/main" id="{A430D929-40EE-4795-8CE3-588C2CA845BD}"/>
              </a:ext>
            </a:extLst>
          </p:cNvPr>
          <p:cNvSpPr>
            <a:spLocks xmlns:a="http://schemas.openxmlformats.org/drawingml/2006/main" noGrp="1"/>
          </p:cNvSpPr>
          <p:nvPr/>
        </p:nvSpPr>
        <p:spPr>
          <a:xfrm xmlns:a="http://schemas.openxmlformats.org/drawingml/2006/main">
            <a:off x="2333625" y="3743325"/>
            <a:ext cx="8096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050" b="0">
                <a:solidFill>
                  <a:srgbClr val="183B39"/>
                </a:solidFill>
              </a:defRPr>
            </a:pPr>
            <a:r>
              <a:rPr sz="1050" b="0">
                <a:solidFill>
                  <a:srgbClr val="183B39"/>
                </a:solidFill>
              </a:rPr>
              <a:t>4.91</a:t>
            </a:r>
          </a:p>
        </p:txBody>
      </p:sp>
      <p:sp>
        <p:nvSpPr>
          <p:cNvPr id="41" name="">
            <a:extLst xmlns:a="http://schemas.openxmlformats.org/drawingml/2006/main">
              <a:ext uri="{FF2B5EF4-FFF2-40B4-BE49-F238E27FC236}">
                <a16:creationId xmlns:a16="http://schemas.microsoft.com/office/drawing/2014/main" id="{C6056984-95AF-40AC-B734-E4C7C1AB70D4}"/>
              </a:ext>
            </a:extLst>
          </p:cNvPr>
          <p:cNvSpPr>
            <a:spLocks xmlns:a="http://schemas.openxmlformats.org/drawingml/2006/main" noGrp="1"/>
          </p:cNvSpPr>
          <p:nvPr/>
        </p:nvSpPr>
        <p:spPr>
          <a:xfrm xmlns:a="http://schemas.openxmlformats.org/drawingml/2006/main">
            <a:off x="3238500" y="3743325"/>
            <a:ext cx="571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050" b="0">
                <a:solidFill>
                  <a:srgbClr val="183B39"/>
                </a:solidFill>
              </a:defRPr>
            </a:pPr>
            <a:r>
              <a:rPr sz="1050" b="0">
                <a:solidFill>
                  <a:srgbClr val="183B39"/>
                </a:solidFill>
              </a:rPr>
              <a:t>13.6%</a:t>
            </a:r>
          </a:p>
        </p:txBody>
      </p:sp>
      <p:sp>
        <p:nvSpPr>
          <p:cNvPr id="42" name="">
            <a:extLst xmlns:a="http://schemas.openxmlformats.org/drawingml/2006/main">
              <a:ext uri="{FF2B5EF4-FFF2-40B4-BE49-F238E27FC236}">
                <a16:creationId xmlns:a16="http://schemas.microsoft.com/office/drawing/2014/main" id="{30E10687-B747-41F4-93CE-7F6E0BC6D0D9}"/>
              </a:ext>
            </a:extLst>
          </p:cNvPr>
          <p:cNvSpPr>
            <a:spLocks xmlns:a="http://schemas.openxmlformats.org/drawingml/2006/main" noGrp="1"/>
          </p:cNvSpPr>
          <p:nvPr/>
        </p:nvSpPr>
        <p:spPr>
          <a:xfrm xmlns:a="http://schemas.openxmlformats.org/drawingml/2006/main">
            <a:off x="3905250" y="3743325"/>
            <a:ext cx="571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050" b="1">
                <a:solidFill>
                  <a:srgbClr val="D6544D"/>
                </a:solidFill>
              </a:defRPr>
            </a:pPr>
            <a:r>
              <a:rPr sz="1050" b="1">
                <a:solidFill>
                  <a:srgbClr val="D6544D"/>
                </a:solidFill>
              </a:rPr>
              <a:t>71.3%</a:t>
            </a:r>
          </a:p>
        </p:txBody>
      </p:sp>
      <p:sp>
        <p:nvSpPr>
          <p:cNvPr id="43" name="">
            <a:extLst xmlns:a="http://schemas.openxmlformats.org/drawingml/2006/main">
              <a:ext uri="{FF2B5EF4-FFF2-40B4-BE49-F238E27FC236}">
                <a16:creationId xmlns:a16="http://schemas.microsoft.com/office/drawing/2014/main" id="{56DAAE1B-309E-4AE8-877E-4639199E605B}"/>
              </a:ext>
            </a:extLst>
          </p:cNvPr>
          <p:cNvSpPr>
            <a:spLocks xmlns:a="http://schemas.openxmlformats.org/drawingml/2006/main" noGrp="1"/>
          </p:cNvSpPr>
          <p:nvPr/>
        </p:nvSpPr>
        <p:spPr>
          <a:xfrm xmlns:a="http://schemas.openxmlformats.org/drawingml/2006/main">
            <a:off x="4591050" y="3743325"/>
            <a:ext cx="685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050" b="0">
                <a:solidFill>
                  <a:srgbClr val="183B39"/>
                </a:solidFill>
              </a:defRPr>
            </a:pPr>
            <a:r>
              <a:rPr sz="1050" b="0">
                <a:solidFill>
                  <a:srgbClr val="183B39"/>
                </a:solidFill>
              </a:rPr>
              <a:t>1.98</a:t>
            </a:r>
          </a:p>
        </p:txBody>
      </p:sp>
      <p:sp>
        <p:nvSpPr>
          <p:cNvPr id="44" name="">
            <a:extLst xmlns:a="http://schemas.openxmlformats.org/drawingml/2006/main">
              <a:ext uri="{FF2B5EF4-FFF2-40B4-BE49-F238E27FC236}">
                <a16:creationId xmlns:a16="http://schemas.microsoft.com/office/drawing/2014/main" id="{020A9602-247A-40F6-8915-39226FAFA675}"/>
              </a:ext>
            </a:extLst>
          </p:cNvPr>
          <p:cNvSpPr>
            <a:spLocks xmlns:a="http://schemas.openxmlformats.org/drawingml/2006/main" noGrp="1"/>
          </p:cNvSpPr>
          <p:nvPr/>
        </p:nvSpPr>
        <p:spPr>
          <a:xfrm xmlns:a="http://schemas.openxmlformats.org/drawingml/2006/main">
            <a:off x="5381625" y="3743325"/>
            <a:ext cx="10001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900" b="1">
                <a:solidFill>
                  <a:srgbClr val="D6544D"/>
                </a:solidFill>
              </a:defRPr>
            </a:pPr>
            <a:r>
              <a:rPr sz="900" b="1">
                <a:solidFill>
                  <a:srgbClr val="D6544D"/>
                </a:solidFill>
              </a:rPr>
              <a:t>FIX</a:t>
            </a:r>
          </a:p>
        </p:txBody>
      </p:sp>
      <p:sp>
        <p:nvSpPr>
          <p:cNvPr id="45" name="">
            <a:extLst xmlns:a="http://schemas.openxmlformats.org/drawingml/2006/main">
              <a:ext uri="{FF2B5EF4-FFF2-40B4-BE49-F238E27FC236}">
                <a16:creationId xmlns:a16="http://schemas.microsoft.com/office/drawing/2014/main" id="{8D6F6A67-839D-4DB9-90BD-1FE256A70228}"/>
              </a:ext>
            </a:extLst>
          </p:cNvPr>
          <p:cNvSpPr>
            <a:spLocks xmlns:a="http://schemas.openxmlformats.org/drawingml/2006/main" noGrp="1"/>
          </p:cNvSpPr>
          <p:nvPr/>
        </p:nvSpPr>
        <p:spPr>
          <a:xfrm xmlns:a="http://schemas.openxmlformats.org/drawingml/2006/main">
            <a:off x="361950" y="4333875"/>
            <a:ext cx="6134100" cy="552450"/>
          </a:xfrm>
          <a:prstGeom xmlns:a="http://schemas.openxmlformats.org/drawingml/2006/main" prst="rect">
            <a:avLst/>
          </a:prstGeom>
          <a:solidFill xmlns:a="http://schemas.openxmlformats.org/drawingml/2006/main">
            <a:srgbClr val="FFFFFF"/>
          </a:solidFill>
          <a:ln xmlns:a="http://schemas.openxmlformats.org/drawingml/2006/main" w="0">
            <a:solidFill>
              <a:srgbClr val="FFFFFF"/>
            </a:solidFill>
            <a:prstDash val="solid"/>
          </a:ln>
        </p:spPr>
      </p:sp>
      <p:sp>
        <p:nvSpPr>
          <p:cNvPr id="46" name="">
            <a:extLst xmlns:a="http://schemas.openxmlformats.org/drawingml/2006/main">
              <a:ext uri="{FF2B5EF4-FFF2-40B4-BE49-F238E27FC236}">
                <a16:creationId xmlns:a16="http://schemas.microsoft.com/office/drawing/2014/main" id="{7202B6A1-F662-4978-8237-6E01086FF882}"/>
              </a:ext>
            </a:extLst>
          </p:cNvPr>
          <p:cNvSpPr>
            <a:spLocks xmlns:a="http://schemas.openxmlformats.org/drawingml/2006/main" noGrp="1"/>
          </p:cNvSpPr>
          <p:nvPr/>
        </p:nvSpPr>
        <p:spPr>
          <a:xfrm xmlns:a="http://schemas.openxmlformats.org/drawingml/2006/main">
            <a:off x="428625" y="4333875"/>
            <a:ext cx="90487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050" b="1">
                <a:solidFill>
                  <a:srgbClr val="183B39"/>
                </a:solidFill>
              </a:defRPr>
            </a:pPr>
            <a:r>
              <a:rPr sz="1050" b="1">
                <a:solidFill>
                  <a:srgbClr val="183B39"/>
                </a:solidFill>
              </a:rPr>
              <a:t>East</a:t>
            </a:r>
          </a:p>
        </p:txBody>
      </p:sp>
      <p:sp>
        <p:nvSpPr>
          <p:cNvPr id="47" name="">
            <a:extLst xmlns:a="http://schemas.openxmlformats.org/drawingml/2006/main">
              <a:ext uri="{FF2B5EF4-FFF2-40B4-BE49-F238E27FC236}">
                <a16:creationId xmlns:a16="http://schemas.microsoft.com/office/drawing/2014/main" id="{E80A8A03-06DD-436E-9BC2-663417CA95BB}"/>
              </a:ext>
            </a:extLst>
          </p:cNvPr>
          <p:cNvSpPr>
            <a:spLocks xmlns:a="http://schemas.openxmlformats.org/drawingml/2006/main" noGrp="1"/>
          </p:cNvSpPr>
          <p:nvPr/>
        </p:nvSpPr>
        <p:spPr>
          <a:xfrm xmlns:a="http://schemas.openxmlformats.org/drawingml/2006/main">
            <a:off x="1428750" y="4333875"/>
            <a:ext cx="8096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050" b="0">
                <a:solidFill>
                  <a:srgbClr val="183B39"/>
                </a:solidFill>
              </a:defRPr>
            </a:pPr>
            <a:r>
              <a:rPr sz="1050" b="0">
                <a:solidFill>
                  <a:srgbClr val="183B39"/>
                </a:solidFill>
              </a:rPr>
              <a:t>7.83</a:t>
            </a:r>
          </a:p>
        </p:txBody>
      </p:sp>
      <p:sp>
        <p:nvSpPr>
          <p:cNvPr id="48" name="">
            <a:extLst xmlns:a="http://schemas.openxmlformats.org/drawingml/2006/main">
              <a:ext uri="{FF2B5EF4-FFF2-40B4-BE49-F238E27FC236}">
                <a16:creationId xmlns:a16="http://schemas.microsoft.com/office/drawing/2014/main" id="{3037871D-A117-42E3-99DA-DBD87903943E}"/>
              </a:ext>
            </a:extLst>
          </p:cNvPr>
          <p:cNvSpPr>
            <a:spLocks xmlns:a="http://schemas.openxmlformats.org/drawingml/2006/main" noGrp="1"/>
          </p:cNvSpPr>
          <p:nvPr/>
        </p:nvSpPr>
        <p:spPr>
          <a:xfrm xmlns:a="http://schemas.openxmlformats.org/drawingml/2006/main">
            <a:off x="2333625" y="4333875"/>
            <a:ext cx="8096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050" b="0">
                <a:solidFill>
                  <a:srgbClr val="183B39"/>
                </a:solidFill>
              </a:defRPr>
            </a:pPr>
            <a:r>
              <a:rPr sz="1050" b="0">
                <a:solidFill>
                  <a:srgbClr val="183B39"/>
                </a:solidFill>
              </a:rPr>
              <a:t>3.55</a:t>
            </a:r>
          </a:p>
        </p:txBody>
      </p:sp>
      <p:sp>
        <p:nvSpPr>
          <p:cNvPr id="49" name="">
            <a:extLst xmlns:a="http://schemas.openxmlformats.org/drawingml/2006/main">
              <a:ext uri="{FF2B5EF4-FFF2-40B4-BE49-F238E27FC236}">
                <a16:creationId xmlns:a16="http://schemas.microsoft.com/office/drawing/2014/main" id="{84D02798-FDF6-4FF3-BC31-50C92001A617}"/>
              </a:ext>
            </a:extLst>
          </p:cNvPr>
          <p:cNvSpPr>
            <a:spLocks xmlns:a="http://schemas.openxmlformats.org/drawingml/2006/main" noGrp="1"/>
          </p:cNvSpPr>
          <p:nvPr/>
        </p:nvSpPr>
        <p:spPr>
          <a:xfrm xmlns:a="http://schemas.openxmlformats.org/drawingml/2006/main">
            <a:off x="3238500" y="4333875"/>
            <a:ext cx="571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050" b="0">
                <a:solidFill>
                  <a:srgbClr val="183B39"/>
                </a:solidFill>
              </a:defRPr>
            </a:pPr>
            <a:r>
              <a:rPr sz="1050" b="0">
                <a:solidFill>
                  <a:srgbClr val="183B39"/>
                </a:solidFill>
              </a:rPr>
              <a:t>9.8%</a:t>
            </a:r>
          </a:p>
        </p:txBody>
      </p:sp>
      <p:sp>
        <p:nvSpPr>
          <p:cNvPr id="50" name="">
            <a:extLst xmlns:a="http://schemas.openxmlformats.org/drawingml/2006/main">
              <a:ext uri="{FF2B5EF4-FFF2-40B4-BE49-F238E27FC236}">
                <a16:creationId xmlns:a16="http://schemas.microsoft.com/office/drawing/2014/main" id="{DB51B591-D963-486C-8DB9-6451E6C20BC0}"/>
              </a:ext>
            </a:extLst>
          </p:cNvPr>
          <p:cNvSpPr>
            <a:spLocks xmlns:a="http://schemas.openxmlformats.org/drawingml/2006/main" noGrp="1"/>
          </p:cNvSpPr>
          <p:nvPr/>
        </p:nvSpPr>
        <p:spPr>
          <a:xfrm xmlns:a="http://schemas.openxmlformats.org/drawingml/2006/main">
            <a:off x="3905250" y="4333875"/>
            <a:ext cx="571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050" b="1">
                <a:solidFill>
                  <a:srgbClr val="D6544D"/>
                </a:solidFill>
              </a:defRPr>
            </a:pPr>
            <a:r>
              <a:rPr sz="1050" b="1">
                <a:solidFill>
                  <a:srgbClr val="D6544D"/>
                </a:solidFill>
              </a:rPr>
              <a:t>45.3%</a:t>
            </a:r>
          </a:p>
        </p:txBody>
      </p:sp>
      <p:sp>
        <p:nvSpPr>
          <p:cNvPr id="51" name="">
            <a:extLst xmlns:a="http://schemas.openxmlformats.org/drawingml/2006/main">
              <a:ext uri="{FF2B5EF4-FFF2-40B4-BE49-F238E27FC236}">
                <a16:creationId xmlns:a16="http://schemas.microsoft.com/office/drawing/2014/main" id="{34150457-B6E7-4BF4-937F-2CE319FC2E66}"/>
              </a:ext>
            </a:extLst>
          </p:cNvPr>
          <p:cNvSpPr>
            <a:spLocks xmlns:a="http://schemas.openxmlformats.org/drawingml/2006/main" noGrp="1"/>
          </p:cNvSpPr>
          <p:nvPr/>
        </p:nvSpPr>
        <p:spPr>
          <a:xfrm xmlns:a="http://schemas.openxmlformats.org/drawingml/2006/main">
            <a:off x="4591050" y="4333875"/>
            <a:ext cx="685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050" b="0">
                <a:solidFill>
                  <a:srgbClr val="183B39"/>
                </a:solidFill>
              </a:defRPr>
            </a:pPr>
            <a:r>
              <a:rPr sz="1050" b="0">
                <a:solidFill>
                  <a:srgbClr val="183B39"/>
                </a:solidFill>
              </a:rPr>
              <a:t>4.28</a:t>
            </a:r>
          </a:p>
        </p:txBody>
      </p:sp>
      <p:sp>
        <p:nvSpPr>
          <p:cNvPr id="52" name="">
            <a:extLst xmlns:a="http://schemas.openxmlformats.org/drawingml/2006/main">
              <a:ext uri="{FF2B5EF4-FFF2-40B4-BE49-F238E27FC236}">
                <a16:creationId xmlns:a16="http://schemas.microsoft.com/office/drawing/2014/main" id="{B514BB34-327F-4B73-9F41-DEB896C36903}"/>
              </a:ext>
            </a:extLst>
          </p:cNvPr>
          <p:cNvSpPr>
            <a:spLocks xmlns:a="http://schemas.openxmlformats.org/drawingml/2006/main" noGrp="1"/>
          </p:cNvSpPr>
          <p:nvPr/>
        </p:nvSpPr>
        <p:spPr>
          <a:xfrm xmlns:a="http://schemas.openxmlformats.org/drawingml/2006/main">
            <a:off x="5381625" y="4333875"/>
            <a:ext cx="10001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900" b="1">
                <a:solidFill>
                  <a:srgbClr val="D6544D"/>
                </a:solidFill>
              </a:defRPr>
            </a:pPr>
            <a:r>
              <a:rPr sz="900" b="1">
                <a:solidFill>
                  <a:srgbClr val="D6544D"/>
                </a:solidFill>
              </a:rPr>
              <a:t>FIX</a:t>
            </a:r>
          </a:p>
        </p:txBody>
      </p:sp>
      <p:sp>
        <p:nvSpPr>
          <p:cNvPr id="53" name="">
            <a:extLst xmlns:a="http://schemas.openxmlformats.org/drawingml/2006/main">
              <a:ext uri="{FF2B5EF4-FFF2-40B4-BE49-F238E27FC236}">
                <a16:creationId xmlns:a16="http://schemas.microsoft.com/office/drawing/2014/main" id="{5FFA51A8-350D-4547-B272-B7E258812A23}"/>
              </a:ext>
            </a:extLst>
          </p:cNvPr>
          <p:cNvSpPr>
            <a:spLocks xmlns:a="http://schemas.openxmlformats.org/drawingml/2006/main" noGrp="1"/>
          </p:cNvSpPr>
          <p:nvPr/>
        </p:nvSpPr>
        <p:spPr>
          <a:xfrm xmlns:a="http://schemas.openxmlformats.org/drawingml/2006/main">
            <a:off x="428625" y="4924425"/>
            <a:ext cx="90487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050" b="1">
                <a:solidFill>
                  <a:srgbClr val="183B39"/>
                </a:solidFill>
              </a:defRPr>
            </a:pPr>
            <a:r>
              <a:rPr sz="1050" b="1">
                <a:solidFill>
                  <a:srgbClr val="183B39"/>
                </a:solidFill>
              </a:rPr>
              <a:t>Central</a:t>
            </a:r>
          </a:p>
        </p:txBody>
      </p:sp>
      <p:sp>
        <p:nvSpPr>
          <p:cNvPr id="54" name="">
            <a:extLst xmlns:a="http://schemas.openxmlformats.org/drawingml/2006/main">
              <a:ext uri="{FF2B5EF4-FFF2-40B4-BE49-F238E27FC236}">
                <a16:creationId xmlns:a16="http://schemas.microsoft.com/office/drawing/2014/main" id="{D1EDEEA3-69CE-417C-9A1D-A707BBDC5FD2}"/>
              </a:ext>
            </a:extLst>
          </p:cNvPr>
          <p:cNvSpPr>
            <a:spLocks xmlns:a="http://schemas.openxmlformats.org/drawingml/2006/main" noGrp="1"/>
          </p:cNvSpPr>
          <p:nvPr/>
        </p:nvSpPr>
        <p:spPr>
          <a:xfrm xmlns:a="http://schemas.openxmlformats.org/drawingml/2006/main">
            <a:off x="1428750" y="4924425"/>
            <a:ext cx="8096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050" b="0">
                <a:solidFill>
                  <a:srgbClr val="183B39"/>
                </a:solidFill>
              </a:defRPr>
            </a:pPr>
            <a:r>
              <a:rPr sz="1050" b="0">
                <a:solidFill>
                  <a:srgbClr val="183B39"/>
                </a:solidFill>
              </a:rPr>
              <a:t>2.69</a:t>
            </a:r>
          </a:p>
        </p:txBody>
      </p:sp>
      <p:sp>
        <p:nvSpPr>
          <p:cNvPr id="55" name="">
            <a:extLst xmlns:a="http://schemas.openxmlformats.org/drawingml/2006/main">
              <a:ext uri="{FF2B5EF4-FFF2-40B4-BE49-F238E27FC236}">
                <a16:creationId xmlns:a16="http://schemas.microsoft.com/office/drawing/2014/main" id="{F47AC394-A0F1-4B07-BAB8-AE4EB31551F3}"/>
              </a:ext>
            </a:extLst>
          </p:cNvPr>
          <p:cNvSpPr>
            <a:spLocks xmlns:a="http://schemas.openxmlformats.org/drawingml/2006/main" noGrp="1"/>
          </p:cNvSpPr>
          <p:nvPr/>
        </p:nvSpPr>
        <p:spPr>
          <a:xfrm xmlns:a="http://schemas.openxmlformats.org/drawingml/2006/main">
            <a:off x="2333625" y="4924425"/>
            <a:ext cx="8096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050" b="0">
                <a:solidFill>
                  <a:srgbClr val="183B39"/>
                </a:solidFill>
              </a:defRPr>
            </a:pPr>
            <a:r>
              <a:rPr sz="1050" b="0">
                <a:solidFill>
                  <a:srgbClr val="183B39"/>
                </a:solidFill>
              </a:rPr>
              <a:t>2.12</a:t>
            </a:r>
          </a:p>
        </p:txBody>
      </p:sp>
      <p:sp>
        <p:nvSpPr>
          <p:cNvPr id="56" name="">
            <a:extLst xmlns:a="http://schemas.openxmlformats.org/drawingml/2006/main">
              <a:ext uri="{FF2B5EF4-FFF2-40B4-BE49-F238E27FC236}">
                <a16:creationId xmlns:a16="http://schemas.microsoft.com/office/drawing/2014/main" id="{FD0A62CF-8855-485E-A1F8-E7BCE8E32C6A}"/>
              </a:ext>
            </a:extLst>
          </p:cNvPr>
          <p:cNvSpPr>
            <a:spLocks xmlns:a="http://schemas.openxmlformats.org/drawingml/2006/main" noGrp="1"/>
          </p:cNvSpPr>
          <p:nvPr/>
        </p:nvSpPr>
        <p:spPr>
          <a:xfrm xmlns:a="http://schemas.openxmlformats.org/drawingml/2006/main">
            <a:off x="3238500" y="4924425"/>
            <a:ext cx="571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050" b="0">
                <a:solidFill>
                  <a:srgbClr val="183B39"/>
                </a:solidFill>
              </a:defRPr>
            </a:pPr>
            <a:r>
              <a:rPr sz="1050" b="0">
                <a:solidFill>
                  <a:srgbClr val="183B39"/>
                </a:solidFill>
              </a:rPr>
              <a:t>5.9%</a:t>
            </a:r>
          </a:p>
        </p:txBody>
      </p:sp>
      <p:sp>
        <p:nvSpPr>
          <p:cNvPr id="57" name="">
            <a:extLst xmlns:a="http://schemas.openxmlformats.org/drawingml/2006/main">
              <a:ext uri="{FF2B5EF4-FFF2-40B4-BE49-F238E27FC236}">
                <a16:creationId xmlns:a16="http://schemas.microsoft.com/office/drawing/2014/main" id="{E0497745-8141-4F0E-8C44-C71C409862AD}"/>
              </a:ext>
            </a:extLst>
          </p:cNvPr>
          <p:cNvSpPr>
            <a:spLocks xmlns:a="http://schemas.openxmlformats.org/drawingml/2006/main" noGrp="1"/>
          </p:cNvSpPr>
          <p:nvPr/>
        </p:nvSpPr>
        <p:spPr>
          <a:xfrm xmlns:a="http://schemas.openxmlformats.org/drawingml/2006/main">
            <a:off x="3905250" y="4924425"/>
            <a:ext cx="571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050" b="1">
                <a:solidFill>
                  <a:srgbClr val="F2B84B"/>
                </a:solidFill>
              </a:defRPr>
            </a:pPr>
            <a:r>
              <a:rPr sz="1050" b="1">
                <a:solidFill>
                  <a:srgbClr val="F2B84B"/>
                </a:solidFill>
              </a:rPr>
              <a:t>78.8%</a:t>
            </a:r>
          </a:p>
        </p:txBody>
      </p:sp>
      <p:sp>
        <p:nvSpPr>
          <p:cNvPr id="58" name="">
            <a:extLst xmlns:a="http://schemas.openxmlformats.org/drawingml/2006/main">
              <a:ext uri="{FF2B5EF4-FFF2-40B4-BE49-F238E27FC236}">
                <a16:creationId xmlns:a16="http://schemas.microsoft.com/office/drawing/2014/main" id="{994C7663-81BD-416F-9DF8-E5CC4EEE33DC}"/>
              </a:ext>
            </a:extLst>
          </p:cNvPr>
          <p:cNvSpPr>
            <a:spLocks xmlns:a="http://schemas.openxmlformats.org/drawingml/2006/main" noGrp="1"/>
          </p:cNvSpPr>
          <p:nvPr/>
        </p:nvSpPr>
        <p:spPr>
          <a:xfrm xmlns:a="http://schemas.openxmlformats.org/drawingml/2006/main">
            <a:off x="4591050" y="4924425"/>
            <a:ext cx="685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050" b="0">
                <a:solidFill>
                  <a:srgbClr val="183B39"/>
                </a:solidFill>
              </a:defRPr>
            </a:pPr>
            <a:r>
              <a:rPr sz="1050" b="0">
                <a:solidFill>
                  <a:srgbClr val="183B39"/>
                </a:solidFill>
              </a:rPr>
              <a:t>0.57</a:t>
            </a:r>
          </a:p>
        </p:txBody>
      </p:sp>
      <p:sp>
        <p:nvSpPr>
          <p:cNvPr id="59" name="">
            <a:extLst xmlns:a="http://schemas.openxmlformats.org/drawingml/2006/main">
              <a:ext uri="{FF2B5EF4-FFF2-40B4-BE49-F238E27FC236}">
                <a16:creationId xmlns:a16="http://schemas.microsoft.com/office/drawing/2014/main" id="{D5876521-E813-4E0D-BA16-7DFCEB2C3BEC}"/>
              </a:ext>
            </a:extLst>
          </p:cNvPr>
          <p:cNvSpPr>
            <a:spLocks xmlns:a="http://schemas.openxmlformats.org/drawingml/2006/main" noGrp="1"/>
          </p:cNvSpPr>
          <p:nvPr/>
        </p:nvSpPr>
        <p:spPr>
          <a:xfrm xmlns:a="http://schemas.openxmlformats.org/drawingml/2006/main">
            <a:off x="5381625" y="4924425"/>
            <a:ext cx="10001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900" b="1">
                <a:solidFill>
                  <a:srgbClr val="F2B84B"/>
                </a:solidFill>
              </a:defRPr>
            </a:pPr>
            <a:r>
              <a:rPr sz="900" b="1">
                <a:solidFill>
                  <a:srgbClr val="F2B84B"/>
                </a:solidFill>
              </a:rPr>
              <a:t>WATCH</a:t>
            </a:r>
          </a:p>
        </p:txBody>
      </p:sp>
      <p:sp>
        <p:nvSpPr>
          <p:cNvPr id="60" name="">
            <a:extLst xmlns:a="http://schemas.openxmlformats.org/drawingml/2006/main">
              <a:ext uri="{FF2B5EF4-FFF2-40B4-BE49-F238E27FC236}">
                <a16:creationId xmlns:a16="http://schemas.microsoft.com/office/drawing/2014/main" id="{7C83C6A6-5EE2-4786-9B51-879AFD1762FF}"/>
              </a:ext>
            </a:extLst>
          </p:cNvPr>
          <p:cNvSpPr>
            <a:spLocks xmlns:a="http://schemas.openxmlformats.org/drawingml/2006/main" noGrp="1"/>
          </p:cNvSpPr>
          <p:nvPr/>
        </p:nvSpPr>
        <p:spPr>
          <a:xfrm xmlns:a="http://schemas.openxmlformats.org/drawingml/2006/main">
            <a:off x="361950" y="5905500"/>
            <a:ext cx="6134100" cy="257175"/>
          </a:xfrm>
          <a:prstGeom xmlns:a="http://schemas.openxmlformats.org/drawingml/2006/main" prst="rect">
            <a:avLst/>
          </a:prstGeom>
          <a:solidFill xmlns:a="http://schemas.openxmlformats.org/drawingml/2006/main">
            <a:srgbClr val="116F68"/>
          </a:solidFill>
          <a:ln xmlns:a="http://schemas.openxmlformats.org/drawingml/2006/main" w="0">
            <a:solidFill>
              <a:srgbClr val="116F68"/>
            </a:solidFill>
            <a:prstDash val="solid"/>
          </a:ln>
        </p:spPr>
      </p:sp>
      <p:sp>
        <p:nvSpPr>
          <p:cNvPr id="61" name="">
            <a:extLst xmlns:a="http://schemas.openxmlformats.org/drawingml/2006/main">
              <a:ext uri="{FF2B5EF4-FFF2-40B4-BE49-F238E27FC236}">
                <a16:creationId xmlns:a16="http://schemas.microsoft.com/office/drawing/2014/main" id="{5AA9238E-0FD4-4C4C-8BD1-0AAF69534E36}"/>
              </a:ext>
            </a:extLst>
          </p:cNvPr>
          <p:cNvSpPr>
            <a:spLocks xmlns:a="http://schemas.openxmlformats.org/drawingml/2006/main" noGrp="1"/>
          </p:cNvSpPr>
          <p:nvPr/>
        </p:nvSpPr>
        <p:spPr>
          <a:xfrm xmlns:a="http://schemas.openxmlformats.org/drawingml/2006/main">
            <a:off x="457200" y="5915025"/>
            <a:ext cx="59436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FFFFFF"/>
                </a:solidFill>
              </a:defRPr>
            </a:pPr>
            <a:r>
              <a:rPr sz="900" b="1">
                <a:solidFill>
                  <a:srgbClr val="FFFFFF"/>
                </a:solidFill>
              </a:rPr>
              <a:t>PORTFOLIO ACTIONS</a:t>
            </a:r>
          </a:p>
        </p:txBody>
      </p:sp>
      <p:sp>
        <p:nvSpPr>
          <p:cNvPr id="62" name="">
            <a:extLst xmlns:a="http://schemas.openxmlformats.org/drawingml/2006/main">
              <a:ext uri="{FF2B5EF4-FFF2-40B4-BE49-F238E27FC236}">
                <a16:creationId xmlns:a16="http://schemas.microsoft.com/office/drawing/2014/main" id="{A71062D5-F8F5-4944-A124-FA50008F34F4}"/>
              </a:ext>
            </a:extLst>
          </p:cNvPr>
          <p:cNvSpPr>
            <a:spLocks xmlns:a="http://schemas.openxmlformats.org/drawingml/2006/main" noGrp="1"/>
          </p:cNvSpPr>
          <p:nvPr/>
        </p:nvSpPr>
        <p:spPr>
          <a:xfrm xmlns:a="http://schemas.openxmlformats.org/drawingml/2006/main">
            <a:off x="476250" y="6334125"/>
            <a:ext cx="1524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2B9A66"/>
                </a:solidFill>
              </a:defRPr>
            </a:pPr>
            <a:r>
              <a:rPr sz="900" b="1">
                <a:solidFill>
                  <a:srgbClr val="2B9A66"/>
                </a:solidFill>
              </a:rPr>
              <a:t>●</a:t>
            </a:r>
          </a:p>
        </p:txBody>
      </p:sp>
      <p:sp>
        <p:nvSpPr>
          <p:cNvPr id="63" name="">
            <a:extLst xmlns:a="http://schemas.openxmlformats.org/drawingml/2006/main">
              <a:ext uri="{FF2B5EF4-FFF2-40B4-BE49-F238E27FC236}">
                <a16:creationId xmlns:a16="http://schemas.microsoft.com/office/drawing/2014/main" id="{CEE9095B-F146-4885-B2DA-2CEAD7E69A59}"/>
              </a:ext>
            </a:extLst>
          </p:cNvPr>
          <p:cNvSpPr>
            <a:spLocks xmlns:a="http://schemas.openxmlformats.org/drawingml/2006/main" noGrp="1"/>
          </p:cNvSpPr>
          <p:nvPr/>
        </p:nvSpPr>
        <p:spPr>
          <a:xfrm xmlns:a="http://schemas.openxmlformats.org/drawingml/2006/main">
            <a:off x="685800" y="6334125"/>
            <a:ext cx="56959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050" b="0">
                <a:solidFill>
                  <a:srgbClr val="183B39"/>
                </a:solidFill>
              </a:defRPr>
            </a:pPr>
            <a:r>
              <a:rPr sz="1050" b="0">
                <a:solidFill>
                  <a:srgbClr val="183B39"/>
                </a:solidFill>
              </a:rPr>
              <a:t>Protect: West, South‑1 and Central — maintain hero-SKU availability and avoid unnecessary loading.</a:t>
            </a:r>
          </a:p>
        </p:txBody>
      </p:sp>
      <p:sp>
        <p:nvSpPr>
          <p:cNvPr id="64" name="">
            <a:extLst xmlns:a="http://schemas.openxmlformats.org/drawingml/2006/main">
              <a:ext uri="{FF2B5EF4-FFF2-40B4-BE49-F238E27FC236}">
                <a16:creationId xmlns:a16="http://schemas.microsoft.com/office/drawing/2014/main" id="{1993A94C-1704-41BA-9981-1B4465D670F2}"/>
              </a:ext>
            </a:extLst>
          </p:cNvPr>
          <p:cNvSpPr>
            <a:spLocks xmlns:a="http://schemas.openxmlformats.org/drawingml/2006/main" noGrp="1"/>
          </p:cNvSpPr>
          <p:nvPr/>
        </p:nvSpPr>
        <p:spPr>
          <a:xfrm xmlns:a="http://schemas.openxmlformats.org/drawingml/2006/main">
            <a:off x="476250" y="6924675"/>
            <a:ext cx="1524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F2B84B"/>
                </a:solidFill>
              </a:defRPr>
            </a:pPr>
            <a:r>
              <a:rPr sz="900" b="1">
                <a:solidFill>
                  <a:srgbClr val="F2B84B"/>
                </a:solidFill>
              </a:rPr>
              <a:t>●</a:t>
            </a:r>
          </a:p>
        </p:txBody>
      </p:sp>
      <p:sp>
        <p:nvSpPr>
          <p:cNvPr id="65" name="">
            <a:extLst xmlns:a="http://schemas.openxmlformats.org/drawingml/2006/main">
              <a:ext uri="{FF2B5EF4-FFF2-40B4-BE49-F238E27FC236}">
                <a16:creationId xmlns:a16="http://schemas.microsoft.com/office/drawing/2014/main" id="{FDC99503-02B8-4351-9643-369DA3AA71D0}"/>
              </a:ext>
            </a:extLst>
          </p:cNvPr>
          <p:cNvSpPr>
            <a:spLocks xmlns:a="http://schemas.openxmlformats.org/drawingml/2006/main" noGrp="1"/>
          </p:cNvSpPr>
          <p:nvPr/>
        </p:nvSpPr>
        <p:spPr>
          <a:xfrm xmlns:a="http://schemas.openxmlformats.org/drawingml/2006/main">
            <a:off x="685800" y="6924675"/>
            <a:ext cx="56959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050" b="0">
                <a:solidFill>
                  <a:srgbClr val="183B39"/>
                </a:solidFill>
              </a:defRPr>
            </a:pPr>
            <a:r>
              <a:rPr sz="1050" b="0">
                <a:solidFill>
                  <a:srgbClr val="183B39"/>
                </a:solidFill>
              </a:rPr>
              <a:t>Watch: South‑2 — isolate the DMart gap while sustaining Apollo and Reliance throughput.</a:t>
            </a:r>
          </a:p>
        </p:txBody>
      </p:sp>
      <p:sp>
        <p:nvSpPr>
          <p:cNvPr id="66" name="">
            <a:extLst xmlns:a="http://schemas.openxmlformats.org/drawingml/2006/main">
              <a:ext uri="{FF2B5EF4-FFF2-40B4-BE49-F238E27FC236}">
                <a16:creationId xmlns:a16="http://schemas.microsoft.com/office/drawing/2014/main" id="{34CDADD9-6E49-4616-A085-98BF24786443}"/>
              </a:ext>
            </a:extLst>
          </p:cNvPr>
          <p:cNvSpPr>
            <a:spLocks xmlns:a="http://schemas.openxmlformats.org/drawingml/2006/main" noGrp="1"/>
          </p:cNvSpPr>
          <p:nvPr/>
        </p:nvSpPr>
        <p:spPr>
          <a:xfrm xmlns:a="http://schemas.openxmlformats.org/drawingml/2006/main">
            <a:off x="476250" y="7515225"/>
            <a:ext cx="1524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D6544D"/>
                </a:solidFill>
              </a:defRPr>
            </a:pPr>
            <a:r>
              <a:rPr sz="900" b="1">
                <a:solidFill>
                  <a:srgbClr val="D6544D"/>
                </a:solidFill>
              </a:rPr>
              <a:t>●</a:t>
            </a:r>
          </a:p>
        </p:txBody>
      </p:sp>
      <p:sp>
        <p:nvSpPr>
          <p:cNvPr id="67" name="">
            <a:extLst xmlns:a="http://schemas.openxmlformats.org/drawingml/2006/main">
              <a:ext uri="{FF2B5EF4-FFF2-40B4-BE49-F238E27FC236}">
                <a16:creationId xmlns:a16="http://schemas.microsoft.com/office/drawing/2014/main" id="{C0F0C43C-86E2-4213-8612-19B194D556BB}"/>
              </a:ext>
            </a:extLst>
          </p:cNvPr>
          <p:cNvSpPr>
            <a:spLocks xmlns:a="http://schemas.openxmlformats.org/drawingml/2006/main" noGrp="1"/>
          </p:cNvSpPr>
          <p:nvPr/>
        </p:nvSpPr>
        <p:spPr>
          <a:xfrm xmlns:a="http://schemas.openxmlformats.org/drawingml/2006/main">
            <a:off x="685800" y="7515225"/>
            <a:ext cx="56959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050" b="0">
                <a:solidFill>
                  <a:srgbClr val="183B39"/>
                </a:solidFill>
              </a:defRPr>
            </a:pPr>
            <a:r>
              <a:rPr sz="1050" b="0">
                <a:solidFill>
                  <a:srgbClr val="183B39"/>
                </a:solidFill>
              </a:rPr>
              <a:t>Fix: North and East — run weekly chain-zone gap closure with named owners and SKU-level exceptions.</a:t>
            </a:r>
          </a:p>
        </p:txBody>
      </p:sp>
      <p:sp>
        <p:nvSpPr>
          <p:cNvPr id="68" name="">
            <a:extLst xmlns:a="http://schemas.openxmlformats.org/drawingml/2006/main">
              <a:ext uri="{FF2B5EF4-FFF2-40B4-BE49-F238E27FC236}">
                <a16:creationId xmlns:a16="http://schemas.microsoft.com/office/drawing/2014/main" id="{5598F1F6-B3A7-47F0-8523-370CDE627947}"/>
              </a:ext>
            </a:extLst>
          </p:cNvPr>
          <p:cNvSpPr>
            <a:spLocks xmlns:a="http://schemas.openxmlformats.org/drawingml/2006/main" noGrp="1"/>
          </p:cNvSpPr>
          <p:nvPr/>
        </p:nvSpPr>
        <p:spPr>
          <a:xfrm xmlns:a="http://schemas.openxmlformats.org/drawingml/2006/main">
            <a:off x="476250" y="8105775"/>
            <a:ext cx="1524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28A596"/>
                </a:solidFill>
              </a:defRPr>
            </a:pPr>
            <a:r>
              <a:rPr sz="900" b="1">
                <a:solidFill>
                  <a:srgbClr val="28A596"/>
                </a:solidFill>
              </a:rPr>
              <a:t>●</a:t>
            </a:r>
          </a:p>
        </p:txBody>
      </p:sp>
      <p:sp>
        <p:nvSpPr>
          <p:cNvPr id="69" name="">
            <a:extLst xmlns:a="http://schemas.openxmlformats.org/drawingml/2006/main">
              <a:ext uri="{FF2B5EF4-FFF2-40B4-BE49-F238E27FC236}">
                <a16:creationId xmlns:a16="http://schemas.microsoft.com/office/drawing/2014/main" id="{4FBB433C-AF8D-4E8B-B4B9-088272787BFE}"/>
              </a:ext>
            </a:extLst>
          </p:cNvPr>
          <p:cNvSpPr>
            <a:spLocks xmlns:a="http://schemas.openxmlformats.org/drawingml/2006/main" noGrp="1"/>
          </p:cNvSpPr>
          <p:nvPr/>
        </p:nvSpPr>
        <p:spPr>
          <a:xfrm xmlns:a="http://schemas.openxmlformats.org/drawingml/2006/main">
            <a:off x="685800" y="8105775"/>
            <a:ext cx="56959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050" b="0">
                <a:solidFill>
                  <a:srgbClr val="183B39"/>
                </a:solidFill>
              </a:defRPr>
            </a:pPr>
            <a:r>
              <a:rPr sz="1050" b="0">
                <a:solidFill>
                  <a:srgbClr val="183B39"/>
                </a:solidFill>
              </a:rPr>
              <a:t>Separate: Pan India / FSN — maintain a distinct e-commerce flow view because geographic primary is unavailable.</a:t>
            </a:r>
          </a:p>
        </p:txBody>
      </p:sp>
      <p:sp>
        <p:nvSpPr>
          <p:cNvPr id="70" name="">
            <a:extLst xmlns:a="http://schemas.openxmlformats.org/drawingml/2006/main">
              <a:ext uri="{FF2B5EF4-FFF2-40B4-BE49-F238E27FC236}">
                <a16:creationId xmlns:a16="http://schemas.microsoft.com/office/drawing/2014/main" id="{EEDDA4F6-F680-4427-901B-51CAE5A1EC66}"/>
              </a:ext>
            </a:extLst>
          </p:cNvPr>
          <p:cNvSpPr>
            <a:spLocks xmlns:a="http://schemas.openxmlformats.org/drawingml/2006/main" noGrp="1"/>
          </p:cNvSpPr>
          <p:nvPr/>
        </p:nvSpPr>
        <p:spPr>
          <a:xfrm xmlns:a="http://schemas.openxmlformats.org/drawingml/2006/main">
            <a:off x="361950" y="9001125"/>
            <a:ext cx="1924050" cy="2190750"/>
          </a:xfrm>
          <a:prstGeom xmlns:a="http://schemas.openxmlformats.org/drawingml/2006/main" prst="roundRect">
            <a:avLst>
              <a:gd name="adj" fmla="val 3960"/>
            </a:avLst>
          </a:prstGeom>
          <a:solidFill xmlns:a="http://schemas.openxmlformats.org/drawingml/2006/main">
            <a:srgbClr val="FFFFFF"/>
          </a:solidFill>
          <a:ln xmlns:a="http://schemas.openxmlformats.org/drawingml/2006/main" w="9525">
            <a:solidFill>
              <a:srgbClr val="C8DCD7"/>
            </a:solidFill>
            <a:prstDash val="solid"/>
          </a:ln>
        </p:spPr>
      </p:sp>
      <p:sp>
        <p:nvSpPr>
          <p:cNvPr id="71" name="">
            <a:extLst xmlns:a="http://schemas.openxmlformats.org/drawingml/2006/main">
              <a:ext uri="{FF2B5EF4-FFF2-40B4-BE49-F238E27FC236}">
                <a16:creationId xmlns:a16="http://schemas.microsoft.com/office/drawing/2014/main" id="{4279427C-841D-48A2-925D-7C7F3CB90A9C}"/>
              </a:ext>
            </a:extLst>
          </p:cNvPr>
          <p:cNvSpPr>
            <a:spLocks xmlns:a="http://schemas.openxmlformats.org/drawingml/2006/main" noGrp="1"/>
          </p:cNvSpPr>
          <p:nvPr/>
        </p:nvSpPr>
        <p:spPr>
          <a:xfrm xmlns:a="http://schemas.openxmlformats.org/drawingml/2006/main">
            <a:off x="361950" y="9001125"/>
            <a:ext cx="1924050" cy="285750"/>
          </a:xfrm>
          <a:prstGeom xmlns:a="http://schemas.openxmlformats.org/drawingml/2006/main" prst="rect">
            <a:avLst/>
          </a:prstGeom>
          <a:solidFill xmlns:a="http://schemas.openxmlformats.org/drawingml/2006/main">
            <a:srgbClr val="2B9A66"/>
          </a:solidFill>
          <a:ln xmlns:a="http://schemas.openxmlformats.org/drawingml/2006/main" w="0">
            <a:solidFill>
              <a:srgbClr val="2B9A66"/>
            </a:solidFill>
            <a:prstDash val="solid"/>
          </a:ln>
        </p:spPr>
      </p:sp>
      <p:sp>
        <p:nvSpPr>
          <p:cNvPr id="72" name="">
            <a:extLst xmlns:a="http://schemas.openxmlformats.org/drawingml/2006/main">
              <a:ext uri="{FF2B5EF4-FFF2-40B4-BE49-F238E27FC236}">
                <a16:creationId xmlns:a16="http://schemas.microsoft.com/office/drawing/2014/main" id="{2590E014-26F0-4FED-AD12-17BF4BC0FA61}"/>
              </a:ext>
            </a:extLst>
          </p:cNvPr>
          <p:cNvSpPr>
            <a:spLocks xmlns:a="http://schemas.openxmlformats.org/drawingml/2006/main" noGrp="1"/>
          </p:cNvSpPr>
          <p:nvPr/>
        </p:nvSpPr>
        <p:spPr>
          <a:xfrm xmlns:a="http://schemas.openxmlformats.org/drawingml/2006/main">
            <a:off x="447675" y="9020175"/>
            <a:ext cx="17526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788" b="1">
                <a:solidFill>
                  <a:srgbClr val="FFFFFF"/>
                </a:solidFill>
              </a:defRPr>
            </a:pPr>
            <a:r>
              <a:rPr sz="788" b="1">
                <a:solidFill>
                  <a:srgbClr val="FFFFFF"/>
                </a:solidFill>
              </a:rPr>
              <a:t>PROTECT ENGINES</a:t>
            </a:r>
          </a:p>
        </p:txBody>
      </p:sp>
      <p:sp>
        <p:nvSpPr>
          <p:cNvPr id="73" name="">
            <a:extLst xmlns:a="http://schemas.openxmlformats.org/drawingml/2006/main">
              <a:ext uri="{FF2B5EF4-FFF2-40B4-BE49-F238E27FC236}">
                <a16:creationId xmlns:a16="http://schemas.microsoft.com/office/drawing/2014/main" id="{1F251C8F-B8CC-4E13-85BB-B593FBA9A1AC}"/>
              </a:ext>
            </a:extLst>
          </p:cNvPr>
          <p:cNvSpPr>
            <a:spLocks xmlns:a="http://schemas.openxmlformats.org/drawingml/2006/main" noGrp="1"/>
          </p:cNvSpPr>
          <p:nvPr/>
        </p:nvSpPr>
        <p:spPr>
          <a:xfrm xmlns:a="http://schemas.openxmlformats.org/drawingml/2006/main">
            <a:off x="495300" y="9410700"/>
            <a:ext cx="16573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275" b="1">
                <a:solidFill>
                  <a:srgbClr val="2B9A66"/>
                </a:solidFill>
              </a:defRPr>
            </a:pPr>
            <a:r>
              <a:rPr sz="1275" b="1">
                <a:solidFill>
                  <a:srgbClr val="2B9A66"/>
                </a:solidFill>
              </a:rPr>
              <a:t>West + South‑1</a:t>
            </a:r>
          </a:p>
        </p:txBody>
      </p:sp>
      <p:sp>
        <p:nvSpPr>
          <p:cNvPr id="74" name="">
            <a:extLst xmlns:a="http://schemas.openxmlformats.org/drawingml/2006/main">
              <a:ext uri="{FF2B5EF4-FFF2-40B4-BE49-F238E27FC236}">
                <a16:creationId xmlns:a16="http://schemas.microsoft.com/office/drawing/2014/main" id="{B3F2BCA5-98A4-4D8A-8B75-4FDFB79F10AA}"/>
              </a:ext>
            </a:extLst>
          </p:cNvPr>
          <p:cNvSpPr>
            <a:spLocks xmlns:a="http://schemas.openxmlformats.org/drawingml/2006/main" noGrp="1"/>
          </p:cNvSpPr>
          <p:nvPr/>
        </p:nvSpPr>
        <p:spPr>
          <a:xfrm xmlns:a="http://schemas.openxmlformats.org/drawingml/2006/main">
            <a:off x="533400" y="9877425"/>
            <a:ext cx="158115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825" b="0">
                <a:solidFill>
                  <a:srgbClr val="183B39"/>
                </a:solidFill>
              </a:defRPr>
            </a:pPr>
            <a:r>
              <a:rPr sz="825" b="0">
                <a:solidFill>
                  <a:srgbClr val="183B39"/>
                </a:solidFill>
              </a:rPr>
              <a:t>₹16.47 Cr offtake | defend hero-SKU OSA.</a:t>
            </a:r>
          </a:p>
        </p:txBody>
      </p:sp>
      <p:sp>
        <p:nvSpPr>
          <p:cNvPr id="75" name="">
            <a:extLst xmlns:a="http://schemas.openxmlformats.org/drawingml/2006/main">
              <a:ext uri="{FF2B5EF4-FFF2-40B4-BE49-F238E27FC236}">
                <a16:creationId xmlns:a16="http://schemas.microsoft.com/office/drawing/2014/main" id="{47467862-7DC3-41FE-AA0F-938D43911CC6}"/>
              </a:ext>
            </a:extLst>
          </p:cNvPr>
          <p:cNvSpPr>
            <a:spLocks xmlns:a="http://schemas.openxmlformats.org/drawingml/2006/main" noGrp="1"/>
          </p:cNvSpPr>
          <p:nvPr/>
        </p:nvSpPr>
        <p:spPr>
          <a:xfrm xmlns:a="http://schemas.openxmlformats.org/drawingml/2006/main">
            <a:off x="2466975" y="9001125"/>
            <a:ext cx="1924050" cy="2190750"/>
          </a:xfrm>
          <a:prstGeom xmlns:a="http://schemas.openxmlformats.org/drawingml/2006/main" prst="roundRect">
            <a:avLst>
              <a:gd name="adj" fmla="val 3960"/>
            </a:avLst>
          </a:prstGeom>
          <a:solidFill xmlns:a="http://schemas.openxmlformats.org/drawingml/2006/main">
            <a:srgbClr val="FFFFFF"/>
          </a:solidFill>
          <a:ln xmlns:a="http://schemas.openxmlformats.org/drawingml/2006/main" w="9525">
            <a:solidFill>
              <a:srgbClr val="C8DCD7"/>
            </a:solidFill>
            <a:prstDash val="solid"/>
          </a:ln>
        </p:spPr>
      </p:sp>
      <p:sp>
        <p:nvSpPr>
          <p:cNvPr id="76" name="">
            <a:extLst xmlns:a="http://schemas.openxmlformats.org/drawingml/2006/main">
              <a:ext uri="{FF2B5EF4-FFF2-40B4-BE49-F238E27FC236}">
                <a16:creationId xmlns:a16="http://schemas.microsoft.com/office/drawing/2014/main" id="{C7995071-8BEF-474A-A69B-C676B60364DD}"/>
              </a:ext>
            </a:extLst>
          </p:cNvPr>
          <p:cNvSpPr>
            <a:spLocks xmlns:a="http://schemas.openxmlformats.org/drawingml/2006/main" noGrp="1"/>
          </p:cNvSpPr>
          <p:nvPr/>
        </p:nvSpPr>
        <p:spPr>
          <a:xfrm xmlns:a="http://schemas.openxmlformats.org/drawingml/2006/main">
            <a:off x="2466975" y="9001125"/>
            <a:ext cx="1924050" cy="285750"/>
          </a:xfrm>
          <a:prstGeom xmlns:a="http://schemas.openxmlformats.org/drawingml/2006/main" prst="rect">
            <a:avLst/>
          </a:prstGeom>
          <a:solidFill xmlns:a="http://schemas.openxmlformats.org/drawingml/2006/main">
            <a:srgbClr val="F2B84B"/>
          </a:solidFill>
          <a:ln xmlns:a="http://schemas.openxmlformats.org/drawingml/2006/main" w="0">
            <a:solidFill>
              <a:srgbClr val="F2B84B"/>
            </a:solidFill>
            <a:prstDash val="solid"/>
          </a:ln>
        </p:spPr>
      </p:sp>
      <p:sp>
        <p:nvSpPr>
          <p:cNvPr id="77" name="">
            <a:extLst xmlns:a="http://schemas.openxmlformats.org/drawingml/2006/main">
              <a:ext uri="{FF2B5EF4-FFF2-40B4-BE49-F238E27FC236}">
                <a16:creationId xmlns:a16="http://schemas.microsoft.com/office/drawing/2014/main" id="{B870BA1F-2914-4B1F-AC22-1F766C9F18C5}"/>
              </a:ext>
            </a:extLst>
          </p:cNvPr>
          <p:cNvSpPr>
            <a:spLocks xmlns:a="http://schemas.openxmlformats.org/drawingml/2006/main" noGrp="1"/>
          </p:cNvSpPr>
          <p:nvPr/>
        </p:nvSpPr>
        <p:spPr>
          <a:xfrm xmlns:a="http://schemas.openxmlformats.org/drawingml/2006/main">
            <a:off x="2552700" y="9020175"/>
            <a:ext cx="17526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788" b="1">
                <a:solidFill>
                  <a:srgbClr val="FFFFFF"/>
                </a:solidFill>
              </a:defRPr>
            </a:pPr>
            <a:r>
              <a:rPr sz="788" b="1">
                <a:solidFill>
                  <a:srgbClr val="FFFFFF"/>
                </a:solidFill>
              </a:rPr>
              <a:t>WATCH FLOW</a:t>
            </a:r>
          </a:p>
        </p:txBody>
      </p:sp>
      <p:sp>
        <p:nvSpPr>
          <p:cNvPr id="78" name="">
            <a:extLst xmlns:a="http://schemas.openxmlformats.org/drawingml/2006/main">
              <a:ext uri="{FF2B5EF4-FFF2-40B4-BE49-F238E27FC236}">
                <a16:creationId xmlns:a16="http://schemas.microsoft.com/office/drawing/2014/main" id="{00535330-B33F-45BE-A242-28C69F4A96AE}"/>
              </a:ext>
            </a:extLst>
          </p:cNvPr>
          <p:cNvSpPr>
            <a:spLocks xmlns:a="http://schemas.openxmlformats.org/drawingml/2006/main" noGrp="1"/>
          </p:cNvSpPr>
          <p:nvPr/>
        </p:nvSpPr>
        <p:spPr>
          <a:xfrm xmlns:a="http://schemas.openxmlformats.org/drawingml/2006/main">
            <a:off x="2600325" y="9410700"/>
            <a:ext cx="16573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275" b="1">
                <a:solidFill>
                  <a:srgbClr val="F2B84B"/>
                </a:solidFill>
              </a:defRPr>
            </a:pPr>
            <a:r>
              <a:rPr sz="1275" b="1">
                <a:solidFill>
                  <a:srgbClr val="F2B84B"/>
                </a:solidFill>
              </a:rPr>
              <a:t>South‑2</a:t>
            </a:r>
          </a:p>
        </p:txBody>
      </p:sp>
      <p:sp>
        <p:nvSpPr>
          <p:cNvPr id="79" name="">
            <a:extLst xmlns:a="http://schemas.openxmlformats.org/drawingml/2006/main">
              <a:ext uri="{FF2B5EF4-FFF2-40B4-BE49-F238E27FC236}">
                <a16:creationId xmlns:a16="http://schemas.microsoft.com/office/drawing/2014/main" id="{735AAB00-EC13-4452-91C7-2A11804DF1A9}"/>
              </a:ext>
            </a:extLst>
          </p:cNvPr>
          <p:cNvSpPr>
            <a:spLocks xmlns:a="http://schemas.openxmlformats.org/drawingml/2006/main" noGrp="1"/>
          </p:cNvSpPr>
          <p:nvPr/>
        </p:nvSpPr>
        <p:spPr>
          <a:xfrm xmlns:a="http://schemas.openxmlformats.org/drawingml/2006/main">
            <a:off x="2638425" y="9877425"/>
            <a:ext cx="158115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825" b="0">
                <a:solidFill>
                  <a:srgbClr val="183B39"/>
                </a:solidFill>
              </a:defRPr>
            </a:pPr>
            <a:r>
              <a:rPr sz="825" b="0">
                <a:solidFill>
                  <a:srgbClr val="183B39"/>
                </a:solidFill>
              </a:rPr>
              <a:t>₹1.98 Cr gap | isolate DMart exceptions.</a:t>
            </a:r>
          </a:p>
        </p:txBody>
      </p:sp>
      <p:sp>
        <p:nvSpPr>
          <p:cNvPr id="80" name="">
            <a:extLst xmlns:a="http://schemas.openxmlformats.org/drawingml/2006/main">
              <a:ext uri="{FF2B5EF4-FFF2-40B4-BE49-F238E27FC236}">
                <a16:creationId xmlns:a16="http://schemas.microsoft.com/office/drawing/2014/main" id="{FCFA5DA9-5AE4-4C84-9168-C3BF30FFBADA}"/>
              </a:ext>
            </a:extLst>
          </p:cNvPr>
          <p:cNvSpPr>
            <a:spLocks xmlns:a="http://schemas.openxmlformats.org/drawingml/2006/main" noGrp="1"/>
          </p:cNvSpPr>
          <p:nvPr/>
        </p:nvSpPr>
        <p:spPr>
          <a:xfrm xmlns:a="http://schemas.openxmlformats.org/drawingml/2006/main">
            <a:off x="4572000" y="9001125"/>
            <a:ext cx="1924050" cy="2190750"/>
          </a:xfrm>
          <a:prstGeom xmlns:a="http://schemas.openxmlformats.org/drawingml/2006/main" prst="roundRect">
            <a:avLst>
              <a:gd name="adj" fmla="val 3960"/>
            </a:avLst>
          </a:prstGeom>
          <a:solidFill xmlns:a="http://schemas.openxmlformats.org/drawingml/2006/main">
            <a:srgbClr val="FFFFFF"/>
          </a:solidFill>
          <a:ln xmlns:a="http://schemas.openxmlformats.org/drawingml/2006/main" w="9525">
            <a:solidFill>
              <a:srgbClr val="C8DCD7"/>
            </a:solidFill>
            <a:prstDash val="solid"/>
          </a:ln>
        </p:spPr>
      </p:sp>
      <p:sp>
        <p:nvSpPr>
          <p:cNvPr id="81" name="">
            <a:extLst xmlns:a="http://schemas.openxmlformats.org/drawingml/2006/main">
              <a:ext uri="{FF2B5EF4-FFF2-40B4-BE49-F238E27FC236}">
                <a16:creationId xmlns:a16="http://schemas.microsoft.com/office/drawing/2014/main" id="{2E48A84E-DBC6-4478-BDA0-4ECCB714B82B}"/>
              </a:ext>
            </a:extLst>
          </p:cNvPr>
          <p:cNvSpPr>
            <a:spLocks xmlns:a="http://schemas.openxmlformats.org/drawingml/2006/main" noGrp="1"/>
          </p:cNvSpPr>
          <p:nvPr/>
        </p:nvSpPr>
        <p:spPr>
          <a:xfrm xmlns:a="http://schemas.openxmlformats.org/drawingml/2006/main">
            <a:off x="4572000" y="9001125"/>
            <a:ext cx="1924050" cy="285750"/>
          </a:xfrm>
          <a:prstGeom xmlns:a="http://schemas.openxmlformats.org/drawingml/2006/main" prst="rect">
            <a:avLst/>
          </a:prstGeom>
          <a:solidFill xmlns:a="http://schemas.openxmlformats.org/drawingml/2006/main">
            <a:srgbClr val="D6544D"/>
          </a:solidFill>
          <a:ln xmlns:a="http://schemas.openxmlformats.org/drawingml/2006/main" w="0">
            <a:solidFill>
              <a:srgbClr val="D6544D"/>
            </a:solidFill>
            <a:prstDash val="solid"/>
          </a:ln>
        </p:spPr>
      </p:sp>
      <p:sp>
        <p:nvSpPr>
          <p:cNvPr id="82" name="">
            <a:extLst xmlns:a="http://schemas.openxmlformats.org/drawingml/2006/main">
              <a:ext uri="{FF2B5EF4-FFF2-40B4-BE49-F238E27FC236}">
                <a16:creationId xmlns:a16="http://schemas.microsoft.com/office/drawing/2014/main" id="{67F89B5D-DB2F-424B-A150-2360AD574F38}"/>
              </a:ext>
            </a:extLst>
          </p:cNvPr>
          <p:cNvSpPr>
            <a:spLocks xmlns:a="http://schemas.openxmlformats.org/drawingml/2006/main" noGrp="1"/>
          </p:cNvSpPr>
          <p:nvPr/>
        </p:nvSpPr>
        <p:spPr>
          <a:xfrm xmlns:a="http://schemas.openxmlformats.org/drawingml/2006/main">
            <a:off x="4657725" y="9020175"/>
            <a:ext cx="17526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788" b="1">
                <a:solidFill>
                  <a:srgbClr val="FFFFFF"/>
                </a:solidFill>
              </a:defRPr>
            </a:pPr>
            <a:r>
              <a:rPr sz="788" b="1">
                <a:solidFill>
                  <a:srgbClr val="FFFFFF"/>
                </a:solidFill>
              </a:rPr>
              <a:t>FIX CONCENTRATION</a:t>
            </a:r>
          </a:p>
        </p:txBody>
      </p:sp>
      <p:sp>
        <p:nvSpPr>
          <p:cNvPr id="83" name="">
            <a:extLst xmlns:a="http://schemas.openxmlformats.org/drawingml/2006/main">
              <a:ext uri="{FF2B5EF4-FFF2-40B4-BE49-F238E27FC236}">
                <a16:creationId xmlns:a16="http://schemas.microsoft.com/office/drawing/2014/main" id="{3C0F9139-1D14-4140-AD9C-A727A01BC63A}"/>
              </a:ext>
            </a:extLst>
          </p:cNvPr>
          <p:cNvSpPr>
            <a:spLocks xmlns:a="http://schemas.openxmlformats.org/drawingml/2006/main" noGrp="1"/>
          </p:cNvSpPr>
          <p:nvPr/>
        </p:nvSpPr>
        <p:spPr>
          <a:xfrm xmlns:a="http://schemas.openxmlformats.org/drawingml/2006/main">
            <a:off x="4705350" y="9410700"/>
            <a:ext cx="16573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275" b="1">
                <a:solidFill>
                  <a:srgbClr val="D6544D"/>
                </a:solidFill>
              </a:defRPr>
            </a:pPr>
            <a:r>
              <a:rPr sz="1275" b="1">
                <a:solidFill>
                  <a:srgbClr val="D6544D"/>
                </a:solidFill>
              </a:rPr>
              <a:t>North + East</a:t>
            </a:r>
          </a:p>
        </p:txBody>
      </p:sp>
      <p:sp>
        <p:nvSpPr>
          <p:cNvPr id="84" name="">
            <a:extLst xmlns:a="http://schemas.openxmlformats.org/drawingml/2006/main">
              <a:ext uri="{FF2B5EF4-FFF2-40B4-BE49-F238E27FC236}">
                <a16:creationId xmlns:a16="http://schemas.microsoft.com/office/drawing/2014/main" id="{578AD270-9597-4E4F-BD00-011151E4D8E9}"/>
              </a:ext>
            </a:extLst>
          </p:cNvPr>
          <p:cNvSpPr>
            <a:spLocks xmlns:a="http://schemas.openxmlformats.org/drawingml/2006/main" noGrp="1"/>
          </p:cNvSpPr>
          <p:nvPr/>
        </p:nvSpPr>
        <p:spPr>
          <a:xfrm xmlns:a="http://schemas.openxmlformats.org/drawingml/2006/main">
            <a:off x="4743450" y="9877425"/>
            <a:ext cx="158115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825" b="0">
                <a:solidFill>
                  <a:srgbClr val="183B39"/>
                </a:solidFill>
              </a:defRPr>
            </a:pPr>
            <a:r>
              <a:rPr sz="825" b="0">
                <a:solidFill>
                  <a:srgbClr val="183B39"/>
                </a:solidFill>
              </a:rPr>
              <a:t>70.5% of national gap | weekly owner review.</a:t>
            </a:r>
          </a:p>
        </p:txBody>
      </p:sp>
      <p:sp>
        <p:nvSpPr>
          <p:cNvPr id="85" name="">
            <a:extLst xmlns:a="http://schemas.openxmlformats.org/drawingml/2006/main">
              <a:ext uri="{FF2B5EF4-FFF2-40B4-BE49-F238E27FC236}">
                <a16:creationId xmlns:a16="http://schemas.microsoft.com/office/drawing/2014/main" id="{9A8901D1-9F9C-456B-B8EF-CF4E935E55D6}"/>
              </a:ext>
            </a:extLst>
          </p:cNvPr>
          <p:cNvSpPr>
            <a:spLocks xmlns:a="http://schemas.openxmlformats.org/drawingml/2006/main" noGrp="1"/>
          </p:cNvSpPr>
          <p:nvPr/>
        </p:nvSpPr>
        <p:spPr>
          <a:xfrm xmlns:a="http://schemas.openxmlformats.org/drawingml/2006/main">
            <a:off x="361950" y="11544300"/>
            <a:ext cx="6134100" cy="457200"/>
          </a:xfrm>
          <a:prstGeom xmlns:a="http://schemas.openxmlformats.org/drawingml/2006/main" prst="roundRect">
            <a:avLst>
              <a:gd name="adj" fmla="val 16667"/>
            </a:avLst>
          </a:prstGeom>
          <a:solidFill xmlns:a="http://schemas.openxmlformats.org/drawingml/2006/main">
            <a:srgbClr val="DFF2ED"/>
          </a:solidFill>
          <a:ln xmlns:a="http://schemas.openxmlformats.org/drawingml/2006/main" w="9525">
            <a:solidFill>
              <a:srgbClr val="28A596"/>
            </a:solidFill>
            <a:prstDash val="solid"/>
          </a:ln>
        </p:spPr>
      </p:sp>
      <p:sp>
        <p:nvSpPr>
          <p:cNvPr id="86" name="">
            <a:extLst xmlns:a="http://schemas.openxmlformats.org/drawingml/2006/main">
              <a:ext uri="{FF2B5EF4-FFF2-40B4-BE49-F238E27FC236}">
                <a16:creationId xmlns:a16="http://schemas.microsoft.com/office/drawing/2014/main" id="{D422BC59-962E-4576-B7B5-B13C1C55A2F9}"/>
              </a:ext>
            </a:extLst>
          </p:cNvPr>
          <p:cNvSpPr>
            <a:spLocks xmlns:a="http://schemas.openxmlformats.org/drawingml/2006/main" noGrp="1"/>
          </p:cNvSpPr>
          <p:nvPr/>
        </p:nvSpPr>
        <p:spPr>
          <a:xfrm xmlns:a="http://schemas.openxmlformats.org/drawingml/2006/main">
            <a:off x="438150" y="11582400"/>
            <a:ext cx="142875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38" b="1">
                <a:solidFill>
                  <a:srgbClr val="116F68"/>
                </a:solidFill>
              </a:defRPr>
            </a:pPr>
            <a:r>
              <a:rPr sz="638" b="1">
                <a:solidFill>
                  <a:srgbClr val="116F68"/>
                </a:solidFill>
              </a:rPr>
              <a:t>EVIDENCE</a:t>
            </a:r>
          </a:p>
        </p:txBody>
      </p:sp>
      <p:sp>
        <p:nvSpPr>
          <p:cNvPr id="87" name="">
            <a:extLst xmlns:a="http://schemas.openxmlformats.org/drawingml/2006/main">
              <a:ext uri="{FF2B5EF4-FFF2-40B4-BE49-F238E27FC236}">
                <a16:creationId xmlns:a16="http://schemas.microsoft.com/office/drawing/2014/main" id="{E34EA560-EF88-4F19-82A3-606199CC6E00}"/>
              </a:ext>
            </a:extLst>
          </p:cNvPr>
          <p:cNvSpPr>
            <a:spLocks xmlns:a="http://schemas.openxmlformats.org/drawingml/2006/main" noGrp="1"/>
          </p:cNvSpPr>
          <p:nvPr/>
        </p:nvSpPr>
        <p:spPr>
          <a:xfrm xmlns:a="http://schemas.openxmlformats.org/drawingml/2006/main">
            <a:off x="438150" y="11734800"/>
            <a:ext cx="1428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00" b="0">
                <a:solidFill>
                  <a:srgbClr val="183B39"/>
                </a:solidFill>
              </a:defRPr>
            </a:pPr>
            <a:r>
              <a:rPr sz="600" b="0">
                <a:solidFill>
                  <a:srgbClr val="183B39"/>
                </a:solidFill>
              </a:rPr>
              <a:t>Jul-26 offtake ₹36.06 Cr (+64.2% YoY); L3M ₹114.66 Cr (+65.8%); LY: Aug-25 offtake ₹24.34 Cr (+10.8%), Paisa Vasool drove pipeline draw-down; LY Reliance primary Jul-25 ₹6.68 Cr → Aug-25 ₹5.42 Cr (−18.8%); North + East hold 70.5% of gap</a:t>
            </a:r>
          </a:p>
        </p:txBody>
      </p:sp>
      <p:sp>
        <p:nvSpPr>
          <p:cNvPr id="88" name="">
            <a:extLst xmlns:a="http://schemas.openxmlformats.org/drawingml/2006/main">
              <a:ext uri="{FF2B5EF4-FFF2-40B4-BE49-F238E27FC236}">
                <a16:creationId xmlns:a16="http://schemas.microsoft.com/office/drawing/2014/main" id="{76797808-B04E-4F5F-81AD-634977AC0A15}"/>
              </a:ext>
            </a:extLst>
          </p:cNvPr>
          <p:cNvSpPr>
            <a:spLocks xmlns:a="http://schemas.openxmlformats.org/drawingml/2006/main" noGrp="1"/>
          </p:cNvSpPr>
          <p:nvPr/>
        </p:nvSpPr>
        <p:spPr>
          <a:xfrm xmlns:a="http://schemas.openxmlformats.org/drawingml/2006/main">
            <a:off x="1924050" y="11610975"/>
            <a:ext cx="0" cy="304800"/>
          </a:xfrm>
          <a:prstGeom xmlns:a="http://schemas.openxmlformats.org/drawingml/2006/main" prst="line">
            <a:avLst/>
          </a:prstGeom>
          <a:ln xmlns:a="http://schemas.openxmlformats.org/drawingml/2006/main" w="9525">
            <a:solidFill>
              <a:srgbClr val="C8DCD7"/>
            </a:solidFill>
            <a:prstDash val="solid"/>
          </a:ln>
        </p:spPr>
      </p:sp>
      <p:sp>
        <p:nvSpPr>
          <p:cNvPr id="89" name="">
            <a:extLst xmlns:a="http://schemas.openxmlformats.org/drawingml/2006/main">
              <a:ext uri="{FF2B5EF4-FFF2-40B4-BE49-F238E27FC236}">
                <a16:creationId xmlns:a16="http://schemas.microsoft.com/office/drawing/2014/main" id="{EE076C69-080F-41BC-B10A-DA9CAF2FD051}"/>
              </a:ext>
            </a:extLst>
          </p:cNvPr>
          <p:cNvSpPr>
            <a:spLocks xmlns:a="http://schemas.openxmlformats.org/drawingml/2006/main" noGrp="1"/>
          </p:cNvSpPr>
          <p:nvPr/>
        </p:nvSpPr>
        <p:spPr>
          <a:xfrm xmlns:a="http://schemas.openxmlformats.org/drawingml/2006/main">
            <a:off x="1952625" y="11582400"/>
            <a:ext cx="142875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38" b="1">
                <a:solidFill>
                  <a:srgbClr val="116F68"/>
                </a:solidFill>
              </a:defRPr>
            </a:pPr>
            <a:r>
              <a:rPr sz="638" b="1">
                <a:solidFill>
                  <a:srgbClr val="116F68"/>
                </a:solidFill>
              </a:rPr>
              <a:t>IMPLICATION</a:t>
            </a:r>
          </a:p>
        </p:txBody>
      </p:sp>
      <p:sp>
        <p:nvSpPr>
          <p:cNvPr id="90" name="">
            <a:extLst xmlns:a="http://schemas.openxmlformats.org/drawingml/2006/main">
              <a:ext uri="{FF2B5EF4-FFF2-40B4-BE49-F238E27FC236}">
                <a16:creationId xmlns:a16="http://schemas.microsoft.com/office/drawing/2014/main" id="{18642E34-5349-48AE-A9BB-200084B65EAE}"/>
              </a:ext>
            </a:extLst>
          </p:cNvPr>
          <p:cNvSpPr>
            <a:spLocks xmlns:a="http://schemas.openxmlformats.org/drawingml/2006/main" noGrp="1"/>
          </p:cNvSpPr>
          <p:nvPr/>
        </p:nvSpPr>
        <p:spPr>
          <a:xfrm xmlns:a="http://schemas.openxmlformats.org/drawingml/2006/main">
            <a:off x="1952625" y="11734800"/>
            <a:ext cx="1428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00" b="0">
                <a:solidFill>
                  <a:srgbClr val="183B39"/>
                </a:solidFill>
              </a:defRPr>
            </a:pPr>
            <a:r>
              <a:rPr sz="600" b="0">
                <a:solidFill>
                  <a:srgbClr val="183B39"/>
                </a:solidFill>
              </a:rPr>
              <a:t>West and South-1 are self-sustaining at 82-84% conversion; concentrating intervention on North and East yields the highest recovery per rupee of resource</a:t>
            </a:r>
          </a:p>
        </p:txBody>
      </p:sp>
      <p:sp>
        <p:nvSpPr>
          <p:cNvPr id="91" name="">
            <a:extLst xmlns:a="http://schemas.openxmlformats.org/drawingml/2006/main">
              <a:ext uri="{FF2B5EF4-FFF2-40B4-BE49-F238E27FC236}">
                <a16:creationId xmlns:a16="http://schemas.microsoft.com/office/drawing/2014/main" id="{B0CF29DA-8046-4000-AD7E-00E3BCBA7146}"/>
              </a:ext>
            </a:extLst>
          </p:cNvPr>
          <p:cNvSpPr>
            <a:spLocks xmlns:a="http://schemas.openxmlformats.org/drawingml/2006/main" noGrp="1"/>
          </p:cNvSpPr>
          <p:nvPr/>
        </p:nvSpPr>
        <p:spPr>
          <a:xfrm xmlns:a="http://schemas.openxmlformats.org/drawingml/2006/main">
            <a:off x="3438525" y="11610975"/>
            <a:ext cx="0" cy="304800"/>
          </a:xfrm>
          <a:prstGeom xmlns:a="http://schemas.openxmlformats.org/drawingml/2006/main" prst="line">
            <a:avLst/>
          </a:prstGeom>
          <a:ln xmlns:a="http://schemas.openxmlformats.org/drawingml/2006/main" w="9525">
            <a:solidFill>
              <a:srgbClr val="C8DCD7"/>
            </a:solidFill>
            <a:prstDash val="solid"/>
          </a:ln>
        </p:spPr>
      </p:sp>
      <p:sp>
        <p:nvSpPr>
          <p:cNvPr id="92" name="">
            <a:extLst xmlns:a="http://schemas.openxmlformats.org/drawingml/2006/main">
              <a:ext uri="{FF2B5EF4-FFF2-40B4-BE49-F238E27FC236}">
                <a16:creationId xmlns:a16="http://schemas.microsoft.com/office/drawing/2014/main" id="{0C7E0528-6BB2-48FD-BA89-9801CD4EAA45}"/>
              </a:ext>
            </a:extLst>
          </p:cNvPr>
          <p:cNvSpPr>
            <a:spLocks xmlns:a="http://schemas.openxmlformats.org/drawingml/2006/main" noGrp="1"/>
          </p:cNvSpPr>
          <p:nvPr/>
        </p:nvSpPr>
        <p:spPr>
          <a:xfrm xmlns:a="http://schemas.openxmlformats.org/drawingml/2006/main">
            <a:off x="3467100" y="11582400"/>
            <a:ext cx="142875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38" b="1">
                <a:solidFill>
                  <a:srgbClr val="116F68"/>
                </a:solidFill>
              </a:defRPr>
            </a:pPr>
            <a:r>
              <a:rPr sz="638" b="1">
                <a:solidFill>
                  <a:srgbClr val="116F68"/>
                </a:solidFill>
              </a:rPr>
              <a:t>ACTION</a:t>
            </a:r>
          </a:p>
        </p:txBody>
      </p:sp>
      <p:sp>
        <p:nvSpPr>
          <p:cNvPr id="93" name="">
            <a:extLst xmlns:a="http://schemas.openxmlformats.org/drawingml/2006/main">
              <a:ext uri="{FF2B5EF4-FFF2-40B4-BE49-F238E27FC236}">
                <a16:creationId xmlns:a16="http://schemas.microsoft.com/office/drawing/2014/main" id="{E36EF118-4855-4AA0-AAD9-8DF1E4CF4BDC}"/>
              </a:ext>
            </a:extLst>
          </p:cNvPr>
          <p:cNvSpPr>
            <a:spLocks xmlns:a="http://schemas.openxmlformats.org/drawingml/2006/main" noGrp="1"/>
          </p:cNvSpPr>
          <p:nvPr/>
        </p:nvSpPr>
        <p:spPr>
          <a:xfrm xmlns:a="http://schemas.openxmlformats.org/drawingml/2006/main">
            <a:off x="3467100" y="11734800"/>
            <a:ext cx="1428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00" b="0">
                <a:solidFill>
                  <a:srgbClr val="183B39"/>
                </a:solidFill>
              </a:defRPr>
            </a:pPr>
            <a:r>
              <a:rPr sz="600" b="0">
                <a:solidFill>
                  <a:srgbClr val="183B39"/>
                </a:solidFill>
              </a:rPr>
              <a:t>Validate Reliance Aug-26 offtake first week (Paisa Vasool +40% MoM expected); weekly ZSM gap closure DMart + non-Reliance from 22-Aug; Reliance EAN-store review after Aug confirmed</a:t>
            </a:r>
          </a:p>
        </p:txBody>
      </p:sp>
      <p:sp>
        <p:nvSpPr>
          <p:cNvPr id="94" name="">
            <a:extLst xmlns:a="http://schemas.openxmlformats.org/drawingml/2006/main">
              <a:ext uri="{FF2B5EF4-FFF2-40B4-BE49-F238E27FC236}">
                <a16:creationId xmlns:a16="http://schemas.microsoft.com/office/drawing/2014/main" id="{A418E76C-D80B-4EFF-9295-AE336D6C3A32}"/>
              </a:ext>
            </a:extLst>
          </p:cNvPr>
          <p:cNvSpPr>
            <a:spLocks xmlns:a="http://schemas.openxmlformats.org/drawingml/2006/main" noGrp="1"/>
          </p:cNvSpPr>
          <p:nvPr/>
        </p:nvSpPr>
        <p:spPr>
          <a:xfrm xmlns:a="http://schemas.openxmlformats.org/drawingml/2006/main">
            <a:off x="4953000" y="11610975"/>
            <a:ext cx="0" cy="304800"/>
          </a:xfrm>
          <a:prstGeom xmlns:a="http://schemas.openxmlformats.org/drawingml/2006/main" prst="line">
            <a:avLst/>
          </a:prstGeom>
          <a:ln xmlns:a="http://schemas.openxmlformats.org/drawingml/2006/main" w="9525">
            <a:solidFill>
              <a:srgbClr val="C8DCD7"/>
            </a:solidFill>
            <a:prstDash val="solid"/>
          </a:ln>
        </p:spPr>
      </p:sp>
      <p:sp>
        <p:nvSpPr>
          <p:cNvPr id="95" name="">
            <a:extLst xmlns:a="http://schemas.openxmlformats.org/drawingml/2006/main">
              <a:ext uri="{FF2B5EF4-FFF2-40B4-BE49-F238E27FC236}">
                <a16:creationId xmlns:a16="http://schemas.microsoft.com/office/drawing/2014/main" id="{733B7DDE-22AB-4C68-B36C-16307FADC87F}"/>
              </a:ext>
            </a:extLst>
          </p:cNvPr>
          <p:cNvSpPr>
            <a:spLocks xmlns:a="http://schemas.openxmlformats.org/drawingml/2006/main" noGrp="1"/>
          </p:cNvSpPr>
          <p:nvPr/>
        </p:nvSpPr>
        <p:spPr>
          <a:xfrm xmlns:a="http://schemas.openxmlformats.org/drawingml/2006/main">
            <a:off x="4981575" y="11582400"/>
            <a:ext cx="142875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38" b="1">
                <a:solidFill>
                  <a:srgbClr val="116F68"/>
                </a:solidFill>
              </a:defRPr>
            </a:pPr>
            <a:r>
              <a:rPr sz="638" b="1">
                <a:solidFill>
                  <a:srgbClr val="116F68"/>
                </a:solidFill>
              </a:rPr>
              <a:t>OWNER</a:t>
            </a:r>
          </a:p>
        </p:txBody>
      </p:sp>
      <p:sp>
        <p:nvSpPr>
          <p:cNvPr id="96" name="">
            <a:extLst xmlns:a="http://schemas.openxmlformats.org/drawingml/2006/main">
              <a:ext uri="{FF2B5EF4-FFF2-40B4-BE49-F238E27FC236}">
                <a16:creationId xmlns:a16="http://schemas.microsoft.com/office/drawing/2014/main" id="{01C6AB7A-4D93-45E1-BB0F-D1C0BC00425A}"/>
              </a:ext>
            </a:extLst>
          </p:cNvPr>
          <p:cNvSpPr>
            <a:spLocks xmlns:a="http://schemas.openxmlformats.org/drawingml/2006/main" noGrp="1"/>
          </p:cNvSpPr>
          <p:nvPr/>
        </p:nvSpPr>
        <p:spPr>
          <a:xfrm xmlns:a="http://schemas.openxmlformats.org/drawingml/2006/main">
            <a:off x="4981575" y="11734800"/>
            <a:ext cx="1428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00" b="0">
                <a:solidFill>
                  <a:srgbClr val="183B39"/>
                </a:solidFill>
              </a:defRPr>
            </a:pPr>
            <a:r>
              <a:rPr sz="600" b="0">
                <a:solidFill>
                  <a:srgbClr val="183B39"/>
                </a:solidFill>
              </a:rPr>
              <a:t>North ZSM + East ZSM | Weekly from 22-Aug</a:t>
            </a:r>
          </a:p>
        </p:txBody>
      </p:sp>
    </p:spTree>
    <p:extLst>
      <p:ext uri="{BB962C8B-B14F-4D97-AF65-F5344CB8AC3E}">
        <p14:creationId xmlns:p14="http://schemas.microsoft.com/office/powerpoint/2010/main" val="459093565"/>
      </p:ext>
    </p:extLst>
  </p:cSld>
</p:sld>
</file>

<file path=ppt/slides/slide5.xml><?xml version="1.0" encoding="utf-8"?>
<p:sld xmlns:p="http://schemas.openxmlformats.org/presentationml/2006/main">
  <p:cSld>
    <p:bg>
      <p:bgPr>
        <a:solidFill xmlns:a="http://schemas.openxmlformats.org/drawingml/2006/main">
          <a:srgbClr val="F7FBFA"/>
        </a:solidFill>
      </p:bgPr>
    </p:bg>
    <p:spTree>
      <p:nvGrpSpPr>
        <p:cNvPr id="1" name=""/>
        <p:cNvGrpSpPr/>
        <p:nvPr/>
      </p:nvGrpSpPr>
      <p:grpSpPr>
        <a:xfrm xmlns:a="http://schemas.openxmlformats.org/drawingml/2006/main"/>
      </p:grpSpPr>
      <p:sp>
        <p:nvSpPr>
          <p:cNvPr id="112" name="">
            <a:extLst xmlns:a="http://schemas.openxmlformats.org/drawingml/2006/main">
              <a:ext uri="{FF2B5EF4-FFF2-40B4-BE49-F238E27FC236}">
                <a16:creationId xmlns:a16="http://schemas.microsoft.com/office/drawing/2014/main" id="{98E9AAA4-54B2-41FF-B001-86E330712BD4}"/>
              </a:ext>
            </a:extLst>
          </p:cNvPr>
          <p:cNvSpPr>
            <a:spLocks xmlns:a="http://schemas.openxmlformats.org/drawingml/2006/main" noGrp="1"/>
          </p:cNvSpPr>
          <p:nvPr/>
        </p:nvSpPr>
        <p:spPr>
          <a:xfrm xmlns:a="http://schemas.openxmlformats.org/drawingml/2006/main">
            <a:off x="0" y="0"/>
            <a:ext cx="6858000" cy="1000125"/>
          </a:xfrm>
          <a:prstGeom xmlns:a="http://schemas.openxmlformats.org/drawingml/2006/main" prst="rect">
            <a:avLst/>
          </a:prstGeom>
          <a:solidFill xmlns:a="http://schemas.openxmlformats.org/drawingml/2006/main">
            <a:srgbClr val="116F68"/>
          </a:solidFill>
          <a:ln xmlns:a="http://schemas.openxmlformats.org/drawingml/2006/main" w="0">
            <a:solidFill>
              <a:srgbClr val="116F68"/>
            </a:solidFill>
            <a:prstDash val="solid"/>
          </a:ln>
        </p:spPr>
      </p:sp>
      <p:sp>
        <p:nvSpPr>
          <p:cNvPr id="2" name="">
            <a:extLst xmlns:a="http://schemas.openxmlformats.org/drawingml/2006/main">
              <a:ext uri="{FF2B5EF4-FFF2-40B4-BE49-F238E27FC236}">
                <a16:creationId xmlns:a16="http://schemas.microsoft.com/office/drawing/2014/main" id="{F70A0042-AA4C-4885-A6E9-D7F003977BF6}"/>
              </a:ext>
            </a:extLst>
          </p:cNvPr>
          <p:cNvSpPr>
            <a:spLocks xmlns:a="http://schemas.openxmlformats.org/drawingml/2006/main" noGrp="1"/>
          </p:cNvSpPr>
          <p:nvPr/>
        </p:nvSpPr>
        <p:spPr>
          <a:xfrm xmlns:a="http://schemas.openxmlformats.org/drawingml/2006/main">
            <a:off x="361950" y="228600"/>
            <a:ext cx="59055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2025" b="1">
                <a:solidFill>
                  <a:srgbClr val="FFFFFF"/>
                </a:solidFill>
              </a:defRPr>
            </a:pPr>
            <a:r>
              <a:rPr sz="2025" b="1">
                <a:solidFill>
                  <a:srgbClr val="FFFFFF"/>
                </a:solidFill>
              </a:rPr>
              <a:t>West: Watch and convert</a:t>
            </a:r>
          </a:p>
        </p:txBody>
      </p:sp>
      <p:sp>
        <p:nvSpPr>
          <p:cNvPr id="3" name="">
            <a:extLst xmlns:a="http://schemas.openxmlformats.org/drawingml/2006/main">
              <a:ext uri="{FF2B5EF4-FFF2-40B4-BE49-F238E27FC236}">
                <a16:creationId xmlns:a16="http://schemas.microsoft.com/office/drawing/2014/main" id="{D24D0414-A8CB-4BAA-8C4B-842D5A0E08A8}"/>
              </a:ext>
            </a:extLst>
          </p:cNvPr>
          <p:cNvSpPr>
            <a:spLocks xmlns:a="http://schemas.openxmlformats.org/drawingml/2006/main" noGrp="1"/>
          </p:cNvSpPr>
          <p:nvPr/>
        </p:nvSpPr>
        <p:spPr>
          <a:xfrm xmlns:a="http://schemas.openxmlformats.org/drawingml/2006/main">
            <a:off x="381000" y="695325"/>
            <a:ext cx="57150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75" b="0">
                <a:solidFill>
                  <a:srgbClr val="DFF2ED"/>
                </a:solidFill>
              </a:defRPr>
            </a:pPr>
            <a:r>
              <a:rPr sz="975" b="0">
                <a:solidFill>
                  <a:srgbClr val="DFF2ED"/>
                </a:solidFill>
              </a:rPr>
              <a:t>Zone deep dive | July 2026 | ₹ Cr</a:t>
            </a:r>
          </a:p>
        </p:txBody>
      </p:sp>
      <p:sp>
        <p:nvSpPr>
          <p:cNvPr id="4" name="">
            <a:extLst xmlns:a="http://schemas.openxmlformats.org/drawingml/2006/main">
              <a:ext uri="{FF2B5EF4-FFF2-40B4-BE49-F238E27FC236}">
                <a16:creationId xmlns:a16="http://schemas.microsoft.com/office/drawing/2014/main" id="{05B890BE-7893-442D-9D20-89672E274268}"/>
              </a:ext>
            </a:extLst>
          </p:cNvPr>
          <p:cNvSpPr>
            <a:spLocks xmlns:a="http://schemas.openxmlformats.org/drawingml/2006/main" noGrp="1"/>
          </p:cNvSpPr>
          <p:nvPr/>
        </p:nvSpPr>
        <p:spPr>
          <a:xfrm xmlns:a="http://schemas.openxmlformats.org/drawingml/2006/main">
            <a:off x="6191250" y="361950"/>
            <a:ext cx="3429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900" b="1">
                <a:solidFill>
                  <a:srgbClr val="FFFFFF"/>
                </a:solidFill>
              </a:defRPr>
            </a:pPr>
            <a:r>
              <a:rPr sz="900" b="1">
                <a:solidFill>
                  <a:srgbClr val="FFFFFF"/>
                </a:solidFill>
              </a:rPr>
              <a:t>05</a:t>
            </a:r>
          </a:p>
        </p:txBody>
      </p:sp>
      <p:sp>
        <p:nvSpPr>
          <p:cNvPr id="5" name="">
            <a:extLst xmlns:a="http://schemas.openxmlformats.org/drawingml/2006/main">
              <a:ext uri="{FF2B5EF4-FFF2-40B4-BE49-F238E27FC236}">
                <a16:creationId xmlns:a16="http://schemas.microsoft.com/office/drawing/2014/main" id="{51E450CB-0A54-4BDD-9745-7B0105B28B37}"/>
              </a:ext>
            </a:extLst>
          </p:cNvPr>
          <p:cNvSpPr>
            <a:spLocks xmlns:a="http://schemas.openxmlformats.org/drawingml/2006/main" noGrp="1"/>
          </p:cNvSpPr>
          <p:nvPr/>
        </p:nvSpPr>
        <p:spPr>
          <a:xfrm xmlns:a="http://schemas.openxmlformats.org/drawingml/2006/main">
            <a:off x="361950" y="1285875"/>
            <a:ext cx="140970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9525">
            <a:solidFill>
              <a:srgbClr val="C8DCD7"/>
            </a:solidFill>
            <a:prstDash val="solid"/>
          </a:ln>
        </p:spPr>
      </p:sp>
      <p:sp>
        <p:nvSpPr>
          <p:cNvPr id="6" name="">
            <a:extLst xmlns:a="http://schemas.openxmlformats.org/drawingml/2006/main">
              <a:ext uri="{FF2B5EF4-FFF2-40B4-BE49-F238E27FC236}">
                <a16:creationId xmlns:a16="http://schemas.microsoft.com/office/drawing/2014/main" id="{9E4C5695-5B21-4B01-A7B5-699CF6BFD031}"/>
              </a:ext>
            </a:extLst>
          </p:cNvPr>
          <p:cNvSpPr>
            <a:spLocks xmlns:a="http://schemas.openxmlformats.org/drawingml/2006/main" noGrp="1"/>
          </p:cNvSpPr>
          <p:nvPr/>
        </p:nvSpPr>
        <p:spPr>
          <a:xfrm xmlns:a="http://schemas.openxmlformats.org/drawingml/2006/main">
            <a:off x="361950" y="1285875"/>
            <a:ext cx="76200" cy="1066800"/>
          </a:xfrm>
          <a:prstGeom xmlns:a="http://schemas.openxmlformats.org/drawingml/2006/main" prst="rect">
            <a:avLst/>
          </a:prstGeom>
          <a:solidFill xmlns:a="http://schemas.openxmlformats.org/drawingml/2006/main">
            <a:srgbClr val="28A596"/>
          </a:solidFill>
          <a:ln xmlns:a="http://schemas.openxmlformats.org/drawingml/2006/main" w="0">
            <a:solidFill>
              <a:srgbClr val="28A596"/>
            </a:solidFill>
            <a:prstDash val="solid"/>
          </a:ln>
        </p:spPr>
      </p:sp>
      <p:sp>
        <p:nvSpPr>
          <p:cNvPr id="7" name="">
            <a:extLst xmlns:a="http://schemas.openxmlformats.org/drawingml/2006/main">
              <a:ext uri="{FF2B5EF4-FFF2-40B4-BE49-F238E27FC236}">
                <a16:creationId xmlns:a16="http://schemas.microsoft.com/office/drawing/2014/main" id="{7C91D8FC-86DE-44D4-874F-997C6A782B54}"/>
              </a:ext>
            </a:extLst>
          </p:cNvPr>
          <p:cNvSpPr>
            <a:spLocks xmlns:a="http://schemas.openxmlformats.org/drawingml/2006/main" noGrp="1"/>
          </p:cNvSpPr>
          <p:nvPr/>
        </p:nvSpPr>
        <p:spPr>
          <a:xfrm xmlns:a="http://schemas.openxmlformats.org/drawingml/2006/main">
            <a:off x="533400" y="1400175"/>
            <a:ext cx="1143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5F716E"/>
                </a:solidFill>
              </a:defRPr>
            </a:pPr>
            <a:r>
              <a:rPr sz="900" b="1">
                <a:solidFill>
                  <a:srgbClr val="5F716E"/>
                </a:solidFill>
              </a:rPr>
              <a:t>PRIMARY</a:t>
            </a:r>
          </a:p>
        </p:txBody>
      </p:sp>
      <p:sp>
        <p:nvSpPr>
          <p:cNvPr id="8" name="">
            <a:extLst xmlns:a="http://schemas.openxmlformats.org/drawingml/2006/main">
              <a:ext uri="{FF2B5EF4-FFF2-40B4-BE49-F238E27FC236}">
                <a16:creationId xmlns:a16="http://schemas.microsoft.com/office/drawing/2014/main" id="{A55FD7EB-7D99-415D-8B22-03C401F81541}"/>
              </a:ext>
            </a:extLst>
          </p:cNvPr>
          <p:cNvSpPr>
            <a:spLocks xmlns:a="http://schemas.openxmlformats.org/drawingml/2006/main" noGrp="1"/>
          </p:cNvSpPr>
          <p:nvPr/>
        </p:nvSpPr>
        <p:spPr>
          <a:xfrm xmlns:a="http://schemas.openxmlformats.org/drawingml/2006/main">
            <a:off x="533400" y="1628775"/>
            <a:ext cx="1143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875" b="1">
                <a:solidFill>
                  <a:srgbClr val="28A596"/>
                </a:solidFill>
              </a:defRPr>
            </a:pPr>
            <a:r>
              <a:rPr sz="1875" b="1">
                <a:solidFill>
                  <a:srgbClr val="28A596"/>
                </a:solidFill>
              </a:rPr>
              <a:t>₹10.05 Cr</a:t>
            </a:r>
          </a:p>
        </p:txBody>
      </p:sp>
      <p:sp>
        <p:nvSpPr>
          <p:cNvPr id="9" name="">
            <a:extLst xmlns:a="http://schemas.openxmlformats.org/drawingml/2006/main">
              <a:ext uri="{FF2B5EF4-FFF2-40B4-BE49-F238E27FC236}">
                <a16:creationId xmlns:a16="http://schemas.microsoft.com/office/drawing/2014/main" id="{49AC4D82-3AB2-4126-B850-2BA4F5AB75DE}"/>
              </a:ext>
            </a:extLst>
          </p:cNvPr>
          <p:cNvSpPr>
            <a:spLocks xmlns:a="http://schemas.openxmlformats.org/drawingml/2006/main" noGrp="1"/>
          </p:cNvSpPr>
          <p:nvPr/>
        </p:nvSpPr>
        <p:spPr>
          <a:xfrm xmlns:a="http://schemas.openxmlformats.org/drawingml/2006/main">
            <a:off x="533400" y="2028825"/>
            <a:ext cx="1143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0">
                <a:solidFill>
                  <a:srgbClr val="5F716E"/>
                </a:solidFill>
              </a:defRPr>
            </a:pPr>
            <a:r>
              <a:rPr sz="825" b="0">
                <a:solidFill>
                  <a:srgbClr val="5F716E"/>
                </a:solidFill>
              </a:rPr>
              <a:t>July billing</a:t>
            </a:r>
          </a:p>
        </p:txBody>
      </p:sp>
      <p:sp>
        <p:nvSpPr>
          <p:cNvPr id="10" name="">
            <a:extLst xmlns:a="http://schemas.openxmlformats.org/drawingml/2006/main">
              <a:ext uri="{FF2B5EF4-FFF2-40B4-BE49-F238E27FC236}">
                <a16:creationId xmlns:a16="http://schemas.microsoft.com/office/drawing/2014/main" id="{1C7790FB-66F5-45D0-A904-0F97D21E9FB3}"/>
              </a:ext>
            </a:extLst>
          </p:cNvPr>
          <p:cNvSpPr>
            <a:spLocks xmlns:a="http://schemas.openxmlformats.org/drawingml/2006/main" noGrp="1"/>
          </p:cNvSpPr>
          <p:nvPr/>
        </p:nvSpPr>
        <p:spPr>
          <a:xfrm xmlns:a="http://schemas.openxmlformats.org/drawingml/2006/main">
            <a:off x="1933575" y="1285875"/>
            <a:ext cx="140970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9525">
            <a:solidFill>
              <a:srgbClr val="C8DCD7"/>
            </a:solidFill>
            <a:prstDash val="solid"/>
          </a:ln>
        </p:spPr>
      </p:sp>
      <p:sp>
        <p:nvSpPr>
          <p:cNvPr id="11" name="">
            <a:extLst xmlns:a="http://schemas.openxmlformats.org/drawingml/2006/main">
              <a:ext uri="{FF2B5EF4-FFF2-40B4-BE49-F238E27FC236}">
                <a16:creationId xmlns:a16="http://schemas.microsoft.com/office/drawing/2014/main" id="{ED952D2A-2C15-4997-9985-40FEE421DF85}"/>
              </a:ext>
            </a:extLst>
          </p:cNvPr>
          <p:cNvSpPr>
            <a:spLocks xmlns:a="http://schemas.openxmlformats.org/drawingml/2006/main" noGrp="1"/>
          </p:cNvSpPr>
          <p:nvPr/>
        </p:nvSpPr>
        <p:spPr>
          <a:xfrm xmlns:a="http://schemas.openxmlformats.org/drawingml/2006/main">
            <a:off x="1933575" y="1285875"/>
            <a:ext cx="76200" cy="1066800"/>
          </a:xfrm>
          <a:prstGeom xmlns:a="http://schemas.openxmlformats.org/drawingml/2006/main" prst="rect">
            <a:avLst/>
          </a:prstGeom>
          <a:solidFill xmlns:a="http://schemas.openxmlformats.org/drawingml/2006/main">
            <a:srgbClr val="2B9A66"/>
          </a:solidFill>
          <a:ln xmlns:a="http://schemas.openxmlformats.org/drawingml/2006/main" w="0">
            <a:solidFill>
              <a:srgbClr val="2B9A66"/>
            </a:solidFill>
            <a:prstDash val="solid"/>
          </a:ln>
        </p:spPr>
      </p:sp>
      <p:sp>
        <p:nvSpPr>
          <p:cNvPr id="12" name="">
            <a:extLst xmlns:a="http://schemas.openxmlformats.org/drawingml/2006/main">
              <a:ext uri="{FF2B5EF4-FFF2-40B4-BE49-F238E27FC236}">
                <a16:creationId xmlns:a16="http://schemas.microsoft.com/office/drawing/2014/main" id="{8F830D28-0DE6-461C-9EED-4AE7DC12F348}"/>
              </a:ext>
            </a:extLst>
          </p:cNvPr>
          <p:cNvSpPr>
            <a:spLocks xmlns:a="http://schemas.openxmlformats.org/drawingml/2006/main" noGrp="1"/>
          </p:cNvSpPr>
          <p:nvPr/>
        </p:nvSpPr>
        <p:spPr>
          <a:xfrm xmlns:a="http://schemas.openxmlformats.org/drawingml/2006/main">
            <a:off x="2105025" y="1400175"/>
            <a:ext cx="1143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5F716E"/>
                </a:solidFill>
              </a:defRPr>
            </a:pPr>
            <a:r>
              <a:rPr sz="900" b="1">
                <a:solidFill>
                  <a:srgbClr val="5F716E"/>
                </a:solidFill>
              </a:rPr>
              <a:t>OFFTAKE</a:t>
            </a:r>
          </a:p>
        </p:txBody>
      </p:sp>
      <p:sp>
        <p:nvSpPr>
          <p:cNvPr id="13" name="">
            <a:extLst xmlns:a="http://schemas.openxmlformats.org/drawingml/2006/main">
              <a:ext uri="{FF2B5EF4-FFF2-40B4-BE49-F238E27FC236}">
                <a16:creationId xmlns:a16="http://schemas.microsoft.com/office/drawing/2014/main" id="{4D14EB44-2C63-4797-A98D-3C0165E1FE86}"/>
              </a:ext>
            </a:extLst>
          </p:cNvPr>
          <p:cNvSpPr>
            <a:spLocks xmlns:a="http://schemas.openxmlformats.org/drawingml/2006/main" noGrp="1"/>
          </p:cNvSpPr>
          <p:nvPr/>
        </p:nvSpPr>
        <p:spPr>
          <a:xfrm xmlns:a="http://schemas.openxmlformats.org/drawingml/2006/main">
            <a:off x="2105025" y="1628775"/>
            <a:ext cx="1143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875" b="1">
                <a:solidFill>
                  <a:srgbClr val="2B9A66"/>
                </a:solidFill>
              </a:defRPr>
            </a:pPr>
            <a:r>
              <a:rPr sz="1875" b="1">
                <a:solidFill>
                  <a:srgbClr val="2B9A66"/>
                </a:solidFill>
              </a:rPr>
              <a:t>₹8.28 Cr</a:t>
            </a:r>
          </a:p>
        </p:txBody>
      </p:sp>
      <p:sp>
        <p:nvSpPr>
          <p:cNvPr id="14" name="">
            <a:extLst xmlns:a="http://schemas.openxmlformats.org/drawingml/2006/main">
              <a:ext uri="{FF2B5EF4-FFF2-40B4-BE49-F238E27FC236}">
                <a16:creationId xmlns:a16="http://schemas.microsoft.com/office/drawing/2014/main" id="{22D497AA-5878-4786-A93C-C9BE54D718DD}"/>
              </a:ext>
            </a:extLst>
          </p:cNvPr>
          <p:cNvSpPr>
            <a:spLocks xmlns:a="http://schemas.openxmlformats.org/drawingml/2006/main" noGrp="1"/>
          </p:cNvSpPr>
          <p:nvPr/>
        </p:nvSpPr>
        <p:spPr>
          <a:xfrm xmlns:a="http://schemas.openxmlformats.org/drawingml/2006/main">
            <a:off x="2105025" y="2028825"/>
            <a:ext cx="1143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0">
                <a:solidFill>
                  <a:srgbClr val="5F716E"/>
                </a:solidFill>
              </a:defRPr>
            </a:pPr>
            <a:r>
              <a:rPr sz="825" b="0">
                <a:solidFill>
                  <a:srgbClr val="5F716E"/>
                </a:solidFill>
              </a:rPr>
              <a:t>22.9% mix</a:t>
            </a:r>
          </a:p>
        </p:txBody>
      </p:sp>
      <p:sp>
        <p:nvSpPr>
          <p:cNvPr id="15" name="">
            <a:extLst xmlns:a="http://schemas.openxmlformats.org/drawingml/2006/main">
              <a:ext uri="{FF2B5EF4-FFF2-40B4-BE49-F238E27FC236}">
                <a16:creationId xmlns:a16="http://schemas.microsoft.com/office/drawing/2014/main" id="{E35D7296-7095-4DC6-A839-DCC66D9D6AB3}"/>
              </a:ext>
            </a:extLst>
          </p:cNvPr>
          <p:cNvSpPr>
            <a:spLocks xmlns:a="http://schemas.openxmlformats.org/drawingml/2006/main" noGrp="1"/>
          </p:cNvSpPr>
          <p:nvPr/>
        </p:nvSpPr>
        <p:spPr>
          <a:xfrm xmlns:a="http://schemas.openxmlformats.org/drawingml/2006/main">
            <a:off x="3505200" y="1285875"/>
            <a:ext cx="140970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9525">
            <a:solidFill>
              <a:srgbClr val="C8DCD7"/>
            </a:solidFill>
            <a:prstDash val="solid"/>
          </a:ln>
        </p:spPr>
      </p:sp>
      <p:sp>
        <p:nvSpPr>
          <p:cNvPr id="16" name="">
            <a:extLst xmlns:a="http://schemas.openxmlformats.org/drawingml/2006/main">
              <a:ext uri="{FF2B5EF4-FFF2-40B4-BE49-F238E27FC236}">
                <a16:creationId xmlns:a16="http://schemas.microsoft.com/office/drawing/2014/main" id="{2A238207-BAEF-4718-855E-B1DC1CC5241C}"/>
              </a:ext>
            </a:extLst>
          </p:cNvPr>
          <p:cNvSpPr>
            <a:spLocks xmlns:a="http://schemas.openxmlformats.org/drawingml/2006/main" noGrp="1"/>
          </p:cNvSpPr>
          <p:nvPr/>
        </p:nvSpPr>
        <p:spPr>
          <a:xfrm xmlns:a="http://schemas.openxmlformats.org/drawingml/2006/main">
            <a:off x="3505200" y="1285875"/>
            <a:ext cx="76200" cy="1066800"/>
          </a:xfrm>
          <a:prstGeom xmlns:a="http://schemas.openxmlformats.org/drawingml/2006/main" prst="rect">
            <a:avLst/>
          </a:prstGeom>
          <a:solidFill xmlns:a="http://schemas.openxmlformats.org/drawingml/2006/main">
            <a:srgbClr val="2B9A66"/>
          </a:solidFill>
          <a:ln xmlns:a="http://schemas.openxmlformats.org/drawingml/2006/main" w="0">
            <a:solidFill>
              <a:srgbClr val="2B9A66"/>
            </a:solidFill>
            <a:prstDash val="solid"/>
          </a:ln>
        </p:spPr>
      </p:sp>
      <p:sp>
        <p:nvSpPr>
          <p:cNvPr id="17" name="">
            <a:extLst xmlns:a="http://schemas.openxmlformats.org/drawingml/2006/main">
              <a:ext uri="{FF2B5EF4-FFF2-40B4-BE49-F238E27FC236}">
                <a16:creationId xmlns:a16="http://schemas.microsoft.com/office/drawing/2014/main" id="{D0A80E54-AEF6-4B8D-8D34-EA5B0163A919}"/>
              </a:ext>
            </a:extLst>
          </p:cNvPr>
          <p:cNvSpPr>
            <a:spLocks xmlns:a="http://schemas.openxmlformats.org/drawingml/2006/main" noGrp="1"/>
          </p:cNvSpPr>
          <p:nvPr/>
        </p:nvSpPr>
        <p:spPr>
          <a:xfrm xmlns:a="http://schemas.openxmlformats.org/drawingml/2006/main">
            <a:off x="3676650" y="1400175"/>
            <a:ext cx="1143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5F716E"/>
                </a:solidFill>
              </a:defRPr>
            </a:pPr>
            <a:r>
              <a:rPr sz="900" b="1">
                <a:solidFill>
                  <a:srgbClr val="5F716E"/>
                </a:solidFill>
              </a:rPr>
              <a:t>CONVERSION</a:t>
            </a:r>
          </a:p>
        </p:txBody>
      </p:sp>
      <p:sp>
        <p:nvSpPr>
          <p:cNvPr id="18" name="">
            <a:extLst xmlns:a="http://schemas.openxmlformats.org/drawingml/2006/main">
              <a:ext uri="{FF2B5EF4-FFF2-40B4-BE49-F238E27FC236}">
                <a16:creationId xmlns:a16="http://schemas.microsoft.com/office/drawing/2014/main" id="{F2327097-ACF2-4853-8DD1-724076E9E59E}"/>
              </a:ext>
            </a:extLst>
          </p:cNvPr>
          <p:cNvSpPr>
            <a:spLocks xmlns:a="http://schemas.openxmlformats.org/drawingml/2006/main" noGrp="1"/>
          </p:cNvSpPr>
          <p:nvPr/>
        </p:nvSpPr>
        <p:spPr>
          <a:xfrm xmlns:a="http://schemas.openxmlformats.org/drawingml/2006/main">
            <a:off x="3676650" y="1628775"/>
            <a:ext cx="1143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875" b="1">
                <a:solidFill>
                  <a:srgbClr val="2B9A66"/>
                </a:solidFill>
              </a:defRPr>
            </a:pPr>
            <a:r>
              <a:rPr sz="1875" b="1">
                <a:solidFill>
                  <a:srgbClr val="2B9A66"/>
                </a:solidFill>
              </a:rPr>
              <a:t>82.3%</a:t>
            </a:r>
          </a:p>
        </p:txBody>
      </p:sp>
      <p:sp>
        <p:nvSpPr>
          <p:cNvPr id="19" name="">
            <a:extLst xmlns:a="http://schemas.openxmlformats.org/drawingml/2006/main">
              <a:ext uri="{FF2B5EF4-FFF2-40B4-BE49-F238E27FC236}">
                <a16:creationId xmlns:a16="http://schemas.microsoft.com/office/drawing/2014/main" id="{10B3121B-89D8-49E8-A83F-9DDA18E6ACBE}"/>
              </a:ext>
            </a:extLst>
          </p:cNvPr>
          <p:cNvSpPr>
            <a:spLocks xmlns:a="http://schemas.openxmlformats.org/drawingml/2006/main" noGrp="1"/>
          </p:cNvSpPr>
          <p:nvPr/>
        </p:nvSpPr>
        <p:spPr>
          <a:xfrm xmlns:a="http://schemas.openxmlformats.org/drawingml/2006/main">
            <a:off x="3676650" y="2028825"/>
            <a:ext cx="1143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0">
                <a:solidFill>
                  <a:srgbClr val="5F716E"/>
                </a:solidFill>
              </a:defRPr>
            </a:pPr>
            <a:r>
              <a:rPr sz="825" b="0">
                <a:solidFill>
                  <a:srgbClr val="5F716E"/>
                </a:solidFill>
              </a:rPr>
              <a:t>Flow</a:t>
            </a:r>
          </a:p>
        </p:txBody>
      </p:sp>
      <p:sp>
        <p:nvSpPr>
          <p:cNvPr id="20" name="">
            <a:extLst xmlns:a="http://schemas.openxmlformats.org/drawingml/2006/main">
              <a:ext uri="{FF2B5EF4-FFF2-40B4-BE49-F238E27FC236}">
                <a16:creationId xmlns:a16="http://schemas.microsoft.com/office/drawing/2014/main" id="{28741859-1653-4422-BE43-F9178DD8F9A4}"/>
              </a:ext>
            </a:extLst>
          </p:cNvPr>
          <p:cNvSpPr>
            <a:spLocks xmlns:a="http://schemas.openxmlformats.org/drawingml/2006/main" noGrp="1"/>
          </p:cNvSpPr>
          <p:nvPr/>
        </p:nvSpPr>
        <p:spPr>
          <a:xfrm xmlns:a="http://schemas.openxmlformats.org/drawingml/2006/main">
            <a:off x="5076825" y="1285875"/>
            <a:ext cx="1419225"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9525">
            <a:solidFill>
              <a:srgbClr val="C8DCD7"/>
            </a:solidFill>
            <a:prstDash val="solid"/>
          </a:ln>
        </p:spPr>
      </p:sp>
      <p:sp>
        <p:nvSpPr>
          <p:cNvPr id="21" name="">
            <a:extLst xmlns:a="http://schemas.openxmlformats.org/drawingml/2006/main">
              <a:ext uri="{FF2B5EF4-FFF2-40B4-BE49-F238E27FC236}">
                <a16:creationId xmlns:a16="http://schemas.microsoft.com/office/drawing/2014/main" id="{E2F1D683-EC18-4D56-80D0-3A1860F9AA7B}"/>
              </a:ext>
            </a:extLst>
          </p:cNvPr>
          <p:cNvSpPr>
            <a:spLocks xmlns:a="http://schemas.openxmlformats.org/drawingml/2006/main" noGrp="1"/>
          </p:cNvSpPr>
          <p:nvPr/>
        </p:nvSpPr>
        <p:spPr>
          <a:xfrm xmlns:a="http://schemas.openxmlformats.org/drawingml/2006/main">
            <a:off x="5076825" y="1285875"/>
            <a:ext cx="76200" cy="1066800"/>
          </a:xfrm>
          <a:prstGeom xmlns:a="http://schemas.openxmlformats.org/drawingml/2006/main" prst="rect">
            <a:avLst/>
          </a:prstGeom>
          <a:solidFill xmlns:a="http://schemas.openxmlformats.org/drawingml/2006/main">
            <a:srgbClr val="D6544D"/>
          </a:solidFill>
          <a:ln xmlns:a="http://schemas.openxmlformats.org/drawingml/2006/main" w="0">
            <a:solidFill>
              <a:srgbClr val="D6544D"/>
            </a:solidFill>
            <a:prstDash val="solid"/>
          </a:ln>
        </p:spPr>
      </p:sp>
      <p:sp>
        <p:nvSpPr>
          <p:cNvPr id="22" name="">
            <a:extLst xmlns:a="http://schemas.openxmlformats.org/drawingml/2006/main">
              <a:ext uri="{FF2B5EF4-FFF2-40B4-BE49-F238E27FC236}">
                <a16:creationId xmlns:a16="http://schemas.microsoft.com/office/drawing/2014/main" id="{EF3C7AC3-AB5F-48B0-8E4A-DF7DFC590AE6}"/>
              </a:ext>
            </a:extLst>
          </p:cNvPr>
          <p:cNvSpPr>
            <a:spLocks xmlns:a="http://schemas.openxmlformats.org/drawingml/2006/main" noGrp="1"/>
          </p:cNvSpPr>
          <p:nvPr/>
        </p:nvSpPr>
        <p:spPr>
          <a:xfrm xmlns:a="http://schemas.openxmlformats.org/drawingml/2006/main">
            <a:off x="5248275" y="1400175"/>
            <a:ext cx="115252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5F716E"/>
                </a:solidFill>
              </a:defRPr>
            </a:pPr>
            <a:r>
              <a:rPr sz="900" b="1">
                <a:solidFill>
                  <a:srgbClr val="5F716E"/>
                </a:solidFill>
              </a:rPr>
              <a:t>GAP</a:t>
            </a:r>
          </a:p>
        </p:txBody>
      </p:sp>
      <p:sp>
        <p:nvSpPr>
          <p:cNvPr id="23" name="">
            <a:extLst xmlns:a="http://schemas.openxmlformats.org/drawingml/2006/main">
              <a:ext uri="{FF2B5EF4-FFF2-40B4-BE49-F238E27FC236}">
                <a16:creationId xmlns:a16="http://schemas.microsoft.com/office/drawing/2014/main" id="{7F910C33-B5AE-40F0-875B-3059B55CC2A7}"/>
              </a:ext>
            </a:extLst>
          </p:cNvPr>
          <p:cNvSpPr>
            <a:spLocks xmlns:a="http://schemas.openxmlformats.org/drawingml/2006/main" noGrp="1"/>
          </p:cNvSpPr>
          <p:nvPr/>
        </p:nvSpPr>
        <p:spPr>
          <a:xfrm xmlns:a="http://schemas.openxmlformats.org/drawingml/2006/main">
            <a:off x="5248275" y="1628775"/>
            <a:ext cx="11525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875" b="1">
                <a:solidFill>
                  <a:srgbClr val="D6544D"/>
                </a:solidFill>
              </a:defRPr>
            </a:pPr>
            <a:r>
              <a:rPr sz="1875" b="1">
                <a:solidFill>
                  <a:srgbClr val="D6544D"/>
                </a:solidFill>
              </a:rPr>
              <a:t>₹1.78 Cr</a:t>
            </a:r>
          </a:p>
        </p:txBody>
      </p:sp>
      <p:sp>
        <p:nvSpPr>
          <p:cNvPr id="24" name="">
            <a:extLst xmlns:a="http://schemas.openxmlformats.org/drawingml/2006/main">
              <a:ext uri="{FF2B5EF4-FFF2-40B4-BE49-F238E27FC236}">
                <a16:creationId xmlns:a16="http://schemas.microsoft.com/office/drawing/2014/main" id="{F6826C3D-DF8C-452C-B758-853909E06AB2}"/>
              </a:ext>
            </a:extLst>
          </p:cNvPr>
          <p:cNvSpPr>
            <a:spLocks xmlns:a="http://schemas.openxmlformats.org/drawingml/2006/main" noGrp="1"/>
          </p:cNvSpPr>
          <p:nvPr/>
        </p:nvSpPr>
        <p:spPr>
          <a:xfrm xmlns:a="http://schemas.openxmlformats.org/drawingml/2006/main">
            <a:off x="5248275" y="2028825"/>
            <a:ext cx="115252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0">
                <a:solidFill>
                  <a:srgbClr val="5F716E"/>
                </a:solidFill>
              </a:defRPr>
            </a:pPr>
            <a:r>
              <a:rPr sz="825" b="0">
                <a:solidFill>
                  <a:srgbClr val="5F716E"/>
                </a:solidFill>
              </a:rPr>
              <a:t>Primary − offtake</a:t>
            </a:r>
          </a:p>
        </p:txBody>
      </p:sp>
      <p:sp>
        <p:nvSpPr>
          <p:cNvPr id="25" name="">
            <a:extLst xmlns:a="http://schemas.openxmlformats.org/drawingml/2006/main">
              <a:ext uri="{FF2B5EF4-FFF2-40B4-BE49-F238E27FC236}">
                <a16:creationId xmlns:a16="http://schemas.microsoft.com/office/drawing/2014/main" id="{3DFFF764-0845-4374-9661-7205FAAF491E}"/>
              </a:ext>
            </a:extLst>
          </p:cNvPr>
          <p:cNvSpPr>
            <a:spLocks xmlns:a="http://schemas.openxmlformats.org/drawingml/2006/main" noGrp="1"/>
          </p:cNvSpPr>
          <p:nvPr/>
        </p:nvSpPr>
        <p:spPr>
          <a:xfrm xmlns:a="http://schemas.openxmlformats.org/drawingml/2006/main">
            <a:off x="361950" y="2476500"/>
            <a:ext cx="6134100" cy="457200"/>
          </a:xfrm>
          <a:prstGeom xmlns:a="http://schemas.openxmlformats.org/drawingml/2006/main" prst="roundRect">
            <a:avLst>
              <a:gd name="adj" fmla="val 16667"/>
            </a:avLst>
          </a:prstGeom>
          <a:solidFill xmlns:a="http://schemas.openxmlformats.org/drawingml/2006/main">
            <a:srgbClr val="DFF2ED"/>
          </a:solidFill>
          <a:ln xmlns:a="http://schemas.openxmlformats.org/drawingml/2006/main" w="9525">
            <a:solidFill>
              <a:srgbClr val="28A596"/>
            </a:solidFill>
            <a:prstDash val="solid"/>
          </a:ln>
        </p:spPr>
      </p:sp>
      <p:sp>
        <p:nvSpPr>
          <p:cNvPr id="26" name="">
            <a:extLst xmlns:a="http://schemas.openxmlformats.org/drawingml/2006/main">
              <a:ext uri="{FF2B5EF4-FFF2-40B4-BE49-F238E27FC236}">
                <a16:creationId xmlns:a16="http://schemas.microsoft.com/office/drawing/2014/main" id="{7124186A-2476-40CB-AABA-84F49AB5CBA2}"/>
              </a:ext>
            </a:extLst>
          </p:cNvPr>
          <p:cNvSpPr>
            <a:spLocks xmlns:a="http://schemas.openxmlformats.org/drawingml/2006/main" noGrp="1"/>
          </p:cNvSpPr>
          <p:nvPr/>
        </p:nvSpPr>
        <p:spPr>
          <a:xfrm xmlns:a="http://schemas.openxmlformats.org/drawingml/2006/main">
            <a:off x="476250" y="2533650"/>
            <a:ext cx="1381125"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1">
                <a:solidFill>
                  <a:srgbClr val="116F68"/>
                </a:solidFill>
              </a:defRPr>
            </a:pPr>
            <a:r>
              <a:rPr sz="825" b="1">
                <a:solidFill>
                  <a:srgbClr val="116F68"/>
                </a:solidFill>
              </a:rPr>
              <a:t>MANAGEMENT PRIORITY</a:t>
            </a:r>
          </a:p>
        </p:txBody>
      </p:sp>
      <p:sp>
        <p:nvSpPr>
          <p:cNvPr id="27" name="">
            <a:extLst xmlns:a="http://schemas.openxmlformats.org/drawingml/2006/main">
              <a:ext uri="{FF2B5EF4-FFF2-40B4-BE49-F238E27FC236}">
                <a16:creationId xmlns:a16="http://schemas.microsoft.com/office/drawing/2014/main" id="{4D0540C0-1739-43EC-9478-B0F4B6188501}"/>
              </a:ext>
            </a:extLst>
          </p:cNvPr>
          <p:cNvSpPr>
            <a:spLocks xmlns:a="http://schemas.openxmlformats.org/drawingml/2006/main" noGrp="1"/>
          </p:cNvSpPr>
          <p:nvPr/>
        </p:nvSpPr>
        <p:spPr>
          <a:xfrm xmlns:a="http://schemas.openxmlformats.org/drawingml/2006/main">
            <a:off x="1885950" y="2514600"/>
            <a:ext cx="4429125"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183B39"/>
                </a:solidFill>
              </a:defRPr>
            </a:pPr>
            <a:r>
              <a:rPr sz="900" b="1">
                <a:solidFill>
                  <a:srgbClr val="183B39"/>
                </a:solidFill>
              </a:rPr>
              <a:t>Close DMart exceptions  •  Protect hero-SKU OSA  •  Review conversion weekly</a:t>
            </a:r>
          </a:p>
        </p:txBody>
      </p:sp>
      <p:sp>
        <p:nvSpPr>
          <p:cNvPr id="28" name="">
            <a:extLst xmlns:a="http://schemas.openxmlformats.org/drawingml/2006/main">
              <a:ext uri="{FF2B5EF4-FFF2-40B4-BE49-F238E27FC236}">
                <a16:creationId xmlns:a16="http://schemas.microsoft.com/office/drawing/2014/main" id="{12E4037D-D180-44DD-971F-6CA5E2060B31}"/>
              </a:ext>
            </a:extLst>
          </p:cNvPr>
          <p:cNvSpPr>
            <a:spLocks xmlns:a="http://schemas.openxmlformats.org/drawingml/2006/main" noGrp="1"/>
          </p:cNvSpPr>
          <p:nvPr/>
        </p:nvSpPr>
        <p:spPr>
          <a:xfrm xmlns:a="http://schemas.openxmlformats.org/drawingml/2006/main">
            <a:off x="361950" y="3048000"/>
            <a:ext cx="2895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183B39"/>
                </a:solidFill>
              </a:defRPr>
            </a:pPr>
            <a:r>
              <a:rPr sz="900" b="1">
                <a:solidFill>
                  <a:srgbClr val="183B39"/>
                </a:solidFill>
              </a:rPr>
              <a:t>Mamaearth — top 3 sub-categories</a:t>
            </a:r>
          </a:p>
        </p:txBody>
      </p:sp>
      <p:graphicFrame>
        <p:nvGraphicFramePr>
          <p:cNvPr id="140" name="Chart"/>
          <p:cNvGraphicFramePr/>
          <p:nvPr/>
        </p:nvGraphicFramePr>
        <p:xfrm>
          <a:off xmlns:a="http://schemas.openxmlformats.org/drawingml/2006/main" x="361950" y="3286125"/>
          <a:ext xmlns:a="http://schemas.openxmlformats.org/drawingml/2006/main" cx="2895600" cy="1666875"/>
        </p:xfrm>
        <a:graphic xmlns:a="http://schemas.openxmlformats.org/drawingml/2006/main">
          <a:graphicData uri="http://schemas.openxmlformats.org/drawingml/2006/chart">
            <c:chart xmlns:r="http://schemas.openxmlformats.org/officeDocument/2006/relationships" xmlns:c="http://schemas.openxmlformats.org/drawingml/2006/chart" r:id="R518c427094334fee"/>
          </a:graphicData>
        </a:graphic>
      </p:graphicFrame>
      <p:sp>
        <p:nvSpPr>
          <p:cNvPr id="30" name="">
            <a:extLst xmlns:a="http://schemas.openxmlformats.org/drawingml/2006/main">
              <a:ext uri="{FF2B5EF4-FFF2-40B4-BE49-F238E27FC236}">
                <a16:creationId xmlns:a16="http://schemas.microsoft.com/office/drawing/2014/main" id="{98129B31-CE6C-4EC4-9D34-0666B1940B7A}"/>
              </a:ext>
            </a:extLst>
          </p:cNvPr>
          <p:cNvSpPr>
            <a:spLocks xmlns:a="http://schemas.openxmlformats.org/drawingml/2006/main" noGrp="1"/>
          </p:cNvSpPr>
          <p:nvPr/>
        </p:nvSpPr>
        <p:spPr>
          <a:xfrm xmlns:a="http://schemas.openxmlformats.org/drawingml/2006/main">
            <a:off x="3600450" y="3048000"/>
            <a:ext cx="2895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183B39"/>
                </a:solidFill>
              </a:defRPr>
            </a:pPr>
            <a:r>
              <a:rPr sz="900" b="1">
                <a:solidFill>
                  <a:srgbClr val="183B39"/>
                </a:solidFill>
              </a:rPr>
              <a:t>The Derma Co. — top 3 sub-categories</a:t>
            </a:r>
          </a:p>
        </p:txBody>
      </p:sp>
      <p:graphicFrame>
        <p:nvGraphicFramePr>
          <p:cNvPr id="142" name="Chart"/>
          <p:cNvGraphicFramePr/>
          <p:nvPr/>
        </p:nvGraphicFramePr>
        <p:xfrm>
          <a:off xmlns:a="http://schemas.openxmlformats.org/drawingml/2006/main" x="3600450" y="3286125"/>
          <a:ext xmlns:a="http://schemas.openxmlformats.org/drawingml/2006/main" cx="2895600" cy="1666875"/>
        </p:xfrm>
        <a:graphic xmlns:a="http://schemas.openxmlformats.org/drawingml/2006/main">
          <a:graphicData uri="http://schemas.openxmlformats.org/drawingml/2006/chart">
            <c:chart xmlns:r="http://schemas.openxmlformats.org/officeDocument/2006/relationships" xmlns:c="http://schemas.openxmlformats.org/drawingml/2006/chart" r:id="Ra434dfaead754aad"/>
          </a:graphicData>
        </a:graphic>
      </p:graphicFrame>
      <p:sp>
        <p:nvSpPr>
          <p:cNvPr id="32" name="">
            <a:extLst xmlns:a="http://schemas.openxmlformats.org/drawingml/2006/main">
              <a:ext uri="{FF2B5EF4-FFF2-40B4-BE49-F238E27FC236}">
                <a16:creationId xmlns:a16="http://schemas.microsoft.com/office/drawing/2014/main" id="{3D23F999-9517-485F-BE9D-3BC4AB460970}"/>
              </a:ext>
            </a:extLst>
          </p:cNvPr>
          <p:cNvSpPr>
            <a:spLocks xmlns:a="http://schemas.openxmlformats.org/drawingml/2006/main" noGrp="1"/>
          </p:cNvSpPr>
          <p:nvPr/>
        </p:nvSpPr>
        <p:spPr>
          <a:xfrm xmlns:a="http://schemas.openxmlformats.org/drawingml/2006/main">
            <a:off x="361950" y="5095875"/>
            <a:ext cx="1905000" cy="2476500"/>
          </a:xfrm>
          <a:prstGeom xmlns:a="http://schemas.openxmlformats.org/drawingml/2006/main" prst="roundRect">
            <a:avLst>
              <a:gd name="adj" fmla="val 4000"/>
            </a:avLst>
          </a:prstGeom>
          <a:solidFill xmlns:a="http://schemas.openxmlformats.org/drawingml/2006/main">
            <a:srgbClr val="FFFFFF"/>
          </a:solidFill>
          <a:ln xmlns:a="http://schemas.openxmlformats.org/drawingml/2006/main" w="9525">
            <a:solidFill>
              <a:srgbClr val="C8DCD7"/>
            </a:solidFill>
            <a:prstDash val="solid"/>
          </a:ln>
        </p:spPr>
      </p:sp>
      <p:sp>
        <p:nvSpPr>
          <p:cNvPr id="33" name="">
            <a:extLst xmlns:a="http://schemas.openxmlformats.org/drawingml/2006/main">
              <a:ext uri="{FF2B5EF4-FFF2-40B4-BE49-F238E27FC236}">
                <a16:creationId xmlns:a16="http://schemas.microsoft.com/office/drawing/2014/main" id="{E61B71C2-E9A8-4EB8-8C11-64774DD7A6F5}"/>
              </a:ext>
            </a:extLst>
          </p:cNvPr>
          <p:cNvSpPr>
            <a:spLocks xmlns:a="http://schemas.openxmlformats.org/drawingml/2006/main" noGrp="1"/>
          </p:cNvSpPr>
          <p:nvPr/>
        </p:nvSpPr>
        <p:spPr>
          <a:xfrm xmlns:a="http://schemas.openxmlformats.org/drawingml/2006/main">
            <a:off x="495300" y="5219700"/>
            <a:ext cx="16573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116F68"/>
                </a:solidFill>
              </a:defRPr>
            </a:pPr>
            <a:r>
              <a:rPr sz="900" b="1">
                <a:solidFill>
                  <a:srgbClr val="116F68"/>
                </a:solidFill>
              </a:rPr>
              <a:t>TOP CHAINS / STATES</a:t>
            </a:r>
          </a:p>
        </p:txBody>
      </p:sp>
      <p:sp>
        <p:nvSpPr>
          <p:cNvPr id="34" name="">
            <a:extLst xmlns:a="http://schemas.openxmlformats.org/drawingml/2006/main">
              <a:ext uri="{FF2B5EF4-FFF2-40B4-BE49-F238E27FC236}">
                <a16:creationId xmlns:a16="http://schemas.microsoft.com/office/drawing/2014/main" id="{C70A9383-D6DF-4CCB-B01E-E1E7E8485DD0}"/>
              </a:ext>
            </a:extLst>
          </p:cNvPr>
          <p:cNvSpPr>
            <a:spLocks xmlns:a="http://schemas.openxmlformats.org/drawingml/2006/main" noGrp="1"/>
          </p:cNvSpPr>
          <p:nvPr/>
        </p:nvSpPr>
        <p:spPr>
          <a:xfrm xmlns:a="http://schemas.openxmlformats.org/drawingml/2006/main">
            <a:off x="495300" y="5543550"/>
            <a:ext cx="16573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1">
                <a:solidFill>
                  <a:srgbClr val="183B39"/>
                </a:solidFill>
              </a:defRPr>
            </a:pPr>
            <a:r>
              <a:rPr sz="825" b="1">
                <a:solidFill>
                  <a:srgbClr val="183B39"/>
                </a:solidFill>
              </a:rPr>
              <a:t>1. DMart  ₹5.76 Cr</a:t>
            </a:r>
          </a:p>
        </p:txBody>
      </p:sp>
      <p:sp>
        <p:nvSpPr>
          <p:cNvPr id="35" name="">
            <a:extLst xmlns:a="http://schemas.openxmlformats.org/drawingml/2006/main">
              <a:ext uri="{FF2B5EF4-FFF2-40B4-BE49-F238E27FC236}">
                <a16:creationId xmlns:a16="http://schemas.microsoft.com/office/drawing/2014/main" id="{52B4CEFA-551A-49D5-8B27-5251252E363E}"/>
              </a:ext>
            </a:extLst>
          </p:cNvPr>
          <p:cNvSpPr>
            <a:spLocks xmlns:a="http://schemas.openxmlformats.org/drawingml/2006/main" noGrp="1"/>
          </p:cNvSpPr>
          <p:nvPr/>
        </p:nvSpPr>
        <p:spPr>
          <a:xfrm xmlns:a="http://schemas.openxmlformats.org/drawingml/2006/main">
            <a:off x="495300" y="5867400"/>
            <a:ext cx="16573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0">
                <a:solidFill>
                  <a:srgbClr val="183B39"/>
                </a:solidFill>
              </a:defRPr>
            </a:pPr>
            <a:r>
              <a:rPr sz="825" b="0">
                <a:solidFill>
                  <a:srgbClr val="183B39"/>
                </a:solidFill>
              </a:rPr>
              <a:t>2. Reliance  ₹1.23 Cr</a:t>
            </a:r>
          </a:p>
        </p:txBody>
      </p:sp>
      <p:sp>
        <p:nvSpPr>
          <p:cNvPr id="36" name="">
            <a:extLst xmlns:a="http://schemas.openxmlformats.org/drawingml/2006/main">
              <a:ext uri="{FF2B5EF4-FFF2-40B4-BE49-F238E27FC236}">
                <a16:creationId xmlns:a16="http://schemas.microsoft.com/office/drawing/2014/main" id="{785D3095-5FB7-42B4-A14A-F86EFFE08C3D}"/>
              </a:ext>
            </a:extLst>
          </p:cNvPr>
          <p:cNvSpPr>
            <a:spLocks xmlns:a="http://schemas.openxmlformats.org/drawingml/2006/main" noGrp="1"/>
          </p:cNvSpPr>
          <p:nvPr/>
        </p:nvSpPr>
        <p:spPr>
          <a:xfrm xmlns:a="http://schemas.openxmlformats.org/drawingml/2006/main">
            <a:off x="495300" y="6191250"/>
            <a:ext cx="16573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0">
                <a:solidFill>
                  <a:srgbClr val="183B39"/>
                </a:solidFill>
              </a:defRPr>
            </a:pPr>
            <a:r>
              <a:rPr sz="825" b="0">
                <a:solidFill>
                  <a:srgbClr val="183B39"/>
                </a:solidFill>
              </a:rPr>
              <a:t>3. Wellness Forev…  ₹0.65 Cr</a:t>
            </a:r>
          </a:p>
        </p:txBody>
      </p:sp>
      <p:sp>
        <p:nvSpPr>
          <p:cNvPr id="37" name="">
            <a:extLst xmlns:a="http://schemas.openxmlformats.org/drawingml/2006/main">
              <a:ext uri="{FF2B5EF4-FFF2-40B4-BE49-F238E27FC236}">
                <a16:creationId xmlns:a16="http://schemas.microsoft.com/office/drawing/2014/main" id="{FA7FEB57-90A9-414C-8132-291120E1ACF3}"/>
              </a:ext>
            </a:extLst>
          </p:cNvPr>
          <p:cNvSpPr>
            <a:spLocks xmlns:a="http://schemas.openxmlformats.org/drawingml/2006/main" noGrp="1"/>
          </p:cNvSpPr>
          <p:nvPr/>
        </p:nvSpPr>
        <p:spPr>
          <a:xfrm xmlns:a="http://schemas.openxmlformats.org/drawingml/2006/main">
            <a:off x="495300" y="6572250"/>
            <a:ext cx="16573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1">
                <a:solidFill>
                  <a:srgbClr val="5F716E"/>
                </a:solidFill>
              </a:defRPr>
            </a:pPr>
            <a:r>
              <a:rPr sz="825" b="1">
                <a:solidFill>
                  <a:srgbClr val="5F716E"/>
                </a:solidFill>
              </a:rPr>
              <a:t>1. Maharashtra  ₹3.43 Cr</a:t>
            </a:r>
          </a:p>
        </p:txBody>
      </p:sp>
      <p:sp>
        <p:nvSpPr>
          <p:cNvPr id="38" name="">
            <a:extLst xmlns:a="http://schemas.openxmlformats.org/drawingml/2006/main">
              <a:ext uri="{FF2B5EF4-FFF2-40B4-BE49-F238E27FC236}">
                <a16:creationId xmlns:a16="http://schemas.microsoft.com/office/drawing/2014/main" id="{99335C2F-8FA9-48CC-BD65-3EF7DF5609FC}"/>
              </a:ext>
            </a:extLst>
          </p:cNvPr>
          <p:cNvSpPr>
            <a:spLocks xmlns:a="http://schemas.openxmlformats.org/drawingml/2006/main" noGrp="1"/>
          </p:cNvSpPr>
          <p:nvPr/>
        </p:nvSpPr>
        <p:spPr>
          <a:xfrm xmlns:a="http://schemas.openxmlformats.org/drawingml/2006/main">
            <a:off x="495300" y="6858000"/>
            <a:ext cx="16573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0">
                <a:solidFill>
                  <a:srgbClr val="5F716E"/>
                </a:solidFill>
              </a:defRPr>
            </a:pPr>
            <a:r>
              <a:rPr sz="825" b="0">
                <a:solidFill>
                  <a:srgbClr val="5F716E"/>
                </a:solidFill>
              </a:rPr>
              <a:t>2. Gujarat  ₹2.57 Cr</a:t>
            </a:r>
          </a:p>
        </p:txBody>
      </p:sp>
      <p:sp>
        <p:nvSpPr>
          <p:cNvPr id="39" name="">
            <a:extLst xmlns:a="http://schemas.openxmlformats.org/drawingml/2006/main">
              <a:ext uri="{FF2B5EF4-FFF2-40B4-BE49-F238E27FC236}">
                <a16:creationId xmlns:a16="http://schemas.microsoft.com/office/drawing/2014/main" id="{48FA1EA2-5370-4E19-91BB-49047A270401}"/>
              </a:ext>
            </a:extLst>
          </p:cNvPr>
          <p:cNvSpPr>
            <a:spLocks xmlns:a="http://schemas.openxmlformats.org/drawingml/2006/main" noGrp="1"/>
          </p:cNvSpPr>
          <p:nvPr/>
        </p:nvSpPr>
        <p:spPr>
          <a:xfrm xmlns:a="http://schemas.openxmlformats.org/drawingml/2006/main">
            <a:off x="495300" y="7143750"/>
            <a:ext cx="16573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0">
                <a:solidFill>
                  <a:srgbClr val="5F716E"/>
                </a:solidFill>
              </a:defRPr>
            </a:pPr>
            <a:r>
              <a:rPr sz="825" b="0">
                <a:solidFill>
                  <a:srgbClr val="5F716E"/>
                </a:solidFill>
              </a:rPr>
              <a:t>3. Mumbai  ₹2.28 Cr</a:t>
            </a:r>
          </a:p>
        </p:txBody>
      </p:sp>
      <p:sp>
        <p:nvSpPr>
          <p:cNvPr id="40" name="">
            <a:extLst xmlns:a="http://schemas.openxmlformats.org/drawingml/2006/main">
              <a:ext uri="{FF2B5EF4-FFF2-40B4-BE49-F238E27FC236}">
                <a16:creationId xmlns:a16="http://schemas.microsoft.com/office/drawing/2014/main" id="{A016CEC0-C50B-402A-9164-1A324B7E5CD8}"/>
              </a:ext>
            </a:extLst>
          </p:cNvPr>
          <p:cNvSpPr>
            <a:spLocks xmlns:a="http://schemas.openxmlformats.org/drawingml/2006/main" noGrp="1"/>
          </p:cNvSpPr>
          <p:nvPr/>
        </p:nvSpPr>
        <p:spPr>
          <a:xfrm xmlns:a="http://schemas.openxmlformats.org/drawingml/2006/main">
            <a:off x="2381250" y="5095875"/>
            <a:ext cx="4114800" cy="2476500"/>
          </a:xfrm>
          <a:prstGeom xmlns:a="http://schemas.openxmlformats.org/drawingml/2006/main" prst="roundRect">
            <a:avLst>
              <a:gd name="adj" fmla="val 3077"/>
            </a:avLst>
          </a:prstGeom>
          <a:solidFill xmlns:a="http://schemas.openxmlformats.org/drawingml/2006/main">
            <a:srgbClr val="FFFFFF"/>
          </a:solidFill>
          <a:ln xmlns:a="http://schemas.openxmlformats.org/drawingml/2006/main" w="9525">
            <a:solidFill>
              <a:srgbClr val="C8DCD7"/>
            </a:solidFill>
            <a:prstDash val="solid"/>
          </a:ln>
        </p:spPr>
      </p:sp>
      <p:sp>
        <p:nvSpPr>
          <p:cNvPr id="41" name="">
            <a:extLst xmlns:a="http://schemas.openxmlformats.org/drawingml/2006/main">
              <a:ext uri="{FF2B5EF4-FFF2-40B4-BE49-F238E27FC236}">
                <a16:creationId xmlns:a16="http://schemas.microsoft.com/office/drawing/2014/main" id="{52054BF8-E44B-459A-BD1A-FDE14CB87FAA}"/>
              </a:ext>
            </a:extLst>
          </p:cNvPr>
          <p:cNvSpPr>
            <a:spLocks xmlns:a="http://schemas.openxmlformats.org/drawingml/2006/main" noGrp="1"/>
          </p:cNvSpPr>
          <p:nvPr/>
        </p:nvSpPr>
        <p:spPr>
          <a:xfrm xmlns:a="http://schemas.openxmlformats.org/drawingml/2006/main">
            <a:off x="2514600" y="5219700"/>
            <a:ext cx="3810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116F68"/>
                </a:solidFill>
              </a:defRPr>
            </a:pPr>
            <a:r>
              <a:rPr sz="900" b="1">
                <a:solidFill>
                  <a:srgbClr val="116F68"/>
                </a:solidFill>
              </a:rPr>
              <a:t>TOP 2 BRANDS × TOP SUB-CATEGORIES</a:t>
            </a:r>
          </a:p>
        </p:txBody>
      </p:sp>
      <p:sp>
        <p:nvSpPr>
          <p:cNvPr id="42" name="">
            <a:extLst xmlns:a="http://schemas.openxmlformats.org/drawingml/2006/main">
              <a:ext uri="{FF2B5EF4-FFF2-40B4-BE49-F238E27FC236}">
                <a16:creationId xmlns:a16="http://schemas.microsoft.com/office/drawing/2014/main" id="{FE118941-554A-4D82-913B-98A38980D8A7}"/>
              </a:ext>
            </a:extLst>
          </p:cNvPr>
          <p:cNvSpPr>
            <a:spLocks xmlns:a="http://schemas.openxmlformats.org/drawingml/2006/main" noGrp="1"/>
          </p:cNvSpPr>
          <p:nvPr/>
        </p:nvSpPr>
        <p:spPr>
          <a:xfrm xmlns:a="http://schemas.openxmlformats.org/drawingml/2006/main">
            <a:off x="2514600" y="5543550"/>
            <a:ext cx="1809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75" b="1">
                <a:solidFill>
                  <a:srgbClr val="28A596"/>
                </a:solidFill>
              </a:defRPr>
            </a:pPr>
            <a:r>
              <a:rPr sz="975" b="1">
                <a:solidFill>
                  <a:srgbClr val="28A596"/>
                </a:solidFill>
              </a:rPr>
              <a:t>Mamaearth | ₹4.97 Cr</a:t>
            </a:r>
          </a:p>
        </p:txBody>
      </p:sp>
      <p:sp>
        <p:nvSpPr>
          <p:cNvPr id="43" name="">
            <a:extLst xmlns:a="http://schemas.openxmlformats.org/drawingml/2006/main">
              <a:ext uri="{FF2B5EF4-FFF2-40B4-BE49-F238E27FC236}">
                <a16:creationId xmlns:a16="http://schemas.microsoft.com/office/drawing/2014/main" id="{061C6DB7-60A1-4BB5-BD86-4F0083DD3159}"/>
              </a:ext>
            </a:extLst>
          </p:cNvPr>
          <p:cNvSpPr>
            <a:spLocks xmlns:a="http://schemas.openxmlformats.org/drawingml/2006/main" noGrp="1"/>
          </p:cNvSpPr>
          <p:nvPr/>
        </p:nvSpPr>
        <p:spPr>
          <a:xfrm xmlns:a="http://schemas.openxmlformats.org/drawingml/2006/main">
            <a:off x="2514600" y="5905500"/>
            <a:ext cx="1809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88" b="1">
                <a:solidFill>
                  <a:srgbClr val="183B39"/>
                </a:solidFill>
              </a:defRPr>
            </a:pPr>
            <a:r>
              <a:rPr sz="788" b="1">
                <a:solidFill>
                  <a:srgbClr val="183B39"/>
                </a:solidFill>
              </a:rPr>
              <a:t>1. Face Cleanser  ₹2.39 Cr</a:t>
            </a:r>
          </a:p>
        </p:txBody>
      </p:sp>
      <p:sp>
        <p:nvSpPr>
          <p:cNvPr id="44" name="">
            <a:extLst xmlns:a="http://schemas.openxmlformats.org/drawingml/2006/main">
              <a:ext uri="{FF2B5EF4-FFF2-40B4-BE49-F238E27FC236}">
                <a16:creationId xmlns:a16="http://schemas.microsoft.com/office/drawing/2014/main" id="{ED19EFFD-6E18-4995-9537-436D83A9EA24}"/>
              </a:ext>
            </a:extLst>
          </p:cNvPr>
          <p:cNvSpPr>
            <a:spLocks xmlns:a="http://schemas.openxmlformats.org/drawingml/2006/main" noGrp="1"/>
          </p:cNvSpPr>
          <p:nvPr/>
        </p:nvSpPr>
        <p:spPr>
          <a:xfrm xmlns:a="http://schemas.openxmlformats.org/drawingml/2006/main">
            <a:off x="2514600" y="6210300"/>
            <a:ext cx="1809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88" b="0">
                <a:solidFill>
                  <a:srgbClr val="183B39"/>
                </a:solidFill>
              </a:defRPr>
            </a:pPr>
            <a:r>
              <a:rPr sz="788" b="0">
                <a:solidFill>
                  <a:srgbClr val="183B39"/>
                </a:solidFill>
              </a:rPr>
              <a:t>2. Shampoo  ₹1.53 Cr</a:t>
            </a:r>
          </a:p>
        </p:txBody>
      </p:sp>
      <p:sp>
        <p:nvSpPr>
          <p:cNvPr id="45" name="">
            <a:extLst xmlns:a="http://schemas.openxmlformats.org/drawingml/2006/main">
              <a:ext uri="{FF2B5EF4-FFF2-40B4-BE49-F238E27FC236}">
                <a16:creationId xmlns:a16="http://schemas.microsoft.com/office/drawing/2014/main" id="{E52371D7-81FD-4841-AF01-2A6580E4DBF5}"/>
              </a:ext>
            </a:extLst>
          </p:cNvPr>
          <p:cNvSpPr>
            <a:spLocks xmlns:a="http://schemas.openxmlformats.org/drawingml/2006/main" noGrp="1"/>
          </p:cNvSpPr>
          <p:nvPr/>
        </p:nvSpPr>
        <p:spPr>
          <a:xfrm xmlns:a="http://schemas.openxmlformats.org/drawingml/2006/main">
            <a:off x="2514600" y="6515100"/>
            <a:ext cx="1809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88" b="0">
                <a:solidFill>
                  <a:srgbClr val="183B39"/>
                </a:solidFill>
              </a:defRPr>
            </a:pPr>
            <a:r>
              <a:rPr sz="788" b="0">
                <a:solidFill>
                  <a:srgbClr val="183B39"/>
                </a:solidFill>
              </a:rPr>
              <a:t>3. Sun Care  ₹0.22 Cr</a:t>
            </a:r>
          </a:p>
        </p:txBody>
      </p:sp>
      <p:sp>
        <p:nvSpPr>
          <p:cNvPr id="46" name="">
            <a:extLst xmlns:a="http://schemas.openxmlformats.org/drawingml/2006/main">
              <a:ext uri="{FF2B5EF4-FFF2-40B4-BE49-F238E27FC236}">
                <a16:creationId xmlns:a16="http://schemas.microsoft.com/office/drawing/2014/main" id="{27BB863F-133B-4452-9209-C76F7C3E7BB3}"/>
              </a:ext>
            </a:extLst>
          </p:cNvPr>
          <p:cNvSpPr>
            <a:spLocks xmlns:a="http://schemas.openxmlformats.org/drawingml/2006/main" noGrp="1"/>
          </p:cNvSpPr>
          <p:nvPr/>
        </p:nvSpPr>
        <p:spPr>
          <a:xfrm xmlns:a="http://schemas.openxmlformats.org/drawingml/2006/main">
            <a:off x="4438650" y="5543550"/>
            <a:ext cx="1809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75" b="1">
                <a:solidFill>
                  <a:srgbClr val="2E7DA8"/>
                </a:solidFill>
              </a:defRPr>
            </a:pPr>
            <a:r>
              <a:rPr sz="975" b="1">
                <a:solidFill>
                  <a:srgbClr val="2E7DA8"/>
                </a:solidFill>
              </a:rPr>
              <a:t>The Derma Co. | ₹3.24 Cr</a:t>
            </a:r>
          </a:p>
        </p:txBody>
      </p:sp>
      <p:sp>
        <p:nvSpPr>
          <p:cNvPr id="47" name="">
            <a:extLst xmlns:a="http://schemas.openxmlformats.org/drawingml/2006/main">
              <a:ext uri="{FF2B5EF4-FFF2-40B4-BE49-F238E27FC236}">
                <a16:creationId xmlns:a16="http://schemas.microsoft.com/office/drawing/2014/main" id="{D671E4EB-D555-4759-A1BD-0C2AF5BE26D1}"/>
              </a:ext>
            </a:extLst>
          </p:cNvPr>
          <p:cNvSpPr>
            <a:spLocks xmlns:a="http://schemas.openxmlformats.org/drawingml/2006/main" noGrp="1"/>
          </p:cNvSpPr>
          <p:nvPr/>
        </p:nvSpPr>
        <p:spPr>
          <a:xfrm xmlns:a="http://schemas.openxmlformats.org/drawingml/2006/main">
            <a:off x="4438650" y="5905500"/>
            <a:ext cx="1809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88" b="1">
                <a:solidFill>
                  <a:srgbClr val="183B39"/>
                </a:solidFill>
              </a:defRPr>
            </a:pPr>
            <a:r>
              <a:rPr sz="788" b="1">
                <a:solidFill>
                  <a:srgbClr val="183B39"/>
                </a:solidFill>
              </a:rPr>
              <a:t>1. Face Cleanser  ₹2.84 Cr</a:t>
            </a:r>
          </a:p>
        </p:txBody>
      </p:sp>
      <p:sp>
        <p:nvSpPr>
          <p:cNvPr id="48" name="">
            <a:extLst xmlns:a="http://schemas.openxmlformats.org/drawingml/2006/main">
              <a:ext uri="{FF2B5EF4-FFF2-40B4-BE49-F238E27FC236}">
                <a16:creationId xmlns:a16="http://schemas.microsoft.com/office/drawing/2014/main" id="{2AB25B63-E497-4B2A-AD40-90EDA53EFBF2}"/>
              </a:ext>
            </a:extLst>
          </p:cNvPr>
          <p:cNvSpPr>
            <a:spLocks xmlns:a="http://schemas.openxmlformats.org/drawingml/2006/main" noGrp="1"/>
          </p:cNvSpPr>
          <p:nvPr/>
        </p:nvSpPr>
        <p:spPr>
          <a:xfrm xmlns:a="http://schemas.openxmlformats.org/drawingml/2006/main">
            <a:off x="4438650" y="6210300"/>
            <a:ext cx="1809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88" b="0">
                <a:solidFill>
                  <a:srgbClr val="183B39"/>
                </a:solidFill>
              </a:defRPr>
            </a:pPr>
            <a:r>
              <a:rPr sz="788" b="0">
                <a:solidFill>
                  <a:srgbClr val="183B39"/>
                </a:solidFill>
              </a:rPr>
              <a:t>2. Sun Care  ₹0.55 Cr</a:t>
            </a:r>
          </a:p>
        </p:txBody>
      </p:sp>
      <p:sp>
        <p:nvSpPr>
          <p:cNvPr id="49" name="">
            <a:extLst xmlns:a="http://schemas.openxmlformats.org/drawingml/2006/main">
              <a:ext uri="{FF2B5EF4-FFF2-40B4-BE49-F238E27FC236}">
                <a16:creationId xmlns:a16="http://schemas.microsoft.com/office/drawing/2014/main" id="{8DC82460-8AA3-46B4-9D33-1738235ECC9D}"/>
              </a:ext>
            </a:extLst>
          </p:cNvPr>
          <p:cNvSpPr>
            <a:spLocks xmlns:a="http://schemas.openxmlformats.org/drawingml/2006/main" noGrp="1"/>
          </p:cNvSpPr>
          <p:nvPr/>
        </p:nvSpPr>
        <p:spPr>
          <a:xfrm xmlns:a="http://schemas.openxmlformats.org/drawingml/2006/main">
            <a:off x="4438650" y="6515100"/>
            <a:ext cx="1809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88" b="0">
                <a:solidFill>
                  <a:srgbClr val="183B39"/>
                </a:solidFill>
              </a:defRPr>
            </a:pPr>
            <a:r>
              <a:rPr sz="788" b="0">
                <a:solidFill>
                  <a:srgbClr val="183B39"/>
                </a:solidFill>
              </a:rPr>
              <a:t>3. Face Serum  ₹0.22 Cr</a:t>
            </a:r>
          </a:p>
        </p:txBody>
      </p:sp>
      <p:sp>
        <p:nvSpPr>
          <p:cNvPr id="50" name="">
            <a:extLst xmlns:a="http://schemas.openxmlformats.org/drawingml/2006/main">
              <a:ext uri="{FF2B5EF4-FFF2-40B4-BE49-F238E27FC236}">
                <a16:creationId xmlns:a16="http://schemas.microsoft.com/office/drawing/2014/main" id="{1C551925-C4AD-439B-A77F-D6CD8999A711}"/>
              </a:ext>
            </a:extLst>
          </p:cNvPr>
          <p:cNvSpPr>
            <a:spLocks xmlns:a="http://schemas.openxmlformats.org/drawingml/2006/main" noGrp="1"/>
          </p:cNvSpPr>
          <p:nvPr/>
        </p:nvSpPr>
        <p:spPr>
          <a:xfrm xmlns:a="http://schemas.openxmlformats.org/drawingml/2006/main">
            <a:off x="2514600" y="7200900"/>
            <a:ext cx="1619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1">
                <a:solidFill>
                  <a:srgbClr val="D6544D"/>
                </a:solidFill>
              </a:defRPr>
            </a:pPr>
            <a:r>
              <a:rPr sz="825" b="1">
                <a:solidFill>
                  <a:srgbClr val="D6544D"/>
                </a:solidFill>
              </a:rPr>
              <a:t>NPI CONTRIBUTION</a:t>
            </a:r>
          </a:p>
        </p:txBody>
      </p:sp>
      <p:sp>
        <p:nvSpPr>
          <p:cNvPr id="51" name="">
            <a:extLst xmlns:a="http://schemas.openxmlformats.org/drawingml/2006/main">
              <a:ext uri="{FF2B5EF4-FFF2-40B4-BE49-F238E27FC236}">
                <a16:creationId xmlns:a16="http://schemas.microsoft.com/office/drawing/2014/main" id="{1DF6E58A-3A60-4D23-B537-5EBC20BB53AB}"/>
              </a:ext>
            </a:extLst>
          </p:cNvPr>
          <p:cNvSpPr>
            <a:spLocks xmlns:a="http://schemas.openxmlformats.org/drawingml/2006/main" noGrp="1"/>
          </p:cNvSpPr>
          <p:nvPr/>
        </p:nvSpPr>
        <p:spPr>
          <a:xfrm xmlns:a="http://schemas.openxmlformats.org/drawingml/2006/main">
            <a:off x="4095750" y="7124700"/>
            <a:ext cx="22098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690" b="0">
                <a:solidFill>
                  <a:srgbClr val="5F716E"/>
                </a:solidFill>
              </a:defRPr>
            </a:pPr>
            <a:r>
              <a:rPr sz="690" b="0">
                <a:solidFill>
                  <a:srgbClr val="5F716E"/>
                </a:solidFill>
              </a:rPr>
              <a:t>₹0.54 Cr | 6.6% of zone | ME Onion hai… • ME Gentle Cl… • ME Multani M…</a:t>
            </a:r>
          </a:p>
        </p:txBody>
      </p:sp>
      <p:sp>
        <p:nvSpPr>
          <p:cNvPr id="52" name="">
            <a:extLst xmlns:a="http://schemas.openxmlformats.org/drawingml/2006/main">
              <a:ext uri="{FF2B5EF4-FFF2-40B4-BE49-F238E27FC236}">
                <a16:creationId xmlns:a16="http://schemas.microsoft.com/office/drawing/2014/main" id="{F38713EE-2A8D-47CF-84AA-3E88BBB3250F}"/>
              </a:ext>
            </a:extLst>
          </p:cNvPr>
          <p:cNvSpPr>
            <a:spLocks xmlns:a="http://schemas.openxmlformats.org/drawingml/2006/main" noGrp="1"/>
          </p:cNvSpPr>
          <p:nvPr/>
        </p:nvSpPr>
        <p:spPr>
          <a:xfrm xmlns:a="http://schemas.openxmlformats.org/drawingml/2006/main">
            <a:off x="361950" y="7762875"/>
            <a:ext cx="6134100" cy="257175"/>
          </a:xfrm>
          <a:prstGeom xmlns:a="http://schemas.openxmlformats.org/drawingml/2006/main" prst="rect">
            <a:avLst/>
          </a:prstGeom>
          <a:solidFill xmlns:a="http://schemas.openxmlformats.org/drawingml/2006/main">
            <a:srgbClr val="116F68"/>
          </a:solidFill>
          <a:ln xmlns:a="http://schemas.openxmlformats.org/drawingml/2006/main" w="0">
            <a:solidFill>
              <a:srgbClr val="116F68"/>
            </a:solidFill>
            <a:prstDash val="solid"/>
          </a:ln>
        </p:spPr>
      </p:sp>
      <p:sp>
        <p:nvSpPr>
          <p:cNvPr id="53" name="">
            <a:extLst xmlns:a="http://schemas.openxmlformats.org/drawingml/2006/main">
              <a:ext uri="{FF2B5EF4-FFF2-40B4-BE49-F238E27FC236}">
                <a16:creationId xmlns:a16="http://schemas.microsoft.com/office/drawing/2014/main" id="{87721DE5-098F-48C5-ABE1-5CBC32F2E79B}"/>
              </a:ext>
            </a:extLst>
          </p:cNvPr>
          <p:cNvSpPr>
            <a:spLocks xmlns:a="http://schemas.openxmlformats.org/drawingml/2006/main" noGrp="1"/>
          </p:cNvSpPr>
          <p:nvPr/>
        </p:nvSpPr>
        <p:spPr>
          <a:xfrm xmlns:a="http://schemas.openxmlformats.org/drawingml/2006/main">
            <a:off x="457200" y="7772400"/>
            <a:ext cx="59436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FFFFFF"/>
                </a:solidFill>
              </a:defRPr>
            </a:pPr>
            <a:r>
              <a:rPr sz="900" b="1">
                <a:solidFill>
                  <a:srgbClr val="FFFFFF"/>
                </a:solidFill>
              </a:rPr>
              <a:t>15 ZONE-SPECIFIC INSIGHTS AND ACTIONS</a:t>
            </a:r>
          </a:p>
        </p:txBody>
      </p:sp>
      <p:sp>
        <p:nvSpPr>
          <p:cNvPr id="54" name="">
            <a:extLst xmlns:a="http://schemas.openxmlformats.org/drawingml/2006/main">
              <a:ext uri="{FF2B5EF4-FFF2-40B4-BE49-F238E27FC236}">
                <a16:creationId xmlns:a16="http://schemas.microsoft.com/office/drawing/2014/main" id="{E340531C-393E-4006-922C-7AC67DD58CC2}"/>
              </a:ext>
            </a:extLst>
          </p:cNvPr>
          <p:cNvSpPr>
            <a:spLocks xmlns:a="http://schemas.openxmlformats.org/drawingml/2006/main" noGrp="1"/>
          </p:cNvSpPr>
          <p:nvPr/>
        </p:nvSpPr>
        <p:spPr>
          <a:xfrm xmlns:a="http://schemas.openxmlformats.org/drawingml/2006/main">
            <a:off x="361950" y="8096250"/>
            <a:ext cx="1981200" cy="514350"/>
          </a:xfrm>
          <a:prstGeom xmlns:a="http://schemas.openxmlformats.org/drawingml/2006/main" prst="roundRect">
            <a:avLst>
              <a:gd name="adj" fmla="val 14815"/>
            </a:avLst>
          </a:prstGeom>
          <a:solidFill xmlns:a="http://schemas.openxmlformats.org/drawingml/2006/main">
            <a:srgbClr val="DFF2ED"/>
          </a:solidFill>
          <a:ln xmlns:a="http://schemas.openxmlformats.org/drawingml/2006/main" w="9525">
            <a:solidFill>
              <a:srgbClr val="C8DCD7"/>
            </a:solidFill>
            <a:prstDash val="solid"/>
          </a:ln>
        </p:spPr>
      </p:sp>
      <p:sp>
        <p:nvSpPr>
          <p:cNvPr id="55" name="">
            <a:extLst xmlns:a="http://schemas.openxmlformats.org/drawingml/2006/main">
              <a:ext uri="{FF2B5EF4-FFF2-40B4-BE49-F238E27FC236}">
                <a16:creationId xmlns:a16="http://schemas.microsoft.com/office/drawing/2014/main" id="{DCABF3D8-1E0C-47F2-A2EC-60CB80ABF194}"/>
              </a:ext>
            </a:extLst>
          </p:cNvPr>
          <p:cNvSpPr>
            <a:spLocks xmlns:a="http://schemas.openxmlformats.org/drawingml/2006/main" noGrp="1"/>
          </p:cNvSpPr>
          <p:nvPr/>
        </p:nvSpPr>
        <p:spPr>
          <a:xfrm xmlns:a="http://schemas.openxmlformats.org/drawingml/2006/main">
            <a:off x="419100" y="814387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28A596"/>
                </a:solidFill>
              </a:defRPr>
            </a:pPr>
            <a:r>
              <a:rPr sz="675" b="1">
                <a:solidFill>
                  <a:srgbClr val="28A596"/>
                </a:solidFill>
              </a:rPr>
              <a:t>01</a:t>
            </a:r>
          </a:p>
        </p:txBody>
      </p:sp>
      <p:sp>
        <p:nvSpPr>
          <p:cNvPr id="56" name="">
            <a:extLst xmlns:a="http://schemas.openxmlformats.org/drawingml/2006/main">
              <a:ext uri="{FF2B5EF4-FFF2-40B4-BE49-F238E27FC236}">
                <a16:creationId xmlns:a16="http://schemas.microsoft.com/office/drawing/2014/main" id="{8AFA38A1-E679-44CC-9E54-BCB909BEF186}"/>
              </a:ext>
            </a:extLst>
          </p:cNvPr>
          <p:cNvSpPr>
            <a:spLocks xmlns:a="http://schemas.openxmlformats.org/drawingml/2006/main" noGrp="1"/>
          </p:cNvSpPr>
          <p:nvPr/>
        </p:nvSpPr>
        <p:spPr>
          <a:xfrm xmlns:a="http://schemas.openxmlformats.org/drawingml/2006/main">
            <a:off x="742950" y="813435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1">
                <a:solidFill>
                  <a:srgbClr val="183B39"/>
                </a:solidFill>
              </a:defRPr>
            </a:pPr>
            <a:r>
              <a:rPr sz="713" b="1">
                <a:solidFill>
                  <a:srgbClr val="183B39"/>
                </a:solidFill>
              </a:rPr>
              <a:t>West delivers ₹8.28 Cr offtake, 22.9% of national value.</a:t>
            </a:r>
          </a:p>
        </p:txBody>
      </p:sp>
      <p:sp>
        <p:nvSpPr>
          <p:cNvPr id="57" name="">
            <a:extLst xmlns:a="http://schemas.openxmlformats.org/drawingml/2006/main">
              <a:ext uri="{FF2B5EF4-FFF2-40B4-BE49-F238E27FC236}">
                <a16:creationId xmlns:a16="http://schemas.microsoft.com/office/drawing/2014/main" id="{9C66C8D1-BA30-4579-A781-4B530495CF5A}"/>
              </a:ext>
            </a:extLst>
          </p:cNvPr>
          <p:cNvSpPr>
            <a:spLocks xmlns:a="http://schemas.openxmlformats.org/drawingml/2006/main" noGrp="1"/>
          </p:cNvSpPr>
          <p:nvPr/>
        </p:nvSpPr>
        <p:spPr>
          <a:xfrm xmlns:a="http://schemas.openxmlformats.org/drawingml/2006/main">
            <a:off x="2438400" y="8096250"/>
            <a:ext cx="1981200" cy="514350"/>
          </a:xfrm>
          <a:prstGeom xmlns:a="http://schemas.openxmlformats.org/drawingml/2006/main" prst="roundRect">
            <a:avLst>
              <a:gd name="adj" fmla="val 14815"/>
            </a:avLst>
          </a:prstGeom>
          <a:solidFill xmlns:a="http://schemas.openxmlformats.org/drawingml/2006/main">
            <a:srgbClr val="DFF2ED"/>
          </a:solidFill>
          <a:ln xmlns:a="http://schemas.openxmlformats.org/drawingml/2006/main" w="9525">
            <a:solidFill>
              <a:srgbClr val="C8DCD7"/>
            </a:solidFill>
            <a:prstDash val="solid"/>
          </a:ln>
        </p:spPr>
      </p:sp>
      <p:sp>
        <p:nvSpPr>
          <p:cNvPr id="58" name="">
            <a:extLst xmlns:a="http://schemas.openxmlformats.org/drawingml/2006/main">
              <a:ext uri="{FF2B5EF4-FFF2-40B4-BE49-F238E27FC236}">
                <a16:creationId xmlns:a16="http://schemas.microsoft.com/office/drawing/2014/main" id="{371FCBD3-2195-41E6-9205-04EF9FD35558}"/>
              </a:ext>
            </a:extLst>
          </p:cNvPr>
          <p:cNvSpPr>
            <a:spLocks xmlns:a="http://schemas.openxmlformats.org/drawingml/2006/main" noGrp="1"/>
          </p:cNvSpPr>
          <p:nvPr/>
        </p:nvSpPr>
        <p:spPr>
          <a:xfrm xmlns:a="http://schemas.openxmlformats.org/drawingml/2006/main">
            <a:off x="2495550" y="814387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28A596"/>
                </a:solidFill>
              </a:defRPr>
            </a:pPr>
            <a:r>
              <a:rPr sz="675" b="1">
                <a:solidFill>
                  <a:srgbClr val="28A596"/>
                </a:solidFill>
              </a:rPr>
              <a:t>02</a:t>
            </a:r>
          </a:p>
        </p:txBody>
      </p:sp>
      <p:sp>
        <p:nvSpPr>
          <p:cNvPr id="59" name="">
            <a:extLst xmlns:a="http://schemas.openxmlformats.org/drawingml/2006/main">
              <a:ext uri="{FF2B5EF4-FFF2-40B4-BE49-F238E27FC236}">
                <a16:creationId xmlns:a16="http://schemas.microsoft.com/office/drawing/2014/main" id="{777A0222-C6C6-41A9-9CC5-5F5A9B45649F}"/>
              </a:ext>
            </a:extLst>
          </p:cNvPr>
          <p:cNvSpPr>
            <a:spLocks xmlns:a="http://schemas.openxmlformats.org/drawingml/2006/main" noGrp="1"/>
          </p:cNvSpPr>
          <p:nvPr/>
        </p:nvSpPr>
        <p:spPr>
          <a:xfrm xmlns:a="http://schemas.openxmlformats.org/drawingml/2006/main">
            <a:off x="2819400" y="813435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1">
                <a:solidFill>
                  <a:srgbClr val="183B39"/>
                </a:solidFill>
              </a:defRPr>
            </a:pPr>
            <a:r>
              <a:rPr sz="713" b="1">
                <a:solidFill>
                  <a:srgbClr val="183B39"/>
                </a:solidFill>
              </a:rPr>
              <a:t>Primary is ₹10.05 Cr versus ₹8.28 Cr offtake.</a:t>
            </a:r>
          </a:p>
        </p:txBody>
      </p:sp>
      <p:sp>
        <p:nvSpPr>
          <p:cNvPr id="60" name="">
            <a:extLst xmlns:a="http://schemas.openxmlformats.org/drawingml/2006/main">
              <a:ext uri="{FF2B5EF4-FFF2-40B4-BE49-F238E27FC236}">
                <a16:creationId xmlns:a16="http://schemas.microsoft.com/office/drawing/2014/main" id="{EA4ED91A-80C1-443B-98D4-2AAD3843770E}"/>
              </a:ext>
            </a:extLst>
          </p:cNvPr>
          <p:cNvSpPr>
            <a:spLocks xmlns:a="http://schemas.openxmlformats.org/drawingml/2006/main" noGrp="1"/>
          </p:cNvSpPr>
          <p:nvPr/>
        </p:nvSpPr>
        <p:spPr>
          <a:xfrm xmlns:a="http://schemas.openxmlformats.org/drawingml/2006/main">
            <a:off x="4514850" y="8096250"/>
            <a:ext cx="1981200" cy="514350"/>
          </a:xfrm>
          <a:prstGeom xmlns:a="http://schemas.openxmlformats.org/drawingml/2006/main" prst="roundRect">
            <a:avLst>
              <a:gd name="adj" fmla="val 14815"/>
            </a:avLst>
          </a:prstGeom>
          <a:solidFill xmlns:a="http://schemas.openxmlformats.org/drawingml/2006/main">
            <a:srgbClr val="DFF2ED"/>
          </a:solidFill>
          <a:ln xmlns:a="http://schemas.openxmlformats.org/drawingml/2006/main" w="9525">
            <a:solidFill>
              <a:srgbClr val="C8DCD7"/>
            </a:solidFill>
            <a:prstDash val="solid"/>
          </a:ln>
        </p:spPr>
      </p:sp>
      <p:sp>
        <p:nvSpPr>
          <p:cNvPr id="61" name="">
            <a:extLst xmlns:a="http://schemas.openxmlformats.org/drawingml/2006/main">
              <a:ext uri="{FF2B5EF4-FFF2-40B4-BE49-F238E27FC236}">
                <a16:creationId xmlns:a16="http://schemas.microsoft.com/office/drawing/2014/main" id="{1393D2B8-B350-4F64-B785-D0F15D582467}"/>
              </a:ext>
            </a:extLst>
          </p:cNvPr>
          <p:cNvSpPr>
            <a:spLocks xmlns:a="http://schemas.openxmlformats.org/drawingml/2006/main" noGrp="1"/>
          </p:cNvSpPr>
          <p:nvPr/>
        </p:nvSpPr>
        <p:spPr>
          <a:xfrm xmlns:a="http://schemas.openxmlformats.org/drawingml/2006/main">
            <a:off x="4572000" y="814387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28A596"/>
                </a:solidFill>
              </a:defRPr>
            </a:pPr>
            <a:r>
              <a:rPr sz="675" b="1">
                <a:solidFill>
                  <a:srgbClr val="28A596"/>
                </a:solidFill>
              </a:rPr>
              <a:t>03</a:t>
            </a:r>
          </a:p>
        </p:txBody>
      </p:sp>
      <p:sp>
        <p:nvSpPr>
          <p:cNvPr id="62" name="">
            <a:extLst xmlns:a="http://schemas.openxmlformats.org/drawingml/2006/main">
              <a:ext uri="{FF2B5EF4-FFF2-40B4-BE49-F238E27FC236}">
                <a16:creationId xmlns:a16="http://schemas.microsoft.com/office/drawing/2014/main" id="{EC0F9EA5-ED43-4CDA-B59E-C657F9A46ACA}"/>
              </a:ext>
            </a:extLst>
          </p:cNvPr>
          <p:cNvSpPr>
            <a:spLocks xmlns:a="http://schemas.openxmlformats.org/drawingml/2006/main" noGrp="1"/>
          </p:cNvSpPr>
          <p:nvPr/>
        </p:nvSpPr>
        <p:spPr>
          <a:xfrm xmlns:a="http://schemas.openxmlformats.org/drawingml/2006/main">
            <a:off x="4895850" y="813435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1">
                <a:solidFill>
                  <a:srgbClr val="183B39"/>
                </a:solidFill>
              </a:defRPr>
            </a:pPr>
            <a:r>
              <a:rPr sz="713" b="1">
                <a:solidFill>
                  <a:srgbClr val="183B39"/>
                </a:solidFill>
              </a:rPr>
              <a:t>Flow conversion is 82.3% for July.</a:t>
            </a:r>
          </a:p>
        </p:txBody>
      </p:sp>
      <p:sp>
        <p:nvSpPr>
          <p:cNvPr id="63" name="">
            <a:extLst xmlns:a="http://schemas.openxmlformats.org/drawingml/2006/main">
              <a:ext uri="{FF2B5EF4-FFF2-40B4-BE49-F238E27FC236}">
                <a16:creationId xmlns:a16="http://schemas.microsoft.com/office/drawing/2014/main" id="{DA0C423D-0351-42CA-9BCB-7761F895B4E2}"/>
              </a:ext>
            </a:extLst>
          </p:cNvPr>
          <p:cNvSpPr>
            <a:spLocks xmlns:a="http://schemas.openxmlformats.org/drawingml/2006/main" noGrp="1"/>
          </p:cNvSpPr>
          <p:nvPr/>
        </p:nvSpPr>
        <p:spPr>
          <a:xfrm xmlns:a="http://schemas.openxmlformats.org/drawingml/2006/main">
            <a:off x="361950" y="8686800"/>
            <a:ext cx="1981200" cy="514350"/>
          </a:xfrm>
          <a:prstGeom xmlns:a="http://schemas.openxmlformats.org/drawingml/2006/main" prst="roundRect">
            <a:avLst>
              <a:gd name="adj" fmla="val 14815"/>
            </a:avLst>
          </a:prstGeom>
          <a:solidFill xmlns:a="http://schemas.openxmlformats.org/drawingml/2006/main">
            <a:srgbClr val="DFF2ED"/>
          </a:solidFill>
          <a:ln xmlns:a="http://schemas.openxmlformats.org/drawingml/2006/main" w="9525">
            <a:solidFill>
              <a:srgbClr val="C8DCD7"/>
            </a:solidFill>
            <a:prstDash val="solid"/>
          </a:ln>
        </p:spPr>
      </p:sp>
      <p:sp>
        <p:nvSpPr>
          <p:cNvPr id="64" name="">
            <a:extLst xmlns:a="http://schemas.openxmlformats.org/drawingml/2006/main">
              <a:ext uri="{FF2B5EF4-FFF2-40B4-BE49-F238E27FC236}">
                <a16:creationId xmlns:a16="http://schemas.microsoft.com/office/drawing/2014/main" id="{66E1AA5B-976A-4CBA-A073-BD0E1C9076BB}"/>
              </a:ext>
            </a:extLst>
          </p:cNvPr>
          <p:cNvSpPr>
            <a:spLocks xmlns:a="http://schemas.openxmlformats.org/drawingml/2006/main" noGrp="1"/>
          </p:cNvSpPr>
          <p:nvPr/>
        </p:nvSpPr>
        <p:spPr>
          <a:xfrm xmlns:a="http://schemas.openxmlformats.org/drawingml/2006/main">
            <a:off x="419100" y="873442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28A596"/>
                </a:solidFill>
              </a:defRPr>
            </a:pPr>
            <a:r>
              <a:rPr sz="675" b="1">
                <a:solidFill>
                  <a:srgbClr val="28A596"/>
                </a:solidFill>
              </a:rPr>
              <a:t>04</a:t>
            </a:r>
          </a:p>
        </p:txBody>
      </p:sp>
      <p:sp>
        <p:nvSpPr>
          <p:cNvPr id="65" name="">
            <a:extLst xmlns:a="http://schemas.openxmlformats.org/drawingml/2006/main">
              <a:ext uri="{FF2B5EF4-FFF2-40B4-BE49-F238E27FC236}">
                <a16:creationId xmlns:a16="http://schemas.microsoft.com/office/drawing/2014/main" id="{BAA3E0FC-45DB-42C6-B9EB-4A1690642D76}"/>
              </a:ext>
            </a:extLst>
          </p:cNvPr>
          <p:cNvSpPr>
            <a:spLocks xmlns:a="http://schemas.openxmlformats.org/drawingml/2006/main" noGrp="1"/>
          </p:cNvSpPr>
          <p:nvPr/>
        </p:nvSpPr>
        <p:spPr>
          <a:xfrm xmlns:a="http://schemas.openxmlformats.org/drawingml/2006/main">
            <a:off x="742950" y="872490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0">
                <a:solidFill>
                  <a:srgbClr val="183B39"/>
                </a:solidFill>
              </a:defRPr>
            </a:pPr>
            <a:r>
              <a:rPr sz="713" b="0">
                <a:solidFill>
                  <a:srgbClr val="183B39"/>
                </a:solidFill>
              </a:rPr>
              <a:t>The same-period flow gap is ₹1.78 Cr.</a:t>
            </a:r>
          </a:p>
        </p:txBody>
      </p:sp>
      <p:sp>
        <p:nvSpPr>
          <p:cNvPr id="66" name="">
            <a:extLst xmlns:a="http://schemas.openxmlformats.org/drawingml/2006/main">
              <a:ext uri="{FF2B5EF4-FFF2-40B4-BE49-F238E27FC236}">
                <a16:creationId xmlns:a16="http://schemas.microsoft.com/office/drawing/2014/main" id="{676ABDF7-4195-4210-9B48-5D1225BD5742}"/>
              </a:ext>
            </a:extLst>
          </p:cNvPr>
          <p:cNvSpPr>
            <a:spLocks xmlns:a="http://schemas.openxmlformats.org/drawingml/2006/main" noGrp="1"/>
          </p:cNvSpPr>
          <p:nvPr/>
        </p:nvSpPr>
        <p:spPr>
          <a:xfrm xmlns:a="http://schemas.openxmlformats.org/drawingml/2006/main">
            <a:off x="2438400" y="8686800"/>
            <a:ext cx="1981200" cy="514350"/>
          </a:xfrm>
          <a:prstGeom xmlns:a="http://schemas.openxmlformats.org/drawingml/2006/main" prst="roundRect">
            <a:avLst>
              <a:gd name="adj" fmla="val 14815"/>
            </a:avLst>
          </a:prstGeom>
          <a:solidFill xmlns:a="http://schemas.openxmlformats.org/drawingml/2006/main">
            <a:srgbClr val="DFF2ED"/>
          </a:solidFill>
          <a:ln xmlns:a="http://schemas.openxmlformats.org/drawingml/2006/main" w="9525">
            <a:solidFill>
              <a:srgbClr val="C8DCD7"/>
            </a:solidFill>
            <a:prstDash val="solid"/>
          </a:ln>
        </p:spPr>
      </p:sp>
      <p:sp>
        <p:nvSpPr>
          <p:cNvPr id="67" name="">
            <a:extLst xmlns:a="http://schemas.openxmlformats.org/drawingml/2006/main">
              <a:ext uri="{FF2B5EF4-FFF2-40B4-BE49-F238E27FC236}">
                <a16:creationId xmlns:a16="http://schemas.microsoft.com/office/drawing/2014/main" id="{5EAA935B-1BD3-4EB8-A71C-590CC57B9226}"/>
              </a:ext>
            </a:extLst>
          </p:cNvPr>
          <p:cNvSpPr>
            <a:spLocks xmlns:a="http://schemas.openxmlformats.org/drawingml/2006/main" noGrp="1"/>
          </p:cNvSpPr>
          <p:nvPr/>
        </p:nvSpPr>
        <p:spPr>
          <a:xfrm xmlns:a="http://schemas.openxmlformats.org/drawingml/2006/main">
            <a:off x="2495550" y="873442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28A596"/>
                </a:solidFill>
              </a:defRPr>
            </a:pPr>
            <a:r>
              <a:rPr sz="675" b="1">
                <a:solidFill>
                  <a:srgbClr val="28A596"/>
                </a:solidFill>
              </a:rPr>
              <a:t>05</a:t>
            </a:r>
          </a:p>
        </p:txBody>
      </p:sp>
      <p:sp>
        <p:nvSpPr>
          <p:cNvPr id="68" name="">
            <a:extLst xmlns:a="http://schemas.openxmlformats.org/drawingml/2006/main">
              <a:ext uri="{FF2B5EF4-FFF2-40B4-BE49-F238E27FC236}">
                <a16:creationId xmlns:a16="http://schemas.microsoft.com/office/drawing/2014/main" id="{9CA40AA4-3CBD-4E83-9AB4-69DB6484D0CB}"/>
              </a:ext>
            </a:extLst>
          </p:cNvPr>
          <p:cNvSpPr>
            <a:spLocks xmlns:a="http://schemas.openxmlformats.org/drawingml/2006/main" noGrp="1"/>
          </p:cNvSpPr>
          <p:nvPr/>
        </p:nvSpPr>
        <p:spPr>
          <a:xfrm xmlns:a="http://schemas.openxmlformats.org/drawingml/2006/main">
            <a:off x="2819400" y="872490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0">
                <a:solidFill>
                  <a:srgbClr val="183B39"/>
                </a:solidFill>
              </a:defRPr>
            </a:pPr>
            <a:r>
              <a:rPr sz="713" b="0">
                <a:solidFill>
                  <a:srgbClr val="183B39"/>
                </a:solidFill>
              </a:rPr>
              <a:t>West ranks #1 by national offtake.</a:t>
            </a:r>
          </a:p>
        </p:txBody>
      </p:sp>
      <p:sp>
        <p:nvSpPr>
          <p:cNvPr id="69" name="">
            <a:extLst xmlns:a="http://schemas.openxmlformats.org/drawingml/2006/main">
              <a:ext uri="{FF2B5EF4-FFF2-40B4-BE49-F238E27FC236}">
                <a16:creationId xmlns:a16="http://schemas.microsoft.com/office/drawing/2014/main" id="{BEB2E35D-9378-473F-9D10-B8C46F8859F5}"/>
              </a:ext>
            </a:extLst>
          </p:cNvPr>
          <p:cNvSpPr>
            <a:spLocks xmlns:a="http://schemas.openxmlformats.org/drawingml/2006/main" noGrp="1"/>
          </p:cNvSpPr>
          <p:nvPr/>
        </p:nvSpPr>
        <p:spPr>
          <a:xfrm xmlns:a="http://schemas.openxmlformats.org/drawingml/2006/main">
            <a:off x="4514850" y="8686800"/>
            <a:ext cx="1981200" cy="514350"/>
          </a:xfrm>
          <a:prstGeom xmlns:a="http://schemas.openxmlformats.org/drawingml/2006/main" prst="roundRect">
            <a:avLst>
              <a:gd name="adj" fmla="val 14815"/>
            </a:avLst>
          </a:prstGeom>
          <a:solidFill xmlns:a="http://schemas.openxmlformats.org/drawingml/2006/main">
            <a:srgbClr val="FFFFFF"/>
          </a:solidFill>
          <a:ln xmlns:a="http://schemas.openxmlformats.org/drawingml/2006/main" w="9525">
            <a:solidFill>
              <a:srgbClr val="C8DCD7"/>
            </a:solidFill>
            <a:prstDash val="solid"/>
          </a:ln>
        </p:spPr>
      </p:sp>
      <p:sp>
        <p:nvSpPr>
          <p:cNvPr id="70" name="">
            <a:extLst xmlns:a="http://schemas.openxmlformats.org/drawingml/2006/main">
              <a:ext uri="{FF2B5EF4-FFF2-40B4-BE49-F238E27FC236}">
                <a16:creationId xmlns:a16="http://schemas.microsoft.com/office/drawing/2014/main" id="{1918132F-F4CE-492A-A38A-523054E1CFAD}"/>
              </a:ext>
            </a:extLst>
          </p:cNvPr>
          <p:cNvSpPr>
            <a:spLocks xmlns:a="http://schemas.openxmlformats.org/drawingml/2006/main" noGrp="1"/>
          </p:cNvSpPr>
          <p:nvPr/>
        </p:nvSpPr>
        <p:spPr>
          <a:xfrm xmlns:a="http://schemas.openxmlformats.org/drawingml/2006/main">
            <a:off x="4572000" y="873442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D6544D"/>
                </a:solidFill>
              </a:defRPr>
            </a:pPr>
            <a:r>
              <a:rPr sz="675" b="1">
                <a:solidFill>
                  <a:srgbClr val="D6544D"/>
                </a:solidFill>
              </a:rPr>
              <a:t>06</a:t>
            </a:r>
          </a:p>
        </p:txBody>
      </p:sp>
      <p:sp>
        <p:nvSpPr>
          <p:cNvPr id="71" name="">
            <a:extLst xmlns:a="http://schemas.openxmlformats.org/drawingml/2006/main">
              <a:ext uri="{FF2B5EF4-FFF2-40B4-BE49-F238E27FC236}">
                <a16:creationId xmlns:a16="http://schemas.microsoft.com/office/drawing/2014/main" id="{3BED49A1-D0D2-447A-9B13-0537EF1EE985}"/>
              </a:ext>
            </a:extLst>
          </p:cNvPr>
          <p:cNvSpPr>
            <a:spLocks xmlns:a="http://schemas.openxmlformats.org/drawingml/2006/main" noGrp="1"/>
          </p:cNvSpPr>
          <p:nvPr/>
        </p:nvSpPr>
        <p:spPr>
          <a:xfrm xmlns:a="http://schemas.openxmlformats.org/drawingml/2006/main">
            <a:off x="4895850" y="872490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0">
                <a:solidFill>
                  <a:srgbClr val="183B39"/>
                </a:solidFill>
              </a:defRPr>
            </a:pPr>
            <a:r>
              <a:rPr sz="713" b="0">
                <a:solidFill>
                  <a:srgbClr val="183B39"/>
                </a:solidFill>
              </a:rPr>
              <a:t>Maharashtra ranks #1 with ₹3.43 Cr offtake.</a:t>
            </a:r>
          </a:p>
        </p:txBody>
      </p:sp>
      <p:sp>
        <p:nvSpPr>
          <p:cNvPr id="72" name="">
            <a:extLst xmlns:a="http://schemas.openxmlformats.org/drawingml/2006/main">
              <a:ext uri="{FF2B5EF4-FFF2-40B4-BE49-F238E27FC236}">
                <a16:creationId xmlns:a16="http://schemas.microsoft.com/office/drawing/2014/main" id="{CC174D04-D71F-40C3-935E-DDF1F0A91FAD}"/>
              </a:ext>
            </a:extLst>
          </p:cNvPr>
          <p:cNvSpPr>
            <a:spLocks xmlns:a="http://schemas.openxmlformats.org/drawingml/2006/main" noGrp="1"/>
          </p:cNvSpPr>
          <p:nvPr/>
        </p:nvSpPr>
        <p:spPr>
          <a:xfrm xmlns:a="http://schemas.openxmlformats.org/drawingml/2006/main">
            <a:off x="361950" y="9277350"/>
            <a:ext cx="1981200" cy="514350"/>
          </a:xfrm>
          <a:prstGeom xmlns:a="http://schemas.openxmlformats.org/drawingml/2006/main" prst="roundRect">
            <a:avLst>
              <a:gd name="adj" fmla="val 14815"/>
            </a:avLst>
          </a:prstGeom>
          <a:solidFill xmlns:a="http://schemas.openxmlformats.org/drawingml/2006/main">
            <a:srgbClr val="FFFFFF"/>
          </a:solidFill>
          <a:ln xmlns:a="http://schemas.openxmlformats.org/drawingml/2006/main" w="9525">
            <a:solidFill>
              <a:srgbClr val="C8DCD7"/>
            </a:solidFill>
            <a:prstDash val="solid"/>
          </a:ln>
        </p:spPr>
      </p:sp>
      <p:sp>
        <p:nvSpPr>
          <p:cNvPr id="73" name="">
            <a:extLst xmlns:a="http://schemas.openxmlformats.org/drawingml/2006/main">
              <a:ext uri="{FF2B5EF4-FFF2-40B4-BE49-F238E27FC236}">
                <a16:creationId xmlns:a16="http://schemas.microsoft.com/office/drawing/2014/main" id="{FF16B216-F2EE-4D7F-9568-08100B4CBB6E}"/>
              </a:ext>
            </a:extLst>
          </p:cNvPr>
          <p:cNvSpPr>
            <a:spLocks xmlns:a="http://schemas.openxmlformats.org/drawingml/2006/main" noGrp="1"/>
          </p:cNvSpPr>
          <p:nvPr/>
        </p:nvSpPr>
        <p:spPr>
          <a:xfrm xmlns:a="http://schemas.openxmlformats.org/drawingml/2006/main">
            <a:off x="419100" y="932497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D6544D"/>
                </a:solidFill>
              </a:defRPr>
            </a:pPr>
            <a:r>
              <a:rPr sz="675" b="1">
                <a:solidFill>
                  <a:srgbClr val="D6544D"/>
                </a:solidFill>
              </a:rPr>
              <a:t>07</a:t>
            </a:r>
          </a:p>
        </p:txBody>
      </p:sp>
      <p:sp>
        <p:nvSpPr>
          <p:cNvPr id="74" name="">
            <a:extLst xmlns:a="http://schemas.openxmlformats.org/drawingml/2006/main">
              <a:ext uri="{FF2B5EF4-FFF2-40B4-BE49-F238E27FC236}">
                <a16:creationId xmlns:a16="http://schemas.microsoft.com/office/drawing/2014/main" id="{663EF9E0-2F1E-40DF-AED3-9CB6EA97D745}"/>
              </a:ext>
            </a:extLst>
          </p:cNvPr>
          <p:cNvSpPr>
            <a:spLocks xmlns:a="http://schemas.openxmlformats.org/drawingml/2006/main" noGrp="1"/>
          </p:cNvSpPr>
          <p:nvPr/>
        </p:nvSpPr>
        <p:spPr>
          <a:xfrm xmlns:a="http://schemas.openxmlformats.org/drawingml/2006/main">
            <a:off x="742950" y="931545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0">
                <a:solidFill>
                  <a:srgbClr val="183B39"/>
                </a:solidFill>
              </a:defRPr>
            </a:pPr>
            <a:r>
              <a:rPr sz="713" b="0">
                <a:solidFill>
                  <a:srgbClr val="183B39"/>
                </a:solidFill>
              </a:rPr>
              <a:t>Gujarat ranks #2 with ₹2.57 Cr offtake.</a:t>
            </a:r>
          </a:p>
        </p:txBody>
      </p:sp>
      <p:sp>
        <p:nvSpPr>
          <p:cNvPr id="75" name="">
            <a:extLst xmlns:a="http://schemas.openxmlformats.org/drawingml/2006/main">
              <a:ext uri="{FF2B5EF4-FFF2-40B4-BE49-F238E27FC236}">
                <a16:creationId xmlns:a16="http://schemas.microsoft.com/office/drawing/2014/main" id="{1865528D-0A6C-40D5-A77E-CE77656028B1}"/>
              </a:ext>
            </a:extLst>
          </p:cNvPr>
          <p:cNvSpPr>
            <a:spLocks xmlns:a="http://schemas.openxmlformats.org/drawingml/2006/main" noGrp="1"/>
          </p:cNvSpPr>
          <p:nvPr/>
        </p:nvSpPr>
        <p:spPr>
          <a:xfrm xmlns:a="http://schemas.openxmlformats.org/drawingml/2006/main">
            <a:off x="2438400" y="9277350"/>
            <a:ext cx="1981200" cy="514350"/>
          </a:xfrm>
          <a:prstGeom xmlns:a="http://schemas.openxmlformats.org/drawingml/2006/main" prst="roundRect">
            <a:avLst>
              <a:gd name="adj" fmla="val 14815"/>
            </a:avLst>
          </a:prstGeom>
          <a:solidFill xmlns:a="http://schemas.openxmlformats.org/drawingml/2006/main">
            <a:srgbClr val="FFFFFF"/>
          </a:solidFill>
          <a:ln xmlns:a="http://schemas.openxmlformats.org/drawingml/2006/main" w="9525">
            <a:solidFill>
              <a:srgbClr val="C8DCD7"/>
            </a:solidFill>
            <a:prstDash val="solid"/>
          </a:ln>
        </p:spPr>
      </p:sp>
      <p:sp>
        <p:nvSpPr>
          <p:cNvPr id="76" name="">
            <a:extLst xmlns:a="http://schemas.openxmlformats.org/drawingml/2006/main">
              <a:ext uri="{FF2B5EF4-FFF2-40B4-BE49-F238E27FC236}">
                <a16:creationId xmlns:a16="http://schemas.microsoft.com/office/drawing/2014/main" id="{31CDC5D4-388A-46F3-8AF0-AD9D0B3F1A87}"/>
              </a:ext>
            </a:extLst>
          </p:cNvPr>
          <p:cNvSpPr>
            <a:spLocks xmlns:a="http://schemas.openxmlformats.org/drawingml/2006/main" noGrp="1"/>
          </p:cNvSpPr>
          <p:nvPr/>
        </p:nvSpPr>
        <p:spPr>
          <a:xfrm xmlns:a="http://schemas.openxmlformats.org/drawingml/2006/main">
            <a:off x="2495550" y="932497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D6544D"/>
                </a:solidFill>
              </a:defRPr>
            </a:pPr>
            <a:r>
              <a:rPr sz="675" b="1">
                <a:solidFill>
                  <a:srgbClr val="D6544D"/>
                </a:solidFill>
              </a:rPr>
              <a:t>08</a:t>
            </a:r>
          </a:p>
        </p:txBody>
      </p:sp>
      <p:sp>
        <p:nvSpPr>
          <p:cNvPr id="77" name="">
            <a:extLst xmlns:a="http://schemas.openxmlformats.org/drawingml/2006/main">
              <a:ext uri="{FF2B5EF4-FFF2-40B4-BE49-F238E27FC236}">
                <a16:creationId xmlns:a16="http://schemas.microsoft.com/office/drawing/2014/main" id="{466484AB-C29E-4002-8506-76A903B991C7}"/>
              </a:ext>
            </a:extLst>
          </p:cNvPr>
          <p:cNvSpPr>
            <a:spLocks xmlns:a="http://schemas.openxmlformats.org/drawingml/2006/main" noGrp="1"/>
          </p:cNvSpPr>
          <p:nvPr/>
        </p:nvSpPr>
        <p:spPr>
          <a:xfrm xmlns:a="http://schemas.openxmlformats.org/drawingml/2006/main">
            <a:off x="2819400" y="931545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0">
                <a:solidFill>
                  <a:srgbClr val="183B39"/>
                </a:solidFill>
              </a:defRPr>
            </a:pPr>
            <a:r>
              <a:rPr sz="713" b="0">
                <a:solidFill>
                  <a:srgbClr val="183B39"/>
                </a:solidFill>
              </a:rPr>
              <a:t>Mumbai ranks #3 with ₹2.28 Cr offtake.</a:t>
            </a:r>
          </a:p>
        </p:txBody>
      </p:sp>
      <p:sp>
        <p:nvSpPr>
          <p:cNvPr id="78" name="">
            <a:extLst xmlns:a="http://schemas.openxmlformats.org/drawingml/2006/main">
              <a:ext uri="{FF2B5EF4-FFF2-40B4-BE49-F238E27FC236}">
                <a16:creationId xmlns:a16="http://schemas.microsoft.com/office/drawing/2014/main" id="{737E6027-340B-4B10-AFE0-562478E50C67}"/>
              </a:ext>
            </a:extLst>
          </p:cNvPr>
          <p:cNvSpPr>
            <a:spLocks xmlns:a="http://schemas.openxmlformats.org/drawingml/2006/main" noGrp="1"/>
          </p:cNvSpPr>
          <p:nvPr/>
        </p:nvSpPr>
        <p:spPr>
          <a:xfrm xmlns:a="http://schemas.openxmlformats.org/drawingml/2006/main">
            <a:off x="4514850" y="9277350"/>
            <a:ext cx="1981200" cy="514350"/>
          </a:xfrm>
          <a:prstGeom xmlns:a="http://schemas.openxmlformats.org/drawingml/2006/main" prst="roundRect">
            <a:avLst>
              <a:gd name="adj" fmla="val 14815"/>
            </a:avLst>
          </a:prstGeom>
          <a:solidFill xmlns:a="http://schemas.openxmlformats.org/drawingml/2006/main">
            <a:srgbClr val="FFFFFF"/>
          </a:solidFill>
          <a:ln xmlns:a="http://schemas.openxmlformats.org/drawingml/2006/main" w="9525">
            <a:solidFill>
              <a:srgbClr val="C8DCD7"/>
            </a:solidFill>
            <a:prstDash val="solid"/>
          </a:ln>
        </p:spPr>
      </p:sp>
      <p:sp>
        <p:nvSpPr>
          <p:cNvPr id="79" name="">
            <a:extLst xmlns:a="http://schemas.openxmlformats.org/drawingml/2006/main">
              <a:ext uri="{FF2B5EF4-FFF2-40B4-BE49-F238E27FC236}">
                <a16:creationId xmlns:a16="http://schemas.microsoft.com/office/drawing/2014/main" id="{761E984A-9F62-4355-8548-ACEA707FCDD1}"/>
              </a:ext>
            </a:extLst>
          </p:cNvPr>
          <p:cNvSpPr>
            <a:spLocks xmlns:a="http://schemas.openxmlformats.org/drawingml/2006/main" noGrp="1"/>
          </p:cNvSpPr>
          <p:nvPr/>
        </p:nvSpPr>
        <p:spPr>
          <a:xfrm xmlns:a="http://schemas.openxmlformats.org/drawingml/2006/main">
            <a:off x="4572000" y="932497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D6544D"/>
                </a:solidFill>
              </a:defRPr>
            </a:pPr>
            <a:r>
              <a:rPr sz="675" b="1">
                <a:solidFill>
                  <a:srgbClr val="D6544D"/>
                </a:solidFill>
              </a:rPr>
              <a:t>09</a:t>
            </a:r>
          </a:p>
        </p:txBody>
      </p:sp>
      <p:sp>
        <p:nvSpPr>
          <p:cNvPr id="80" name="">
            <a:extLst xmlns:a="http://schemas.openxmlformats.org/drawingml/2006/main">
              <a:ext uri="{FF2B5EF4-FFF2-40B4-BE49-F238E27FC236}">
                <a16:creationId xmlns:a16="http://schemas.microsoft.com/office/drawing/2014/main" id="{871180A3-A611-41AA-8D83-1D6B9D2ACE5E}"/>
              </a:ext>
            </a:extLst>
          </p:cNvPr>
          <p:cNvSpPr>
            <a:spLocks xmlns:a="http://schemas.openxmlformats.org/drawingml/2006/main" noGrp="1"/>
          </p:cNvSpPr>
          <p:nvPr/>
        </p:nvSpPr>
        <p:spPr>
          <a:xfrm xmlns:a="http://schemas.openxmlformats.org/drawingml/2006/main">
            <a:off x="4895850" y="931545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0">
                <a:solidFill>
                  <a:srgbClr val="183B39"/>
                </a:solidFill>
              </a:defRPr>
            </a:pPr>
            <a:r>
              <a:rPr sz="713" b="0">
                <a:solidFill>
                  <a:srgbClr val="183B39"/>
                </a:solidFill>
              </a:rPr>
              <a:t>The leading state contributes 41.4% of zone offtake.</a:t>
            </a:r>
          </a:p>
        </p:txBody>
      </p:sp>
      <p:sp>
        <p:nvSpPr>
          <p:cNvPr id="81" name="">
            <a:extLst xmlns:a="http://schemas.openxmlformats.org/drawingml/2006/main">
              <a:ext uri="{FF2B5EF4-FFF2-40B4-BE49-F238E27FC236}">
                <a16:creationId xmlns:a16="http://schemas.microsoft.com/office/drawing/2014/main" id="{817197B1-D6DC-46CF-BE1D-1E310F678630}"/>
              </a:ext>
            </a:extLst>
          </p:cNvPr>
          <p:cNvSpPr>
            <a:spLocks xmlns:a="http://schemas.openxmlformats.org/drawingml/2006/main" noGrp="1"/>
          </p:cNvSpPr>
          <p:nvPr/>
        </p:nvSpPr>
        <p:spPr>
          <a:xfrm xmlns:a="http://schemas.openxmlformats.org/drawingml/2006/main">
            <a:off x="361950" y="9867900"/>
            <a:ext cx="1981200" cy="514350"/>
          </a:xfrm>
          <a:prstGeom xmlns:a="http://schemas.openxmlformats.org/drawingml/2006/main" prst="roundRect">
            <a:avLst>
              <a:gd name="adj" fmla="val 14815"/>
            </a:avLst>
          </a:prstGeom>
          <a:solidFill xmlns:a="http://schemas.openxmlformats.org/drawingml/2006/main">
            <a:srgbClr val="FFFFFF"/>
          </a:solidFill>
          <a:ln xmlns:a="http://schemas.openxmlformats.org/drawingml/2006/main" w="9525">
            <a:solidFill>
              <a:srgbClr val="C8DCD7"/>
            </a:solidFill>
            <a:prstDash val="solid"/>
          </a:ln>
        </p:spPr>
      </p:sp>
      <p:sp>
        <p:nvSpPr>
          <p:cNvPr id="82" name="">
            <a:extLst xmlns:a="http://schemas.openxmlformats.org/drawingml/2006/main">
              <a:ext uri="{FF2B5EF4-FFF2-40B4-BE49-F238E27FC236}">
                <a16:creationId xmlns:a16="http://schemas.microsoft.com/office/drawing/2014/main" id="{712E137E-E8EF-4B3D-9C97-3C8712C016BA}"/>
              </a:ext>
            </a:extLst>
          </p:cNvPr>
          <p:cNvSpPr>
            <a:spLocks xmlns:a="http://schemas.openxmlformats.org/drawingml/2006/main" noGrp="1"/>
          </p:cNvSpPr>
          <p:nvPr/>
        </p:nvSpPr>
        <p:spPr>
          <a:xfrm xmlns:a="http://schemas.openxmlformats.org/drawingml/2006/main">
            <a:off x="419100" y="991552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D6544D"/>
                </a:solidFill>
              </a:defRPr>
            </a:pPr>
            <a:r>
              <a:rPr sz="675" b="1">
                <a:solidFill>
                  <a:srgbClr val="D6544D"/>
                </a:solidFill>
              </a:rPr>
              <a:t>10</a:t>
            </a:r>
          </a:p>
        </p:txBody>
      </p:sp>
      <p:sp>
        <p:nvSpPr>
          <p:cNvPr id="83" name="">
            <a:extLst xmlns:a="http://schemas.openxmlformats.org/drawingml/2006/main">
              <a:ext uri="{FF2B5EF4-FFF2-40B4-BE49-F238E27FC236}">
                <a16:creationId xmlns:a16="http://schemas.microsoft.com/office/drawing/2014/main" id="{77788E9A-97A3-4FB3-8D14-6B1DB9CD4E9C}"/>
              </a:ext>
            </a:extLst>
          </p:cNvPr>
          <p:cNvSpPr>
            <a:spLocks xmlns:a="http://schemas.openxmlformats.org/drawingml/2006/main" noGrp="1"/>
          </p:cNvSpPr>
          <p:nvPr/>
        </p:nvSpPr>
        <p:spPr>
          <a:xfrm xmlns:a="http://schemas.openxmlformats.org/drawingml/2006/main">
            <a:off x="742950" y="990600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0">
                <a:solidFill>
                  <a:srgbClr val="183B39"/>
                </a:solidFill>
              </a:defRPr>
            </a:pPr>
            <a:r>
              <a:rPr sz="713" b="0">
                <a:solidFill>
                  <a:srgbClr val="183B39"/>
                </a:solidFill>
              </a:rPr>
              <a:t>The top three states contribute 100.0% of zone offtake.</a:t>
            </a:r>
          </a:p>
        </p:txBody>
      </p:sp>
      <p:sp>
        <p:nvSpPr>
          <p:cNvPr id="84" name="">
            <a:extLst xmlns:a="http://schemas.openxmlformats.org/drawingml/2006/main">
              <a:ext uri="{FF2B5EF4-FFF2-40B4-BE49-F238E27FC236}">
                <a16:creationId xmlns:a16="http://schemas.microsoft.com/office/drawing/2014/main" id="{BF58DE94-A283-4E70-9732-0684A644E19A}"/>
              </a:ext>
            </a:extLst>
          </p:cNvPr>
          <p:cNvSpPr>
            <a:spLocks xmlns:a="http://schemas.openxmlformats.org/drawingml/2006/main" noGrp="1"/>
          </p:cNvSpPr>
          <p:nvPr/>
        </p:nvSpPr>
        <p:spPr>
          <a:xfrm xmlns:a="http://schemas.openxmlformats.org/drawingml/2006/main">
            <a:off x="2438400" y="9867900"/>
            <a:ext cx="1981200" cy="514350"/>
          </a:xfrm>
          <a:prstGeom xmlns:a="http://schemas.openxmlformats.org/drawingml/2006/main" prst="roundRect">
            <a:avLst>
              <a:gd name="adj" fmla="val 14815"/>
            </a:avLst>
          </a:prstGeom>
          <a:solidFill xmlns:a="http://schemas.openxmlformats.org/drawingml/2006/main">
            <a:srgbClr val="FFFFFF"/>
          </a:solidFill>
          <a:ln xmlns:a="http://schemas.openxmlformats.org/drawingml/2006/main" w="9525">
            <a:solidFill>
              <a:srgbClr val="C8DCD7"/>
            </a:solidFill>
            <a:prstDash val="solid"/>
          </a:ln>
        </p:spPr>
      </p:sp>
      <p:sp>
        <p:nvSpPr>
          <p:cNvPr id="85" name="">
            <a:extLst xmlns:a="http://schemas.openxmlformats.org/drawingml/2006/main">
              <a:ext uri="{FF2B5EF4-FFF2-40B4-BE49-F238E27FC236}">
                <a16:creationId xmlns:a16="http://schemas.microsoft.com/office/drawing/2014/main" id="{41FF3DB7-E5DE-44C7-8409-022140C9E7F0}"/>
              </a:ext>
            </a:extLst>
          </p:cNvPr>
          <p:cNvSpPr>
            <a:spLocks xmlns:a="http://schemas.openxmlformats.org/drawingml/2006/main" noGrp="1"/>
          </p:cNvSpPr>
          <p:nvPr/>
        </p:nvSpPr>
        <p:spPr>
          <a:xfrm xmlns:a="http://schemas.openxmlformats.org/drawingml/2006/main">
            <a:off x="2495550" y="991552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D6544D"/>
                </a:solidFill>
              </a:defRPr>
            </a:pPr>
            <a:r>
              <a:rPr sz="675" b="1">
                <a:solidFill>
                  <a:srgbClr val="D6544D"/>
                </a:solidFill>
              </a:rPr>
              <a:t>11</a:t>
            </a:r>
          </a:p>
        </p:txBody>
      </p:sp>
      <p:sp>
        <p:nvSpPr>
          <p:cNvPr id="86" name="">
            <a:extLst xmlns:a="http://schemas.openxmlformats.org/drawingml/2006/main">
              <a:ext uri="{FF2B5EF4-FFF2-40B4-BE49-F238E27FC236}">
                <a16:creationId xmlns:a16="http://schemas.microsoft.com/office/drawing/2014/main" id="{EB5DE7A4-8B88-4B79-B640-589C47442259}"/>
              </a:ext>
            </a:extLst>
          </p:cNvPr>
          <p:cNvSpPr>
            <a:spLocks xmlns:a="http://schemas.openxmlformats.org/drawingml/2006/main" noGrp="1"/>
          </p:cNvSpPr>
          <p:nvPr/>
        </p:nvSpPr>
        <p:spPr>
          <a:xfrm xmlns:a="http://schemas.openxmlformats.org/drawingml/2006/main">
            <a:off x="2819400" y="990600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0">
                <a:solidFill>
                  <a:srgbClr val="183B39"/>
                </a:solidFill>
              </a:defRPr>
            </a:pPr>
            <a:r>
              <a:rPr sz="713" b="0">
                <a:solidFill>
                  <a:srgbClr val="183B39"/>
                </a:solidFill>
              </a:rPr>
              <a:t>DMart: ₹5.76 Cr offtake; 94.2%.</a:t>
            </a:r>
          </a:p>
        </p:txBody>
      </p:sp>
      <p:sp>
        <p:nvSpPr>
          <p:cNvPr id="87" name="">
            <a:extLst xmlns:a="http://schemas.openxmlformats.org/drawingml/2006/main">
              <a:ext uri="{FF2B5EF4-FFF2-40B4-BE49-F238E27FC236}">
                <a16:creationId xmlns:a16="http://schemas.microsoft.com/office/drawing/2014/main" id="{71CD73E2-04C3-4492-8D99-C7D15CAC003E}"/>
              </a:ext>
            </a:extLst>
          </p:cNvPr>
          <p:cNvSpPr>
            <a:spLocks xmlns:a="http://schemas.openxmlformats.org/drawingml/2006/main" noGrp="1"/>
          </p:cNvSpPr>
          <p:nvPr/>
        </p:nvSpPr>
        <p:spPr>
          <a:xfrm xmlns:a="http://schemas.openxmlformats.org/drawingml/2006/main">
            <a:off x="4514850" y="9867900"/>
            <a:ext cx="1981200" cy="514350"/>
          </a:xfrm>
          <a:prstGeom xmlns:a="http://schemas.openxmlformats.org/drawingml/2006/main" prst="roundRect">
            <a:avLst>
              <a:gd name="adj" fmla="val 14815"/>
            </a:avLst>
          </a:prstGeom>
          <a:solidFill xmlns:a="http://schemas.openxmlformats.org/drawingml/2006/main">
            <a:srgbClr val="FFFFFF"/>
          </a:solidFill>
          <a:ln xmlns:a="http://schemas.openxmlformats.org/drawingml/2006/main" w="9525">
            <a:solidFill>
              <a:srgbClr val="C8DCD7"/>
            </a:solidFill>
            <a:prstDash val="solid"/>
          </a:ln>
        </p:spPr>
      </p:sp>
      <p:sp>
        <p:nvSpPr>
          <p:cNvPr id="88" name="">
            <a:extLst xmlns:a="http://schemas.openxmlformats.org/drawingml/2006/main">
              <a:ext uri="{FF2B5EF4-FFF2-40B4-BE49-F238E27FC236}">
                <a16:creationId xmlns:a16="http://schemas.microsoft.com/office/drawing/2014/main" id="{9BC0EAEA-868B-4B25-A566-A7C5B7758DF6}"/>
              </a:ext>
            </a:extLst>
          </p:cNvPr>
          <p:cNvSpPr>
            <a:spLocks xmlns:a="http://schemas.openxmlformats.org/drawingml/2006/main" noGrp="1"/>
          </p:cNvSpPr>
          <p:nvPr/>
        </p:nvSpPr>
        <p:spPr>
          <a:xfrm xmlns:a="http://schemas.openxmlformats.org/drawingml/2006/main">
            <a:off x="4572000" y="991552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D6544D"/>
                </a:solidFill>
              </a:defRPr>
            </a:pPr>
            <a:r>
              <a:rPr sz="675" b="1">
                <a:solidFill>
                  <a:srgbClr val="D6544D"/>
                </a:solidFill>
              </a:rPr>
              <a:t>12</a:t>
            </a:r>
          </a:p>
        </p:txBody>
      </p:sp>
      <p:sp>
        <p:nvSpPr>
          <p:cNvPr id="89" name="">
            <a:extLst xmlns:a="http://schemas.openxmlformats.org/drawingml/2006/main">
              <a:ext uri="{FF2B5EF4-FFF2-40B4-BE49-F238E27FC236}">
                <a16:creationId xmlns:a16="http://schemas.microsoft.com/office/drawing/2014/main" id="{863BBC8D-34E8-4428-8F3C-B43EE0C18D82}"/>
              </a:ext>
            </a:extLst>
          </p:cNvPr>
          <p:cNvSpPr>
            <a:spLocks xmlns:a="http://schemas.openxmlformats.org/drawingml/2006/main" noGrp="1"/>
          </p:cNvSpPr>
          <p:nvPr/>
        </p:nvSpPr>
        <p:spPr>
          <a:xfrm xmlns:a="http://schemas.openxmlformats.org/drawingml/2006/main">
            <a:off x="4895850" y="990600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0">
                <a:solidFill>
                  <a:srgbClr val="183B39"/>
                </a:solidFill>
              </a:defRPr>
            </a:pPr>
            <a:r>
              <a:rPr sz="713" b="0">
                <a:solidFill>
                  <a:srgbClr val="183B39"/>
                </a:solidFill>
              </a:rPr>
              <a:t>Reliance: ₹1.23 Cr offtake; 54.5%.</a:t>
            </a:r>
          </a:p>
        </p:txBody>
      </p:sp>
      <p:sp>
        <p:nvSpPr>
          <p:cNvPr id="90" name="">
            <a:extLst xmlns:a="http://schemas.openxmlformats.org/drawingml/2006/main">
              <a:ext uri="{FF2B5EF4-FFF2-40B4-BE49-F238E27FC236}">
                <a16:creationId xmlns:a16="http://schemas.microsoft.com/office/drawing/2014/main" id="{336C425A-0CB3-4E41-B887-79E62869C922}"/>
              </a:ext>
            </a:extLst>
          </p:cNvPr>
          <p:cNvSpPr>
            <a:spLocks xmlns:a="http://schemas.openxmlformats.org/drawingml/2006/main" noGrp="1"/>
          </p:cNvSpPr>
          <p:nvPr/>
        </p:nvSpPr>
        <p:spPr>
          <a:xfrm xmlns:a="http://schemas.openxmlformats.org/drawingml/2006/main">
            <a:off x="361950" y="10458450"/>
            <a:ext cx="1981200" cy="514350"/>
          </a:xfrm>
          <a:prstGeom xmlns:a="http://schemas.openxmlformats.org/drawingml/2006/main" prst="roundRect">
            <a:avLst>
              <a:gd name="adj" fmla="val 14815"/>
            </a:avLst>
          </a:prstGeom>
          <a:solidFill xmlns:a="http://schemas.openxmlformats.org/drawingml/2006/main">
            <a:srgbClr val="FFFFFF"/>
          </a:solidFill>
          <a:ln xmlns:a="http://schemas.openxmlformats.org/drawingml/2006/main" w="9525">
            <a:solidFill>
              <a:srgbClr val="C8DCD7"/>
            </a:solidFill>
            <a:prstDash val="solid"/>
          </a:ln>
        </p:spPr>
      </p:sp>
      <p:sp>
        <p:nvSpPr>
          <p:cNvPr id="91" name="">
            <a:extLst xmlns:a="http://schemas.openxmlformats.org/drawingml/2006/main">
              <a:ext uri="{FF2B5EF4-FFF2-40B4-BE49-F238E27FC236}">
                <a16:creationId xmlns:a16="http://schemas.microsoft.com/office/drawing/2014/main" id="{86A93C72-5827-4BC9-B323-53E8B7B6893D}"/>
              </a:ext>
            </a:extLst>
          </p:cNvPr>
          <p:cNvSpPr>
            <a:spLocks xmlns:a="http://schemas.openxmlformats.org/drawingml/2006/main" noGrp="1"/>
          </p:cNvSpPr>
          <p:nvPr/>
        </p:nvSpPr>
        <p:spPr>
          <a:xfrm xmlns:a="http://schemas.openxmlformats.org/drawingml/2006/main">
            <a:off x="419100" y="1050607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D6544D"/>
                </a:solidFill>
              </a:defRPr>
            </a:pPr>
            <a:r>
              <a:rPr sz="675" b="1">
                <a:solidFill>
                  <a:srgbClr val="D6544D"/>
                </a:solidFill>
              </a:rPr>
              <a:t>13</a:t>
            </a:r>
          </a:p>
        </p:txBody>
      </p:sp>
      <p:sp>
        <p:nvSpPr>
          <p:cNvPr id="92" name="">
            <a:extLst xmlns:a="http://schemas.openxmlformats.org/drawingml/2006/main">
              <a:ext uri="{FF2B5EF4-FFF2-40B4-BE49-F238E27FC236}">
                <a16:creationId xmlns:a16="http://schemas.microsoft.com/office/drawing/2014/main" id="{8C3AC7DC-B23B-4762-8B2E-E331F35109D5}"/>
              </a:ext>
            </a:extLst>
          </p:cNvPr>
          <p:cNvSpPr>
            <a:spLocks xmlns:a="http://schemas.openxmlformats.org/drawingml/2006/main" noGrp="1"/>
          </p:cNvSpPr>
          <p:nvPr/>
        </p:nvSpPr>
        <p:spPr>
          <a:xfrm xmlns:a="http://schemas.openxmlformats.org/drawingml/2006/main">
            <a:off x="742950" y="1049655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0">
                <a:solidFill>
                  <a:srgbClr val="183B39"/>
                </a:solidFill>
              </a:defRPr>
            </a:pPr>
            <a:r>
              <a:rPr sz="713" b="0">
                <a:solidFill>
                  <a:srgbClr val="183B39"/>
                </a:solidFill>
              </a:rPr>
              <a:t>Wellness Forever: ₹0.65 Cr offtake; 134.9%.</a:t>
            </a:r>
          </a:p>
        </p:txBody>
      </p:sp>
      <p:sp>
        <p:nvSpPr>
          <p:cNvPr id="93" name="">
            <a:extLst xmlns:a="http://schemas.openxmlformats.org/drawingml/2006/main">
              <a:ext uri="{FF2B5EF4-FFF2-40B4-BE49-F238E27FC236}">
                <a16:creationId xmlns:a16="http://schemas.microsoft.com/office/drawing/2014/main" id="{80DD28DD-6FB8-42F1-858F-7DC672860C6E}"/>
              </a:ext>
            </a:extLst>
          </p:cNvPr>
          <p:cNvSpPr>
            <a:spLocks xmlns:a="http://schemas.openxmlformats.org/drawingml/2006/main" noGrp="1"/>
          </p:cNvSpPr>
          <p:nvPr/>
        </p:nvSpPr>
        <p:spPr>
          <a:xfrm xmlns:a="http://schemas.openxmlformats.org/drawingml/2006/main">
            <a:off x="2438400" y="10458450"/>
            <a:ext cx="1981200" cy="514350"/>
          </a:xfrm>
          <a:prstGeom xmlns:a="http://schemas.openxmlformats.org/drawingml/2006/main" prst="roundRect">
            <a:avLst>
              <a:gd name="adj" fmla="val 14815"/>
            </a:avLst>
          </a:prstGeom>
          <a:solidFill xmlns:a="http://schemas.openxmlformats.org/drawingml/2006/main">
            <a:srgbClr val="FFFFFF"/>
          </a:solidFill>
          <a:ln xmlns:a="http://schemas.openxmlformats.org/drawingml/2006/main" w="9525">
            <a:solidFill>
              <a:srgbClr val="C8DCD7"/>
            </a:solidFill>
            <a:prstDash val="solid"/>
          </a:ln>
        </p:spPr>
      </p:sp>
      <p:sp>
        <p:nvSpPr>
          <p:cNvPr id="94" name="">
            <a:extLst xmlns:a="http://schemas.openxmlformats.org/drawingml/2006/main">
              <a:ext uri="{FF2B5EF4-FFF2-40B4-BE49-F238E27FC236}">
                <a16:creationId xmlns:a16="http://schemas.microsoft.com/office/drawing/2014/main" id="{2045546F-2505-49F7-9ACB-F9E84CFD95AA}"/>
              </a:ext>
            </a:extLst>
          </p:cNvPr>
          <p:cNvSpPr>
            <a:spLocks xmlns:a="http://schemas.openxmlformats.org/drawingml/2006/main" noGrp="1"/>
          </p:cNvSpPr>
          <p:nvPr/>
        </p:nvSpPr>
        <p:spPr>
          <a:xfrm xmlns:a="http://schemas.openxmlformats.org/drawingml/2006/main">
            <a:off x="2495550" y="1050607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D6544D"/>
                </a:solidFill>
              </a:defRPr>
            </a:pPr>
            <a:r>
              <a:rPr sz="675" b="1">
                <a:solidFill>
                  <a:srgbClr val="D6544D"/>
                </a:solidFill>
              </a:rPr>
              <a:t>14</a:t>
            </a:r>
          </a:p>
        </p:txBody>
      </p:sp>
      <p:sp>
        <p:nvSpPr>
          <p:cNvPr id="95" name="">
            <a:extLst xmlns:a="http://schemas.openxmlformats.org/drawingml/2006/main">
              <a:ext uri="{FF2B5EF4-FFF2-40B4-BE49-F238E27FC236}">
                <a16:creationId xmlns:a16="http://schemas.microsoft.com/office/drawing/2014/main" id="{461C11C3-FADD-4B9C-90E8-94C480DFAA6E}"/>
              </a:ext>
            </a:extLst>
          </p:cNvPr>
          <p:cNvSpPr>
            <a:spLocks xmlns:a="http://schemas.openxmlformats.org/drawingml/2006/main" noGrp="1"/>
          </p:cNvSpPr>
          <p:nvPr/>
        </p:nvSpPr>
        <p:spPr>
          <a:xfrm xmlns:a="http://schemas.openxmlformats.org/drawingml/2006/main">
            <a:off x="2819400" y="1049655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0">
                <a:solidFill>
                  <a:srgbClr val="183B39"/>
                </a:solidFill>
              </a:defRPr>
            </a:pPr>
            <a:r>
              <a:rPr sz="713" b="0">
                <a:solidFill>
                  <a:srgbClr val="183B39"/>
                </a:solidFill>
              </a:rPr>
              <a:t>The leading chain contributes 69.6% of zone offtake.</a:t>
            </a:r>
          </a:p>
        </p:txBody>
      </p:sp>
      <p:sp>
        <p:nvSpPr>
          <p:cNvPr id="96" name="">
            <a:extLst xmlns:a="http://schemas.openxmlformats.org/drawingml/2006/main">
              <a:ext uri="{FF2B5EF4-FFF2-40B4-BE49-F238E27FC236}">
                <a16:creationId xmlns:a16="http://schemas.microsoft.com/office/drawing/2014/main" id="{2FFC60CF-D651-4759-AF28-84F42A83E392}"/>
              </a:ext>
            </a:extLst>
          </p:cNvPr>
          <p:cNvSpPr>
            <a:spLocks xmlns:a="http://schemas.openxmlformats.org/drawingml/2006/main" noGrp="1"/>
          </p:cNvSpPr>
          <p:nvPr/>
        </p:nvSpPr>
        <p:spPr>
          <a:xfrm xmlns:a="http://schemas.openxmlformats.org/drawingml/2006/main">
            <a:off x="4514850" y="10458450"/>
            <a:ext cx="1981200" cy="514350"/>
          </a:xfrm>
          <a:prstGeom xmlns:a="http://schemas.openxmlformats.org/drawingml/2006/main" prst="roundRect">
            <a:avLst>
              <a:gd name="adj" fmla="val 14815"/>
            </a:avLst>
          </a:prstGeom>
          <a:solidFill xmlns:a="http://schemas.openxmlformats.org/drawingml/2006/main">
            <a:srgbClr val="FFFFFF"/>
          </a:solidFill>
          <a:ln xmlns:a="http://schemas.openxmlformats.org/drawingml/2006/main" w="9525">
            <a:solidFill>
              <a:srgbClr val="C8DCD7"/>
            </a:solidFill>
            <a:prstDash val="solid"/>
          </a:ln>
        </p:spPr>
      </p:sp>
      <p:sp>
        <p:nvSpPr>
          <p:cNvPr id="97" name="">
            <a:extLst xmlns:a="http://schemas.openxmlformats.org/drawingml/2006/main">
              <a:ext uri="{FF2B5EF4-FFF2-40B4-BE49-F238E27FC236}">
                <a16:creationId xmlns:a16="http://schemas.microsoft.com/office/drawing/2014/main" id="{415D6EEA-F749-4019-8E9B-765A81D2A53C}"/>
              </a:ext>
            </a:extLst>
          </p:cNvPr>
          <p:cNvSpPr>
            <a:spLocks xmlns:a="http://schemas.openxmlformats.org/drawingml/2006/main" noGrp="1"/>
          </p:cNvSpPr>
          <p:nvPr/>
        </p:nvSpPr>
        <p:spPr>
          <a:xfrm xmlns:a="http://schemas.openxmlformats.org/drawingml/2006/main">
            <a:off x="4572000" y="1050607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D6544D"/>
                </a:solidFill>
              </a:defRPr>
            </a:pPr>
            <a:r>
              <a:rPr sz="675" b="1">
                <a:solidFill>
                  <a:srgbClr val="D6544D"/>
                </a:solidFill>
              </a:rPr>
              <a:t>15</a:t>
            </a:r>
          </a:p>
        </p:txBody>
      </p:sp>
      <p:sp>
        <p:nvSpPr>
          <p:cNvPr id="98" name="">
            <a:extLst xmlns:a="http://schemas.openxmlformats.org/drawingml/2006/main">
              <a:ext uri="{FF2B5EF4-FFF2-40B4-BE49-F238E27FC236}">
                <a16:creationId xmlns:a16="http://schemas.microsoft.com/office/drawing/2014/main" id="{6F5BD546-AC84-45E9-939B-B800E8604FE2}"/>
              </a:ext>
            </a:extLst>
          </p:cNvPr>
          <p:cNvSpPr>
            <a:spLocks xmlns:a="http://schemas.openxmlformats.org/drawingml/2006/main" noGrp="1"/>
          </p:cNvSpPr>
          <p:nvPr/>
        </p:nvSpPr>
        <p:spPr>
          <a:xfrm xmlns:a="http://schemas.openxmlformats.org/drawingml/2006/main">
            <a:off x="4895850" y="1049655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0">
                <a:solidFill>
                  <a:srgbClr val="183B39"/>
                </a:solidFill>
              </a:defRPr>
            </a:pPr>
            <a:r>
              <a:rPr sz="713" b="0">
                <a:solidFill>
                  <a:srgbClr val="183B39"/>
                </a:solidFill>
              </a:rPr>
              <a:t>The top three chains contribute 92.5% of zone offtake.</a:t>
            </a:r>
          </a:p>
        </p:txBody>
      </p:sp>
      <p:sp>
        <p:nvSpPr>
          <p:cNvPr id="99" name="">
            <a:extLst xmlns:a="http://schemas.openxmlformats.org/drawingml/2006/main">
              <a:ext uri="{FF2B5EF4-FFF2-40B4-BE49-F238E27FC236}">
                <a16:creationId xmlns:a16="http://schemas.microsoft.com/office/drawing/2014/main" id="{591106B5-BD69-4FFE-8C4F-977F1BC6614F}"/>
              </a:ext>
            </a:extLst>
          </p:cNvPr>
          <p:cNvSpPr>
            <a:spLocks xmlns:a="http://schemas.openxmlformats.org/drawingml/2006/main" noGrp="1"/>
          </p:cNvSpPr>
          <p:nvPr/>
        </p:nvSpPr>
        <p:spPr>
          <a:xfrm xmlns:a="http://schemas.openxmlformats.org/drawingml/2006/main">
            <a:off x="381000" y="11239500"/>
            <a:ext cx="6096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750" b="0">
                <a:solidFill>
                  <a:srgbClr val="5F716E"/>
                </a:solidFill>
              </a:defRPr>
            </a:pPr>
            <a:r>
              <a:rPr sz="750" b="0">
                <a:solidFill>
                  <a:srgbClr val="5F716E"/>
                </a:solidFill>
              </a:rPr>
              <a:t>West NPI mix 6.6% | Priority: DMart × hero-EAN availability</a:t>
            </a:r>
          </a:p>
        </p:txBody>
      </p:sp>
      <p:sp>
        <p:nvSpPr>
          <p:cNvPr id="100" name="">
            <a:extLst xmlns:a="http://schemas.openxmlformats.org/drawingml/2006/main">
              <a:ext uri="{FF2B5EF4-FFF2-40B4-BE49-F238E27FC236}">
                <a16:creationId xmlns:a16="http://schemas.microsoft.com/office/drawing/2014/main" id="{08D02950-48D9-47FD-AE6C-0960C44E4C2F}"/>
              </a:ext>
            </a:extLst>
          </p:cNvPr>
          <p:cNvSpPr>
            <a:spLocks xmlns:a="http://schemas.openxmlformats.org/drawingml/2006/main" noGrp="1"/>
          </p:cNvSpPr>
          <p:nvPr/>
        </p:nvSpPr>
        <p:spPr>
          <a:xfrm xmlns:a="http://schemas.openxmlformats.org/drawingml/2006/main">
            <a:off x="361950" y="11544300"/>
            <a:ext cx="6134100" cy="457200"/>
          </a:xfrm>
          <a:prstGeom xmlns:a="http://schemas.openxmlformats.org/drawingml/2006/main" prst="roundRect">
            <a:avLst>
              <a:gd name="adj" fmla="val 16667"/>
            </a:avLst>
          </a:prstGeom>
          <a:solidFill xmlns:a="http://schemas.openxmlformats.org/drawingml/2006/main">
            <a:srgbClr val="DFF2ED"/>
          </a:solidFill>
          <a:ln xmlns:a="http://schemas.openxmlformats.org/drawingml/2006/main" w="9525">
            <a:solidFill>
              <a:srgbClr val="28A596"/>
            </a:solidFill>
            <a:prstDash val="solid"/>
          </a:ln>
        </p:spPr>
      </p:sp>
      <p:sp>
        <p:nvSpPr>
          <p:cNvPr id="101" name="">
            <a:extLst xmlns:a="http://schemas.openxmlformats.org/drawingml/2006/main">
              <a:ext uri="{FF2B5EF4-FFF2-40B4-BE49-F238E27FC236}">
                <a16:creationId xmlns:a16="http://schemas.microsoft.com/office/drawing/2014/main" id="{20175715-27EB-4D55-A9C4-9CF4571DD661}"/>
              </a:ext>
            </a:extLst>
          </p:cNvPr>
          <p:cNvSpPr>
            <a:spLocks xmlns:a="http://schemas.openxmlformats.org/drawingml/2006/main" noGrp="1"/>
          </p:cNvSpPr>
          <p:nvPr/>
        </p:nvSpPr>
        <p:spPr>
          <a:xfrm xmlns:a="http://schemas.openxmlformats.org/drawingml/2006/main">
            <a:off x="438150" y="11582400"/>
            <a:ext cx="142875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38" b="1">
                <a:solidFill>
                  <a:srgbClr val="116F68"/>
                </a:solidFill>
              </a:defRPr>
            </a:pPr>
            <a:r>
              <a:rPr sz="638" b="1">
                <a:solidFill>
                  <a:srgbClr val="116F68"/>
                </a:solidFill>
              </a:rPr>
              <a:t>EVIDENCE</a:t>
            </a:r>
          </a:p>
        </p:txBody>
      </p:sp>
      <p:sp>
        <p:nvSpPr>
          <p:cNvPr id="102" name="">
            <a:extLst xmlns:a="http://schemas.openxmlformats.org/drawingml/2006/main">
              <a:ext uri="{FF2B5EF4-FFF2-40B4-BE49-F238E27FC236}">
                <a16:creationId xmlns:a16="http://schemas.microsoft.com/office/drawing/2014/main" id="{5724E6DC-4808-4D5E-BB39-FBF9A706AC07}"/>
              </a:ext>
            </a:extLst>
          </p:cNvPr>
          <p:cNvSpPr>
            <a:spLocks xmlns:a="http://schemas.openxmlformats.org/drawingml/2006/main" noGrp="1"/>
          </p:cNvSpPr>
          <p:nvPr/>
        </p:nvSpPr>
        <p:spPr>
          <a:xfrm xmlns:a="http://schemas.openxmlformats.org/drawingml/2006/main">
            <a:off x="438150" y="11734800"/>
            <a:ext cx="1428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00" b="0">
                <a:solidFill>
                  <a:srgbClr val="183B39"/>
                </a:solidFill>
              </a:defRPr>
            </a:pPr>
            <a:r>
              <a:rPr sz="600" b="0">
                <a:solidFill>
                  <a:srgbClr val="183B39"/>
                </a:solidFill>
              </a:rPr>
              <a:t>West ₹8.28 Cr at 82.3% conversion; DMart West 94.2% is the best DMart rate nationally; Reliance West 54.5% is the only exception; Wellness Forever 134.9% is a timing signal</a:t>
            </a:r>
          </a:p>
        </p:txBody>
      </p:sp>
      <p:sp>
        <p:nvSpPr>
          <p:cNvPr id="103" name="">
            <a:extLst xmlns:a="http://schemas.openxmlformats.org/drawingml/2006/main">
              <a:ext uri="{FF2B5EF4-FFF2-40B4-BE49-F238E27FC236}">
                <a16:creationId xmlns:a16="http://schemas.microsoft.com/office/drawing/2014/main" id="{3AFCD38E-9BDF-44AE-A628-ECFFFAE37E7E}"/>
              </a:ext>
            </a:extLst>
          </p:cNvPr>
          <p:cNvSpPr>
            <a:spLocks xmlns:a="http://schemas.openxmlformats.org/drawingml/2006/main" noGrp="1"/>
          </p:cNvSpPr>
          <p:nvPr/>
        </p:nvSpPr>
        <p:spPr>
          <a:xfrm xmlns:a="http://schemas.openxmlformats.org/drawingml/2006/main">
            <a:off x="1924050" y="11610975"/>
            <a:ext cx="0" cy="304800"/>
          </a:xfrm>
          <a:prstGeom xmlns:a="http://schemas.openxmlformats.org/drawingml/2006/main" prst="line">
            <a:avLst/>
          </a:prstGeom>
          <a:ln xmlns:a="http://schemas.openxmlformats.org/drawingml/2006/main" w="9525">
            <a:solidFill>
              <a:srgbClr val="C8DCD7"/>
            </a:solidFill>
            <a:prstDash val="solid"/>
          </a:ln>
        </p:spPr>
      </p:sp>
      <p:sp>
        <p:nvSpPr>
          <p:cNvPr id="104" name="">
            <a:extLst xmlns:a="http://schemas.openxmlformats.org/drawingml/2006/main">
              <a:ext uri="{FF2B5EF4-FFF2-40B4-BE49-F238E27FC236}">
                <a16:creationId xmlns:a16="http://schemas.microsoft.com/office/drawing/2014/main" id="{FDB0A596-D3E1-49AC-9AC4-00158F925B6B}"/>
              </a:ext>
            </a:extLst>
          </p:cNvPr>
          <p:cNvSpPr>
            <a:spLocks xmlns:a="http://schemas.openxmlformats.org/drawingml/2006/main" noGrp="1"/>
          </p:cNvSpPr>
          <p:nvPr/>
        </p:nvSpPr>
        <p:spPr>
          <a:xfrm xmlns:a="http://schemas.openxmlformats.org/drawingml/2006/main">
            <a:off x="1952625" y="11582400"/>
            <a:ext cx="142875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38" b="1">
                <a:solidFill>
                  <a:srgbClr val="116F68"/>
                </a:solidFill>
              </a:defRPr>
            </a:pPr>
            <a:r>
              <a:rPr sz="638" b="1">
                <a:solidFill>
                  <a:srgbClr val="116F68"/>
                </a:solidFill>
              </a:rPr>
              <a:t>IMPLICATION</a:t>
            </a:r>
          </a:p>
        </p:txBody>
      </p:sp>
      <p:sp>
        <p:nvSpPr>
          <p:cNvPr id="105" name="">
            <a:extLst xmlns:a="http://schemas.openxmlformats.org/drawingml/2006/main">
              <a:ext uri="{FF2B5EF4-FFF2-40B4-BE49-F238E27FC236}">
                <a16:creationId xmlns:a16="http://schemas.microsoft.com/office/drawing/2014/main" id="{65657586-0AA8-4BC7-AD64-E8241C0BD63C}"/>
              </a:ext>
            </a:extLst>
          </p:cNvPr>
          <p:cNvSpPr>
            <a:spLocks xmlns:a="http://schemas.openxmlformats.org/drawingml/2006/main" noGrp="1"/>
          </p:cNvSpPr>
          <p:nvPr/>
        </p:nvSpPr>
        <p:spPr>
          <a:xfrm xmlns:a="http://schemas.openxmlformats.org/drawingml/2006/main">
            <a:off x="1952625" y="11734800"/>
            <a:ext cx="1428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00" b="0">
                <a:solidFill>
                  <a:srgbClr val="183B39"/>
                </a:solidFill>
              </a:defRPr>
            </a:pPr>
            <a:r>
              <a:rPr sz="600" b="0">
                <a:solidFill>
                  <a:srgbClr val="183B39"/>
                </a:solidFill>
              </a:rPr>
              <a:t>DMart West's 94.2% conversion proves EAN availability discipline works; Reliance West has 45% of billed inventory not selling through — recoverable with store-level action</a:t>
            </a:r>
          </a:p>
        </p:txBody>
      </p:sp>
      <p:sp>
        <p:nvSpPr>
          <p:cNvPr id="106" name="">
            <a:extLst xmlns:a="http://schemas.openxmlformats.org/drawingml/2006/main">
              <a:ext uri="{FF2B5EF4-FFF2-40B4-BE49-F238E27FC236}">
                <a16:creationId xmlns:a16="http://schemas.microsoft.com/office/drawing/2014/main" id="{E7B82BA4-F1F4-4D70-8BEA-CDC982DBDE80}"/>
              </a:ext>
            </a:extLst>
          </p:cNvPr>
          <p:cNvSpPr>
            <a:spLocks xmlns:a="http://schemas.openxmlformats.org/drawingml/2006/main" noGrp="1"/>
          </p:cNvSpPr>
          <p:nvPr/>
        </p:nvSpPr>
        <p:spPr>
          <a:xfrm xmlns:a="http://schemas.openxmlformats.org/drawingml/2006/main">
            <a:off x="3438525" y="11610975"/>
            <a:ext cx="0" cy="304800"/>
          </a:xfrm>
          <a:prstGeom xmlns:a="http://schemas.openxmlformats.org/drawingml/2006/main" prst="line">
            <a:avLst/>
          </a:prstGeom>
          <a:ln xmlns:a="http://schemas.openxmlformats.org/drawingml/2006/main" w="9525">
            <a:solidFill>
              <a:srgbClr val="C8DCD7"/>
            </a:solidFill>
            <a:prstDash val="solid"/>
          </a:ln>
        </p:spPr>
      </p:sp>
      <p:sp>
        <p:nvSpPr>
          <p:cNvPr id="107" name="">
            <a:extLst xmlns:a="http://schemas.openxmlformats.org/drawingml/2006/main">
              <a:ext uri="{FF2B5EF4-FFF2-40B4-BE49-F238E27FC236}">
                <a16:creationId xmlns:a16="http://schemas.microsoft.com/office/drawing/2014/main" id="{75F99866-ECCB-45F8-889B-CFEEB5705910}"/>
              </a:ext>
            </a:extLst>
          </p:cNvPr>
          <p:cNvSpPr>
            <a:spLocks xmlns:a="http://schemas.openxmlformats.org/drawingml/2006/main" noGrp="1"/>
          </p:cNvSpPr>
          <p:nvPr/>
        </p:nvSpPr>
        <p:spPr>
          <a:xfrm xmlns:a="http://schemas.openxmlformats.org/drawingml/2006/main">
            <a:off x="3467100" y="11582400"/>
            <a:ext cx="142875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38" b="1">
                <a:solidFill>
                  <a:srgbClr val="116F68"/>
                </a:solidFill>
              </a:defRPr>
            </a:pPr>
            <a:r>
              <a:rPr sz="638" b="1">
                <a:solidFill>
                  <a:srgbClr val="116F68"/>
                </a:solidFill>
              </a:rPr>
              <a:t>ACTION</a:t>
            </a:r>
          </a:p>
        </p:txBody>
      </p:sp>
      <p:sp>
        <p:nvSpPr>
          <p:cNvPr id="108" name="">
            <a:extLst xmlns:a="http://schemas.openxmlformats.org/drawingml/2006/main">
              <a:ext uri="{FF2B5EF4-FFF2-40B4-BE49-F238E27FC236}">
                <a16:creationId xmlns:a16="http://schemas.microsoft.com/office/drawing/2014/main" id="{17AE17BD-28B7-43FC-88B7-91896B4148AC}"/>
              </a:ext>
            </a:extLst>
          </p:cNvPr>
          <p:cNvSpPr>
            <a:spLocks xmlns:a="http://schemas.openxmlformats.org/drawingml/2006/main" noGrp="1"/>
          </p:cNvSpPr>
          <p:nvPr/>
        </p:nvSpPr>
        <p:spPr>
          <a:xfrm xmlns:a="http://schemas.openxmlformats.org/drawingml/2006/main">
            <a:off x="3467100" y="11734800"/>
            <a:ext cx="1428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00" b="0">
                <a:solidFill>
                  <a:srgbClr val="183B39"/>
                </a:solidFill>
              </a:defRPr>
            </a:pPr>
            <a:r>
              <a:rPr sz="600" b="0">
                <a:solidFill>
                  <a:srgbClr val="183B39"/>
                </a:solidFill>
              </a:rPr>
              <a:t>NKAM to map Reliance West EAN-store failures; restore top-10 declining articles by 30-Aug; hold Wellness Forever loading until timing discrepancy is explained</a:t>
            </a:r>
          </a:p>
        </p:txBody>
      </p:sp>
      <p:sp>
        <p:nvSpPr>
          <p:cNvPr id="109" name="">
            <a:extLst xmlns:a="http://schemas.openxmlformats.org/drawingml/2006/main">
              <a:ext uri="{FF2B5EF4-FFF2-40B4-BE49-F238E27FC236}">
                <a16:creationId xmlns:a16="http://schemas.microsoft.com/office/drawing/2014/main" id="{D20310A7-0DB3-4B02-A38A-AEFA48252CD7}"/>
              </a:ext>
            </a:extLst>
          </p:cNvPr>
          <p:cNvSpPr>
            <a:spLocks xmlns:a="http://schemas.openxmlformats.org/drawingml/2006/main" noGrp="1"/>
          </p:cNvSpPr>
          <p:nvPr/>
        </p:nvSpPr>
        <p:spPr>
          <a:xfrm xmlns:a="http://schemas.openxmlformats.org/drawingml/2006/main">
            <a:off x="4953000" y="11610975"/>
            <a:ext cx="0" cy="304800"/>
          </a:xfrm>
          <a:prstGeom xmlns:a="http://schemas.openxmlformats.org/drawingml/2006/main" prst="line">
            <a:avLst/>
          </a:prstGeom>
          <a:ln xmlns:a="http://schemas.openxmlformats.org/drawingml/2006/main" w="9525">
            <a:solidFill>
              <a:srgbClr val="C8DCD7"/>
            </a:solidFill>
            <a:prstDash val="solid"/>
          </a:ln>
        </p:spPr>
      </p:sp>
      <p:sp>
        <p:nvSpPr>
          <p:cNvPr id="110" name="">
            <a:extLst xmlns:a="http://schemas.openxmlformats.org/drawingml/2006/main">
              <a:ext uri="{FF2B5EF4-FFF2-40B4-BE49-F238E27FC236}">
                <a16:creationId xmlns:a16="http://schemas.microsoft.com/office/drawing/2014/main" id="{A777CE2F-907A-4F04-A2E5-B86ECE4E5A00}"/>
              </a:ext>
            </a:extLst>
          </p:cNvPr>
          <p:cNvSpPr>
            <a:spLocks xmlns:a="http://schemas.openxmlformats.org/drawingml/2006/main" noGrp="1"/>
          </p:cNvSpPr>
          <p:nvPr/>
        </p:nvSpPr>
        <p:spPr>
          <a:xfrm xmlns:a="http://schemas.openxmlformats.org/drawingml/2006/main">
            <a:off x="4981575" y="11582400"/>
            <a:ext cx="142875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38" b="1">
                <a:solidFill>
                  <a:srgbClr val="116F68"/>
                </a:solidFill>
              </a:defRPr>
            </a:pPr>
            <a:r>
              <a:rPr sz="638" b="1">
                <a:solidFill>
                  <a:srgbClr val="116F68"/>
                </a:solidFill>
              </a:rPr>
              <a:t>OWNER</a:t>
            </a:r>
          </a:p>
        </p:txBody>
      </p:sp>
      <p:sp>
        <p:nvSpPr>
          <p:cNvPr id="111" name="">
            <a:extLst xmlns:a="http://schemas.openxmlformats.org/drawingml/2006/main">
              <a:ext uri="{FF2B5EF4-FFF2-40B4-BE49-F238E27FC236}">
                <a16:creationId xmlns:a16="http://schemas.microsoft.com/office/drawing/2014/main" id="{AC3B91C4-88AC-494D-997A-A8F3EAE4AAB3}"/>
              </a:ext>
            </a:extLst>
          </p:cNvPr>
          <p:cNvSpPr>
            <a:spLocks xmlns:a="http://schemas.openxmlformats.org/drawingml/2006/main" noGrp="1"/>
          </p:cNvSpPr>
          <p:nvPr/>
        </p:nvSpPr>
        <p:spPr>
          <a:xfrm xmlns:a="http://schemas.openxmlformats.org/drawingml/2006/main">
            <a:off x="4981575" y="11734800"/>
            <a:ext cx="1428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00" b="0">
                <a:solidFill>
                  <a:srgbClr val="183B39"/>
                </a:solidFill>
              </a:defRPr>
            </a:pPr>
            <a:r>
              <a:rPr sz="600" b="0">
                <a:solidFill>
                  <a:srgbClr val="183B39"/>
                </a:solidFill>
              </a:rPr>
              <a:t>NKAM Reliance West + NKAM Wellness | 30-Aug</a:t>
            </a:r>
          </a:p>
        </p:txBody>
      </p:sp>
    </p:spTree>
    <p:extLst>
      <p:ext uri="{BB962C8B-B14F-4D97-AF65-F5344CB8AC3E}">
        <p14:creationId xmlns:p14="http://schemas.microsoft.com/office/powerpoint/2010/main" val="769814202"/>
      </p:ext>
    </p:extLst>
  </p:cSld>
</p:sld>
</file>

<file path=ppt/slides/slide6.xml><?xml version="1.0" encoding="utf-8"?>
<p:sld xmlns:p="http://schemas.openxmlformats.org/presentationml/2006/main">
  <p:cSld>
    <p:bg>
      <p:bgPr>
        <a:solidFill xmlns:a="http://schemas.openxmlformats.org/drawingml/2006/main">
          <a:srgbClr val="F7FBFA"/>
        </a:solidFill>
      </p:bgPr>
    </p:bg>
    <p:spTree>
      <p:nvGrpSpPr>
        <p:cNvPr id="1" name=""/>
        <p:cNvGrpSpPr/>
        <p:nvPr/>
      </p:nvGrpSpPr>
      <p:grpSpPr>
        <a:xfrm xmlns:a="http://schemas.openxmlformats.org/drawingml/2006/main"/>
      </p:grpSpPr>
      <p:sp>
        <p:nvSpPr>
          <p:cNvPr id="112" name="">
            <a:extLst xmlns:a="http://schemas.openxmlformats.org/drawingml/2006/main">
              <a:ext uri="{FF2B5EF4-FFF2-40B4-BE49-F238E27FC236}">
                <a16:creationId xmlns:a16="http://schemas.microsoft.com/office/drawing/2014/main" id="{37FEBCF0-F276-4B16-B3AC-79F624E6D088}"/>
              </a:ext>
            </a:extLst>
          </p:cNvPr>
          <p:cNvSpPr>
            <a:spLocks xmlns:a="http://schemas.openxmlformats.org/drawingml/2006/main" noGrp="1"/>
          </p:cNvSpPr>
          <p:nvPr/>
        </p:nvSpPr>
        <p:spPr>
          <a:xfrm xmlns:a="http://schemas.openxmlformats.org/drawingml/2006/main">
            <a:off x="0" y="0"/>
            <a:ext cx="6858000" cy="1000125"/>
          </a:xfrm>
          <a:prstGeom xmlns:a="http://schemas.openxmlformats.org/drawingml/2006/main" prst="rect">
            <a:avLst/>
          </a:prstGeom>
          <a:solidFill xmlns:a="http://schemas.openxmlformats.org/drawingml/2006/main">
            <a:srgbClr val="116F68"/>
          </a:solidFill>
          <a:ln xmlns:a="http://schemas.openxmlformats.org/drawingml/2006/main" w="0">
            <a:solidFill>
              <a:srgbClr val="116F68"/>
            </a:solidFill>
            <a:prstDash val="solid"/>
          </a:ln>
        </p:spPr>
      </p:sp>
      <p:sp>
        <p:nvSpPr>
          <p:cNvPr id="2" name="">
            <a:extLst xmlns:a="http://schemas.openxmlformats.org/drawingml/2006/main">
              <a:ext uri="{FF2B5EF4-FFF2-40B4-BE49-F238E27FC236}">
                <a16:creationId xmlns:a16="http://schemas.microsoft.com/office/drawing/2014/main" id="{55647610-FDD5-41EE-8BA7-7229A0B1796E}"/>
              </a:ext>
            </a:extLst>
          </p:cNvPr>
          <p:cNvSpPr>
            <a:spLocks xmlns:a="http://schemas.openxmlformats.org/drawingml/2006/main" noGrp="1"/>
          </p:cNvSpPr>
          <p:nvPr/>
        </p:nvSpPr>
        <p:spPr>
          <a:xfrm xmlns:a="http://schemas.openxmlformats.org/drawingml/2006/main">
            <a:off x="361950" y="228600"/>
            <a:ext cx="59055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2025" b="1">
                <a:solidFill>
                  <a:srgbClr val="FFFFFF"/>
                </a:solidFill>
              </a:defRPr>
            </a:pPr>
            <a:r>
              <a:rPr sz="2025" b="1">
                <a:solidFill>
                  <a:srgbClr val="FFFFFF"/>
                </a:solidFill>
              </a:rPr>
              <a:t>South-1: Watch and convert</a:t>
            </a:r>
          </a:p>
        </p:txBody>
      </p:sp>
      <p:sp>
        <p:nvSpPr>
          <p:cNvPr id="3" name="">
            <a:extLst xmlns:a="http://schemas.openxmlformats.org/drawingml/2006/main">
              <a:ext uri="{FF2B5EF4-FFF2-40B4-BE49-F238E27FC236}">
                <a16:creationId xmlns:a16="http://schemas.microsoft.com/office/drawing/2014/main" id="{16E360B4-1464-4F6B-BF3C-954D4945D55F}"/>
              </a:ext>
            </a:extLst>
          </p:cNvPr>
          <p:cNvSpPr>
            <a:spLocks xmlns:a="http://schemas.openxmlformats.org/drawingml/2006/main" noGrp="1"/>
          </p:cNvSpPr>
          <p:nvPr/>
        </p:nvSpPr>
        <p:spPr>
          <a:xfrm xmlns:a="http://schemas.openxmlformats.org/drawingml/2006/main">
            <a:off x="381000" y="695325"/>
            <a:ext cx="57150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75" b="0">
                <a:solidFill>
                  <a:srgbClr val="DFF2ED"/>
                </a:solidFill>
              </a:defRPr>
            </a:pPr>
            <a:r>
              <a:rPr sz="975" b="0">
                <a:solidFill>
                  <a:srgbClr val="DFF2ED"/>
                </a:solidFill>
              </a:rPr>
              <a:t>Zone deep dive | July 2026 | ₹ Cr</a:t>
            </a:r>
          </a:p>
        </p:txBody>
      </p:sp>
      <p:sp>
        <p:nvSpPr>
          <p:cNvPr id="4" name="">
            <a:extLst xmlns:a="http://schemas.openxmlformats.org/drawingml/2006/main">
              <a:ext uri="{FF2B5EF4-FFF2-40B4-BE49-F238E27FC236}">
                <a16:creationId xmlns:a16="http://schemas.microsoft.com/office/drawing/2014/main" id="{05637F9C-2153-414C-B276-44A9BD239C0B}"/>
              </a:ext>
            </a:extLst>
          </p:cNvPr>
          <p:cNvSpPr>
            <a:spLocks xmlns:a="http://schemas.openxmlformats.org/drawingml/2006/main" noGrp="1"/>
          </p:cNvSpPr>
          <p:nvPr/>
        </p:nvSpPr>
        <p:spPr>
          <a:xfrm xmlns:a="http://schemas.openxmlformats.org/drawingml/2006/main">
            <a:off x="6191250" y="361950"/>
            <a:ext cx="3429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900" b="1">
                <a:solidFill>
                  <a:srgbClr val="FFFFFF"/>
                </a:solidFill>
              </a:defRPr>
            </a:pPr>
            <a:r>
              <a:rPr sz="900" b="1">
                <a:solidFill>
                  <a:srgbClr val="FFFFFF"/>
                </a:solidFill>
              </a:rPr>
              <a:t>06</a:t>
            </a:r>
          </a:p>
        </p:txBody>
      </p:sp>
      <p:sp>
        <p:nvSpPr>
          <p:cNvPr id="5" name="">
            <a:extLst xmlns:a="http://schemas.openxmlformats.org/drawingml/2006/main">
              <a:ext uri="{FF2B5EF4-FFF2-40B4-BE49-F238E27FC236}">
                <a16:creationId xmlns:a16="http://schemas.microsoft.com/office/drawing/2014/main" id="{B644E5CC-B751-4496-ADA2-832F60881E56}"/>
              </a:ext>
            </a:extLst>
          </p:cNvPr>
          <p:cNvSpPr>
            <a:spLocks xmlns:a="http://schemas.openxmlformats.org/drawingml/2006/main" noGrp="1"/>
          </p:cNvSpPr>
          <p:nvPr/>
        </p:nvSpPr>
        <p:spPr>
          <a:xfrm xmlns:a="http://schemas.openxmlformats.org/drawingml/2006/main">
            <a:off x="361950" y="1285875"/>
            <a:ext cx="140970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9525">
            <a:solidFill>
              <a:srgbClr val="C8DCD7"/>
            </a:solidFill>
            <a:prstDash val="solid"/>
          </a:ln>
        </p:spPr>
      </p:sp>
      <p:sp>
        <p:nvSpPr>
          <p:cNvPr id="6" name="">
            <a:extLst xmlns:a="http://schemas.openxmlformats.org/drawingml/2006/main">
              <a:ext uri="{FF2B5EF4-FFF2-40B4-BE49-F238E27FC236}">
                <a16:creationId xmlns:a16="http://schemas.microsoft.com/office/drawing/2014/main" id="{28BB863F-6167-4315-8A74-C5D6664E513A}"/>
              </a:ext>
            </a:extLst>
          </p:cNvPr>
          <p:cNvSpPr>
            <a:spLocks xmlns:a="http://schemas.openxmlformats.org/drawingml/2006/main" noGrp="1"/>
          </p:cNvSpPr>
          <p:nvPr/>
        </p:nvSpPr>
        <p:spPr>
          <a:xfrm xmlns:a="http://schemas.openxmlformats.org/drawingml/2006/main">
            <a:off x="361950" y="1285875"/>
            <a:ext cx="76200" cy="1066800"/>
          </a:xfrm>
          <a:prstGeom xmlns:a="http://schemas.openxmlformats.org/drawingml/2006/main" prst="rect">
            <a:avLst/>
          </a:prstGeom>
          <a:solidFill xmlns:a="http://schemas.openxmlformats.org/drawingml/2006/main">
            <a:srgbClr val="28A596"/>
          </a:solidFill>
          <a:ln xmlns:a="http://schemas.openxmlformats.org/drawingml/2006/main" w="0">
            <a:solidFill>
              <a:srgbClr val="28A596"/>
            </a:solidFill>
            <a:prstDash val="solid"/>
          </a:ln>
        </p:spPr>
      </p:sp>
      <p:sp>
        <p:nvSpPr>
          <p:cNvPr id="7" name="">
            <a:extLst xmlns:a="http://schemas.openxmlformats.org/drawingml/2006/main">
              <a:ext uri="{FF2B5EF4-FFF2-40B4-BE49-F238E27FC236}">
                <a16:creationId xmlns:a16="http://schemas.microsoft.com/office/drawing/2014/main" id="{9E4361C8-AC73-4FF4-9914-0DEA5F748C64}"/>
              </a:ext>
            </a:extLst>
          </p:cNvPr>
          <p:cNvSpPr>
            <a:spLocks xmlns:a="http://schemas.openxmlformats.org/drawingml/2006/main" noGrp="1"/>
          </p:cNvSpPr>
          <p:nvPr/>
        </p:nvSpPr>
        <p:spPr>
          <a:xfrm xmlns:a="http://schemas.openxmlformats.org/drawingml/2006/main">
            <a:off x="533400" y="1400175"/>
            <a:ext cx="1143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5F716E"/>
                </a:solidFill>
              </a:defRPr>
            </a:pPr>
            <a:r>
              <a:rPr sz="900" b="1">
                <a:solidFill>
                  <a:srgbClr val="5F716E"/>
                </a:solidFill>
              </a:rPr>
              <a:t>PRIMARY</a:t>
            </a:r>
          </a:p>
        </p:txBody>
      </p:sp>
      <p:sp>
        <p:nvSpPr>
          <p:cNvPr id="8" name="">
            <a:extLst xmlns:a="http://schemas.openxmlformats.org/drawingml/2006/main">
              <a:ext uri="{FF2B5EF4-FFF2-40B4-BE49-F238E27FC236}">
                <a16:creationId xmlns:a16="http://schemas.microsoft.com/office/drawing/2014/main" id="{12490D7D-073E-4E58-BBF5-2EA3CC88E7BA}"/>
              </a:ext>
            </a:extLst>
          </p:cNvPr>
          <p:cNvSpPr>
            <a:spLocks xmlns:a="http://schemas.openxmlformats.org/drawingml/2006/main" noGrp="1"/>
          </p:cNvSpPr>
          <p:nvPr/>
        </p:nvSpPr>
        <p:spPr>
          <a:xfrm xmlns:a="http://schemas.openxmlformats.org/drawingml/2006/main">
            <a:off x="533400" y="1628775"/>
            <a:ext cx="1143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875" b="1">
                <a:solidFill>
                  <a:srgbClr val="28A596"/>
                </a:solidFill>
              </a:defRPr>
            </a:pPr>
            <a:r>
              <a:rPr sz="1875" b="1">
                <a:solidFill>
                  <a:srgbClr val="28A596"/>
                </a:solidFill>
              </a:rPr>
              <a:t>₹9.80 Cr</a:t>
            </a:r>
          </a:p>
        </p:txBody>
      </p:sp>
      <p:sp>
        <p:nvSpPr>
          <p:cNvPr id="9" name="">
            <a:extLst xmlns:a="http://schemas.openxmlformats.org/drawingml/2006/main">
              <a:ext uri="{FF2B5EF4-FFF2-40B4-BE49-F238E27FC236}">
                <a16:creationId xmlns:a16="http://schemas.microsoft.com/office/drawing/2014/main" id="{69A158B7-E076-4ED8-B751-89FB771E0D17}"/>
              </a:ext>
            </a:extLst>
          </p:cNvPr>
          <p:cNvSpPr>
            <a:spLocks xmlns:a="http://schemas.openxmlformats.org/drawingml/2006/main" noGrp="1"/>
          </p:cNvSpPr>
          <p:nvPr/>
        </p:nvSpPr>
        <p:spPr>
          <a:xfrm xmlns:a="http://schemas.openxmlformats.org/drawingml/2006/main">
            <a:off x="533400" y="2028825"/>
            <a:ext cx="1143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0">
                <a:solidFill>
                  <a:srgbClr val="5F716E"/>
                </a:solidFill>
              </a:defRPr>
            </a:pPr>
            <a:r>
              <a:rPr sz="825" b="0">
                <a:solidFill>
                  <a:srgbClr val="5F716E"/>
                </a:solidFill>
              </a:rPr>
              <a:t>July billing</a:t>
            </a:r>
          </a:p>
        </p:txBody>
      </p:sp>
      <p:sp>
        <p:nvSpPr>
          <p:cNvPr id="10" name="">
            <a:extLst xmlns:a="http://schemas.openxmlformats.org/drawingml/2006/main">
              <a:ext uri="{FF2B5EF4-FFF2-40B4-BE49-F238E27FC236}">
                <a16:creationId xmlns:a16="http://schemas.microsoft.com/office/drawing/2014/main" id="{6F83822E-A905-4BF0-8DD7-59FBC61D5E78}"/>
              </a:ext>
            </a:extLst>
          </p:cNvPr>
          <p:cNvSpPr>
            <a:spLocks xmlns:a="http://schemas.openxmlformats.org/drawingml/2006/main" noGrp="1"/>
          </p:cNvSpPr>
          <p:nvPr/>
        </p:nvSpPr>
        <p:spPr>
          <a:xfrm xmlns:a="http://schemas.openxmlformats.org/drawingml/2006/main">
            <a:off x="1933575" y="1285875"/>
            <a:ext cx="140970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9525">
            <a:solidFill>
              <a:srgbClr val="C8DCD7"/>
            </a:solidFill>
            <a:prstDash val="solid"/>
          </a:ln>
        </p:spPr>
      </p:sp>
      <p:sp>
        <p:nvSpPr>
          <p:cNvPr id="11" name="">
            <a:extLst xmlns:a="http://schemas.openxmlformats.org/drawingml/2006/main">
              <a:ext uri="{FF2B5EF4-FFF2-40B4-BE49-F238E27FC236}">
                <a16:creationId xmlns:a16="http://schemas.microsoft.com/office/drawing/2014/main" id="{7315DE9C-5506-4C80-AFD8-F53E95D717F6}"/>
              </a:ext>
            </a:extLst>
          </p:cNvPr>
          <p:cNvSpPr>
            <a:spLocks xmlns:a="http://schemas.openxmlformats.org/drawingml/2006/main" noGrp="1"/>
          </p:cNvSpPr>
          <p:nvPr/>
        </p:nvSpPr>
        <p:spPr>
          <a:xfrm xmlns:a="http://schemas.openxmlformats.org/drawingml/2006/main">
            <a:off x="1933575" y="1285875"/>
            <a:ext cx="76200" cy="1066800"/>
          </a:xfrm>
          <a:prstGeom xmlns:a="http://schemas.openxmlformats.org/drawingml/2006/main" prst="rect">
            <a:avLst/>
          </a:prstGeom>
          <a:solidFill xmlns:a="http://schemas.openxmlformats.org/drawingml/2006/main">
            <a:srgbClr val="2B9A66"/>
          </a:solidFill>
          <a:ln xmlns:a="http://schemas.openxmlformats.org/drawingml/2006/main" w="0">
            <a:solidFill>
              <a:srgbClr val="2B9A66"/>
            </a:solidFill>
            <a:prstDash val="solid"/>
          </a:ln>
        </p:spPr>
      </p:sp>
      <p:sp>
        <p:nvSpPr>
          <p:cNvPr id="12" name="">
            <a:extLst xmlns:a="http://schemas.openxmlformats.org/drawingml/2006/main">
              <a:ext uri="{FF2B5EF4-FFF2-40B4-BE49-F238E27FC236}">
                <a16:creationId xmlns:a16="http://schemas.microsoft.com/office/drawing/2014/main" id="{2D88ADAD-35A6-49F9-BB5D-5893A4763FB7}"/>
              </a:ext>
            </a:extLst>
          </p:cNvPr>
          <p:cNvSpPr>
            <a:spLocks xmlns:a="http://schemas.openxmlformats.org/drawingml/2006/main" noGrp="1"/>
          </p:cNvSpPr>
          <p:nvPr/>
        </p:nvSpPr>
        <p:spPr>
          <a:xfrm xmlns:a="http://schemas.openxmlformats.org/drawingml/2006/main">
            <a:off x="2105025" y="1400175"/>
            <a:ext cx="1143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5F716E"/>
                </a:solidFill>
              </a:defRPr>
            </a:pPr>
            <a:r>
              <a:rPr sz="900" b="1">
                <a:solidFill>
                  <a:srgbClr val="5F716E"/>
                </a:solidFill>
              </a:rPr>
              <a:t>OFFTAKE</a:t>
            </a:r>
          </a:p>
        </p:txBody>
      </p:sp>
      <p:sp>
        <p:nvSpPr>
          <p:cNvPr id="13" name="">
            <a:extLst xmlns:a="http://schemas.openxmlformats.org/drawingml/2006/main">
              <a:ext uri="{FF2B5EF4-FFF2-40B4-BE49-F238E27FC236}">
                <a16:creationId xmlns:a16="http://schemas.microsoft.com/office/drawing/2014/main" id="{25F3254C-E498-4563-9AB5-6BC5657B12A9}"/>
              </a:ext>
            </a:extLst>
          </p:cNvPr>
          <p:cNvSpPr>
            <a:spLocks xmlns:a="http://schemas.openxmlformats.org/drawingml/2006/main" noGrp="1"/>
          </p:cNvSpPr>
          <p:nvPr/>
        </p:nvSpPr>
        <p:spPr>
          <a:xfrm xmlns:a="http://schemas.openxmlformats.org/drawingml/2006/main">
            <a:off x="2105025" y="1628775"/>
            <a:ext cx="1143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875" b="1">
                <a:solidFill>
                  <a:srgbClr val="2B9A66"/>
                </a:solidFill>
              </a:defRPr>
            </a:pPr>
            <a:r>
              <a:rPr sz="1875" b="1">
                <a:solidFill>
                  <a:srgbClr val="2B9A66"/>
                </a:solidFill>
              </a:rPr>
              <a:t>₹8.19 Cr</a:t>
            </a:r>
          </a:p>
        </p:txBody>
      </p:sp>
      <p:sp>
        <p:nvSpPr>
          <p:cNvPr id="14" name="">
            <a:extLst xmlns:a="http://schemas.openxmlformats.org/drawingml/2006/main">
              <a:ext uri="{FF2B5EF4-FFF2-40B4-BE49-F238E27FC236}">
                <a16:creationId xmlns:a16="http://schemas.microsoft.com/office/drawing/2014/main" id="{003F5E67-97D7-4D58-8356-06C948E4D41C}"/>
              </a:ext>
            </a:extLst>
          </p:cNvPr>
          <p:cNvSpPr>
            <a:spLocks xmlns:a="http://schemas.openxmlformats.org/drawingml/2006/main" noGrp="1"/>
          </p:cNvSpPr>
          <p:nvPr/>
        </p:nvSpPr>
        <p:spPr>
          <a:xfrm xmlns:a="http://schemas.openxmlformats.org/drawingml/2006/main">
            <a:off x="2105025" y="2028825"/>
            <a:ext cx="1143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0">
                <a:solidFill>
                  <a:srgbClr val="5F716E"/>
                </a:solidFill>
              </a:defRPr>
            </a:pPr>
            <a:r>
              <a:rPr sz="825" b="0">
                <a:solidFill>
                  <a:srgbClr val="5F716E"/>
                </a:solidFill>
              </a:rPr>
              <a:t>22.7% mix</a:t>
            </a:r>
          </a:p>
        </p:txBody>
      </p:sp>
      <p:sp>
        <p:nvSpPr>
          <p:cNvPr id="15" name="">
            <a:extLst xmlns:a="http://schemas.openxmlformats.org/drawingml/2006/main">
              <a:ext uri="{FF2B5EF4-FFF2-40B4-BE49-F238E27FC236}">
                <a16:creationId xmlns:a16="http://schemas.microsoft.com/office/drawing/2014/main" id="{CD397DCA-4E55-4910-ADE9-ABF28919D625}"/>
              </a:ext>
            </a:extLst>
          </p:cNvPr>
          <p:cNvSpPr>
            <a:spLocks xmlns:a="http://schemas.openxmlformats.org/drawingml/2006/main" noGrp="1"/>
          </p:cNvSpPr>
          <p:nvPr/>
        </p:nvSpPr>
        <p:spPr>
          <a:xfrm xmlns:a="http://schemas.openxmlformats.org/drawingml/2006/main">
            <a:off x="3505200" y="1285875"/>
            <a:ext cx="140970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9525">
            <a:solidFill>
              <a:srgbClr val="C8DCD7"/>
            </a:solidFill>
            <a:prstDash val="solid"/>
          </a:ln>
        </p:spPr>
      </p:sp>
      <p:sp>
        <p:nvSpPr>
          <p:cNvPr id="16" name="">
            <a:extLst xmlns:a="http://schemas.openxmlformats.org/drawingml/2006/main">
              <a:ext uri="{FF2B5EF4-FFF2-40B4-BE49-F238E27FC236}">
                <a16:creationId xmlns:a16="http://schemas.microsoft.com/office/drawing/2014/main" id="{19441DFE-03C4-4935-8A06-599B85051864}"/>
              </a:ext>
            </a:extLst>
          </p:cNvPr>
          <p:cNvSpPr>
            <a:spLocks xmlns:a="http://schemas.openxmlformats.org/drawingml/2006/main" noGrp="1"/>
          </p:cNvSpPr>
          <p:nvPr/>
        </p:nvSpPr>
        <p:spPr>
          <a:xfrm xmlns:a="http://schemas.openxmlformats.org/drawingml/2006/main">
            <a:off x="3505200" y="1285875"/>
            <a:ext cx="76200" cy="1066800"/>
          </a:xfrm>
          <a:prstGeom xmlns:a="http://schemas.openxmlformats.org/drawingml/2006/main" prst="rect">
            <a:avLst/>
          </a:prstGeom>
          <a:solidFill xmlns:a="http://schemas.openxmlformats.org/drawingml/2006/main">
            <a:srgbClr val="2B9A66"/>
          </a:solidFill>
          <a:ln xmlns:a="http://schemas.openxmlformats.org/drawingml/2006/main" w="0">
            <a:solidFill>
              <a:srgbClr val="2B9A66"/>
            </a:solidFill>
            <a:prstDash val="solid"/>
          </a:ln>
        </p:spPr>
      </p:sp>
      <p:sp>
        <p:nvSpPr>
          <p:cNvPr id="17" name="">
            <a:extLst xmlns:a="http://schemas.openxmlformats.org/drawingml/2006/main">
              <a:ext uri="{FF2B5EF4-FFF2-40B4-BE49-F238E27FC236}">
                <a16:creationId xmlns:a16="http://schemas.microsoft.com/office/drawing/2014/main" id="{8F6A15EF-6583-46DB-A5DE-2EB378C3DA00}"/>
              </a:ext>
            </a:extLst>
          </p:cNvPr>
          <p:cNvSpPr>
            <a:spLocks xmlns:a="http://schemas.openxmlformats.org/drawingml/2006/main" noGrp="1"/>
          </p:cNvSpPr>
          <p:nvPr/>
        </p:nvSpPr>
        <p:spPr>
          <a:xfrm xmlns:a="http://schemas.openxmlformats.org/drawingml/2006/main">
            <a:off x="3676650" y="1400175"/>
            <a:ext cx="1143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5F716E"/>
                </a:solidFill>
              </a:defRPr>
            </a:pPr>
            <a:r>
              <a:rPr sz="900" b="1">
                <a:solidFill>
                  <a:srgbClr val="5F716E"/>
                </a:solidFill>
              </a:rPr>
              <a:t>CONVERSION</a:t>
            </a:r>
          </a:p>
        </p:txBody>
      </p:sp>
      <p:sp>
        <p:nvSpPr>
          <p:cNvPr id="18" name="">
            <a:extLst xmlns:a="http://schemas.openxmlformats.org/drawingml/2006/main">
              <a:ext uri="{FF2B5EF4-FFF2-40B4-BE49-F238E27FC236}">
                <a16:creationId xmlns:a16="http://schemas.microsoft.com/office/drawing/2014/main" id="{03467100-52EB-4F19-8B3D-2F0BBA151A18}"/>
              </a:ext>
            </a:extLst>
          </p:cNvPr>
          <p:cNvSpPr>
            <a:spLocks xmlns:a="http://schemas.openxmlformats.org/drawingml/2006/main" noGrp="1"/>
          </p:cNvSpPr>
          <p:nvPr/>
        </p:nvSpPr>
        <p:spPr>
          <a:xfrm xmlns:a="http://schemas.openxmlformats.org/drawingml/2006/main">
            <a:off x="3676650" y="1628775"/>
            <a:ext cx="1143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875" b="1">
                <a:solidFill>
                  <a:srgbClr val="2B9A66"/>
                </a:solidFill>
              </a:defRPr>
            </a:pPr>
            <a:r>
              <a:rPr sz="1875" b="1">
                <a:solidFill>
                  <a:srgbClr val="2B9A66"/>
                </a:solidFill>
              </a:rPr>
              <a:t>83.6%</a:t>
            </a:r>
          </a:p>
        </p:txBody>
      </p:sp>
      <p:sp>
        <p:nvSpPr>
          <p:cNvPr id="19" name="">
            <a:extLst xmlns:a="http://schemas.openxmlformats.org/drawingml/2006/main">
              <a:ext uri="{FF2B5EF4-FFF2-40B4-BE49-F238E27FC236}">
                <a16:creationId xmlns:a16="http://schemas.microsoft.com/office/drawing/2014/main" id="{648D62BE-3461-48B0-893D-53DC26529929}"/>
              </a:ext>
            </a:extLst>
          </p:cNvPr>
          <p:cNvSpPr>
            <a:spLocks xmlns:a="http://schemas.openxmlformats.org/drawingml/2006/main" noGrp="1"/>
          </p:cNvSpPr>
          <p:nvPr/>
        </p:nvSpPr>
        <p:spPr>
          <a:xfrm xmlns:a="http://schemas.openxmlformats.org/drawingml/2006/main">
            <a:off x="3676650" y="2028825"/>
            <a:ext cx="1143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0">
                <a:solidFill>
                  <a:srgbClr val="5F716E"/>
                </a:solidFill>
              </a:defRPr>
            </a:pPr>
            <a:r>
              <a:rPr sz="825" b="0">
                <a:solidFill>
                  <a:srgbClr val="5F716E"/>
                </a:solidFill>
              </a:rPr>
              <a:t>Flow</a:t>
            </a:r>
          </a:p>
        </p:txBody>
      </p:sp>
      <p:sp>
        <p:nvSpPr>
          <p:cNvPr id="20" name="">
            <a:extLst xmlns:a="http://schemas.openxmlformats.org/drawingml/2006/main">
              <a:ext uri="{FF2B5EF4-FFF2-40B4-BE49-F238E27FC236}">
                <a16:creationId xmlns:a16="http://schemas.microsoft.com/office/drawing/2014/main" id="{7F3151D8-6E09-47A5-8AB9-4313659A8C04}"/>
              </a:ext>
            </a:extLst>
          </p:cNvPr>
          <p:cNvSpPr>
            <a:spLocks xmlns:a="http://schemas.openxmlformats.org/drawingml/2006/main" noGrp="1"/>
          </p:cNvSpPr>
          <p:nvPr/>
        </p:nvSpPr>
        <p:spPr>
          <a:xfrm xmlns:a="http://schemas.openxmlformats.org/drawingml/2006/main">
            <a:off x="5076825" y="1285875"/>
            <a:ext cx="1419225"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9525">
            <a:solidFill>
              <a:srgbClr val="C8DCD7"/>
            </a:solidFill>
            <a:prstDash val="solid"/>
          </a:ln>
        </p:spPr>
      </p:sp>
      <p:sp>
        <p:nvSpPr>
          <p:cNvPr id="21" name="">
            <a:extLst xmlns:a="http://schemas.openxmlformats.org/drawingml/2006/main">
              <a:ext uri="{FF2B5EF4-FFF2-40B4-BE49-F238E27FC236}">
                <a16:creationId xmlns:a16="http://schemas.microsoft.com/office/drawing/2014/main" id="{266CC4E7-51D6-4EE7-BD07-4D230D5F63B1}"/>
              </a:ext>
            </a:extLst>
          </p:cNvPr>
          <p:cNvSpPr>
            <a:spLocks xmlns:a="http://schemas.openxmlformats.org/drawingml/2006/main" noGrp="1"/>
          </p:cNvSpPr>
          <p:nvPr/>
        </p:nvSpPr>
        <p:spPr>
          <a:xfrm xmlns:a="http://schemas.openxmlformats.org/drawingml/2006/main">
            <a:off x="5076825" y="1285875"/>
            <a:ext cx="76200" cy="1066800"/>
          </a:xfrm>
          <a:prstGeom xmlns:a="http://schemas.openxmlformats.org/drawingml/2006/main" prst="rect">
            <a:avLst/>
          </a:prstGeom>
          <a:solidFill xmlns:a="http://schemas.openxmlformats.org/drawingml/2006/main">
            <a:srgbClr val="D6544D"/>
          </a:solidFill>
          <a:ln xmlns:a="http://schemas.openxmlformats.org/drawingml/2006/main" w="0">
            <a:solidFill>
              <a:srgbClr val="D6544D"/>
            </a:solidFill>
            <a:prstDash val="solid"/>
          </a:ln>
        </p:spPr>
      </p:sp>
      <p:sp>
        <p:nvSpPr>
          <p:cNvPr id="22" name="">
            <a:extLst xmlns:a="http://schemas.openxmlformats.org/drawingml/2006/main">
              <a:ext uri="{FF2B5EF4-FFF2-40B4-BE49-F238E27FC236}">
                <a16:creationId xmlns:a16="http://schemas.microsoft.com/office/drawing/2014/main" id="{852CE79E-238C-4E2E-8C87-F3FBFCEEF353}"/>
              </a:ext>
            </a:extLst>
          </p:cNvPr>
          <p:cNvSpPr>
            <a:spLocks xmlns:a="http://schemas.openxmlformats.org/drawingml/2006/main" noGrp="1"/>
          </p:cNvSpPr>
          <p:nvPr/>
        </p:nvSpPr>
        <p:spPr>
          <a:xfrm xmlns:a="http://schemas.openxmlformats.org/drawingml/2006/main">
            <a:off x="5248275" y="1400175"/>
            <a:ext cx="115252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5F716E"/>
                </a:solidFill>
              </a:defRPr>
            </a:pPr>
            <a:r>
              <a:rPr sz="900" b="1">
                <a:solidFill>
                  <a:srgbClr val="5F716E"/>
                </a:solidFill>
              </a:rPr>
              <a:t>GAP</a:t>
            </a:r>
          </a:p>
        </p:txBody>
      </p:sp>
      <p:sp>
        <p:nvSpPr>
          <p:cNvPr id="23" name="">
            <a:extLst xmlns:a="http://schemas.openxmlformats.org/drawingml/2006/main">
              <a:ext uri="{FF2B5EF4-FFF2-40B4-BE49-F238E27FC236}">
                <a16:creationId xmlns:a16="http://schemas.microsoft.com/office/drawing/2014/main" id="{3B7C6761-49F5-4504-A7AB-95FF9D55F497}"/>
              </a:ext>
            </a:extLst>
          </p:cNvPr>
          <p:cNvSpPr>
            <a:spLocks xmlns:a="http://schemas.openxmlformats.org/drawingml/2006/main" noGrp="1"/>
          </p:cNvSpPr>
          <p:nvPr/>
        </p:nvSpPr>
        <p:spPr>
          <a:xfrm xmlns:a="http://schemas.openxmlformats.org/drawingml/2006/main">
            <a:off x="5248275" y="1628775"/>
            <a:ext cx="11525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875" b="1">
                <a:solidFill>
                  <a:srgbClr val="D6544D"/>
                </a:solidFill>
              </a:defRPr>
            </a:pPr>
            <a:r>
              <a:rPr sz="1875" b="1">
                <a:solidFill>
                  <a:srgbClr val="D6544D"/>
                </a:solidFill>
              </a:rPr>
              <a:t>₹1.61 Cr</a:t>
            </a:r>
          </a:p>
        </p:txBody>
      </p:sp>
      <p:sp>
        <p:nvSpPr>
          <p:cNvPr id="24" name="">
            <a:extLst xmlns:a="http://schemas.openxmlformats.org/drawingml/2006/main">
              <a:ext uri="{FF2B5EF4-FFF2-40B4-BE49-F238E27FC236}">
                <a16:creationId xmlns:a16="http://schemas.microsoft.com/office/drawing/2014/main" id="{9106E070-ABC2-4DDE-948E-0F83D04E7CEE}"/>
              </a:ext>
            </a:extLst>
          </p:cNvPr>
          <p:cNvSpPr>
            <a:spLocks xmlns:a="http://schemas.openxmlformats.org/drawingml/2006/main" noGrp="1"/>
          </p:cNvSpPr>
          <p:nvPr/>
        </p:nvSpPr>
        <p:spPr>
          <a:xfrm xmlns:a="http://schemas.openxmlformats.org/drawingml/2006/main">
            <a:off x="5248275" y="2028825"/>
            <a:ext cx="115252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0">
                <a:solidFill>
                  <a:srgbClr val="5F716E"/>
                </a:solidFill>
              </a:defRPr>
            </a:pPr>
            <a:r>
              <a:rPr sz="825" b="0">
                <a:solidFill>
                  <a:srgbClr val="5F716E"/>
                </a:solidFill>
              </a:rPr>
              <a:t>Primary − offtake</a:t>
            </a:r>
          </a:p>
        </p:txBody>
      </p:sp>
      <p:sp>
        <p:nvSpPr>
          <p:cNvPr id="25" name="">
            <a:extLst xmlns:a="http://schemas.openxmlformats.org/drawingml/2006/main">
              <a:ext uri="{FF2B5EF4-FFF2-40B4-BE49-F238E27FC236}">
                <a16:creationId xmlns:a16="http://schemas.microsoft.com/office/drawing/2014/main" id="{DD7EADAE-35E8-49EB-B597-31E8FCF5C0C5}"/>
              </a:ext>
            </a:extLst>
          </p:cNvPr>
          <p:cNvSpPr>
            <a:spLocks xmlns:a="http://schemas.openxmlformats.org/drawingml/2006/main" noGrp="1"/>
          </p:cNvSpPr>
          <p:nvPr/>
        </p:nvSpPr>
        <p:spPr>
          <a:xfrm xmlns:a="http://schemas.openxmlformats.org/drawingml/2006/main">
            <a:off x="361950" y="2476500"/>
            <a:ext cx="6134100" cy="457200"/>
          </a:xfrm>
          <a:prstGeom xmlns:a="http://schemas.openxmlformats.org/drawingml/2006/main" prst="roundRect">
            <a:avLst>
              <a:gd name="adj" fmla="val 16667"/>
            </a:avLst>
          </a:prstGeom>
          <a:solidFill xmlns:a="http://schemas.openxmlformats.org/drawingml/2006/main">
            <a:srgbClr val="DFF2ED"/>
          </a:solidFill>
          <a:ln xmlns:a="http://schemas.openxmlformats.org/drawingml/2006/main" w="9525">
            <a:solidFill>
              <a:srgbClr val="28A596"/>
            </a:solidFill>
            <a:prstDash val="solid"/>
          </a:ln>
        </p:spPr>
      </p:sp>
      <p:sp>
        <p:nvSpPr>
          <p:cNvPr id="26" name="">
            <a:extLst xmlns:a="http://schemas.openxmlformats.org/drawingml/2006/main">
              <a:ext uri="{FF2B5EF4-FFF2-40B4-BE49-F238E27FC236}">
                <a16:creationId xmlns:a16="http://schemas.microsoft.com/office/drawing/2014/main" id="{AC80CEDF-FCEB-4724-BE49-3776975DC27B}"/>
              </a:ext>
            </a:extLst>
          </p:cNvPr>
          <p:cNvSpPr>
            <a:spLocks xmlns:a="http://schemas.openxmlformats.org/drawingml/2006/main" noGrp="1"/>
          </p:cNvSpPr>
          <p:nvPr/>
        </p:nvSpPr>
        <p:spPr>
          <a:xfrm xmlns:a="http://schemas.openxmlformats.org/drawingml/2006/main">
            <a:off x="476250" y="2533650"/>
            <a:ext cx="1381125"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1">
                <a:solidFill>
                  <a:srgbClr val="116F68"/>
                </a:solidFill>
              </a:defRPr>
            </a:pPr>
            <a:r>
              <a:rPr sz="825" b="1">
                <a:solidFill>
                  <a:srgbClr val="116F68"/>
                </a:solidFill>
              </a:rPr>
              <a:t>MANAGEMENT PRIORITY</a:t>
            </a:r>
          </a:p>
        </p:txBody>
      </p:sp>
      <p:sp>
        <p:nvSpPr>
          <p:cNvPr id="27" name="">
            <a:extLst xmlns:a="http://schemas.openxmlformats.org/drawingml/2006/main">
              <a:ext uri="{FF2B5EF4-FFF2-40B4-BE49-F238E27FC236}">
                <a16:creationId xmlns:a16="http://schemas.microsoft.com/office/drawing/2014/main" id="{0C5E07D5-F924-4F86-BFF8-A91CDF626B7C}"/>
              </a:ext>
            </a:extLst>
          </p:cNvPr>
          <p:cNvSpPr>
            <a:spLocks xmlns:a="http://schemas.openxmlformats.org/drawingml/2006/main" noGrp="1"/>
          </p:cNvSpPr>
          <p:nvPr/>
        </p:nvSpPr>
        <p:spPr>
          <a:xfrm xmlns:a="http://schemas.openxmlformats.org/drawingml/2006/main">
            <a:off x="1885950" y="2514600"/>
            <a:ext cx="4429125"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183B39"/>
                </a:solidFill>
              </a:defRPr>
            </a:pPr>
            <a:r>
              <a:rPr sz="900" b="1">
                <a:solidFill>
                  <a:srgbClr val="183B39"/>
                </a:solidFill>
              </a:rPr>
              <a:t>Close Apollo exceptions  •  Protect hero-SKU OSA  •  Review conversion weekly</a:t>
            </a:r>
          </a:p>
        </p:txBody>
      </p:sp>
      <p:sp>
        <p:nvSpPr>
          <p:cNvPr id="28" name="">
            <a:extLst xmlns:a="http://schemas.openxmlformats.org/drawingml/2006/main">
              <a:ext uri="{FF2B5EF4-FFF2-40B4-BE49-F238E27FC236}">
                <a16:creationId xmlns:a16="http://schemas.microsoft.com/office/drawing/2014/main" id="{DBA0C4D9-FC55-400D-BB8D-1F62DBC934FB}"/>
              </a:ext>
            </a:extLst>
          </p:cNvPr>
          <p:cNvSpPr>
            <a:spLocks xmlns:a="http://schemas.openxmlformats.org/drawingml/2006/main" noGrp="1"/>
          </p:cNvSpPr>
          <p:nvPr/>
        </p:nvSpPr>
        <p:spPr>
          <a:xfrm xmlns:a="http://schemas.openxmlformats.org/drawingml/2006/main">
            <a:off x="361950" y="3048000"/>
            <a:ext cx="2895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183B39"/>
                </a:solidFill>
              </a:defRPr>
            </a:pPr>
            <a:r>
              <a:rPr sz="900" b="1">
                <a:solidFill>
                  <a:srgbClr val="183B39"/>
                </a:solidFill>
              </a:rPr>
              <a:t>Mamaearth — top 3 sub-categories</a:t>
            </a:r>
          </a:p>
        </p:txBody>
      </p:sp>
      <p:graphicFrame>
        <p:nvGraphicFramePr>
          <p:cNvPr id="140" name="Chart"/>
          <p:cNvGraphicFramePr/>
          <p:nvPr/>
        </p:nvGraphicFramePr>
        <p:xfrm>
          <a:off xmlns:a="http://schemas.openxmlformats.org/drawingml/2006/main" x="361950" y="3286125"/>
          <a:ext xmlns:a="http://schemas.openxmlformats.org/drawingml/2006/main" cx="2895600" cy="1666875"/>
        </p:xfrm>
        <a:graphic xmlns:a="http://schemas.openxmlformats.org/drawingml/2006/main">
          <a:graphicData uri="http://schemas.openxmlformats.org/drawingml/2006/chart">
            <c:chart xmlns:r="http://schemas.openxmlformats.org/officeDocument/2006/relationships" xmlns:c="http://schemas.openxmlformats.org/drawingml/2006/chart" r:id="Rf35dca6890d040ce"/>
          </a:graphicData>
        </a:graphic>
      </p:graphicFrame>
      <p:sp>
        <p:nvSpPr>
          <p:cNvPr id="30" name="">
            <a:extLst xmlns:a="http://schemas.openxmlformats.org/drawingml/2006/main">
              <a:ext uri="{FF2B5EF4-FFF2-40B4-BE49-F238E27FC236}">
                <a16:creationId xmlns:a16="http://schemas.microsoft.com/office/drawing/2014/main" id="{62EF4A80-7BB2-473A-9120-323704AAB14E}"/>
              </a:ext>
            </a:extLst>
          </p:cNvPr>
          <p:cNvSpPr>
            <a:spLocks xmlns:a="http://schemas.openxmlformats.org/drawingml/2006/main" noGrp="1"/>
          </p:cNvSpPr>
          <p:nvPr/>
        </p:nvSpPr>
        <p:spPr>
          <a:xfrm xmlns:a="http://schemas.openxmlformats.org/drawingml/2006/main">
            <a:off x="3600450" y="3048000"/>
            <a:ext cx="2895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183B39"/>
                </a:solidFill>
              </a:defRPr>
            </a:pPr>
            <a:r>
              <a:rPr sz="900" b="1">
                <a:solidFill>
                  <a:srgbClr val="183B39"/>
                </a:solidFill>
              </a:rPr>
              <a:t>The Derma Co. — top 3 sub-categories</a:t>
            </a:r>
          </a:p>
        </p:txBody>
      </p:sp>
      <p:graphicFrame>
        <p:nvGraphicFramePr>
          <p:cNvPr id="142" name="Chart"/>
          <p:cNvGraphicFramePr/>
          <p:nvPr/>
        </p:nvGraphicFramePr>
        <p:xfrm>
          <a:off xmlns:a="http://schemas.openxmlformats.org/drawingml/2006/main" x="3600450" y="3286125"/>
          <a:ext xmlns:a="http://schemas.openxmlformats.org/drawingml/2006/main" cx="2895600" cy="1666875"/>
        </p:xfrm>
        <a:graphic xmlns:a="http://schemas.openxmlformats.org/drawingml/2006/main">
          <a:graphicData uri="http://schemas.openxmlformats.org/drawingml/2006/chart">
            <c:chart xmlns:r="http://schemas.openxmlformats.org/officeDocument/2006/relationships" xmlns:c="http://schemas.openxmlformats.org/drawingml/2006/chart" r:id="Ra55689006f294729"/>
          </a:graphicData>
        </a:graphic>
      </p:graphicFrame>
      <p:sp>
        <p:nvSpPr>
          <p:cNvPr id="32" name="">
            <a:extLst xmlns:a="http://schemas.openxmlformats.org/drawingml/2006/main">
              <a:ext uri="{FF2B5EF4-FFF2-40B4-BE49-F238E27FC236}">
                <a16:creationId xmlns:a16="http://schemas.microsoft.com/office/drawing/2014/main" id="{6BEFE488-A0AF-4A9F-ACF5-CA7F4D15643E}"/>
              </a:ext>
            </a:extLst>
          </p:cNvPr>
          <p:cNvSpPr>
            <a:spLocks xmlns:a="http://schemas.openxmlformats.org/drawingml/2006/main" noGrp="1"/>
          </p:cNvSpPr>
          <p:nvPr/>
        </p:nvSpPr>
        <p:spPr>
          <a:xfrm xmlns:a="http://schemas.openxmlformats.org/drawingml/2006/main">
            <a:off x="361950" y="5095875"/>
            <a:ext cx="1905000" cy="2476500"/>
          </a:xfrm>
          <a:prstGeom xmlns:a="http://schemas.openxmlformats.org/drawingml/2006/main" prst="roundRect">
            <a:avLst>
              <a:gd name="adj" fmla="val 4000"/>
            </a:avLst>
          </a:prstGeom>
          <a:solidFill xmlns:a="http://schemas.openxmlformats.org/drawingml/2006/main">
            <a:srgbClr val="FFFFFF"/>
          </a:solidFill>
          <a:ln xmlns:a="http://schemas.openxmlformats.org/drawingml/2006/main" w="9525">
            <a:solidFill>
              <a:srgbClr val="C8DCD7"/>
            </a:solidFill>
            <a:prstDash val="solid"/>
          </a:ln>
        </p:spPr>
      </p:sp>
      <p:sp>
        <p:nvSpPr>
          <p:cNvPr id="33" name="">
            <a:extLst xmlns:a="http://schemas.openxmlformats.org/drawingml/2006/main">
              <a:ext uri="{FF2B5EF4-FFF2-40B4-BE49-F238E27FC236}">
                <a16:creationId xmlns:a16="http://schemas.microsoft.com/office/drawing/2014/main" id="{0A5547F1-8823-45EC-91BD-D1A6CBD6ED69}"/>
              </a:ext>
            </a:extLst>
          </p:cNvPr>
          <p:cNvSpPr>
            <a:spLocks xmlns:a="http://schemas.openxmlformats.org/drawingml/2006/main" noGrp="1"/>
          </p:cNvSpPr>
          <p:nvPr/>
        </p:nvSpPr>
        <p:spPr>
          <a:xfrm xmlns:a="http://schemas.openxmlformats.org/drawingml/2006/main">
            <a:off x="495300" y="5219700"/>
            <a:ext cx="16573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116F68"/>
                </a:solidFill>
              </a:defRPr>
            </a:pPr>
            <a:r>
              <a:rPr sz="900" b="1">
                <a:solidFill>
                  <a:srgbClr val="116F68"/>
                </a:solidFill>
              </a:rPr>
              <a:t>TOP CHAINS / STATES</a:t>
            </a:r>
          </a:p>
        </p:txBody>
      </p:sp>
      <p:sp>
        <p:nvSpPr>
          <p:cNvPr id="34" name="">
            <a:extLst xmlns:a="http://schemas.openxmlformats.org/drawingml/2006/main">
              <a:ext uri="{FF2B5EF4-FFF2-40B4-BE49-F238E27FC236}">
                <a16:creationId xmlns:a16="http://schemas.microsoft.com/office/drawing/2014/main" id="{09015DEC-0A28-4B94-9BF2-AD1BC4C7CB05}"/>
              </a:ext>
            </a:extLst>
          </p:cNvPr>
          <p:cNvSpPr>
            <a:spLocks xmlns:a="http://schemas.openxmlformats.org/drawingml/2006/main" noGrp="1"/>
          </p:cNvSpPr>
          <p:nvPr/>
        </p:nvSpPr>
        <p:spPr>
          <a:xfrm xmlns:a="http://schemas.openxmlformats.org/drawingml/2006/main">
            <a:off x="495300" y="5543550"/>
            <a:ext cx="16573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1">
                <a:solidFill>
                  <a:srgbClr val="183B39"/>
                </a:solidFill>
              </a:defRPr>
            </a:pPr>
            <a:r>
              <a:rPr sz="825" b="1">
                <a:solidFill>
                  <a:srgbClr val="183B39"/>
                </a:solidFill>
              </a:rPr>
              <a:t>1. Apollo  ₹2.84 Cr</a:t>
            </a:r>
          </a:p>
        </p:txBody>
      </p:sp>
      <p:sp>
        <p:nvSpPr>
          <p:cNvPr id="35" name="">
            <a:extLst xmlns:a="http://schemas.openxmlformats.org/drawingml/2006/main">
              <a:ext uri="{FF2B5EF4-FFF2-40B4-BE49-F238E27FC236}">
                <a16:creationId xmlns:a16="http://schemas.microsoft.com/office/drawing/2014/main" id="{F2DAAFFE-8F2D-4E34-AC30-AD0C145C565A}"/>
              </a:ext>
            </a:extLst>
          </p:cNvPr>
          <p:cNvSpPr>
            <a:spLocks xmlns:a="http://schemas.openxmlformats.org/drawingml/2006/main" noGrp="1"/>
          </p:cNvSpPr>
          <p:nvPr/>
        </p:nvSpPr>
        <p:spPr>
          <a:xfrm xmlns:a="http://schemas.openxmlformats.org/drawingml/2006/main">
            <a:off x="495300" y="5867400"/>
            <a:ext cx="16573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0">
                <a:solidFill>
                  <a:srgbClr val="183B39"/>
                </a:solidFill>
              </a:defRPr>
            </a:pPr>
            <a:r>
              <a:rPr sz="825" b="0">
                <a:solidFill>
                  <a:srgbClr val="183B39"/>
                </a:solidFill>
              </a:rPr>
              <a:t>2. DMart  ₹2.31 Cr</a:t>
            </a:r>
          </a:p>
        </p:txBody>
      </p:sp>
      <p:sp>
        <p:nvSpPr>
          <p:cNvPr id="36" name="">
            <a:extLst xmlns:a="http://schemas.openxmlformats.org/drawingml/2006/main">
              <a:ext uri="{FF2B5EF4-FFF2-40B4-BE49-F238E27FC236}">
                <a16:creationId xmlns:a16="http://schemas.microsoft.com/office/drawing/2014/main" id="{8AAD945B-D77E-453E-AB4D-43E5E11036EB}"/>
              </a:ext>
            </a:extLst>
          </p:cNvPr>
          <p:cNvSpPr>
            <a:spLocks xmlns:a="http://schemas.openxmlformats.org/drawingml/2006/main" noGrp="1"/>
          </p:cNvSpPr>
          <p:nvPr/>
        </p:nvSpPr>
        <p:spPr>
          <a:xfrm xmlns:a="http://schemas.openxmlformats.org/drawingml/2006/main">
            <a:off x="495300" y="6191250"/>
            <a:ext cx="16573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0">
                <a:solidFill>
                  <a:srgbClr val="183B39"/>
                </a:solidFill>
              </a:defRPr>
            </a:pPr>
            <a:r>
              <a:rPr sz="825" b="0">
                <a:solidFill>
                  <a:srgbClr val="183B39"/>
                </a:solidFill>
              </a:rPr>
              <a:t>3. Lulu  ₹1.22 Cr</a:t>
            </a:r>
          </a:p>
        </p:txBody>
      </p:sp>
      <p:sp>
        <p:nvSpPr>
          <p:cNvPr id="37" name="">
            <a:extLst xmlns:a="http://schemas.openxmlformats.org/drawingml/2006/main">
              <a:ext uri="{FF2B5EF4-FFF2-40B4-BE49-F238E27FC236}">
                <a16:creationId xmlns:a16="http://schemas.microsoft.com/office/drawing/2014/main" id="{6ABE4FE6-AD84-4139-A36E-BAF004EE42BC}"/>
              </a:ext>
            </a:extLst>
          </p:cNvPr>
          <p:cNvSpPr>
            <a:spLocks xmlns:a="http://schemas.openxmlformats.org/drawingml/2006/main" noGrp="1"/>
          </p:cNvSpPr>
          <p:nvPr/>
        </p:nvSpPr>
        <p:spPr>
          <a:xfrm xmlns:a="http://schemas.openxmlformats.org/drawingml/2006/main">
            <a:off x="495300" y="6572250"/>
            <a:ext cx="16573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1">
                <a:solidFill>
                  <a:srgbClr val="5F716E"/>
                </a:solidFill>
              </a:defRPr>
            </a:pPr>
            <a:r>
              <a:rPr sz="825" b="1">
                <a:solidFill>
                  <a:srgbClr val="5F716E"/>
                </a:solidFill>
              </a:rPr>
              <a:t>1. Karnataka  ₹4.10 Cr</a:t>
            </a:r>
          </a:p>
        </p:txBody>
      </p:sp>
      <p:sp>
        <p:nvSpPr>
          <p:cNvPr id="38" name="">
            <a:extLst xmlns:a="http://schemas.openxmlformats.org/drawingml/2006/main">
              <a:ext uri="{FF2B5EF4-FFF2-40B4-BE49-F238E27FC236}">
                <a16:creationId xmlns:a16="http://schemas.microsoft.com/office/drawing/2014/main" id="{647E65E3-BB20-454C-A89A-EB7230A3B0CF}"/>
              </a:ext>
            </a:extLst>
          </p:cNvPr>
          <p:cNvSpPr>
            <a:spLocks xmlns:a="http://schemas.openxmlformats.org/drawingml/2006/main" noGrp="1"/>
          </p:cNvSpPr>
          <p:nvPr/>
        </p:nvSpPr>
        <p:spPr>
          <a:xfrm xmlns:a="http://schemas.openxmlformats.org/drawingml/2006/main">
            <a:off x="495300" y="6858000"/>
            <a:ext cx="16573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0">
                <a:solidFill>
                  <a:srgbClr val="5F716E"/>
                </a:solidFill>
              </a:defRPr>
            </a:pPr>
            <a:r>
              <a:rPr sz="825" b="0">
                <a:solidFill>
                  <a:srgbClr val="5F716E"/>
                </a:solidFill>
              </a:rPr>
              <a:t>2. Tamil Nadu  ₹2.63 Cr</a:t>
            </a:r>
          </a:p>
        </p:txBody>
      </p:sp>
      <p:sp>
        <p:nvSpPr>
          <p:cNvPr id="39" name="">
            <a:extLst xmlns:a="http://schemas.openxmlformats.org/drawingml/2006/main">
              <a:ext uri="{FF2B5EF4-FFF2-40B4-BE49-F238E27FC236}">
                <a16:creationId xmlns:a16="http://schemas.microsoft.com/office/drawing/2014/main" id="{96A4507C-95AC-4766-B0E3-B55A4F5CFB15}"/>
              </a:ext>
            </a:extLst>
          </p:cNvPr>
          <p:cNvSpPr>
            <a:spLocks xmlns:a="http://schemas.openxmlformats.org/drawingml/2006/main" noGrp="1"/>
          </p:cNvSpPr>
          <p:nvPr/>
        </p:nvSpPr>
        <p:spPr>
          <a:xfrm xmlns:a="http://schemas.openxmlformats.org/drawingml/2006/main">
            <a:off x="495300" y="7143750"/>
            <a:ext cx="16573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0">
                <a:solidFill>
                  <a:srgbClr val="5F716E"/>
                </a:solidFill>
              </a:defRPr>
            </a:pPr>
            <a:r>
              <a:rPr sz="825" b="0">
                <a:solidFill>
                  <a:srgbClr val="5F716E"/>
                </a:solidFill>
              </a:rPr>
              <a:t>3. Kerala  ₹1.17 Cr</a:t>
            </a:r>
          </a:p>
        </p:txBody>
      </p:sp>
      <p:sp>
        <p:nvSpPr>
          <p:cNvPr id="40" name="">
            <a:extLst xmlns:a="http://schemas.openxmlformats.org/drawingml/2006/main">
              <a:ext uri="{FF2B5EF4-FFF2-40B4-BE49-F238E27FC236}">
                <a16:creationId xmlns:a16="http://schemas.microsoft.com/office/drawing/2014/main" id="{F712D84A-B129-4BBA-B577-6043DDD8E3CC}"/>
              </a:ext>
            </a:extLst>
          </p:cNvPr>
          <p:cNvSpPr>
            <a:spLocks xmlns:a="http://schemas.openxmlformats.org/drawingml/2006/main" noGrp="1"/>
          </p:cNvSpPr>
          <p:nvPr/>
        </p:nvSpPr>
        <p:spPr>
          <a:xfrm xmlns:a="http://schemas.openxmlformats.org/drawingml/2006/main">
            <a:off x="2381250" y="5095875"/>
            <a:ext cx="4114800" cy="2476500"/>
          </a:xfrm>
          <a:prstGeom xmlns:a="http://schemas.openxmlformats.org/drawingml/2006/main" prst="roundRect">
            <a:avLst>
              <a:gd name="adj" fmla="val 3077"/>
            </a:avLst>
          </a:prstGeom>
          <a:solidFill xmlns:a="http://schemas.openxmlformats.org/drawingml/2006/main">
            <a:srgbClr val="FFFFFF"/>
          </a:solidFill>
          <a:ln xmlns:a="http://schemas.openxmlformats.org/drawingml/2006/main" w="9525">
            <a:solidFill>
              <a:srgbClr val="C8DCD7"/>
            </a:solidFill>
            <a:prstDash val="solid"/>
          </a:ln>
        </p:spPr>
      </p:sp>
      <p:sp>
        <p:nvSpPr>
          <p:cNvPr id="41" name="">
            <a:extLst xmlns:a="http://schemas.openxmlformats.org/drawingml/2006/main">
              <a:ext uri="{FF2B5EF4-FFF2-40B4-BE49-F238E27FC236}">
                <a16:creationId xmlns:a16="http://schemas.microsoft.com/office/drawing/2014/main" id="{F1A89444-4951-42FD-8AD1-79D2C4E0E4DC}"/>
              </a:ext>
            </a:extLst>
          </p:cNvPr>
          <p:cNvSpPr>
            <a:spLocks xmlns:a="http://schemas.openxmlformats.org/drawingml/2006/main" noGrp="1"/>
          </p:cNvSpPr>
          <p:nvPr/>
        </p:nvSpPr>
        <p:spPr>
          <a:xfrm xmlns:a="http://schemas.openxmlformats.org/drawingml/2006/main">
            <a:off x="2514600" y="5219700"/>
            <a:ext cx="3810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116F68"/>
                </a:solidFill>
              </a:defRPr>
            </a:pPr>
            <a:r>
              <a:rPr sz="900" b="1">
                <a:solidFill>
                  <a:srgbClr val="116F68"/>
                </a:solidFill>
              </a:rPr>
              <a:t>TOP 2 BRANDS × TOP SUB-CATEGORIES</a:t>
            </a:r>
          </a:p>
        </p:txBody>
      </p:sp>
      <p:sp>
        <p:nvSpPr>
          <p:cNvPr id="42" name="">
            <a:extLst xmlns:a="http://schemas.openxmlformats.org/drawingml/2006/main">
              <a:ext uri="{FF2B5EF4-FFF2-40B4-BE49-F238E27FC236}">
                <a16:creationId xmlns:a16="http://schemas.microsoft.com/office/drawing/2014/main" id="{A84E5BCF-A675-4D91-8780-D16DE8983372}"/>
              </a:ext>
            </a:extLst>
          </p:cNvPr>
          <p:cNvSpPr>
            <a:spLocks xmlns:a="http://schemas.openxmlformats.org/drawingml/2006/main" noGrp="1"/>
          </p:cNvSpPr>
          <p:nvPr/>
        </p:nvSpPr>
        <p:spPr>
          <a:xfrm xmlns:a="http://schemas.openxmlformats.org/drawingml/2006/main">
            <a:off x="2514600" y="5543550"/>
            <a:ext cx="1809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75" b="1">
                <a:solidFill>
                  <a:srgbClr val="28A596"/>
                </a:solidFill>
              </a:defRPr>
            </a:pPr>
            <a:r>
              <a:rPr sz="975" b="1">
                <a:solidFill>
                  <a:srgbClr val="28A596"/>
                </a:solidFill>
              </a:rPr>
              <a:t>Mamaearth | ₹5.24 Cr</a:t>
            </a:r>
          </a:p>
        </p:txBody>
      </p:sp>
      <p:sp>
        <p:nvSpPr>
          <p:cNvPr id="43" name="">
            <a:extLst xmlns:a="http://schemas.openxmlformats.org/drawingml/2006/main">
              <a:ext uri="{FF2B5EF4-FFF2-40B4-BE49-F238E27FC236}">
                <a16:creationId xmlns:a16="http://schemas.microsoft.com/office/drawing/2014/main" id="{2E784B60-EF5E-4C0A-8BA9-D2828720071A}"/>
              </a:ext>
            </a:extLst>
          </p:cNvPr>
          <p:cNvSpPr>
            <a:spLocks xmlns:a="http://schemas.openxmlformats.org/drawingml/2006/main" noGrp="1"/>
          </p:cNvSpPr>
          <p:nvPr/>
        </p:nvSpPr>
        <p:spPr>
          <a:xfrm xmlns:a="http://schemas.openxmlformats.org/drawingml/2006/main">
            <a:off x="2514600" y="5905500"/>
            <a:ext cx="1809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88" b="1">
                <a:solidFill>
                  <a:srgbClr val="183B39"/>
                </a:solidFill>
              </a:defRPr>
            </a:pPr>
            <a:r>
              <a:rPr sz="788" b="1">
                <a:solidFill>
                  <a:srgbClr val="183B39"/>
                </a:solidFill>
              </a:rPr>
              <a:t>1. Face Cleanser  ₹1.12 Cr</a:t>
            </a:r>
          </a:p>
        </p:txBody>
      </p:sp>
      <p:sp>
        <p:nvSpPr>
          <p:cNvPr id="44" name="">
            <a:extLst xmlns:a="http://schemas.openxmlformats.org/drawingml/2006/main">
              <a:ext uri="{FF2B5EF4-FFF2-40B4-BE49-F238E27FC236}">
                <a16:creationId xmlns:a16="http://schemas.microsoft.com/office/drawing/2014/main" id="{4C888802-78B3-4029-BCE5-33651393E0BD}"/>
              </a:ext>
            </a:extLst>
          </p:cNvPr>
          <p:cNvSpPr>
            <a:spLocks xmlns:a="http://schemas.openxmlformats.org/drawingml/2006/main" noGrp="1"/>
          </p:cNvSpPr>
          <p:nvPr/>
        </p:nvSpPr>
        <p:spPr>
          <a:xfrm xmlns:a="http://schemas.openxmlformats.org/drawingml/2006/main">
            <a:off x="2514600" y="6210300"/>
            <a:ext cx="1809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88" b="0">
                <a:solidFill>
                  <a:srgbClr val="183B39"/>
                </a:solidFill>
              </a:defRPr>
            </a:pPr>
            <a:r>
              <a:rPr sz="788" b="0">
                <a:solidFill>
                  <a:srgbClr val="183B39"/>
                </a:solidFill>
              </a:rPr>
              <a:t>2. Shampoo  ₹1.23 Cr</a:t>
            </a:r>
          </a:p>
        </p:txBody>
      </p:sp>
      <p:sp>
        <p:nvSpPr>
          <p:cNvPr id="45" name="">
            <a:extLst xmlns:a="http://schemas.openxmlformats.org/drawingml/2006/main">
              <a:ext uri="{FF2B5EF4-FFF2-40B4-BE49-F238E27FC236}">
                <a16:creationId xmlns:a16="http://schemas.microsoft.com/office/drawing/2014/main" id="{18C368F5-96B1-4808-A2FB-DBA1AFC8D736}"/>
              </a:ext>
            </a:extLst>
          </p:cNvPr>
          <p:cNvSpPr>
            <a:spLocks xmlns:a="http://schemas.openxmlformats.org/drawingml/2006/main" noGrp="1"/>
          </p:cNvSpPr>
          <p:nvPr/>
        </p:nvSpPr>
        <p:spPr>
          <a:xfrm xmlns:a="http://schemas.openxmlformats.org/drawingml/2006/main">
            <a:off x="2514600" y="6515100"/>
            <a:ext cx="1809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88" b="0">
                <a:solidFill>
                  <a:srgbClr val="183B39"/>
                </a:solidFill>
              </a:defRPr>
            </a:pPr>
            <a:r>
              <a:rPr sz="788" b="0">
                <a:solidFill>
                  <a:srgbClr val="183B39"/>
                </a:solidFill>
              </a:rPr>
              <a:t>3. Sun Care  ₹0.32 Cr</a:t>
            </a:r>
          </a:p>
        </p:txBody>
      </p:sp>
      <p:sp>
        <p:nvSpPr>
          <p:cNvPr id="46" name="">
            <a:extLst xmlns:a="http://schemas.openxmlformats.org/drawingml/2006/main">
              <a:ext uri="{FF2B5EF4-FFF2-40B4-BE49-F238E27FC236}">
                <a16:creationId xmlns:a16="http://schemas.microsoft.com/office/drawing/2014/main" id="{7B825BBF-B7A2-4B47-91A2-B5B5644C7AAE}"/>
              </a:ext>
            </a:extLst>
          </p:cNvPr>
          <p:cNvSpPr>
            <a:spLocks xmlns:a="http://schemas.openxmlformats.org/drawingml/2006/main" noGrp="1"/>
          </p:cNvSpPr>
          <p:nvPr/>
        </p:nvSpPr>
        <p:spPr>
          <a:xfrm xmlns:a="http://schemas.openxmlformats.org/drawingml/2006/main">
            <a:off x="4438650" y="5543550"/>
            <a:ext cx="1809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75" b="1">
                <a:solidFill>
                  <a:srgbClr val="2E7DA8"/>
                </a:solidFill>
              </a:defRPr>
            </a:pPr>
            <a:r>
              <a:rPr sz="975" b="1">
                <a:solidFill>
                  <a:srgbClr val="2E7DA8"/>
                </a:solidFill>
              </a:rPr>
              <a:t>The Derma Co. | ₹2.76 Cr</a:t>
            </a:r>
          </a:p>
        </p:txBody>
      </p:sp>
      <p:sp>
        <p:nvSpPr>
          <p:cNvPr id="47" name="">
            <a:extLst xmlns:a="http://schemas.openxmlformats.org/drawingml/2006/main">
              <a:ext uri="{FF2B5EF4-FFF2-40B4-BE49-F238E27FC236}">
                <a16:creationId xmlns:a16="http://schemas.microsoft.com/office/drawing/2014/main" id="{2C5D41D5-5444-4AF5-94C2-D997C6540038}"/>
              </a:ext>
            </a:extLst>
          </p:cNvPr>
          <p:cNvSpPr>
            <a:spLocks xmlns:a="http://schemas.openxmlformats.org/drawingml/2006/main" noGrp="1"/>
          </p:cNvSpPr>
          <p:nvPr/>
        </p:nvSpPr>
        <p:spPr>
          <a:xfrm xmlns:a="http://schemas.openxmlformats.org/drawingml/2006/main">
            <a:off x="4438650" y="5905500"/>
            <a:ext cx="1809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88" b="1">
                <a:solidFill>
                  <a:srgbClr val="183B39"/>
                </a:solidFill>
              </a:defRPr>
            </a:pPr>
            <a:r>
              <a:rPr sz="788" b="1">
                <a:solidFill>
                  <a:srgbClr val="183B39"/>
                </a:solidFill>
              </a:rPr>
              <a:t>1. Face Cleanser  ₹1.18 Cr</a:t>
            </a:r>
          </a:p>
        </p:txBody>
      </p:sp>
      <p:sp>
        <p:nvSpPr>
          <p:cNvPr id="48" name="">
            <a:extLst xmlns:a="http://schemas.openxmlformats.org/drawingml/2006/main">
              <a:ext uri="{FF2B5EF4-FFF2-40B4-BE49-F238E27FC236}">
                <a16:creationId xmlns:a16="http://schemas.microsoft.com/office/drawing/2014/main" id="{8BBD5F01-F78F-484F-925E-1AB924EAF159}"/>
              </a:ext>
            </a:extLst>
          </p:cNvPr>
          <p:cNvSpPr>
            <a:spLocks xmlns:a="http://schemas.openxmlformats.org/drawingml/2006/main" noGrp="1"/>
          </p:cNvSpPr>
          <p:nvPr/>
        </p:nvSpPr>
        <p:spPr>
          <a:xfrm xmlns:a="http://schemas.openxmlformats.org/drawingml/2006/main">
            <a:off x="4438650" y="6210300"/>
            <a:ext cx="1809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88" b="0">
                <a:solidFill>
                  <a:srgbClr val="183B39"/>
                </a:solidFill>
              </a:defRPr>
            </a:pPr>
            <a:r>
              <a:rPr sz="788" b="0">
                <a:solidFill>
                  <a:srgbClr val="183B39"/>
                </a:solidFill>
              </a:rPr>
              <a:t>2. Sun Care  ₹0.61 Cr</a:t>
            </a:r>
          </a:p>
        </p:txBody>
      </p:sp>
      <p:sp>
        <p:nvSpPr>
          <p:cNvPr id="49" name="">
            <a:extLst xmlns:a="http://schemas.openxmlformats.org/drawingml/2006/main">
              <a:ext uri="{FF2B5EF4-FFF2-40B4-BE49-F238E27FC236}">
                <a16:creationId xmlns:a16="http://schemas.microsoft.com/office/drawing/2014/main" id="{3D06962D-165A-4C80-B807-2DFCB3F520C3}"/>
              </a:ext>
            </a:extLst>
          </p:cNvPr>
          <p:cNvSpPr>
            <a:spLocks xmlns:a="http://schemas.openxmlformats.org/drawingml/2006/main" noGrp="1"/>
          </p:cNvSpPr>
          <p:nvPr/>
        </p:nvSpPr>
        <p:spPr>
          <a:xfrm xmlns:a="http://schemas.openxmlformats.org/drawingml/2006/main">
            <a:off x="4438650" y="6515100"/>
            <a:ext cx="1809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88" b="0">
                <a:solidFill>
                  <a:srgbClr val="183B39"/>
                </a:solidFill>
              </a:defRPr>
            </a:pPr>
            <a:r>
              <a:rPr sz="788" b="0">
                <a:solidFill>
                  <a:srgbClr val="183B39"/>
                </a:solidFill>
              </a:rPr>
              <a:t>3. Face Serum  ₹0.19 Cr</a:t>
            </a:r>
          </a:p>
        </p:txBody>
      </p:sp>
      <p:sp>
        <p:nvSpPr>
          <p:cNvPr id="50" name="">
            <a:extLst xmlns:a="http://schemas.openxmlformats.org/drawingml/2006/main">
              <a:ext uri="{FF2B5EF4-FFF2-40B4-BE49-F238E27FC236}">
                <a16:creationId xmlns:a16="http://schemas.microsoft.com/office/drawing/2014/main" id="{805B46FA-87AA-4004-81AC-02F3ECC5D4CC}"/>
              </a:ext>
            </a:extLst>
          </p:cNvPr>
          <p:cNvSpPr>
            <a:spLocks xmlns:a="http://schemas.openxmlformats.org/drawingml/2006/main" noGrp="1"/>
          </p:cNvSpPr>
          <p:nvPr/>
        </p:nvSpPr>
        <p:spPr>
          <a:xfrm xmlns:a="http://schemas.openxmlformats.org/drawingml/2006/main">
            <a:off x="2514600" y="7200900"/>
            <a:ext cx="1619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1">
                <a:solidFill>
                  <a:srgbClr val="D6544D"/>
                </a:solidFill>
              </a:defRPr>
            </a:pPr>
            <a:r>
              <a:rPr sz="825" b="1">
                <a:solidFill>
                  <a:srgbClr val="D6544D"/>
                </a:solidFill>
              </a:rPr>
              <a:t>NPI CONTRIBUTION</a:t>
            </a:r>
          </a:p>
        </p:txBody>
      </p:sp>
      <p:sp>
        <p:nvSpPr>
          <p:cNvPr id="51" name="">
            <a:extLst xmlns:a="http://schemas.openxmlformats.org/drawingml/2006/main">
              <a:ext uri="{FF2B5EF4-FFF2-40B4-BE49-F238E27FC236}">
                <a16:creationId xmlns:a16="http://schemas.microsoft.com/office/drawing/2014/main" id="{17E0F557-1EC1-4D2B-9956-B90A888C4363}"/>
              </a:ext>
            </a:extLst>
          </p:cNvPr>
          <p:cNvSpPr>
            <a:spLocks xmlns:a="http://schemas.openxmlformats.org/drawingml/2006/main" noGrp="1"/>
          </p:cNvSpPr>
          <p:nvPr/>
        </p:nvSpPr>
        <p:spPr>
          <a:xfrm xmlns:a="http://schemas.openxmlformats.org/drawingml/2006/main">
            <a:off x="4095750" y="7124700"/>
            <a:ext cx="22098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690" b="0">
                <a:solidFill>
                  <a:srgbClr val="5F716E"/>
                </a:solidFill>
              </a:defRPr>
            </a:pPr>
            <a:r>
              <a:rPr sz="690" b="0">
                <a:solidFill>
                  <a:srgbClr val="5F716E"/>
                </a:solidFill>
              </a:rPr>
              <a:t>₹0.64 Cr | 7.9% of zone | ME Cocoa Ric… • ME Vitamin C… • ME Lemon Ant…</a:t>
            </a:r>
          </a:p>
        </p:txBody>
      </p:sp>
      <p:sp>
        <p:nvSpPr>
          <p:cNvPr id="52" name="">
            <a:extLst xmlns:a="http://schemas.openxmlformats.org/drawingml/2006/main">
              <a:ext uri="{FF2B5EF4-FFF2-40B4-BE49-F238E27FC236}">
                <a16:creationId xmlns:a16="http://schemas.microsoft.com/office/drawing/2014/main" id="{5DE43317-DB29-4DE2-87C7-5BA7B7547260}"/>
              </a:ext>
            </a:extLst>
          </p:cNvPr>
          <p:cNvSpPr>
            <a:spLocks xmlns:a="http://schemas.openxmlformats.org/drawingml/2006/main" noGrp="1"/>
          </p:cNvSpPr>
          <p:nvPr/>
        </p:nvSpPr>
        <p:spPr>
          <a:xfrm xmlns:a="http://schemas.openxmlformats.org/drawingml/2006/main">
            <a:off x="361950" y="7762875"/>
            <a:ext cx="6134100" cy="257175"/>
          </a:xfrm>
          <a:prstGeom xmlns:a="http://schemas.openxmlformats.org/drawingml/2006/main" prst="rect">
            <a:avLst/>
          </a:prstGeom>
          <a:solidFill xmlns:a="http://schemas.openxmlformats.org/drawingml/2006/main">
            <a:srgbClr val="116F68"/>
          </a:solidFill>
          <a:ln xmlns:a="http://schemas.openxmlformats.org/drawingml/2006/main" w="0">
            <a:solidFill>
              <a:srgbClr val="116F68"/>
            </a:solidFill>
            <a:prstDash val="solid"/>
          </a:ln>
        </p:spPr>
      </p:sp>
      <p:sp>
        <p:nvSpPr>
          <p:cNvPr id="53" name="">
            <a:extLst xmlns:a="http://schemas.openxmlformats.org/drawingml/2006/main">
              <a:ext uri="{FF2B5EF4-FFF2-40B4-BE49-F238E27FC236}">
                <a16:creationId xmlns:a16="http://schemas.microsoft.com/office/drawing/2014/main" id="{68486104-1109-4803-AD9A-B9E7E01C17F1}"/>
              </a:ext>
            </a:extLst>
          </p:cNvPr>
          <p:cNvSpPr>
            <a:spLocks xmlns:a="http://schemas.openxmlformats.org/drawingml/2006/main" noGrp="1"/>
          </p:cNvSpPr>
          <p:nvPr/>
        </p:nvSpPr>
        <p:spPr>
          <a:xfrm xmlns:a="http://schemas.openxmlformats.org/drawingml/2006/main">
            <a:off x="457200" y="7772400"/>
            <a:ext cx="59436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FFFFFF"/>
                </a:solidFill>
              </a:defRPr>
            </a:pPr>
            <a:r>
              <a:rPr sz="900" b="1">
                <a:solidFill>
                  <a:srgbClr val="FFFFFF"/>
                </a:solidFill>
              </a:rPr>
              <a:t>15 ZONE-SPECIFIC INSIGHTS AND ACTIONS</a:t>
            </a:r>
          </a:p>
        </p:txBody>
      </p:sp>
      <p:sp>
        <p:nvSpPr>
          <p:cNvPr id="54" name="">
            <a:extLst xmlns:a="http://schemas.openxmlformats.org/drawingml/2006/main">
              <a:ext uri="{FF2B5EF4-FFF2-40B4-BE49-F238E27FC236}">
                <a16:creationId xmlns:a16="http://schemas.microsoft.com/office/drawing/2014/main" id="{F87FAF1B-5170-47A4-A40C-4584079E9A66}"/>
              </a:ext>
            </a:extLst>
          </p:cNvPr>
          <p:cNvSpPr>
            <a:spLocks xmlns:a="http://schemas.openxmlformats.org/drawingml/2006/main" noGrp="1"/>
          </p:cNvSpPr>
          <p:nvPr/>
        </p:nvSpPr>
        <p:spPr>
          <a:xfrm xmlns:a="http://schemas.openxmlformats.org/drawingml/2006/main">
            <a:off x="361950" y="8096250"/>
            <a:ext cx="1981200" cy="514350"/>
          </a:xfrm>
          <a:prstGeom xmlns:a="http://schemas.openxmlformats.org/drawingml/2006/main" prst="roundRect">
            <a:avLst>
              <a:gd name="adj" fmla="val 14815"/>
            </a:avLst>
          </a:prstGeom>
          <a:solidFill xmlns:a="http://schemas.openxmlformats.org/drawingml/2006/main">
            <a:srgbClr val="DFF2ED"/>
          </a:solidFill>
          <a:ln xmlns:a="http://schemas.openxmlformats.org/drawingml/2006/main" w="9525">
            <a:solidFill>
              <a:srgbClr val="C8DCD7"/>
            </a:solidFill>
            <a:prstDash val="solid"/>
          </a:ln>
        </p:spPr>
      </p:sp>
      <p:sp>
        <p:nvSpPr>
          <p:cNvPr id="55" name="">
            <a:extLst xmlns:a="http://schemas.openxmlformats.org/drawingml/2006/main">
              <a:ext uri="{FF2B5EF4-FFF2-40B4-BE49-F238E27FC236}">
                <a16:creationId xmlns:a16="http://schemas.microsoft.com/office/drawing/2014/main" id="{AEB2BC75-5C1E-4D8B-AEC5-8947A0B38422}"/>
              </a:ext>
            </a:extLst>
          </p:cNvPr>
          <p:cNvSpPr>
            <a:spLocks xmlns:a="http://schemas.openxmlformats.org/drawingml/2006/main" noGrp="1"/>
          </p:cNvSpPr>
          <p:nvPr/>
        </p:nvSpPr>
        <p:spPr>
          <a:xfrm xmlns:a="http://schemas.openxmlformats.org/drawingml/2006/main">
            <a:off x="419100" y="814387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28A596"/>
                </a:solidFill>
              </a:defRPr>
            </a:pPr>
            <a:r>
              <a:rPr sz="675" b="1">
                <a:solidFill>
                  <a:srgbClr val="28A596"/>
                </a:solidFill>
              </a:rPr>
              <a:t>01</a:t>
            </a:r>
          </a:p>
        </p:txBody>
      </p:sp>
      <p:sp>
        <p:nvSpPr>
          <p:cNvPr id="56" name="">
            <a:extLst xmlns:a="http://schemas.openxmlformats.org/drawingml/2006/main">
              <a:ext uri="{FF2B5EF4-FFF2-40B4-BE49-F238E27FC236}">
                <a16:creationId xmlns:a16="http://schemas.microsoft.com/office/drawing/2014/main" id="{81CBCFBF-1DCE-43AA-A924-4E03AFCFDEB2}"/>
              </a:ext>
            </a:extLst>
          </p:cNvPr>
          <p:cNvSpPr>
            <a:spLocks xmlns:a="http://schemas.openxmlformats.org/drawingml/2006/main" noGrp="1"/>
          </p:cNvSpPr>
          <p:nvPr/>
        </p:nvSpPr>
        <p:spPr>
          <a:xfrm xmlns:a="http://schemas.openxmlformats.org/drawingml/2006/main">
            <a:off x="742950" y="813435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1">
                <a:solidFill>
                  <a:srgbClr val="183B39"/>
                </a:solidFill>
              </a:defRPr>
            </a:pPr>
            <a:r>
              <a:rPr sz="713" b="1">
                <a:solidFill>
                  <a:srgbClr val="183B39"/>
                </a:solidFill>
              </a:rPr>
              <a:t>South-1 delivers ₹8.19 Cr offtake, 22.7% of national value.</a:t>
            </a:r>
          </a:p>
        </p:txBody>
      </p:sp>
      <p:sp>
        <p:nvSpPr>
          <p:cNvPr id="57" name="">
            <a:extLst xmlns:a="http://schemas.openxmlformats.org/drawingml/2006/main">
              <a:ext uri="{FF2B5EF4-FFF2-40B4-BE49-F238E27FC236}">
                <a16:creationId xmlns:a16="http://schemas.microsoft.com/office/drawing/2014/main" id="{7F327CC9-3689-457E-8786-E09AA3A87682}"/>
              </a:ext>
            </a:extLst>
          </p:cNvPr>
          <p:cNvSpPr>
            <a:spLocks xmlns:a="http://schemas.openxmlformats.org/drawingml/2006/main" noGrp="1"/>
          </p:cNvSpPr>
          <p:nvPr/>
        </p:nvSpPr>
        <p:spPr>
          <a:xfrm xmlns:a="http://schemas.openxmlformats.org/drawingml/2006/main">
            <a:off x="2438400" y="8096250"/>
            <a:ext cx="1981200" cy="514350"/>
          </a:xfrm>
          <a:prstGeom xmlns:a="http://schemas.openxmlformats.org/drawingml/2006/main" prst="roundRect">
            <a:avLst>
              <a:gd name="adj" fmla="val 14815"/>
            </a:avLst>
          </a:prstGeom>
          <a:solidFill xmlns:a="http://schemas.openxmlformats.org/drawingml/2006/main">
            <a:srgbClr val="DFF2ED"/>
          </a:solidFill>
          <a:ln xmlns:a="http://schemas.openxmlformats.org/drawingml/2006/main" w="9525">
            <a:solidFill>
              <a:srgbClr val="C8DCD7"/>
            </a:solidFill>
            <a:prstDash val="solid"/>
          </a:ln>
        </p:spPr>
      </p:sp>
      <p:sp>
        <p:nvSpPr>
          <p:cNvPr id="58" name="">
            <a:extLst xmlns:a="http://schemas.openxmlformats.org/drawingml/2006/main">
              <a:ext uri="{FF2B5EF4-FFF2-40B4-BE49-F238E27FC236}">
                <a16:creationId xmlns:a16="http://schemas.microsoft.com/office/drawing/2014/main" id="{08971860-8426-4BE1-9D98-3FB37920EFBA}"/>
              </a:ext>
            </a:extLst>
          </p:cNvPr>
          <p:cNvSpPr>
            <a:spLocks xmlns:a="http://schemas.openxmlformats.org/drawingml/2006/main" noGrp="1"/>
          </p:cNvSpPr>
          <p:nvPr/>
        </p:nvSpPr>
        <p:spPr>
          <a:xfrm xmlns:a="http://schemas.openxmlformats.org/drawingml/2006/main">
            <a:off x="2495550" y="814387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28A596"/>
                </a:solidFill>
              </a:defRPr>
            </a:pPr>
            <a:r>
              <a:rPr sz="675" b="1">
                <a:solidFill>
                  <a:srgbClr val="28A596"/>
                </a:solidFill>
              </a:rPr>
              <a:t>02</a:t>
            </a:r>
          </a:p>
        </p:txBody>
      </p:sp>
      <p:sp>
        <p:nvSpPr>
          <p:cNvPr id="59" name="">
            <a:extLst xmlns:a="http://schemas.openxmlformats.org/drawingml/2006/main">
              <a:ext uri="{FF2B5EF4-FFF2-40B4-BE49-F238E27FC236}">
                <a16:creationId xmlns:a16="http://schemas.microsoft.com/office/drawing/2014/main" id="{24070BF6-4E8E-4FD7-8CE0-06A20AC36285}"/>
              </a:ext>
            </a:extLst>
          </p:cNvPr>
          <p:cNvSpPr>
            <a:spLocks xmlns:a="http://schemas.openxmlformats.org/drawingml/2006/main" noGrp="1"/>
          </p:cNvSpPr>
          <p:nvPr/>
        </p:nvSpPr>
        <p:spPr>
          <a:xfrm xmlns:a="http://schemas.openxmlformats.org/drawingml/2006/main">
            <a:off x="2819400" y="813435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1">
                <a:solidFill>
                  <a:srgbClr val="183B39"/>
                </a:solidFill>
              </a:defRPr>
            </a:pPr>
            <a:r>
              <a:rPr sz="713" b="1">
                <a:solidFill>
                  <a:srgbClr val="183B39"/>
                </a:solidFill>
              </a:rPr>
              <a:t>Primary is ₹9.80 Cr versus ₹8.19 Cr offtake.</a:t>
            </a:r>
          </a:p>
        </p:txBody>
      </p:sp>
      <p:sp>
        <p:nvSpPr>
          <p:cNvPr id="60" name="">
            <a:extLst xmlns:a="http://schemas.openxmlformats.org/drawingml/2006/main">
              <a:ext uri="{FF2B5EF4-FFF2-40B4-BE49-F238E27FC236}">
                <a16:creationId xmlns:a16="http://schemas.microsoft.com/office/drawing/2014/main" id="{C57ADEC3-13D5-40FC-A893-3C84E2DF8C2D}"/>
              </a:ext>
            </a:extLst>
          </p:cNvPr>
          <p:cNvSpPr>
            <a:spLocks xmlns:a="http://schemas.openxmlformats.org/drawingml/2006/main" noGrp="1"/>
          </p:cNvSpPr>
          <p:nvPr/>
        </p:nvSpPr>
        <p:spPr>
          <a:xfrm xmlns:a="http://schemas.openxmlformats.org/drawingml/2006/main">
            <a:off x="4514850" y="8096250"/>
            <a:ext cx="1981200" cy="514350"/>
          </a:xfrm>
          <a:prstGeom xmlns:a="http://schemas.openxmlformats.org/drawingml/2006/main" prst="roundRect">
            <a:avLst>
              <a:gd name="adj" fmla="val 14815"/>
            </a:avLst>
          </a:prstGeom>
          <a:solidFill xmlns:a="http://schemas.openxmlformats.org/drawingml/2006/main">
            <a:srgbClr val="DFF2ED"/>
          </a:solidFill>
          <a:ln xmlns:a="http://schemas.openxmlformats.org/drawingml/2006/main" w="9525">
            <a:solidFill>
              <a:srgbClr val="C8DCD7"/>
            </a:solidFill>
            <a:prstDash val="solid"/>
          </a:ln>
        </p:spPr>
      </p:sp>
      <p:sp>
        <p:nvSpPr>
          <p:cNvPr id="61" name="">
            <a:extLst xmlns:a="http://schemas.openxmlformats.org/drawingml/2006/main">
              <a:ext uri="{FF2B5EF4-FFF2-40B4-BE49-F238E27FC236}">
                <a16:creationId xmlns:a16="http://schemas.microsoft.com/office/drawing/2014/main" id="{0586A13C-7DD5-49F1-BF91-83B42E37D043}"/>
              </a:ext>
            </a:extLst>
          </p:cNvPr>
          <p:cNvSpPr>
            <a:spLocks xmlns:a="http://schemas.openxmlformats.org/drawingml/2006/main" noGrp="1"/>
          </p:cNvSpPr>
          <p:nvPr/>
        </p:nvSpPr>
        <p:spPr>
          <a:xfrm xmlns:a="http://schemas.openxmlformats.org/drawingml/2006/main">
            <a:off x="4572000" y="814387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28A596"/>
                </a:solidFill>
              </a:defRPr>
            </a:pPr>
            <a:r>
              <a:rPr sz="675" b="1">
                <a:solidFill>
                  <a:srgbClr val="28A596"/>
                </a:solidFill>
              </a:rPr>
              <a:t>03</a:t>
            </a:r>
          </a:p>
        </p:txBody>
      </p:sp>
      <p:sp>
        <p:nvSpPr>
          <p:cNvPr id="62" name="">
            <a:extLst xmlns:a="http://schemas.openxmlformats.org/drawingml/2006/main">
              <a:ext uri="{FF2B5EF4-FFF2-40B4-BE49-F238E27FC236}">
                <a16:creationId xmlns:a16="http://schemas.microsoft.com/office/drawing/2014/main" id="{9CE58179-3119-4E57-AC10-7E59E4EF3377}"/>
              </a:ext>
            </a:extLst>
          </p:cNvPr>
          <p:cNvSpPr>
            <a:spLocks xmlns:a="http://schemas.openxmlformats.org/drawingml/2006/main" noGrp="1"/>
          </p:cNvSpPr>
          <p:nvPr/>
        </p:nvSpPr>
        <p:spPr>
          <a:xfrm xmlns:a="http://schemas.openxmlformats.org/drawingml/2006/main">
            <a:off x="4895850" y="813435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1">
                <a:solidFill>
                  <a:srgbClr val="183B39"/>
                </a:solidFill>
              </a:defRPr>
            </a:pPr>
            <a:r>
              <a:rPr sz="713" b="1">
                <a:solidFill>
                  <a:srgbClr val="183B39"/>
                </a:solidFill>
              </a:rPr>
              <a:t>Flow conversion is 83.6% for July.</a:t>
            </a:r>
          </a:p>
        </p:txBody>
      </p:sp>
      <p:sp>
        <p:nvSpPr>
          <p:cNvPr id="63" name="">
            <a:extLst xmlns:a="http://schemas.openxmlformats.org/drawingml/2006/main">
              <a:ext uri="{FF2B5EF4-FFF2-40B4-BE49-F238E27FC236}">
                <a16:creationId xmlns:a16="http://schemas.microsoft.com/office/drawing/2014/main" id="{D5FE5B3C-9F12-4553-A999-739ADBE7D2BA}"/>
              </a:ext>
            </a:extLst>
          </p:cNvPr>
          <p:cNvSpPr>
            <a:spLocks xmlns:a="http://schemas.openxmlformats.org/drawingml/2006/main" noGrp="1"/>
          </p:cNvSpPr>
          <p:nvPr/>
        </p:nvSpPr>
        <p:spPr>
          <a:xfrm xmlns:a="http://schemas.openxmlformats.org/drawingml/2006/main">
            <a:off x="361950" y="8686800"/>
            <a:ext cx="1981200" cy="514350"/>
          </a:xfrm>
          <a:prstGeom xmlns:a="http://schemas.openxmlformats.org/drawingml/2006/main" prst="roundRect">
            <a:avLst>
              <a:gd name="adj" fmla="val 14815"/>
            </a:avLst>
          </a:prstGeom>
          <a:solidFill xmlns:a="http://schemas.openxmlformats.org/drawingml/2006/main">
            <a:srgbClr val="DFF2ED"/>
          </a:solidFill>
          <a:ln xmlns:a="http://schemas.openxmlformats.org/drawingml/2006/main" w="9525">
            <a:solidFill>
              <a:srgbClr val="C8DCD7"/>
            </a:solidFill>
            <a:prstDash val="solid"/>
          </a:ln>
        </p:spPr>
      </p:sp>
      <p:sp>
        <p:nvSpPr>
          <p:cNvPr id="64" name="">
            <a:extLst xmlns:a="http://schemas.openxmlformats.org/drawingml/2006/main">
              <a:ext uri="{FF2B5EF4-FFF2-40B4-BE49-F238E27FC236}">
                <a16:creationId xmlns:a16="http://schemas.microsoft.com/office/drawing/2014/main" id="{8AEE4A82-B513-4164-8C77-ECB4739BCDE3}"/>
              </a:ext>
            </a:extLst>
          </p:cNvPr>
          <p:cNvSpPr>
            <a:spLocks xmlns:a="http://schemas.openxmlformats.org/drawingml/2006/main" noGrp="1"/>
          </p:cNvSpPr>
          <p:nvPr/>
        </p:nvSpPr>
        <p:spPr>
          <a:xfrm xmlns:a="http://schemas.openxmlformats.org/drawingml/2006/main">
            <a:off x="419100" y="873442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28A596"/>
                </a:solidFill>
              </a:defRPr>
            </a:pPr>
            <a:r>
              <a:rPr sz="675" b="1">
                <a:solidFill>
                  <a:srgbClr val="28A596"/>
                </a:solidFill>
              </a:rPr>
              <a:t>04</a:t>
            </a:r>
          </a:p>
        </p:txBody>
      </p:sp>
      <p:sp>
        <p:nvSpPr>
          <p:cNvPr id="65" name="">
            <a:extLst xmlns:a="http://schemas.openxmlformats.org/drawingml/2006/main">
              <a:ext uri="{FF2B5EF4-FFF2-40B4-BE49-F238E27FC236}">
                <a16:creationId xmlns:a16="http://schemas.microsoft.com/office/drawing/2014/main" id="{71D7058C-6BA7-4862-8916-3BBBCAF992A7}"/>
              </a:ext>
            </a:extLst>
          </p:cNvPr>
          <p:cNvSpPr>
            <a:spLocks xmlns:a="http://schemas.openxmlformats.org/drawingml/2006/main" noGrp="1"/>
          </p:cNvSpPr>
          <p:nvPr/>
        </p:nvSpPr>
        <p:spPr>
          <a:xfrm xmlns:a="http://schemas.openxmlformats.org/drawingml/2006/main">
            <a:off x="742950" y="872490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0">
                <a:solidFill>
                  <a:srgbClr val="183B39"/>
                </a:solidFill>
              </a:defRPr>
            </a:pPr>
            <a:r>
              <a:rPr sz="713" b="0">
                <a:solidFill>
                  <a:srgbClr val="183B39"/>
                </a:solidFill>
              </a:rPr>
              <a:t>The same-period flow gap is ₹1.61 Cr.</a:t>
            </a:r>
          </a:p>
        </p:txBody>
      </p:sp>
      <p:sp>
        <p:nvSpPr>
          <p:cNvPr id="66" name="">
            <a:extLst xmlns:a="http://schemas.openxmlformats.org/drawingml/2006/main">
              <a:ext uri="{FF2B5EF4-FFF2-40B4-BE49-F238E27FC236}">
                <a16:creationId xmlns:a16="http://schemas.microsoft.com/office/drawing/2014/main" id="{DEF243C3-0D70-45AD-B480-95C780B010A6}"/>
              </a:ext>
            </a:extLst>
          </p:cNvPr>
          <p:cNvSpPr>
            <a:spLocks xmlns:a="http://schemas.openxmlformats.org/drawingml/2006/main" noGrp="1"/>
          </p:cNvSpPr>
          <p:nvPr/>
        </p:nvSpPr>
        <p:spPr>
          <a:xfrm xmlns:a="http://schemas.openxmlformats.org/drawingml/2006/main">
            <a:off x="2438400" y="8686800"/>
            <a:ext cx="1981200" cy="514350"/>
          </a:xfrm>
          <a:prstGeom xmlns:a="http://schemas.openxmlformats.org/drawingml/2006/main" prst="roundRect">
            <a:avLst>
              <a:gd name="adj" fmla="val 14815"/>
            </a:avLst>
          </a:prstGeom>
          <a:solidFill xmlns:a="http://schemas.openxmlformats.org/drawingml/2006/main">
            <a:srgbClr val="DFF2ED"/>
          </a:solidFill>
          <a:ln xmlns:a="http://schemas.openxmlformats.org/drawingml/2006/main" w="9525">
            <a:solidFill>
              <a:srgbClr val="C8DCD7"/>
            </a:solidFill>
            <a:prstDash val="solid"/>
          </a:ln>
        </p:spPr>
      </p:sp>
      <p:sp>
        <p:nvSpPr>
          <p:cNvPr id="67" name="">
            <a:extLst xmlns:a="http://schemas.openxmlformats.org/drawingml/2006/main">
              <a:ext uri="{FF2B5EF4-FFF2-40B4-BE49-F238E27FC236}">
                <a16:creationId xmlns:a16="http://schemas.microsoft.com/office/drawing/2014/main" id="{ED95CE25-3EEA-42D2-842A-31A263F46F1A}"/>
              </a:ext>
            </a:extLst>
          </p:cNvPr>
          <p:cNvSpPr>
            <a:spLocks xmlns:a="http://schemas.openxmlformats.org/drawingml/2006/main" noGrp="1"/>
          </p:cNvSpPr>
          <p:nvPr/>
        </p:nvSpPr>
        <p:spPr>
          <a:xfrm xmlns:a="http://schemas.openxmlformats.org/drawingml/2006/main">
            <a:off x="2495550" y="873442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28A596"/>
                </a:solidFill>
              </a:defRPr>
            </a:pPr>
            <a:r>
              <a:rPr sz="675" b="1">
                <a:solidFill>
                  <a:srgbClr val="28A596"/>
                </a:solidFill>
              </a:rPr>
              <a:t>05</a:t>
            </a:r>
          </a:p>
        </p:txBody>
      </p:sp>
      <p:sp>
        <p:nvSpPr>
          <p:cNvPr id="68" name="">
            <a:extLst xmlns:a="http://schemas.openxmlformats.org/drawingml/2006/main">
              <a:ext uri="{FF2B5EF4-FFF2-40B4-BE49-F238E27FC236}">
                <a16:creationId xmlns:a16="http://schemas.microsoft.com/office/drawing/2014/main" id="{D5F8DFB8-0FA1-4D0C-B881-2441A53CA85E}"/>
              </a:ext>
            </a:extLst>
          </p:cNvPr>
          <p:cNvSpPr>
            <a:spLocks xmlns:a="http://schemas.openxmlformats.org/drawingml/2006/main" noGrp="1"/>
          </p:cNvSpPr>
          <p:nvPr/>
        </p:nvSpPr>
        <p:spPr>
          <a:xfrm xmlns:a="http://schemas.openxmlformats.org/drawingml/2006/main">
            <a:off x="2819400" y="872490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0">
                <a:solidFill>
                  <a:srgbClr val="183B39"/>
                </a:solidFill>
              </a:defRPr>
            </a:pPr>
            <a:r>
              <a:rPr sz="713" b="0">
                <a:solidFill>
                  <a:srgbClr val="183B39"/>
                </a:solidFill>
              </a:rPr>
              <a:t>South-1 ranks #2 by national offtake.</a:t>
            </a:r>
          </a:p>
        </p:txBody>
      </p:sp>
      <p:sp>
        <p:nvSpPr>
          <p:cNvPr id="69" name="">
            <a:extLst xmlns:a="http://schemas.openxmlformats.org/drawingml/2006/main">
              <a:ext uri="{FF2B5EF4-FFF2-40B4-BE49-F238E27FC236}">
                <a16:creationId xmlns:a16="http://schemas.microsoft.com/office/drawing/2014/main" id="{1E530C85-50D2-4716-9B6F-5FEBBEF9AB0D}"/>
              </a:ext>
            </a:extLst>
          </p:cNvPr>
          <p:cNvSpPr>
            <a:spLocks xmlns:a="http://schemas.openxmlformats.org/drawingml/2006/main" noGrp="1"/>
          </p:cNvSpPr>
          <p:nvPr/>
        </p:nvSpPr>
        <p:spPr>
          <a:xfrm xmlns:a="http://schemas.openxmlformats.org/drawingml/2006/main">
            <a:off x="4514850" y="8686800"/>
            <a:ext cx="1981200" cy="514350"/>
          </a:xfrm>
          <a:prstGeom xmlns:a="http://schemas.openxmlformats.org/drawingml/2006/main" prst="roundRect">
            <a:avLst>
              <a:gd name="adj" fmla="val 14815"/>
            </a:avLst>
          </a:prstGeom>
          <a:solidFill xmlns:a="http://schemas.openxmlformats.org/drawingml/2006/main">
            <a:srgbClr val="FFFFFF"/>
          </a:solidFill>
          <a:ln xmlns:a="http://schemas.openxmlformats.org/drawingml/2006/main" w="9525">
            <a:solidFill>
              <a:srgbClr val="C8DCD7"/>
            </a:solidFill>
            <a:prstDash val="solid"/>
          </a:ln>
        </p:spPr>
      </p:sp>
      <p:sp>
        <p:nvSpPr>
          <p:cNvPr id="70" name="">
            <a:extLst xmlns:a="http://schemas.openxmlformats.org/drawingml/2006/main">
              <a:ext uri="{FF2B5EF4-FFF2-40B4-BE49-F238E27FC236}">
                <a16:creationId xmlns:a16="http://schemas.microsoft.com/office/drawing/2014/main" id="{566C320F-2AAE-4129-90AB-9317F4B9D221}"/>
              </a:ext>
            </a:extLst>
          </p:cNvPr>
          <p:cNvSpPr>
            <a:spLocks xmlns:a="http://schemas.openxmlformats.org/drawingml/2006/main" noGrp="1"/>
          </p:cNvSpPr>
          <p:nvPr/>
        </p:nvSpPr>
        <p:spPr>
          <a:xfrm xmlns:a="http://schemas.openxmlformats.org/drawingml/2006/main">
            <a:off x="4572000" y="873442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D6544D"/>
                </a:solidFill>
              </a:defRPr>
            </a:pPr>
            <a:r>
              <a:rPr sz="675" b="1">
                <a:solidFill>
                  <a:srgbClr val="D6544D"/>
                </a:solidFill>
              </a:rPr>
              <a:t>06</a:t>
            </a:r>
          </a:p>
        </p:txBody>
      </p:sp>
      <p:sp>
        <p:nvSpPr>
          <p:cNvPr id="71" name="">
            <a:extLst xmlns:a="http://schemas.openxmlformats.org/drawingml/2006/main">
              <a:ext uri="{FF2B5EF4-FFF2-40B4-BE49-F238E27FC236}">
                <a16:creationId xmlns:a16="http://schemas.microsoft.com/office/drawing/2014/main" id="{FE698D94-8D96-4454-9AFD-B870209264A0}"/>
              </a:ext>
            </a:extLst>
          </p:cNvPr>
          <p:cNvSpPr>
            <a:spLocks xmlns:a="http://schemas.openxmlformats.org/drawingml/2006/main" noGrp="1"/>
          </p:cNvSpPr>
          <p:nvPr/>
        </p:nvSpPr>
        <p:spPr>
          <a:xfrm xmlns:a="http://schemas.openxmlformats.org/drawingml/2006/main">
            <a:off x="4895850" y="872490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0">
                <a:solidFill>
                  <a:srgbClr val="183B39"/>
                </a:solidFill>
              </a:defRPr>
            </a:pPr>
            <a:r>
              <a:rPr sz="713" b="0">
                <a:solidFill>
                  <a:srgbClr val="183B39"/>
                </a:solidFill>
              </a:rPr>
              <a:t>Karnataka ranks #1 with ₹4.10 Cr offtake.</a:t>
            </a:r>
          </a:p>
        </p:txBody>
      </p:sp>
      <p:sp>
        <p:nvSpPr>
          <p:cNvPr id="72" name="">
            <a:extLst xmlns:a="http://schemas.openxmlformats.org/drawingml/2006/main">
              <a:ext uri="{FF2B5EF4-FFF2-40B4-BE49-F238E27FC236}">
                <a16:creationId xmlns:a16="http://schemas.microsoft.com/office/drawing/2014/main" id="{50BE661E-C220-4C7E-92A5-23276998B351}"/>
              </a:ext>
            </a:extLst>
          </p:cNvPr>
          <p:cNvSpPr>
            <a:spLocks xmlns:a="http://schemas.openxmlformats.org/drawingml/2006/main" noGrp="1"/>
          </p:cNvSpPr>
          <p:nvPr/>
        </p:nvSpPr>
        <p:spPr>
          <a:xfrm xmlns:a="http://schemas.openxmlformats.org/drawingml/2006/main">
            <a:off x="361950" y="9277350"/>
            <a:ext cx="1981200" cy="514350"/>
          </a:xfrm>
          <a:prstGeom xmlns:a="http://schemas.openxmlformats.org/drawingml/2006/main" prst="roundRect">
            <a:avLst>
              <a:gd name="adj" fmla="val 14815"/>
            </a:avLst>
          </a:prstGeom>
          <a:solidFill xmlns:a="http://schemas.openxmlformats.org/drawingml/2006/main">
            <a:srgbClr val="FFFFFF"/>
          </a:solidFill>
          <a:ln xmlns:a="http://schemas.openxmlformats.org/drawingml/2006/main" w="9525">
            <a:solidFill>
              <a:srgbClr val="C8DCD7"/>
            </a:solidFill>
            <a:prstDash val="solid"/>
          </a:ln>
        </p:spPr>
      </p:sp>
      <p:sp>
        <p:nvSpPr>
          <p:cNvPr id="73" name="">
            <a:extLst xmlns:a="http://schemas.openxmlformats.org/drawingml/2006/main">
              <a:ext uri="{FF2B5EF4-FFF2-40B4-BE49-F238E27FC236}">
                <a16:creationId xmlns:a16="http://schemas.microsoft.com/office/drawing/2014/main" id="{ACE98DD0-6360-4F04-8613-4D4378579790}"/>
              </a:ext>
            </a:extLst>
          </p:cNvPr>
          <p:cNvSpPr>
            <a:spLocks xmlns:a="http://schemas.openxmlformats.org/drawingml/2006/main" noGrp="1"/>
          </p:cNvSpPr>
          <p:nvPr/>
        </p:nvSpPr>
        <p:spPr>
          <a:xfrm xmlns:a="http://schemas.openxmlformats.org/drawingml/2006/main">
            <a:off x="419100" y="932497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D6544D"/>
                </a:solidFill>
              </a:defRPr>
            </a:pPr>
            <a:r>
              <a:rPr sz="675" b="1">
                <a:solidFill>
                  <a:srgbClr val="D6544D"/>
                </a:solidFill>
              </a:rPr>
              <a:t>07</a:t>
            </a:r>
          </a:p>
        </p:txBody>
      </p:sp>
      <p:sp>
        <p:nvSpPr>
          <p:cNvPr id="74" name="">
            <a:extLst xmlns:a="http://schemas.openxmlformats.org/drawingml/2006/main">
              <a:ext uri="{FF2B5EF4-FFF2-40B4-BE49-F238E27FC236}">
                <a16:creationId xmlns:a16="http://schemas.microsoft.com/office/drawing/2014/main" id="{2B3F2375-0CDF-4EDF-9E4A-2F82BD69832B}"/>
              </a:ext>
            </a:extLst>
          </p:cNvPr>
          <p:cNvSpPr>
            <a:spLocks xmlns:a="http://schemas.openxmlformats.org/drawingml/2006/main" noGrp="1"/>
          </p:cNvSpPr>
          <p:nvPr/>
        </p:nvSpPr>
        <p:spPr>
          <a:xfrm xmlns:a="http://schemas.openxmlformats.org/drawingml/2006/main">
            <a:off x="742950" y="931545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0">
                <a:solidFill>
                  <a:srgbClr val="183B39"/>
                </a:solidFill>
              </a:defRPr>
            </a:pPr>
            <a:r>
              <a:rPr sz="713" b="0">
                <a:solidFill>
                  <a:srgbClr val="183B39"/>
                </a:solidFill>
              </a:rPr>
              <a:t>Tamil Nadu ranks #2 with ₹2.63 Cr offtake.</a:t>
            </a:r>
          </a:p>
        </p:txBody>
      </p:sp>
      <p:sp>
        <p:nvSpPr>
          <p:cNvPr id="75" name="">
            <a:extLst xmlns:a="http://schemas.openxmlformats.org/drawingml/2006/main">
              <a:ext uri="{FF2B5EF4-FFF2-40B4-BE49-F238E27FC236}">
                <a16:creationId xmlns:a16="http://schemas.microsoft.com/office/drawing/2014/main" id="{E72DED50-C5C0-415F-A7D3-51559E1B5960}"/>
              </a:ext>
            </a:extLst>
          </p:cNvPr>
          <p:cNvSpPr>
            <a:spLocks xmlns:a="http://schemas.openxmlformats.org/drawingml/2006/main" noGrp="1"/>
          </p:cNvSpPr>
          <p:nvPr/>
        </p:nvSpPr>
        <p:spPr>
          <a:xfrm xmlns:a="http://schemas.openxmlformats.org/drawingml/2006/main">
            <a:off x="2438400" y="9277350"/>
            <a:ext cx="1981200" cy="514350"/>
          </a:xfrm>
          <a:prstGeom xmlns:a="http://schemas.openxmlformats.org/drawingml/2006/main" prst="roundRect">
            <a:avLst>
              <a:gd name="adj" fmla="val 14815"/>
            </a:avLst>
          </a:prstGeom>
          <a:solidFill xmlns:a="http://schemas.openxmlformats.org/drawingml/2006/main">
            <a:srgbClr val="FFFFFF"/>
          </a:solidFill>
          <a:ln xmlns:a="http://schemas.openxmlformats.org/drawingml/2006/main" w="9525">
            <a:solidFill>
              <a:srgbClr val="C8DCD7"/>
            </a:solidFill>
            <a:prstDash val="solid"/>
          </a:ln>
        </p:spPr>
      </p:sp>
      <p:sp>
        <p:nvSpPr>
          <p:cNvPr id="76" name="">
            <a:extLst xmlns:a="http://schemas.openxmlformats.org/drawingml/2006/main">
              <a:ext uri="{FF2B5EF4-FFF2-40B4-BE49-F238E27FC236}">
                <a16:creationId xmlns:a16="http://schemas.microsoft.com/office/drawing/2014/main" id="{296BC5B0-430E-4246-B862-57511091F000}"/>
              </a:ext>
            </a:extLst>
          </p:cNvPr>
          <p:cNvSpPr>
            <a:spLocks xmlns:a="http://schemas.openxmlformats.org/drawingml/2006/main" noGrp="1"/>
          </p:cNvSpPr>
          <p:nvPr/>
        </p:nvSpPr>
        <p:spPr>
          <a:xfrm xmlns:a="http://schemas.openxmlformats.org/drawingml/2006/main">
            <a:off x="2495550" y="932497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D6544D"/>
                </a:solidFill>
              </a:defRPr>
            </a:pPr>
            <a:r>
              <a:rPr sz="675" b="1">
                <a:solidFill>
                  <a:srgbClr val="D6544D"/>
                </a:solidFill>
              </a:rPr>
              <a:t>08</a:t>
            </a:r>
          </a:p>
        </p:txBody>
      </p:sp>
      <p:sp>
        <p:nvSpPr>
          <p:cNvPr id="77" name="">
            <a:extLst xmlns:a="http://schemas.openxmlformats.org/drawingml/2006/main">
              <a:ext uri="{FF2B5EF4-FFF2-40B4-BE49-F238E27FC236}">
                <a16:creationId xmlns:a16="http://schemas.microsoft.com/office/drawing/2014/main" id="{A7D71CC3-A436-4040-8DEE-7E2B048EBC90}"/>
              </a:ext>
            </a:extLst>
          </p:cNvPr>
          <p:cNvSpPr>
            <a:spLocks xmlns:a="http://schemas.openxmlformats.org/drawingml/2006/main" noGrp="1"/>
          </p:cNvSpPr>
          <p:nvPr/>
        </p:nvSpPr>
        <p:spPr>
          <a:xfrm xmlns:a="http://schemas.openxmlformats.org/drawingml/2006/main">
            <a:off x="2819400" y="931545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0">
                <a:solidFill>
                  <a:srgbClr val="183B39"/>
                </a:solidFill>
              </a:defRPr>
            </a:pPr>
            <a:r>
              <a:rPr sz="713" b="0">
                <a:solidFill>
                  <a:srgbClr val="183B39"/>
                </a:solidFill>
              </a:rPr>
              <a:t>Kerala ranks #3 with ₹1.17 Cr offtake.</a:t>
            </a:r>
          </a:p>
        </p:txBody>
      </p:sp>
      <p:sp>
        <p:nvSpPr>
          <p:cNvPr id="78" name="">
            <a:extLst xmlns:a="http://schemas.openxmlformats.org/drawingml/2006/main">
              <a:ext uri="{FF2B5EF4-FFF2-40B4-BE49-F238E27FC236}">
                <a16:creationId xmlns:a16="http://schemas.microsoft.com/office/drawing/2014/main" id="{D69ED69E-B90D-4048-9B2D-32FC8EF2CCD8}"/>
              </a:ext>
            </a:extLst>
          </p:cNvPr>
          <p:cNvSpPr>
            <a:spLocks xmlns:a="http://schemas.openxmlformats.org/drawingml/2006/main" noGrp="1"/>
          </p:cNvSpPr>
          <p:nvPr/>
        </p:nvSpPr>
        <p:spPr>
          <a:xfrm xmlns:a="http://schemas.openxmlformats.org/drawingml/2006/main">
            <a:off x="4514850" y="9277350"/>
            <a:ext cx="1981200" cy="514350"/>
          </a:xfrm>
          <a:prstGeom xmlns:a="http://schemas.openxmlformats.org/drawingml/2006/main" prst="roundRect">
            <a:avLst>
              <a:gd name="adj" fmla="val 14815"/>
            </a:avLst>
          </a:prstGeom>
          <a:solidFill xmlns:a="http://schemas.openxmlformats.org/drawingml/2006/main">
            <a:srgbClr val="FFFFFF"/>
          </a:solidFill>
          <a:ln xmlns:a="http://schemas.openxmlformats.org/drawingml/2006/main" w="9525">
            <a:solidFill>
              <a:srgbClr val="C8DCD7"/>
            </a:solidFill>
            <a:prstDash val="solid"/>
          </a:ln>
        </p:spPr>
      </p:sp>
      <p:sp>
        <p:nvSpPr>
          <p:cNvPr id="79" name="">
            <a:extLst xmlns:a="http://schemas.openxmlformats.org/drawingml/2006/main">
              <a:ext uri="{FF2B5EF4-FFF2-40B4-BE49-F238E27FC236}">
                <a16:creationId xmlns:a16="http://schemas.microsoft.com/office/drawing/2014/main" id="{87AB2988-380E-4926-9834-B63F461FE19A}"/>
              </a:ext>
            </a:extLst>
          </p:cNvPr>
          <p:cNvSpPr>
            <a:spLocks xmlns:a="http://schemas.openxmlformats.org/drawingml/2006/main" noGrp="1"/>
          </p:cNvSpPr>
          <p:nvPr/>
        </p:nvSpPr>
        <p:spPr>
          <a:xfrm xmlns:a="http://schemas.openxmlformats.org/drawingml/2006/main">
            <a:off x="4572000" y="932497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D6544D"/>
                </a:solidFill>
              </a:defRPr>
            </a:pPr>
            <a:r>
              <a:rPr sz="675" b="1">
                <a:solidFill>
                  <a:srgbClr val="D6544D"/>
                </a:solidFill>
              </a:rPr>
              <a:t>09</a:t>
            </a:r>
          </a:p>
        </p:txBody>
      </p:sp>
      <p:sp>
        <p:nvSpPr>
          <p:cNvPr id="80" name="">
            <a:extLst xmlns:a="http://schemas.openxmlformats.org/drawingml/2006/main">
              <a:ext uri="{FF2B5EF4-FFF2-40B4-BE49-F238E27FC236}">
                <a16:creationId xmlns:a16="http://schemas.microsoft.com/office/drawing/2014/main" id="{560B6B79-3D02-47E1-AC4A-7899F5C1E38C}"/>
              </a:ext>
            </a:extLst>
          </p:cNvPr>
          <p:cNvSpPr>
            <a:spLocks xmlns:a="http://schemas.openxmlformats.org/drawingml/2006/main" noGrp="1"/>
          </p:cNvSpPr>
          <p:nvPr/>
        </p:nvSpPr>
        <p:spPr>
          <a:xfrm xmlns:a="http://schemas.openxmlformats.org/drawingml/2006/main">
            <a:off x="4895850" y="931545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0">
                <a:solidFill>
                  <a:srgbClr val="183B39"/>
                </a:solidFill>
              </a:defRPr>
            </a:pPr>
            <a:r>
              <a:rPr sz="713" b="0">
                <a:solidFill>
                  <a:srgbClr val="183B39"/>
                </a:solidFill>
              </a:rPr>
              <a:t>The leading state contributes 50.1% of zone offtake.</a:t>
            </a:r>
          </a:p>
        </p:txBody>
      </p:sp>
      <p:sp>
        <p:nvSpPr>
          <p:cNvPr id="81" name="">
            <a:extLst xmlns:a="http://schemas.openxmlformats.org/drawingml/2006/main">
              <a:ext uri="{FF2B5EF4-FFF2-40B4-BE49-F238E27FC236}">
                <a16:creationId xmlns:a16="http://schemas.microsoft.com/office/drawing/2014/main" id="{CF17A5A6-410C-4D9A-9EF7-C35FD85BB676}"/>
              </a:ext>
            </a:extLst>
          </p:cNvPr>
          <p:cNvSpPr>
            <a:spLocks xmlns:a="http://schemas.openxmlformats.org/drawingml/2006/main" noGrp="1"/>
          </p:cNvSpPr>
          <p:nvPr/>
        </p:nvSpPr>
        <p:spPr>
          <a:xfrm xmlns:a="http://schemas.openxmlformats.org/drawingml/2006/main">
            <a:off x="361950" y="9867900"/>
            <a:ext cx="1981200" cy="514350"/>
          </a:xfrm>
          <a:prstGeom xmlns:a="http://schemas.openxmlformats.org/drawingml/2006/main" prst="roundRect">
            <a:avLst>
              <a:gd name="adj" fmla="val 14815"/>
            </a:avLst>
          </a:prstGeom>
          <a:solidFill xmlns:a="http://schemas.openxmlformats.org/drawingml/2006/main">
            <a:srgbClr val="FFFFFF"/>
          </a:solidFill>
          <a:ln xmlns:a="http://schemas.openxmlformats.org/drawingml/2006/main" w="9525">
            <a:solidFill>
              <a:srgbClr val="C8DCD7"/>
            </a:solidFill>
            <a:prstDash val="solid"/>
          </a:ln>
        </p:spPr>
      </p:sp>
      <p:sp>
        <p:nvSpPr>
          <p:cNvPr id="82" name="">
            <a:extLst xmlns:a="http://schemas.openxmlformats.org/drawingml/2006/main">
              <a:ext uri="{FF2B5EF4-FFF2-40B4-BE49-F238E27FC236}">
                <a16:creationId xmlns:a16="http://schemas.microsoft.com/office/drawing/2014/main" id="{FFD425C3-C2E8-4C56-8B88-046BA2CE44F7}"/>
              </a:ext>
            </a:extLst>
          </p:cNvPr>
          <p:cNvSpPr>
            <a:spLocks xmlns:a="http://schemas.openxmlformats.org/drawingml/2006/main" noGrp="1"/>
          </p:cNvSpPr>
          <p:nvPr/>
        </p:nvSpPr>
        <p:spPr>
          <a:xfrm xmlns:a="http://schemas.openxmlformats.org/drawingml/2006/main">
            <a:off x="419100" y="991552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D6544D"/>
                </a:solidFill>
              </a:defRPr>
            </a:pPr>
            <a:r>
              <a:rPr sz="675" b="1">
                <a:solidFill>
                  <a:srgbClr val="D6544D"/>
                </a:solidFill>
              </a:rPr>
              <a:t>10</a:t>
            </a:r>
          </a:p>
        </p:txBody>
      </p:sp>
      <p:sp>
        <p:nvSpPr>
          <p:cNvPr id="83" name="">
            <a:extLst xmlns:a="http://schemas.openxmlformats.org/drawingml/2006/main">
              <a:ext uri="{FF2B5EF4-FFF2-40B4-BE49-F238E27FC236}">
                <a16:creationId xmlns:a16="http://schemas.microsoft.com/office/drawing/2014/main" id="{DCDB5ABD-3620-4DF2-85E8-23FCDAA23E22}"/>
              </a:ext>
            </a:extLst>
          </p:cNvPr>
          <p:cNvSpPr>
            <a:spLocks xmlns:a="http://schemas.openxmlformats.org/drawingml/2006/main" noGrp="1"/>
          </p:cNvSpPr>
          <p:nvPr/>
        </p:nvSpPr>
        <p:spPr>
          <a:xfrm xmlns:a="http://schemas.openxmlformats.org/drawingml/2006/main">
            <a:off x="742950" y="990600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0">
                <a:solidFill>
                  <a:srgbClr val="183B39"/>
                </a:solidFill>
              </a:defRPr>
            </a:pPr>
            <a:r>
              <a:rPr sz="713" b="0">
                <a:solidFill>
                  <a:srgbClr val="183B39"/>
                </a:solidFill>
              </a:rPr>
              <a:t>The top three states contribute 96.5% of zone offtake.</a:t>
            </a:r>
          </a:p>
        </p:txBody>
      </p:sp>
      <p:sp>
        <p:nvSpPr>
          <p:cNvPr id="84" name="">
            <a:extLst xmlns:a="http://schemas.openxmlformats.org/drawingml/2006/main">
              <a:ext uri="{FF2B5EF4-FFF2-40B4-BE49-F238E27FC236}">
                <a16:creationId xmlns:a16="http://schemas.microsoft.com/office/drawing/2014/main" id="{9E1153FC-6A25-44D0-8304-8E7F75C2F492}"/>
              </a:ext>
            </a:extLst>
          </p:cNvPr>
          <p:cNvSpPr>
            <a:spLocks xmlns:a="http://schemas.openxmlformats.org/drawingml/2006/main" noGrp="1"/>
          </p:cNvSpPr>
          <p:nvPr/>
        </p:nvSpPr>
        <p:spPr>
          <a:xfrm xmlns:a="http://schemas.openxmlformats.org/drawingml/2006/main">
            <a:off x="2438400" y="9867900"/>
            <a:ext cx="1981200" cy="514350"/>
          </a:xfrm>
          <a:prstGeom xmlns:a="http://schemas.openxmlformats.org/drawingml/2006/main" prst="roundRect">
            <a:avLst>
              <a:gd name="adj" fmla="val 14815"/>
            </a:avLst>
          </a:prstGeom>
          <a:solidFill xmlns:a="http://schemas.openxmlformats.org/drawingml/2006/main">
            <a:srgbClr val="FFFFFF"/>
          </a:solidFill>
          <a:ln xmlns:a="http://schemas.openxmlformats.org/drawingml/2006/main" w="9525">
            <a:solidFill>
              <a:srgbClr val="C8DCD7"/>
            </a:solidFill>
            <a:prstDash val="solid"/>
          </a:ln>
        </p:spPr>
      </p:sp>
      <p:sp>
        <p:nvSpPr>
          <p:cNvPr id="85" name="">
            <a:extLst xmlns:a="http://schemas.openxmlformats.org/drawingml/2006/main">
              <a:ext uri="{FF2B5EF4-FFF2-40B4-BE49-F238E27FC236}">
                <a16:creationId xmlns:a16="http://schemas.microsoft.com/office/drawing/2014/main" id="{735A227F-6673-4CAB-A019-281EF44E68C3}"/>
              </a:ext>
            </a:extLst>
          </p:cNvPr>
          <p:cNvSpPr>
            <a:spLocks xmlns:a="http://schemas.openxmlformats.org/drawingml/2006/main" noGrp="1"/>
          </p:cNvSpPr>
          <p:nvPr/>
        </p:nvSpPr>
        <p:spPr>
          <a:xfrm xmlns:a="http://schemas.openxmlformats.org/drawingml/2006/main">
            <a:off x="2495550" y="991552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D6544D"/>
                </a:solidFill>
              </a:defRPr>
            </a:pPr>
            <a:r>
              <a:rPr sz="675" b="1">
                <a:solidFill>
                  <a:srgbClr val="D6544D"/>
                </a:solidFill>
              </a:rPr>
              <a:t>11</a:t>
            </a:r>
          </a:p>
        </p:txBody>
      </p:sp>
      <p:sp>
        <p:nvSpPr>
          <p:cNvPr id="86" name="">
            <a:extLst xmlns:a="http://schemas.openxmlformats.org/drawingml/2006/main">
              <a:ext uri="{FF2B5EF4-FFF2-40B4-BE49-F238E27FC236}">
                <a16:creationId xmlns:a16="http://schemas.microsoft.com/office/drawing/2014/main" id="{1A2771FC-59CB-47B8-8CD0-1EA25CF41A86}"/>
              </a:ext>
            </a:extLst>
          </p:cNvPr>
          <p:cNvSpPr>
            <a:spLocks xmlns:a="http://schemas.openxmlformats.org/drawingml/2006/main" noGrp="1"/>
          </p:cNvSpPr>
          <p:nvPr/>
        </p:nvSpPr>
        <p:spPr>
          <a:xfrm xmlns:a="http://schemas.openxmlformats.org/drawingml/2006/main">
            <a:off x="2819400" y="990600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0">
                <a:solidFill>
                  <a:srgbClr val="183B39"/>
                </a:solidFill>
              </a:defRPr>
            </a:pPr>
            <a:r>
              <a:rPr sz="713" b="0">
                <a:solidFill>
                  <a:srgbClr val="183B39"/>
                </a:solidFill>
              </a:rPr>
              <a:t>Apollo: ₹2.84 Cr offtake; 81.0%.</a:t>
            </a:r>
          </a:p>
        </p:txBody>
      </p:sp>
      <p:sp>
        <p:nvSpPr>
          <p:cNvPr id="87" name="">
            <a:extLst xmlns:a="http://schemas.openxmlformats.org/drawingml/2006/main">
              <a:ext uri="{FF2B5EF4-FFF2-40B4-BE49-F238E27FC236}">
                <a16:creationId xmlns:a16="http://schemas.microsoft.com/office/drawing/2014/main" id="{18E14DEC-8151-4A7D-A317-93DE48D3D429}"/>
              </a:ext>
            </a:extLst>
          </p:cNvPr>
          <p:cNvSpPr>
            <a:spLocks xmlns:a="http://schemas.openxmlformats.org/drawingml/2006/main" noGrp="1"/>
          </p:cNvSpPr>
          <p:nvPr/>
        </p:nvSpPr>
        <p:spPr>
          <a:xfrm xmlns:a="http://schemas.openxmlformats.org/drawingml/2006/main">
            <a:off x="4514850" y="9867900"/>
            <a:ext cx="1981200" cy="514350"/>
          </a:xfrm>
          <a:prstGeom xmlns:a="http://schemas.openxmlformats.org/drawingml/2006/main" prst="roundRect">
            <a:avLst>
              <a:gd name="adj" fmla="val 14815"/>
            </a:avLst>
          </a:prstGeom>
          <a:solidFill xmlns:a="http://schemas.openxmlformats.org/drawingml/2006/main">
            <a:srgbClr val="FFFFFF"/>
          </a:solidFill>
          <a:ln xmlns:a="http://schemas.openxmlformats.org/drawingml/2006/main" w="9525">
            <a:solidFill>
              <a:srgbClr val="C8DCD7"/>
            </a:solidFill>
            <a:prstDash val="solid"/>
          </a:ln>
        </p:spPr>
      </p:sp>
      <p:sp>
        <p:nvSpPr>
          <p:cNvPr id="88" name="">
            <a:extLst xmlns:a="http://schemas.openxmlformats.org/drawingml/2006/main">
              <a:ext uri="{FF2B5EF4-FFF2-40B4-BE49-F238E27FC236}">
                <a16:creationId xmlns:a16="http://schemas.microsoft.com/office/drawing/2014/main" id="{9951E91D-B328-4826-A087-03DA0C2023CA}"/>
              </a:ext>
            </a:extLst>
          </p:cNvPr>
          <p:cNvSpPr>
            <a:spLocks xmlns:a="http://schemas.openxmlformats.org/drawingml/2006/main" noGrp="1"/>
          </p:cNvSpPr>
          <p:nvPr/>
        </p:nvSpPr>
        <p:spPr>
          <a:xfrm xmlns:a="http://schemas.openxmlformats.org/drawingml/2006/main">
            <a:off x="4572000" y="991552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D6544D"/>
                </a:solidFill>
              </a:defRPr>
            </a:pPr>
            <a:r>
              <a:rPr sz="675" b="1">
                <a:solidFill>
                  <a:srgbClr val="D6544D"/>
                </a:solidFill>
              </a:rPr>
              <a:t>12</a:t>
            </a:r>
          </a:p>
        </p:txBody>
      </p:sp>
      <p:sp>
        <p:nvSpPr>
          <p:cNvPr id="89" name="">
            <a:extLst xmlns:a="http://schemas.openxmlformats.org/drawingml/2006/main">
              <a:ext uri="{FF2B5EF4-FFF2-40B4-BE49-F238E27FC236}">
                <a16:creationId xmlns:a16="http://schemas.microsoft.com/office/drawing/2014/main" id="{38724973-E076-4A09-83EE-694812FD4787}"/>
              </a:ext>
            </a:extLst>
          </p:cNvPr>
          <p:cNvSpPr>
            <a:spLocks xmlns:a="http://schemas.openxmlformats.org/drawingml/2006/main" noGrp="1"/>
          </p:cNvSpPr>
          <p:nvPr/>
        </p:nvSpPr>
        <p:spPr>
          <a:xfrm xmlns:a="http://schemas.openxmlformats.org/drawingml/2006/main">
            <a:off x="4895850" y="990600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0">
                <a:solidFill>
                  <a:srgbClr val="183B39"/>
                </a:solidFill>
              </a:defRPr>
            </a:pPr>
            <a:r>
              <a:rPr sz="713" b="0">
                <a:solidFill>
                  <a:srgbClr val="183B39"/>
                </a:solidFill>
              </a:rPr>
              <a:t>DMart: ₹2.31 Cr offtake; 74.8%.</a:t>
            </a:r>
          </a:p>
        </p:txBody>
      </p:sp>
      <p:sp>
        <p:nvSpPr>
          <p:cNvPr id="90" name="">
            <a:extLst xmlns:a="http://schemas.openxmlformats.org/drawingml/2006/main">
              <a:ext uri="{FF2B5EF4-FFF2-40B4-BE49-F238E27FC236}">
                <a16:creationId xmlns:a16="http://schemas.microsoft.com/office/drawing/2014/main" id="{82D2609D-1A64-4523-9376-2EF3F76DE005}"/>
              </a:ext>
            </a:extLst>
          </p:cNvPr>
          <p:cNvSpPr>
            <a:spLocks xmlns:a="http://schemas.openxmlformats.org/drawingml/2006/main" noGrp="1"/>
          </p:cNvSpPr>
          <p:nvPr/>
        </p:nvSpPr>
        <p:spPr>
          <a:xfrm xmlns:a="http://schemas.openxmlformats.org/drawingml/2006/main">
            <a:off x="361950" y="10458450"/>
            <a:ext cx="1981200" cy="514350"/>
          </a:xfrm>
          <a:prstGeom xmlns:a="http://schemas.openxmlformats.org/drawingml/2006/main" prst="roundRect">
            <a:avLst>
              <a:gd name="adj" fmla="val 14815"/>
            </a:avLst>
          </a:prstGeom>
          <a:solidFill xmlns:a="http://schemas.openxmlformats.org/drawingml/2006/main">
            <a:srgbClr val="FFFFFF"/>
          </a:solidFill>
          <a:ln xmlns:a="http://schemas.openxmlformats.org/drawingml/2006/main" w="9525">
            <a:solidFill>
              <a:srgbClr val="C8DCD7"/>
            </a:solidFill>
            <a:prstDash val="solid"/>
          </a:ln>
        </p:spPr>
      </p:sp>
      <p:sp>
        <p:nvSpPr>
          <p:cNvPr id="91" name="">
            <a:extLst xmlns:a="http://schemas.openxmlformats.org/drawingml/2006/main">
              <a:ext uri="{FF2B5EF4-FFF2-40B4-BE49-F238E27FC236}">
                <a16:creationId xmlns:a16="http://schemas.microsoft.com/office/drawing/2014/main" id="{CB00698A-CC8F-4FF2-8D03-EA6D67C4556C}"/>
              </a:ext>
            </a:extLst>
          </p:cNvPr>
          <p:cNvSpPr>
            <a:spLocks xmlns:a="http://schemas.openxmlformats.org/drawingml/2006/main" noGrp="1"/>
          </p:cNvSpPr>
          <p:nvPr/>
        </p:nvSpPr>
        <p:spPr>
          <a:xfrm xmlns:a="http://schemas.openxmlformats.org/drawingml/2006/main">
            <a:off x="419100" y="1050607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D6544D"/>
                </a:solidFill>
              </a:defRPr>
            </a:pPr>
            <a:r>
              <a:rPr sz="675" b="1">
                <a:solidFill>
                  <a:srgbClr val="D6544D"/>
                </a:solidFill>
              </a:rPr>
              <a:t>13</a:t>
            </a:r>
          </a:p>
        </p:txBody>
      </p:sp>
      <p:sp>
        <p:nvSpPr>
          <p:cNvPr id="92" name="">
            <a:extLst xmlns:a="http://schemas.openxmlformats.org/drawingml/2006/main">
              <a:ext uri="{FF2B5EF4-FFF2-40B4-BE49-F238E27FC236}">
                <a16:creationId xmlns:a16="http://schemas.microsoft.com/office/drawing/2014/main" id="{3F04FA5D-0145-4BC6-9035-7543AF249D0D}"/>
              </a:ext>
            </a:extLst>
          </p:cNvPr>
          <p:cNvSpPr>
            <a:spLocks xmlns:a="http://schemas.openxmlformats.org/drawingml/2006/main" noGrp="1"/>
          </p:cNvSpPr>
          <p:nvPr/>
        </p:nvSpPr>
        <p:spPr>
          <a:xfrm xmlns:a="http://schemas.openxmlformats.org/drawingml/2006/main">
            <a:off x="742950" y="1049655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0">
                <a:solidFill>
                  <a:srgbClr val="183B39"/>
                </a:solidFill>
              </a:defRPr>
            </a:pPr>
            <a:r>
              <a:rPr sz="713" b="0">
                <a:solidFill>
                  <a:srgbClr val="183B39"/>
                </a:solidFill>
              </a:rPr>
              <a:t>Lulu: ₹1.22 Cr offtake; primary comparison unavailable.</a:t>
            </a:r>
          </a:p>
        </p:txBody>
      </p:sp>
      <p:sp>
        <p:nvSpPr>
          <p:cNvPr id="93" name="">
            <a:extLst xmlns:a="http://schemas.openxmlformats.org/drawingml/2006/main">
              <a:ext uri="{FF2B5EF4-FFF2-40B4-BE49-F238E27FC236}">
                <a16:creationId xmlns:a16="http://schemas.microsoft.com/office/drawing/2014/main" id="{EEE29FB4-1FB9-466D-8C29-2413F6D08435}"/>
              </a:ext>
            </a:extLst>
          </p:cNvPr>
          <p:cNvSpPr>
            <a:spLocks xmlns:a="http://schemas.openxmlformats.org/drawingml/2006/main" noGrp="1"/>
          </p:cNvSpPr>
          <p:nvPr/>
        </p:nvSpPr>
        <p:spPr>
          <a:xfrm xmlns:a="http://schemas.openxmlformats.org/drawingml/2006/main">
            <a:off x="2438400" y="10458450"/>
            <a:ext cx="1981200" cy="514350"/>
          </a:xfrm>
          <a:prstGeom xmlns:a="http://schemas.openxmlformats.org/drawingml/2006/main" prst="roundRect">
            <a:avLst>
              <a:gd name="adj" fmla="val 14815"/>
            </a:avLst>
          </a:prstGeom>
          <a:solidFill xmlns:a="http://schemas.openxmlformats.org/drawingml/2006/main">
            <a:srgbClr val="FFFFFF"/>
          </a:solidFill>
          <a:ln xmlns:a="http://schemas.openxmlformats.org/drawingml/2006/main" w="9525">
            <a:solidFill>
              <a:srgbClr val="C8DCD7"/>
            </a:solidFill>
            <a:prstDash val="solid"/>
          </a:ln>
        </p:spPr>
      </p:sp>
      <p:sp>
        <p:nvSpPr>
          <p:cNvPr id="94" name="">
            <a:extLst xmlns:a="http://schemas.openxmlformats.org/drawingml/2006/main">
              <a:ext uri="{FF2B5EF4-FFF2-40B4-BE49-F238E27FC236}">
                <a16:creationId xmlns:a16="http://schemas.microsoft.com/office/drawing/2014/main" id="{B05824A0-11F0-471D-A4D1-656EEEDF7622}"/>
              </a:ext>
            </a:extLst>
          </p:cNvPr>
          <p:cNvSpPr>
            <a:spLocks xmlns:a="http://schemas.openxmlformats.org/drawingml/2006/main" noGrp="1"/>
          </p:cNvSpPr>
          <p:nvPr/>
        </p:nvSpPr>
        <p:spPr>
          <a:xfrm xmlns:a="http://schemas.openxmlformats.org/drawingml/2006/main">
            <a:off x="2495550" y="1050607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D6544D"/>
                </a:solidFill>
              </a:defRPr>
            </a:pPr>
            <a:r>
              <a:rPr sz="675" b="1">
                <a:solidFill>
                  <a:srgbClr val="D6544D"/>
                </a:solidFill>
              </a:rPr>
              <a:t>14</a:t>
            </a:r>
          </a:p>
        </p:txBody>
      </p:sp>
      <p:sp>
        <p:nvSpPr>
          <p:cNvPr id="95" name="">
            <a:extLst xmlns:a="http://schemas.openxmlformats.org/drawingml/2006/main">
              <a:ext uri="{FF2B5EF4-FFF2-40B4-BE49-F238E27FC236}">
                <a16:creationId xmlns:a16="http://schemas.microsoft.com/office/drawing/2014/main" id="{A4951C76-5AAB-4746-AF04-DFADDBE40269}"/>
              </a:ext>
            </a:extLst>
          </p:cNvPr>
          <p:cNvSpPr>
            <a:spLocks xmlns:a="http://schemas.openxmlformats.org/drawingml/2006/main" noGrp="1"/>
          </p:cNvSpPr>
          <p:nvPr/>
        </p:nvSpPr>
        <p:spPr>
          <a:xfrm xmlns:a="http://schemas.openxmlformats.org/drawingml/2006/main">
            <a:off x="2819400" y="1049655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0">
                <a:solidFill>
                  <a:srgbClr val="183B39"/>
                </a:solidFill>
              </a:defRPr>
            </a:pPr>
            <a:r>
              <a:rPr sz="713" b="0">
                <a:solidFill>
                  <a:srgbClr val="183B39"/>
                </a:solidFill>
              </a:rPr>
              <a:t>The leading chain contributes 34.7% of zone offtake.</a:t>
            </a:r>
          </a:p>
        </p:txBody>
      </p:sp>
      <p:sp>
        <p:nvSpPr>
          <p:cNvPr id="96" name="">
            <a:extLst xmlns:a="http://schemas.openxmlformats.org/drawingml/2006/main">
              <a:ext uri="{FF2B5EF4-FFF2-40B4-BE49-F238E27FC236}">
                <a16:creationId xmlns:a16="http://schemas.microsoft.com/office/drawing/2014/main" id="{E669E0B4-C24C-41DF-AB3E-0A5196C0B445}"/>
              </a:ext>
            </a:extLst>
          </p:cNvPr>
          <p:cNvSpPr>
            <a:spLocks xmlns:a="http://schemas.openxmlformats.org/drawingml/2006/main" noGrp="1"/>
          </p:cNvSpPr>
          <p:nvPr/>
        </p:nvSpPr>
        <p:spPr>
          <a:xfrm xmlns:a="http://schemas.openxmlformats.org/drawingml/2006/main">
            <a:off x="4514850" y="10458450"/>
            <a:ext cx="1981200" cy="514350"/>
          </a:xfrm>
          <a:prstGeom xmlns:a="http://schemas.openxmlformats.org/drawingml/2006/main" prst="roundRect">
            <a:avLst>
              <a:gd name="adj" fmla="val 14815"/>
            </a:avLst>
          </a:prstGeom>
          <a:solidFill xmlns:a="http://schemas.openxmlformats.org/drawingml/2006/main">
            <a:srgbClr val="FFFFFF"/>
          </a:solidFill>
          <a:ln xmlns:a="http://schemas.openxmlformats.org/drawingml/2006/main" w="9525">
            <a:solidFill>
              <a:srgbClr val="C8DCD7"/>
            </a:solidFill>
            <a:prstDash val="solid"/>
          </a:ln>
        </p:spPr>
      </p:sp>
      <p:sp>
        <p:nvSpPr>
          <p:cNvPr id="97" name="">
            <a:extLst xmlns:a="http://schemas.openxmlformats.org/drawingml/2006/main">
              <a:ext uri="{FF2B5EF4-FFF2-40B4-BE49-F238E27FC236}">
                <a16:creationId xmlns:a16="http://schemas.microsoft.com/office/drawing/2014/main" id="{904DD817-2421-4037-828F-C08485663F68}"/>
              </a:ext>
            </a:extLst>
          </p:cNvPr>
          <p:cNvSpPr>
            <a:spLocks xmlns:a="http://schemas.openxmlformats.org/drawingml/2006/main" noGrp="1"/>
          </p:cNvSpPr>
          <p:nvPr/>
        </p:nvSpPr>
        <p:spPr>
          <a:xfrm xmlns:a="http://schemas.openxmlformats.org/drawingml/2006/main">
            <a:off x="4572000" y="1050607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D6544D"/>
                </a:solidFill>
              </a:defRPr>
            </a:pPr>
            <a:r>
              <a:rPr sz="675" b="1">
                <a:solidFill>
                  <a:srgbClr val="D6544D"/>
                </a:solidFill>
              </a:rPr>
              <a:t>15</a:t>
            </a:r>
          </a:p>
        </p:txBody>
      </p:sp>
      <p:sp>
        <p:nvSpPr>
          <p:cNvPr id="98" name="">
            <a:extLst xmlns:a="http://schemas.openxmlformats.org/drawingml/2006/main">
              <a:ext uri="{FF2B5EF4-FFF2-40B4-BE49-F238E27FC236}">
                <a16:creationId xmlns:a16="http://schemas.microsoft.com/office/drawing/2014/main" id="{88F3A24E-3F2E-4073-BB6D-F87895BDE9A2}"/>
              </a:ext>
            </a:extLst>
          </p:cNvPr>
          <p:cNvSpPr>
            <a:spLocks xmlns:a="http://schemas.openxmlformats.org/drawingml/2006/main" noGrp="1"/>
          </p:cNvSpPr>
          <p:nvPr/>
        </p:nvSpPr>
        <p:spPr>
          <a:xfrm xmlns:a="http://schemas.openxmlformats.org/drawingml/2006/main">
            <a:off x="4895850" y="1049655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0">
                <a:solidFill>
                  <a:srgbClr val="183B39"/>
                </a:solidFill>
              </a:defRPr>
            </a:pPr>
            <a:r>
              <a:rPr sz="713" b="0">
                <a:solidFill>
                  <a:srgbClr val="183B39"/>
                </a:solidFill>
              </a:rPr>
              <a:t>The top three chains contribute 77.8% of zone offtake.</a:t>
            </a:r>
          </a:p>
        </p:txBody>
      </p:sp>
      <p:sp>
        <p:nvSpPr>
          <p:cNvPr id="99" name="">
            <a:extLst xmlns:a="http://schemas.openxmlformats.org/drawingml/2006/main">
              <a:ext uri="{FF2B5EF4-FFF2-40B4-BE49-F238E27FC236}">
                <a16:creationId xmlns:a16="http://schemas.microsoft.com/office/drawing/2014/main" id="{55B572D3-0C2D-4EC8-9ACF-EB7AE40803AA}"/>
              </a:ext>
            </a:extLst>
          </p:cNvPr>
          <p:cNvSpPr>
            <a:spLocks xmlns:a="http://schemas.openxmlformats.org/drawingml/2006/main" noGrp="1"/>
          </p:cNvSpPr>
          <p:nvPr/>
        </p:nvSpPr>
        <p:spPr>
          <a:xfrm xmlns:a="http://schemas.openxmlformats.org/drawingml/2006/main">
            <a:off x="381000" y="11239500"/>
            <a:ext cx="6096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750" b="0">
                <a:solidFill>
                  <a:srgbClr val="5F716E"/>
                </a:solidFill>
              </a:defRPr>
            </a:pPr>
            <a:r>
              <a:rPr sz="750" b="0">
                <a:solidFill>
                  <a:srgbClr val="5F716E"/>
                </a:solidFill>
              </a:rPr>
              <a:t>South-1 NPI mix 7.9% | Priority: Apollo × hero-EAN availability</a:t>
            </a:r>
          </a:p>
        </p:txBody>
      </p:sp>
      <p:sp>
        <p:nvSpPr>
          <p:cNvPr id="100" name="">
            <a:extLst xmlns:a="http://schemas.openxmlformats.org/drawingml/2006/main">
              <a:ext uri="{FF2B5EF4-FFF2-40B4-BE49-F238E27FC236}">
                <a16:creationId xmlns:a16="http://schemas.microsoft.com/office/drawing/2014/main" id="{8840959B-4BEE-44C0-B81B-583DD2AD16FE}"/>
              </a:ext>
            </a:extLst>
          </p:cNvPr>
          <p:cNvSpPr>
            <a:spLocks xmlns:a="http://schemas.openxmlformats.org/drawingml/2006/main" noGrp="1"/>
          </p:cNvSpPr>
          <p:nvPr/>
        </p:nvSpPr>
        <p:spPr>
          <a:xfrm xmlns:a="http://schemas.openxmlformats.org/drawingml/2006/main">
            <a:off x="361950" y="11544300"/>
            <a:ext cx="6134100" cy="457200"/>
          </a:xfrm>
          <a:prstGeom xmlns:a="http://schemas.openxmlformats.org/drawingml/2006/main" prst="roundRect">
            <a:avLst>
              <a:gd name="adj" fmla="val 16667"/>
            </a:avLst>
          </a:prstGeom>
          <a:solidFill xmlns:a="http://schemas.openxmlformats.org/drawingml/2006/main">
            <a:srgbClr val="DFF2ED"/>
          </a:solidFill>
          <a:ln xmlns:a="http://schemas.openxmlformats.org/drawingml/2006/main" w="9525">
            <a:solidFill>
              <a:srgbClr val="28A596"/>
            </a:solidFill>
            <a:prstDash val="solid"/>
          </a:ln>
        </p:spPr>
      </p:sp>
      <p:sp>
        <p:nvSpPr>
          <p:cNvPr id="101" name="">
            <a:extLst xmlns:a="http://schemas.openxmlformats.org/drawingml/2006/main">
              <a:ext uri="{FF2B5EF4-FFF2-40B4-BE49-F238E27FC236}">
                <a16:creationId xmlns:a16="http://schemas.microsoft.com/office/drawing/2014/main" id="{E3729C39-D3F8-4F76-BC3F-4DEB05BBB610}"/>
              </a:ext>
            </a:extLst>
          </p:cNvPr>
          <p:cNvSpPr>
            <a:spLocks xmlns:a="http://schemas.openxmlformats.org/drawingml/2006/main" noGrp="1"/>
          </p:cNvSpPr>
          <p:nvPr/>
        </p:nvSpPr>
        <p:spPr>
          <a:xfrm xmlns:a="http://schemas.openxmlformats.org/drawingml/2006/main">
            <a:off x="438150" y="11582400"/>
            <a:ext cx="142875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38" b="1">
                <a:solidFill>
                  <a:srgbClr val="116F68"/>
                </a:solidFill>
              </a:defRPr>
            </a:pPr>
            <a:r>
              <a:rPr sz="638" b="1">
                <a:solidFill>
                  <a:srgbClr val="116F68"/>
                </a:solidFill>
              </a:rPr>
              <a:t>EVIDENCE</a:t>
            </a:r>
          </a:p>
        </p:txBody>
      </p:sp>
      <p:sp>
        <p:nvSpPr>
          <p:cNvPr id="102" name="">
            <a:extLst xmlns:a="http://schemas.openxmlformats.org/drawingml/2006/main">
              <a:ext uri="{FF2B5EF4-FFF2-40B4-BE49-F238E27FC236}">
                <a16:creationId xmlns:a16="http://schemas.microsoft.com/office/drawing/2014/main" id="{44877A13-698F-4617-A58F-61054D85A894}"/>
              </a:ext>
            </a:extLst>
          </p:cNvPr>
          <p:cNvSpPr>
            <a:spLocks xmlns:a="http://schemas.openxmlformats.org/drawingml/2006/main" noGrp="1"/>
          </p:cNvSpPr>
          <p:nvPr/>
        </p:nvSpPr>
        <p:spPr>
          <a:xfrm xmlns:a="http://schemas.openxmlformats.org/drawingml/2006/main">
            <a:off x="438150" y="11734800"/>
            <a:ext cx="1428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00" b="0">
                <a:solidFill>
                  <a:srgbClr val="183B39"/>
                </a:solidFill>
              </a:defRPr>
            </a:pPr>
            <a:r>
              <a:rPr sz="600" b="0">
                <a:solidFill>
                  <a:srgbClr val="183B39"/>
                </a:solidFill>
              </a:rPr>
              <a:t>S-1 ₹8.19 Cr at 83.6% conversion; Apollo ₹2.84 Cr at 81.0% is the only exception; TDC Face Cleanser growing from ₹0.73 Cr (Feb) to ₹1.18 Cr (Jul)</a:t>
            </a:r>
          </a:p>
        </p:txBody>
      </p:sp>
      <p:sp>
        <p:nvSpPr>
          <p:cNvPr id="103" name="">
            <a:extLst xmlns:a="http://schemas.openxmlformats.org/drawingml/2006/main">
              <a:ext uri="{FF2B5EF4-FFF2-40B4-BE49-F238E27FC236}">
                <a16:creationId xmlns:a16="http://schemas.microsoft.com/office/drawing/2014/main" id="{8FF9D2C1-4F46-4326-868E-362283C2020D}"/>
              </a:ext>
            </a:extLst>
          </p:cNvPr>
          <p:cNvSpPr>
            <a:spLocks xmlns:a="http://schemas.openxmlformats.org/drawingml/2006/main" noGrp="1"/>
          </p:cNvSpPr>
          <p:nvPr/>
        </p:nvSpPr>
        <p:spPr>
          <a:xfrm xmlns:a="http://schemas.openxmlformats.org/drawingml/2006/main">
            <a:off x="1924050" y="11610975"/>
            <a:ext cx="0" cy="304800"/>
          </a:xfrm>
          <a:prstGeom xmlns:a="http://schemas.openxmlformats.org/drawingml/2006/main" prst="line">
            <a:avLst/>
          </a:prstGeom>
          <a:ln xmlns:a="http://schemas.openxmlformats.org/drawingml/2006/main" w="9525">
            <a:solidFill>
              <a:srgbClr val="C8DCD7"/>
            </a:solidFill>
            <a:prstDash val="solid"/>
          </a:ln>
        </p:spPr>
      </p:sp>
      <p:sp>
        <p:nvSpPr>
          <p:cNvPr id="104" name="">
            <a:extLst xmlns:a="http://schemas.openxmlformats.org/drawingml/2006/main">
              <a:ext uri="{FF2B5EF4-FFF2-40B4-BE49-F238E27FC236}">
                <a16:creationId xmlns:a16="http://schemas.microsoft.com/office/drawing/2014/main" id="{4BFAB64F-1552-4DFF-91EC-01534D1F9546}"/>
              </a:ext>
            </a:extLst>
          </p:cNvPr>
          <p:cNvSpPr>
            <a:spLocks xmlns:a="http://schemas.openxmlformats.org/drawingml/2006/main" noGrp="1"/>
          </p:cNvSpPr>
          <p:nvPr/>
        </p:nvSpPr>
        <p:spPr>
          <a:xfrm xmlns:a="http://schemas.openxmlformats.org/drawingml/2006/main">
            <a:off x="1952625" y="11582400"/>
            <a:ext cx="142875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38" b="1">
                <a:solidFill>
                  <a:srgbClr val="116F68"/>
                </a:solidFill>
              </a:defRPr>
            </a:pPr>
            <a:r>
              <a:rPr sz="638" b="1">
                <a:solidFill>
                  <a:srgbClr val="116F68"/>
                </a:solidFill>
              </a:rPr>
              <a:t>IMPLICATION</a:t>
            </a:r>
          </a:p>
        </p:txBody>
      </p:sp>
      <p:sp>
        <p:nvSpPr>
          <p:cNvPr id="105" name="">
            <a:extLst xmlns:a="http://schemas.openxmlformats.org/drawingml/2006/main">
              <a:ext uri="{FF2B5EF4-FFF2-40B4-BE49-F238E27FC236}">
                <a16:creationId xmlns:a16="http://schemas.microsoft.com/office/drawing/2014/main" id="{E77A8F8E-3180-4DF2-B6FD-A83D5521C184}"/>
              </a:ext>
            </a:extLst>
          </p:cNvPr>
          <p:cNvSpPr>
            <a:spLocks xmlns:a="http://schemas.openxmlformats.org/drawingml/2006/main" noGrp="1"/>
          </p:cNvSpPr>
          <p:nvPr/>
        </p:nvSpPr>
        <p:spPr>
          <a:xfrm xmlns:a="http://schemas.openxmlformats.org/drawingml/2006/main">
            <a:off x="1952625" y="11734800"/>
            <a:ext cx="1428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00" b="0">
                <a:solidFill>
                  <a:srgbClr val="183B39"/>
                </a:solidFill>
              </a:defRPr>
            </a:pPr>
            <a:r>
              <a:rPr sz="600" b="0">
                <a:solidFill>
                  <a:srgbClr val="183B39"/>
                </a:solidFill>
              </a:rPr>
              <a:t>Karnataka anchors 50.1% of zone value — losing it hurts more than gaining Tamil Nadu; Apollo's conversion dip is 3 pp below its national benchmark</a:t>
            </a:r>
          </a:p>
        </p:txBody>
      </p:sp>
      <p:sp>
        <p:nvSpPr>
          <p:cNvPr id="106" name="">
            <a:extLst xmlns:a="http://schemas.openxmlformats.org/drawingml/2006/main">
              <a:ext uri="{FF2B5EF4-FFF2-40B4-BE49-F238E27FC236}">
                <a16:creationId xmlns:a16="http://schemas.microsoft.com/office/drawing/2014/main" id="{BDE83630-2F5F-4699-B001-8ECEC4DCB5BE}"/>
              </a:ext>
            </a:extLst>
          </p:cNvPr>
          <p:cNvSpPr>
            <a:spLocks xmlns:a="http://schemas.openxmlformats.org/drawingml/2006/main" noGrp="1"/>
          </p:cNvSpPr>
          <p:nvPr/>
        </p:nvSpPr>
        <p:spPr>
          <a:xfrm xmlns:a="http://schemas.openxmlformats.org/drawingml/2006/main">
            <a:off x="3438525" y="11610975"/>
            <a:ext cx="0" cy="304800"/>
          </a:xfrm>
          <a:prstGeom xmlns:a="http://schemas.openxmlformats.org/drawingml/2006/main" prst="line">
            <a:avLst/>
          </a:prstGeom>
          <a:ln xmlns:a="http://schemas.openxmlformats.org/drawingml/2006/main" w="9525">
            <a:solidFill>
              <a:srgbClr val="C8DCD7"/>
            </a:solidFill>
            <a:prstDash val="solid"/>
          </a:ln>
        </p:spPr>
      </p:sp>
      <p:sp>
        <p:nvSpPr>
          <p:cNvPr id="107" name="">
            <a:extLst xmlns:a="http://schemas.openxmlformats.org/drawingml/2006/main">
              <a:ext uri="{FF2B5EF4-FFF2-40B4-BE49-F238E27FC236}">
                <a16:creationId xmlns:a16="http://schemas.microsoft.com/office/drawing/2014/main" id="{DD1D1400-6F1F-47F5-A04B-432DB19FB680}"/>
              </a:ext>
            </a:extLst>
          </p:cNvPr>
          <p:cNvSpPr>
            <a:spLocks xmlns:a="http://schemas.openxmlformats.org/drawingml/2006/main" noGrp="1"/>
          </p:cNvSpPr>
          <p:nvPr/>
        </p:nvSpPr>
        <p:spPr>
          <a:xfrm xmlns:a="http://schemas.openxmlformats.org/drawingml/2006/main">
            <a:off x="3467100" y="11582400"/>
            <a:ext cx="142875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38" b="1">
                <a:solidFill>
                  <a:srgbClr val="116F68"/>
                </a:solidFill>
              </a:defRPr>
            </a:pPr>
            <a:r>
              <a:rPr sz="638" b="1">
                <a:solidFill>
                  <a:srgbClr val="116F68"/>
                </a:solidFill>
              </a:rPr>
              <a:t>ACTION</a:t>
            </a:r>
          </a:p>
        </p:txBody>
      </p:sp>
      <p:sp>
        <p:nvSpPr>
          <p:cNvPr id="108" name="">
            <a:extLst xmlns:a="http://schemas.openxmlformats.org/drawingml/2006/main">
              <a:ext uri="{FF2B5EF4-FFF2-40B4-BE49-F238E27FC236}">
                <a16:creationId xmlns:a16="http://schemas.microsoft.com/office/drawing/2014/main" id="{AAC2BF7B-0021-470B-9AA4-FAC2BD3A3276}"/>
              </a:ext>
            </a:extLst>
          </p:cNvPr>
          <p:cNvSpPr>
            <a:spLocks xmlns:a="http://schemas.openxmlformats.org/drawingml/2006/main" noGrp="1"/>
          </p:cNvSpPr>
          <p:nvPr/>
        </p:nvSpPr>
        <p:spPr>
          <a:xfrm xmlns:a="http://schemas.openxmlformats.org/drawingml/2006/main">
            <a:off x="3467100" y="11734800"/>
            <a:ext cx="1428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00" b="0">
                <a:solidFill>
                  <a:srgbClr val="183B39"/>
                </a:solidFill>
              </a:defRPr>
            </a:pPr>
            <a:r>
              <a:rPr sz="600" b="0">
                <a:solidFill>
                  <a:srgbClr val="183B39"/>
                </a:solidFill>
              </a:rPr>
              <a:t>Apollo NKAM to fix top-5 declining EAN-store pairs in Karnataka; maintain TDC Face Cleanser OSA which underpins zone conversion</a:t>
            </a:r>
          </a:p>
        </p:txBody>
      </p:sp>
      <p:sp>
        <p:nvSpPr>
          <p:cNvPr id="109" name="">
            <a:extLst xmlns:a="http://schemas.openxmlformats.org/drawingml/2006/main">
              <a:ext uri="{FF2B5EF4-FFF2-40B4-BE49-F238E27FC236}">
                <a16:creationId xmlns:a16="http://schemas.microsoft.com/office/drawing/2014/main" id="{CC6CCA8B-8A2B-430C-92F0-54ABDB05F11C}"/>
              </a:ext>
            </a:extLst>
          </p:cNvPr>
          <p:cNvSpPr>
            <a:spLocks xmlns:a="http://schemas.openxmlformats.org/drawingml/2006/main" noGrp="1"/>
          </p:cNvSpPr>
          <p:nvPr/>
        </p:nvSpPr>
        <p:spPr>
          <a:xfrm xmlns:a="http://schemas.openxmlformats.org/drawingml/2006/main">
            <a:off x="4953000" y="11610975"/>
            <a:ext cx="0" cy="304800"/>
          </a:xfrm>
          <a:prstGeom xmlns:a="http://schemas.openxmlformats.org/drawingml/2006/main" prst="line">
            <a:avLst/>
          </a:prstGeom>
          <a:ln xmlns:a="http://schemas.openxmlformats.org/drawingml/2006/main" w="9525">
            <a:solidFill>
              <a:srgbClr val="C8DCD7"/>
            </a:solidFill>
            <a:prstDash val="solid"/>
          </a:ln>
        </p:spPr>
      </p:sp>
      <p:sp>
        <p:nvSpPr>
          <p:cNvPr id="110" name="">
            <a:extLst xmlns:a="http://schemas.openxmlformats.org/drawingml/2006/main">
              <a:ext uri="{FF2B5EF4-FFF2-40B4-BE49-F238E27FC236}">
                <a16:creationId xmlns:a16="http://schemas.microsoft.com/office/drawing/2014/main" id="{D7038AC5-A65F-45EC-A930-FB5260057DFE}"/>
              </a:ext>
            </a:extLst>
          </p:cNvPr>
          <p:cNvSpPr>
            <a:spLocks xmlns:a="http://schemas.openxmlformats.org/drawingml/2006/main" noGrp="1"/>
          </p:cNvSpPr>
          <p:nvPr/>
        </p:nvSpPr>
        <p:spPr>
          <a:xfrm xmlns:a="http://schemas.openxmlformats.org/drawingml/2006/main">
            <a:off x="4981575" y="11582400"/>
            <a:ext cx="142875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38" b="1">
                <a:solidFill>
                  <a:srgbClr val="116F68"/>
                </a:solidFill>
              </a:defRPr>
            </a:pPr>
            <a:r>
              <a:rPr sz="638" b="1">
                <a:solidFill>
                  <a:srgbClr val="116F68"/>
                </a:solidFill>
              </a:rPr>
              <a:t>OWNER</a:t>
            </a:r>
          </a:p>
        </p:txBody>
      </p:sp>
      <p:sp>
        <p:nvSpPr>
          <p:cNvPr id="111" name="">
            <a:extLst xmlns:a="http://schemas.openxmlformats.org/drawingml/2006/main">
              <a:ext uri="{FF2B5EF4-FFF2-40B4-BE49-F238E27FC236}">
                <a16:creationId xmlns:a16="http://schemas.microsoft.com/office/drawing/2014/main" id="{CE6674B8-D6F6-494F-9795-9023A0D8C6D2}"/>
              </a:ext>
            </a:extLst>
          </p:cNvPr>
          <p:cNvSpPr>
            <a:spLocks xmlns:a="http://schemas.openxmlformats.org/drawingml/2006/main" noGrp="1"/>
          </p:cNvSpPr>
          <p:nvPr/>
        </p:nvSpPr>
        <p:spPr>
          <a:xfrm xmlns:a="http://schemas.openxmlformats.org/drawingml/2006/main">
            <a:off x="4981575" y="11734800"/>
            <a:ext cx="1428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00" b="0">
                <a:solidFill>
                  <a:srgbClr val="183B39"/>
                </a:solidFill>
              </a:defRPr>
            </a:pPr>
            <a:r>
              <a:rPr sz="600" b="0">
                <a:solidFill>
                  <a:srgbClr val="183B39"/>
                </a:solidFill>
              </a:rPr>
              <a:t>NKAM Apollo S-1 | 28-Aug</a:t>
            </a:r>
          </a:p>
        </p:txBody>
      </p:sp>
    </p:spTree>
    <p:extLst>
      <p:ext uri="{BB962C8B-B14F-4D97-AF65-F5344CB8AC3E}">
        <p14:creationId xmlns:p14="http://schemas.microsoft.com/office/powerpoint/2010/main" val="1082379755"/>
      </p:ext>
    </p:extLst>
  </p:cSld>
</p:sld>
</file>

<file path=ppt/slides/slide7.xml><?xml version="1.0" encoding="utf-8"?>
<p:sld xmlns:p="http://schemas.openxmlformats.org/presentationml/2006/main">
  <p:cSld>
    <p:bg>
      <p:bgPr>
        <a:solidFill xmlns:a="http://schemas.openxmlformats.org/drawingml/2006/main">
          <a:srgbClr val="F7FBFA"/>
        </a:solidFill>
      </p:bgPr>
    </p:bg>
    <p:spTree>
      <p:nvGrpSpPr>
        <p:cNvPr id="1" name=""/>
        <p:cNvGrpSpPr/>
        <p:nvPr/>
      </p:nvGrpSpPr>
      <p:grpSpPr>
        <a:xfrm xmlns:a="http://schemas.openxmlformats.org/drawingml/2006/main"/>
      </p:grpSpPr>
      <p:sp>
        <p:nvSpPr>
          <p:cNvPr id="112" name="">
            <a:extLst xmlns:a="http://schemas.openxmlformats.org/drawingml/2006/main">
              <a:ext uri="{FF2B5EF4-FFF2-40B4-BE49-F238E27FC236}">
                <a16:creationId xmlns:a16="http://schemas.microsoft.com/office/drawing/2014/main" id="{366CD4DD-9E31-45B3-BF19-0A0A348A29B5}"/>
              </a:ext>
            </a:extLst>
          </p:cNvPr>
          <p:cNvSpPr>
            <a:spLocks xmlns:a="http://schemas.openxmlformats.org/drawingml/2006/main" noGrp="1"/>
          </p:cNvSpPr>
          <p:nvPr/>
        </p:nvSpPr>
        <p:spPr>
          <a:xfrm xmlns:a="http://schemas.openxmlformats.org/drawingml/2006/main">
            <a:off x="0" y="0"/>
            <a:ext cx="6858000" cy="1000125"/>
          </a:xfrm>
          <a:prstGeom xmlns:a="http://schemas.openxmlformats.org/drawingml/2006/main" prst="rect">
            <a:avLst/>
          </a:prstGeom>
          <a:solidFill xmlns:a="http://schemas.openxmlformats.org/drawingml/2006/main">
            <a:srgbClr val="116F68"/>
          </a:solidFill>
          <a:ln xmlns:a="http://schemas.openxmlformats.org/drawingml/2006/main" w="0">
            <a:solidFill>
              <a:srgbClr val="116F68"/>
            </a:solidFill>
            <a:prstDash val="solid"/>
          </a:ln>
        </p:spPr>
      </p:sp>
      <p:sp>
        <p:nvSpPr>
          <p:cNvPr id="2" name="">
            <a:extLst xmlns:a="http://schemas.openxmlformats.org/drawingml/2006/main">
              <a:ext uri="{FF2B5EF4-FFF2-40B4-BE49-F238E27FC236}">
                <a16:creationId xmlns:a16="http://schemas.microsoft.com/office/drawing/2014/main" id="{B084CF15-20BD-4B87-B3EF-105E8B6D395E}"/>
              </a:ext>
            </a:extLst>
          </p:cNvPr>
          <p:cNvSpPr>
            <a:spLocks xmlns:a="http://schemas.openxmlformats.org/drawingml/2006/main" noGrp="1"/>
          </p:cNvSpPr>
          <p:nvPr/>
        </p:nvSpPr>
        <p:spPr>
          <a:xfrm xmlns:a="http://schemas.openxmlformats.org/drawingml/2006/main">
            <a:off x="361950" y="228600"/>
            <a:ext cx="59055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2025" b="1">
                <a:solidFill>
                  <a:srgbClr val="FFFFFF"/>
                </a:solidFill>
              </a:defRPr>
            </a:pPr>
            <a:r>
              <a:rPr sz="2025" b="1">
                <a:solidFill>
                  <a:srgbClr val="FFFFFF"/>
                </a:solidFill>
              </a:rPr>
              <a:t>North: Urgent gap closure</a:t>
            </a:r>
          </a:p>
        </p:txBody>
      </p:sp>
      <p:sp>
        <p:nvSpPr>
          <p:cNvPr id="3" name="">
            <a:extLst xmlns:a="http://schemas.openxmlformats.org/drawingml/2006/main">
              <a:ext uri="{FF2B5EF4-FFF2-40B4-BE49-F238E27FC236}">
                <a16:creationId xmlns:a16="http://schemas.microsoft.com/office/drawing/2014/main" id="{777BF285-1292-4A5F-B07F-7FEDA5BB4AC7}"/>
              </a:ext>
            </a:extLst>
          </p:cNvPr>
          <p:cNvSpPr>
            <a:spLocks xmlns:a="http://schemas.openxmlformats.org/drawingml/2006/main" noGrp="1"/>
          </p:cNvSpPr>
          <p:nvPr/>
        </p:nvSpPr>
        <p:spPr>
          <a:xfrm xmlns:a="http://schemas.openxmlformats.org/drawingml/2006/main">
            <a:off x="381000" y="695325"/>
            <a:ext cx="57150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75" b="0">
                <a:solidFill>
                  <a:srgbClr val="DFF2ED"/>
                </a:solidFill>
              </a:defRPr>
            </a:pPr>
            <a:r>
              <a:rPr sz="975" b="0">
                <a:solidFill>
                  <a:srgbClr val="DFF2ED"/>
                </a:solidFill>
              </a:rPr>
              <a:t>Zone deep dive | July 2026 | ₹ Cr</a:t>
            </a:r>
          </a:p>
        </p:txBody>
      </p:sp>
      <p:sp>
        <p:nvSpPr>
          <p:cNvPr id="4" name="">
            <a:extLst xmlns:a="http://schemas.openxmlformats.org/drawingml/2006/main">
              <a:ext uri="{FF2B5EF4-FFF2-40B4-BE49-F238E27FC236}">
                <a16:creationId xmlns:a16="http://schemas.microsoft.com/office/drawing/2014/main" id="{837265BE-9A3B-4112-BA73-358F26C009C4}"/>
              </a:ext>
            </a:extLst>
          </p:cNvPr>
          <p:cNvSpPr>
            <a:spLocks xmlns:a="http://schemas.openxmlformats.org/drawingml/2006/main" noGrp="1"/>
          </p:cNvSpPr>
          <p:nvPr/>
        </p:nvSpPr>
        <p:spPr>
          <a:xfrm xmlns:a="http://schemas.openxmlformats.org/drawingml/2006/main">
            <a:off x="6191250" y="361950"/>
            <a:ext cx="3429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900" b="1">
                <a:solidFill>
                  <a:srgbClr val="FFFFFF"/>
                </a:solidFill>
              </a:defRPr>
            </a:pPr>
            <a:r>
              <a:rPr sz="900" b="1">
                <a:solidFill>
                  <a:srgbClr val="FFFFFF"/>
                </a:solidFill>
              </a:rPr>
              <a:t>07</a:t>
            </a:r>
          </a:p>
        </p:txBody>
      </p:sp>
      <p:sp>
        <p:nvSpPr>
          <p:cNvPr id="5" name="">
            <a:extLst xmlns:a="http://schemas.openxmlformats.org/drawingml/2006/main">
              <a:ext uri="{FF2B5EF4-FFF2-40B4-BE49-F238E27FC236}">
                <a16:creationId xmlns:a16="http://schemas.microsoft.com/office/drawing/2014/main" id="{69209B02-69EC-4FD3-B368-4791498EB734}"/>
              </a:ext>
            </a:extLst>
          </p:cNvPr>
          <p:cNvSpPr>
            <a:spLocks xmlns:a="http://schemas.openxmlformats.org/drawingml/2006/main" noGrp="1"/>
          </p:cNvSpPr>
          <p:nvPr/>
        </p:nvSpPr>
        <p:spPr>
          <a:xfrm xmlns:a="http://schemas.openxmlformats.org/drawingml/2006/main">
            <a:off x="361950" y="1285875"/>
            <a:ext cx="140970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9525">
            <a:solidFill>
              <a:srgbClr val="C8DCD7"/>
            </a:solidFill>
            <a:prstDash val="solid"/>
          </a:ln>
        </p:spPr>
      </p:sp>
      <p:sp>
        <p:nvSpPr>
          <p:cNvPr id="6" name="">
            <a:extLst xmlns:a="http://schemas.openxmlformats.org/drawingml/2006/main">
              <a:ext uri="{FF2B5EF4-FFF2-40B4-BE49-F238E27FC236}">
                <a16:creationId xmlns:a16="http://schemas.microsoft.com/office/drawing/2014/main" id="{EFBF3502-0FAE-4203-A114-7B8010F53F41}"/>
              </a:ext>
            </a:extLst>
          </p:cNvPr>
          <p:cNvSpPr>
            <a:spLocks xmlns:a="http://schemas.openxmlformats.org/drawingml/2006/main" noGrp="1"/>
          </p:cNvSpPr>
          <p:nvPr/>
        </p:nvSpPr>
        <p:spPr>
          <a:xfrm xmlns:a="http://schemas.openxmlformats.org/drawingml/2006/main">
            <a:off x="361950" y="1285875"/>
            <a:ext cx="76200" cy="1066800"/>
          </a:xfrm>
          <a:prstGeom xmlns:a="http://schemas.openxmlformats.org/drawingml/2006/main" prst="rect">
            <a:avLst/>
          </a:prstGeom>
          <a:solidFill xmlns:a="http://schemas.openxmlformats.org/drawingml/2006/main">
            <a:srgbClr val="28A596"/>
          </a:solidFill>
          <a:ln xmlns:a="http://schemas.openxmlformats.org/drawingml/2006/main" w="0">
            <a:solidFill>
              <a:srgbClr val="28A596"/>
            </a:solidFill>
            <a:prstDash val="solid"/>
          </a:ln>
        </p:spPr>
      </p:sp>
      <p:sp>
        <p:nvSpPr>
          <p:cNvPr id="7" name="">
            <a:extLst xmlns:a="http://schemas.openxmlformats.org/drawingml/2006/main">
              <a:ext uri="{FF2B5EF4-FFF2-40B4-BE49-F238E27FC236}">
                <a16:creationId xmlns:a16="http://schemas.microsoft.com/office/drawing/2014/main" id="{4DB56D76-67CB-4B59-BC76-37E352D241F4}"/>
              </a:ext>
            </a:extLst>
          </p:cNvPr>
          <p:cNvSpPr>
            <a:spLocks xmlns:a="http://schemas.openxmlformats.org/drawingml/2006/main" noGrp="1"/>
          </p:cNvSpPr>
          <p:nvPr/>
        </p:nvSpPr>
        <p:spPr>
          <a:xfrm xmlns:a="http://schemas.openxmlformats.org/drawingml/2006/main">
            <a:off x="533400" y="1400175"/>
            <a:ext cx="1143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5F716E"/>
                </a:solidFill>
              </a:defRPr>
            </a:pPr>
            <a:r>
              <a:rPr sz="900" b="1">
                <a:solidFill>
                  <a:srgbClr val="5F716E"/>
                </a:solidFill>
              </a:rPr>
              <a:t>PRIMARY</a:t>
            </a:r>
          </a:p>
        </p:txBody>
      </p:sp>
      <p:sp>
        <p:nvSpPr>
          <p:cNvPr id="8" name="">
            <a:extLst xmlns:a="http://schemas.openxmlformats.org/drawingml/2006/main">
              <a:ext uri="{FF2B5EF4-FFF2-40B4-BE49-F238E27FC236}">
                <a16:creationId xmlns:a16="http://schemas.microsoft.com/office/drawing/2014/main" id="{9F5AC437-DF39-4718-9BBE-B5AF037F851C}"/>
              </a:ext>
            </a:extLst>
          </p:cNvPr>
          <p:cNvSpPr>
            <a:spLocks xmlns:a="http://schemas.openxmlformats.org/drawingml/2006/main" noGrp="1"/>
          </p:cNvSpPr>
          <p:nvPr/>
        </p:nvSpPr>
        <p:spPr>
          <a:xfrm xmlns:a="http://schemas.openxmlformats.org/drawingml/2006/main">
            <a:off x="533400" y="1628775"/>
            <a:ext cx="1143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875" b="1">
                <a:solidFill>
                  <a:srgbClr val="28A596"/>
                </a:solidFill>
              </a:defRPr>
            </a:pPr>
            <a:r>
              <a:rPr sz="1875" b="1">
                <a:solidFill>
                  <a:srgbClr val="28A596"/>
                </a:solidFill>
              </a:rPr>
              <a:t>₹11.95 Cr</a:t>
            </a:r>
          </a:p>
        </p:txBody>
      </p:sp>
      <p:sp>
        <p:nvSpPr>
          <p:cNvPr id="9" name="">
            <a:extLst xmlns:a="http://schemas.openxmlformats.org/drawingml/2006/main">
              <a:ext uri="{FF2B5EF4-FFF2-40B4-BE49-F238E27FC236}">
                <a16:creationId xmlns:a16="http://schemas.microsoft.com/office/drawing/2014/main" id="{1C452577-4F09-44A4-B614-6AD545814554}"/>
              </a:ext>
            </a:extLst>
          </p:cNvPr>
          <p:cNvSpPr>
            <a:spLocks xmlns:a="http://schemas.openxmlformats.org/drawingml/2006/main" noGrp="1"/>
          </p:cNvSpPr>
          <p:nvPr/>
        </p:nvSpPr>
        <p:spPr>
          <a:xfrm xmlns:a="http://schemas.openxmlformats.org/drawingml/2006/main">
            <a:off x="533400" y="2028825"/>
            <a:ext cx="1143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0">
                <a:solidFill>
                  <a:srgbClr val="5F716E"/>
                </a:solidFill>
              </a:defRPr>
            </a:pPr>
            <a:r>
              <a:rPr sz="825" b="0">
                <a:solidFill>
                  <a:srgbClr val="5F716E"/>
                </a:solidFill>
              </a:rPr>
              <a:t>July billing</a:t>
            </a:r>
          </a:p>
        </p:txBody>
      </p:sp>
      <p:sp>
        <p:nvSpPr>
          <p:cNvPr id="10" name="">
            <a:extLst xmlns:a="http://schemas.openxmlformats.org/drawingml/2006/main">
              <a:ext uri="{FF2B5EF4-FFF2-40B4-BE49-F238E27FC236}">
                <a16:creationId xmlns:a16="http://schemas.microsoft.com/office/drawing/2014/main" id="{1A363AC1-89D6-49DD-A001-996C4E453C36}"/>
              </a:ext>
            </a:extLst>
          </p:cNvPr>
          <p:cNvSpPr>
            <a:spLocks xmlns:a="http://schemas.openxmlformats.org/drawingml/2006/main" noGrp="1"/>
          </p:cNvSpPr>
          <p:nvPr/>
        </p:nvSpPr>
        <p:spPr>
          <a:xfrm xmlns:a="http://schemas.openxmlformats.org/drawingml/2006/main">
            <a:off x="1933575" y="1285875"/>
            <a:ext cx="140970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9525">
            <a:solidFill>
              <a:srgbClr val="C8DCD7"/>
            </a:solidFill>
            <a:prstDash val="solid"/>
          </a:ln>
        </p:spPr>
      </p:sp>
      <p:sp>
        <p:nvSpPr>
          <p:cNvPr id="11" name="">
            <a:extLst xmlns:a="http://schemas.openxmlformats.org/drawingml/2006/main">
              <a:ext uri="{FF2B5EF4-FFF2-40B4-BE49-F238E27FC236}">
                <a16:creationId xmlns:a16="http://schemas.microsoft.com/office/drawing/2014/main" id="{11CDCE2A-293B-43F8-A5E3-7F72D7B989EC}"/>
              </a:ext>
            </a:extLst>
          </p:cNvPr>
          <p:cNvSpPr>
            <a:spLocks xmlns:a="http://schemas.openxmlformats.org/drawingml/2006/main" noGrp="1"/>
          </p:cNvSpPr>
          <p:nvPr/>
        </p:nvSpPr>
        <p:spPr>
          <a:xfrm xmlns:a="http://schemas.openxmlformats.org/drawingml/2006/main">
            <a:off x="1933575" y="1285875"/>
            <a:ext cx="76200" cy="1066800"/>
          </a:xfrm>
          <a:prstGeom xmlns:a="http://schemas.openxmlformats.org/drawingml/2006/main" prst="rect">
            <a:avLst/>
          </a:prstGeom>
          <a:solidFill xmlns:a="http://schemas.openxmlformats.org/drawingml/2006/main">
            <a:srgbClr val="2B9A66"/>
          </a:solidFill>
          <a:ln xmlns:a="http://schemas.openxmlformats.org/drawingml/2006/main" w="0">
            <a:solidFill>
              <a:srgbClr val="2B9A66"/>
            </a:solidFill>
            <a:prstDash val="solid"/>
          </a:ln>
        </p:spPr>
      </p:sp>
      <p:sp>
        <p:nvSpPr>
          <p:cNvPr id="12" name="">
            <a:extLst xmlns:a="http://schemas.openxmlformats.org/drawingml/2006/main">
              <a:ext uri="{FF2B5EF4-FFF2-40B4-BE49-F238E27FC236}">
                <a16:creationId xmlns:a16="http://schemas.microsoft.com/office/drawing/2014/main" id="{7E2F2C2B-2276-435D-9AE6-8B8828B9C161}"/>
              </a:ext>
            </a:extLst>
          </p:cNvPr>
          <p:cNvSpPr>
            <a:spLocks xmlns:a="http://schemas.openxmlformats.org/drawingml/2006/main" noGrp="1"/>
          </p:cNvSpPr>
          <p:nvPr/>
        </p:nvSpPr>
        <p:spPr>
          <a:xfrm xmlns:a="http://schemas.openxmlformats.org/drawingml/2006/main">
            <a:off x="2105025" y="1400175"/>
            <a:ext cx="1143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5F716E"/>
                </a:solidFill>
              </a:defRPr>
            </a:pPr>
            <a:r>
              <a:rPr sz="900" b="1">
                <a:solidFill>
                  <a:srgbClr val="5F716E"/>
                </a:solidFill>
              </a:rPr>
              <a:t>OFFTAKE</a:t>
            </a:r>
          </a:p>
        </p:txBody>
      </p:sp>
      <p:sp>
        <p:nvSpPr>
          <p:cNvPr id="13" name="">
            <a:extLst xmlns:a="http://schemas.openxmlformats.org/drawingml/2006/main">
              <a:ext uri="{FF2B5EF4-FFF2-40B4-BE49-F238E27FC236}">
                <a16:creationId xmlns:a16="http://schemas.microsoft.com/office/drawing/2014/main" id="{8E7984F8-E093-4013-A74B-A9A2575E6A0F}"/>
              </a:ext>
            </a:extLst>
          </p:cNvPr>
          <p:cNvSpPr>
            <a:spLocks xmlns:a="http://schemas.openxmlformats.org/drawingml/2006/main" noGrp="1"/>
          </p:cNvSpPr>
          <p:nvPr/>
        </p:nvSpPr>
        <p:spPr>
          <a:xfrm xmlns:a="http://schemas.openxmlformats.org/drawingml/2006/main">
            <a:off x="2105025" y="1628775"/>
            <a:ext cx="1143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875" b="1">
                <a:solidFill>
                  <a:srgbClr val="2B9A66"/>
                </a:solidFill>
              </a:defRPr>
            </a:pPr>
            <a:r>
              <a:rPr sz="1875" b="1">
                <a:solidFill>
                  <a:srgbClr val="2B9A66"/>
                </a:solidFill>
              </a:rPr>
              <a:t>₹6.99 Cr</a:t>
            </a:r>
          </a:p>
        </p:txBody>
      </p:sp>
      <p:sp>
        <p:nvSpPr>
          <p:cNvPr id="14" name="">
            <a:extLst xmlns:a="http://schemas.openxmlformats.org/drawingml/2006/main">
              <a:ext uri="{FF2B5EF4-FFF2-40B4-BE49-F238E27FC236}">
                <a16:creationId xmlns:a16="http://schemas.microsoft.com/office/drawing/2014/main" id="{918E4FE9-BBBA-4F04-BEAA-2DDA113B74AB}"/>
              </a:ext>
            </a:extLst>
          </p:cNvPr>
          <p:cNvSpPr>
            <a:spLocks xmlns:a="http://schemas.openxmlformats.org/drawingml/2006/main" noGrp="1"/>
          </p:cNvSpPr>
          <p:nvPr/>
        </p:nvSpPr>
        <p:spPr>
          <a:xfrm xmlns:a="http://schemas.openxmlformats.org/drawingml/2006/main">
            <a:off x="2105025" y="2028825"/>
            <a:ext cx="1143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0">
                <a:solidFill>
                  <a:srgbClr val="5F716E"/>
                </a:solidFill>
              </a:defRPr>
            </a:pPr>
            <a:r>
              <a:rPr sz="825" b="0">
                <a:solidFill>
                  <a:srgbClr val="5F716E"/>
                </a:solidFill>
              </a:rPr>
              <a:t>19.4% mix</a:t>
            </a:r>
          </a:p>
        </p:txBody>
      </p:sp>
      <p:sp>
        <p:nvSpPr>
          <p:cNvPr id="15" name="">
            <a:extLst xmlns:a="http://schemas.openxmlformats.org/drawingml/2006/main">
              <a:ext uri="{FF2B5EF4-FFF2-40B4-BE49-F238E27FC236}">
                <a16:creationId xmlns:a16="http://schemas.microsoft.com/office/drawing/2014/main" id="{EBC0BA1B-0A52-4142-85E8-9EB0AA6BC5D0}"/>
              </a:ext>
            </a:extLst>
          </p:cNvPr>
          <p:cNvSpPr>
            <a:spLocks xmlns:a="http://schemas.openxmlformats.org/drawingml/2006/main" noGrp="1"/>
          </p:cNvSpPr>
          <p:nvPr/>
        </p:nvSpPr>
        <p:spPr>
          <a:xfrm xmlns:a="http://schemas.openxmlformats.org/drawingml/2006/main">
            <a:off x="3505200" y="1285875"/>
            <a:ext cx="140970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9525">
            <a:solidFill>
              <a:srgbClr val="C8DCD7"/>
            </a:solidFill>
            <a:prstDash val="solid"/>
          </a:ln>
        </p:spPr>
      </p:sp>
      <p:sp>
        <p:nvSpPr>
          <p:cNvPr id="16" name="">
            <a:extLst xmlns:a="http://schemas.openxmlformats.org/drawingml/2006/main">
              <a:ext uri="{FF2B5EF4-FFF2-40B4-BE49-F238E27FC236}">
                <a16:creationId xmlns:a16="http://schemas.microsoft.com/office/drawing/2014/main" id="{90D381E3-97FE-4FAF-AFE7-5FB297415512}"/>
              </a:ext>
            </a:extLst>
          </p:cNvPr>
          <p:cNvSpPr>
            <a:spLocks xmlns:a="http://schemas.openxmlformats.org/drawingml/2006/main" noGrp="1"/>
          </p:cNvSpPr>
          <p:nvPr/>
        </p:nvSpPr>
        <p:spPr>
          <a:xfrm xmlns:a="http://schemas.openxmlformats.org/drawingml/2006/main">
            <a:off x="3505200" y="1285875"/>
            <a:ext cx="76200" cy="1066800"/>
          </a:xfrm>
          <a:prstGeom xmlns:a="http://schemas.openxmlformats.org/drawingml/2006/main" prst="rect">
            <a:avLst/>
          </a:prstGeom>
          <a:solidFill xmlns:a="http://schemas.openxmlformats.org/drawingml/2006/main">
            <a:srgbClr val="D6544D"/>
          </a:solidFill>
          <a:ln xmlns:a="http://schemas.openxmlformats.org/drawingml/2006/main" w="0">
            <a:solidFill>
              <a:srgbClr val="D6544D"/>
            </a:solidFill>
            <a:prstDash val="solid"/>
          </a:ln>
        </p:spPr>
      </p:sp>
      <p:sp>
        <p:nvSpPr>
          <p:cNvPr id="17" name="">
            <a:extLst xmlns:a="http://schemas.openxmlformats.org/drawingml/2006/main">
              <a:ext uri="{FF2B5EF4-FFF2-40B4-BE49-F238E27FC236}">
                <a16:creationId xmlns:a16="http://schemas.microsoft.com/office/drawing/2014/main" id="{F3E88894-2696-44C7-8618-2C0FE333D664}"/>
              </a:ext>
            </a:extLst>
          </p:cNvPr>
          <p:cNvSpPr>
            <a:spLocks xmlns:a="http://schemas.openxmlformats.org/drawingml/2006/main" noGrp="1"/>
          </p:cNvSpPr>
          <p:nvPr/>
        </p:nvSpPr>
        <p:spPr>
          <a:xfrm xmlns:a="http://schemas.openxmlformats.org/drawingml/2006/main">
            <a:off x="3676650" y="1400175"/>
            <a:ext cx="1143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5F716E"/>
                </a:solidFill>
              </a:defRPr>
            </a:pPr>
            <a:r>
              <a:rPr sz="900" b="1">
                <a:solidFill>
                  <a:srgbClr val="5F716E"/>
                </a:solidFill>
              </a:rPr>
              <a:t>CONVERSION</a:t>
            </a:r>
          </a:p>
        </p:txBody>
      </p:sp>
      <p:sp>
        <p:nvSpPr>
          <p:cNvPr id="18" name="">
            <a:extLst xmlns:a="http://schemas.openxmlformats.org/drawingml/2006/main">
              <a:ext uri="{FF2B5EF4-FFF2-40B4-BE49-F238E27FC236}">
                <a16:creationId xmlns:a16="http://schemas.microsoft.com/office/drawing/2014/main" id="{03A7AEA0-C3F9-42F4-9158-87E3D9798142}"/>
              </a:ext>
            </a:extLst>
          </p:cNvPr>
          <p:cNvSpPr>
            <a:spLocks xmlns:a="http://schemas.openxmlformats.org/drawingml/2006/main" noGrp="1"/>
          </p:cNvSpPr>
          <p:nvPr/>
        </p:nvSpPr>
        <p:spPr>
          <a:xfrm xmlns:a="http://schemas.openxmlformats.org/drawingml/2006/main">
            <a:off x="3676650" y="1628775"/>
            <a:ext cx="1143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875" b="1">
                <a:solidFill>
                  <a:srgbClr val="D6544D"/>
                </a:solidFill>
              </a:defRPr>
            </a:pPr>
            <a:r>
              <a:rPr sz="1875" b="1">
                <a:solidFill>
                  <a:srgbClr val="D6544D"/>
                </a:solidFill>
              </a:rPr>
              <a:t>58.5%</a:t>
            </a:r>
          </a:p>
        </p:txBody>
      </p:sp>
      <p:sp>
        <p:nvSpPr>
          <p:cNvPr id="19" name="">
            <a:extLst xmlns:a="http://schemas.openxmlformats.org/drawingml/2006/main">
              <a:ext uri="{FF2B5EF4-FFF2-40B4-BE49-F238E27FC236}">
                <a16:creationId xmlns:a16="http://schemas.microsoft.com/office/drawing/2014/main" id="{BA5DF1B2-1DF6-4BC2-85F7-6527E2BC1008}"/>
              </a:ext>
            </a:extLst>
          </p:cNvPr>
          <p:cNvSpPr>
            <a:spLocks xmlns:a="http://schemas.openxmlformats.org/drawingml/2006/main" noGrp="1"/>
          </p:cNvSpPr>
          <p:nvPr/>
        </p:nvSpPr>
        <p:spPr>
          <a:xfrm xmlns:a="http://schemas.openxmlformats.org/drawingml/2006/main">
            <a:off x="3676650" y="2028825"/>
            <a:ext cx="1143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0">
                <a:solidFill>
                  <a:srgbClr val="5F716E"/>
                </a:solidFill>
              </a:defRPr>
            </a:pPr>
            <a:r>
              <a:rPr sz="825" b="0">
                <a:solidFill>
                  <a:srgbClr val="5F716E"/>
                </a:solidFill>
              </a:rPr>
              <a:t>Flow</a:t>
            </a:r>
          </a:p>
        </p:txBody>
      </p:sp>
      <p:sp>
        <p:nvSpPr>
          <p:cNvPr id="20" name="">
            <a:extLst xmlns:a="http://schemas.openxmlformats.org/drawingml/2006/main">
              <a:ext uri="{FF2B5EF4-FFF2-40B4-BE49-F238E27FC236}">
                <a16:creationId xmlns:a16="http://schemas.microsoft.com/office/drawing/2014/main" id="{2EEBCA5F-BA7F-48FF-89AC-1BCEDAA035B9}"/>
              </a:ext>
            </a:extLst>
          </p:cNvPr>
          <p:cNvSpPr>
            <a:spLocks xmlns:a="http://schemas.openxmlformats.org/drawingml/2006/main" noGrp="1"/>
          </p:cNvSpPr>
          <p:nvPr/>
        </p:nvSpPr>
        <p:spPr>
          <a:xfrm xmlns:a="http://schemas.openxmlformats.org/drawingml/2006/main">
            <a:off x="5076825" y="1285875"/>
            <a:ext cx="1419225"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9525">
            <a:solidFill>
              <a:srgbClr val="C8DCD7"/>
            </a:solidFill>
            <a:prstDash val="solid"/>
          </a:ln>
        </p:spPr>
      </p:sp>
      <p:sp>
        <p:nvSpPr>
          <p:cNvPr id="21" name="">
            <a:extLst xmlns:a="http://schemas.openxmlformats.org/drawingml/2006/main">
              <a:ext uri="{FF2B5EF4-FFF2-40B4-BE49-F238E27FC236}">
                <a16:creationId xmlns:a16="http://schemas.microsoft.com/office/drawing/2014/main" id="{35F723A6-1973-4E94-B4A7-B31F6EE2E02E}"/>
              </a:ext>
            </a:extLst>
          </p:cNvPr>
          <p:cNvSpPr>
            <a:spLocks xmlns:a="http://schemas.openxmlformats.org/drawingml/2006/main" noGrp="1"/>
          </p:cNvSpPr>
          <p:nvPr/>
        </p:nvSpPr>
        <p:spPr>
          <a:xfrm xmlns:a="http://schemas.openxmlformats.org/drawingml/2006/main">
            <a:off x="5076825" y="1285875"/>
            <a:ext cx="76200" cy="1066800"/>
          </a:xfrm>
          <a:prstGeom xmlns:a="http://schemas.openxmlformats.org/drawingml/2006/main" prst="rect">
            <a:avLst/>
          </a:prstGeom>
          <a:solidFill xmlns:a="http://schemas.openxmlformats.org/drawingml/2006/main">
            <a:srgbClr val="D6544D"/>
          </a:solidFill>
          <a:ln xmlns:a="http://schemas.openxmlformats.org/drawingml/2006/main" w="0">
            <a:solidFill>
              <a:srgbClr val="D6544D"/>
            </a:solidFill>
            <a:prstDash val="solid"/>
          </a:ln>
        </p:spPr>
      </p:sp>
      <p:sp>
        <p:nvSpPr>
          <p:cNvPr id="22" name="">
            <a:extLst xmlns:a="http://schemas.openxmlformats.org/drawingml/2006/main">
              <a:ext uri="{FF2B5EF4-FFF2-40B4-BE49-F238E27FC236}">
                <a16:creationId xmlns:a16="http://schemas.microsoft.com/office/drawing/2014/main" id="{E7C1E133-2F2F-46A7-8013-DF741818322E}"/>
              </a:ext>
            </a:extLst>
          </p:cNvPr>
          <p:cNvSpPr>
            <a:spLocks xmlns:a="http://schemas.openxmlformats.org/drawingml/2006/main" noGrp="1"/>
          </p:cNvSpPr>
          <p:nvPr/>
        </p:nvSpPr>
        <p:spPr>
          <a:xfrm xmlns:a="http://schemas.openxmlformats.org/drawingml/2006/main">
            <a:off x="5248275" y="1400175"/>
            <a:ext cx="115252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5F716E"/>
                </a:solidFill>
              </a:defRPr>
            </a:pPr>
            <a:r>
              <a:rPr sz="900" b="1">
                <a:solidFill>
                  <a:srgbClr val="5F716E"/>
                </a:solidFill>
              </a:rPr>
              <a:t>GAP</a:t>
            </a:r>
          </a:p>
        </p:txBody>
      </p:sp>
      <p:sp>
        <p:nvSpPr>
          <p:cNvPr id="23" name="">
            <a:extLst xmlns:a="http://schemas.openxmlformats.org/drawingml/2006/main">
              <a:ext uri="{FF2B5EF4-FFF2-40B4-BE49-F238E27FC236}">
                <a16:creationId xmlns:a16="http://schemas.microsoft.com/office/drawing/2014/main" id="{DEBAF568-6BD6-45F4-B8BD-4158AB24FA4A}"/>
              </a:ext>
            </a:extLst>
          </p:cNvPr>
          <p:cNvSpPr>
            <a:spLocks xmlns:a="http://schemas.openxmlformats.org/drawingml/2006/main" noGrp="1"/>
          </p:cNvSpPr>
          <p:nvPr/>
        </p:nvSpPr>
        <p:spPr>
          <a:xfrm xmlns:a="http://schemas.openxmlformats.org/drawingml/2006/main">
            <a:off x="5248275" y="1628775"/>
            <a:ext cx="11525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875" b="1">
                <a:solidFill>
                  <a:srgbClr val="D6544D"/>
                </a:solidFill>
              </a:defRPr>
            </a:pPr>
            <a:r>
              <a:rPr sz="1875" b="1">
                <a:solidFill>
                  <a:srgbClr val="D6544D"/>
                </a:solidFill>
              </a:rPr>
              <a:t>₹4.97 Cr</a:t>
            </a:r>
          </a:p>
        </p:txBody>
      </p:sp>
      <p:sp>
        <p:nvSpPr>
          <p:cNvPr id="24" name="">
            <a:extLst xmlns:a="http://schemas.openxmlformats.org/drawingml/2006/main">
              <a:ext uri="{FF2B5EF4-FFF2-40B4-BE49-F238E27FC236}">
                <a16:creationId xmlns:a16="http://schemas.microsoft.com/office/drawing/2014/main" id="{72A8BB55-73AC-420F-92E7-53091662783C}"/>
              </a:ext>
            </a:extLst>
          </p:cNvPr>
          <p:cNvSpPr>
            <a:spLocks xmlns:a="http://schemas.openxmlformats.org/drawingml/2006/main" noGrp="1"/>
          </p:cNvSpPr>
          <p:nvPr/>
        </p:nvSpPr>
        <p:spPr>
          <a:xfrm xmlns:a="http://schemas.openxmlformats.org/drawingml/2006/main">
            <a:off x="5248275" y="2028825"/>
            <a:ext cx="115252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0">
                <a:solidFill>
                  <a:srgbClr val="5F716E"/>
                </a:solidFill>
              </a:defRPr>
            </a:pPr>
            <a:r>
              <a:rPr sz="825" b="0">
                <a:solidFill>
                  <a:srgbClr val="5F716E"/>
                </a:solidFill>
              </a:rPr>
              <a:t>Primary − offtake</a:t>
            </a:r>
          </a:p>
        </p:txBody>
      </p:sp>
      <p:sp>
        <p:nvSpPr>
          <p:cNvPr id="25" name="">
            <a:extLst xmlns:a="http://schemas.openxmlformats.org/drawingml/2006/main">
              <a:ext uri="{FF2B5EF4-FFF2-40B4-BE49-F238E27FC236}">
                <a16:creationId xmlns:a16="http://schemas.microsoft.com/office/drawing/2014/main" id="{248FF35B-A9CA-4DDA-9340-5A567A797743}"/>
              </a:ext>
            </a:extLst>
          </p:cNvPr>
          <p:cNvSpPr>
            <a:spLocks xmlns:a="http://schemas.openxmlformats.org/drawingml/2006/main" noGrp="1"/>
          </p:cNvSpPr>
          <p:nvPr/>
        </p:nvSpPr>
        <p:spPr>
          <a:xfrm xmlns:a="http://schemas.openxmlformats.org/drawingml/2006/main">
            <a:off x="361950" y="2476500"/>
            <a:ext cx="6134100" cy="457200"/>
          </a:xfrm>
          <a:prstGeom xmlns:a="http://schemas.openxmlformats.org/drawingml/2006/main" prst="roundRect">
            <a:avLst>
              <a:gd name="adj" fmla="val 16667"/>
            </a:avLst>
          </a:prstGeom>
          <a:solidFill xmlns:a="http://schemas.openxmlformats.org/drawingml/2006/main">
            <a:srgbClr val="DFF2ED"/>
          </a:solidFill>
          <a:ln xmlns:a="http://schemas.openxmlformats.org/drawingml/2006/main" w="9525">
            <a:solidFill>
              <a:srgbClr val="28A596"/>
            </a:solidFill>
            <a:prstDash val="solid"/>
          </a:ln>
        </p:spPr>
      </p:sp>
      <p:sp>
        <p:nvSpPr>
          <p:cNvPr id="26" name="">
            <a:extLst xmlns:a="http://schemas.openxmlformats.org/drawingml/2006/main">
              <a:ext uri="{FF2B5EF4-FFF2-40B4-BE49-F238E27FC236}">
                <a16:creationId xmlns:a16="http://schemas.microsoft.com/office/drawing/2014/main" id="{E7B460CB-F08A-455D-8B58-720BFD4750D7}"/>
              </a:ext>
            </a:extLst>
          </p:cNvPr>
          <p:cNvSpPr>
            <a:spLocks xmlns:a="http://schemas.openxmlformats.org/drawingml/2006/main" noGrp="1"/>
          </p:cNvSpPr>
          <p:nvPr/>
        </p:nvSpPr>
        <p:spPr>
          <a:xfrm xmlns:a="http://schemas.openxmlformats.org/drawingml/2006/main">
            <a:off x="476250" y="2533650"/>
            <a:ext cx="1381125"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1">
                <a:solidFill>
                  <a:srgbClr val="116F68"/>
                </a:solidFill>
              </a:defRPr>
            </a:pPr>
            <a:r>
              <a:rPr sz="825" b="1">
                <a:solidFill>
                  <a:srgbClr val="116F68"/>
                </a:solidFill>
              </a:rPr>
              <a:t>MANAGEMENT PRIORITY</a:t>
            </a:r>
          </a:p>
        </p:txBody>
      </p:sp>
      <p:sp>
        <p:nvSpPr>
          <p:cNvPr id="27" name="">
            <a:extLst xmlns:a="http://schemas.openxmlformats.org/drawingml/2006/main">
              <a:ext uri="{FF2B5EF4-FFF2-40B4-BE49-F238E27FC236}">
                <a16:creationId xmlns:a16="http://schemas.microsoft.com/office/drawing/2014/main" id="{6229D7E7-67A5-4F87-8DC5-CDEED8E96E81}"/>
              </a:ext>
            </a:extLst>
          </p:cNvPr>
          <p:cNvSpPr>
            <a:spLocks xmlns:a="http://schemas.openxmlformats.org/drawingml/2006/main" noGrp="1"/>
          </p:cNvSpPr>
          <p:nvPr/>
        </p:nvSpPr>
        <p:spPr>
          <a:xfrm xmlns:a="http://schemas.openxmlformats.org/drawingml/2006/main">
            <a:off x="1885950" y="2514600"/>
            <a:ext cx="4429125"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183B39"/>
                </a:solidFill>
              </a:defRPr>
            </a:pPr>
            <a:r>
              <a:rPr sz="900" b="1">
                <a:solidFill>
                  <a:srgbClr val="183B39"/>
                </a:solidFill>
              </a:rPr>
              <a:t>Close DMart exceptions  •  Protect hero-SKU OSA  •  Review conversion weekly</a:t>
            </a:r>
          </a:p>
        </p:txBody>
      </p:sp>
      <p:sp>
        <p:nvSpPr>
          <p:cNvPr id="28" name="">
            <a:extLst xmlns:a="http://schemas.openxmlformats.org/drawingml/2006/main">
              <a:ext uri="{FF2B5EF4-FFF2-40B4-BE49-F238E27FC236}">
                <a16:creationId xmlns:a16="http://schemas.microsoft.com/office/drawing/2014/main" id="{8C56F96D-28A5-4FA7-AFE8-BC000AC8E96B}"/>
              </a:ext>
            </a:extLst>
          </p:cNvPr>
          <p:cNvSpPr>
            <a:spLocks xmlns:a="http://schemas.openxmlformats.org/drawingml/2006/main" noGrp="1"/>
          </p:cNvSpPr>
          <p:nvPr/>
        </p:nvSpPr>
        <p:spPr>
          <a:xfrm xmlns:a="http://schemas.openxmlformats.org/drawingml/2006/main">
            <a:off x="361950" y="3048000"/>
            <a:ext cx="2895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183B39"/>
                </a:solidFill>
              </a:defRPr>
            </a:pPr>
            <a:r>
              <a:rPr sz="900" b="1">
                <a:solidFill>
                  <a:srgbClr val="183B39"/>
                </a:solidFill>
              </a:rPr>
              <a:t>Mamaearth — top 3 sub-categories</a:t>
            </a:r>
          </a:p>
        </p:txBody>
      </p:sp>
      <p:graphicFrame>
        <p:nvGraphicFramePr>
          <p:cNvPr id="140" name="Chart"/>
          <p:cNvGraphicFramePr/>
          <p:nvPr/>
        </p:nvGraphicFramePr>
        <p:xfrm>
          <a:off xmlns:a="http://schemas.openxmlformats.org/drawingml/2006/main" x="361950" y="3286125"/>
          <a:ext xmlns:a="http://schemas.openxmlformats.org/drawingml/2006/main" cx="2895600" cy="1666875"/>
        </p:xfrm>
        <a:graphic xmlns:a="http://schemas.openxmlformats.org/drawingml/2006/main">
          <a:graphicData uri="http://schemas.openxmlformats.org/drawingml/2006/chart">
            <c:chart xmlns:r="http://schemas.openxmlformats.org/officeDocument/2006/relationships" xmlns:c="http://schemas.openxmlformats.org/drawingml/2006/chart" r:id="R00c5267dba7a483d"/>
          </a:graphicData>
        </a:graphic>
      </p:graphicFrame>
      <p:sp>
        <p:nvSpPr>
          <p:cNvPr id="30" name="">
            <a:extLst xmlns:a="http://schemas.openxmlformats.org/drawingml/2006/main">
              <a:ext uri="{FF2B5EF4-FFF2-40B4-BE49-F238E27FC236}">
                <a16:creationId xmlns:a16="http://schemas.microsoft.com/office/drawing/2014/main" id="{CB7808EC-EDAD-4143-86C6-964C89F31F1A}"/>
              </a:ext>
            </a:extLst>
          </p:cNvPr>
          <p:cNvSpPr>
            <a:spLocks xmlns:a="http://schemas.openxmlformats.org/drawingml/2006/main" noGrp="1"/>
          </p:cNvSpPr>
          <p:nvPr/>
        </p:nvSpPr>
        <p:spPr>
          <a:xfrm xmlns:a="http://schemas.openxmlformats.org/drawingml/2006/main">
            <a:off x="3600450" y="3048000"/>
            <a:ext cx="2895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183B39"/>
                </a:solidFill>
              </a:defRPr>
            </a:pPr>
            <a:r>
              <a:rPr sz="900" b="1">
                <a:solidFill>
                  <a:srgbClr val="183B39"/>
                </a:solidFill>
              </a:rPr>
              <a:t>The Derma Co. — top 3 sub-categories</a:t>
            </a:r>
          </a:p>
        </p:txBody>
      </p:sp>
      <p:graphicFrame>
        <p:nvGraphicFramePr>
          <p:cNvPr id="142" name="Chart"/>
          <p:cNvGraphicFramePr/>
          <p:nvPr/>
        </p:nvGraphicFramePr>
        <p:xfrm>
          <a:off xmlns:a="http://schemas.openxmlformats.org/drawingml/2006/main" x="3600450" y="3286125"/>
          <a:ext xmlns:a="http://schemas.openxmlformats.org/drawingml/2006/main" cx="2895600" cy="1666875"/>
        </p:xfrm>
        <a:graphic xmlns:a="http://schemas.openxmlformats.org/drawingml/2006/main">
          <a:graphicData uri="http://schemas.openxmlformats.org/drawingml/2006/chart">
            <c:chart xmlns:r="http://schemas.openxmlformats.org/officeDocument/2006/relationships" xmlns:c="http://schemas.openxmlformats.org/drawingml/2006/chart" r:id="R7927e8b58e0943c7"/>
          </a:graphicData>
        </a:graphic>
      </p:graphicFrame>
      <p:sp>
        <p:nvSpPr>
          <p:cNvPr id="32" name="">
            <a:extLst xmlns:a="http://schemas.openxmlformats.org/drawingml/2006/main">
              <a:ext uri="{FF2B5EF4-FFF2-40B4-BE49-F238E27FC236}">
                <a16:creationId xmlns:a16="http://schemas.microsoft.com/office/drawing/2014/main" id="{FCD2022E-79FC-4418-838D-0229D6C2D6F4}"/>
              </a:ext>
            </a:extLst>
          </p:cNvPr>
          <p:cNvSpPr>
            <a:spLocks xmlns:a="http://schemas.openxmlformats.org/drawingml/2006/main" noGrp="1"/>
          </p:cNvSpPr>
          <p:nvPr/>
        </p:nvSpPr>
        <p:spPr>
          <a:xfrm xmlns:a="http://schemas.openxmlformats.org/drawingml/2006/main">
            <a:off x="361950" y="5095875"/>
            <a:ext cx="1905000" cy="2476500"/>
          </a:xfrm>
          <a:prstGeom xmlns:a="http://schemas.openxmlformats.org/drawingml/2006/main" prst="roundRect">
            <a:avLst>
              <a:gd name="adj" fmla="val 4000"/>
            </a:avLst>
          </a:prstGeom>
          <a:solidFill xmlns:a="http://schemas.openxmlformats.org/drawingml/2006/main">
            <a:srgbClr val="FFFFFF"/>
          </a:solidFill>
          <a:ln xmlns:a="http://schemas.openxmlformats.org/drawingml/2006/main" w="9525">
            <a:solidFill>
              <a:srgbClr val="C8DCD7"/>
            </a:solidFill>
            <a:prstDash val="solid"/>
          </a:ln>
        </p:spPr>
      </p:sp>
      <p:sp>
        <p:nvSpPr>
          <p:cNvPr id="33" name="">
            <a:extLst xmlns:a="http://schemas.openxmlformats.org/drawingml/2006/main">
              <a:ext uri="{FF2B5EF4-FFF2-40B4-BE49-F238E27FC236}">
                <a16:creationId xmlns:a16="http://schemas.microsoft.com/office/drawing/2014/main" id="{A3E67BC5-5FE3-4D86-A857-E5D4E5223600}"/>
              </a:ext>
            </a:extLst>
          </p:cNvPr>
          <p:cNvSpPr>
            <a:spLocks xmlns:a="http://schemas.openxmlformats.org/drawingml/2006/main" noGrp="1"/>
          </p:cNvSpPr>
          <p:nvPr/>
        </p:nvSpPr>
        <p:spPr>
          <a:xfrm xmlns:a="http://schemas.openxmlformats.org/drawingml/2006/main">
            <a:off x="495300" y="5219700"/>
            <a:ext cx="16573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116F68"/>
                </a:solidFill>
              </a:defRPr>
            </a:pPr>
            <a:r>
              <a:rPr sz="900" b="1">
                <a:solidFill>
                  <a:srgbClr val="116F68"/>
                </a:solidFill>
              </a:rPr>
              <a:t>TOP CHAINS / STATES</a:t>
            </a:r>
          </a:p>
        </p:txBody>
      </p:sp>
      <p:sp>
        <p:nvSpPr>
          <p:cNvPr id="34" name="">
            <a:extLst xmlns:a="http://schemas.openxmlformats.org/drawingml/2006/main">
              <a:ext uri="{FF2B5EF4-FFF2-40B4-BE49-F238E27FC236}">
                <a16:creationId xmlns:a16="http://schemas.microsoft.com/office/drawing/2014/main" id="{352E4BD3-925A-4318-8194-A27E11E524E4}"/>
              </a:ext>
            </a:extLst>
          </p:cNvPr>
          <p:cNvSpPr>
            <a:spLocks xmlns:a="http://schemas.openxmlformats.org/drawingml/2006/main" noGrp="1"/>
          </p:cNvSpPr>
          <p:nvPr/>
        </p:nvSpPr>
        <p:spPr>
          <a:xfrm xmlns:a="http://schemas.openxmlformats.org/drawingml/2006/main">
            <a:off x="495300" y="5543550"/>
            <a:ext cx="16573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1">
                <a:solidFill>
                  <a:srgbClr val="183B39"/>
                </a:solidFill>
              </a:defRPr>
            </a:pPr>
            <a:r>
              <a:rPr sz="825" b="1">
                <a:solidFill>
                  <a:srgbClr val="183B39"/>
                </a:solidFill>
              </a:rPr>
              <a:t>1. DMart  ₹2.53 Cr</a:t>
            </a:r>
          </a:p>
        </p:txBody>
      </p:sp>
      <p:sp>
        <p:nvSpPr>
          <p:cNvPr id="35" name="">
            <a:extLst xmlns:a="http://schemas.openxmlformats.org/drawingml/2006/main">
              <a:ext uri="{FF2B5EF4-FFF2-40B4-BE49-F238E27FC236}">
                <a16:creationId xmlns:a16="http://schemas.microsoft.com/office/drawing/2014/main" id="{FEBFDF5D-37C3-4EA3-BA26-D3B118C535BB}"/>
              </a:ext>
            </a:extLst>
          </p:cNvPr>
          <p:cNvSpPr>
            <a:spLocks xmlns:a="http://schemas.openxmlformats.org/drawingml/2006/main" noGrp="1"/>
          </p:cNvSpPr>
          <p:nvPr/>
        </p:nvSpPr>
        <p:spPr>
          <a:xfrm xmlns:a="http://schemas.openxmlformats.org/drawingml/2006/main">
            <a:off x="495300" y="5867400"/>
            <a:ext cx="16573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0">
                <a:solidFill>
                  <a:srgbClr val="183B39"/>
                </a:solidFill>
              </a:defRPr>
            </a:pPr>
            <a:r>
              <a:rPr sz="825" b="0">
                <a:solidFill>
                  <a:srgbClr val="183B39"/>
                </a:solidFill>
              </a:rPr>
              <a:t>2. Reliance  ₹2.40 Cr</a:t>
            </a:r>
          </a:p>
        </p:txBody>
      </p:sp>
      <p:sp>
        <p:nvSpPr>
          <p:cNvPr id="36" name="">
            <a:extLst xmlns:a="http://schemas.openxmlformats.org/drawingml/2006/main">
              <a:ext uri="{FF2B5EF4-FFF2-40B4-BE49-F238E27FC236}">
                <a16:creationId xmlns:a16="http://schemas.microsoft.com/office/drawing/2014/main" id="{2F52C013-BC78-4E41-9886-47E68BEBD3D2}"/>
              </a:ext>
            </a:extLst>
          </p:cNvPr>
          <p:cNvSpPr>
            <a:spLocks xmlns:a="http://schemas.openxmlformats.org/drawingml/2006/main" noGrp="1"/>
          </p:cNvSpPr>
          <p:nvPr/>
        </p:nvSpPr>
        <p:spPr>
          <a:xfrm xmlns:a="http://schemas.openxmlformats.org/drawingml/2006/main">
            <a:off x="495300" y="6191250"/>
            <a:ext cx="16573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0">
                <a:solidFill>
                  <a:srgbClr val="183B39"/>
                </a:solidFill>
              </a:defRPr>
            </a:pPr>
            <a:r>
              <a:rPr sz="825" b="0">
                <a:solidFill>
                  <a:srgbClr val="183B39"/>
                </a:solidFill>
              </a:rPr>
              <a:t>3. Apollo  ₹1.16 Cr</a:t>
            </a:r>
          </a:p>
        </p:txBody>
      </p:sp>
      <p:sp>
        <p:nvSpPr>
          <p:cNvPr id="37" name="">
            <a:extLst xmlns:a="http://schemas.openxmlformats.org/drawingml/2006/main">
              <a:ext uri="{FF2B5EF4-FFF2-40B4-BE49-F238E27FC236}">
                <a16:creationId xmlns:a16="http://schemas.microsoft.com/office/drawing/2014/main" id="{175FBF9A-A0BC-4B13-9048-33D1D538D963}"/>
              </a:ext>
            </a:extLst>
          </p:cNvPr>
          <p:cNvSpPr>
            <a:spLocks xmlns:a="http://schemas.openxmlformats.org/drawingml/2006/main" noGrp="1"/>
          </p:cNvSpPr>
          <p:nvPr/>
        </p:nvSpPr>
        <p:spPr>
          <a:xfrm xmlns:a="http://schemas.openxmlformats.org/drawingml/2006/main">
            <a:off x="495300" y="6572250"/>
            <a:ext cx="16573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1">
                <a:solidFill>
                  <a:srgbClr val="5F716E"/>
                </a:solidFill>
              </a:defRPr>
            </a:pPr>
            <a:r>
              <a:rPr sz="825" b="1">
                <a:solidFill>
                  <a:srgbClr val="5F716E"/>
                </a:solidFill>
              </a:rPr>
              <a:t>1. Delhi NCR  ₹1.97 Cr</a:t>
            </a:r>
          </a:p>
        </p:txBody>
      </p:sp>
      <p:sp>
        <p:nvSpPr>
          <p:cNvPr id="38" name="">
            <a:extLst xmlns:a="http://schemas.openxmlformats.org/drawingml/2006/main">
              <a:ext uri="{FF2B5EF4-FFF2-40B4-BE49-F238E27FC236}">
                <a16:creationId xmlns:a16="http://schemas.microsoft.com/office/drawing/2014/main" id="{B2EB835E-CF8B-409E-A03A-9782728BFCCA}"/>
              </a:ext>
            </a:extLst>
          </p:cNvPr>
          <p:cNvSpPr>
            <a:spLocks xmlns:a="http://schemas.openxmlformats.org/drawingml/2006/main" noGrp="1"/>
          </p:cNvSpPr>
          <p:nvPr/>
        </p:nvSpPr>
        <p:spPr>
          <a:xfrm xmlns:a="http://schemas.openxmlformats.org/drawingml/2006/main">
            <a:off x="495300" y="6858000"/>
            <a:ext cx="16573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0">
                <a:solidFill>
                  <a:srgbClr val="5F716E"/>
                </a:solidFill>
              </a:defRPr>
            </a:pPr>
            <a:r>
              <a:rPr sz="825" b="0">
                <a:solidFill>
                  <a:srgbClr val="5F716E"/>
                </a:solidFill>
              </a:rPr>
              <a:t>2. Rajasthan  ₹1.67 Cr</a:t>
            </a:r>
          </a:p>
        </p:txBody>
      </p:sp>
      <p:sp>
        <p:nvSpPr>
          <p:cNvPr id="39" name="">
            <a:extLst xmlns:a="http://schemas.openxmlformats.org/drawingml/2006/main">
              <a:ext uri="{FF2B5EF4-FFF2-40B4-BE49-F238E27FC236}">
                <a16:creationId xmlns:a16="http://schemas.microsoft.com/office/drawing/2014/main" id="{3D38EA24-1EF2-4BBA-94D1-5BC808752F0D}"/>
              </a:ext>
            </a:extLst>
          </p:cNvPr>
          <p:cNvSpPr>
            <a:spLocks xmlns:a="http://schemas.openxmlformats.org/drawingml/2006/main" noGrp="1"/>
          </p:cNvSpPr>
          <p:nvPr/>
        </p:nvSpPr>
        <p:spPr>
          <a:xfrm xmlns:a="http://schemas.openxmlformats.org/drawingml/2006/main">
            <a:off x="495300" y="7143750"/>
            <a:ext cx="16573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0">
                <a:solidFill>
                  <a:srgbClr val="5F716E"/>
                </a:solidFill>
              </a:defRPr>
            </a:pPr>
            <a:r>
              <a:rPr sz="825" b="0">
                <a:solidFill>
                  <a:srgbClr val="5F716E"/>
                </a:solidFill>
              </a:rPr>
              <a:t>3. Punjab  ₹1.55 Cr</a:t>
            </a:r>
          </a:p>
        </p:txBody>
      </p:sp>
      <p:sp>
        <p:nvSpPr>
          <p:cNvPr id="40" name="">
            <a:extLst xmlns:a="http://schemas.openxmlformats.org/drawingml/2006/main">
              <a:ext uri="{FF2B5EF4-FFF2-40B4-BE49-F238E27FC236}">
                <a16:creationId xmlns:a16="http://schemas.microsoft.com/office/drawing/2014/main" id="{E6B779BB-6424-433A-8F92-37AE4045DC77}"/>
              </a:ext>
            </a:extLst>
          </p:cNvPr>
          <p:cNvSpPr>
            <a:spLocks xmlns:a="http://schemas.openxmlformats.org/drawingml/2006/main" noGrp="1"/>
          </p:cNvSpPr>
          <p:nvPr/>
        </p:nvSpPr>
        <p:spPr>
          <a:xfrm xmlns:a="http://schemas.openxmlformats.org/drawingml/2006/main">
            <a:off x="2381250" y="5095875"/>
            <a:ext cx="4114800" cy="2476500"/>
          </a:xfrm>
          <a:prstGeom xmlns:a="http://schemas.openxmlformats.org/drawingml/2006/main" prst="roundRect">
            <a:avLst>
              <a:gd name="adj" fmla="val 3077"/>
            </a:avLst>
          </a:prstGeom>
          <a:solidFill xmlns:a="http://schemas.openxmlformats.org/drawingml/2006/main">
            <a:srgbClr val="FFFFFF"/>
          </a:solidFill>
          <a:ln xmlns:a="http://schemas.openxmlformats.org/drawingml/2006/main" w="9525">
            <a:solidFill>
              <a:srgbClr val="C8DCD7"/>
            </a:solidFill>
            <a:prstDash val="solid"/>
          </a:ln>
        </p:spPr>
      </p:sp>
      <p:sp>
        <p:nvSpPr>
          <p:cNvPr id="41" name="">
            <a:extLst xmlns:a="http://schemas.openxmlformats.org/drawingml/2006/main">
              <a:ext uri="{FF2B5EF4-FFF2-40B4-BE49-F238E27FC236}">
                <a16:creationId xmlns:a16="http://schemas.microsoft.com/office/drawing/2014/main" id="{0EF95DDD-C583-45AC-94E9-603891DBEA39}"/>
              </a:ext>
            </a:extLst>
          </p:cNvPr>
          <p:cNvSpPr>
            <a:spLocks xmlns:a="http://schemas.openxmlformats.org/drawingml/2006/main" noGrp="1"/>
          </p:cNvSpPr>
          <p:nvPr/>
        </p:nvSpPr>
        <p:spPr>
          <a:xfrm xmlns:a="http://schemas.openxmlformats.org/drawingml/2006/main">
            <a:off x="2514600" y="5219700"/>
            <a:ext cx="3810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116F68"/>
                </a:solidFill>
              </a:defRPr>
            </a:pPr>
            <a:r>
              <a:rPr sz="900" b="1">
                <a:solidFill>
                  <a:srgbClr val="116F68"/>
                </a:solidFill>
              </a:rPr>
              <a:t>TOP 2 BRANDS × TOP SUB-CATEGORIES</a:t>
            </a:r>
          </a:p>
        </p:txBody>
      </p:sp>
      <p:sp>
        <p:nvSpPr>
          <p:cNvPr id="42" name="">
            <a:extLst xmlns:a="http://schemas.openxmlformats.org/drawingml/2006/main">
              <a:ext uri="{FF2B5EF4-FFF2-40B4-BE49-F238E27FC236}">
                <a16:creationId xmlns:a16="http://schemas.microsoft.com/office/drawing/2014/main" id="{A9AA2C27-660E-4422-9C7D-B701920E36A2}"/>
              </a:ext>
            </a:extLst>
          </p:cNvPr>
          <p:cNvSpPr>
            <a:spLocks xmlns:a="http://schemas.openxmlformats.org/drawingml/2006/main" noGrp="1"/>
          </p:cNvSpPr>
          <p:nvPr/>
        </p:nvSpPr>
        <p:spPr>
          <a:xfrm xmlns:a="http://schemas.openxmlformats.org/drawingml/2006/main">
            <a:off x="2514600" y="5543550"/>
            <a:ext cx="1809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75" b="1">
                <a:solidFill>
                  <a:srgbClr val="28A596"/>
                </a:solidFill>
              </a:defRPr>
            </a:pPr>
            <a:r>
              <a:rPr sz="975" b="1">
                <a:solidFill>
                  <a:srgbClr val="28A596"/>
                </a:solidFill>
              </a:rPr>
              <a:t>Mamaearth | ₹4.74 Cr</a:t>
            </a:r>
          </a:p>
        </p:txBody>
      </p:sp>
      <p:sp>
        <p:nvSpPr>
          <p:cNvPr id="43" name="">
            <a:extLst xmlns:a="http://schemas.openxmlformats.org/drawingml/2006/main">
              <a:ext uri="{FF2B5EF4-FFF2-40B4-BE49-F238E27FC236}">
                <a16:creationId xmlns:a16="http://schemas.microsoft.com/office/drawing/2014/main" id="{560D6C34-05B0-4FD4-B92E-D888DC0A2AA4}"/>
              </a:ext>
            </a:extLst>
          </p:cNvPr>
          <p:cNvSpPr>
            <a:spLocks xmlns:a="http://schemas.openxmlformats.org/drawingml/2006/main" noGrp="1"/>
          </p:cNvSpPr>
          <p:nvPr/>
        </p:nvSpPr>
        <p:spPr>
          <a:xfrm xmlns:a="http://schemas.openxmlformats.org/drawingml/2006/main">
            <a:off x="2514600" y="5905500"/>
            <a:ext cx="1809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88" b="1">
                <a:solidFill>
                  <a:srgbClr val="183B39"/>
                </a:solidFill>
              </a:defRPr>
            </a:pPr>
            <a:r>
              <a:rPr sz="788" b="1">
                <a:solidFill>
                  <a:srgbClr val="183B39"/>
                </a:solidFill>
              </a:rPr>
              <a:t>1. Face Cleanser  ₹2.09 Cr</a:t>
            </a:r>
          </a:p>
        </p:txBody>
      </p:sp>
      <p:sp>
        <p:nvSpPr>
          <p:cNvPr id="44" name="">
            <a:extLst xmlns:a="http://schemas.openxmlformats.org/drawingml/2006/main">
              <a:ext uri="{FF2B5EF4-FFF2-40B4-BE49-F238E27FC236}">
                <a16:creationId xmlns:a16="http://schemas.microsoft.com/office/drawing/2014/main" id="{2F1CABFD-A32D-4118-9C07-17CD2373C426}"/>
              </a:ext>
            </a:extLst>
          </p:cNvPr>
          <p:cNvSpPr>
            <a:spLocks xmlns:a="http://schemas.openxmlformats.org/drawingml/2006/main" noGrp="1"/>
          </p:cNvSpPr>
          <p:nvPr/>
        </p:nvSpPr>
        <p:spPr>
          <a:xfrm xmlns:a="http://schemas.openxmlformats.org/drawingml/2006/main">
            <a:off x="2514600" y="6210300"/>
            <a:ext cx="1809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88" b="0">
                <a:solidFill>
                  <a:srgbClr val="183B39"/>
                </a:solidFill>
              </a:defRPr>
            </a:pPr>
            <a:r>
              <a:rPr sz="788" b="0">
                <a:solidFill>
                  <a:srgbClr val="183B39"/>
                </a:solidFill>
              </a:rPr>
              <a:t>2. Shampoo  ₹1.68 Cr</a:t>
            </a:r>
          </a:p>
        </p:txBody>
      </p:sp>
      <p:sp>
        <p:nvSpPr>
          <p:cNvPr id="45" name="">
            <a:extLst xmlns:a="http://schemas.openxmlformats.org/drawingml/2006/main">
              <a:ext uri="{FF2B5EF4-FFF2-40B4-BE49-F238E27FC236}">
                <a16:creationId xmlns:a16="http://schemas.microsoft.com/office/drawing/2014/main" id="{BD152060-C03E-451D-8B5F-13C5171B50E7}"/>
              </a:ext>
            </a:extLst>
          </p:cNvPr>
          <p:cNvSpPr>
            <a:spLocks xmlns:a="http://schemas.openxmlformats.org/drawingml/2006/main" noGrp="1"/>
          </p:cNvSpPr>
          <p:nvPr/>
        </p:nvSpPr>
        <p:spPr>
          <a:xfrm xmlns:a="http://schemas.openxmlformats.org/drawingml/2006/main">
            <a:off x="2514600" y="6515100"/>
            <a:ext cx="1809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88" b="0">
                <a:solidFill>
                  <a:srgbClr val="183B39"/>
                </a:solidFill>
              </a:defRPr>
            </a:pPr>
            <a:r>
              <a:rPr sz="788" b="0">
                <a:solidFill>
                  <a:srgbClr val="183B39"/>
                </a:solidFill>
              </a:rPr>
              <a:t>3. Sun Care  ₹0.35 Cr</a:t>
            </a:r>
          </a:p>
        </p:txBody>
      </p:sp>
      <p:sp>
        <p:nvSpPr>
          <p:cNvPr id="46" name="">
            <a:extLst xmlns:a="http://schemas.openxmlformats.org/drawingml/2006/main">
              <a:ext uri="{FF2B5EF4-FFF2-40B4-BE49-F238E27FC236}">
                <a16:creationId xmlns:a16="http://schemas.microsoft.com/office/drawing/2014/main" id="{DFB57E58-BD60-4F2D-A209-2A134F8DA9A2}"/>
              </a:ext>
            </a:extLst>
          </p:cNvPr>
          <p:cNvSpPr>
            <a:spLocks xmlns:a="http://schemas.openxmlformats.org/drawingml/2006/main" noGrp="1"/>
          </p:cNvSpPr>
          <p:nvPr/>
        </p:nvSpPr>
        <p:spPr>
          <a:xfrm xmlns:a="http://schemas.openxmlformats.org/drawingml/2006/main">
            <a:off x="4438650" y="5543550"/>
            <a:ext cx="1809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75" b="1">
                <a:solidFill>
                  <a:srgbClr val="2E7DA8"/>
                </a:solidFill>
              </a:defRPr>
            </a:pPr>
            <a:r>
              <a:rPr sz="975" b="1">
                <a:solidFill>
                  <a:srgbClr val="2E7DA8"/>
                </a:solidFill>
              </a:rPr>
              <a:t>The Derma Co. | ₹2.12 Cr</a:t>
            </a:r>
          </a:p>
        </p:txBody>
      </p:sp>
      <p:sp>
        <p:nvSpPr>
          <p:cNvPr id="47" name="">
            <a:extLst xmlns:a="http://schemas.openxmlformats.org/drawingml/2006/main">
              <a:ext uri="{FF2B5EF4-FFF2-40B4-BE49-F238E27FC236}">
                <a16:creationId xmlns:a16="http://schemas.microsoft.com/office/drawing/2014/main" id="{4CC292D6-C10A-4C19-BADA-15D90ED40962}"/>
              </a:ext>
            </a:extLst>
          </p:cNvPr>
          <p:cNvSpPr>
            <a:spLocks xmlns:a="http://schemas.openxmlformats.org/drawingml/2006/main" noGrp="1"/>
          </p:cNvSpPr>
          <p:nvPr/>
        </p:nvSpPr>
        <p:spPr>
          <a:xfrm xmlns:a="http://schemas.openxmlformats.org/drawingml/2006/main">
            <a:off x="4438650" y="5905500"/>
            <a:ext cx="1809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88" b="1">
                <a:solidFill>
                  <a:srgbClr val="183B39"/>
                </a:solidFill>
              </a:defRPr>
            </a:pPr>
            <a:r>
              <a:rPr sz="788" b="1">
                <a:solidFill>
                  <a:srgbClr val="183B39"/>
                </a:solidFill>
              </a:rPr>
              <a:t>1. Face Cleanser  ₹1.41 Cr</a:t>
            </a:r>
          </a:p>
        </p:txBody>
      </p:sp>
      <p:sp>
        <p:nvSpPr>
          <p:cNvPr id="48" name="">
            <a:extLst xmlns:a="http://schemas.openxmlformats.org/drawingml/2006/main">
              <a:ext uri="{FF2B5EF4-FFF2-40B4-BE49-F238E27FC236}">
                <a16:creationId xmlns:a16="http://schemas.microsoft.com/office/drawing/2014/main" id="{7A46550B-4E4F-4C92-9AE4-C46321FCDA29}"/>
              </a:ext>
            </a:extLst>
          </p:cNvPr>
          <p:cNvSpPr>
            <a:spLocks xmlns:a="http://schemas.openxmlformats.org/drawingml/2006/main" noGrp="1"/>
          </p:cNvSpPr>
          <p:nvPr/>
        </p:nvSpPr>
        <p:spPr>
          <a:xfrm xmlns:a="http://schemas.openxmlformats.org/drawingml/2006/main">
            <a:off x="4438650" y="6210300"/>
            <a:ext cx="1809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88" b="0">
                <a:solidFill>
                  <a:srgbClr val="183B39"/>
                </a:solidFill>
              </a:defRPr>
            </a:pPr>
            <a:r>
              <a:rPr sz="788" b="0">
                <a:solidFill>
                  <a:srgbClr val="183B39"/>
                </a:solidFill>
              </a:rPr>
              <a:t>2. Sun Care  ₹0.36 Cr</a:t>
            </a:r>
          </a:p>
        </p:txBody>
      </p:sp>
      <p:sp>
        <p:nvSpPr>
          <p:cNvPr id="49" name="">
            <a:extLst xmlns:a="http://schemas.openxmlformats.org/drawingml/2006/main">
              <a:ext uri="{FF2B5EF4-FFF2-40B4-BE49-F238E27FC236}">
                <a16:creationId xmlns:a16="http://schemas.microsoft.com/office/drawing/2014/main" id="{C6D4711A-BC36-49FF-B29E-2ABD95479BD5}"/>
              </a:ext>
            </a:extLst>
          </p:cNvPr>
          <p:cNvSpPr>
            <a:spLocks xmlns:a="http://schemas.openxmlformats.org/drawingml/2006/main" noGrp="1"/>
          </p:cNvSpPr>
          <p:nvPr/>
        </p:nvSpPr>
        <p:spPr>
          <a:xfrm xmlns:a="http://schemas.openxmlformats.org/drawingml/2006/main">
            <a:off x="4438650" y="6515100"/>
            <a:ext cx="1809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88" b="0">
                <a:solidFill>
                  <a:srgbClr val="183B39"/>
                </a:solidFill>
              </a:defRPr>
            </a:pPr>
            <a:r>
              <a:rPr sz="788" b="0">
                <a:solidFill>
                  <a:srgbClr val="183B39"/>
                </a:solidFill>
              </a:rPr>
              <a:t>3. Face Serum  ₹0.10 Cr</a:t>
            </a:r>
          </a:p>
        </p:txBody>
      </p:sp>
      <p:sp>
        <p:nvSpPr>
          <p:cNvPr id="50" name="">
            <a:extLst xmlns:a="http://schemas.openxmlformats.org/drawingml/2006/main">
              <a:ext uri="{FF2B5EF4-FFF2-40B4-BE49-F238E27FC236}">
                <a16:creationId xmlns:a16="http://schemas.microsoft.com/office/drawing/2014/main" id="{A8862AF1-EC12-44D7-9C7A-277F8187FF59}"/>
              </a:ext>
            </a:extLst>
          </p:cNvPr>
          <p:cNvSpPr>
            <a:spLocks xmlns:a="http://schemas.openxmlformats.org/drawingml/2006/main" noGrp="1"/>
          </p:cNvSpPr>
          <p:nvPr/>
        </p:nvSpPr>
        <p:spPr>
          <a:xfrm xmlns:a="http://schemas.openxmlformats.org/drawingml/2006/main">
            <a:off x="2514600" y="7200900"/>
            <a:ext cx="1619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1">
                <a:solidFill>
                  <a:srgbClr val="D6544D"/>
                </a:solidFill>
              </a:defRPr>
            </a:pPr>
            <a:r>
              <a:rPr sz="825" b="1">
                <a:solidFill>
                  <a:srgbClr val="D6544D"/>
                </a:solidFill>
              </a:rPr>
              <a:t>NPI CONTRIBUTION</a:t>
            </a:r>
          </a:p>
        </p:txBody>
      </p:sp>
      <p:sp>
        <p:nvSpPr>
          <p:cNvPr id="51" name="">
            <a:extLst xmlns:a="http://schemas.openxmlformats.org/drawingml/2006/main">
              <a:ext uri="{FF2B5EF4-FFF2-40B4-BE49-F238E27FC236}">
                <a16:creationId xmlns:a16="http://schemas.microsoft.com/office/drawing/2014/main" id="{974DCF24-6E42-419B-BC9B-69C4204DE394}"/>
              </a:ext>
            </a:extLst>
          </p:cNvPr>
          <p:cNvSpPr>
            <a:spLocks xmlns:a="http://schemas.openxmlformats.org/drawingml/2006/main" noGrp="1"/>
          </p:cNvSpPr>
          <p:nvPr/>
        </p:nvSpPr>
        <p:spPr>
          <a:xfrm xmlns:a="http://schemas.openxmlformats.org/drawingml/2006/main">
            <a:off x="4095750" y="7124700"/>
            <a:ext cx="22098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690" b="0">
                <a:solidFill>
                  <a:srgbClr val="5F716E"/>
                </a:solidFill>
              </a:defRPr>
            </a:pPr>
            <a:r>
              <a:rPr sz="690" b="0">
                <a:solidFill>
                  <a:srgbClr val="5F716E"/>
                </a:solidFill>
              </a:rPr>
              <a:t>₹0.65 Cr | 9.2% of zone | ME Onion Hai… • ME Onion hai… • ME Vitamin C…</a:t>
            </a:r>
          </a:p>
        </p:txBody>
      </p:sp>
      <p:sp>
        <p:nvSpPr>
          <p:cNvPr id="52" name="">
            <a:extLst xmlns:a="http://schemas.openxmlformats.org/drawingml/2006/main">
              <a:ext uri="{FF2B5EF4-FFF2-40B4-BE49-F238E27FC236}">
                <a16:creationId xmlns:a16="http://schemas.microsoft.com/office/drawing/2014/main" id="{6317928A-5F8E-46CC-ADF0-33B78F36D3E2}"/>
              </a:ext>
            </a:extLst>
          </p:cNvPr>
          <p:cNvSpPr>
            <a:spLocks xmlns:a="http://schemas.openxmlformats.org/drawingml/2006/main" noGrp="1"/>
          </p:cNvSpPr>
          <p:nvPr/>
        </p:nvSpPr>
        <p:spPr>
          <a:xfrm xmlns:a="http://schemas.openxmlformats.org/drawingml/2006/main">
            <a:off x="361950" y="7762875"/>
            <a:ext cx="6134100" cy="257175"/>
          </a:xfrm>
          <a:prstGeom xmlns:a="http://schemas.openxmlformats.org/drawingml/2006/main" prst="rect">
            <a:avLst/>
          </a:prstGeom>
          <a:solidFill xmlns:a="http://schemas.openxmlformats.org/drawingml/2006/main">
            <a:srgbClr val="116F68"/>
          </a:solidFill>
          <a:ln xmlns:a="http://schemas.openxmlformats.org/drawingml/2006/main" w="0">
            <a:solidFill>
              <a:srgbClr val="116F68"/>
            </a:solidFill>
            <a:prstDash val="solid"/>
          </a:ln>
        </p:spPr>
      </p:sp>
      <p:sp>
        <p:nvSpPr>
          <p:cNvPr id="53" name="">
            <a:extLst xmlns:a="http://schemas.openxmlformats.org/drawingml/2006/main">
              <a:ext uri="{FF2B5EF4-FFF2-40B4-BE49-F238E27FC236}">
                <a16:creationId xmlns:a16="http://schemas.microsoft.com/office/drawing/2014/main" id="{759F6675-4716-4CA1-B00B-A34EBC15160A}"/>
              </a:ext>
            </a:extLst>
          </p:cNvPr>
          <p:cNvSpPr>
            <a:spLocks xmlns:a="http://schemas.openxmlformats.org/drawingml/2006/main" noGrp="1"/>
          </p:cNvSpPr>
          <p:nvPr/>
        </p:nvSpPr>
        <p:spPr>
          <a:xfrm xmlns:a="http://schemas.openxmlformats.org/drawingml/2006/main">
            <a:off x="457200" y="7772400"/>
            <a:ext cx="59436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FFFFFF"/>
                </a:solidFill>
              </a:defRPr>
            </a:pPr>
            <a:r>
              <a:rPr sz="900" b="1">
                <a:solidFill>
                  <a:srgbClr val="FFFFFF"/>
                </a:solidFill>
              </a:rPr>
              <a:t>15 ZONE-SPECIFIC INSIGHTS AND ACTIONS</a:t>
            </a:r>
          </a:p>
        </p:txBody>
      </p:sp>
      <p:sp>
        <p:nvSpPr>
          <p:cNvPr id="54" name="">
            <a:extLst xmlns:a="http://schemas.openxmlformats.org/drawingml/2006/main">
              <a:ext uri="{FF2B5EF4-FFF2-40B4-BE49-F238E27FC236}">
                <a16:creationId xmlns:a16="http://schemas.microsoft.com/office/drawing/2014/main" id="{89469294-E7E0-49C3-AE21-58464AF67580}"/>
              </a:ext>
            </a:extLst>
          </p:cNvPr>
          <p:cNvSpPr>
            <a:spLocks xmlns:a="http://schemas.openxmlformats.org/drawingml/2006/main" noGrp="1"/>
          </p:cNvSpPr>
          <p:nvPr/>
        </p:nvSpPr>
        <p:spPr>
          <a:xfrm xmlns:a="http://schemas.openxmlformats.org/drawingml/2006/main">
            <a:off x="361950" y="8096250"/>
            <a:ext cx="1981200" cy="514350"/>
          </a:xfrm>
          <a:prstGeom xmlns:a="http://schemas.openxmlformats.org/drawingml/2006/main" prst="roundRect">
            <a:avLst>
              <a:gd name="adj" fmla="val 14815"/>
            </a:avLst>
          </a:prstGeom>
          <a:solidFill xmlns:a="http://schemas.openxmlformats.org/drawingml/2006/main">
            <a:srgbClr val="DFF2ED"/>
          </a:solidFill>
          <a:ln xmlns:a="http://schemas.openxmlformats.org/drawingml/2006/main" w="9525">
            <a:solidFill>
              <a:srgbClr val="C8DCD7"/>
            </a:solidFill>
            <a:prstDash val="solid"/>
          </a:ln>
        </p:spPr>
      </p:sp>
      <p:sp>
        <p:nvSpPr>
          <p:cNvPr id="55" name="">
            <a:extLst xmlns:a="http://schemas.openxmlformats.org/drawingml/2006/main">
              <a:ext uri="{FF2B5EF4-FFF2-40B4-BE49-F238E27FC236}">
                <a16:creationId xmlns:a16="http://schemas.microsoft.com/office/drawing/2014/main" id="{0DA28C4D-A8A7-46E4-97D1-F99B39F3F1A2}"/>
              </a:ext>
            </a:extLst>
          </p:cNvPr>
          <p:cNvSpPr>
            <a:spLocks xmlns:a="http://schemas.openxmlformats.org/drawingml/2006/main" noGrp="1"/>
          </p:cNvSpPr>
          <p:nvPr/>
        </p:nvSpPr>
        <p:spPr>
          <a:xfrm xmlns:a="http://schemas.openxmlformats.org/drawingml/2006/main">
            <a:off x="419100" y="814387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28A596"/>
                </a:solidFill>
              </a:defRPr>
            </a:pPr>
            <a:r>
              <a:rPr sz="675" b="1">
                <a:solidFill>
                  <a:srgbClr val="28A596"/>
                </a:solidFill>
              </a:rPr>
              <a:t>01</a:t>
            </a:r>
          </a:p>
        </p:txBody>
      </p:sp>
      <p:sp>
        <p:nvSpPr>
          <p:cNvPr id="56" name="">
            <a:extLst xmlns:a="http://schemas.openxmlformats.org/drawingml/2006/main">
              <a:ext uri="{FF2B5EF4-FFF2-40B4-BE49-F238E27FC236}">
                <a16:creationId xmlns:a16="http://schemas.microsoft.com/office/drawing/2014/main" id="{C5CA30C5-0E4F-4C47-A8C7-BADC08B7C413}"/>
              </a:ext>
            </a:extLst>
          </p:cNvPr>
          <p:cNvSpPr>
            <a:spLocks xmlns:a="http://schemas.openxmlformats.org/drawingml/2006/main" noGrp="1"/>
          </p:cNvSpPr>
          <p:nvPr/>
        </p:nvSpPr>
        <p:spPr>
          <a:xfrm xmlns:a="http://schemas.openxmlformats.org/drawingml/2006/main">
            <a:off x="742950" y="813435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1">
                <a:solidFill>
                  <a:srgbClr val="183B39"/>
                </a:solidFill>
              </a:defRPr>
            </a:pPr>
            <a:r>
              <a:rPr sz="713" b="1">
                <a:solidFill>
                  <a:srgbClr val="183B39"/>
                </a:solidFill>
              </a:rPr>
              <a:t>North delivers ₹6.99 Cr offtake, 19.4% of national value.</a:t>
            </a:r>
          </a:p>
        </p:txBody>
      </p:sp>
      <p:sp>
        <p:nvSpPr>
          <p:cNvPr id="57" name="">
            <a:extLst xmlns:a="http://schemas.openxmlformats.org/drawingml/2006/main">
              <a:ext uri="{FF2B5EF4-FFF2-40B4-BE49-F238E27FC236}">
                <a16:creationId xmlns:a16="http://schemas.microsoft.com/office/drawing/2014/main" id="{41EFE599-847E-4A33-95A2-B6772802B055}"/>
              </a:ext>
            </a:extLst>
          </p:cNvPr>
          <p:cNvSpPr>
            <a:spLocks xmlns:a="http://schemas.openxmlformats.org/drawingml/2006/main" noGrp="1"/>
          </p:cNvSpPr>
          <p:nvPr/>
        </p:nvSpPr>
        <p:spPr>
          <a:xfrm xmlns:a="http://schemas.openxmlformats.org/drawingml/2006/main">
            <a:off x="2438400" y="8096250"/>
            <a:ext cx="1981200" cy="514350"/>
          </a:xfrm>
          <a:prstGeom xmlns:a="http://schemas.openxmlformats.org/drawingml/2006/main" prst="roundRect">
            <a:avLst>
              <a:gd name="adj" fmla="val 14815"/>
            </a:avLst>
          </a:prstGeom>
          <a:solidFill xmlns:a="http://schemas.openxmlformats.org/drawingml/2006/main">
            <a:srgbClr val="DFF2ED"/>
          </a:solidFill>
          <a:ln xmlns:a="http://schemas.openxmlformats.org/drawingml/2006/main" w="9525">
            <a:solidFill>
              <a:srgbClr val="C8DCD7"/>
            </a:solidFill>
            <a:prstDash val="solid"/>
          </a:ln>
        </p:spPr>
      </p:sp>
      <p:sp>
        <p:nvSpPr>
          <p:cNvPr id="58" name="">
            <a:extLst xmlns:a="http://schemas.openxmlformats.org/drawingml/2006/main">
              <a:ext uri="{FF2B5EF4-FFF2-40B4-BE49-F238E27FC236}">
                <a16:creationId xmlns:a16="http://schemas.microsoft.com/office/drawing/2014/main" id="{65EC825C-0A2F-4D7B-850C-352CD8FB8BED}"/>
              </a:ext>
            </a:extLst>
          </p:cNvPr>
          <p:cNvSpPr>
            <a:spLocks xmlns:a="http://schemas.openxmlformats.org/drawingml/2006/main" noGrp="1"/>
          </p:cNvSpPr>
          <p:nvPr/>
        </p:nvSpPr>
        <p:spPr>
          <a:xfrm xmlns:a="http://schemas.openxmlformats.org/drawingml/2006/main">
            <a:off x="2495550" y="814387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28A596"/>
                </a:solidFill>
              </a:defRPr>
            </a:pPr>
            <a:r>
              <a:rPr sz="675" b="1">
                <a:solidFill>
                  <a:srgbClr val="28A596"/>
                </a:solidFill>
              </a:rPr>
              <a:t>02</a:t>
            </a:r>
          </a:p>
        </p:txBody>
      </p:sp>
      <p:sp>
        <p:nvSpPr>
          <p:cNvPr id="59" name="">
            <a:extLst xmlns:a="http://schemas.openxmlformats.org/drawingml/2006/main">
              <a:ext uri="{FF2B5EF4-FFF2-40B4-BE49-F238E27FC236}">
                <a16:creationId xmlns:a16="http://schemas.microsoft.com/office/drawing/2014/main" id="{FE473B89-4BEB-4F87-9FD1-B5CBA709D02E}"/>
              </a:ext>
            </a:extLst>
          </p:cNvPr>
          <p:cNvSpPr>
            <a:spLocks xmlns:a="http://schemas.openxmlformats.org/drawingml/2006/main" noGrp="1"/>
          </p:cNvSpPr>
          <p:nvPr/>
        </p:nvSpPr>
        <p:spPr>
          <a:xfrm xmlns:a="http://schemas.openxmlformats.org/drawingml/2006/main">
            <a:off x="2819400" y="813435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1">
                <a:solidFill>
                  <a:srgbClr val="183B39"/>
                </a:solidFill>
              </a:defRPr>
            </a:pPr>
            <a:r>
              <a:rPr sz="713" b="1">
                <a:solidFill>
                  <a:srgbClr val="183B39"/>
                </a:solidFill>
              </a:rPr>
              <a:t>Primary is ₹11.95 Cr versus ₹6.99 Cr offtake.</a:t>
            </a:r>
          </a:p>
        </p:txBody>
      </p:sp>
      <p:sp>
        <p:nvSpPr>
          <p:cNvPr id="60" name="">
            <a:extLst xmlns:a="http://schemas.openxmlformats.org/drawingml/2006/main">
              <a:ext uri="{FF2B5EF4-FFF2-40B4-BE49-F238E27FC236}">
                <a16:creationId xmlns:a16="http://schemas.microsoft.com/office/drawing/2014/main" id="{52CB28DE-C73E-403D-801C-518DBAFBCFB0}"/>
              </a:ext>
            </a:extLst>
          </p:cNvPr>
          <p:cNvSpPr>
            <a:spLocks xmlns:a="http://schemas.openxmlformats.org/drawingml/2006/main" noGrp="1"/>
          </p:cNvSpPr>
          <p:nvPr/>
        </p:nvSpPr>
        <p:spPr>
          <a:xfrm xmlns:a="http://schemas.openxmlformats.org/drawingml/2006/main">
            <a:off x="4514850" y="8096250"/>
            <a:ext cx="1981200" cy="514350"/>
          </a:xfrm>
          <a:prstGeom xmlns:a="http://schemas.openxmlformats.org/drawingml/2006/main" prst="roundRect">
            <a:avLst>
              <a:gd name="adj" fmla="val 14815"/>
            </a:avLst>
          </a:prstGeom>
          <a:solidFill xmlns:a="http://schemas.openxmlformats.org/drawingml/2006/main">
            <a:srgbClr val="DFF2ED"/>
          </a:solidFill>
          <a:ln xmlns:a="http://schemas.openxmlformats.org/drawingml/2006/main" w="9525">
            <a:solidFill>
              <a:srgbClr val="C8DCD7"/>
            </a:solidFill>
            <a:prstDash val="solid"/>
          </a:ln>
        </p:spPr>
      </p:sp>
      <p:sp>
        <p:nvSpPr>
          <p:cNvPr id="61" name="">
            <a:extLst xmlns:a="http://schemas.openxmlformats.org/drawingml/2006/main">
              <a:ext uri="{FF2B5EF4-FFF2-40B4-BE49-F238E27FC236}">
                <a16:creationId xmlns:a16="http://schemas.microsoft.com/office/drawing/2014/main" id="{6F4D11FA-50F1-4140-80A0-F48A5837336C}"/>
              </a:ext>
            </a:extLst>
          </p:cNvPr>
          <p:cNvSpPr>
            <a:spLocks xmlns:a="http://schemas.openxmlformats.org/drawingml/2006/main" noGrp="1"/>
          </p:cNvSpPr>
          <p:nvPr/>
        </p:nvSpPr>
        <p:spPr>
          <a:xfrm xmlns:a="http://schemas.openxmlformats.org/drawingml/2006/main">
            <a:off x="4572000" y="814387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28A596"/>
                </a:solidFill>
              </a:defRPr>
            </a:pPr>
            <a:r>
              <a:rPr sz="675" b="1">
                <a:solidFill>
                  <a:srgbClr val="28A596"/>
                </a:solidFill>
              </a:rPr>
              <a:t>03</a:t>
            </a:r>
          </a:p>
        </p:txBody>
      </p:sp>
      <p:sp>
        <p:nvSpPr>
          <p:cNvPr id="62" name="">
            <a:extLst xmlns:a="http://schemas.openxmlformats.org/drawingml/2006/main">
              <a:ext uri="{FF2B5EF4-FFF2-40B4-BE49-F238E27FC236}">
                <a16:creationId xmlns:a16="http://schemas.microsoft.com/office/drawing/2014/main" id="{027F4B36-5E32-4DDD-B4A9-74879CBCA209}"/>
              </a:ext>
            </a:extLst>
          </p:cNvPr>
          <p:cNvSpPr>
            <a:spLocks xmlns:a="http://schemas.openxmlformats.org/drawingml/2006/main" noGrp="1"/>
          </p:cNvSpPr>
          <p:nvPr/>
        </p:nvSpPr>
        <p:spPr>
          <a:xfrm xmlns:a="http://schemas.openxmlformats.org/drawingml/2006/main">
            <a:off x="4895850" y="813435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1">
                <a:solidFill>
                  <a:srgbClr val="183B39"/>
                </a:solidFill>
              </a:defRPr>
            </a:pPr>
            <a:r>
              <a:rPr sz="713" b="1">
                <a:solidFill>
                  <a:srgbClr val="183B39"/>
                </a:solidFill>
              </a:rPr>
              <a:t>Flow conversion is 58.5% for July.</a:t>
            </a:r>
          </a:p>
        </p:txBody>
      </p:sp>
      <p:sp>
        <p:nvSpPr>
          <p:cNvPr id="63" name="">
            <a:extLst xmlns:a="http://schemas.openxmlformats.org/drawingml/2006/main">
              <a:ext uri="{FF2B5EF4-FFF2-40B4-BE49-F238E27FC236}">
                <a16:creationId xmlns:a16="http://schemas.microsoft.com/office/drawing/2014/main" id="{DA2EB2B0-B09B-4601-B468-9055B40BF151}"/>
              </a:ext>
            </a:extLst>
          </p:cNvPr>
          <p:cNvSpPr>
            <a:spLocks xmlns:a="http://schemas.openxmlformats.org/drawingml/2006/main" noGrp="1"/>
          </p:cNvSpPr>
          <p:nvPr/>
        </p:nvSpPr>
        <p:spPr>
          <a:xfrm xmlns:a="http://schemas.openxmlformats.org/drawingml/2006/main">
            <a:off x="361950" y="8686800"/>
            <a:ext cx="1981200" cy="514350"/>
          </a:xfrm>
          <a:prstGeom xmlns:a="http://schemas.openxmlformats.org/drawingml/2006/main" prst="roundRect">
            <a:avLst>
              <a:gd name="adj" fmla="val 14815"/>
            </a:avLst>
          </a:prstGeom>
          <a:solidFill xmlns:a="http://schemas.openxmlformats.org/drawingml/2006/main">
            <a:srgbClr val="DFF2ED"/>
          </a:solidFill>
          <a:ln xmlns:a="http://schemas.openxmlformats.org/drawingml/2006/main" w="9525">
            <a:solidFill>
              <a:srgbClr val="C8DCD7"/>
            </a:solidFill>
            <a:prstDash val="solid"/>
          </a:ln>
        </p:spPr>
      </p:sp>
      <p:sp>
        <p:nvSpPr>
          <p:cNvPr id="64" name="">
            <a:extLst xmlns:a="http://schemas.openxmlformats.org/drawingml/2006/main">
              <a:ext uri="{FF2B5EF4-FFF2-40B4-BE49-F238E27FC236}">
                <a16:creationId xmlns:a16="http://schemas.microsoft.com/office/drawing/2014/main" id="{6B85BDF3-30EE-4C0E-8668-61E41386C6A4}"/>
              </a:ext>
            </a:extLst>
          </p:cNvPr>
          <p:cNvSpPr>
            <a:spLocks xmlns:a="http://schemas.openxmlformats.org/drawingml/2006/main" noGrp="1"/>
          </p:cNvSpPr>
          <p:nvPr/>
        </p:nvSpPr>
        <p:spPr>
          <a:xfrm xmlns:a="http://schemas.openxmlformats.org/drawingml/2006/main">
            <a:off x="419100" y="873442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28A596"/>
                </a:solidFill>
              </a:defRPr>
            </a:pPr>
            <a:r>
              <a:rPr sz="675" b="1">
                <a:solidFill>
                  <a:srgbClr val="28A596"/>
                </a:solidFill>
              </a:rPr>
              <a:t>04</a:t>
            </a:r>
          </a:p>
        </p:txBody>
      </p:sp>
      <p:sp>
        <p:nvSpPr>
          <p:cNvPr id="65" name="">
            <a:extLst xmlns:a="http://schemas.openxmlformats.org/drawingml/2006/main">
              <a:ext uri="{FF2B5EF4-FFF2-40B4-BE49-F238E27FC236}">
                <a16:creationId xmlns:a16="http://schemas.microsoft.com/office/drawing/2014/main" id="{E9508951-E639-4C09-B905-32202529BE75}"/>
              </a:ext>
            </a:extLst>
          </p:cNvPr>
          <p:cNvSpPr>
            <a:spLocks xmlns:a="http://schemas.openxmlformats.org/drawingml/2006/main" noGrp="1"/>
          </p:cNvSpPr>
          <p:nvPr/>
        </p:nvSpPr>
        <p:spPr>
          <a:xfrm xmlns:a="http://schemas.openxmlformats.org/drawingml/2006/main">
            <a:off x="742950" y="872490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0">
                <a:solidFill>
                  <a:srgbClr val="183B39"/>
                </a:solidFill>
              </a:defRPr>
            </a:pPr>
            <a:r>
              <a:rPr sz="713" b="0">
                <a:solidFill>
                  <a:srgbClr val="183B39"/>
                </a:solidFill>
              </a:rPr>
              <a:t>The same-period flow gap is ₹4.97 Cr.</a:t>
            </a:r>
          </a:p>
        </p:txBody>
      </p:sp>
      <p:sp>
        <p:nvSpPr>
          <p:cNvPr id="66" name="">
            <a:extLst xmlns:a="http://schemas.openxmlformats.org/drawingml/2006/main">
              <a:ext uri="{FF2B5EF4-FFF2-40B4-BE49-F238E27FC236}">
                <a16:creationId xmlns:a16="http://schemas.microsoft.com/office/drawing/2014/main" id="{2C760F37-6752-427D-92A7-98CFC188F35D}"/>
              </a:ext>
            </a:extLst>
          </p:cNvPr>
          <p:cNvSpPr>
            <a:spLocks xmlns:a="http://schemas.openxmlformats.org/drawingml/2006/main" noGrp="1"/>
          </p:cNvSpPr>
          <p:nvPr/>
        </p:nvSpPr>
        <p:spPr>
          <a:xfrm xmlns:a="http://schemas.openxmlformats.org/drawingml/2006/main">
            <a:off x="2438400" y="8686800"/>
            <a:ext cx="1981200" cy="514350"/>
          </a:xfrm>
          <a:prstGeom xmlns:a="http://schemas.openxmlformats.org/drawingml/2006/main" prst="roundRect">
            <a:avLst>
              <a:gd name="adj" fmla="val 14815"/>
            </a:avLst>
          </a:prstGeom>
          <a:solidFill xmlns:a="http://schemas.openxmlformats.org/drawingml/2006/main">
            <a:srgbClr val="DFF2ED"/>
          </a:solidFill>
          <a:ln xmlns:a="http://schemas.openxmlformats.org/drawingml/2006/main" w="9525">
            <a:solidFill>
              <a:srgbClr val="C8DCD7"/>
            </a:solidFill>
            <a:prstDash val="solid"/>
          </a:ln>
        </p:spPr>
      </p:sp>
      <p:sp>
        <p:nvSpPr>
          <p:cNvPr id="67" name="">
            <a:extLst xmlns:a="http://schemas.openxmlformats.org/drawingml/2006/main">
              <a:ext uri="{FF2B5EF4-FFF2-40B4-BE49-F238E27FC236}">
                <a16:creationId xmlns:a16="http://schemas.microsoft.com/office/drawing/2014/main" id="{5894A930-EE51-469C-8A24-43FF91331927}"/>
              </a:ext>
            </a:extLst>
          </p:cNvPr>
          <p:cNvSpPr>
            <a:spLocks xmlns:a="http://schemas.openxmlformats.org/drawingml/2006/main" noGrp="1"/>
          </p:cNvSpPr>
          <p:nvPr/>
        </p:nvSpPr>
        <p:spPr>
          <a:xfrm xmlns:a="http://schemas.openxmlformats.org/drawingml/2006/main">
            <a:off x="2495550" y="873442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28A596"/>
                </a:solidFill>
              </a:defRPr>
            </a:pPr>
            <a:r>
              <a:rPr sz="675" b="1">
                <a:solidFill>
                  <a:srgbClr val="28A596"/>
                </a:solidFill>
              </a:rPr>
              <a:t>05</a:t>
            </a:r>
          </a:p>
        </p:txBody>
      </p:sp>
      <p:sp>
        <p:nvSpPr>
          <p:cNvPr id="68" name="">
            <a:extLst xmlns:a="http://schemas.openxmlformats.org/drawingml/2006/main">
              <a:ext uri="{FF2B5EF4-FFF2-40B4-BE49-F238E27FC236}">
                <a16:creationId xmlns:a16="http://schemas.microsoft.com/office/drawing/2014/main" id="{1EB7DF2F-4FDF-48DE-BC54-EAC026062FF1}"/>
              </a:ext>
            </a:extLst>
          </p:cNvPr>
          <p:cNvSpPr>
            <a:spLocks xmlns:a="http://schemas.openxmlformats.org/drawingml/2006/main" noGrp="1"/>
          </p:cNvSpPr>
          <p:nvPr/>
        </p:nvSpPr>
        <p:spPr>
          <a:xfrm xmlns:a="http://schemas.openxmlformats.org/drawingml/2006/main">
            <a:off x="2819400" y="872490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0">
                <a:solidFill>
                  <a:srgbClr val="183B39"/>
                </a:solidFill>
              </a:defRPr>
            </a:pPr>
            <a:r>
              <a:rPr sz="713" b="0">
                <a:solidFill>
                  <a:srgbClr val="183B39"/>
                </a:solidFill>
              </a:rPr>
              <a:t>North ranks #3 by national offtake.</a:t>
            </a:r>
          </a:p>
        </p:txBody>
      </p:sp>
      <p:sp>
        <p:nvSpPr>
          <p:cNvPr id="69" name="">
            <a:extLst xmlns:a="http://schemas.openxmlformats.org/drawingml/2006/main">
              <a:ext uri="{FF2B5EF4-FFF2-40B4-BE49-F238E27FC236}">
                <a16:creationId xmlns:a16="http://schemas.microsoft.com/office/drawing/2014/main" id="{69F616A2-45B3-4FA5-BBEA-72AC79547999}"/>
              </a:ext>
            </a:extLst>
          </p:cNvPr>
          <p:cNvSpPr>
            <a:spLocks xmlns:a="http://schemas.openxmlformats.org/drawingml/2006/main" noGrp="1"/>
          </p:cNvSpPr>
          <p:nvPr/>
        </p:nvSpPr>
        <p:spPr>
          <a:xfrm xmlns:a="http://schemas.openxmlformats.org/drawingml/2006/main">
            <a:off x="4514850" y="8686800"/>
            <a:ext cx="1981200" cy="514350"/>
          </a:xfrm>
          <a:prstGeom xmlns:a="http://schemas.openxmlformats.org/drawingml/2006/main" prst="roundRect">
            <a:avLst>
              <a:gd name="adj" fmla="val 14815"/>
            </a:avLst>
          </a:prstGeom>
          <a:solidFill xmlns:a="http://schemas.openxmlformats.org/drawingml/2006/main">
            <a:srgbClr val="FFFFFF"/>
          </a:solidFill>
          <a:ln xmlns:a="http://schemas.openxmlformats.org/drawingml/2006/main" w="9525">
            <a:solidFill>
              <a:srgbClr val="C8DCD7"/>
            </a:solidFill>
            <a:prstDash val="solid"/>
          </a:ln>
        </p:spPr>
      </p:sp>
      <p:sp>
        <p:nvSpPr>
          <p:cNvPr id="70" name="">
            <a:extLst xmlns:a="http://schemas.openxmlformats.org/drawingml/2006/main">
              <a:ext uri="{FF2B5EF4-FFF2-40B4-BE49-F238E27FC236}">
                <a16:creationId xmlns:a16="http://schemas.microsoft.com/office/drawing/2014/main" id="{82EBBAC4-DF12-4151-840E-E372C7B0B0B9}"/>
              </a:ext>
            </a:extLst>
          </p:cNvPr>
          <p:cNvSpPr>
            <a:spLocks xmlns:a="http://schemas.openxmlformats.org/drawingml/2006/main" noGrp="1"/>
          </p:cNvSpPr>
          <p:nvPr/>
        </p:nvSpPr>
        <p:spPr>
          <a:xfrm xmlns:a="http://schemas.openxmlformats.org/drawingml/2006/main">
            <a:off x="4572000" y="873442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D6544D"/>
                </a:solidFill>
              </a:defRPr>
            </a:pPr>
            <a:r>
              <a:rPr sz="675" b="1">
                <a:solidFill>
                  <a:srgbClr val="D6544D"/>
                </a:solidFill>
              </a:rPr>
              <a:t>06</a:t>
            </a:r>
          </a:p>
        </p:txBody>
      </p:sp>
      <p:sp>
        <p:nvSpPr>
          <p:cNvPr id="71" name="">
            <a:extLst xmlns:a="http://schemas.openxmlformats.org/drawingml/2006/main">
              <a:ext uri="{FF2B5EF4-FFF2-40B4-BE49-F238E27FC236}">
                <a16:creationId xmlns:a16="http://schemas.microsoft.com/office/drawing/2014/main" id="{B9384FF5-80B4-4A54-9779-F1F3582D43AA}"/>
              </a:ext>
            </a:extLst>
          </p:cNvPr>
          <p:cNvSpPr>
            <a:spLocks xmlns:a="http://schemas.openxmlformats.org/drawingml/2006/main" noGrp="1"/>
          </p:cNvSpPr>
          <p:nvPr/>
        </p:nvSpPr>
        <p:spPr>
          <a:xfrm xmlns:a="http://schemas.openxmlformats.org/drawingml/2006/main">
            <a:off x="4895850" y="872490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0">
                <a:solidFill>
                  <a:srgbClr val="183B39"/>
                </a:solidFill>
              </a:defRPr>
            </a:pPr>
            <a:r>
              <a:rPr sz="713" b="0">
                <a:solidFill>
                  <a:srgbClr val="183B39"/>
                </a:solidFill>
              </a:rPr>
              <a:t>Delhi NCR ranks #1 with ₹1.97 Cr offtake.</a:t>
            </a:r>
          </a:p>
        </p:txBody>
      </p:sp>
      <p:sp>
        <p:nvSpPr>
          <p:cNvPr id="72" name="">
            <a:extLst xmlns:a="http://schemas.openxmlformats.org/drawingml/2006/main">
              <a:ext uri="{FF2B5EF4-FFF2-40B4-BE49-F238E27FC236}">
                <a16:creationId xmlns:a16="http://schemas.microsoft.com/office/drawing/2014/main" id="{FBBBA56A-3E28-4D6A-B261-BC0967D84BFB}"/>
              </a:ext>
            </a:extLst>
          </p:cNvPr>
          <p:cNvSpPr>
            <a:spLocks xmlns:a="http://schemas.openxmlformats.org/drawingml/2006/main" noGrp="1"/>
          </p:cNvSpPr>
          <p:nvPr/>
        </p:nvSpPr>
        <p:spPr>
          <a:xfrm xmlns:a="http://schemas.openxmlformats.org/drawingml/2006/main">
            <a:off x="361950" y="9277350"/>
            <a:ext cx="1981200" cy="514350"/>
          </a:xfrm>
          <a:prstGeom xmlns:a="http://schemas.openxmlformats.org/drawingml/2006/main" prst="roundRect">
            <a:avLst>
              <a:gd name="adj" fmla="val 14815"/>
            </a:avLst>
          </a:prstGeom>
          <a:solidFill xmlns:a="http://schemas.openxmlformats.org/drawingml/2006/main">
            <a:srgbClr val="FFFFFF"/>
          </a:solidFill>
          <a:ln xmlns:a="http://schemas.openxmlformats.org/drawingml/2006/main" w="9525">
            <a:solidFill>
              <a:srgbClr val="C8DCD7"/>
            </a:solidFill>
            <a:prstDash val="solid"/>
          </a:ln>
        </p:spPr>
      </p:sp>
      <p:sp>
        <p:nvSpPr>
          <p:cNvPr id="73" name="">
            <a:extLst xmlns:a="http://schemas.openxmlformats.org/drawingml/2006/main">
              <a:ext uri="{FF2B5EF4-FFF2-40B4-BE49-F238E27FC236}">
                <a16:creationId xmlns:a16="http://schemas.microsoft.com/office/drawing/2014/main" id="{B858BA27-688A-4100-ABDC-954DA22BE5D3}"/>
              </a:ext>
            </a:extLst>
          </p:cNvPr>
          <p:cNvSpPr>
            <a:spLocks xmlns:a="http://schemas.openxmlformats.org/drawingml/2006/main" noGrp="1"/>
          </p:cNvSpPr>
          <p:nvPr/>
        </p:nvSpPr>
        <p:spPr>
          <a:xfrm xmlns:a="http://schemas.openxmlformats.org/drawingml/2006/main">
            <a:off x="419100" y="932497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D6544D"/>
                </a:solidFill>
              </a:defRPr>
            </a:pPr>
            <a:r>
              <a:rPr sz="675" b="1">
                <a:solidFill>
                  <a:srgbClr val="D6544D"/>
                </a:solidFill>
              </a:rPr>
              <a:t>07</a:t>
            </a:r>
          </a:p>
        </p:txBody>
      </p:sp>
      <p:sp>
        <p:nvSpPr>
          <p:cNvPr id="74" name="">
            <a:extLst xmlns:a="http://schemas.openxmlformats.org/drawingml/2006/main">
              <a:ext uri="{FF2B5EF4-FFF2-40B4-BE49-F238E27FC236}">
                <a16:creationId xmlns:a16="http://schemas.microsoft.com/office/drawing/2014/main" id="{7DA12F4E-366F-4EBF-8660-2DAF4DD908BA}"/>
              </a:ext>
            </a:extLst>
          </p:cNvPr>
          <p:cNvSpPr>
            <a:spLocks xmlns:a="http://schemas.openxmlformats.org/drawingml/2006/main" noGrp="1"/>
          </p:cNvSpPr>
          <p:nvPr/>
        </p:nvSpPr>
        <p:spPr>
          <a:xfrm xmlns:a="http://schemas.openxmlformats.org/drawingml/2006/main">
            <a:off x="742950" y="931545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0">
                <a:solidFill>
                  <a:srgbClr val="183B39"/>
                </a:solidFill>
              </a:defRPr>
            </a:pPr>
            <a:r>
              <a:rPr sz="713" b="0">
                <a:solidFill>
                  <a:srgbClr val="183B39"/>
                </a:solidFill>
              </a:rPr>
              <a:t>Rajasthan ranks #2 with ₹1.67 Cr offtake.</a:t>
            </a:r>
          </a:p>
        </p:txBody>
      </p:sp>
      <p:sp>
        <p:nvSpPr>
          <p:cNvPr id="75" name="">
            <a:extLst xmlns:a="http://schemas.openxmlformats.org/drawingml/2006/main">
              <a:ext uri="{FF2B5EF4-FFF2-40B4-BE49-F238E27FC236}">
                <a16:creationId xmlns:a16="http://schemas.microsoft.com/office/drawing/2014/main" id="{68E276E7-82A3-42B2-B15A-570A2C0A5CE0}"/>
              </a:ext>
            </a:extLst>
          </p:cNvPr>
          <p:cNvSpPr>
            <a:spLocks xmlns:a="http://schemas.openxmlformats.org/drawingml/2006/main" noGrp="1"/>
          </p:cNvSpPr>
          <p:nvPr/>
        </p:nvSpPr>
        <p:spPr>
          <a:xfrm xmlns:a="http://schemas.openxmlformats.org/drawingml/2006/main">
            <a:off x="2438400" y="9277350"/>
            <a:ext cx="1981200" cy="514350"/>
          </a:xfrm>
          <a:prstGeom xmlns:a="http://schemas.openxmlformats.org/drawingml/2006/main" prst="roundRect">
            <a:avLst>
              <a:gd name="adj" fmla="val 14815"/>
            </a:avLst>
          </a:prstGeom>
          <a:solidFill xmlns:a="http://schemas.openxmlformats.org/drawingml/2006/main">
            <a:srgbClr val="FFFFFF"/>
          </a:solidFill>
          <a:ln xmlns:a="http://schemas.openxmlformats.org/drawingml/2006/main" w="9525">
            <a:solidFill>
              <a:srgbClr val="C8DCD7"/>
            </a:solidFill>
            <a:prstDash val="solid"/>
          </a:ln>
        </p:spPr>
      </p:sp>
      <p:sp>
        <p:nvSpPr>
          <p:cNvPr id="76" name="">
            <a:extLst xmlns:a="http://schemas.openxmlformats.org/drawingml/2006/main">
              <a:ext uri="{FF2B5EF4-FFF2-40B4-BE49-F238E27FC236}">
                <a16:creationId xmlns:a16="http://schemas.microsoft.com/office/drawing/2014/main" id="{9036AFC3-7FC9-4786-B6F2-6F01C1AEF715}"/>
              </a:ext>
            </a:extLst>
          </p:cNvPr>
          <p:cNvSpPr>
            <a:spLocks xmlns:a="http://schemas.openxmlformats.org/drawingml/2006/main" noGrp="1"/>
          </p:cNvSpPr>
          <p:nvPr/>
        </p:nvSpPr>
        <p:spPr>
          <a:xfrm xmlns:a="http://schemas.openxmlformats.org/drawingml/2006/main">
            <a:off x="2495550" y="932497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D6544D"/>
                </a:solidFill>
              </a:defRPr>
            </a:pPr>
            <a:r>
              <a:rPr sz="675" b="1">
                <a:solidFill>
                  <a:srgbClr val="D6544D"/>
                </a:solidFill>
              </a:rPr>
              <a:t>08</a:t>
            </a:r>
          </a:p>
        </p:txBody>
      </p:sp>
      <p:sp>
        <p:nvSpPr>
          <p:cNvPr id="77" name="">
            <a:extLst xmlns:a="http://schemas.openxmlformats.org/drawingml/2006/main">
              <a:ext uri="{FF2B5EF4-FFF2-40B4-BE49-F238E27FC236}">
                <a16:creationId xmlns:a16="http://schemas.microsoft.com/office/drawing/2014/main" id="{C092C142-EEB6-4372-94C3-CBC4FD12C21C}"/>
              </a:ext>
            </a:extLst>
          </p:cNvPr>
          <p:cNvSpPr>
            <a:spLocks xmlns:a="http://schemas.openxmlformats.org/drawingml/2006/main" noGrp="1"/>
          </p:cNvSpPr>
          <p:nvPr/>
        </p:nvSpPr>
        <p:spPr>
          <a:xfrm xmlns:a="http://schemas.openxmlformats.org/drawingml/2006/main">
            <a:off x="2819400" y="931545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0">
                <a:solidFill>
                  <a:srgbClr val="183B39"/>
                </a:solidFill>
              </a:defRPr>
            </a:pPr>
            <a:r>
              <a:rPr sz="713" b="0">
                <a:solidFill>
                  <a:srgbClr val="183B39"/>
                </a:solidFill>
              </a:rPr>
              <a:t>Punjab ranks #3 with ₹1.55 Cr offtake.</a:t>
            </a:r>
          </a:p>
        </p:txBody>
      </p:sp>
      <p:sp>
        <p:nvSpPr>
          <p:cNvPr id="78" name="">
            <a:extLst xmlns:a="http://schemas.openxmlformats.org/drawingml/2006/main">
              <a:ext uri="{FF2B5EF4-FFF2-40B4-BE49-F238E27FC236}">
                <a16:creationId xmlns:a16="http://schemas.microsoft.com/office/drawing/2014/main" id="{9F9704F9-26D7-4597-BFBF-D3DA3033E4F3}"/>
              </a:ext>
            </a:extLst>
          </p:cNvPr>
          <p:cNvSpPr>
            <a:spLocks xmlns:a="http://schemas.openxmlformats.org/drawingml/2006/main" noGrp="1"/>
          </p:cNvSpPr>
          <p:nvPr/>
        </p:nvSpPr>
        <p:spPr>
          <a:xfrm xmlns:a="http://schemas.openxmlformats.org/drawingml/2006/main">
            <a:off x="4514850" y="9277350"/>
            <a:ext cx="1981200" cy="514350"/>
          </a:xfrm>
          <a:prstGeom xmlns:a="http://schemas.openxmlformats.org/drawingml/2006/main" prst="roundRect">
            <a:avLst>
              <a:gd name="adj" fmla="val 14815"/>
            </a:avLst>
          </a:prstGeom>
          <a:solidFill xmlns:a="http://schemas.openxmlformats.org/drawingml/2006/main">
            <a:srgbClr val="FFFFFF"/>
          </a:solidFill>
          <a:ln xmlns:a="http://schemas.openxmlformats.org/drawingml/2006/main" w="9525">
            <a:solidFill>
              <a:srgbClr val="C8DCD7"/>
            </a:solidFill>
            <a:prstDash val="solid"/>
          </a:ln>
        </p:spPr>
      </p:sp>
      <p:sp>
        <p:nvSpPr>
          <p:cNvPr id="79" name="">
            <a:extLst xmlns:a="http://schemas.openxmlformats.org/drawingml/2006/main">
              <a:ext uri="{FF2B5EF4-FFF2-40B4-BE49-F238E27FC236}">
                <a16:creationId xmlns:a16="http://schemas.microsoft.com/office/drawing/2014/main" id="{264B1677-54B7-4621-A4F3-C381C998E87A}"/>
              </a:ext>
            </a:extLst>
          </p:cNvPr>
          <p:cNvSpPr>
            <a:spLocks xmlns:a="http://schemas.openxmlformats.org/drawingml/2006/main" noGrp="1"/>
          </p:cNvSpPr>
          <p:nvPr/>
        </p:nvSpPr>
        <p:spPr>
          <a:xfrm xmlns:a="http://schemas.openxmlformats.org/drawingml/2006/main">
            <a:off x="4572000" y="932497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D6544D"/>
                </a:solidFill>
              </a:defRPr>
            </a:pPr>
            <a:r>
              <a:rPr sz="675" b="1">
                <a:solidFill>
                  <a:srgbClr val="D6544D"/>
                </a:solidFill>
              </a:rPr>
              <a:t>09</a:t>
            </a:r>
          </a:p>
        </p:txBody>
      </p:sp>
      <p:sp>
        <p:nvSpPr>
          <p:cNvPr id="80" name="">
            <a:extLst xmlns:a="http://schemas.openxmlformats.org/drawingml/2006/main">
              <a:ext uri="{FF2B5EF4-FFF2-40B4-BE49-F238E27FC236}">
                <a16:creationId xmlns:a16="http://schemas.microsoft.com/office/drawing/2014/main" id="{D56838FC-C4A6-4D02-9603-9C6B27F759F1}"/>
              </a:ext>
            </a:extLst>
          </p:cNvPr>
          <p:cNvSpPr>
            <a:spLocks xmlns:a="http://schemas.openxmlformats.org/drawingml/2006/main" noGrp="1"/>
          </p:cNvSpPr>
          <p:nvPr/>
        </p:nvSpPr>
        <p:spPr>
          <a:xfrm xmlns:a="http://schemas.openxmlformats.org/drawingml/2006/main">
            <a:off x="4895850" y="931545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0">
                <a:solidFill>
                  <a:srgbClr val="183B39"/>
                </a:solidFill>
              </a:defRPr>
            </a:pPr>
            <a:r>
              <a:rPr sz="713" b="0">
                <a:solidFill>
                  <a:srgbClr val="183B39"/>
                </a:solidFill>
              </a:rPr>
              <a:t>The leading state contributes 28.2% of zone offtake.</a:t>
            </a:r>
          </a:p>
        </p:txBody>
      </p:sp>
      <p:sp>
        <p:nvSpPr>
          <p:cNvPr id="81" name="">
            <a:extLst xmlns:a="http://schemas.openxmlformats.org/drawingml/2006/main">
              <a:ext uri="{FF2B5EF4-FFF2-40B4-BE49-F238E27FC236}">
                <a16:creationId xmlns:a16="http://schemas.microsoft.com/office/drawing/2014/main" id="{8E3158B6-5437-4C85-A6BE-C52647391CF0}"/>
              </a:ext>
            </a:extLst>
          </p:cNvPr>
          <p:cNvSpPr>
            <a:spLocks xmlns:a="http://schemas.openxmlformats.org/drawingml/2006/main" noGrp="1"/>
          </p:cNvSpPr>
          <p:nvPr/>
        </p:nvSpPr>
        <p:spPr>
          <a:xfrm xmlns:a="http://schemas.openxmlformats.org/drawingml/2006/main">
            <a:off x="361950" y="9867900"/>
            <a:ext cx="1981200" cy="514350"/>
          </a:xfrm>
          <a:prstGeom xmlns:a="http://schemas.openxmlformats.org/drawingml/2006/main" prst="roundRect">
            <a:avLst>
              <a:gd name="adj" fmla="val 14815"/>
            </a:avLst>
          </a:prstGeom>
          <a:solidFill xmlns:a="http://schemas.openxmlformats.org/drawingml/2006/main">
            <a:srgbClr val="FFFFFF"/>
          </a:solidFill>
          <a:ln xmlns:a="http://schemas.openxmlformats.org/drawingml/2006/main" w="9525">
            <a:solidFill>
              <a:srgbClr val="C8DCD7"/>
            </a:solidFill>
            <a:prstDash val="solid"/>
          </a:ln>
        </p:spPr>
      </p:sp>
      <p:sp>
        <p:nvSpPr>
          <p:cNvPr id="82" name="">
            <a:extLst xmlns:a="http://schemas.openxmlformats.org/drawingml/2006/main">
              <a:ext uri="{FF2B5EF4-FFF2-40B4-BE49-F238E27FC236}">
                <a16:creationId xmlns:a16="http://schemas.microsoft.com/office/drawing/2014/main" id="{1D3589E3-3DEC-4EF5-AC1A-10CC3BB612D1}"/>
              </a:ext>
            </a:extLst>
          </p:cNvPr>
          <p:cNvSpPr>
            <a:spLocks xmlns:a="http://schemas.openxmlformats.org/drawingml/2006/main" noGrp="1"/>
          </p:cNvSpPr>
          <p:nvPr/>
        </p:nvSpPr>
        <p:spPr>
          <a:xfrm xmlns:a="http://schemas.openxmlformats.org/drawingml/2006/main">
            <a:off x="419100" y="991552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D6544D"/>
                </a:solidFill>
              </a:defRPr>
            </a:pPr>
            <a:r>
              <a:rPr sz="675" b="1">
                <a:solidFill>
                  <a:srgbClr val="D6544D"/>
                </a:solidFill>
              </a:rPr>
              <a:t>10</a:t>
            </a:r>
          </a:p>
        </p:txBody>
      </p:sp>
      <p:sp>
        <p:nvSpPr>
          <p:cNvPr id="83" name="">
            <a:extLst xmlns:a="http://schemas.openxmlformats.org/drawingml/2006/main">
              <a:ext uri="{FF2B5EF4-FFF2-40B4-BE49-F238E27FC236}">
                <a16:creationId xmlns:a16="http://schemas.microsoft.com/office/drawing/2014/main" id="{B186D42B-BC76-49DC-A92A-57DA5B7DC15A}"/>
              </a:ext>
            </a:extLst>
          </p:cNvPr>
          <p:cNvSpPr>
            <a:spLocks xmlns:a="http://schemas.openxmlformats.org/drawingml/2006/main" noGrp="1"/>
          </p:cNvSpPr>
          <p:nvPr/>
        </p:nvSpPr>
        <p:spPr>
          <a:xfrm xmlns:a="http://schemas.openxmlformats.org/drawingml/2006/main">
            <a:off x="742950" y="990600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0">
                <a:solidFill>
                  <a:srgbClr val="183B39"/>
                </a:solidFill>
              </a:defRPr>
            </a:pPr>
            <a:r>
              <a:rPr sz="713" b="0">
                <a:solidFill>
                  <a:srgbClr val="183B39"/>
                </a:solidFill>
              </a:rPr>
              <a:t>The top three states contribute 74.3% of zone offtake.</a:t>
            </a:r>
          </a:p>
        </p:txBody>
      </p:sp>
      <p:sp>
        <p:nvSpPr>
          <p:cNvPr id="84" name="">
            <a:extLst xmlns:a="http://schemas.openxmlformats.org/drawingml/2006/main">
              <a:ext uri="{FF2B5EF4-FFF2-40B4-BE49-F238E27FC236}">
                <a16:creationId xmlns:a16="http://schemas.microsoft.com/office/drawing/2014/main" id="{997DDC74-6C82-44DF-B37B-A9B27BFCC6A7}"/>
              </a:ext>
            </a:extLst>
          </p:cNvPr>
          <p:cNvSpPr>
            <a:spLocks xmlns:a="http://schemas.openxmlformats.org/drawingml/2006/main" noGrp="1"/>
          </p:cNvSpPr>
          <p:nvPr/>
        </p:nvSpPr>
        <p:spPr>
          <a:xfrm xmlns:a="http://schemas.openxmlformats.org/drawingml/2006/main">
            <a:off x="2438400" y="9867900"/>
            <a:ext cx="1981200" cy="514350"/>
          </a:xfrm>
          <a:prstGeom xmlns:a="http://schemas.openxmlformats.org/drawingml/2006/main" prst="roundRect">
            <a:avLst>
              <a:gd name="adj" fmla="val 14815"/>
            </a:avLst>
          </a:prstGeom>
          <a:solidFill xmlns:a="http://schemas.openxmlformats.org/drawingml/2006/main">
            <a:srgbClr val="FFFFFF"/>
          </a:solidFill>
          <a:ln xmlns:a="http://schemas.openxmlformats.org/drawingml/2006/main" w="9525">
            <a:solidFill>
              <a:srgbClr val="C8DCD7"/>
            </a:solidFill>
            <a:prstDash val="solid"/>
          </a:ln>
        </p:spPr>
      </p:sp>
      <p:sp>
        <p:nvSpPr>
          <p:cNvPr id="85" name="">
            <a:extLst xmlns:a="http://schemas.openxmlformats.org/drawingml/2006/main">
              <a:ext uri="{FF2B5EF4-FFF2-40B4-BE49-F238E27FC236}">
                <a16:creationId xmlns:a16="http://schemas.microsoft.com/office/drawing/2014/main" id="{FC6EF3D7-859C-483F-9873-3EC1F8068B8E}"/>
              </a:ext>
            </a:extLst>
          </p:cNvPr>
          <p:cNvSpPr>
            <a:spLocks xmlns:a="http://schemas.openxmlformats.org/drawingml/2006/main" noGrp="1"/>
          </p:cNvSpPr>
          <p:nvPr/>
        </p:nvSpPr>
        <p:spPr>
          <a:xfrm xmlns:a="http://schemas.openxmlformats.org/drawingml/2006/main">
            <a:off x="2495550" y="991552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D6544D"/>
                </a:solidFill>
              </a:defRPr>
            </a:pPr>
            <a:r>
              <a:rPr sz="675" b="1">
                <a:solidFill>
                  <a:srgbClr val="D6544D"/>
                </a:solidFill>
              </a:rPr>
              <a:t>11</a:t>
            </a:r>
          </a:p>
        </p:txBody>
      </p:sp>
      <p:sp>
        <p:nvSpPr>
          <p:cNvPr id="86" name="">
            <a:extLst xmlns:a="http://schemas.openxmlformats.org/drawingml/2006/main">
              <a:ext uri="{FF2B5EF4-FFF2-40B4-BE49-F238E27FC236}">
                <a16:creationId xmlns:a16="http://schemas.microsoft.com/office/drawing/2014/main" id="{BD4D1652-987B-46C2-83DD-5818A47A49D7}"/>
              </a:ext>
            </a:extLst>
          </p:cNvPr>
          <p:cNvSpPr>
            <a:spLocks xmlns:a="http://schemas.openxmlformats.org/drawingml/2006/main" noGrp="1"/>
          </p:cNvSpPr>
          <p:nvPr/>
        </p:nvSpPr>
        <p:spPr>
          <a:xfrm xmlns:a="http://schemas.openxmlformats.org/drawingml/2006/main">
            <a:off x="2819400" y="990600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0">
                <a:solidFill>
                  <a:srgbClr val="183B39"/>
                </a:solidFill>
              </a:defRPr>
            </a:pPr>
            <a:r>
              <a:rPr sz="713" b="0">
                <a:solidFill>
                  <a:srgbClr val="183B39"/>
                </a:solidFill>
              </a:rPr>
              <a:t>DMart: ₹2.53 Cr offtake; 77.9%.</a:t>
            </a:r>
          </a:p>
        </p:txBody>
      </p:sp>
      <p:sp>
        <p:nvSpPr>
          <p:cNvPr id="87" name="">
            <a:extLst xmlns:a="http://schemas.openxmlformats.org/drawingml/2006/main">
              <a:ext uri="{FF2B5EF4-FFF2-40B4-BE49-F238E27FC236}">
                <a16:creationId xmlns:a16="http://schemas.microsoft.com/office/drawing/2014/main" id="{6FF64BD9-080D-48C9-B808-ABD4B2B0DDFD}"/>
              </a:ext>
            </a:extLst>
          </p:cNvPr>
          <p:cNvSpPr>
            <a:spLocks xmlns:a="http://schemas.openxmlformats.org/drawingml/2006/main" noGrp="1"/>
          </p:cNvSpPr>
          <p:nvPr/>
        </p:nvSpPr>
        <p:spPr>
          <a:xfrm xmlns:a="http://schemas.openxmlformats.org/drawingml/2006/main">
            <a:off x="4514850" y="9867900"/>
            <a:ext cx="1981200" cy="514350"/>
          </a:xfrm>
          <a:prstGeom xmlns:a="http://schemas.openxmlformats.org/drawingml/2006/main" prst="roundRect">
            <a:avLst>
              <a:gd name="adj" fmla="val 14815"/>
            </a:avLst>
          </a:prstGeom>
          <a:solidFill xmlns:a="http://schemas.openxmlformats.org/drawingml/2006/main">
            <a:srgbClr val="FFFFFF"/>
          </a:solidFill>
          <a:ln xmlns:a="http://schemas.openxmlformats.org/drawingml/2006/main" w="9525">
            <a:solidFill>
              <a:srgbClr val="C8DCD7"/>
            </a:solidFill>
            <a:prstDash val="solid"/>
          </a:ln>
        </p:spPr>
      </p:sp>
      <p:sp>
        <p:nvSpPr>
          <p:cNvPr id="88" name="">
            <a:extLst xmlns:a="http://schemas.openxmlformats.org/drawingml/2006/main">
              <a:ext uri="{FF2B5EF4-FFF2-40B4-BE49-F238E27FC236}">
                <a16:creationId xmlns:a16="http://schemas.microsoft.com/office/drawing/2014/main" id="{FD57A752-8BD5-49B3-9AC5-140F95D04B74}"/>
              </a:ext>
            </a:extLst>
          </p:cNvPr>
          <p:cNvSpPr>
            <a:spLocks xmlns:a="http://schemas.openxmlformats.org/drawingml/2006/main" noGrp="1"/>
          </p:cNvSpPr>
          <p:nvPr/>
        </p:nvSpPr>
        <p:spPr>
          <a:xfrm xmlns:a="http://schemas.openxmlformats.org/drawingml/2006/main">
            <a:off x="4572000" y="991552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D6544D"/>
                </a:solidFill>
              </a:defRPr>
            </a:pPr>
            <a:r>
              <a:rPr sz="675" b="1">
                <a:solidFill>
                  <a:srgbClr val="D6544D"/>
                </a:solidFill>
              </a:rPr>
              <a:t>12</a:t>
            </a:r>
          </a:p>
        </p:txBody>
      </p:sp>
      <p:sp>
        <p:nvSpPr>
          <p:cNvPr id="89" name="">
            <a:extLst xmlns:a="http://schemas.openxmlformats.org/drawingml/2006/main">
              <a:ext uri="{FF2B5EF4-FFF2-40B4-BE49-F238E27FC236}">
                <a16:creationId xmlns:a16="http://schemas.microsoft.com/office/drawing/2014/main" id="{C115E3DD-1DEF-43FC-A1DB-47B1C1E59510}"/>
              </a:ext>
            </a:extLst>
          </p:cNvPr>
          <p:cNvSpPr>
            <a:spLocks xmlns:a="http://schemas.openxmlformats.org/drawingml/2006/main" noGrp="1"/>
          </p:cNvSpPr>
          <p:nvPr/>
        </p:nvSpPr>
        <p:spPr>
          <a:xfrm xmlns:a="http://schemas.openxmlformats.org/drawingml/2006/main">
            <a:off x="4895850" y="990600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0">
                <a:solidFill>
                  <a:srgbClr val="183B39"/>
                </a:solidFill>
              </a:defRPr>
            </a:pPr>
            <a:r>
              <a:rPr sz="713" b="0">
                <a:solidFill>
                  <a:srgbClr val="183B39"/>
                </a:solidFill>
              </a:rPr>
              <a:t>Reliance: ₹2.40 Cr offtake; 44.9%.</a:t>
            </a:r>
          </a:p>
        </p:txBody>
      </p:sp>
      <p:sp>
        <p:nvSpPr>
          <p:cNvPr id="90" name="">
            <a:extLst xmlns:a="http://schemas.openxmlformats.org/drawingml/2006/main">
              <a:ext uri="{FF2B5EF4-FFF2-40B4-BE49-F238E27FC236}">
                <a16:creationId xmlns:a16="http://schemas.microsoft.com/office/drawing/2014/main" id="{D8E20F5D-4761-4335-9FAE-C88F05C082A9}"/>
              </a:ext>
            </a:extLst>
          </p:cNvPr>
          <p:cNvSpPr>
            <a:spLocks xmlns:a="http://schemas.openxmlformats.org/drawingml/2006/main" noGrp="1"/>
          </p:cNvSpPr>
          <p:nvPr/>
        </p:nvSpPr>
        <p:spPr>
          <a:xfrm xmlns:a="http://schemas.openxmlformats.org/drawingml/2006/main">
            <a:off x="361950" y="10458450"/>
            <a:ext cx="1981200" cy="514350"/>
          </a:xfrm>
          <a:prstGeom xmlns:a="http://schemas.openxmlformats.org/drawingml/2006/main" prst="roundRect">
            <a:avLst>
              <a:gd name="adj" fmla="val 14815"/>
            </a:avLst>
          </a:prstGeom>
          <a:solidFill xmlns:a="http://schemas.openxmlformats.org/drawingml/2006/main">
            <a:srgbClr val="FFFFFF"/>
          </a:solidFill>
          <a:ln xmlns:a="http://schemas.openxmlformats.org/drawingml/2006/main" w="9525">
            <a:solidFill>
              <a:srgbClr val="C8DCD7"/>
            </a:solidFill>
            <a:prstDash val="solid"/>
          </a:ln>
        </p:spPr>
      </p:sp>
      <p:sp>
        <p:nvSpPr>
          <p:cNvPr id="91" name="">
            <a:extLst xmlns:a="http://schemas.openxmlformats.org/drawingml/2006/main">
              <a:ext uri="{FF2B5EF4-FFF2-40B4-BE49-F238E27FC236}">
                <a16:creationId xmlns:a16="http://schemas.microsoft.com/office/drawing/2014/main" id="{63A851FA-777E-46AA-9D49-258D8F7CFAC4}"/>
              </a:ext>
            </a:extLst>
          </p:cNvPr>
          <p:cNvSpPr>
            <a:spLocks xmlns:a="http://schemas.openxmlformats.org/drawingml/2006/main" noGrp="1"/>
          </p:cNvSpPr>
          <p:nvPr/>
        </p:nvSpPr>
        <p:spPr>
          <a:xfrm xmlns:a="http://schemas.openxmlformats.org/drawingml/2006/main">
            <a:off x="419100" y="1050607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D6544D"/>
                </a:solidFill>
              </a:defRPr>
            </a:pPr>
            <a:r>
              <a:rPr sz="675" b="1">
                <a:solidFill>
                  <a:srgbClr val="D6544D"/>
                </a:solidFill>
              </a:rPr>
              <a:t>13</a:t>
            </a:r>
          </a:p>
        </p:txBody>
      </p:sp>
      <p:sp>
        <p:nvSpPr>
          <p:cNvPr id="92" name="">
            <a:extLst xmlns:a="http://schemas.openxmlformats.org/drawingml/2006/main">
              <a:ext uri="{FF2B5EF4-FFF2-40B4-BE49-F238E27FC236}">
                <a16:creationId xmlns:a16="http://schemas.microsoft.com/office/drawing/2014/main" id="{1A8DA160-C302-428F-B338-CC174255A78C}"/>
              </a:ext>
            </a:extLst>
          </p:cNvPr>
          <p:cNvSpPr>
            <a:spLocks xmlns:a="http://schemas.openxmlformats.org/drawingml/2006/main" noGrp="1"/>
          </p:cNvSpPr>
          <p:nvPr/>
        </p:nvSpPr>
        <p:spPr>
          <a:xfrm xmlns:a="http://schemas.openxmlformats.org/drawingml/2006/main">
            <a:off x="742950" y="1049655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0">
                <a:solidFill>
                  <a:srgbClr val="183B39"/>
                </a:solidFill>
              </a:defRPr>
            </a:pPr>
            <a:r>
              <a:rPr sz="713" b="0">
                <a:solidFill>
                  <a:srgbClr val="183B39"/>
                </a:solidFill>
              </a:rPr>
              <a:t>Apollo: ₹1.16 Cr offtake; 98.3%.</a:t>
            </a:r>
          </a:p>
        </p:txBody>
      </p:sp>
      <p:sp>
        <p:nvSpPr>
          <p:cNvPr id="93" name="">
            <a:extLst xmlns:a="http://schemas.openxmlformats.org/drawingml/2006/main">
              <a:ext uri="{FF2B5EF4-FFF2-40B4-BE49-F238E27FC236}">
                <a16:creationId xmlns:a16="http://schemas.microsoft.com/office/drawing/2014/main" id="{7EB38944-077F-4AF1-9B3B-6264DEF5DF01}"/>
              </a:ext>
            </a:extLst>
          </p:cNvPr>
          <p:cNvSpPr>
            <a:spLocks xmlns:a="http://schemas.openxmlformats.org/drawingml/2006/main" noGrp="1"/>
          </p:cNvSpPr>
          <p:nvPr/>
        </p:nvSpPr>
        <p:spPr>
          <a:xfrm xmlns:a="http://schemas.openxmlformats.org/drawingml/2006/main">
            <a:off x="2438400" y="10458450"/>
            <a:ext cx="1981200" cy="514350"/>
          </a:xfrm>
          <a:prstGeom xmlns:a="http://schemas.openxmlformats.org/drawingml/2006/main" prst="roundRect">
            <a:avLst>
              <a:gd name="adj" fmla="val 14815"/>
            </a:avLst>
          </a:prstGeom>
          <a:solidFill xmlns:a="http://schemas.openxmlformats.org/drawingml/2006/main">
            <a:srgbClr val="FFFFFF"/>
          </a:solidFill>
          <a:ln xmlns:a="http://schemas.openxmlformats.org/drawingml/2006/main" w="9525">
            <a:solidFill>
              <a:srgbClr val="C8DCD7"/>
            </a:solidFill>
            <a:prstDash val="solid"/>
          </a:ln>
        </p:spPr>
      </p:sp>
      <p:sp>
        <p:nvSpPr>
          <p:cNvPr id="94" name="">
            <a:extLst xmlns:a="http://schemas.openxmlformats.org/drawingml/2006/main">
              <a:ext uri="{FF2B5EF4-FFF2-40B4-BE49-F238E27FC236}">
                <a16:creationId xmlns:a16="http://schemas.microsoft.com/office/drawing/2014/main" id="{D83DBDE9-2E66-4CE5-BA9F-7CF9C893E5C4}"/>
              </a:ext>
            </a:extLst>
          </p:cNvPr>
          <p:cNvSpPr>
            <a:spLocks xmlns:a="http://schemas.openxmlformats.org/drawingml/2006/main" noGrp="1"/>
          </p:cNvSpPr>
          <p:nvPr/>
        </p:nvSpPr>
        <p:spPr>
          <a:xfrm xmlns:a="http://schemas.openxmlformats.org/drawingml/2006/main">
            <a:off x="2495550" y="1050607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D6544D"/>
                </a:solidFill>
              </a:defRPr>
            </a:pPr>
            <a:r>
              <a:rPr sz="675" b="1">
                <a:solidFill>
                  <a:srgbClr val="D6544D"/>
                </a:solidFill>
              </a:rPr>
              <a:t>14</a:t>
            </a:r>
          </a:p>
        </p:txBody>
      </p:sp>
      <p:sp>
        <p:nvSpPr>
          <p:cNvPr id="95" name="">
            <a:extLst xmlns:a="http://schemas.openxmlformats.org/drawingml/2006/main">
              <a:ext uri="{FF2B5EF4-FFF2-40B4-BE49-F238E27FC236}">
                <a16:creationId xmlns:a16="http://schemas.microsoft.com/office/drawing/2014/main" id="{9F565DE1-07E6-4AFF-BA60-A397E34E4214}"/>
              </a:ext>
            </a:extLst>
          </p:cNvPr>
          <p:cNvSpPr>
            <a:spLocks xmlns:a="http://schemas.openxmlformats.org/drawingml/2006/main" noGrp="1"/>
          </p:cNvSpPr>
          <p:nvPr/>
        </p:nvSpPr>
        <p:spPr>
          <a:xfrm xmlns:a="http://schemas.openxmlformats.org/drawingml/2006/main">
            <a:off x="2819400" y="1049655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0">
                <a:solidFill>
                  <a:srgbClr val="183B39"/>
                </a:solidFill>
              </a:defRPr>
            </a:pPr>
            <a:r>
              <a:rPr sz="713" b="0">
                <a:solidFill>
                  <a:srgbClr val="183B39"/>
                </a:solidFill>
              </a:rPr>
              <a:t>The leading chain contributes 36.2% of zone offtake.</a:t>
            </a:r>
          </a:p>
        </p:txBody>
      </p:sp>
      <p:sp>
        <p:nvSpPr>
          <p:cNvPr id="96" name="">
            <a:extLst xmlns:a="http://schemas.openxmlformats.org/drawingml/2006/main">
              <a:ext uri="{FF2B5EF4-FFF2-40B4-BE49-F238E27FC236}">
                <a16:creationId xmlns:a16="http://schemas.microsoft.com/office/drawing/2014/main" id="{682FAD36-0144-4496-997E-D98190BBE36A}"/>
              </a:ext>
            </a:extLst>
          </p:cNvPr>
          <p:cNvSpPr>
            <a:spLocks xmlns:a="http://schemas.openxmlformats.org/drawingml/2006/main" noGrp="1"/>
          </p:cNvSpPr>
          <p:nvPr/>
        </p:nvSpPr>
        <p:spPr>
          <a:xfrm xmlns:a="http://schemas.openxmlformats.org/drawingml/2006/main">
            <a:off x="4514850" y="10458450"/>
            <a:ext cx="1981200" cy="514350"/>
          </a:xfrm>
          <a:prstGeom xmlns:a="http://schemas.openxmlformats.org/drawingml/2006/main" prst="roundRect">
            <a:avLst>
              <a:gd name="adj" fmla="val 14815"/>
            </a:avLst>
          </a:prstGeom>
          <a:solidFill xmlns:a="http://schemas.openxmlformats.org/drawingml/2006/main">
            <a:srgbClr val="FFFFFF"/>
          </a:solidFill>
          <a:ln xmlns:a="http://schemas.openxmlformats.org/drawingml/2006/main" w="9525">
            <a:solidFill>
              <a:srgbClr val="C8DCD7"/>
            </a:solidFill>
            <a:prstDash val="solid"/>
          </a:ln>
        </p:spPr>
      </p:sp>
      <p:sp>
        <p:nvSpPr>
          <p:cNvPr id="97" name="">
            <a:extLst xmlns:a="http://schemas.openxmlformats.org/drawingml/2006/main">
              <a:ext uri="{FF2B5EF4-FFF2-40B4-BE49-F238E27FC236}">
                <a16:creationId xmlns:a16="http://schemas.microsoft.com/office/drawing/2014/main" id="{81C1D99B-DA7E-4940-A345-377CAECE9560}"/>
              </a:ext>
            </a:extLst>
          </p:cNvPr>
          <p:cNvSpPr>
            <a:spLocks xmlns:a="http://schemas.openxmlformats.org/drawingml/2006/main" noGrp="1"/>
          </p:cNvSpPr>
          <p:nvPr/>
        </p:nvSpPr>
        <p:spPr>
          <a:xfrm xmlns:a="http://schemas.openxmlformats.org/drawingml/2006/main">
            <a:off x="4572000" y="1050607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D6544D"/>
                </a:solidFill>
              </a:defRPr>
            </a:pPr>
            <a:r>
              <a:rPr sz="675" b="1">
                <a:solidFill>
                  <a:srgbClr val="D6544D"/>
                </a:solidFill>
              </a:rPr>
              <a:t>15</a:t>
            </a:r>
          </a:p>
        </p:txBody>
      </p:sp>
      <p:sp>
        <p:nvSpPr>
          <p:cNvPr id="98" name="">
            <a:extLst xmlns:a="http://schemas.openxmlformats.org/drawingml/2006/main">
              <a:ext uri="{FF2B5EF4-FFF2-40B4-BE49-F238E27FC236}">
                <a16:creationId xmlns:a16="http://schemas.microsoft.com/office/drawing/2014/main" id="{349EB687-98F2-4A49-A394-00AB7EED0748}"/>
              </a:ext>
            </a:extLst>
          </p:cNvPr>
          <p:cNvSpPr>
            <a:spLocks xmlns:a="http://schemas.openxmlformats.org/drawingml/2006/main" noGrp="1"/>
          </p:cNvSpPr>
          <p:nvPr/>
        </p:nvSpPr>
        <p:spPr>
          <a:xfrm xmlns:a="http://schemas.openxmlformats.org/drawingml/2006/main">
            <a:off x="4895850" y="1049655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0">
                <a:solidFill>
                  <a:srgbClr val="183B39"/>
                </a:solidFill>
              </a:defRPr>
            </a:pPr>
            <a:r>
              <a:rPr sz="713" b="0">
                <a:solidFill>
                  <a:srgbClr val="183B39"/>
                </a:solidFill>
              </a:rPr>
              <a:t>The top three chains contribute 87.1% of zone offtake.</a:t>
            </a:r>
          </a:p>
        </p:txBody>
      </p:sp>
      <p:sp>
        <p:nvSpPr>
          <p:cNvPr id="99" name="">
            <a:extLst xmlns:a="http://schemas.openxmlformats.org/drawingml/2006/main">
              <a:ext uri="{FF2B5EF4-FFF2-40B4-BE49-F238E27FC236}">
                <a16:creationId xmlns:a16="http://schemas.microsoft.com/office/drawing/2014/main" id="{7BB4758E-BCA4-4A4A-AD4D-81D4D2A47E9D}"/>
              </a:ext>
            </a:extLst>
          </p:cNvPr>
          <p:cNvSpPr>
            <a:spLocks xmlns:a="http://schemas.openxmlformats.org/drawingml/2006/main" noGrp="1"/>
          </p:cNvSpPr>
          <p:nvPr/>
        </p:nvSpPr>
        <p:spPr>
          <a:xfrm xmlns:a="http://schemas.openxmlformats.org/drawingml/2006/main">
            <a:off x="381000" y="11239500"/>
            <a:ext cx="6096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750" b="0">
                <a:solidFill>
                  <a:srgbClr val="5F716E"/>
                </a:solidFill>
              </a:defRPr>
            </a:pPr>
            <a:r>
              <a:rPr sz="750" b="0">
                <a:solidFill>
                  <a:srgbClr val="5F716E"/>
                </a:solidFill>
              </a:rPr>
              <a:t>North NPI mix 9.2% | Priority: DMart × hero-EAN availability</a:t>
            </a:r>
          </a:p>
        </p:txBody>
      </p:sp>
      <p:sp>
        <p:nvSpPr>
          <p:cNvPr id="100" name="">
            <a:extLst xmlns:a="http://schemas.openxmlformats.org/drawingml/2006/main">
              <a:ext uri="{FF2B5EF4-FFF2-40B4-BE49-F238E27FC236}">
                <a16:creationId xmlns:a16="http://schemas.microsoft.com/office/drawing/2014/main" id="{BB280886-AA5C-421A-ABEC-1DE9EB8312E0}"/>
              </a:ext>
            </a:extLst>
          </p:cNvPr>
          <p:cNvSpPr>
            <a:spLocks xmlns:a="http://schemas.openxmlformats.org/drawingml/2006/main" noGrp="1"/>
          </p:cNvSpPr>
          <p:nvPr/>
        </p:nvSpPr>
        <p:spPr>
          <a:xfrm xmlns:a="http://schemas.openxmlformats.org/drawingml/2006/main">
            <a:off x="361950" y="11544300"/>
            <a:ext cx="6134100" cy="457200"/>
          </a:xfrm>
          <a:prstGeom xmlns:a="http://schemas.openxmlformats.org/drawingml/2006/main" prst="roundRect">
            <a:avLst>
              <a:gd name="adj" fmla="val 16667"/>
            </a:avLst>
          </a:prstGeom>
          <a:solidFill xmlns:a="http://schemas.openxmlformats.org/drawingml/2006/main">
            <a:srgbClr val="DFF2ED"/>
          </a:solidFill>
          <a:ln xmlns:a="http://schemas.openxmlformats.org/drawingml/2006/main" w="9525">
            <a:solidFill>
              <a:srgbClr val="28A596"/>
            </a:solidFill>
            <a:prstDash val="solid"/>
          </a:ln>
        </p:spPr>
      </p:sp>
      <p:sp>
        <p:nvSpPr>
          <p:cNvPr id="101" name="">
            <a:extLst xmlns:a="http://schemas.openxmlformats.org/drawingml/2006/main">
              <a:ext uri="{FF2B5EF4-FFF2-40B4-BE49-F238E27FC236}">
                <a16:creationId xmlns:a16="http://schemas.microsoft.com/office/drawing/2014/main" id="{CDCE55CE-DD0F-4DCD-AFA4-DA7430F0FCDB}"/>
              </a:ext>
            </a:extLst>
          </p:cNvPr>
          <p:cNvSpPr>
            <a:spLocks xmlns:a="http://schemas.openxmlformats.org/drawingml/2006/main" noGrp="1"/>
          </p:cNvSpPr>
          <p:nvPr/>
        </p:nvSpPr>
        <p:spPr>
          <a:xfrm xmlns:a="http://schemas.openxmlformats.org/drawingml/2006/main">
            <a:off x="438150" y="11582400"/>
            <a:ext cx="142875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38" b="1">
                <a:solidFill>
                  <a:srgbClr val="116F68"/>
                </a:solidFill>
              </a:defRPr>
            </a:pPr>
            <a:r>
              <a:rPr sz="638" b="1">
                <a:solidFill>
                  <a:srgbClr val="116F68"/>
                </a:solidFill>
              </a:rPr>
              <a:t>EVIDENCE</a:t>
            </a:r>
          </a:p>
        </p:txBody>
      </p:sp>
      <p:sp>
        <p:nvSpPr>
          <p:cNvPr id="102" name="">
            <a:extLst xmlns:a="http://schemas.openxmlformats.org/drawingml/2006/main">
              <a:ext uri="{FF2B5EF4-FFF2-40B4-BE49-F238E27FC236}">
                <a16:creationId xmlns:a16="http://schemas.microsoft.com/office/drawing/2014/main" id="{1A93072B-84D8-42BA-8B5B-F9ABD535FAF2}"/>
              </a:ext>
            </a:extLst>
          </p:cNvPr>
          <p:cNvSpPr>
            <a:spLocks xmlns:a="http://schemas.openxmlformats.org/drawingml/2006/main" noGrp="1"/>
          </p:cNvSpPr>
          <p:nvPr/>
        </p:nvSpPr>
        <p:spPr>
          <a:xfrm xmlns:a="http://schemas.openxmlformats.org/drawingml/2006/main">
            <a:off x="438150" y="11734800"/>
            <a:ext cx="1428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00" b="0">
                <a:solidFill>
                  <a:srgbClr val="183B39"/>
                </a:solidFill>
              </a:defRPr>
            </a:pPr>
            <a:r>
              <a:rPr sz="600" b="0">
                <a:solidFill>
                  <a:srgbClr val="183B39"/>
                </a:solidFill>
              </a:rPr>
              <a:t>North ₹11.95 Cr primary vs ₹6.99 Cr offtake; 58.5% conversion; Reliance North 44.9% is the most critical account nationally; Apollo North 98.3% is the exception</a:t>
            </a:r>
          </a:p>
        </p:txBody>
      </p:sp>
      <p:sp>
        <p:nvSpPr>
          <p:cNvPr id="103" name="">
            <a:extLst xmlns:a="http://schemas.openxmlformats.org/drawingml/2006/main">
              <a:ext uri="{FF2B5EF4-FFF2-40B4-BE49-F238E27FC236}">
                <a16:creationId xmlns:a16="http://schemas.microsoft.com/office/drawing/2014/main" id="{E3503C8E-766F-40BE-B906-949B039C867B}"/>
              </a:ext>
            </a:extLst>
          </p:cNvPr>
          <p:cNvSpPr>
            <a:spLocks xmlns:a="http://schemas.openxmlformats.org/drawingml/2006/main" noGrp="1"/>
          </p:cNvSpPr>
          <p:nvPr/>
        </p:nvSpPr>
        <p:spPr>
          <a:xfrm xmlns:a="http://schemas.openxmlformats.org/drawingml/2006/main">
            <a:off x="1924050" y="11610975"/>
            <a:ext cx="0" cy="304800"/>
          </a:xfrm>
          <a:prstGeom xmlns:a="http://schemas.openxmlformats.org/drawingml/2006/main" prst="line">
            <a:avLst/>
          </a:prstGeom>
          <a:ln xmlns:a="http://schemas.openxmlformats.org/drawingml/2006/main" w="9525">
            <a:solidFill>
              <a:srgbClr val="C8DCD7"/>
            </a:solidFill>
            <a:prstDash val="solid"/>
          </a:ln>
        </p:spPr>
      </p:sp>
      <p:sp>
        <p:nvSpPr>
          <p:cNvPr id="104" name="">
            <a:extLst xmlns:a="http://schemas.openxmlformats.org/drawingml/2006/main">
              <a:ext uri="{FF2B5EF4-FFF2-40B4-BE49-F238E27FC236}">
                <a16:creationId xmlns:a16="http://schemas.microsoft.com/office/drawing/2014/main" id="{FA822164-5FF0-40AB-A7F2-DF359E84A249}"/>
              </a:ext>
            </a:extLst>
          </p:cNvPr>
          <p:cNvSpPr>
            <a:spLocks xmlns:a="http://schemas.openxmlformats.org/drawingml/2006/main" noGrp="1"/>
          </p:cNvSpPr>
          <p:nvPr/>
        </p:nvSpPr>
        <p:spPr>
          <a:xfrm xmlns:a="http://schemas.openxmlformats.org/drawingml/2006/main">
            <a:off x="1952625" y="11582400"/>
            <a:ext cx="142875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38" b="1">
                <a:solidFill>
                  <a:srgbClr val="116F68"/>
                </a:solidFill>
              </a:defRPr>
            </a:pPr>
            <a:r>
              <a:rPr sz="638" b="1">
                <a:solidFill>
                  <a:srgbClr val="116F68"/>
                </a:solidFill>
              </a:rPr>
              <a:t>IMPLICATION</a:t>
            </a:r>
          </a:p>
        </p:txBody>
      </p:sp>
      <p:sp>
        <p:nvSpPr>
          <p:cNvPr id="105" name="">
            <a:extLst xmlns:a="http://schemas.openxmlformats.org/drawingml/2006/main">
              <a:ext uri="{FF2B5EF4-FFF2-40B4-BE49-F238E27FC236}">
                <a16:creationId xmlns:a16="http://schemas.microsoft.com/office/drawing/2014/main" id="{CF868F94-0591-486D-9073-728806235FDF}"/>
              </a:ext>
            </a:extLst>
          </p:cNvPr>
          <p:cNvSpPr>
            <a:spLocks xmlns:a="http://schemas.openxmlformats.org/drawingml/2006/main" noGrp="1"/>
          </p:cNvSpPr>
          <p:nvPr/>
        </p:nvSpPr>
        <p:spPr>
          <a:xfrm xmlns:a="http://schemas.openxmlformats.org/drawingml/2006/main">
            <a:off x="1952625" y="11734800"/>
            <a:ext cx="1428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00" b="0">
                <a:solidFill>
                  <a:srgbClr val="183B39"/>
                </a:solidFill>
              </a:defRPr>
            </a:pPr>
            <a:r>
              <a:rPr sz="600" b="0">
                <a:solidFill>
                  <a:srgbClr val="183B39"/>
                </a:solidFill>
              </a:rPr>
              <a:t>Reliance 44.9% = Paisa Vasool build (LY: offtake +46.4% Aug-25; primary Jul-25 ₹6.68→Aug-25 ₹5.42 Cr); Apollo 98.3% confirms real demand; validate Aug-26 Reliance offtake before EAN intervention</a:t>
            </a:r>
          </a:p>
        </p:txBody>
      </p:sp>
      <p:sp>
        <p:nvSpPr>
          <p:cNvPr id="106" name="">
            <a:extLst xmlns:a="http://schemas.openxmlformats.org/drawingml/2006/main">
              <a:ext uri="{FF2B5EF4-FFF2-40B4-BE49-F238E27FC236}">
                <a16:creationId xmlns:a16="http://schemas.microsoft.com/office/drawing/2014/main" id="{E653EA80-0038-4748-A833-59AAFA88B671}"/>
              </a:ext>
            </a:extLst>
          </p:cNvPr>
          <p:cNvSpPr>
            <a:spLocks xmlns:a="http://schemas.openxmlformats.org/drawingml/2006/main" noGrp="1"/>
          </p:cNvSpPr>
          <p:nvPr/>
        </p:nvSpPr>
        <p:spPr>
          <a:xfrm xmlns:a="http://schemas.openxmlformats.org/drawingml/2006/main">
            <a:off x="3438525" y="11610975"/>
            <a:ext cx="0" cy="304800"/>
          </a:xfrm>
          <a:prstGeom xmlns:a="http://schemas.openxmlformats.org/drawingml/2006/main" prst="line">
            <a:avLst/>
          </a:prstGeom>
          <a:ln xmlns:a="http://schemas.openxmlformats.org/drawingml/2006/main" w="9525">
            <a:solidFill>
              <a:srgbClr val="C8DCD7"/>
            </a:solidFill>
            <a:prstDash val="solid"/>
          </a:ln>
        </p:spPr>
      </p:sp>
      <p:sp>
        <p:nvSpPr>
          <p:cNvPr id="107" name="">
            <a:extLst xmlns:a="http://schemas.openxmlformats.org/drawingml/2006/main">
              <a:ext uri="{FF2B5EF4-FFF2-40B4-BE49-F238E27FC236}">
                <a16:creationId xmlns:a16="http://schemas.microsoft.com/office/drawing/2014/main" id="{E143662C-4219-4C80-B6CB-CF6AD57E9EFB}"/>
              </a:ext>
            </a:extLst>
          </p:cNvPr>
          <p:cNvSpPr>
            <a:spLocks xmlns:a="http://schemas.openxmlformats.org/drawingml/2006/main" noGrp="1"/>
          </p:cNvSpPr>
          <p:nvPr/>
        </p:nvSpPr>
        <p:spPr>
          <a:xfrm xmlns:a="http://schemas.openxmlformats.org/drawingml/2006/main">
            <a:off x="3467100" y="11582400"/>
            <a:ext cx="142875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38" b="1">
                <a:solidFill>
                  <a:srgbClr val="116F68"/>
                </a:solidFill>
              </a:defRPr>
            </a:pPr>
            <a:r>
              <a:rPr sz="638" b="1">
                <a:solidFill>
                  <a:srgbClr val="116F68"/>
                </a:solidFill>
              </a:rPr>
              <a:t>ACTION</a:t>
            </a:r>
          </a:p>
        </p:txBody>
      </p:sp>
      <p:sp>
        <p:nvSpPr>
          <p:cNvPr id="108" name="">
            <a:extLst xmlns:a="http://schemas.openxmlformats.org/drawingml/2006/main">
              <a:ext uri="{FF2B5EF4-FFF2-40B4-BE49-F238E27FC236}">
                <a16:creationId xmlns:a16="http://schemas.microsoft.com/office/drawing/2014/main" id="{D264E6FD-0277-41B2-BCBD-13A97F08D622}"/>
              </a:ext>
            </a:extLst>
          </p:cNvPr>
          <p:cNvSpPr>
            <a:spLocks xmlns:a="http://schemas.openxmlformats.org/drawingml/2006/main" noGrp="1"/>
          </p:cNvSpPr>
          <p:nvPr/>
        </p:nvSpPr>
        <p:spPr>
          <a:xfrm xmlns:a="http://schemas.openxmlformats.org/drawingml/2006/main">
            <a:off x="3467100" y="11734800"/>
            <a:ext cx="1428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00" b="0">
                <a:solidFill>
                  <a:srgbClr val="183B39"/>
                </a:solidFill>
              </a:defRPr>
            </a:pPr>
            <a:r>
              <a:rPr sz="600" b="0">
                <a:solidFill>
                  <a:srgbClr val="183B39"/>
                </a:solidFill>
              </a:rPr>
              <a:t>Check Reliance North Aug-26 offtake by 05-Aug (Paisa Vasool expected to draw down Jul pipeline); if Aug offtake recovers to &gt;80% conv, hold EAN-store intervention; if not, pull top-20 declining EAN-store pairs and recover by 05-Sep</a:t>
            </a:r>
          </a:p>
        </p:txBody>
      </p:sp>
      <p:sp>
        <p:nvSpPr>
          <p:cNvPr id="109" name="">
            <a:extLst xmlns:a="http://schemas.openxmlformats.org/drawingml/2006/main">
              <a:ext uri="{FF2B5EF4-FFF2-40B4-BE49-F238E27FC236}">
                <a16:creationId xmlns:a16="http://schemas.microsoft.com/office/drawing/2014/main" id="{92BC9A67-54C5-4409-A9C1-FA99B0FBF179}"/>
              </a:ext>
            </a:extLst>
          </p:cNvPr>
          <p:cNvSpPr>
            <a:spLocks xmlns:a="http://schemas.openxmlformats.org/drawingml/2006/main" noGrp="1"/>
          </p:cNvSpPr>
          <p:nvPr/>
        </p:nvSpPr>
        <p:spPr>
          <a:xfrm xmlns:a="http://schemas.openxmlformats.org/drawingml/2006/main">
            <a:off x="4953000" y="11610975"/>
            <a:ext cx="0" cy="304800"/>
          </a:xfrm>
          <a:prstGeom xmlns:a="http://schemas.openxmlformats.org/drawingml/2006/main" prst="line">
            <a:avLst/>
          </a:prstGeom>
          <a:ln xmlns:a="http://schemas.openxmlformats.org/drawingml/2006/main" w="9525">
            <a:solidFill>
              <a:srgbClr val="C8DCD7"/>
            </a:solidFill>
            <a:prstDash val="solid"/>
          </a:ln>
        </p:spPr>
      </p:sp>
      <p:sp>
        <p:nvSpPr>
          <p:cNvPr id="110" name="">
            <a:extLst xmlns:a="http://schemas.openxmlformats.org/drawingml/2006/main">
              <a:ext uri="{FF2B5EF4-FFF2-40B4-BE49-F238E27FC236}">
                <a16:creationId xmlns:a16="http://schemas.microsoft.com/office/drawing/2014/main" id="{83D63778-4A60-4D5B-8A2F-48BE93EA5D09}"/>
              </a:ext>
            </a:extLst>
          </p:cNvPr>
          <p:cNvSpPr>
            <a:spLocks xmlns:a="http://schemas.openxmlformats.org/drawingml/2006/main" noGrp="1"/>
          </p:cNvSpPr>
          <p:nvPr/>
        </p:nvSpPr>
        <p:spPr>
          <a:xfrm xmlns:a="http://schemas.openxmlformats.org/drawingml/2006/main">
            <a:off x="4981575" y="11582400"/>
            <a:ext cx="142875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38" b="1">
                <a:solidFill>
                  <a:srgbClr val="116F68"/>
                </a:solidFill>
              </a:defRPr>
            </a:pPr>
            <a:r>
              <a:rPr sz="638" b="1">
                <a:solidFill>
                  <a:srgbClr val="116F68"/>
                </a:solidFill>
              </a:rPr>
              <a:t>OWNER</a:t>
            </a:r>
          </a:p>
        </p:txBody>
      </p:sp>
      <p:sp>
        <p:nvSpPr>
          <p:cNvPr id="111" name="">
            <a:extLst xmlns:a="http://schemas.openxmlformats.org/drawingml/2006/main">
              <a:ext uri="{FF2B5EF4-FFF2-40B4-BE49-F238E27FC236}">
                <a16:creationId xmlns:a16="http://schemas.microsoft.com/office/drawing/2014/main" id="{05501660-B341-4896-91AC-E72901F5642B}"/>
              </a:ext>
            </a:extLst>
          </p:cNvPr>
          <p:cNvSpPr>
            <a:spLocks xmlns:a="http://schemas.openxmlformats.org/drawingml/2006/main" noGrp="1"/>
          </p:cNvSpPr>
          <p:nvPr/>
        </p:nvSpPr>
        <p:spPr>
          <a:xfrm xmlns:a="http://schemas.openxmlformats.org/drawingml/2006/main">
            <a:off x="4981575" y="11734800"/>
            <a:ext cx="1428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00" b="0">
                <a:solidFill>
                  <a:srgbClr val="183B39"/>
                </a:solidFill>
              </a:defRPr>
            </a:pPr>
            <a:r>
              <a:rPr sz="600" b="0">
                <a:solidFill>
                  <a:srgbClr val="183B39"/>
                </a:solidFill>
              </a:rPr>
              <a:t>North ZSM + NKAM Reliance North | Check by 05-Aug; EAN fix by 05-Sep if Aug offtake disappoints</a:t>
            </a:r>
          </a:p>
        </p:txBody>
      </p:sp>
    </p:spTree>
    <p:extLst>
      <p:ext uri="{BB962C8B-B14F-4D97-AF65-F5344CB8AC3E}">
        <p14:creationId xmlns:p14="http://schemas.microsoft.com/office/powerpoint/2010/main" val="1993337398"/>
      </p:ext>
    </p:extLst>
  </p:cSld>
</p:sld>
</file>

<file path=ppt/slides/slide8.xml><?xml version="1.0" encoding="utf-8"?>
<p:sld xmlns:p="http://schemas.openxmlformats.org/presentationml/2006/main">
  <p:cSld>
    <p:bg>
      <p:bgPr>
        <a:solidFill xmlns:a="http://schemas.openxmlformats.org/drawingml/2006/main">
          <a:srgbClr val="F7FBFA"/>
        </a:solidFill>
      </p:bgPr>
    </p:bg>
    <p:spTree>
      <p:nvGrpSpPr>
        <p:cNvPr id="1" name=""/>
        <p:cNvGrpSpPr/>
        <p:nvPr/>
      </p:nvGrpSpPr>
      <p:grpSpPr>
        <a:xfrm xmlns:a="http://schemas.openxmlformats.org/drawingml/2006/main"/>
      </p:grpSpPr>
      <p:sp>
        <p:nvSpPr>
          <p:cNvPr id="111" name="">
            <a:extLst xmlns:a="http://schemas.openxmlformats.org/drawingml/2006/main">
              <a:ext uri="{FF2B5EF4-FFF2-40B4-BE49-F238E27FC236}">
                <a16:creationId xmlns:a16="http://schemas.microsoft.com/office/drawing/2014/main" id="{290050A9-9F99-4FB8-8ABD-42BA5FBF17B5}"/>
              </a:ext>
            </a:extLst>
          </p:cNvPr>
          <p:cNvSpPr>
            <a:spLocks xmlns:a="http://schemas.openxmlformats.org/drawingml/2006/main" noGrp="1"/>
          </p:cNvSpPr>
          <p:nvPr/>
        </p:nvSpPr>
        <p:spPr>
          <a:xfrm xmlns:a="http://schemas.openxmlformats.org/drawingml/2006/main">
            <a:off x="0" y="0"/>
            <a:ext cx="6858000" cy="1000125"/>
          </a:xfrm>
          <a:prstGeom xmlns:a="http://schemas.openxmlformats.org/drawingml/2006/main" prst="rect">
            <a:avLst/>
          </a:prstGeom>
          <a:solidFill xmlns:a="http://schemas.openxmlformats.org/drawingml/2006/main">
            <a:srgbClr val="116F68"/>
          </a:solidFill>
          <a:ln xmlns:a="http://schemas.openxmlformats.org/drawingml/2006/main" w="0">
            <a:solidFill>
              <a:srgbClr val="116F68"/>
            </a:solidFill>
            <a:prstDash val="solid"/>
          </a:ln>
        </p:spPr>
      </p:sp>
      <p:sp>
        <p:nvSpPr>
          <p:cNvPr id="2" name="">
            <a:extLst xmlns:a="http://schemas.openxmlformats.org/drawingml/2006/main">
              <a:ext uri="{FF2B5EF4-FFF2-40B4-BE49-F238E27FC236}">
                <a16:creationId xmlns:a16="http://schemas.microsoft.com/office/drawing/2014/main" id="{13B5EBD1-8EC5-450C-9CC1-C54045ACD86A}"/>
              </a:ext>
            </a:extLst>
          </p:cNvPr>
          <p:cNvSpPr>
            <a:spLocks xmlns:a="http://schemas.openxmlformats.org/drawingml/2006/main" noGrp="1"/>
          </p:cNvSpPr>
          <p:nvPr/>
        </p:nvSpPr>
        <p:spPr>
          <a:xfrm xmlns:a="http://schemas.openxmlformats.org/drawingml/2006/main">
            <a:off x="361950" y="228600"/>
            <a:ext cx="59055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2025" b="1">
                <a:solidFill>
                  <a:srgbClr val="FFFFFF"/>
                </a:solidFill>
              </a:defRPr>
            </a:pPr>
            <a:r>
              <a:rPr sz="2025" b="1">
                <a:solidFill>
                  <a:srgbClr val="FFFFFF"/>
                </a:solidFill>
              </a:rPr>
              <a:t>South-2: Urgent gap closure</a:t>
            </a:r>
          </a:p>
        </p:txBody>
      </p:sp>
      <p:sp>
        <p:nvSpPr>
          <p:cNvPr id="3" name="">
            <a:extLst xmlns:a="http://schemas.openxmlformats.org/drawingml/2006/main">
              <a:ext uri="{FF2B5EF4-FFF2-40B4-BE49-F238E27FC236}">
                <a16:creationId xmlns:a16="http://schemas.microsoft.com/office/drawing/2014/main" id="{8D5E09C3-3601-4DC9-8426-C10CBE7DB859}"/>
              </a:ext>
            </a:extLst>
          </p:cNvPr>
          <p:cNvSpPr>
            <a:spLocks xmlns:a="http://schemas.openxmlformats.org/drawingml/2006/main" noGrp="1"/>
          </p:cNvSpPr>
          <p:nvPr/>
        </p:nvSpPr>
        <p:spPr>
          <a:xfrm xmlns:a="http://schemas.openxmlformats.org/drawingml/2006/main">
            <a:off x="381000" y="695325"/>
            <a:ext cx="57150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75" b="0">
                <a:solidFill>
                  <a:srgbClr val="DFF2ED"/>
                </a:solidFill>
              </a:defRPr>
            </a:pPr>
            <a:r>
              <a:rPr sz="975" b="0">
                <a:solidFill>
                  <a:srgbClr val="DFF2ED"/>
                </a:solidFill>
              </a:rPr>
              <a:t>Zone deep dive | July 2026 | ₹ Cr</a:t>
            </a:r>
          </a:p>
        </p:txBody>
      </p:sp>
      <p:sp>
        <p:nvSpPr>
          <p:cNvPr id="4" name="">
            <a:extLst xmlns:a="http://schemas.openxmlformats.org/drawingml/2006/main">
              <a:ext uri="{FF2B5EF4-FFF2-40B4-BE49-F238E27FC236}">
                <a16:creationId xmlns:a16="http://schemas.microsoft.com/office/drawing/2014/main" id="{57A0E098-4FB9-4E52-8552-6737E99CC5EE}"/>
              </a:ext>
            </a:extLst>
          </p:cNvPr>
          <p:cNvSpPr>
            <a:spLocks xmlns:a="http://schemas.openxmlformats.org/drawingml/2006/main" noGrp="1"/>
          </p:cNvSpPr>
          <p:nvPr/>
        </p:nvSpPr>
        <p:spPr>
          <a:xfrm xmlns:a="http://schemas.openxmlformats.org/drawingml/2006/main">
            <a:off x="6191250" y="361950"/>
            <a:ext cx="3429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900" b="1">
                <a:solidFill>
                  <a:srgbClr val="FFFFFF"/>
                </a:solidFill>
              </a:defRPr>
            </a:pPr>
            <a:r>
              <a:rPr sz="900" b="1">
                <a:solidFill>
                  <a:srgbClr val="FFFFFF"/>
                </a:solidFill>
              </a:rPr>
              <a:t>08</a:t>
            </a:r>
          </a:p>
        </p:txBody>
      </p:sp>
      <p:sp>
        <p:nvSpPr>
          <p:cNvPr id="5" name="">
            <a:extLst xmlns:a="http://schemas.openxmlformats.org/drawingml/2006/main">
              <a:ext uri="{FF2B5EF4-FFF2-40B4-BE49-F238E27FC236}">
                <a16:creationId xmlns:a16="http://schemas.microsoft.com/office/drawing/2014/main" id="{6D2976DE-D3B3-4A77-B18D-C5ABDCC8AE96}"/>
              </a:ext>
            </a:extLst>
          </p:cNvPr>
          <p:cNvSpPr>
            <a:spLocks xmlns:a="http://schemas.openxmlformats.org/drawingml/2006/main" noGrp="1"/>
          </p:cNvSpPr>
          <p:nvPr/>
        </p:nvSpPr>
        <p:spPr>
          <a:xfrm xmlns:a="http://schemas.openxmlformats.org/drawingml/2006/main">
            <a:off x="361950" y="1285875"/>
            <a:ext cx="140970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9525">
            <a:solidFill>
              <a:srgbClr val="C8DCD7"/>
            </a:solidFill>
            <a:prstDash val="solid"/>
          </a:ln>
        </p:spPr>
      </p:sp>
      <p:sp>
        <p:nvSpPr>
          <p:cNvPr id="6" name="">
            <a:extLst xmlns:a="http://schemas.openxmlformats.org/drawingml/2006/main">
              <a:ext uri="{FF2B5EF4-FFF2-40B4-BE49-F238E27FC236}">
                <a16:creationId xmlns:a16="http://schemas.microsoft.com/office/drawing/2014/main" id="{4B4397DC-B871-4C9D-9EA9-65B35A605C9F}"/>
              </a:ext>
            </a:extLst>
          </p:cNvPr>
          <p:cNvSpPr>
            <a:spLocks xmlns:a="http://schemas.openxmlformats.org/drawingml/2006/main" noGrp="1"/>
          </p:cNvSpPr>
          <p:nvPr/>
        </p:nvSpPr>
        <p:spPr>
          <a:xfrm xmlns:a="http://schemas.openxmlformats.org/drawingml/2006/main">
            <a:off x="361950" y="1285875"/>
            <a:ext cx="76200" cy="1066800"/>
          </a:xfrm>
          <a:prstGeom xmlns:a="http://schemas.openxmlformats.org/drawingml/2006/main" prst="rect">
            <a:avLst/>
          </a:prstGeom>
          <a:solidFill xmlns:a="http://schemas.openxmlformats.org/drawingml/2006/main">
            <a:srgbClr val="28A596"/>
          </a:solidFill>
          <a:ln xmlns:a="http://schemas.openxmlformats.org/drawingml/2006/main" w="0">
            <a:solidFill>
              <a:srgbClr val="28A596"/>
            </a:solidFill>
            <a:prstDash val="solid"/>
          </a:ln>
        </p:spPr>
      </p:sp>
      <p:sp>
        <p:nvSpPr>
          <p:cNvPr id="7" name="">
            <a:extLst xmlns:a="http://schemas.openxmlformats.org/drawingml/2006/main">
              <a:ext uri="{FF2B5EF4-FFF2-40B4-BE49-F238E27FC236}">
                <a16:creationId xmlns:a16="http://schemas.microsoft.com/office/drawing/2014/main" id="{EBBD5016-22B2-49D3-8A61-7D41F0F85D9E}"/>
              </a:ext>
            </a:extLst>
          </p:cNvPr>
          <p:cNvSpPr>
            <a:spLocks xmlns:a="http://schemas.openxmlformats.org/drawingml/2006/main" noGrp="1"/>
          </p:cNvSpPr>
          <p:nvPr/>
        </p:nvSpPr>
        <p:spPr>
          <a:xfrm xmlns:a="http://schemas.openxmlformats.org/drawingml/2006/main">
            <a:off x="533400" y="1400175"/>
            <a:ext cx="1143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5F716E"/>
                </a:solidFill>
              </a:defRPr>
            </a:pPr>
            <a:r>
              <a:rPr sz="900" b="1">
                <a:solidFill>
                  <a:srgbClr val="5F716E"/>
                </a:solidFill>
              </a:rPr>
              <a:t>PRIMARY</a:t>
            </a:r>
          </a:p>
        </p:txBody>
      </p:sp>
      <p:sp>
        <p:nvSpPr>
          <p:cNvPr id="8" name="">
            <a:extLst xmlns:a="http://schemas.openxmlformats.org/drawingml/2006/main">
              <a:ext uri="{FF2B5EF4-FFF2-40B4-BE49-F238E27FC236}">
                <a16:creationId xmlns:a16="http://schemas.microsoft.com/office/drawing/2014/main" id="{4AC422D9-BF67-427C-AC25-0AD1B57D793B}"/>
              </a:ext>
            </a:extLst>
          </p:cNvPr>
          <p:cNvSpPr>
            <a:spLocks xmlns:a="http://schemas.openxmlformats.org/drawingml/2006/main" noGrp="1"/>
          </p:cNvSpPr>
          <p:nvPr/>
        </p:nvSpPr>
        <p:spPr>
          <a:xfrm xmlns:a="http://schemas.openxmlformats.org/drawingml/2006/main">
            <a:off x="533400" y="1628775"/>
            <a:ext cx="1143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875" b="1">
                <a:solidFill>
                  <a:srgbClr val="28A596"/>
                </a:solidFill>
              </a:defRPr>
            </a:pPr>
            <a:r>
              <a:rPr sz="1875" b="1">
                <a:solidFill>
                  <a:srgbClr val="28A596"/>
                </a:solidFill>
              </a:rPr>
              <a:t>₹6.89 Cr</a:t>
            </a:r>
          </a:p>
        </p:txBody>
      </p:sp>
      <p:sp>
        <p:nvSpPr>
          <p:cNvPr id="9" name="">
            <a:extLst xmlns:a="http://schemas.openxmlformats.org/drawingml/2006/main">
              <a:ext uri="{FF2B5EF4-FFF2-40B4-BE49-F238E27FC236}">
                <a16:creationId xmlns:a16="http://schemas.microsoft.com/office/drawing/2014/main" id="{3CF13541-71F2-4939-9C8E-7D9F4E5372C5}"/>
              </a:ext>
            </a:extLst>
          </p:cNvPr>
          <p:cNvSpPr>
            <a:spLocks xmlns:a="http://schemas.openxmlformats.org/drawingml/2006/main" noGrp="1"/>
          </p:cNvSpPr>
          <p:nvPr/>
        </p:nvSpPr>
        <p:spPr>
          <a:xfrm xmlns:a="http://schemas.openxmlformats.org/drawingml/2006/main">
            <a:off x="533400" y="2028825"/>
            <a:ext cx="1143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0">
                <a:solidFill>
                  <a:srgbClr val="5F716E"/>
                </a:solidFill>
              </a:defRPr>
            </a:pPr>
            <a:r>
              <a:rPr sz="825" b="0">
                <a:solidFill>
                  <a:srgbClr val="5F716E"/>
                </a:solidFill>
              </a:rPr>
              <a:t>July billing</a:t>
            </a:r>
          </a:p>
        </p:txBody>
      </p:sp>
      <p:sp>
        <p:nvSpPr>
          <p:cNvPr id="10" name="">
            <a:extLst xmlns:a="http://schemas.openxmlformats.org/drawingml/2006/main">
              <a:ext uri="{FF2B5EF4-FFF2-40B4-BE49-F238E27FC236}">
                <a16:creationId xmlns:a16="http://schemas.microsoft.com/office/drawing/2014/main" id="{7C44588D-CE7E-4501-9019-AF09307547D8}"/>
              </a:ext>
            </a:extLst>
          </p:cNvPr>
          <p:cNvSpPr>
            <a:spLocks xmlns:a="http://schemas.openxmlformats.org/drawingml/2006/main" noGrp="1"/>
          </p:cNvSpPr>
          <p:nvPr/>
        </p:nvSpPr>
        <p:spPr>
          <a:xfrm xmlns:a="http://schemas.openxmlformats.org/drawingml/2006/main">
            <a:off x="1933575" y="1285875"/>
            <a:ext cx="140970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9525">
            <a:solidFill>
              <a:srgbClr val="C8DCD7"/>
            </a:solidFill>
            <a:prstDash val="solid"/>
          </a:ln>
        </p:spPr>
      </p:sp>
      <p:sp>
        <p:nvSpPr>
          <p:cNvPr id="11" name="">
            <a:extLst xmlns:a="http://schemas.openxmlformats.org/drawingml/2006/main">
              <a:ext uri="{FF2B5EF4-FFF2-40B4-BE49-F238E27FC236}">
                <a16:creationId xmlns:a16="http://schemas.microsoft.com/office/drawing/2014/main" id="{5B78B5B4-E662-46C9-8A4A-2EF59F1ACDF0}"/>
              </a:ext>
            </a:extLst>
          </p:cNvPr>
          <p:cNvSpPr>
            <a:spLocks xmlns:a="http://schemas.openxmlformats.org/drawingml/2006/main" noGrp="1"/>
          </p:cNvSpPr>
          <p:nvPr/>
        </p:nvSpPr>
        <p:spPr>
          <a:xfrm xmlns:a="http://schemas.openxmlformats.org/drawingml/2006/main">
            <a:off x="1933575" y="1285875"/>
            <a:ext cx="76200" cy="1066800"/>
          </a:xfrm>
          <a:prstGeom xmlns:a="http://schemas.openxmlformats.org/drawingml/2006/main" prst="rect">
            <a:avLst/>
          </a:prstGeom>
          <a:solidFill xmlns:a="http://schemas.openxmlformats.org/drawingml/2006/main">
            <a:srgbClr val="2B9A66"/>
          </a:solidFill>
          <a:ln xmlns:a="http://schemas.openxmlformats.org/drawingml/2006/main" w="0">
            <a:solidFill>
              <a:srgbClr val="2B9A66"/>
            </a:solidFill>
            <a:prstDash val="solid"/>
          </a:ln>
        </p:spPr>
      </p:sp>
      <p:sp>
        <p:nvSpPr>
          <p:cNvPr id="12" name="">
            <a:extLst xmlns:a="http://schemas.openxmlformats.org/drawingml/2006/main">
              <a:ext uri="{FF2B5EF4-FFF2-40B4-BE49-F238E27FC236}">
                <a16:creationId xmlns:a16="http://schemas.microsoft.com/office/drawing/2014/main" id="{7D2915B2-C6A6-4ADE-9BB6-A3C89758CD1A}"/>
              </a:ext>
            </a:extLst>
          </p:cNvPr>
          <p:cNvSpPr>
            <a:spLocks xmlns:a="http://schemas.openxmlformats.org/drawingml/2006/main" noGrp="1"/>
          </p:cNvSpPr>
          <p:nvPr/>
        </p:nvSpPr>
        <p:spPr>
          <a:xfrm xmlns:a="http://schemas.openxmlformats.org/drawingml/2006/main">
            <a:off x="2105025" y="1400175"/>
            <a:ext cx="1143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5F716E"/>
                </a:solidFill>
              </a:defRPr>
            </a:pPr>
            <a:r>
              <a:rPr sz="900" b="1">
                <a:solidFill>
                  <a:srgbClr val="5F716E"/>
                </a:solidFill>
              </a:rPr>
              <a:t>OFFTAKE</a:t>
            </a:r>
          </a:p>
        </p:txBody>
      </p:sp>
      <p:sp>
        <p:nvSpPr>
          <p:cNvPr id="13" name="">
            <a:extLst xmlns:a="http://schemas.openxmlformats.org/drawingml/2006/main">
              <a:ext uri="{FF2B5EF4-FFF2-40B4-BE49-F238E27FC236}">
                <a16:creationId xmlns:a16="http://schemas.microsoft.com/office/drawing/2014/main" id="{DF1C2E0D-477F-4ADF-99D8-8595EB9118BE}"/>
              </a:ext>
            </a:extLst>
          </p:cNvPr>
          <p:cNvSpPr>
            <a:spLocks xmlns:a="http://schemas.openxmlformats.org/drawingml/2006/main" noGrp="1"/>
          </p:cNvSpPr>
          <p:nvPr/>
        </p:nvSpPr>
        <p:spPr>
          <a:xfrm xmlns:a="http://schemas.openxmlformats.org/drawingml/2006/main">
            <a:off x="2105025" y="1628775"/>
            <a:ext cx="1143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875" b="1">
                <a:solidFill>
                  <a:srgbClr val="2B9A66"/>
                </a:solidFill>
              </a:defRPr>
            </a:pPr>
            <a:r>
              <a:rPr sz="1875" b="1">
                <a:solidFill>
                  <a:srgbClr val="2B9A66"/>
                </a:solidFill>
              </a:rPr>
              <a:t>₹4.91 Cr</a:t>
            </a:r>
          </a:p>
        </p:txBody>
      </p:sp>
      <p:sp>
        <p:nvSpPr>
          <p:cNvPr id="14" name="">
            <a:extLst xmlns:a="http://schemas.openxmlformats.org/drawingml/2006/main">
              <a:ext uri="{FF2B5EF4-FFF2-40B4-BE49-F238E27FC236}">
                <a16:creationId xmlns:a16="http://schemas.microsoft.com/office/drawing/2014/main" id="{5A9E21E1-428E-46B4-951E-5FC457C1341B}"/>
              </a:ext>
            </a:extLst>
          </p:cNvPr>
          <p:cNvSpPr>
            <a:spLocks xmlns:a="http://schemas.openxmlformats.org/drawingml/2006/main" noGrp="1"/>
          </p:cNvSpPr>
          <p:nvPr/>
        </p:nvSpPr>
        <p:spPr>
          <a:xfrm xmlns:a="http://schemas.openxmlformats.org/drawingml/2006/main">
            <a:off x="2105025" y="2028825"/>
            <a:ext cx="1143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0">
                <a:solidFill>
                  <a:srgbClr val="5F716E"/>
                </a:solidFill>
              </a:defRPr>
            </a:pPr>
            <a:r>
              <a:rPr sz="825" b="0">
                <a:solidFill>
                  <a:srgbClr val="5F716E"/>
                </a:solidFill>
              </a:rPr>
              <a:t>13.6% mix</a:t>
            </a:r>
          </a:p>
        </p:txBody>
      </p:sp>
      <p:sp>
        <p:nvSpPr>
          <p:cNvPr id="15" name="">
            <a:extLst xmlns:a="http://schemas.openxmlformats.org/drawingml/2006/main">
              <a:ext uri="{FF2B5EF4-FFF2-40B4-BE49-F238E27FC236}">
                <a16:creationId xmlns:a16="http://schemas.microsoft.com/office/drawing/2014/main" id="{E8B80EB0-6346-4B9C-A8EC-0B982BF1150B}"/>
              </a:ext>
            </a:extLst>
          </p:cNvPr>
          <p:cNvSpPr>
            <a:spLocks xmlns:a="http://schemas.openxmlformats.org/drawingml/2006/main" noGrp="1"/>
          </p:cNvSpPr>
          <p:nvPr/>
        </p:nvSpPr>
        <p:spPr>
          <a:xfrm xmlns:a="http://schemas.openxmlformats.org/drawingml/2006/main">
            <a:off x="3505200" y="1285875"/>
            <a:ext cx="140970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9525">
            <a:solidFill>
              <a:srgbClr val="C8DCD7"/>
            </a:solidFill>
            <a:prstDash val="solid"/>
          </a:ln>
        </p:spPr>
      </p:sp>
      <p:sp>
        <p:nvSpPr>
          <p:cNvPr id="16" name="">
            <a:extLst xmlns:a="http://schemas.openxmlformats.org/drawingml/2006/main">
              <a:ext uri="{FF2B5EF4-FFF2-40B4-BE49-F238E27FC236}">
                <a16:creationId xmlns:a16="http://schemas.microsoft.com/office/drawing/2014/main" id="{E87C25A7-69F7-428F-954F-716760A72076}"/>
              </a:ext>
            </a:extLst>
          </p:cNvPr>
          <p:cNvSpPr>
            <a:spLocks xmlns:a="http://schemas.openxmlformats.org/drawingml/2006/main" noGrp="1"/>
          </p:cNvSpPr>
          <p:nvPr/>
        </p:nvSpPr>
        <p:spPr>
          <a:xfrm xmlns:a="http://schemas.openxmlformats.org/drawingml/2006/main">
            <a:off x="3505200" y="1285875"/>
            <a:ext cx="76200" cy="1066800"/>
          </a:xfrm>
          <a:prstGeom xmlns:a="http://schemas.openxmlformats.org/drawingml/2006/main" prst="rect">
            <a:avLst/>
          </a:prstGeom>
          <a:solidFill xmlns:a="http://schemas.openxmlformats.org/drawingml/2006/main">
            <a:srgbClr val="D6544D"/>
          </a:solidFill>
          <a:ln xmlns:a="http://schemas.openxmlformats.org/drawingml/2006/main" w="0">
            <a:solidFill>
              <a:srgbClr val="D6544D"/>
            </a:solidFill>
            <a:prstDash val="solid"/>
          </a:ln>
        </p:spPr>
      </p:sp>
      <p:sp>
        <p:nvSpPr>
          <p:cNvPr id="17" name="">
            <a:extLst xmlns:a="http://schemas.openxmlformats.org/drawingml/2006/main">
              <a:ext uri="{FF2B5EF4-FFF2-40B4-BE49-F238E27FC236}">
                <a16:creationId xmlns:a16="http://schemas.microsoft.com/office/drawing/2014/main" id="{80FC7BF9-2444-46EB-95B8-182B867B2CE1}"/>
              </a:ext>
            </a:extLst>
          </p:cNvPr>
          <p:cNvSpPr>
            <a:spLocks xmlns:a="http://schemas.openxmlformats.org/drawingml/2006/main" noGrp="1"/>
          </p:cNvSpPr>
          <p:nvPr/>
        </p:nvSpPr>
        <p:spPr>
          <a:xfrm xmlns:a="http://schemas.openxmlformats.org/drawingml/2006/main">
            <a:off x="3676650" y="1400175"/>
            <a:ext cx="1143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5F716E"/>
                </a:solidFill>
              </a:defRPr>
            </a:pPr>
            <a:r>
              <a:rPr sz="900" b="1">
                <a:solidFill>
                  <a:srgbClr val="5F716E"/>
                </a:solidFill>
              </a:rPr>
              <a:t>CONVERSION</a:t>
            </a:r>
          </a:p>
        </p:txBody>
      </p:sp>
      <p:sp>
        <p:nvSpPr>
          <p:cNvPr id="18" name="">
            <a:extLst xmlns:a="http://schemas.openxmlformats.org/drawingml/2006/main">
              <a:ext uri="{FF2B5EF4-FFF2-40B4-BE49-F238E27FC236}">
                <a16:creationId xmlns:a16="http://schemas.microsoft.com/office/drawing/2014/main" id="{EE9CFB57-0236-4CDB-8C15-68307C02BCD4}"/>
              </a:ext>
            </a:extLst>
          </p:cNvPr>
          <p:cNvSpPr>
            <a:spLocks xmlns:a="http://schemas.openxmlformats.org/drawingml/2006/main" noGrp="1"/>
          </p:cNvSpPr>
          <p:nvPr/>
        </p:nvSpPr>
        <p:spPr>
          <a:xfrm xmlns:a="http://schemas.openxmlformats.org/drawingml/2006/main">
            <a:off x="3676650" y="1628775"/>
            <a:ext cx="1143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875" b="1">
                <a:solidFill>
                  <a:srgbClr val="D6544D"/>
                </a:solidFill>
              </a:defRPr>
            </a:pPr>
            <a:r>
              <a:rPr sz="1875" b="1">
                <a:solidFill>
                  <a:srgbClr val="D6544D"/>
                </a:solidFill>
              </a:rPr>
              <a:t>71.3%</a:t>
            </a:r>
          </a:p>
        </p:txBody>
      </p:sp>
      <p:sp>
        <p:nvSpPr>
          <p:cNvPr id="19" name="">
            <a:extLst xmlns:a="http://schemas.openxmlformats.org/drawingml/2006/main">
              <a:ext uri="{FF2B5EF4-FFF2-40B4-BE49-F238E27FC236}">
                <a16:creationId xmlns:a16="http://schemas.microsoft.com/office/drawing/2014/main" id="{633B78D4-F2C8-41D8-B327-4E499E0BE432}"/>
              </a:ext>
            </a:extLst>
          </p:cNvPr>
          <p:cNvSpPr>
            <a:spLocks xmlns:a="http://schemas.openxmlformats.org/drawingml/2006/main" noGrp="1"/>
          </p:cNvSpPr>
          <p:nvPr/>
        </p:nvSpPr>
        <p:spPr>
          <a:xfrm xmlns:a="http://schemas.openxmlformats.org/drawingml/2006/main">
            <a:off x="3676650" y="2028825"/>
            <a:ext cx="1143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0">
                <a:solidFill>
                  <a:srgbClr val="5F716E"/>
                </a:solidFill>
              </a:defRPr>
            </a:pPr>
            <a:r>
              <a:rPr sz="825" b="0">
                <a:solidFill>
                  <a:srgbClr val="5F716E"/>
                </a:solidFill>
              </a:rPr>
              <a:t>Flow</a:t>
            </a:r>
          </a:p>
        </p:txBody>
      </p:sp>
      <p:sp>
        <p:nvSpPr>
          <p:cNvPr id="20" name="">
            <a:extLst xmlns:a="http://schemas.openxmlformats.org/drawingml/2006/main">
              <a:ext uri="{FF2B5EF4-FFF2-40B4-BE49-F238E27FC236}">
                <a16:creationId xmlns:a16="http://schemas.microsoft.com/office/drawing/2014/main" id="{93E79499-6FA2-49FD-BF7D-69489FF9DA61}"/>
              </a:ext>
            </a:extLst>
          </p:cNvPr>
          <p:cNvSpPr>
            <a:spLocks xmlns:a="http://schemas.openxmlformats.org/drawingml/2006/main" noGrp="1"/>
          </p:cNvSpPr>
          <p:nvPr/>
        </p:nvSpPr>
        <p:spPr>
          <a:xfrm xmlns:a="http://schemas.openxmlformats.org/drawingml/2006/main">
            <a:off x="5076825" y="1285875"/>
            <a:ext cx="1419225"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9525">
            <a:solidFill>
              <a:srgbClr val="C8DCD7"/>
            </a:solidFill>
            <a:prstDash val="solid"/>
          </a:ln>
        </p:spPr>
      </p:sp>
      <p:sp>
        <p:nvSpPr>
          <p:cNvPr id="21" name="">
            <a:extLst xmlns:a="http://schemas.openxmlformats.org/drawingml/2006/main">
              <a:ext uri="{FF2B5EF4-FFF2-40B4-BE49-F238E27FC236}">
                <a16:creationId xmlns:a16="http://schemas.microsoft.com/office/drawing/2014/main" id="{78D87BDD-D3AC-432F-BDCA-E0D3B5A36D41}"/>
              </a:ext>
            </a:extLst>
          </p:cNvPr>
          <p:cNvSpPr>
            <a:spLocks xmlns:a="http://schemas.openxmlformats.org/drawingml/2006/main" noGrp="1"/>
          </p:cNvSpPr>
          <p:nvPr/>
        </p:nvSpPr>
        <p:spPr>
          <a:xfrm xmlns:a="http://schemas.openxmlformats.org/drawingml/2006/main">
            <a:off x="5076825" y="1285875"/>
            <a:ext cx="76200" cy="1066800"/>
          </a:xfrm>
          <a:prstGeom xmlns:a="http://schemas.openxmlformats.org/drawingml/2006/main" prst="rect">
            <a:avLst/>
          </a:prstGeom>
          <a:solidFill xmlns:a="http://schemas.openxmlformats.org/drawingml/2006/main">
            <a:srgbClr val="D6544D"/>
          </a:solidFill>
          <a:ln xmlns:a="http://schemas.openxmlformats.org/drawingml/2006/main" w="0">
            <a:solidFill>
              <a:srgbClr val="D6544D"/>
            </a:solidFill>
            <a:prstDash val="solid"/>
          </a:ln>
        </p:spPr>
      </p:sp>
      <p:sp>
        <p:nvSpPr>
          <p:cNvPr id="22" name="">
            <a:extLst xmlns:a="http://schemas.openxmlformats.org/drawingml/2006/main">
              <a:ext uri="{FF2B5EF4-FFF2-40B4-BE49-F238E27FC236}">
                <a16:creationId xmlns:a16="http://schemas.microsoft.com/office/drawing/2014/main" id="{FCADAE78-BE7D-4C78-BDAA-F72A20FD25FB}"/>
              </a:ext>
            </a:extLst>
          </p:cNvPr>
          <p:cNvSpPr>
            <a:spLocks xmlns:a="http://schemas.openxmlformats.org/drawingml/2006/main" noGrp="1"/>
          </p:cNvSpPr>
          <p:nvPr/>
        </p:nvSpPr>
        <p:spPr>
          <a:xfrm xmlns:a="http://schemas.openxmlformats.org/drawingml/2006/main">
            <a:off x="5248275" y="1400175"/>
            <a:ext cx="115252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5F716E"/>
                </a:solidFill>
              </a:defRPr>
            </a:pPr>
            <a:r>
              <a:rPr sz="900" b="1">
                <a:solidFill>
                  <a:srgbClr val="5F716E"/>
                </a:solidFill>
              </a:rPr>
              <a:t>GAP</a:t>
            </a:r>
          </a:p>
        </p:txBody>
      </p:sp>
      <p:sp>
        <p:nvSpPr>
          <p:cNvPr id="23" name="">
            <a:extLst xmlns:a="http://schemas.openxmlformats.org/drawingml/2006/main">
              <a:ext uri="{FF2B5EF4-FFF2-40B4-BE49-F238E27FC236}">
                <a16:creationId xmlns:a16="http://schemas.microsoft.com/office/drawing/2014/main" id="{6B2011DA-F054-4119-B9E7-CC345049B5D1}"/>
              </a:ext>
            </a:extLst>
          </p:cNvPr>
          <p:cNvSpPr>
            <a:spLocks xmlns:a="http://schemas.openxmlformats.org/drawingml/2006/main" noGrp="1"/>
          </p:cNvSpPr>
          <p:nvPr/>
        </p:nvSpPr>
        <p:spPr>
          <a:xfrm xmlns:a="http://schemas.openxmlformats.org/drawingml/2006/main">
            <a:off x="5248275" y="1628775"/>
            <a:ext cx="11525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875" b="1">
                <a:solidFill>
                  <a:srgbClr val="D6544D"/>
                </a:solidFill>
              </a:defRPr>
            </a:pPr>
            <a:r>
              <a:rPr sz="1875" b="1">
                <a:solidFill>
                  <a:srgbClr val="D6544D"/>
                </a:solidFill>
              </a:rPr>
              <a:t>₹1.98 Cr</a:t>
            </a:r>
          </a:p>
        </p:txBody>
      </p:sp>
      <p:sp>
        <p:nvSpPr>
          <p:cNvPr id="24" name="">
            <a:extLst xmlns:a="http://schemas.openxmlformats.org/drawingml/2006/main">
              <a:ext uri="{FF2B5EF4-FFF2-40B4-BE49-F238E27FC236}">
                <a16:creationId xmlns:a16="http://schemas.microsoft.com/office/drawing/2014/main" id="{72BAAFD5-C7C3-4E1E-B7EB-82C905E99011}"/>
              </a:ext>
            </a:extLst>
          </p:cNvPr>
          <p:cNvSpPr>
            <a:spLocks xmlns:a="http://schemas.openxmlformats.org/drawingml/2006/main" noGrp="1"/>
          </p:cNvSpPr>
          <p:nvPr/>
        </p:nvSpPr>
        <p:spPr>
          <a:xfrm xmlns:a="http://schemas.openxmlformats.org/drawingml/2006/main">
            <a:off x="5248275" y="2028825"/>
            <a:ext cx="115252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0">
                <a:solidFill>
                  <a:srgbClr val="5F716E"/>
                </a:solidFill>
              </a:defRPr>
            </a:pPr>
            <a:r>
              <a:rPr sz="825" b="0">
                <a:solidFill>
                  <a:srgbClr val="5F716E"/>
                </a:solidFill>
              </a:rPr>
              <a:t>Primary − offtake</a:t>
            </a:r>
          </a:p>
        </p:txBody>
      </p:sp>
      <p:sp>
        <p:nvSpPr>
          <p:cNvPr id="25" name="">
            <a:extLst xmlns:a="http://schemas.openxmlformats.org/drawingml/2006/main">
              <a:ext uri="{FF2B5EF4-FFF2-40B4-BE49-F238E27FC236}">
                <a16:creationId xmlns:a16="http://schemas.microsoft.com/office/drawing/2014/main" id="{C87E1B57-6D8E-4D14-BACD-F99D6B9BC9A6}"/>
              </a:ext>
            </a:extLst>
          </p:cNvPr>
          <p:cNvSpPr>
            <a:spLocks xmlns:a="http://schemas.openxmlformats.org/drawingml/2006/main" noGrp="1"/>
          </p:cNvSpPr>
          <p:nvPr/>
        </p:nvSpPr>
        <p:spPr>
          <a:xfrm xmlns:a="http://schemas.openxmlformats.org/drawingml/2006/main">
            <a:off x="361950" y="2476500"/>
            <a:ext cx="6134100" cy="457200"/>
          </a:xfrm>
          <a:prstGeom xmlns:a="http://schemas.openxmlformats.org/drawingml/2006/main" prst="roundRect">
            <a:avLst>
              <a:gd name="adj" fmla="val 16667"/>
            </a:avLst>
          </a:prstGeom>
          <a:solidFill xmlns:a="http://schemas.openxmlformats.org/drawingml/2006/main">
            <a:srgbClr val="DFF2ED"/>
          </a:solidFill>
          <a:ln xmlns:a="http://schemas.openxmlformats.org/drawingml/2006/main" w="9525">
            <a:solidFill>
              <a:srgbClr val="28A596"/>
            </a:solidFill>
            <a:prstDash val="solid"/>
          </a:ln>
        </p:spPr>
      </p:sp>
      <p:sp>
        <p:nvSpPr>
          <p:cNvPr id="26" name="">
            <a:extLst xmlns:a="http://schemas.openxmlformats.org/drawingml/2006/main">
              <a:ext uri="{FF2B5EF4-FFF2-40B4-BE49-F238E27FC236}">
                <a16:creationId xmlns:a16="http://schemas.microsoft.com/office/drawing/2014/main" id="{E9BAF44D-D849-4ADA-AFC4-3E1FB9078889}"/>
              </a:ext>
            </a:extLst>
          </p:cNvPr>
          <p:cNvSpPr>
            <a:spLocks xmlns:a="http://schemas.openxmlformats.org/drawingml/2006/main" noGrp="1"/>
          </p:cNvSpPr>
          <p:nvPr/>
        </p:nvSpPr>
        <p:spPr>
          <a:xfrm xmlns:a="http://schemas.openxmlformats.org/drawingml/2006/main">
            <a:off x="476250" y="2533650"/>
            <a:ext cx="1381125"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1">
                <a:solidFill>
                  <a:srgbClr val="116F68"/>
                </a:solidFill>
              </a:defRPr>
            </a:pPr>
            <a:r>
              <a:rPr sz="825" b="1">
                <a:solidFill>
                  <a:srgbClr val="116F68"/>
                </a:solidFill>
              </a:rPr>
              <a:t>MANAGEMENT PRIORITY</a:t>
            </a:r>
          </a:p>
        </p:txBody>
      </p:sp>
      <p:sp>
        <p:nvSpPr>
          <p:cNvPr id="27" name="">
            <a:extLst xmlns:a="http://schemas.openxmlformats.org/drawingml/2006/main">
              <a:ext uri="{FF2B5EF4-FFF2-40B4-BE49-F238E27FC236}">
                <a16:creationId xmlns:a16="http://schemas.microsoft.com/office/drawing/2014/main" id="{46622E66-C4A8-4321-9064-C596B4134A9B}"/>
              </a:ext>
            </a:extLst>
          </p:cNvPr>
          <p:cNvSpPr>
            <a:spLocks xmlns:a="http://schemas.openxmlformats.org/drawingml/2006/main" noGrp="1"/>
          </p:cNvSpPr>
          <p:nvPr/>
        </p:nvSpPr>
        <p:spPr>
          <a:xfrm xmlns:a="http://schemas.openxmlformats.org/drawingml/2006/main">
            <a:off x="1885950" y="2514600"/>
            <a:ext cx="4429125"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183B39"/>
                </a:solidFill>
              </a:defRPr>
            </a:pPr>
            <a:r>
              <a:rPr sz="900" b="1">
                <a:solidFill>
                  <a:srgbClr val="183B39"/>
                </a:solidFill>
              </a:rPr>
              <a:t>Close DMart exceptions  •  Protect hero-SKU OSA  •  Review conversion weekly</a:t>
            </a:r>
          </a:p>
        </p:txBody>
      </p:sp>
      <p:sp>
        <p:nvSpPr>
          <p:cNvPr id="28" name="">
            <a:extLst xmlns:a="http://schemas.openxmlformats.org/drawingml/2006/main">
              <a:ext uri="{FF2B5EF4-FFF2-40B4-BE49-F238E27FC236}">
                <a16:creationId xmlns:a16="http://schemas.microsoft.com/office/drawing/2014/main" id="{F79B92E1-7F6A-48CB-BE71-36A5466667BF}"/>
              </a:ext>
            </a:extLst>
          </p:cNvPr>
          <p:cNvSpPr>
            <a:spLocks xmlns:a="http://schemas.openxmlformats.org/drawingml/2006/main" noGrp="1"/>
          </p:cNvSpPr>
          <p:nvPr/>
        </p:nvSpPr>
        <p:spPr>
          <a:xfrm xmlns:a="http://schemas.openxmlformats.org/drawingml/2006/main">
            <a:off x="361950" y="3048000"/>
            <a:ext cx="2895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183B39"/>
                </a:solidFill>
              </a:defRPr>
            </a:pPr>
            <a:r>
              <a:rPr sz="900" b="1">
                <a:solidFill>
                  <a:srgbClr val="183B39"/>
                </a:solidFill>
              </a:rPr>
              <a:t>Mamaearth — top 3 sub-categories</a:t>
            </a:r>
          </a:p>
        </p:txBody>
      </p:sp>
      <p:graphicFrame>
        <p:nvGraphicFramePr>
          <p:cNvPr id="139" name="Chart"/>
          <p:cNvGraphicFramePr/>
          <p:nvPr/>
        </p:nvGraphicFramePr>
        <p:xfrm>
          <a:off xmlns:a="http://schemas.openxmlformats.org/drawingml/2006/main" x="361950" y="3286125"/>
          <a:ext xmlns:a="http://schemas.openxmlformats.org/drawingml/2006/main" cx="2895600" cy="1666875"/>
        </p:xfrm>
        <a:graphic xmlns:a="http://schemas.openxmlformats.org/drawingml/2006/main">
          <a:graphicData uri="http://schemas.openxmlformats.org/drawingml/2006/chart">
            <c:chart xmlns:r="http://schemas.openxmlformats.org/officeDocument/2006/relationships" xmlns:c="http://schemas.openxmlformats.org/drawingml/2006/chart" r:id="R467df232fc254c18"/>
          </a:graphicData>
        </a:graphic>
      </p:graphicFrame>
      <p:sp>
        <p:nvSpPr>
          <p:cNvPr id="30" name="">
            <a:extLst xmlns:a="http://schemas.openxmlformats.org/drawingml/2006/main">
              <a:ext uri="{FF2B5EF4-FFF2-40B4-BE49-F238E27FC236}">
                <a16:creationId xmlns:a16="http://schemas.microsoft.com/office/drawing/2014/main" id="{6C33DD51-DCD9-40BC-BE9D-C9DECBBDA90A}"/>
              </a:ext>
            </a:extLst>
          </p:cNvPr>
          <p:cNvSpPr>
            <a:spLocks xmlns:a="http://schemas.openxmlformats.org/drawingml/2006/main" noGrp="1"/>
          </p:cNvSpPr>
          <p:nvPr/>
        </p:nvSpPr>
        <p:spPr>
          <a:xfrm xmlns:a="http://schemas.openxmlformats.org/drawingml/2006/main">
            <a:off x="3600450" y="3048000"/>
            <a:ext cx="2895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183B39"/>
                </a:solidFill>
              </a:defRPr>
            </a:pPr>
            <a:r>
              <a:rPr sz="900" b="1">
                <a:solidFill>
                  <a:srgbClr val="183B39"/>
                </a:solidFill>
              </a:rPr>
              <a:t>The Derma Co. — top 3 sub-categories</a:t>
            </a:r>
          </a:p>
        </p:txBody>
      </p:sp>
      <p:graphicFrame>
        <p:nvGraphicFramePr>
          <p:cNvPr id="141" name="Chart"/>
          <p:cNvGraphicFramePr/>
          <p:nvPr/>
        </p:nvGraphicFramePr>
        <p:xfrm>
          <a:off xmlns:a="http://schemas.openxmlformats.org/drawingml/2006/main" x="3600450" y="3286125"/>
          <a:ext xmlns:a="http://schemas.openxmlformats.org/drawingml/2006/main" cx="2895600" cy="1666875"/>
        </p:xfrm>
        <a:graphic xmlns:a="http://schemas.openxmlformats.org/drawingml/2006/main">
          <a:graphicData uri="http://schemas.openxmlformats.org/drawingml/2006/chart">
            <c:chart xmlns:r="http://schemas.openxmlformats.org/officeDocument/2006/relationships" xmlns:c="http://schemas.openxmlformats.org/drawingml/2006/chart" r:id="Rc954bdb8aef643bc"/>
          </a:graphicData>
        </a:graphic>
      </p:graphicFrame>
      <p:sp>
        <p:nvSpPr>
          <p:cNvPr id="32" name="">
            <a:extLst xmlns:a="http://schemas.openxmlformats.org/drawingml/2006/main">
              <a:ext uri="{FF2B5EF4-FFF2-40B4-BE49-F238E27FC236}">
                <a16:creationId xmlns:a16="http://schemas.microsoft.com/office/drawing/2014/main" id="{AAC98C24-DCDC-4DF8-ABE5-2889155DC3FE}"/>
              </a:ext>
            </a:extLst>
          </p:cNvPr>
          <p:cNvSpPr>
            <a:spLocks xmlns:a="http://schemas.openxmlformats.org/drawingml/2006/main" noGrp="1"/>
          </p:cNvSpPr>
          <p:nvPr/>
        </p:nvSpPr>
        <p:spPr>
          <a:xfrm xmlns:a="http://schemas.openxmlformats.org/drawingml/2006/main">
            <a:off x="361950" y="5095875"/>
            <a:ext cx="1905000" cy="2476500"/>
          </a:xfrm>
          <a:prstGeom xmlns:a="http://schemas.openxmlformats.org/drawingml/2006/main" prst="roundRect">
            <a:avLst>
              <a:gd name="adj" fmla="val 4000"/>
            </a:avLst>
          </a:prstGeom>
          <a:solidFill xmlns:a="http://schemas.openxmlformats.org/drawingml/2006/main">
            <a:srgbClr val="FFFFFF"/>
          </a:solidFill>
          <a:ln xmlns:a="http://schemas.openxmlformats.org/drawingml/2006/main" w="9525">
            <a:solidFill>
              <a:srgbClr val="C8DCD7"/>
            </a:solidFill>
            <a:prstDash val="solid"/>
          </a:ln>
        </p:spPr>
      </p:sp>
      <p:sp>
        <p:nvSpPr>
          <p:cNvPr id="33" name="">
            <a:extLst xmlns:a="http://schemas.openxmlformats.org/drawingml/2006/main">
              <a:ext uri="{FF2B5EF4-FFF2-40B4-BE49-F238E27FC236}">
                <a16:creationId xmlns:a16="http://schemas.microsoft.com/office/drawing/2014/main" id="{71D7F921-5449-4F1D-8A1A-7A78D546FAFE}"/>
              </a:ext>
            </a:extLst>
          </p:cNvPr>
          <p:cNvSpPr>
            <a:spLocks xmlns:a="http://schemas.openxmlformats.org/drawingml/2006/main" noGrp="1"/>
          </p:cNvSpPr>
          <p:nvPr/>
        </p:nvSpPr>
        <p:spPr>
          <a:xfrm xmlns:a="http://schemas.openxmlformats.org/drawingml/2006/main">
            <a:off x="495300" y="5219700"/>
            <a:ext cx="16573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116F68"/>
                </a:solidFill>
              </a:defRPr>
            </a:pPr>
            <a:r>
              <a:rPr sz="900" b="1">
                <a:solidFill>
                  <a:srgbClr val="116F68"/>
                </a:solidFill>
              </a:rPr>
              <a:t>TOP CHAINS / STATES</a:t>
            </a:r>
          </a:p>
        </p:txBody>
      </p:sp>
      <p:sp>
        <p:nvSpPr>
          <p:cNvPr id="34" name="">
            <a:extLst xmlns:a="http://schemas.openxmlformats.org/drawingml/2006/main">
              <a:ext uri="{FF2B5EF4-FFF2-40B4-BE49-F238E27FC236}">
                <a16:creationId xmlns:a16="http://schemas.microsoft.com/office/drawing/2014/main" id="{2863C00F-6E7E-4ED2-AF12-F20A3A29CB9E}"/>
              </a:ext>
            </a:extLst>
          </p:cNvPr>
          <p:cNvSpPr>
            <a:spLocks xmlns:a="http://schemas.openxmlformats.org/drawingml/2006/main" noGrp="1"/>
          </p:cNvSpPr>
          <p:nvPr/>
        </p:nvSpPr>
        <p:spPr>
          <a:xfrm xmlns:a="http://schemas.openxmlformats.org/drawingml/2006/main">
            <a:off x="495300" y="5543550"/>
            <a:ext cx="16573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1">
                <a:solidFill>
                  <a:srgbClr val="183B39"/>
                </a:solidFill>
              </a:defRPr>
            </a:pPr>
            <a:r>
              <a:rPr sz="825" b="1">
                <a:solidFill>
                  <a:srgbClr val="183B39"/>
                </a:solidFill>
              </a:rPr>
              <a:t>1. DMart  ₹1.95 Cr</a:t>
            </a:r>
          </a:p>
        </p:txBody>
      </p:sp>
      <p:sp>
        <p:nvSpPr>
          <p:cNvPr id="35" name="">
            <a:extLst xmlns:a="http://schemas.openxmlformats.org/drawingml/2006/main">
              <a:ext uri="{FF2B5EF4-FFF2-40B4-BE49-F238E27FC236}">
                <a16:creationId xmlns:a16="http://schemas.microsoft.com/office/drawing/2014/main" id="{3BA08C98-BB44-44AD-8E45-FF82D12EE540}"/>
              </a:ext>
            </a:extLst>
          </p:cNvPr>
          <p:cNvSpPr>
            <a:spLocks xmlns:a="http://schemas.openxmlformats.org/drawingml/2006/main" noGrp="1"/>
          </p:cNvSpPr>
          <p:nvPr/>
        </p:nvSpPr>
        <p:spPr>
          <a:xfrm xmlns:a="http://schemas.openxmlformats.org/drawingml/2006/main">
            <a:off x="495300" y="5867400"/>
            <a:ext cx="16573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0">
                <a:solidFill>
                  <a:srgbClr val="183B39"/>
                </a:solidFill>
              </a:defRPr>
            </a:pPr>
            <a:r>
              <a:rPr sz="825" b="0">
                <a:solidFill>
                  <a:srgbClr val="183B39"/>
                </a:solidFill>
              </a:rPr>
              <a:t>2. Apollo  ₹1.64 Cr</a:t>
            </a:r>
          </a:p>
        </p:txBody>
      </p:sp>
      <p:sp>
        <p:nvSpPr>
          <p:cNvPr id="36" name="">
            <a:extLst xmlns:a="http://schemas.openxmlformats.org/drawingml/2006/main">
              <a:ext uri="{FF2B5EF4-FFF2-40B4-BE49-F238E27FC236}">
                <a16:creationId xmlns:a16="http://schemas.microsoft.com/office/drawing/2014/main" id="{6E2277A6-AD38-4603-944E-8279144B3C2E}"/>
              </a:ext>
            </a:extLst>
          </p:cNvPr>
          <p:cNvSpPr>
            <a:spLocks xmlns:a="http://schemas.openxmlformats.org/drawingml/2006/main" noGrp="1"/>
          </p:cNvSpPr>
          <p:nvPr/>
        </p:nvSpPr>
        <p:spPr>
          <a:xfrm xmlns:a="http://schemas.openxmlformats.org/drawingml/2006/main">
            <a:off x="495300" y="6191250"/>
            <a:ext cx="16573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0">
                <a:solidFill>
                  <a:srgbClr val="183B39"/>
                </a:solidFill>
              </a:defRPr>
            </a:pPr>
            <a:r>
              <a:rPr sz="825" b="0">
                <a:solidFill>
                  <a:srgbClr val="183B39"/>
                </a:solidFill>
              </a:rPr>
              <a:t>3. Reliance  ₹0.67 Cr</a:t>
            </a:r>
          </a:p>
        </p:txBody>
      </p:sp>
      <p:sp>
        <p:nvSpPr>
          <p:cNvPr id="37" name="">
            <a:extLst xmlns:a="http://schemas.openxmlformats.org/drawingml/2006/main">
              <a:ext uri="{FF2B5EF4-FFF2-40B4-BE49-F238E27FC236}">
                <a16:creationId xmlns:a16="http://schemas.microsoft.com/office/drawing/2014/main" id="{3864CAD1-4B18-4825-A73D-F490CC45C8AC}"/>
              </a:ext>
            </a:extLst>
          </p:cNvPr>
          <p:cNvSpPr>
            <a:spLocks xmlns:a="http://schemas.openxmlformats.org/drawingml/2006/main" noGrp="1"/>
          </p:cNvSpPr>
          <p:nvPr/>
        </p:nvSpPr>
        <p:spPr>
          <a:xfrm xmlns:a="http://schemas.openxmlformats.org/drawingml/2006/main">
            <a:off x="495300" y="6572250"/>
            <a:ext cx="16573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1">
                <a:solidFill>
                  <a:srgbClr val="5F716E"/>
                </a:solidFill>
              </a:defRPr>
            </a:pPr>
            <a:r>
              <a:rPr sz="825" b="1">
                <a:solidFill>
                  <a:srgbClr val="5F716E"/>
                </a:solidFill>
              </a:rPr>
              <a:t>1. Telangana  ₹2.56 Cr</a:t>
            </a:r>
          </a:p>
        </p:txBody>
      </p:sp>
      <p:sp>
        <p:nvSpPr>
          <p:cNvPr id="38" name="">
            <a:extLst xmlns:a="http://schemas.openxmlformats.org/drawingml/2006/main">
              <a:ext uri="{FF2B5EF4-FFF2-40B4-BE49-F238E27FC236}">
                <a16:creationId xmlns:a16="http://schemas.microsoft.com/office/drawing/2014/main" id="{EDC517FF-EF77-42E5-8C92-605B40F12CEB}"/>
              </a:ext>
            </a:extLst>
          </p:cNvPr>
          <p:cNvSpPr>
            <a:spLocks xmlns:a="http://schemas.openxmlformats.org/drawingml/2006/main" noGrp="1"/>
          </p:cNvSpPr>
          <p:nvPr/>
        </p:nvSpPr>
        <p:spPr>
          <a:xfrm xmlns:a="http://schemas.openxmlformats.org/drawingml/2006/main">
            <a:off x="495300" y="6858000"/>
            <a:ext cx="16573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0">
                <a:solidFill>
                  <a:srgbClr val="5F716E"/>
                </a:solidFill>
              </a:defRPr>
            </a:pPr>
            <a:r>
              <a:rPr sz="825" b="0">
                <a:solidFill>
                  <a:srgbClr val="5F716E"/>
                </a:solidFill>
              </a:rPr>
              <a:t>2. Andhra Pradesh  ₹2.35 Cr</a:t>
            </a:r>
          </a:p>
        </p:txBody>
      </p:sp>
      <p:sp>
        <p:nvSpPr>
          <p:cNvPr id="39" name="">
            <a:extLst xmlns:a="http://schemas.openxmlformats.org/drawingml/2006/main">
              <a:ext uri="{FF2B5EF4-FFF2-40B4-BE49-F238E27FC236}">
                <a16:creationId xmlns:a16="http://schemas.microsoft.com/office/drawing/2014/main" id="{DA51B230-90DD-4DFE-A5CA-3F796072E54F}"/>
              </a:ext>
            </a:extLst>
          </p:cNvPr>
          <p:cNvSpPr>
            <a:spLocks xmlns:a="http://schemas.openxmlformats.org/drawingml/2006/main" noGrp="1"/>
          </p:cNvSpPr>
          <p:nvPr/>
        </p:nvSpPr>
        <p:spPr>
          <a:xfrm xmlns:a="http://schemas.openxmlformats.org/drawingml/2006/main">
            <a:off x="2381250" y="5095875"/>
            <a:ext cx="4114800" cy="2476500"/>
          </a:xfrm>
          <a:prstGeom xmlns:a="http://schemas.openxmlformats.org/drawingml/2006/main" prst="roundRect">
            <a:avLst>
              <a:gd name="adj" fmla="val 3077"/>
            </a:avLst>
          </a:prstGeom>
          <a:solidFill xmlns:a="http://schemas.openxmlformats.org/drawingml/2006/main">
            <a:srgbClr val="FFFFFF"/>
          </a:solidFill>
          <a:ln xmlns:a="http://schemas.openxmlformats.org/drawingml/2006/main" w="9525">
            <a:solidFill>
              <a:srgbClr val="C8DCD7"/>
            </a:solidFill>
            <a:prstDash val="solid"/>
          </a:ln>
        </p:spPr>
      </p:sp>
      <p:sp>
        <p:nvSpPr>
          <p:cNvPr id="40" name="">
            <a:extLst xmlns:a="http://schemas.openxmlformats.org/drawingml/2006/main">
              <a:ext uri="{FF2B5EF4-FFF2-40B4-BE49-F238E27FC236}">
                <a16:creationId xmlns:a16="http://schemas.microsoft.com/office/drawing/2014/main" id="{B422A0DD-7A0F-409E-B1E5-B4CA3F94DC83}"/>
              </a:ext>
            </a:extLst>
          </p:cNvPr>
          <p:cNvSpPr>
            <a:spLocks xmlns:a="http://schemas.openxmlformats.org/drawingml/2006/main" noGrp="1"/>
          </p:cNvSpPr>
          <p:nvPr/>
        </p:nvSpPr>
        <p:spPr>
          <a:xfrm xmlns:a="http://schemas.openxmlformats.org/drawingml/2006/main">
            <a:off x="2514600" y="5219700"/>
            <a:ext cx="3810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116F68"/>
                </a:solidFill>
              </a:defRPr>
            </a:pPr>
            <a:r>
              <a:rPr sz="900" b="1">
                <a:solidFill>
                  <a:srgbClr val="116F68"/>
                </a:solidFill>
              </a:rPr>
              <a:t>TOP 2 BRANDS × TOP SUB-CATEGORIES</a:t>
            </a:r>
          </a:p>
        </p:txBody>
      </p:sp>
      <p:sp>
        <p:nvSpPr>
          <p:cNvPr id="41" name="">
            <a:extLst xmlns:a="http://schemas.openxmlformats.org/drawingml/2006/main">
              <a:ext uri="{FF2B5EF4-FFF2-40B4-BE49-F238E27FC236}">
                <a16:creationId xmlns:a16="http://schemas.microsoft.com/office/drawing/2014/main" id="{7183D01F-862E-4D3F-9480-BD6D34A21EC0}"/>
              </a:ext>
            </a:extLst>
          </p:cNvPr>
          <p:cNvSpPr>
            <a:spLocks xmlns:a="http://schemas.openxmlformats.org/drawingml/2006/main" noGrp="1"/>
          </p:cNvSpPr>
          <p:nvPr/>
        </p:nvSpPr>
        <p:spPr>
          <a:xfrm xmlns:a="http://schemas.openxmlformats.org/drawingml/2006/main">
            <a:off x="2514600" y="5543550"/>
            <a:ext cx="1809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75" b="1">
                <a:solidFill>
                  <a:srgbClr val="28A596"/>
                </a:solidFill>
              </a:defRPr>
            </a:pPr>
            <a:r>
              <a:rPr sz="975" b="1">
                <a:solidFill>
                  <a:srgbClr val="28A596"/>
                </a:solidFill>
              </a:rPr>
              <a:t>Mamaearth | ₹3.74 Cr</a:t>
            </a:r>
          </a:p>
        </p:txBody>
      </p:sp>
      <p:sp>
        <p:nvSpPr>
          <p:cNvPr id="42" name="">
            <a:extLst xmlns:a="http://schemas.openxmlformats.org/drawingml/2006/main">
              <a:ext uri="{FF2B5EF4-FFF2-40B4-BE49-F238E27FC236}">
                <a16:creationId xmlns:a16="http://schemas.microsoft.com/office/drawing/2014/main" id="{FB258419-A7A3-4DE6-BFD6-F19FA8739B02}"/>
              </a:ext>
            </a:extLst>
          </p:cNvPr>
          <p:cNvSpPr>
            <a:spLocks xmlns:a="http://schemas.openxmlformats.org/drawingml/2006/main" noGrp="1"/>
          </p:cNvSpPr>
          <p:nvPr/>
        </p:nvSpPr>
        <p:spPr>
          <a:xfrm xmlns:a="http://schemas.openxmlformats.org/drawingml/2006/main">
            <a:off x="2514600" y="5905500"/>
            <a:ext cx="1809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88" b="1">
                <a:solidFill>
                  <a:srgbClr val="183B39"/>
                </a:solidFill>
              </a:defRPr>
            </a:pPr>
            <a:r>
              <a:rPr sz="788" b="1">
                <a:solidFill>
                  <a:srgbClr val="183B39"/>
                </a:solidFill>
              </a:rPr>
              <a:t>1. Face Cleanser  ₹1.04 Cr</a:t>
            </a:r>
          </a:p>
        </p:txBody>
      </p:sp>
      <p:sp>
        <p:nvSpPr>
          <p:cNvPr id="43" name="">
            <a:extLst xmlns:a="http://schemas.openxmlformats.org/drawingml/2006/main">
              <a:ext uri="{FF2B5EF4-FFF2-40B4-BE49-F238E27FC236}">
                <a16:creationId xmlns:a16="http://schemas.microsoft.com/office/drawing/2014/main" id="{E62FC152-EEAF-4BB5-A857-72080E551C53}"/>
              </a:ext>
            </a:extLst>
          </p:cNvPr>
          <p:cNvSpPr>
            <a:spLocks xmlns:a="http://schemas.openxmlformats.org/drawingml/2006/main" noGrp="1"/>
          </p:cNvSpPr>
          <p:nvPr/>
        </p:nvSpPr>
        <p:spPr>
          <a:xfrm xmlns:a="http://schemas.openxmlformats.org/drawingml/2006/main">
            <a:off x="2514600" y="6210300"/>
            <a:ext cx="1809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88" b="0">
                <a:solidFill>
                  <a:srgbClr val="183B39"/>
                </a:solidFill>
              </a:defRPr>
            </a:pPr>
            <a:r>
              <a:rPr sz="788" b="0">
                <a:solidFill>
                  <a:srgbClr val="183B39"/>
                </a:solidFill>
              </a:rPr>
              <a:t>2. Shampoo  ₹0.94 Cr</a:t>
            </a:r>
          </a:p>
        </p:txBody>
      </p:sp>
      <p:sp>
        <p:nvSpPr>
          <p:cNvPr id="44" name="">
            <a:extLst xmlns:a="http://schemas.openxmlformats.org/drawingml/2006/main">
              <a:ext uri="{FF2B5EF4-FFF2-40B4-BE49-F238E27FC236}">
                <a16:creationId xmlns:a16="http://schemas.microsoft.com/office/drawing/2014/main" id="{C2115A11-BE91-4FF9-9D8A-5F174E420A07}"/>
              </a:ext>
            </a:extLst>
          </p:cNvPr>
          <p:cNvSpPr>
            <a:spLocks xmlns:a="http://schemas.openxmlformats.org/drawingml/2006/main" noGrp="1"/>
          </p:cNvSpPr>
          <p:nvPr/>
        </p:nvSpPr>
        <p:spPr>
          <a:xfrm xmlns:a="http://schemas.openxmlformats.org/drawingml/2006/main">
            <a:off x="2514600" y="6515100"/>
            <a:ext cx="1809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88" b="0">
                <a:solidFill>
                  <a:srgbClr val="183B39"/>
                </a:solidFill>
              </a:defRPr>
            </a:pPr>
            <a:r>
              <a:rPr sz="788" b="0">
                <a:solidFill>
                  <a:srgbClr val="183B39"/>
                </a:solidFill>
              </a:rPr>
              <a:t>3. Sun Care  ₹0.14 Cr</a:t>
            </a:r>
          </a:p>
        </p:txBody>
      </p:sp>
      <p:sp>
        <p:nvSpPr>
          <p:cNvPr id="45" name="">
            <a:extLst xmlns:a="http://schemas.openxmlformats.org/drawingml/2006/main">
              <a:ext uri="{FF2B5EF4-FFF2-40B4-BE49-F238E27FC236}">
                <a16:creationId xmlns:a16="http://schemas.microsoft.com/office/drawing/2014/main" id="{6B064B0D-ED5A-44C1-BED1-EC471386EE03}"/>
              </a:ext>
            </a:extLst>
          </p:cNvPr>
          <p:cNvSpPr>
            <a:spLocks xmlns:a="http://schemas.openxmlformats.org/drawingml/2006/main" noGrp="1"/>
          </p:cNvSpPr>
          <p:nvPr/>
        </p:nvSpPr>
        <p:spPr>
          <a:xfrm xmlns:a="http://schemas.openxmlformats.org/drawingml/2006/main">
            <a:off x="4438650" y="5543550"/>
            <a:ext cx="1809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75" b="1">
                <a:solidFill>
                  <a:srgbClr val="2E7DA8"/>
                </a:solidFill>
              </a:defRPr>
            </a:pPr>
            <a:r>
              <a:rPr sz="975" b="1">
                <a:solidFill>
                  <a:srgbClr val="2E7DA8"/>
                </a:solidFill>
              </a:rPr>
              <a:t>The Derma Co. | ₹1.11 Cr</a:t>
            </a:r>
          </a:p>
        </p:txBody>
      </p:sp>
      <p:sp>
        <p:nvSpPr>
          <p:cNvPr id="46" name="">
            <a:extLst xmlns:a="http://schemas.openxmlformats.org/drawingml/2006/main">
              <a:ext uri="{FF2B5EF4-FFF2-40B4-BE49-F238E27FC236}">
                <a16:creationId xmlns:a16="http://schemas.microsoft.com/office/drawing/2014/main" id="{F8D68EA5-E37C-436D-86CF-090BAD45E438}"/>
              </a:ext>
            </a:extLst>
          </p:cNvPr>
          <p:cNvSpPr>
            <a:spLocks xmlns:a="http://schemas.openxmlformats.org/drawingml/2006/main" noGrp="1"/>
          </p:cNvSpPr>
          <p:nvPr/>
        </p:nvSpPr>
        <p:spPr>
          <a:xfrm xmlns:a="http://schemas.openxmlformats.org/drawingml/2006/main">
            <a:off x="4438650" y="5905500"/>
            <a:ext cx="1809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88" b="1">
                <a:solidFill>
                  <a:srgbClr val="183B39"/>
                </a:solidFill>
              </a:defRPr>
            </a:pPr>
            <a:r>
              <a:rPr sz="788" b="1">
                <a:solidFill>
                  <a:srgbClr val="183B39"/>
                </a:solidFill>
              </a:rPr>
              <a:t>1. Face Cleanser  ₹0.56 Cr</a:t>
            </a:r>
          </a:p>
        </p:txBody>
      </p:sp>
      <p:sp>
        <p:nvSpPr>
          <p:cNvPr id="47" name="">
            <a:extLst xmlns:a="http://schemas.openxmlformats.org/drawingml/2006/main">
              <a:ext uri="{FF2B5EF4-FFF2-40B4-BE49-F238E27FC236}">
                <a16:creationId xmlns:a16="http://schemas.microsoft.com/office/drawing/2014/main" id="{224E3DA0-E362-4C72-BF27-9E25ED7CEDE6}"/>
              </a:ext>
            </a:extLst>
          </p:cNvPr>
          <p:cNvSpPr>
            <a:spLocks xmlns:a="http://schemas.openxmlformats.org/drawingml/2006/main" noGrp="1"/>
          </p:cNvSpPr>
          <p:nvPr/>
        </p:nvSpPr>
        <p:spPr>
          <a:xfrm xmlns:a="http://schemas.openxmlformats.org/drawingml/2006/main">
            <a:off x="4438650" y="6210300"/>
            <a:ext cx="1809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88" b="0">
                <a:solidFill>
                  <a:srgbClr val="183B39"/>
                </a:solidFill>
              </a:defRPr>
            </a:pPr>
            <a:r>
              <a:rPr sz="788" b="0">
                <a:solidFill>
                  <a:srgbClr val="183B39"/>
                </a:solidFill>
              </a:rPr>
              <a:t>2. Sun Care  ₹0.20 Cr</a:t>
            </a:r>
          </a:p>
        </p:txBody>
      </p:sp>
      <p:sp>
        <p:nvSpPr>
          <p:cNvPr id="48" name="">
            <a:extLst xmlns:a="http://schemas.openxmlformats.org/drawingml/2006/main">
              <a:ext uri="{FF2B5EF4-FFF2-40B4-BE49-F238E27FC236}">
                <a16:creationId xmlns:a16="http://schemas.microsoft.com/office/drawing/2014/main" id="{9B2E1CA1-7723-48BE-8306-B3419A140668}"/>
              </a:ext>
            </a:extLst>
          </p:cNvPr>
          <p:cNvSpPr>
            <a:spLocks xmlns:a="http://schemas.openxmlformats.org/drawingml/2006/main" noGrp="1"/>
          </p:cNvSpPr>
          <p:nvPr/>
        </p:nvSpPr>
        <p:spPr>
          <a:xfrm xmlns:a="http://schemas.openxmlformats.org/drawingml/2006/main">
            <a:off x="4438650" y="6515100"/>
            <a:ext cx="1809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88" b="0">
                <a:solidFill>
                  <a:srgbClr val="183B39"/>
                </a:solidFill>
              </a:defRPr>
            </a:pPr>
            <a:r>
              <a:rPr sz="788" b="0">
                <a:solidFill>
                  <a:srgbClr val="183B39"/>
                </a:solidFill>
              </a:rPr>
              <a:t>3. Face Serum  ₹0.05 Cr</a:t>
            </a:r>
          </a:p>
        </p:txBody>
      </p:sp>
      <p:sp>
        <p:nvSpPr>
          <p:cNvPr id="49" name="">
            <a:extLst xmlns:a="http://schemas.openxmlformats.org/drawingml/2006/main">
              <a:ext uri="{FF2B5EF4-FFF2-40B4-BE49-F238E27FC236}">
                <a16:creationId xmlns:a16="http://schemas.microsoft.com/office/drawing/2014/main" id="{2BBCA0E9-75BF-4D64-BECB-920B2FC545B4}"/>
              </a:ext>
            </a:extLst>
          </p:cNvPr>
          <p:cNvSpPr>
            <a:spLocks xmlns:a="http://schemas.openxmlformats.org/drawingml/2006/main" noGrp="1"/>
          </p:cNvSpPr>
          <p:nvPr/>
        </p:nvSpPr>
        <p:spPr>
          <a:xfrm xmlns:a="http://schemas.openxmlformats.org/drawingml/2006/main">
            <a:off x="2514600" y="7200900"/>
            <a:ext cx="1619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1">
                <a:solidFill>
                  <a:srgbClr val="D6544D"/>
                </a:solidFill>
              </a:defRPr>
            </a:pPr>
            <a:r>
              <a:rPr sz="825" b="1">
                <a:solidFill>
                  <a:srgbClr val="D6544D"/>
                </a:solidFill>
              </a:rPr>
              <a:t>NPI CONTRIBUTION</a:t>
            </a:r>
          </a:p>
        </p:txBody>
      </p:sp>
      <p:sp>
        <p:nvSpPr>
          <p:cNvPr id="50" name="">
            <a:extLst xmlns:a="http://schemas.openxmlformats.org/drawingml/2006/main">
              <a:ext uri="{FF2B5EF4-FFF2-40B4-BE49-F238E27FC236}">
                <a16:creationId xmlns:a16="http://schemas.microsoft.com/office/drawing/2014/main" id="{5B28E091-1F01-417C-B608-49EEE2562AF5}"/>
              </a:ext>
            </a:extLst>
          </p:cNvPr>
          <p:cNvSpPr>
            <a:spLocks xmlns:a="http://schemas.openxmlformats.org/drawingml/2006/main" noGrp="1"/>
          </p:cNvSpPr>
          <p:nvPr/>
        </p:nvSpPr>
        <p:spPr>
          <a:xfrm xmlns:a="http://schemas.openxmlformats.org/drawingml/2006/main">
            <a:off x="4095750" y="7124700"/>
            <a:ext cx="22098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690" b="0">
                <a:solidFill>
                  <a:srgbClr val="5F716E"/>
                </a:solidFill>
              </a:defRPr>
            </a:pPr>
            <a:r>
              <a:rPr sz="690" b="0">
                <a:solidFill>
                  <a:srgbClr val="5F716E"/>
                </a:solidFill>
              </a:rPr>
              <a:t>₹0.31 Cr | 6.4% of zone | ME Gentle Cl… • ME Onion hai… • ME Onion Hai…</a:t>
            </a:r>
          </a:p>
        </p:txBody>
      </p:sp>
      <p:sp>
        <p:nvSpPr>
          <p:cNvPr id="51" name="">
            <a:extLst xmlns:a="http://schemas.openxmlformats.org/drawingml/2006/main">
              <a:ext uri="{FF2B5EF4-FFF2-40B4-BE49-F238E27FC236}">
                <a16:creationId xmlns:a16="http://schemas.microsoft.com/office/drawing/2014/main" id="{9E4FD65E-540A-4594-BDFF-74D0A25928E9}"/>
              </a:ext>
            </a:extLst>
          </p:cNvPr>
          <p:cNvSpPr>
            <a:spLocks xmlns:a="http://schemas.openxmlformats.org/drawingml/2006/main" noGrp="1"/>
          </p:cNvSpPr>
          <p:nvPr/>
        </p:nvSpPr>
        <p:spPr>
          <a:xfrm xmlns:a="http://schemas.openxmlformats.org/drawingml/2006/main">
            <a:off x="361950" y="7762875"/>
            <a:ext cx="6134100" cy="257175"/>
          </a:xfrm>
          <a:prstGeom xmlns:a="http://schemas.openxmlformats.org/drawingml/2006/main" prst="rect">
            <a:avLst/>
          </a:prstGeom>
          <a:solidFill xmlns:a="http://schemas.openxmlformats.org/drawingml/2006/main">
            <a:srgbClr val="116F68"/>
          </a:solidFill>
          <a:ln xmlns:a="http://schemas.openxmlformats.org/drawingml/2006/main" w="0">
            <a:solidFill>
              <a:srgbClr val="116F68"/>
            </a:solidFill>
            <a:prstDash val="solid"/>
          </a:ln>
        </p:spPr>
      </p:sp>
      <p:sp>
        <p:nvSpPr>
          <p:cNvPr id="52" name="">
            <a:extLst xmlns:a="http://schemas.openxmlformats.org/drawingml/2006/main">
              <a:ext uri="{FF2B5EF4-FFF2-40B4-BE49-F238E27FC236}">
                <a16:creationId xmlns:a16="http://schemas.microsoft.com/office/drawing/2014/main" id="{4F0E1190-6B11-4768-8797-24F5EB010208}"/>
              </a:ext>
            </a:extLst>
          </p:cNvPr>
          <p:cNvSpPr>
            <a:spLocks xmlns:a="http://schemas.openxmlformats.org/drawingml/2006/main" noGrp="1"/>
          </p:cNvSpPr>
          <p:nvPr/>
        </p:nvSpPr>
        <p:spPr>
          <a:xfrm xmlns:a="http://schemas.openxmlformats.org/drawingml/2006/main">
            <a:off x="457200" y="7772400"/>
            <a:ext cx="59436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FFFFFF"/>
                </a:solidFill>
              </a:defRPr>
            </a:pPr>
            <a:r>
              <a:rPr sz="900" b="1">
                <a:solidFill>
                  <a:srgbClr val="FFFFFF"/>
                </a:solidFill>
              </a:rPr>
              <a:t>15 ZONE-SPECIFIC INSIGHTS AND ACTIONS</a:t>
            </a:r>
          </a:p>
        </p:txBody>
      </p:sp>
      <p:sp>
        <p:nvSpPr>
          <p:cNvPr id="53" name="">
            <a:extLst xmlns:a="http://schemas.openxmlformats.org/drawingml/2006/main">
              <a:ext uri="{FF2B5EF4-FFF2-40B4-BE49-F238E27FC236}">
                <a16:creationId xmlns:a16="http://schemas.microsoft.com/office/drawing/2014/main" id="{31466DC9-1A50-467C-A17B-FF9701F983C8}"/>
              </a:ext>
            </a:extLst>
          </p:cNvPr>
          <p:cNvSpPr>
            <a:spLocks xmlns:a="http://schemas.openxmlformats.org/drawingml/2006/main" noGrp="1"/>
          </p:cNvSpPr>
          <p:nvPr/>
        </p:nvSpPr>
        <p:spPr>
          <a:xfrm xmlns:a="http://schemas.openxmlformats.org/drawingml/2006/main">
            <a:off x="361950" y="8096250"/>
            <a:ext cx="1981200" cy="514350"/>
          </a:xfrm>
          <a:prstGeom xmlns:a="http://schemas.openxmlformats.org/drawingml/2006/main" prst="roundRect">
            <a:avLst>
              <a:gd name="adj" fmla="val 14815"/>
            </a:avLst>
          </a:prstGeom>
          <a:solidFill xmlns:a="http://schemas.openxmlformats.org/drawingml/2006/main">
            <a:srgbClr val="DFF2ED"/>
          </a:solidFill>
          <a:ln xmlns:a="http://schemas.openxmlformats.org/drawingml/2006/main" w="9525">
            <a:solidFill>
              <a:srgbClr val="C8DCD7"/>
            </a:solidFill>
            <a:prstDash val="solid"/>
          </a:ln>
        </p:spPr>
      </p:sp>
      <p:sp>
        <p:nvSpPr>
          <p:cNvPr id="54" name="">
            <a:extLst xmlns:a="http://schemas.openxmlformats.org/drawingml/2006/main">
              <a:ext uri="{FF2B5EF4-FFF2-40B4-BE49-F238E27FC236}">
                <a16:creationId xmlns:a16="http://schemas.microsoft.com/office/drawing/2014/main" id="{FFAB0134-4D45-4FBC-894A-F3857BA58941}"/>
              </a:ext>
            </a:extLst>
          </p:cNvPr>
          <p:cNvSpPr>
            <a:spLocks xmlns:a="http://schemas.openxmlformats.org/drawingml/2006/main" noGrp="1"/>
          </p:cNvSpPr>
          <p:nvPr/>
        </p:nvSpPr>
        <p:spPr>
          <a:xfrm xmlns:a="http://schemas.openxmlformats.org/drawingml/2006/main">
            <a:off x="419100" y="814387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28A596"/>
                </a:solidFill>
              </a:defRPr>
            </a:pPr>
            <a:r>
              <a:rPr sz="675" b="1">
                <a:solidFill>
                  <a:srgbClr val="28A596"/>
                </a:solidFill>
              </a:rPr>
              <a:t>01</a:t>
            </a:r>
          </a:p>
        </p:txBody>
      </p:sp>
      <p:sp>
        <p:nvSpPr>
          <p:cNvPr id="55" name="">
            <a:extLst xmlns:a="http://schemas.openxmlformats.org/drawingml/2006/main">
              <a:ext uri="{FF2B5EF4-FFF2-40B4-BE49-F238E27FC236}">
                <a16:creationId xmlns:a16="http://schemas.microsoft.com/office/drawing/2014/main" id="{3564F905-D34D-4625-8FDB-6FAA8ED6AA68}"/>
              </a:ext>
            </a:extLst>
          </p:cNvPr>
          <p:cNvSpPr>
            <a:spLocks xmlns:a="http://schemas.openxmlformats.org/drawingml/2006/main" noGrp="1"/>
          </p:cNvSpPr>
          <p:nvPr/>
        </p:nvSpPr>
        <p:spPr>
          <a:xfrm xmlns:a="http://schemas.openxmlformats.org/drawingml/2006/main">
            <a:off x="742950" y="813435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1">
                <a:solidFill>
                  <a:srgbClr val="183B39"/>
                </a:solidFill>
              </a:defRPr>
            </a:pPr>
            <a:r>
              <a:rPr sz="713" b="1">
                <a:solidFill>
                  <a:srgbClr val="183B39"/>
                </a:solidFill>
              </a:rPr>
              <a:t>South-2 delivers ₹4.91 Cr offtake, 13.6% of national value.</a:t>
            </a:r>
          </a:p>
        </p:txBody>
      </p:sp>
      <p:sp>
        <p:nvSpPr>
          <p:cNvPr id="56" name="">
            <a:extLst xmlns:a="http://schemas.openxmlformats.org/drawingml/2006/main">
              <a:ext uri="{FF2B5EF4-FFF2-40B4-BE49-F238E27FC236}">
                <a16:creationId xmlns:a16="http://schemas.microsoft.com/office/drawing/2014/main" id="{78E9FDA2-D3C4-4C2F-B48A-0E4A6F71FB75}"/>
              </a:ext>
            </a:extLst>
          </p:cNvPr>
          <p:cNvSpPr>
            <a:spLocks xmlns:a="http://schemas.openxmlformats.org/drawingml/2006/main" noGrp="1"/>
          </p:cNvSpPr>
          <p:nvPr/>
        </p:nvSpPr>
        <p:spPr>
          <a:xfrm xmlns:a="http://schemas.openxmlformats.org/drawingml/2006/main">
            <a:off x="2438400" y="8096250"/>
            <a:ext cx="1981200" cy="514350"/>
          </a:xfrm>
          <a:prstGeom xmlns:a="http://schemas.openxmlformats.org/drawingml/2006/main" prst="roundRect">
            <a:avLst>
              <a:gd name="adj" fmla="val 14815"/>
            </a:avLst>
          </a:prstGeom>
          <a:solidFill xmlns:a="http://schemas.openxmlformats.org/drawingml/2006/main">
            <a:srgbClr val="DFF2ED"/>
          </a:solidFill>
          <a:ln xmlns:a="http://schemas.openxmlformats.org/drawingml/2006/main" w="9525">
            <a:solidFill>
              <a:srgbClr val="C8DCD7"/>
            </a:solidFill>
            <a:prstDash val="solid"/>
          </a:ln>
        </p:spPr>
      </p:sp>
      <p:sp>
        <p:nvSpPr>
          <p:cNvPr id="57" name="">
            <a:extLst xmlns:a="http://schemas.openxmlformats.org/drawingml/2006/main">
              <a:ext uri="{FF2B5EF4-FFF2-40B4-BE49-F238E27FC236}">
                <a16:creationId xmlns:a16="http://schemas.microsoft.com/office/drawing/2014/main" id="{20514BBC-1EC0-4A6C-8227-16F36D6CC184}"/>
              </a:ext>
            </a:extLst>
          </p:cNvPr>
          <p:cNvSpPr>
            <a:spLocks xmlns:a="http://schemas.openxmlformats.org/drawingml/2006/main" noGrp="1"/>
          </p:cNvSpPr>
          <p:nvPr/>
        </p:nvSpPr>
        <p:spPr>
          <a:xfrm xmlns:a="http://schemas.openxmlformats.org/drawingml/2006/main">
            <a:off x="2495550" y="814387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28A596"/>
                </a:solidFill>
              </a:defRPr>
            </a:pPr>
            <a:r>
              <a:rPr sz="675" b="1">
                <a:solidFill>
                  <a:srgbClr val="28A596"/>
                </a:solidFill>
              </a:rPr>
              <a:t>02</a:t>
            </a:r>
          </a:p>
        </p:txBody>
      </p:sp>
      <p:sp>
        <p:nvSpPr>
          <p:cNvPr id="58" name="">
            <a:extLst xmlns:a="http://schemas.openxmlformats.org/drawingml/2006/main">
              <a:ext uri="{FF2B5EF4-FFF2-40B4-BE49-F238E27FC236}">
                <a16:creationId xmlns:a16="http://schemas.microsoft.com/office/drawing/2014/main" id="{09471C5E-FDA4-4FAB-A022-DC2265BD1DBB}"/>
              </a:ext>
            </a:extLst>
          </p:cNvPr>
          <p:cNvSpPr>
            <a:spLocks xmlns:a="http://schemas.openxmlformats.org/drawingml/2006/main" noGrp="1"/>
          </p:cNvSpPr>
          <p:nvPr/>
        </p:nvSpPr>
        <p:spPr>
          <a:xfrm xmlns:a="http://schemas.openxmlformats.org/drawingml/2006/main">
            <a:off x="2819400" y="813435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1">
                <a:solidFill>
                  <a:srgbClr val="183B39"/>
                </a:solidFill>
              </a:defRPr>
            </a:pPr>
            <a:r>
              <a:rPr sz="713" b="1">
                <a:solidFill>
                  <a:srgbClr val="183B39"/>
                </a:solidFill>
              </a:rPr>
              <a:t>Primary is ₹6.89 Cr versus ₹4.91 Cr offtake.</a:t>
            </a:r>
          </a:p>
        </p:txBody>
      </p:sp>
      <p:sp>
        <p:nvSpPr>
          <p:cNvPr id="59" name="">
            <a:extLst xmlns:a="http://schemas.openxmlformats.org/drawingml/2006/main">
              <a:ext uri="{FF2B5EF4-FFF2-40B4-BE49-F238E27FC236}">
                <a16:creationId xmlns:a16="http://schemas.microsoft.com/office/drawing/2014/main" id="{D5044893-AC32-475A-A647-38ADE078D782}"/>
              </a:ext>
            </a:extLst>
          </p:cNvPr>
          <p:cNvSpPr>
            <a:spLocks xmlns:a="http://schemas.openxmlformats.org/drawingml/2006/main" noGrp="1"/>
          </p:cNvSpPr>
          <p:nvPr/>
        </p:nvSpPr>
        <p:spPr>
          <a:xfrm xmlns:a="http://schemas.openxmlformats.org/drawingml/2006/main">
            <a:off x="4514850" y="8096250"/>
            <a:ext cx="1981200" cy="514350"/>
          </a:xfrm>
          <a:prstGeom xmlns:a="http://schemas.openxmlformats.org/drawingml/2006/main" prst="roundRect">
            <a:avLst>
              <a:gd name="adj" fmla="val 14815"/>
            </a:avLst>
          </a:prstGeom>
          <a:solidFill xmlns:a="http://schemas.openxmlformats.org/drawingml/2006/main">
            <a:srgbClr val="DFF2ED"/>
          </a:solidFill>
          <a:ln xmlns:a="http://schemas.openxmlformats.org/drawingml/2006/main" w="9525">
            <a:solidFill>
              <a:srgbClr val="C8DCD7"/>
            </a:solidFill>
            <a:prstDash val="solid"/>
          </a:ln>
        </p:spPr>
      </p:sp>
      <p:sp>
        <p:nvSpPr>
          <p:cNvPr id="60" name="">
            <a:extLst xmlns:a="http://schemas.openxmlformats.org/drawingml/2006/main">
              <a:ext uri="{FF2B5EF4-FFF2-40B4-BE49-F238E27FC236}">
                <a16:creationId xmlns:a16="http://schemas.microsoft.com/office/drawing/2014/main" id="{E9697053-A7B0-4ADB-B662-3AA2AF9C2130}"/>
              </a:ext>
            </a:extLst>
          </p:cNvPr>
          <p:cNvSpPr>
            <a:spLocks xmlns:a="http://schemas.openxmlformats.org/drawingml/2006/main" noGrp="1"/>
          </p:cNvSpPr>
          <p:nvPr/>
        </p:nvSpPr>
        <p:spPr>
          <a:xfrm xmlns:a="http://schemas.openxmlformats.org/drawingml/2006/main">
            <a:off x="4572000" y="814387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28A596"/>
                </a:solidFill>
              </a:defRPr>
            </a:pPr>
            <a:r>
              <a:rPr sz="675" b="1">
                <a:solidFill>
                  <a:srgbClr val="28A596"/>
                </a:solidFill>
              </a:rPr>
              <a:t>03</a:t>
            </a:r>
          </a:p>
        </p:txBody>
      </p:sp>
      <p:sp>
        <p:nvSpPr>
          <p:cNvPr id="61" name="">
            <a:extLst xmlns:a="http://schemas.openxmlformats.org/drawingml/2006/main">
              <a:ext uri="{FF2B5EF4-FFF2-40B4-BE49-F238E27FC236}">
                <a16:creationId xmlns:a16="http://schemas.microsoft.com/office/drawing/2014/main" id="{147138EC-A5D0-439D-9465-33FBD837A59C}"/>
              </a:ext>
            </a:extLst>
          </p:cNvPr>
          <p:cNvSpPr>
            <a:spLocks xmlns:a="http://schemas.openxmlformats.org/drawingml/2006/main" noGrp="1"/>
          </p:cNvSpPr>
          <p:nvPr/>
        </p:nvSpPr>
        <p:spPr>
          <a:xfrm xmlns:a="http://schemas.openxmlformats.org/drawingml/2006/main">
            <a:off x="4895850" y="813435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1">
                <a:solidFill>
                  <a:srgbClr val="183B39"/>
                </a:solidFill>
              </a:defRPr>
            </a:pPr>
            <a:r>
              <a:rPr sz="713" b="1">
                <a:solidFill>
                  <a:srgbClr val="183B39"/>
                </a:solidFill>
              </a:rPr>
              <a:t>Flow conversion is 71.3% for July.</a:t>
            </a:r>
          </a:p>
        </p:txBody>
      </p:sp>
      <p:sp>
        <p:nvSpPr>
          <p:cNvPr id="62" name="">
            <a:extLst xmlns:a="http://schemas.openxmlformats.org/drawingml/2006/main">
              <a:ext uri="{FF2B5EF4-FFF2-40B4-BE49-F238E27FC236}">
                <a16:creationId xmlns:a16="http://schemas.microsoft.com/office/drawing/2014/main" id="{396EA01D-A796-478D-9D6A-1049F2EF2C26}"/>
              </a:ext>
            </a:extLst>
          </p:cNvPr>
          <p:cNvSpPr>
            <a:spLocks xmlns:a="http://schemas.openxmlformats.org/drawingml/2006/main" noGrp="1"/>
          </p:cNvSpPr>
          <p:nvPr/>
        </p:nvSpPr>
        <p:spPr>
          <a:xfrm xmlns:a="http://schemas.openxmlformats.org/drawingml/2006/main">
            <a:off x="361950" y="8686800"/>
            <a:ext cx="1981200" cy="514350"/>
          </a:xfrm>
          <a:prstGeom xmlns:a="http://schemas.openxmlformats.org/drawingml/2006/main" prst="roundRect">
            <a:avLst>
              <a:gd name="adj" fmla="val 14815"/>
            </a:avLst>
          </a:prstGeom>
          <a:solidFill xmlns:a="http://schemas.openxmlformats.org/drawingml/2006/main">
            <a:srgbClr val="DFF2ED"/>
          </a:solidFill>
          <a:ln xmlns:a="http://schemas.openxmlformats.org/drawingml/2006/main" w="9525">
            <a:solidFill>
              <a:srgbClr val="C8DCD7"/>
            </a:solidFill>
            <a:prstDash val="solid"/>
          </a:ln>
        </p:spPr>
      </p:sp>
      <p:sp>
        <p:nvSpPr>
          <p:cNvPr id="63" name="">
            <a:extLst xmlns:a="http://schemas.openxmlformats.org/drawingml/2006/main">
              <a:ext uri="{FF2B5EF4-FFF2-40B4-BE49-F238E27FC236}">
                <a16:creationId xmlns:a16="http://schemas.microsoft.com/office/drawing/2014/main" id="{E47AE658-8F39-4594-86F7-706B606B2F44}"/>
              </a:ext>
            </a:extLst>
          </p:cNvPr>
          <p:cNvSpPr>
            <a:spLocks xmlns:a="http://schemas.openxmlformats.org/drawingml/2006/main" noGrp="1"/>
          </p:cNvSpPr>
          <p:nvPr/>
        </p:nvSpPr>
        <p:spPr>
          <a:xfrm xmlns:a="http://schemas.openxmlformats.org/drawingml/2006/main">
            <a:off x="419100" y="873442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28A596"/>
                </a:solidFill>
              </a:defRPr>
            </a:pPr>
            <a:r>
              <a:rPr sz="675" b="1">
                <a:solidFill>
                  <a:srgbClr val="28A596"/>
                </a:solidFill>
              </a:rPr>
              <a:t>04</a:t>
            </a:r>
          </a:p>
        </p:txBody>
      </p:sp>
      <p:sp>
        <p:nvSpPr>
          <p:cNvPr id="64" name="">
            <a:extLst xmlns:a="http://schemas.openxmlformats.org/drawingml/2006/main">
              <a:ext uri="{FF2B5EF4-FFF2-40B4-BE49-F238E27FC236}">
                <a16:creationId xmlns:a16="http://schemas.microsoft.com/office/drawing/2014/main" id="{2CBB00F5-0447-4169-9684-CDB04FFA74C8}"/>
              </a:ext>
            </a:extLst>
          </p:cNvPr>
          <p:cNvSpPr>
            <a:spLocks xmlns:a="http://schemas.openxmlformats.org/drawingml/2006/main" noGrp="1"/>
          </p:cNvSpPr>
          <p:nvPr/>
        </p:nvSpPr>
        <p:spPr>
          <a:xfrm xmlns:a="http://schemas.openxmlformats.org/drawingml/2006/main">
            <a:off x="742950" y="872490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0">
                <a:solidFill>
                  <a:srgbClr val="183B39"/>
                </a:solidFill>
              </a:defRPr>
            </a:pPr>
            <a:r>
              <a:rPr sz="713" b="0">
                <a:solidFill>
                  <a:srgbClr val="183B39"/>
                </a:solidFill>
              </a:rPr>
              <a:t>The same-period flow gap is ₹1.98 Cr.</a:t>
            </a:r>
          </a:p>
        </p:txBody>
      </p:sp>
      <p:sp>
        <p:nvSpPr>
          <p:cNvPr id="65" name="">
            <a:extLst xmlns:a="http://schemas.openxmlformats.org/drawingml/2006/main">
              <a:ext uri="{FF2B5EF4-FFF2-40B4-BE49-F238E27FC236}">
                <a16:creationId xmlns:a16="http://schemas.microsoft.com/office/drawing/2014/main" id="{B82FD978-078E-4D7B-9F1A-CEDDA47DAD5A}"/>
              </a:ext>
            </a:extLst>
          </p:cNvPr>
          <p:cNvSpPr>
            <a:spLocks xmlns:a="http://schemas.openxmlformats.org/drawingml/2006/main" noGrp="1"/>
          </p:cNvSpPr>
          <p:nvPr/>
        </p:nvSpPr>
        <p:spPr>
          <a:xfrm xmlns:a="http://schemas.openxmlformats.org/drawingml/2006/main">
            <a:off x="2438400" y="8686800"/>
            <a:ext cx="1981200" cy="514350"/>
          </a:xfrm>
          <a:prstGeom xmlns:a="http://schemas.openxmlformats.org/drawingml/2006/main" prst="roundRect">
            <a:avLst>
              <a:gd name="adj" fmla="val 14815"/>
            </a:avLst>
          </a:prstGeom>
          <a:solidFill xmlns:a="http://schemas.openxmlformats.org/drawingml/2006/main">
            <a:srgbClr val="DFF2ED"/>
          </a:solidFill>
          <a:ln xmlns:a="http://schemas.openxmlformats.org/drawingml/2006/main" w="9525">
            <a:solidFill>
              <a:srgbClr val="C8DCD7"/>
            </a:solidFill>
            <a:prstDash val="solid"/>
          </a:ln>
        </p:spPr>
      </p:sp>
      <p:sp>
        <p:nvSpPr>
          <p:cNvPr id="66" name="">
            <a:extLst xmlns:a="http://schemas.openxmlformats.org/drawingml/2006/main">
              <a:ext uri="{FF2B5EF4-FFF2-40B4-BE49-F238E27FC236}">
                <a16:creationId xmlns:a16="http://schemas.microsoft.com/office/drawing/2014/main" id="{BEE458F9-501B-4216-BD75-97AB7DD49AA6}"/>
              </a:ext>
            </a:extLst>
          </p:cNvPr>
          <p:cNvSpPr>
            <a:spLocks xmlns:a="http://schemas.openxmlformats.org/drawingml/2006/main" noGrp="1"/>
          </p:cNvSpPr>
          <p:nvPr/>
        </p:nvSpPr>
        <p:spPr>
          <a:xfrm xmlns:a="http://schemas.openxmlformats.org/drawingml/2006/main">
            <a:off x="2495550" y="873442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28A596"/>
                </a:solidFill>
              </a:defRPr>
            </a:pPr>
            <a:r>
              <a:rPr sz="675" b="1">
                <a:solidFill>
                  <a:srgbClr val="28A596"/>
                </a:solidFill>
              </a:rPr>
              <a:t>05</a:t>
            </a:r>
          </a:p>
        </p:txBody>
      </p:sp>
      <p:sp>
        <p:nvSpPr>
          <p:cNvPr id="67" name="">
            <a:extLst xmlns:a="http://schemas.openxmlformats.org/drawingml/2006/main">
              <a:ext uri="{FF2B5EF4-FFF2-40B4-BE49-F238E27FC236}">
                <a16:creationId xmlns:a16="http://schemas.microsoft.com/office/drawing/2014/main" id="{FBC67213-A834-4C6B-875E-4FE7FB2292B7}"/>
              </a:ext>
            </a:extLst>
          </p:cNvPr>
          <p:cNvSpPr>
            <a:spLocks xmlns:a="http://schemas.openxmlformats.org/drawingml/2006/main" noGrp="1"/>
          </p:cNvSpPr>
          <p:nvPr/>
        </p:nvSpPr>
        <p:spPr>
          <a:xfrm xmlns:a="http://schemas.openxmlformats.org/drawingml/2006/main">
            <a:off x="2819400" y="872490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0">
                <a:solidFill>
                  <a:srgbClr val="183B39"/>
                </a:solidFill>
              </a:defRPr>
            </a:pPr>
            <a:r>
              <a:rPr sz="713" b="0">
                <a:solidFill>
                  <a:srgbClr val="183B39"/>
                </a:solidFill>
              </a:rPr>
              <a:t>South-2 ranks #4 by national offtake.</a:t>
            </a:r>
          </a:p>
        </p:txBody>
      </p:sp>
      <p:sp>
        <p:nvSpPr>
          <p:cNvPr id="68" name="">
            <a:extLst xmlns:a="http://schemas.openxmlformats.org/drawingml/2006/main">
              <a:ext uri="{FF2B5EF4-FFF2-40B4-BE49-F238E27FC236}">
                <a16:creationId xmlns:a16="http://schemas.microsoft.com/office/drawing/2014/main" id="{C8A6D858-9FA7-4987-B9D0-8EEFF787C78B}"/>
              </a:ext>
            </a:extLst>
          </p:cNvPr>
          <p:cNvSpPr>
            <a:spLocks xmlns:a="http://schemas.openxmlformats.org/drawingml/2006/main" noGrp="1"/>
          </p:cNvSpPr>
          <p:nvPr/>
        </p:nvSpPr>
        <p:spPr>
          <a:xfrm xmlns:a="http://schemas.openxmlformats.org/drawingml/2006/main">
            <a:off x="4514850" y="8686800"/>
            <a:ext cx="1981200" cy="514350"/>
          </a:xfrm>
          <a:prstGeom xmlns:a="http://schemas.openxmlformats.org/drawingml/2006/main" prst="roundRect">
            <a:avLst>
              <a:gd name="adj" fmla="val 14815"/>
            </a:avLst>
          </a:prstGeom>
          <a:solidFill xmlns:a="http://schemas.openxmlformats.org/drawingml/2006/main">
            <a:srgbClr val="FFFFFF"/>
          </a:solidFill>
          <a:ln xmlns:a="http://schemas.openxmlformats.org/drawingml/2006/main" w="9525">
            <a:solidFill>
              <a:srgbClr val="C8DCD7"/>
            </a:solidFill>
            <a:prstDash val="solid"/>
          </a:ln>
        </p:spPr>
      </p:sp>
      <p:sp>
        <p:nvSpPr>
          <p:cNvPr id="69" name="">
            <a:extLst xmlns:a="http://schemas.openxmlformats.org/drawingml/2006/main">
              <a:ext uri="{FF2B5EF4-FFF2-40B4-BE49-F238E27FC236}">
                <a16:creationId xmlns:a16="http://schemas.microsoft.com/office/drawing/2014/main" id="{18EF80EA-0738-48B6-B376-D43AC6FC8CF6}"/>
              </a:ext>
            </a:extLst>
          </p:cNvPr>
          <p:cNvSpPr>
            <a:spLocks xmlns:a="http://schemas.openxmlformats.org/drawingml/2006/main" noGrp="1"/>
          </p:cNvSpPr>
          <p:nvPr/>
        </p:nvSpPr>
        <p:spPr>
          <a:xfrm xmlns:a="http://schemas.openxmlformats.org/drawingml/2006/main">
            <a:off x="4572000" y="873442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D6544D"/>
                </a:solidFill>
              </a:defRPr>
            </a:pPr>
            <a:r>
              <a:rPr sz="675" b="1">
                <a:solidFill>
                  <a:srgbClr val="D6544D"/>
                </a:solidFill>
              </a:rPr>
              <a:t>06</a:t>
            </a:r>
          </a:p>
        </p:txBody>
      </p:sp>
      <p:sp>
        <p:nvSpPr>
          <p:cNvPr id="70" name="">
            <a:extLst xmlns:a="http://schemas.openxmlformats.org/drawingml/2006/main">
              <a:ext uri="{FF2B5EF4-FFF2-40B4-BE49-F238E27FC236}">
                <a16:creationId xmlns:a16="http://schemas.microsoft.com/office/drawing/2014/main" id="{7FC686D3-447E-421C-B3A7-007A5B29F8C4}"/>
              </a:ext>
            </a:extLst>
          </p:cNvPr>
          <p:cNvSpPr>
            <a:spLocks xmlns:a="http://schemas.openxmlformats.org/drawingml/2006/main" noGrp="1"/>
          </p:cNvSpPr>
          <p:nvPr/>
        </p:nvSpPr>
        <p:spPr>
          <a:xfrm xmlns:a="http://schemas.openxmlformats.org/drawingml/2006/main">
            <a:off x="4895850" y="872490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0">
                <a:solidFill>
                  <a:srgbClr val="183B39"/>
                </a:solidFill>
              </a:defRPr>
            </a:pPr>
            <a:r>
              <a:rPr sz="713" b="0">
                <a:solidFill>
                  <a:srgbClr val="183B39"/>
                </a:solidFill>
              </a:rPr>
              <a:t>Telangana ranks #1 with ₹2.56 Cr offtake.</a:t>
            </a:r>
          </a:p>
        </p:txBody>
      </p:sp>
      <p:sp>
        <p:nvSpPr>
          <p:cNvPr id="71" name="">
            <a:extLst xmlns:a="http://schemas.openxmlformats.org/drawingml/2006/main">
              <a:ext uri="{FF2B5EF4-FFF2-40B4-BE49-F238E27FC236}">
                <a16:creationId xmlns:a16="http://schemas.microsoft.com/office/drawing/2014/main" id="{E3411A84-ED81-479F-9787-FA0D9291722F}"/>
              </a:ext>
            </a:extLst>
          </p:cNvPr>
          <p:cNvSpPr>
            <a:spLocks xmlns:a="http://schemas.openxmlformats.org/drawingml/2006/main" noGrp="1"/>
          </p:cNvSpPr>
          <p:nvPr/>
        </p:nvSpPr>
        <p:spPr>
          <a:xfrm xmlns:a="http://schemas.openxmlformats.org/drawingml/2006/main">
            <a:off x="361950" y="9277350"/>
            <a:ext cx="1981200" cy="514350"/>
          </a:xfrm>
          <a:prstGeom xmlns:a="http://schemas.openxmlformats.org/drawingml/2006/main" prst="roundRect">
            <a:avLst>
              <a:gd name="adj" fmla="val 14815"/>
            </a:avLst>
          </a:prstGeom>
          <a:solidFill xmlns:a="http://schemas.openxmlformats.org/drawingml/2006/main">
            <a:srgbClr val="FFFFFF"/>
          </a:solidFill>
          <a:ln xmlns:a="http://schemas.openxmlformats.org/drawingml/2006/main" w="9525">
            <a:solidFill>
              <a:srgbClr val="C8DCD7"/>
            </a:solidFill>
            <a:prstDash val="solid"/>
          </a:ln>
        </p:spPr>
      </p:sp>
      <p:sp>
        <p:nvSpPr>
          <p:cNvPr id="72" name="">
            <a:extLst xmlns:a="http://schemas.openxmlformats.org/drawingml/2006/main">
              <a:ext uri="{FF2B5EF4-FFF2-40B4-BE49-F238E27FC236}">
                <a16:creationId xmlns:a16="http://schemas.microsoft.com/office/drawing/2014/main" id="{AAF7C9AE-6522-4EF8-9545-351F7C5D5407}"/>
              </a:ext>
            </a:extLst>
          </p:cNvPr>
          <p:cNvSpPr>
            <a:spLocks xmlns:a="http://schemas.openxmlformats.org/drawingml/2006/main" noGrp="1"/>
          </p:cNvSpPr>
          <p:nvPr/>
        </p:nvSpPr>
        <p:spPr>
          <a:xfrm xmlns:a="http://schemas.openxmlformats.org/drawingml/2006/main">
            <a:off x="419100" y="932497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D6544D"/>
                </a:solidFill>
              </a:defRPr>
            </a:pPr>
            <a:r>
              <a:rPr sz="675" b="1">
                <a:solidFill>
                  <a:srgbClr val="D6544D"/>
                </a:solidFill>
              </a:rPr>
              <a:t>07</a:t>
            </a:r>
          </a:p>
        </p:txBody>
      </p:sp>
      <p:sp>
        <p:nvSpPr>
          <p:cNvPr id="73" name="">
            <a:extLst xmlns:a="http://schemas.openxmlformats.org/drawingml/2006/main">
              <a:ext uri="{FF2B5EF4-FFF2-40B4-BE49-F238E27FC236}">
                <a16:creationId xmlns:a16="http://schemas.microsoft.com/office/drawing/2014/main" id="{4C2F5913-C3D1-47DA-AEB9-5D3C21E31D47}"/>
              </a:ext>
            </a:extLst>
          </p:cNvPr>
          <p:cNvSpPr>
            <a:spLocks xmlns:a="http://schemas.openxmlformats.org/drawingml/2006/main" noGrp="1"/>
          </p:cNvSpPr>
          <p:nvPr/>
        </p:nvSpPr>
        <p:spPr>
          <a:xfrm xmlns:a="http://schemas.openxmlformats.org/drawingml/2006/main">
            <a:off x="742950" y="931545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0">
                <a:solidFill>
                  <a:srgbClr val="183B39"/>
                </a:solidFill>
              </a:defRPr>
            </a:pPr>
            <a:r>
              <a:rPr sz="713" b="0">
                <a:solidFill>
                  <a:srgbClr val="183B39"/>
                </a:solidFill>
              </a:rPr>
              <a:t>Andhra Pradesh ranks #2 with ₹2.35 Cr offtake.</a:t>
            </a:r>
          </a:p>
        </p:txBody>
      </p:sp>
      <p:sp>
        <p:nvSpPr>
          <p:cNvPr id="74" name="">
            <a:extLst xmlns:a="http://schemas.openxmlformats.org/drawingml/2006/main">
              <a:ext uri="{FF2B5EF4-FFF2-40B4-BE49-F238E27FC236}">
                <a16:creationId xmlns:a16="http://schemas.microsoft.com/office/drawing/2014/main" id="{C554E1F2-F973-4BE9-9BA8-2543599461D2}"/>
              </a:ext>
            </a:extLst>
          </p:cNvPr>
          <p:cNvSpPr>
            <a:spLocks xmlns:a="http://schemas.openxmlformats.org/drawingml/2006/main" noGrp="1"/>
          </p:cNvSpPr>
          <p:nvPr/>
        </p:nvSpPr>
        <p:spPr>
          <a:xfrm xmlns:a="http://schemas.openxmlformats.org/drawingml/2006/main">
            <a:off x="2438400" y="9277350"/>
            <a:ext cx="1981200" cy="514350"/>
          </a:xfrm>
          <a:prstGeom xmlns:a="http://schemas.openxmlformats.org/drawingml/2006/main" prst="roundRect">
            <a:avLst>
              <a:gd name="adj" fmla="val 14815"/>
            </a:avLst>
          </a:prstGeom>
          <a:solidFill xmlns:a="http://schemas.openxmlformats.org/drawingml/2006/main">
            <a:srgbClr val="FFFFFF"/>
          </a:solidFill>
          <a:ln xmlns:a="http://schemas.openxmlformats.org/drawingml/2006/main" w="9525">
            <a:solidFill>
              <a:srgbClr val="C8DCD7"/>
            </a:solidFill>
            <a:prstDash val="solid"/>
          </a:ln>
        </p:spPr>
      </p:sp>
      <p:sp>
        <p:nvSpPr>
          <p:cNvPr id="75" name="">
            <a:extLst xmlns:a="http://schemas.openxmlformats.org/drawingml/2006/main">
              <a:ext uri="{FF2B5EF4-FFF2-40B4-BE49-F238E27FC236}">
                <a16:creationId xmlns:a16="http://schemas.microsoft.com/office/drawing/2014/main" id="{B1042FC7-CC8C-4E20-8DC2-AA07B6E715FF}"/>
              </a:ext>
            </a:extLst>
          </p:cNvPr>
          <p:cNvSpPr>
            <a:spLocks xmlns:a="http://schemas.openxmlformats.org/drawingml/2006/main" noGrp="1"/>
          </p:cNvSpPr>
          <p:nvPr/>
        </p:nvSpPr>
        <p:spPr>
          <a:xfrm xmlns:a="http://schemas.openxmlformats.org/drawingml/2006/main">
            <a:off x="2495550" y="932497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D6544D"/>
                </a:solidFill>
              </a:defRPr>
            </a:pPr>
            <a:r>
              <a:rPr sz="675" b="1">
                <a:solidFill>
                  <a:srgbClr val="D6544D"/>
                </a:solidFill>
              </a:rPr>
              <a:t>08</a:t>
            </a:r>
          </a:p>
        </p:txBody>
      </p:sp>
      <p:sp>
        <p:nvSpPr>
          <p:cNvPr id="76" name="">
            <a:extLst xmlns:a="http://schemas.openxmlformats.org/drawingml/2006/main">
              <a:ext uri="{FF2B5EF4-FFF2-40B4-BE49-F238E27FC236}">
                <a16:creationId xmlns:a16="http://schemas.microsoft.com/office/drawing/2014/main" id="{17C7FC1A-E922-42D3-B9F9-7AAB87D6F2D8}"/>
              </a:ext>
            </a:extLst>
          </p:cNvPr>
          <p:cNvSpPr>
            <a:spLocks xmlns:a="http://schemas.openxmlformats.org/drawingml/2006/main" noGrp="1"/>
          </p:cNvSpPr>
          <p:nvPr/>
        </p:nvSpPr>
        <p:spPr>
          <a:xfrm xmlns:a="http://schemas.openxmlformats.org/drawingml/2006/main">
            <a:off x="2819400" y="931545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0">
                <a:solidFill>
                  <a:srgbClr val="183B39"/>
                </a:solidFill>
              </a:defRPr>
            </a:pPr>
            <a:r>
              <a:rPr sz="713" b="0">
                <a:solidFill>
                  <a:srgbClr val="183B39"/>
                </a:solidFill>
              </a:rPr>
              <a:t>The leading state contributes 52.2% of zone offtake.</a:t>
            </a:r>
          </a:p>
        </p:txBody>
      </p:sp>
      <p:sp>
        <p:nvSpPr>
          <p:cNvPr id="77" name="">
            <a:extLst xmlns:a="http://schemas.openxmlformats.org/drawingml/2006/main">
              <a:ext uri="{FF2B5EF4-FFF2-40B4-BE49-F238E27FC236}">
                <a16:creationId xmlns:a16="http://schemas.microsoft.com/office/drawing/2014/main" id="{88703E03-DDA2-4619-9DF8-28E2FC408A84}"/>
              </a:ext>
            </a:extLst>
          </p:cNvPr>
          <p:cNvSpPr>
            <a:spLocks xmlns:a="http://schemas.openxmlformats.org/drawingml/2006/main" noGrp="1"/>
          </p:cNvSpPr>
          <p:nvPr/>
        </p:nvSpPr>
        <p:spPr>
          <a:xfrm xmlns:a="http://schemas.openxmlformats.org/drawingml/2006/main">
            <a:off x="4514850" y="9277350"/>
            <a:ext cx="1981200" cy="514350"/>
          </a:xfrm>
          <a:prstGeom xmlns:a="http://schemas.openxmlformats.org/drawingml/2006/main" prst="roundRect">
            <a:avLst>
              <a:gd name="adj" fmla="val 14815"/>
            </a:avLst>
          </a:prstGeom>
          <a:solidFill xmlns:a="http://schemas.openxmlformats.org/drawingml/2006/main">
            <a:srgbClr val="FFFFFF"/>
          </a:solidFill>
          <a:ln xmlns:a="http://schemas.openxmlformats.org/drawingml/2006/main" w="9525">
            <a:solidFill>
              <a:srgbClr val="C8DCD7"/>
            </a:solidFill>
            <a:prstDash val="solid"/>
          </a:ln>
        </p:spPr>
      </p:sp>
      <p:sp>
        <p:nvSpPr>
          <p:cNvPr id="78" name="">
            <a:extLst xmlns:a="http://schemas.openxmlformats.org/drawingml/2006/main">
              <a:ext uri="{FF2B5EF4-FFF2-40B4-BE49-F238E27FC236}">
                <a16:creationId xmlns:a16="http://schemas.microsoft.com/office/drawing/2014/main" id="{B1B0B8B4-65A2-482E-B316-0119F4F07CE0}"/>
              </a:ext>
            </a:extLst>
          </p:cNvPr>
          <p:cNvSpPr>
            <a:spLocks xmlns:a="http://schemas.openxmlformats.org/drawingml/2006/main" noGrp="1"/>
          </p:cNvSpPr>
          <p:nvPr/>
        </p:nvSpPr>
        <p:spPr>
          <a:xfrm xmlns:a="http://schemas.openxmlformats.org/drawingml/2006/main">
            <a:off x="4572000" y="932497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D6544D"/>
                </a:solidFill>
              </a:defRPr>
            </a:pPr>
            <a:r>
              <a:rPr sz="675" b="1">
                <a:solidFill>
                  <a:srgbClr val="D6544D"/>
                </a:solidFill>
              </a:rPr>
              <a:t>09</a:t>
            </a:r>
          </a:p>
        </p:txBody>
      </p:sp>
      <p:sp>
        <p:nvSpPr>
          <p:cNvPr id="79" name="">
            <a:extLst xmlns:a="http://schemas.openxmlformats.org/drawingml/2006/main">
              <a:ext uri="{FF2B5EF4-FFF2-40B4-BE49-F238E27FC236}">
                <a16:creationId xmlns:a16="http://schemas.microsoft.com/office/drawing/2014/main" id="{A6A02087-3789-42D8-82D9-0F0205494156}"/>
              </a:ext>
            </a:extLst>
          </p:cNvPr>
          <p:cNvSpPr>
            <a:spLocks xmlns:a="http://schemas.openxmlformats.org/drawingml/2006/main" noGrp="1"/>
          </p:cNvSpPr>
          <p:nvPr/>
        </p:nvSpPr>
        <p:spPr>
          <a:xfrm xmlns:a="http://schemas.openxmlformats.org/drawingml/2006/main">
            <a:off x="4895850" y="931545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0">
                <a:solidFill>
                  <a:srgbClr val="183B39"/>
                </a:solidFill>
              </a:defRPr>
            </a:pPr>
            <a:r>
              <a:rPr sz="713" b="0">
                <a:solidFill>
                  <a:srgbClr val="183B39"/>
                </a:solidFill>
              </a:rPr>
              <a:t>The top three states contribute 100.0% of zone offtake.</a:t>
            </a:r>
          </a:p>
        </p:txBody>
      </p:sp>
      <p:sp>
        <p:nvSpPr>
          <p:cNvPr id="80" name="">
            <a:extLst xmlns:a="http://schemas.openxmlformats.org/drawingml/2006/main">
              <a:ext uri="{FF2B5EF4-FFF2-40B4-BE49-F238E27FC236}">
                <a16:creationId xmlns:a16="http://schemas.microsoft.com/office/drawing/2014/main" id="{41EDD716-E9CF-49B2-AC05-F3FAFC2F2211}"/>
              </a:ext>
            </a:extLst>
          </p:cNvPr>
          <p:cNvSpPr>
            <a:spLocks xmlns:a="http://schemas.openxmlformats.org/drawingml/2006/main" noGrp="1"/>
          </p:cNvSpPr>
          <p:nvPr/>
        </p:nvSpPr>
        <p:spPr>
          <a:xfrm xmlns:a="http://schemas.openxmlformats.org/drawingml/2006/main">
            <a:off x="361950" y="9867900"/>
            <a:ext cx="1981200" cy="514350"/>
          </a:xfrm>
          <a:prstGeom xmlns:a="http://schemas.openxmlformats.org/drawingml/2006/main" prst="roundRect">
            <a:avLst>
              <a:gd name="adj" fmla="val 14815"/>
            </a:avLst>
          </a:prstGeom>
          <a:solidFill xmlns:a="http://schemas.openxmlformats.org/drawingml/2006/main">
            <a:srgbClr val="FFFFFF"/>
          </a:solidFill>
          <a:ln xmlns:a="http://schemas.openxmlformats.org/drawingml/2006/main" w="9525">
            <a:solidFill>
              <a:srgbClr val="C8DCD7"/>
            </a:solidFill>
            <a:prstDash val="solid"/>
          </a:ln>
        </p:spPr>
      </p:sp>
      <p:sp>
        <p:nvSpPr>
          <p:cNvPr id="81" name="">
            <a:extLst xmlns:a="http://schemas.openxmlformats.org/drawingml/2006/main">
              <a:ext uri="{FF2B5EF4-FFF2-40B4-BE49-F238E27FC236}">
                <a16:creationId xmlns:a16="http://schemas.microsoft.com/office/drawing/2014/main" id="{E5295B95-47EC-4DEA-A2F2-83EA707F2C4C}"/>
              </a:ext>
            </a:extLst>
          </p:cNvPr>
          <p:cNvSpPr>
            <a:spLocks xmlns:a="http://schemas.openxmlformats.org/drawingml/2006/main" noGrp="1"/>
          </p:cNvSpPr>
          <p:nvPr/>
        </p:nvSpPr>
        <p:spPr>
          <a:xfrm xmlns:a="http://schemas.openxmlformats.org/drawingml/2006/main">
            <a:off x="419100" y="991552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D6544D"/>
                </a:solidFill>
              </a:defRPr>
            </a:pPr>
            <a:r>
              <a:rPr sz="675" b="1">
                <a:solidFill>
                  <a:srgbClr val="D6544D"/>
                </a:solidFill>
              </a:rPr>
              <a:t>10</a:t>
            </a:r>
          </a:p>
        </p:txBody>
      </p:sp>
      <p:sp>
        <p:nvSpPr>
          <p:cNvPr id="82" name="">
            <a:extLst xmlns:a="http://schemas.openxmlformats.org/drawingml/2006/main">
              <a:ext uri="{FF2B5EF4-FFF2-40B4-BE49-F238E27FC236}">
                <a16:creationId xmlns:a16="http://schemas.microsoft.com/office/drawing/2014/main" id="{D882D383-CBA1-4F36-90EE-129121477B8C}"/>
              </a:ext>
            </a:extLst>
          </p:cNvPr>
          <p:cNvSpPr>
            <a:spLocks xmlns:a="http://schemas.openxmlformats.org/drawingml/2006/main" noGrp="1"/>
          </p:cNvSpPr>
          <p:nvPr/>
        </p:nvSpPr>
        <p:spPr>
          <a:xfrm xmlns:a="http://schemas.openxmlformats.org/drawingml/2006/main">
            <a:off x="742950" y="990600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0">
                <a:solidFill>
                  <a:srgbClr val="183B39"/>
                </a:solidFill>
              </a:defRPr>
            </a:pPr>
            <a:r>
              <a:rPr sz="713" b="0">
                <a:solidFill>
                  <a:srgbClr val="183B39"/>
                </a:solidFill>
              </a:rPr>
              <a:t>The source reports 2 material states in the displayed zone cut.</a:t>
            </a:r>
          </a:p>
        </p:txBody>
      </p:sp>
      <p:sp>
        <p:nvSpPr>
          <p:cNvPr id="83" name="">
            <a:extLst xmlns:a="http://schemas.openxmlformats.org/drawingml/2006/main">
              <a:ext uri="{FF2B5EF4-FFF2-40B4-BE49-F238E27FC236}">
                <a16:creationId xmlns:a16="http://schemas.microsoft.com/office/drawing/2014/main" id="{4075B5E5-E9FD-4DD9-B8FA-7D45C4EDDD1E}"/>
              </a:ext>
            </a:extLst>
          </p:cNvPr>
          <p:cNvSpPr>
            <a:spLocks xmlns:a="http://schemas.openxmlformats.org/drawingml/2006/main" noGrp="1"/>
          </p:cNvSpPr>
          <p:nvPr/>
        </p:nvSpPr>
        <p:spPr>
          <a:xfrm xmlns:a="http://schemas.openxmlformats.org/drawingml/2006/main">
            <a:off x="2438400" y="9867900"/>
            <a:ext cx="1981200" cy="514350"/>
          </a:xfrm>
          <a:prstGeom xmlns:a="http://schemas.openxmlformats.org/drawingml/2006/main" prst="roundRect">
            <a:avLst>
              <a:gd name="adj" fmla="val 14815"/>
            </a:avLst>
          </a:prstGeom>
          <a:solidFill xmlns:a="http://schemas.openxmlformats.org/drawingml/2006/main">
            <a:srgbClr val="FFFFFF"/>
          </a:solidFill>
          <a:ln xmlns:a="http://schemas.openxmlformats.org/drawingml/2006/main" w="9525">
            <a:solidFill>
              <a:srgbClr val="C8DCD7"/>
            </a:solidFill>
            <a:prstDash val="solid"/>
          </a:ln>
        </p:spPr>
      </p:sp>
      <p:sp>
        <p:nvSpPr>
          <p:cNvPr id="84" name="">
            <a:extLst xmlns:a="http://schemas.openxmlformats.org/drawingml/2006/main">
              <a:ext uri="{FF2B5EF4-FFF2-40B4-BE49-F238E27FC236}">
                <a16:creationId xmlns:a16="http://schemas.microsoft.com/office/drawing/2014/main" id="{66B90F68-D6B1-4AF8-86B8-0EBDECDA517C}"/>
              </a:ext>
            </a:extLst>
          </p:cNvPr>
          <p:cNvSpPr>
            <a:spLocks xmlns:a="http://schemas.openxmlformats.org/drawingml/2006/main" noGrp="1"/>
          </p:cNvSpPr>
          <p:nvPr/>
        </p:nvSpPr>
        <p:spPr>
          <a:xfrm xmlns:a="http://schemas.openxmlformats.org/drawingml/2006/main">
            <a:off x="2495550" y="991552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D6544D"/>
                </a:solidFill>
              </a:defRPr>
            </a:pPr>
            <a:r>
              <a:rPr sz="675" b="1">
                <a:solidFill>
                  <a:srgbClr val="D6544D"/>
                </a:solidFill>
              </a:rPr>
              <a:t>11</a:t>
            </a:r>
          </a:p>
        </p:txBody>
      </p:sp>
      <p:sp>
        <p:nvSpPr>
          <p:cNvPr id="85" name="">
            <a:extLst xmlns:a="http://schemas.openxmlformats.org/drawingml/2006/main">
              <a:ext uri="{FF2B5EF4-FFF2-40B4-BE49-F238E27FC236}">
                <a16:creationId xmlns:a16="http://schemas.microsoft.com/office/drawing/2014/main" id="{21F4043D-FCBD-4125-8D34-47DC5CCB1CB6}"/>
              </a:ext>
            </a:extLst>
          </p:cNvPr>
          <p:cNvSpPr>
            <a:spLocks xmlns:a="http://schemas.openxmlformats.org/drawingml/2006/main" noGrp="1"/>
          </p:cNvSpPr>
          <p:nvPr/>
        </p:nvSpPr>
        <p:spPr>
          <a:xfrm xmlns:a="http://schemas.openxmlformats.org/drawingml/2006/main">
            <a:off x="2819400" y="990600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0">
                <a:solidFill>
                  <a:srgbClr val="183B39"/>
                </a:solidFill>
              </a:defRPr>
            </a:pPr>
            <a:r>
              <a:rPr sz="713" b="0">
                <a:solidFill>
                  <a:srgbClr val="183B39"/>
                </a:solidFill>
              </a:rPr>
              <a:t>DMart: ₹1.95 Cr offtake; 45.1%.</a:t>
            </a:r>
          </a:p>
        </p:txBody>
      </p:sp>
      <p:sp>
        <p:nvSpPr>
          <p:cNvPr id="86" name="">
            <a:extLst xmlns:a="http://schemas.openxmlformats.org/drawingml/2006/main">
              <a:ext uri="{FF2B5EF4-FFF2-40B4-BE49-F238E27FC236}">
                <a16:creationId xmlns:a16="http://schemas.microsoft.com/office/drawing/2014/main" id="{EAD48B66-4961-4851-8335-6411840CC178}"/>
              </a:ext>
            </a:extLst>
          </p:cNvPr>
          <p:cNvSpPr>
            <a:spLocks xmlns:a="http://schemas.openxmlformats.org/drawingml/2006/main" noGrp="1"/>
          </p:cNvSpPr>
          <p:nvPr/>
        </p:nvSpPr>
        <p:spPr>
          <a:xfrm xmlns:a="http://schemas.openxmlformats.org/drawingml/2006/main">
            <a:off x="4514850" y="9867900"/>
            <a:ext cx="1981200" cy="514350"/>
          </a:xfrm>
          <a:prstGeom xmlns:a="http://schemas.openxmlformats.org/drawingml/2006/main" prst="roundRect">
            <a:avLst>
              <a:gd name="adj" fmla="val 14815"/>
            </a:avLst>
          </a:prstGeom>
          <a:solidFill xmlns:a="http://schemas.openxmlformats.org/drawingml/2006/main">
            <a:srgbClr val="FFFFFF"/>
          </a:solidFill>
          <a:ln xmlns:a="http://schemas.openxmlformats.org/drawingml/2006/main" w="9525">
            <a:solidFill>
              <a:srgbClr val="C8DCD7"/>
            </a:solidFill>
            <a:prstDash val="solid"/>
          </a:ln>
        </p:spPr>
      </p:sp>
      <p:sp>
        <p:nvSpPr>
          <p:cNvPr id="87" name="">
            <a:extLst xmlns:a="http://schemas.openxmlformats.org/drawingml/2006/main">
              <a:ext uri="{FF2B5EF4-FFF2-40B4-BE49-F238E27FC236}">
                <a16:creationId xmlns:a16="http://schemas.microsoft.com/office/drawing/2014/main" id="{19831E40-09D3-4E33-9ABF-57DD03802DFD}"/>
              </a:ext>
            </a:extLst>
          </p:cNvPr>
          <p:cNvSpPr>
            <a:spLocks xmlns:a="http://schemas.openxmlformats.org/drawingml/2006/main" noGrp="1"/>
          </p:cNvSpPr>
          <p:nvPr/>
        </p:nvSpPr>
        <p:spPr>
          <a:xfrm xmlns:a="http://schemas.openxmlformats.org/drawingml/2006/main">
            <a:off x="4572000" y="991552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D6544D"/>
                </a:solidFill>
              </a:defRPr>
            </a:pPr>
            <a:r>
              <a:rPr sz="675" b="1">
                <a:solidFill>
                  <a:srgbClr val="D6544D"/>
                </a:solidFill>
              </a:rPr>
              <a:t>12</a:t>
            </a:r>
          </a:p>
        </p:txBody>
      </p:sp>
      <p:sp>
        <p:nvSpPr>
          <p:cNvPr id="88" name="">
            <a:extLst xmlns:a="http://schemas.openxmlformats.org/drawingml/2006/main">
              <a:ext uri="{FF2B5EF4-FFF2-40B4-BE49-F238E27FC236}">
                <a16:creationId xmlns:a16="http://schemas.microsoft.com/office/drawing/2014/main" id="{77A663AB-E266-456B-820D-28AB1E42FAF5}"/>
              </a:ext>
            </a:extLst>
          </p:cNvPr>
          <p:cNvSpPr>
            <a:spLocks xmlns:a="http://schemas.openxmlformats.org/drawingml/2006/main" noGrp="1"/>
          </p:cNvSpPr>
          <p:nvPr/>
        </p:nvSpPr>
        <p:spPr>
          <a:xfrm xmlns:a="http://schemas.openxmlformats.org/drawingml/2006/main">
            <a:off x="4895850" y="990600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0">
                <a:solidFill>
                  <a:srgbClr val="183B39"/>
                </a:solidFill>
              </a:defRPr>
            </a:pPr>
            <a:r>
              <a:rPr sz="713" b="0">
                <a:solidFill>
                  <a:srgbClr val="183B39"/>
                </a:solidFill>
              </a:rPr>
              <a:t>Apollo: ₹1.64 Cr offtake; 148.5%.</a:t>
            </a:r>
          </a:p>
        </p:txBody>
      </p:sp>
      <p:sp>
        <p:nvSpPr>
          <p:cNvPr id="89" name="">
            <a:extLst xmlns:a="http://schemas.openxmlformats.org/drawingml/2006/main">
              <a:ext uri="{FF2B5EF4-FFF2-40B4-BE49-F238E27FC236}">
                <a16:creationId xmlns:a16="http://schemas.microsoft.com/office/drawing/2014/main" id="{7866BD2D-B216-40FA-91C6-CFECE86261EF}"/>
              </a:ext>
            </a:extLst>
          </p:cNvPr>
          <p:cNvSpPr>
            <a:spLocks xmlns:a="http://schemas.openxmlformats.org/drawingml/2006/main" noGrp="1"/>
          </p:cNvSpPr>
          <p:nvPr/>
        </p:nvSpPr>
        <p:spPr>
          <a:xfrm xmlns:a="http://schemas.openxmlformats.org/drawingml/2006/main">
            <a:off x="361950" y="10458450"/>
            <a:ext cx="1981200" cy="514350"/>
          </a:xfrm>
          <a:prstGeom xmlns:a="http://schemas.openxmlformats.org/drawingml/2006/main" prst="roundRect">
            <a:avLst>
              <a:gd name="adj" fmla="val 14815"/>
            </a:avLst>
          </a:prstGeom>
          <a:solidFill xmlns:a="http://schemas.openxmlformats.org/drawingml/2006/main">
            <a:srgbClr val="FFFFFF"/>
          </a:solidFill>
          <a:ln xmlns:a="http://schemas.openxmlformats.org/drawingml/2006/main" w="9525">
            <a:solidFill>
              <a:srgbClr val="C8DCD7"/>
            </a:solidFill>
            <a:prstDash val="solid"/>
          </a:ln>
        </p:spPr>
      </p:sp>
      <p:sp>
        <p:nvSpPr>
          <p:cNvPr id="90" name="">
            <a:extLst xmlns:a="http://schemas.openxmlformats.org/drawingml/2006/main">
              <a:ext uri="{FF2B5EF4-FFF2-40B4-BE49-F238E27FC236}">
                <a16:creationId xmlns:a16="http://schemas.microsoft.com/office/drawing/2014/main" id="{2739785A-4004-4560-B2E3-2BA98F161088}"/>
              </a:ext>
            </a:extLst>
          </p:cNvPr>
          <p:cNvSpPr>
            <a:spLocks xmlns:a="http://schemas.openxmlformats.org/drawingml/2006/main" noGrp="1"/>
          </p:cNvSpPr>
          <p:nvPr/>
        </p:nvSpPr>
        <p:spPr>
          <a:xfrm xmlns:a="http://schemas.openxmlformats.org/drawingml/2006/main">
            <a:off x="419100" y="1050607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D6544D"/>
                </a:solidFill>
              </a:defRPr>
            </a:pPr>
            <a:r>
              <a:rPr sz="675" b="1">
                <a:solidFill>
                  <a:srgbClr val="D6544D"/>
                </a:solidFill>
              </a:rPr>
              <a:t>13</a:t>
            </a:r>
          </a:p>
        </p:txBody>
      </p:sp>
      <p:sp>
        <p:nvSpPr>
          <p:cNvPr id="91" name="">
            <a:extLst xmlns:a="http://schemas.openxmlformats.org/drawingml/2006/main">
              <a:ext uri="{FF2B5EF4-FFF2-40B4-BE49-F238E27FC236}">
                <a16:creationId xmlns:a16="http://schemas.microsoft.com/office/drawing/2014/main" id="{B4DFCBF8-A20E-4080-B027-5DC3E8FD8D97}"/>
              </a:ext>
            </a:extLst>
          </p:cNvPr>
          <p:cNvSpPr>
            <a:spLocks xmlns:a="http://schemas.openxmlformats.org/drawingml/2006/main" noGrp="1"/>
          </p:cNvSpPr>
          <p:nvPr/>
        </p:nvSpPr>
        <p:spPr>
          <a:xfrm xmlns:a="http://schemas.openxmlformats.org/drawingml/2006/main">
            <a:off x="742950" y="1049655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0">
                <a:solidFill>
                  <a:srgbClr val="183B39"/>
                </a:solidFill>
              </a:defRPr>
            </a:pPr>
            <a:r>
              <a:rPr sz="713" b="0">
                <a:solidFill>
                  <a:srgbClr val="183B39"/>
                </a:solidFill>
              </a:rPr>
              <a:t>Reliance: ₹0.67 Cr offtake; 82.5%.</a:t>
            </a:r>
          </a:p>
        </p:txBody>
      </p:sp>
      <p:sp>
        <p:nvSpPr>
          <p:cNvPr id="92" name="">
            <a:extLst xmlns:a="http://schemas.openxmlformats.org/drawingml/2006/main">
              <a:ext uri="{FF2B5EF4-FFF2-40B4-BE49-F238E27FC236}">
                <a16:creationId xmlns:a16="http://schemas.microsoft.com/office/drawing/2014/main" id="{7A16AF58-9AC3-452C-BF9B-224988BC3673}"/>
              </a:ext>
            </a:extLst>
          </p:cNvPr>
          <p:cNvSpPr>
            <a:spLocks xmlns:a="http://schemas.openxmlformats.org/drawingml/2006/main" noGrp="1"/>
          </p:cNvSpPr>
          <p:nvPr/>
        </p:nvSpPr>
        <p:spPr>
          <a:xfrm xmlns:a="http://schemas.openxmlformats.org/drawingml/2006/main">
            <a:off x="2438400" y="10458450"/>
            <a:ext cx="1981200" cy="514350"/>
          </a:xfrm>
          <a:prstGeom xmlns:a="http://schemas.openxmlformats.org/drawingml/2006/main" prst="roundRect">
            <a:avLst>
              <a:gd name="adj" fmla="val 14815"/>
            </a:avLst>
          </a:prstGeom>
          <a:solidFill xmlns:a="http://schemas.openxmlformats.org/drawingml/2006/main">
            <a:srgbClr val="FFFFFF"/>
          </a:solidFill>
          <a:ln xmlns:a="http://schemas.openxmlformats.org/drawingml/2006/main" w="9525">
            <a:solidFill>
              <a:srgbClr val="C8DCD7"/>
            </a:solidFill>
            <a:prstDash val="solid"/>
          </a:ln>
        </p:spPr>
      </p:sp>
      <p:sp>
        <p:nvSpPr>
          <p:cNvPr id="93" name="">
            <a:extLst xmlns:a="http://schemas.openxmlformats.org/drawingml/2006/main">
              <a:ext uri="{FF2B5EF4-FFF2-40B4-BE49-F238E27FC236}">
                <a16:creationId xmlns:a16="http://schemas.microsoft.com/office/drawing/2014/main" id="{3332826A-29D8-4B00-893D-89F745742B23}"/>
              </a:ext>
            </a:extLst>
          </p:cNvPr>
          <p:cNvSpPr>
            <a:spLocks xmlns:a="http://schemas.openxmlformats.org/drawingml/2006/main" noGrp="1"/>
          </p:cNvSpPr>
          <p:nvPr/>
        </p:nvSpPr>
        <p:spPr>
          <a:xfrm xmlns:a="http://schemas.openxmlformats.org/drawingml/2006/main">
            <a:off x="2495550" y="1050607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D6544D"/>
                </a:solidFill>
              </a:defRPr>
            </a:pPr>
            <a:r>
              <a:rPr sz="675" b="1">
                <a:solidFill>
                  <a:srgbClr val="D6544D"/>
                </a:solidFill>
              </a:rPr>
              <a:t>14</a:t>
            </a:r>
          </a:p>
        </p:txBody>
      </p:sp>
      <p:sp>
        <p:nvSpPr>
          <p:cNvPr id="94" name="">
            <a:extLst xmlns:a="http://schemas.openxmlformats.org/drawingml/2006/main">
              <a:ext uri="{FF2B5EF4-FFF2-40B4-BE49-F238E27FC236}">
                <a16:creationId xmlns:a16="http://schemas.microsoft.com/office/drawing/2014/main" id="{AD81446C-D728-49F5-AA80-93AA2A84F65B}"/>
              </a:ext>
            </a:extLst>
          </p:cNvPr>
          <p:cNvSpPr>
            <a:spLocks xmlns:a="http://schemas.openxmlformats.org/drawingml/2006/main" noGrp="1"/>
          </p:cNvSpPr>
          <p:nvPr/>
        </p:nvSpPr>
        <p:spPr>
          <a:xfrm xmlns:a="http://schemas.openxmlformats.org/drawingml/2006/main">
            <a:off x="2819400" y="1049655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0">
                <a:solidFill>
                  <a:srgbClr val="183B39"/>
                </a:solidFill>
              </a:defRPr>
            </a:pPr>
            <a:r>
              <a:rPr sz="713" b="0">
                <a:solidFill>
                  <a:srgbClr val="183B39"/>
                </a:solidFill>
              </a:rPr>
              <a:t>The leading chain contributes 39.7% of zone offtake.</a:t>
            </a:r>
          </a:p>
        </p:txBody>
      </p:sp>
      <p:sp>
        <p:nvSpPr>
          <p:cNvPr id="95" name="">
            <a:extLst xmlns:a="http://schemas.openxmlformats.org/drawingml/2006/main">
              <a:ext uri="{FF2B5EF4-FFF2-40B4-BE49-F238E27FC236}">
                <a16:creationId xmlns:a16="http://schemas.microsoft.com/office/drawing/2014/main" id="{5BF71CDD-A172-4AD5-A792-359DA7742BB9}"/>
              </a:ext>
            </a:extLst>
          </p:cNvPr>
          <p:cNvSpPr>
            <a:spLocks xmlns:a="http://schemas.openxmlformats.org/drawingml/2006/main" noGrp="1"/>
          </p:cNvSpPr>
          <p:nvPr/>
        </p:nvSpPr>
        <p:spPr>
          <a:xfrm xmlns:a="http://schemas.openxmlformats.org/drawingml/2006/main">
            <a:off x="4514850" y="10458450"/>
            <a:ext cx="1981200" cy="514350"/>
          </a:xfrm>
          <a:prstGeom xmlns:a="http://schemas.openxmlformats.org/drawingml/2006/main" prst="roundRect">
            <a:avLst>
              <a:gd name="adj" fmla="val 14815"/>
            </a:avLst>
          </a:prstGeom>
          <a:solidFill xmlns:a="http://schemas.openxmlformats.org/drawingml/2006/main">
            <a:srgbClr val="FFFFFF"/>
          </a:solidFill>
          <a:ln xmlns:a="http://schemas.openxmlformats.org/drawingml/2006/main" w="9525">
            <a:solidFill>
              <a:srgbClr val="C8DCD7"/>
            </a:solidFill>
            <a:prstDash val="solid"/>
          </a:ln>
        </p:spPr>
      </p:sp>
      <p:sp>
        <p:nvSpPr>
          <p:cNvPr id="96" name="">
            <a:extLst xmlns:a="http://schemas.openxmlformats.org/drawingml/2006/main">
              <a:ext uri="{FF2B5EF4-FFF2-40B4-BE49-F238E27FC236}">
                <a16:creationId xmlns:a16="http://schemas.microsoft.com/office/drawing/2014/main" id="{0D711C07-2FF4-46E1-A786-2903858E4A95}"/>
              </a:ext>
            </a:extLst>
          </p:cNvPr>
          <p:cNvSpPr>
            <a:spLocks xmlns:a="http://schemas.openxmlformats.org/drawingml/2006/main" noGrp="1"/>
          </p:cNvSpPr>
          <p:nvPr/>
        </p:nvSpPr>
        <p:spPr>
          <a:xfrm xmlns:a="http://schemas.openxmlformats.org/drawingml/2006/main">
            <a:off x="4572000" y="1050607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D6544D"/>
                </a:solidFill>
              </a:defRPr>
            </a:pPr>
            <a:r>
              <a:rPr sz="675" b="1">
                <a:solidFill>
                  <a:srgbClr val="D6544D"/>
                </a:solidFill>
              </a:rPr>
              <a:t>15</a:t>
            </a:r>
          </a:p>
        </p:txBody>
      </p:sp>
      <p:sp>
        <p:nvSpPr>
          <p:cNvPr id="97" name="">
            <a:extLst xmlns:a="http://schemas.openxmlformats.org/drawingml/2006/main">
              <a:ext uri="{FF2B5EF4-FFF2-40B4-BE49-F238E27FC236}">
                <a16:creationId xmlns:a16="http://schemas.microsoft.com/office/drawing/2014/main" id="{85768420-87D9-4A18-881C-1B9CA09897C4}"/>
              </a:ext>
            </a:extLst>
          </p:cNvPr>
          <p:cNvSpPr>
            <a:spLocks xmlns:a="http://schemas.openxmlformats.org/drawingml/2006/main" noGrp="1"/>
          </p:cNvSpPr>
          <p:nvPr/>
        </p:nvSpPr>
        <p:spPr>
          <a:xfrm xmlns:a="http://schemas.openxmlformats.org/drawingml/2006/main">
            <a:off x="4895850" y="1049655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0">
                <a:solidFill>
                  <a:srgbClr val="183B39"/>
                </a:solidFill>
              </a:defRPr>
            </a:pPr>
            <a:r>
              <a:rPr sz="713" b="0">
                <a:solidFill>
                  <a:srgbClr val="183B39"/>
                </a:solidFill>
              </a:rPr>
              <a:t>The top three chains contribute 86.6% of zone offtake.</a:t>
            </a:r>
          </a:p>
        </p:txBody>
      </p:sp>
      <p:sp>
        <p:nvSpPr>
          <p:cNvPr id="98" name="">
            <a:extLst xmlns:a="http://schemas.openxmlformats.org/drawingml/2006/main">
              <a:ext uri="{FF2B5EF4-FFF2-40B4-BE49-F238E27FC236}">
                <a16:creationId xmlns:a16="http://schemas.microsoft.com/office/drawing/2014/main" id="{74398E91-C76D-44CB-B892-03B61F326E39}"/>
              </a:ext>
            </a:extLst>
          </p:cNvPr>
          <p:cNvSpPr>
            <a:spLocks xmlns:a="http://schemas.openxmlformats.org/drawingml/2006/main" noGrp="1"/>
          </p:cNvSpPr>
          <p:nvPr/>
        </p:nvSpPr>
        <p:spPr>
          <a:xfrm xmlns:a="http://schemas.openxmlformats.org/drawingml/2006/main">
            <a:off x="381000" y="11239500"/>
            <a:ext cx="6096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750" b="0">
                <a:solidFill>
                  <a:srgbClr val="5F716E"/>
                </a:solidFill>
              </a:defRPr>
            </a:pPr>
            <a:r>
              <a:rPr sz="750" b="0">
                <a:solidFill>
                  <a:srgbClr val="5F716E"/>
                </a:solidFill>
              </a:rPr>
              <a:t>South-2 NPI mix 6.4% | Priority: DMart × hero-EAN availability</a:t>
            </a:r>
          </a:p>
        </p:txBody>
      </p:sp>
      <p:sp>
        <p:nvSpPr>
          <p:cNvPr id="99" name="">
            <a:extLst xmlns:a="http://schemas.openxmlformats.org/drawingml/2006/main">
              <a:ext uri="{FF2B5EF4-FFF2-40B4-BE49-F238E27FC236}">
                <a16:creationId xmlns:a16="http://schemas.microsoft.com/office/drawing/2014/main" id="{733D9E95-7DCE-44A7-817B-72EB9C87283B}"/>
              </a:ext>
            </a:extLst>
          </p:cNvPr>
          <p:cNvSpPr>
            <a:spLocks xmlns:a="http://schemas.openxmlformats.org/drawingml/2006/main" noGrp="1"/>
          </p:cNvSpPr>
          <p:nvPr/>
        </p:nvSpPr>
        <p:spPr>
          <a:xfrm xmlns:a="http://schemas.openxmlformats.org/drawingml/2006/main">
            <a:off x="361950" y="11544300"/>
            <a:ext cx="6134100" cy="457200"/>
          </a:xfrm>
          <a:prstGeom xmlns:a="http://schemas.openxmlformats.org/drawingml/2006/main" prst="roundRect">
            <a:avLst>
              <a:gd name="adj" fmla="val 16667"/>
            </a:avLst>
          </a:prstGeom>
          <a:solidFill xmlns:a="http://schemas.openxmlformats.org/drawingml/2006/main">
            <a:srgbClr val="DFF2ED"/>
          </a:solidFill>
          <a:ln xmlns:a="http://schemas.openxmlformats.org/drawingml/2006/main" w="9525">
            <a:solidFill>
              <a:srgbClr val="28A596"/>
            </a:solidFill>
            <a:prstDash val="solid"/>
          </a:ln>
        </p:spPr>
      </p:sp>
      <p:sp>
        <p:nvSpPr>
          <p:cNvPr id="100" name="">
            <a:extLst xmlns:a="http://schemas.openxmlformats.org/drawingml/2006/main">
              <a:ext uri="{FF2B5EF4-FFF2-40B4-BE49-F238E27FC236}">
                <a16:creationId xmlns:a16="http://schemas.microsoft.com/office/drawing/2014/main" id="{8D381824-E064-49D4-B85F-ADBB96CBA9F0}"/>
              </a:ext>
            </a:extLst>
          </p:cNvPr>
          <p:cNvSpPr>
            <a:spLocks xmlns:a="http://schemas.openxmlformats.org/drawingml/2006/main" noGrp="1"/>
          </p:cNvSpPr>
          <p:nvPr/>
        </p:nvSpPr>
        <p:spPr>
          <a:xfrm xmlns:a="http://schemas.openxmlformats.org/drawingml/2006/main">
            <a:off x="438150" y="11582400"/>
            <a:ext cx="142875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38" b="1">
                <a:solidFill>
                  <a:srgbClr val="116F68"/>
                </a:solidFill>
              </a:defRPr>
            </a:pPr>
            <a:r>
              <a:rPr sz="638" b="1">
                <a:solidFill>
                  <a:srgbClr val="116F68"/>
                </a:solidFill>
              </a:rPr>
              <a:t>EVIDENCE</a:t>
            </a:r>
          </a:p>
        </p:txBody>
      </p:sp>
      <p:sp>
        <p:nvSpPr>
          <p:cNvPr id="101" name="">
            <a:extLst xmlns:a="http://schemas.openxmlformats.org/drawingml/2006/main">
              <a:ext uri="{FF2B5EF4-FFF2-40B4-BE49-F238E27FC236}">
                <a16:creationId xmlns:a16="http://schemas.microsoft.com/office/drawing/2014/main" id="{01FD7089-EC16-4C55-9565-45298BC72AB7}"/>
              </a:ext>
            </a:extLst>
          </p:cNvPr>
          <p:cNvSpPr>
            <a:spLocks xmlns:a="http://schemas.openxmlformats.org/drawingml/2006/main" noGrp="1"/>
          </p:cNvSpPr>
          <p:nvPr/>
        </p:nvSpPr>
        <p:spPr>
          <a:xfrm xmlns:a="http://schemas.openxmlformats.org/drawingml/2006/main">
            <a:off x="438150" y="11734800"/>
            <a:ext cx="1428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00" b="0">
                <a:solidFill>
                  <a:srgbClr val="183B39"/>
                </a:solidFill>
              </a:defRPr>
            </a:pPr>
            <a:r>
              <a:rPr sz="600" b="0">
                <a:solidFill>
                  <a:srgbClr val="183B39"/>
                </a:solidFill>
              </a:rPr>
              <a:t>S-2 ₹6.89 Cr primary vs ₹4.91 Cr offtake; DMart S-2 at 45.1% is the lowest DMart conversion nationally; Apollo S-2 at 148.5% signals overbilling</a:t>
            </a:r>
          </a:p>
        </p:txBody>
      </p:sp>
      <p:sp>
        <p:nvSpPr>
          <p:cNvPr id="102" name="">
            <a:extLst xmlns:a="http://schemas.openxmlformats.org/drawingml/2006/main">
              <a:ext uri="{FF2B5EF4-FFF2-40B4-BE49-F238E27FC236}">
                <a16:creationId xmlns:a16="http://schemas.microsoft.com/office/drawing/2014/main" id="{6C25DED2-ED11-452C-A08A-62F1E74A3FA3}"/>
              </a:ext>
            </a:extLst>
          </p:cNvPr>
          <p:cNvSpPr>
            <a:spLocks xmlns:a="http://schemas.openxmlformats.org/drawingml/2006/main" noGrp="1"/>
          </p:cNvSpPr>
          <p:nvPr/>
        </p:nvSpPr>
        <p:spPr>
          <a:xfrm xmlns:a="http://schemas.openxmlformats.org/drawingml/2006/main">
            <a:off x="1924050" y="11610975"/>
            <a:ext cx="0" cy="304800"/>
          </a:xfrm>
          <a:prstGeom xmlns:a="http://schemas.openxmlformats.org/drawingml/2006/main" prst="line">
            <a:avLst/>
          </a:prstGeom>
          <a:ln xmlns:a="http://schemas.openxmlformats.org/drawingml/2006/main" w="9525">
            <a:solidFill>
              <a:srgbClr val="C8DCD7"/>
            </a:solidFill>
            <a:prstDash val="solid"/>
          </a:ln>
        </p:spPr>
      </p:sp>
      <p:sp>
        <p:nvSpPr>
          <p:cNvPr id="103" name="">
            <a:extLst xmlns:a="http://schemas.openxmlformats.org/drawingml/2006/main">
              <a:ext uri="{FF2B5EF4-FFF2-40B4-BE49-F238E27FC236}">
                <a16:creationId xmlns:a16="http://schemas.microsoft.com/office/drawing/2014/main" id="{E41B40EA-8D72-43A7-8D05-944689093206}"/>
              </a:ext>
            </a:extLst>
          </p:cNvPr>
          <p:cNvSpPr>
            <a:spLocks xmlns:a="http://schemas.openxmlformats.org/drawingml/2006/main" noGrp="1"/>
          </p:cNvSpPr>
          <p:nvPr/>
        </p:nvSpPr>
        <p:spPr>
          <a:xfrm xmlns:a="http://schemas.openxmlformats.org/drawingml/2006/main">
            <a:off x="1952625" y="11582400"/>
            <a:ext cx="142875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38" b="1">
                <a:solidFill>
                  <a:srgbClr val="116F68"/>
                </a:solidFill>
              </a:defRPr>
            </a:pPr>
            <a:r>
              <a:rPr sz="638" b="1">
                <a:solidFill>
                  <a:srgbClr val="116F68"/>
                </a:solidFill>
              </a:rPr>
              <a:t>IMPLICATION</a:t>
            </a:r>
          </a:p>
        </p:txBody>
      </p:sp>
      <p:sp>
        <p:nvSpPr>
          <p:cNvPr id="104" name="">
            <a:extLst xmlns:a="http://schemas.openxmlformats.org/drawingml/2006/main">
              <a:ext uri="{FF2B5EF4-FFF2-40B4-BE49-F238E27FC236}">
                <a16:creationId xmlns:a16="http://schemas.microsoft.com/office/drawing/2014/main" id="{0EECED6D-D18A-4A1F-9FA5-71E486A7D158}"/>
              </a:ext>
            </a:extLst>
          </p:cNvPr>
          <p:cNvSpPr>
            <a:spLocks xmlns:a="http://schemas.openxmlformats.org/drawingml/2006/main" noGrp="1"/>
          </p:cNvSpPr>
          <p:nvPr/>
        </p:nvSpPr>
        <p:spPr>
          <a:xfrm xmlns:a="http://schemas.openxmlformats.org/drawingml/2006/main">
            <a:off x="1952625" y="11734800"/>
            <a:ext cx="1428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00" b="0">
                <a:solidFill>
                  <a:srgbClr val="183B39"/>
                </a:solidFill>
              </a:defRPr>
            </a:pPr>
            <a:r>
              <a:rPr sz="600" b="0">
                <a:solidFill>
                  <a:srgbClr val="183B39"/>
                </a:solidFill>
              </a:rPr>
              <a:t>DMart S-2 is the highest-value DMart recovery opportunity nationally; Apollo's &gt;100% rate is a data risk — treating it as a success signal would justify loading into an already full pipe</a:t>
            </a:r>
          </a:p>
        </p:txBody>
      </p:sp>
      <p:sp>
        <p:nvSpPr>
          <p:cNvPr id="105" name="">
            <a:extLst xmlns:a="http://schemas.openxmlformats.org/drawingml/2006/main">
              <a:ext uri="{FF2B5EF4-FFF2-40B4-BE49-F238E27FC236}">
                <a16:creationId xmlns:a16="http://schemas.microsoft.com/office/drawing/2014/main" id="{87F7F61E-EF25-4067-A732-4F475104E976}"/>
              </a:ext>
            </a:extLst>
          </p:cNvPr>
          <p:cNvSpPr>
            <a:spLocks xmlns:a="http://schemas.openxmlformats.org/drawingml/2006/main" noGrp="1"/>
          </p:cNvSpPr>
          <p:nvPr/>
        </p:nvSpPr>
        <p:spPr>
          <a:xfrm xmlns:a="http://schemas.openxmlformats.org/drawingml/2006/main">
            <a:off x="3438525" y="11610975"/>
            <a:ext cx="0" cy="304800"/>
          </a:xfrm>
          <a:prstGeom xmlns:a="http://schemas.openxmlformats.org/drawingml/2006/main" prst="line">
            <a:avLst/>
          </a:prstGeom>
          <a:ln xmlns:a="http://schemas.openxmlformats.org/drawingml/2006/main" w="9525">
            <a:solidFill>
              <a:srgbClr val="C8DCD7"/>
            </a:solidFill>
            <a:prstDash val="solid"/>
          </a:ln>
        </p:spPr>
      </p:sp>
      <p:sp>
        <p:nvSpPr>
          <p:cNvPr id="106" name="">
            <a:extLst xmlns:a="http://schemas.openxmlformats.org/drawingml/2006/main">
              <a:ext uri="{FF2B5EF4-FFF2-40B4-BE49-F238E27FC236}">
                <a16:creationId xmlns:a16="http://schemas.microsoft.com/office/drawing/2014/main" id="{104C6ECC-26D7-428B-8D6E-398CED933077}"/>
              </a:ext>
            </a:extLst>
          </p:cNvPr>
          <p:cNvSpPr>
            <a:spLocks xmlns:a="http://schemas.openxmlformats.org/drawingml/2006/main" noGrp="1"/>
          </p:cNvSpPr>
          <p:nvPr/>
        </p:nvSpPr>
        <p:spPr>
          <a:xfrm xmlns:a="http://schemas.openxmlformats.org/drawingml/2006/main">
            <a:off x="3467100" y="11582400"/>
            <a:ext cx="142875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38" b="1">
                <a:solidFill>
                  <a:srgbClr val="116F68"/>
                </a:solidFill>
              </a:defRPr>
            </a:pPr>
            <a:r>
              <a:rPr sz="638" b="1">
                <a:solidFill>
                  <a:srgbClr val="116F68"/>
                </a:solidFill>
              </a:rPr>
              <a:t>ACTION</a:t>
            </a:r>
          </a:p>
        </p:txBody>
      </p:sp>
      <p:sp>
        <p:nvSpPr>
          <p:cNvPr id="107" name="">
            <a:extLst xmlns:a="http://schemas.openxmlformats.org/drawingml/2006/main">
              <a:ext uri="{FF2B5EF4-FFF2-40B4-BE49-F238E27FC236}">
                <a16:creationId xmlns:a16="http://schemas.microsoft.com/office/drawing/2014/main" id="{B271941A-E974-4F42-82C6-5A47FF17D746}"/>
              </a:ext>
            </a:extLst>
          </p:cNvPr>
          <p:cNvSpPr>
            <a:spLocks xmlns:a="http://schemas.openxmlformats.org/drawingml/2006/main" noGrp="1"/>
          </p:cNvSpPr>
          <p:nvPr/>
        </p:nvSpPr>
        <p:spPr>
          <a:xfrm xmlns:a="http://schemas.openxmlformats.org/drawingml/2006/main">
            <a:off x="3467100" y="11734800"/>
            <a:ext cx="1428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00" b="0">
                <a:solidFill>
                  <a:srgbClr val="183B39"/>
                </a:solidFill>
              </a:defRPr>
            </a:pPr>
            <a:r>
              <a:rPr sz="600" b="0">
                <a:solidFill>
                  <a:srgbClr val="183B39"/>
                </a:solidFill>
              </a:rPr>
              <a:t>DMart NKAM to run S-2 store-level audit by 28-Aug; quarantine Apollo S-2 primary comparison until opening stock is reconciled; freeze new Apollo S-2 loading</a:t>
            </a:r>
          </a:p>
        </p:txBody>
      </p:sp>
      <p:sp>
        <p:nvSpPr>
          <p:cNvPr id="108" name="">
            <a:extLst xmlns:a="http://schemas.openxmlformats.org/drawingml/2006/main">
              <a:ext uri="{FF2B5EF4-FFF2-40B4-BE49-F238E27FC236}">
                <a16:creationId xmlns:a16="http://schemas.microsoft.com/office/drawing/2014/main" id="{DA476811-EFD2-4764-B136-CA9B32B1994E}"/>
              </a:ext>
            </a:extLst>
          </p:cNvPr>
          <p:cNvSpPr>
            <a:spLocks xmlns:a="http://schemas.openxmlformats.org/drawingml/2006/main" noGrp="1"/>
          </p:cNvSpPr>
          <p:nvPr/>
        </p:nvSpPr>
        <p:spPr>
          <a:xfrm xmlns:a="http://schemas.openxmlformats.org/drawingml/2006/main">
            <a:off x="4953000" y="11610975"/>
            <a:ext cx="0" cy="304800"/>
          </a:xfrm>
          <a:prstGeom xmlns:a="http://schemas.openxmlformats.org/drawingml/2006/main" prst="line">
            <a:avLst/>
          </a:prstGeom>
          <a:ln xmlns:a="http://schemas.openxmlformats.org/drawingml/2006/main" w="9525">
            <a:solidFill>
              <a:srgbClr val="C8DCD7"/>
            </a:solidFill>
            <a:prstDash val="solid"/>
          </a:ln>
        </p:spPr>
      </p:sp>
      <p:sp>
        <p:nvSpPr>
          <p:cNvPr id="109" name="">
            <a:extLst xmlns:a="http://schemas.openxmlformats.org/drawingml/2006/main">
              <a:ext uri="{FF2B5EF4-FFF2-40B4-BE49-F238E27FC236}">
                <a16:creationId xmlns:a16="http://schemas.microsoft.com/office/drawing/2014/main" id="{C28342FC-AC40-46D1-90A5-C723BDA5B6A9}"/>
              </a:ext>
            </a:extLst>
          </p:cNvPr>
          <p:cNvSpPr>
            <a:spLocks xmlns:a="http://schemas.openxmlformats.org/drawingml/2006/main" noGrp="1"/>
          </p:cNvSpPr>
          <p:nvPr/>
        </p:nvSpPr>
        <p:spPr>
          <a:xfrm xmlns:a="http://schemas.openxmlformats.org/drawingml/2006/main">
            <a:off x="4981575" y="11582400"/>
            <a:ext cx="142875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38" b="1">
                <a:solidFill>
                  <a:srgbClr val="116F68"/>
                </a:solidFill>
              </a:defRPr>
            </a:pPr>
            <a:r>
              <a:rPr sz="638" b="1">
                <a:solidFill>
                  <a:srgbClr val="116F68"/>
                </a:solidFill>
              </a:rPr>
              <a:t>OWNER</a:t>
            </a:r>
          </a:p>
        </p:txBody>
      </p:sp>
      <p:sp>
        <p:nvSpPr>
          <p:cNvPr id="110" name="">
            <a:extLst xmlns:a="http://schemas.openxmlformats.org/drawingml/2006/main">
              <a:ext uri="{FF2B5EF4-FFF2-40B4-BE49-F238E27FC236}">
                <a16:creationId xmlns:a16="http://schemas.microsoft.com/office/drawing/2014/main" id="{9501B35F-8354-44F3-9A84-A8B3D57399DD}"/>
              </a:ext>
            </a:extLst>
          </p:cNvPr>
          <p:cNvSpPr>
            <a:spLocks xmlns:a="http://schemas.openxmlformats.org/drawingml/2006/main" noGrp="1"/>
          </p:cNvSpPr>
          <p:nvPr/>
        </p:nvSpPr>
        <p:spPr>
          <a:xfrm xmlns:a="http://schemas.openxmlformats.org/drawingml/2006/main">
            <a:off x="4981575" y="11734800"/>
            <a:ext cx="1428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00" b="0">
                <a:solidFill>
                  <a:srgbClr val="183B39"/>
                </a:solidFill>
              </a:defRPr>
            </a:pPr>
            <a:r>
              <a:rPr sz="600" b="0">
                <a:solidFill>
                  <a:srgbClr val="183B39"/>
                </a:solidFill>
              </a:rPr>
              <a:t>NKAM DMart S-2 + Analytics | 28-Aug</a:t>
            </a:r>
          </a:p>
        </p:txBody>
      </p:sp>
    </p:spTree>
    <p:extLst>
      <p:ext uri="{BB962C8B-B14F-4D97-AF65-F5344CB8AC3E}">
        <p14:creationId xmlns:p14="http://schemas.microsoft.com/office/powerpoint/2010/main" val="187009146"/>
      </p:ext>
    </p:extLst>
  </p:cSld>
</p:sld>
</file>

<file path=ppt/slides/slide9.xml><?xml version="1.0" encoding="utf-8"?>
<p:sld xmlns:p="http://schemas.openxmlformats.org/presentationml/2006/main">
  <p:cSld>
    <p:bg>
      <p:bgPr>
        <a:solidFill xmlns:a="http://schemas.openxmlformats.org/drawingml/2006/main">
          <a:srgbClr val="F7FBFA"/>
        </a:solidFill>
      </p:bgPr>
    </p:bg>
    <p:spTree>
      <p:nvGrpSpPr>
        <p:cNvPr id="1" name=""/>
        <p:cNvGrpSpPr/>
        <p:nvPr/>
      </p:nvGrpSpPr>
      <p:grpSpPr>
        <a:xfrm xmlns:a="http://schemas.openxmlformats.org/drawingml/2006/main"/>
      </p:grpSpPr>
      <p:sp>
        <p:nvSpPr>
          <p:cNvPr id="112" name="">
            <a:extLst xmlns:a="http://schemas.openxmlformats.org/drawingml/2006/main">
              <a:ext uri="{FF2B5EF4-FFF2-40B4-BE49-F238E27FC236}">
                <a16:creationId xmlns:a16="http://schemas.microsoft.com/office/drawing/2014/main" id="{1227A374-2450-4B2A-9F4C-396CD005A761}"/>
              </a:ext>
            </a:extLst>
          </p:cNvPr>
          <p:cNvSpPr>
            <a:spLocks xmlns:a="http://schemas.openxmlformats.org/drawingml/2006/main" noGrp="1"/>
          </p:cNvSpPr>
          <p:nvPr/>
        </p:nvSpPr>
        <p:spPr>
          <a:xfrm xmlns:a="http://schemas.openxmlformats.org/drawingml/2006/main">
            <a:off x="0" y="0"/>
            <a:ext cx="6858000" cy="1000125"/>
          </a:xfrm>
          <a:prstGeom xmlns:a="http://schemas.openxmlformats.org/drawingml/2006/main" prst="rect">
            <a:avLst/>
          </a:prstGeom>
          <a:solidFill xmlns:a="http://schemas.openxmlformats.org/drawingml/2006/main">
            <a:srgbClr val="116F68"/>
          </a:solidFill>
          <a:ln xmlns:a="http://schemas.openxmlformats.org/drawingml/2006/main" w="0">
            <a:solidFill>
              <a:srgbClr val="116F68"/>
            </a:solidFill>
            <a:prstDash val="solid"/>
          </a:ln>
        </p:spPr>
      </p:sp>
      <p:sp>
        <p:nvSpPr>
          <p:cNvPr id="2" name="">
            <a:extLst xmlns:a="http://schemas.openxmlformats.org/drawingml/2006/main">
              <a:ext uri="{FF2B5EF4-FFF2-40B4-BE49-F238E27FC236}">
                <a16:creationId xmlns:a16="http://schemas.microsoft.com/office/drawing/2014/main" id="{FD240BD7-BA21-4653-A7EE-67B7FEE23208}"/>
              </a:ext>
            </a:extLst>
          </p:cNvPr>
          <p:cNvSpPr>
            <a:spLocks xmlns:a="http://schemas.openxmlformats.org/drawingml/2006/main" noGrp="1"/>
          </p:cNvSpPr>
          <p:nvPr/>
        </p:nvSpPr>
        <p:spPr>
          <a:xfrm xmlns:a="http://schemas.openxmlformats.org/drawingml/2006/main">
            <a:off x="361950" y="228600"/>
            <a:ext cx="59055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2025" b="1">
                <a:solidFill>
                  <a:srgbClr val="FFFFFF"/>
                </a:solidFill>
              </a:defRPr>
            </a:pPr>
            <a:r>
              <a:rPr sz="2025" b="1">
                <a:solidFill>
                  <a:srgbClr val="FFFFFF"/>
                </a:solidFill>
              </a:rPr>
              <a:t>East: Urgent gap closure</a:t>
            </a:r>
          </a:p>
        </p:txBody>
      </p:sp>
      <p:sp>
        <p:nvSpPr>
          <p:cNvPr id="3" name="">
            <a:extLst xmlns:a="http://schemas.openxmlformats.org/drawingml/2006/main">
              <a:ext uri="{FF2B5EF4-FFF2-40B4-BE49-F238E27FC236}">
                <a16:creationId xmlns:a16="http://schemas.microsoft.com/office/drawing/2014/main" id="{3CBD3621-7FC4-4050-86D5-168E1F3FA811}"/>
              </a:ext>
            </a:extLst>
          </p:cNvPr>
          <p:cNvSpPr>
            <a:spLocks xmlns:a="http://schemas.openxmlformats.org/drawingml/2006/main" noGrp="1"/>
          </p:cNvSpPr>
          <p:nvPr/>
        </p:nvSpPr>
        <p:spPr>
          <a:xfrm xmlns:a="http://schemas.openxmlformats.org/drawingml/2006/main">
            <a:off x="381000" y="695325"/>
            <a:ext cx="57150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75" b="0">
                <a:solidFill>
                  <a:srgbClr val="DFF2ED"/>
                </a:solidFill>
              </a:defRPr>
            </a:pPr>
            <a:r>
              <a:rPr sz="975" b="0">
                <a:solidFill>
                  <a:srgbClr val="DFF2ED"/>
                </a:solidFill>
              </a:rPr>
              <a:t>Zone deep dive | July 2026 | ₹ Cr</a:t>
            </a:r>
          </a:p>
        </p:txBody>
      </p:sp>
      <p:sp>
        <p:nvSpPr>
          <p:cNvPr id="4" name="">
            <a:extLst xmlns:a="http://schemas.openxmlformats.org/drawingml/2006/main">
              <a:ext uri="{FF2B5EF4-FFF2-40B4-BE49-F238E27FC236}">
                <a16:creationId xmlns:a16="http://schemas.microsoft.com/office/drawing/2014/main" id="{C4F97C69-8536-40E8-868C-3E6AA43668A4}"/>
              </a:ext>
            </a:extLst>
          </p:cNvPr>
          <p:cNvSpPr>
            <a:spLocks xmlns:a="http://schemas.openxmlformats.org/drawingml/2006/main" noGrp="1"/>
          </p:cNvSpPr>
          <p:nvPr/>
        </p:nvSpPr>
        <p:spPr>
          <a:xfrm xmlns:a="http://schemas.openxmlformats.org/drawingml/2006/main">
            <a:off x="6191250" y="361950"/>
            <a:ext cx="3429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900" b="1">
                <a:solidFill>
                  <a:srgbClr val="FFFFFF"/>
                </a:solidFill>
              </a:defRPr>
            </a:pPr>
            <a:r>
              <a:rPr sz="900" b="1">
                <a:solidFill>
                  <a:srgbClr val="FFFFFF"/>
                </a:solidFill>
              </a:rPr>
              <a:t>09</a:t>
            </a:r>
          </a:p>
        </p:txBody>
      </p:sp>
      <p:sp>
        <p:nvSpPr>
          <p:cNvPr id="5" name="">
            <a:extLst xmlns:a="http://schemas.openxmlformats.org/drawingml/2006/main">
              <a:ext uri="{FF2B5EF4-FFF2-40B4-BE49-F238E27FC236}">
                <a16:creationId xmlns:a16="http://schemas.microsoft.com/office/drawing/2014/main" id="{30141239-FC20-4A26-9066-97DB747E537E}"/>
              </a:ext>
            </a:extLst>
          </p:cNvPr>
          <p:cNvSpPr>
            <a:spLocks xmlns:a="http://schemas.openxmlformats.org/drawingml/2006/main" noGrp="1"/>
          </p:cNvSpPr>
          <p:nvPr/>
        </p:nvSpPr>
        <p:spPr>
          <a:xfrm xmlns:a="http://schemas.openxmlformats.org/drawingml/2006/main">
            <a:off x="361950" y="1285875"/>
            <a:ext cx="140970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9525">
            <a:solidFill>
              <a:srgbClr val="C8DCD7"/>
            </a:solidFill>
            <a:prstDash val="solid"/>
          </a:ln>
        </p:spPr>
      </p:sp>
      <p:sp>
        <p:nvSpPr>
          <p:cNvPr id="6" name="">
            <a:extLst xmlns:a="http://schemas.openxmlformats.org/drawingml/2006/main">
              <a:ext uri="{FF2B5EF4-FFF2-40B4-BE49-F238E27FC236}">
                <a16:creationId xmlns:a16="http://schemas.microsoft.com/office/drawing/2014/main" id="{1FB37501-2075-4783-A5F7-D72B4E663239}"/>
              </a:ext>
            </a:extLst>
          </p:cNvPr>
          <p:cNvSpPr>
            <a:spLocks xmlns:a="http://schemas.openxmlformats.org/drawingml/2006/main" noGrp="1"/>
          </p:cNvSpPr>
          <p:nvPr/>
        </p:nvSpPr>
        <p:spPr>
          <a:xfrm xmlns:a="http://schemas.openxmlformats.org/drawingml/2006/main">
            <a:off x="361950" y="1285875"/>
            <a:ext cx="76200" cy="1066800"/>
          </a:xfrm>
          <a:prstGeom xmlns:a="http://schemas.openxmlformats.org/drawingml/2006/main" prst="rect">
            <a:avLst/>
          </a:prstGeom>
          <a:solidFill xmlns:a="http://schemas.openxmlformats.org/drawingml/2006/main">
            <a:srgbClr val="28A596"/>
          </a:solidFill>
          <a:ln xmlns:a="http://schemas.openxmlformats.org/drawingml/2006/main" w="0">
            <a:solidFill>
              <a:srgbClr val="28A596"/>
            </a:solidFill>
            <a:prstDash val="solid"/>
          </a:ln>
        </p:spPr>
      </p:sp>
      <p:sp>
        <p:nvSpPr>
          <p:cNvPr id="7" name="">
            <a:extLst xmlns:a="http://schemas.openxmlformats.org/drawingml/2006/main">
              <a:ext uri="{FF2B5EF4-FFF2-40B4-BE49-F238E27FC236}">
                <a16:creationId xmlns:a16="http://schemas.microsoft.com/office/drawing/2014/main" id="{C51BD189-4642-4C09-B8B9-BDE168E7A8FF}"/>
              </a:ext>
            </a:extLst>
          </p:cNvPr>
          <p:cNvSpPr>
            <a:spLocks xmlns:a="http://schemas.openxmlformats.org/drawingml/2006/main" noGrp="1"/>
          </p:cNvSpPr>
          <p:nvPr/>
        </p:nvSpPr>
        <p:spPr>
          <a:xfrm xmlns:a="http://schemas.openxmlformats.org/drawingml/2006/main">
            <a:off x="533400" y="1400175"/>
            <a:ext cx="1143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5F716E"/>
                </a:solidFill>
              </a:defRPr>
            </a:pPr>
            <a:r>
              <a:rPr sz="900" b="1">
                <a:solidFill>
                  <a:srgbClr val="5F716E"/>
                </a:solidFill>
              </a:rPr>
              <a:t>PRIMARY</a:t>
            </a:r>
          </a:p>
        </p:txBody>
      </p:sp>
      <p:sp>
        <p:nvSpPr>
          <p:cNvPr id="8" name="">
            <a:extLst xmlns:a="http://schemas.openxmlformats.org/drawingml/2006/main">
              <a:ext uri="{FF2B5EF4-FFF2-40B4-BE49-F238E27FC236}">
                <a16:creationId xmlns:a16="http://schemas.microsoft.com/office/drawing/2014/main" id="{3EA64A26-269C-44AC-B711-10E6D90021A6}"/>
              </a:ext>
            </a:extLst>
          </p:cNvPr>
          <p:cNvSpPr>
            <a:spLocks xmlns:a="http://schemas.openxmlformats.org/drawingml/2006/main" noGrp="1"/>
          </p:cNvSpPr>
          <p:nvPr/>
        </p:nvSpPr>
        <p:spPr>
          <a:xfrm xmlns:a="http://schemas.openxmlformats.org/drawingml/2006/main">
            <a:off x="533400" y="1628775"/>
            <a:ext cx="1143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875" b="1">
                <a:solidFill>
                  <a:srgbClr val="28A596"/>
                </a:solidFill>
              </a:defRPr>
            </a:pPr>
            <a:r>
              <a:rPr sz="1875" b="1">
                <a:solidFill>
                  <a:srgbClr val="28A596"/>
                </a:solidFill>
              </a:rPr>
              <a:t>₹7.83 Cr</a:t>
            </a:r>
          </a:p>
        </p:txBody>
      </p:sp>
      <p:sp>
        <p:nvSpPr>
          <p:cNvPr id="9" name="">
            <a:extLst xmlns:a="http://schemas.openxmlformats.org/drawingml/2006/main">
              <a:ext uri="{FF2B5EF4-FFF2-40B4-BE49-F238E27FC236}">
                <a16:creationId xmlns:a16="http://schemas.microsoft.com/office/drawing/2014/main" id="{D8ACBD09-608A-4D46-BDBF-5FBB1BD0FAC0}"/>
              </a:ext>
            </a:extLst>
          </p:cNvPr>
          <p:cNvSpPr>
            <a:spLocks xmlns:a="http://schemas.openxmlformats.org/drawingml/2006/main" noGrp="1"/>
          </p:cNvSpPr>
          <p:nvPr/>
        </p:nvSpPr>
        <p:spPr>
          <a:xfrm xmlns:a="http://schemas.openxmlformats.org/drawingml/2006/main">
            <a:off x="533400" y="2028825"/>
            <a:ext cx="1143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0">
                <a:solidFill>
                  <a:srgbClr val="5F716E"/>
                </a:solidFill>
              </a:defRPr>
            </a:pPr>
            <a:r>
              <a:rPr sz="825" b="0">
                <a:solidFill>
                  <a:srgbClr val="5F716E"/>
                </a:solidFill>
              </a:rPr>
              <a:t>July billing</a:t>
            </a:r>
          </a:p>
        </p:txBody>
      </p:sp>
      <p:sp>
        <p:nvSpPr>
          <p:cNvPr id="10" name="">
            <a:extLst xmlns:a="http://schemas.openxmlformats.org/drawingml/2006/main">
              <a:ext uri="{FF2B5EF4-FFF2-40B4-BE49-F238E27FC236}">
                <a16:creationId xmlns:a16="http://schemas.microsoft.com/office/drawing/2014/main" id="{84B2DDE4-3FAB-4147-A4EB-C4CEAB19C867}"/>
              </a:ext>
            </a:extLst>
          </p:cNvPr>
          <p:cNvSpPr>
            <a:spLocks xmlns:a="http://schemas.openxmlformats.org/drawingml/2006/main" noGrp="1"/>
          </p:cNvSpPr>
          <p:nvPr/>
        </p:nvSpPr>
        <p:spPr>
          <a:xfrm xmlns:a="http://schemas.openxmlformats.org/drawingml/2006/main">
            <a:off x="1933575" y="1285875"/>
            <a:ext cx="140970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9525">
            <a:solidFill>
              <a:srgbClr val="C8DCD7"/>
            </a:solidFill>
            <a:prstDash val="solid"/>
          </a:ln>
        </p:spPr>
      </p:sp>
      <p:sp>
        <p:nvSpPr>
          <p:cNvPr id="11" name="">
            <a:extLst xmlns:a="http://schemas.openxmlformats.org/drawingml/2006/main">
              <a:ext uri="{FF2B5EF4-FFF2-40B4-BE49-F238E27FC236}">
                <a16:creationId xmlns:a16="http://schemas.microsoft.com/office/drawing/2014/main" id="{A52ECB0B-B051-4152-9AA0-97DD3519D6AE}"/>
              </a:ext>
            </a:extLst>
          </p:cNvPr>
          <p:cNvSpPr>
            <a:spLocks xmlns:a="http://schemas.openxmlformats.org/drawingml/2006/main" noGrp="1"/>
          </p:cNvSpPr>
          <p:nvPr/>
        </p:nvSpPr>
        <p:spPr>
          <a:xfrm xmlns:a="http://schemas.openxmlformats.org/drawingml/2006/main">
            <a:off x="1933575" y="1285875"/>
            <a:ext cx="76200" cy="1066800"/>
          </a:xfrm>
          <a:prstGeom xmlns:a="http://schemas.openxmlformats.org/drawingml/2006/main" prst="rect">
            <a:avLst/>
          </a:prstGeom>
          <a:solidFill xmlns:a="http://schemas.openxmlformats.org/drawingml/2006/main">
            <a:srgbClr val="2B9A66"/>
          </a:solidFill>
          <a:ln xmlns:a="http://schemas.openxmlformats.org/drawingml/2006/main" w="0">
            <a:solidFill>
              <a:srgbClr val="2B9A66"/>
            </a:solidFill>
            <a:prstDash val="solid"/>
          </a:ln>
        </p:spPr>
      </p:sp>
      <p:sp>
        <p:nvSpPr>
          <p:cNvPr id="12" name="">
            <a:extLst xmlns:a="http://schemas.openxmlformats.org/drawingml/2006/main">
              <a:ext uri="{FF2B5EF4-FFF2-40B4-BE49-F238E27FC236}">
                <a16:creationId xmlns:a16="http://schemas.microsoft.com/office/drawing/2014/main" id="{BB09E32A-255E-4892-B20F-CB2355D824D8}"/>
              </a:ext>
            </a:extLst>
          </p:cNvPr>
          <p:cNvSpPr>
            <a:spLocks xmlns:a="http://schemas.openxmlformats.org/drawingml/2006/main" noGrp="1"/>
          </p:cNvSpPr>
          <p:nvPr/>
        </p:nvSpPr>
        <p:spPr>
          <a:xfrm xmlns:a="http://schemas.openxmlformats.org/drawingml/2006/main">
            <a:off x="2105025" y="1400175"/>
            <a:ext cx="1143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5F716E"/>
                </a:solidFill>
              </a:defRPr>
            </a:pPr>
            <a:r>
              <a:rPr sz="900" b="1">
                <a:solidFill>
                  <a:srgbClr val="5F716E"/>
                </a:solidFill>
              </a:rPr>
              <a:t>OFFTAKE</a:t>
            </a:r>
          </a:p>
        </p:txBody>
      </p:sp>
      <p:sp>
        <p:nvSpPr>
          <p:cNvPr id="13" name="">
            <a:extLst xmlns:a="http://schemas.openxmlformats.org/drawingml/2006/main">
              <a:ext uri="{FF2B5EF4-FFF2-40B4-BE49-F238E27FC236}">
                <a16:creationId xmlns:a16="http://schemas.microsoft.com/office/drawing/2014/main" id="{86E29528-6487-472A-8C5C-E75CAFD9305A}"/>
              </a:ext>
            </a:extLst>
          </p:cNvPr>
          <p:cNvSpPr>
            <a:spLocks xmlns:a="http://schemas.openxmlformats.org/drawingml/2006/main" noGrp="1"/>
          </p:cNvSpPr>
          <p:nvPr/>
        </p:nvSpPr>
        <p:spPr>
          <a:xfrm xmlns:a="http://schemas.openxmlformats.org/drawingml/2006/main">
            <a:off x="2105025" y="1628775"/>
            <a:ext cx="1143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875" b="1">
                <a:solidFill>
                  <a:srgbClr val="2B9A66"/>
                </a:solidFill>
              </a:defRPr>
            </a:pPr>
            <a:r>
              <a:rPr sz="1875" b="1">
                <a:solidFill>
                  <a:srgbClr val="2B9A66"/>
                </a:solidFill>
              </a:rPr>
              <a:t>₹3.55 Cr</a:t>
            </a:r>
          </a:p>
        </p:txBody>
      </p:sp>
      <p:sp>
        <p:nvSpPr>
          <p:cNvPr id="14" name="">
            <a:extLst xmlns:a="http://schemas.openxmlformats.org/drawingml/2006/main">
              <a:ext uri="{FF2B5EF4-FFF2-40B4-BE49-F238E27FC236}">
                <a16:creationId xmlns:a16="http://schemas.microsoft.com/office/drawing/2014/main" id="{E60D8B60-D2CF-49E8-AC6E-15891BBB352A}"/>
              </a:ext>
            </a:extLst>
          </p:cNvPr>
          <p:cNvSpPr>
            <a:spLocks xmlns:a="http://schemas.openxmlformats.org/drawingml/2006/main" noGrp="1"/>
          </p:cNvSpPr>
          <p:nvPr/>
        </p:nvSpPr>
        <p:spPr>
          <a:xfrm xmlns:a="http://schemas.openxmlformats.org/drawingml/2006/main">
            <a:off x="2105025" y="2028825"/>
            <a:ext cx="1143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0">
                <a:solidFill>
                  <a:srgbClr val="5F716E"/>
                </a:solidFill>
              </a:defRPr>
            </a:pPr>
            <a:r>
              <a:rPr sz="825" b="0">
                <a:solidFill>
                  <a:srgbClr val="5F716E"/>
                </a:solidFill>
              </a:rPr>
              <a:t>9.8% mix</a:t>
            </a:r>
          </a:p>
        </p:txBody>
      </p:sp>
      <p:sp>
        <p:nvSpPr>
          <p:cNvPr id="15" name="">
            <a:extLst xmlns:a="http://schemas.openxmlformats.org/drawingml/2006/main">
              <a:ext uri="{FF2B5EF4-FFF2-40B4-BE49-F238E27FC236}">
                <a16:creationId xmlns:a16="http://schemas.microsoft.com/office/drawing/2014/main" id="{EB636B4F-D045-4CD5-93A4-6102DA12A3A4}"/>
              </a:ext>
            </a:extLst>
          </p:cNvPr>
          <p:cNvSpPr>
            <a:spLocks xmlns:a="http://schemas.openxmlformats.org/drawingml/2006/main" noGrp="1"/>
          </p:cNvSpPr>
          <p:nvPr/>
        </p:nvSpPr>
        <p:spPr>
          <a:xfrm xmlns:a="http://schemas.openxmlformats.org/drawingml/2006/main">
            <a:off x="3505200" y="1285875"/>
            <a:ext cx="140970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9525">
            <a:solidFill>
              <a:srgbClr val="C8DCD7"/>
            </a:solidFill>
            <a:prstDash val="solid"/>
          </a:ln>
        </p:spPr>
      </p:sp>
      <p:sp>
        <p:nvSpPr>
          <p:cNvPr id="16" name="">
            <a:extLst xmlns:a="http://schemas.openxmlformats.org/drawingml/2006/main">
              <a:ext uri="{FF2B5EF4-FFF2-40B4-BE49-F238E27FC236}">
                <a16:creationId xmlns:a16="http://schemas.microsoft.com/office/drawing/2014/main" id="{338EB6D7-F579-4E8D-B55B-71487CD26046}"/>
              </a:ext>
            </a:extLst>
          </p:cNvPr>
          <p:cNvSpPr>
            <a:spLocks xmlns:a="http://schemas.openxmlformats.org/drawingml/2006/main" noGrp="1"/>
          </p:cNvSpPr>
          <p:nvPr/>
        </p:nvSpPr>
        <p:spPr>
          <a:xfrm xmlns:a="http://schemas.openxmlformats.org/drawingml/2006/main">
            <a:off x="3505200" y="1285875"/>
            <a:ext cx="76200" cy="1066800"/>
          </a:xfrm>
          <a:prstGeom xmlns:a="http://schemas.openxmlformats.org/drawingml/2006/main" prst="rect">
            <a:avLst/>
          </a:prstGeom>
          <a:solidFill xmlns:a="http://schemas.openxmlformats.org/drawingml/2006/main">
            <a:srgbClr val="D6544D"/>
          </a:solidFill>
          <a:ln xmlns:a="http://schemas.openxmlformats.org/drawingml/2006/main" w="0">
            <a:solidFill>
              <a:srgbClr val="D6544D"/>
            </a:solidFill>
            <a:prstDash val="solid"/>
          </a:ln>
        </p:spPr>
      </p:sp>
      <p:sp>
        <p:nvSpPr>
          <p:cNvPr id="17" name="">
            <a:extLst xmlns:a="http://schemas.openxmlformats.org/drawingml/2006/main">
              <a:ext uri="{FF2B5EF4-FFF2-40B4-BE49-F238E27FC236}">
                <a16:creationId xmlns:a16="http://schemas.microsoft.com/office/drawing/2014/main" id="{D6C1A330-CC47-4BB8-9299-0F59C775ADB1}"/>
              </a:ext>
            </a:extLst>
          </p:cNvPr>
          <p:cNvSpPr>
            <a:spLocks xmlns:a="http://schemas.openxmlformats.org/drawingml/2006/main" noGrp="1"/>
          </p:cNvSpPr>
          <p:nvPr/>
        </p:nvSpPr>
        <p:spPr>
          <a:xfrm xmlns:a="http://schemas.openxmlformats.org/drawingml/2006/main">
            <a:off x="3676650" y="1400175"/>
            <a:ext cx="1143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5F716E"/>
                </a:solidFill>
              </a:defRPr>
            </a:pPr>
            <a:r>
              <a:rPr sz="900" b="1">
                <a:solidFill>
                  <a:srgbClr val="5F716E"/>
                </a:solidFill>
              </a:rPr>
              <a:t>CONVERSION</a:t>
            </a:r>
          </a:p>
        </p:txBody>
      </p:sp>
      <p:sp>
        <p:nvSpPr>
          <p:cNvPr id="18" name="">
            <a:extLst xmlns:a="http://schemas.openxmlformats.org/drawingml/2006/main">
              <a:ext uri="{FF2B5EF4-FFF2-40B4-BE49-F238E27FC236}">
                <a16:creationId xmlns:a16="http://schemas.microsoft.com/office/drawing/2014/main" id="{F4FCBF25-0BFE-4FD8-9C0B-DBE127ED4251}"/>
              </a:ext>
            </a:extLst>
          </p:cNvPr>
          <p:cNvSpPr>
            <a:spLocks xmlns:a="http://schemas.openxmlformats.org/drawingml/2006/main" noGrp="1"/>
          </p:cNvSpPr>
          <p:nvPr/>
        </p:nvSpPr>
        <p:spPr>
          <a:xfrm xmlns:a="http://schemas.openxmlformats.org/drawingml/2006/main">
            <a:off x="3676650" y="1628775"/>
            <a:ext cx="1143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875" b="1">
                <a:solidFill>
                  <a:srgbClr val="D6544D"/>
                </a:solidFill>
              </a:defRPr>
            </a:pPr>
            <a:r>
              <a:rPr sz="1875" b="1">
                <a:solidFill>
                  <a:srgbClr val="D6544D"/>
                </a:solidFill>
              </a:rPr>
              <a:t>45.3%</a:t>
            </a:r>
          </a:p>
        </p:txBody>
      </p:sp>
      <p:sp>
        <p:nvSpPr>
          <p:cNvPr id="19" name="">
            <a:extLst xmlns:a="http://schemas.openxmlformats.org/drawingml/2006/main">
              <a:ext uri="{FF2B5EF4-FFF2-40B4-BE49-F238E27FC236}">
                <a16:creationId xmlns:a16="http://schemas.microsoft.com/office/drawing/2014/main" id="{C0AA6C97-C1A6-4560-87AF-D8213CE549B4}"/>
              </a:ext>
            </a:extLst>
          </p:cNvPr>
          <p:cNvSpPr>
            <a:spLocks xmlns:a="http://schemas.openxmlformats.org/drawingml/2006/main" noGrp="1"/>
          </p:cNvSpPr>
          <p:nvPr/>
        </p:nvSpPr>
        <p:spPr>
          <a:xfrm xmlns:a="http://schemas.openxmlformats.org/drawingml/2006/main">
            <a:off x="3676650" y="2028825"/>
            <a:ext cx="1143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0">
                <a:solidFill>
                  <a:srgbClr val="5F716E"/>
                </a:solidFill>
              </a:defRPr>
            </a:pPr>
            <a:r>
              <a:rPr sz="825" b="0">
                <a:solidFill>
                  <a:srgbClr val="5F716E"/>
                </a:solidFill>
              </a:rPr>
              <a:t>Flow</a:t>
            </a:r>
          </a:p>
        </p:txBody>
      </p:sp>
      <p:sp>
        <p:nvSpPr>
          <p:cNvPr id="20" name="">
            <a:extLst xmlns:a="http://schemas.openxmlformats.org/drawingml/2006/main">
              <a:ext uri="{FF2B5EF4-FFF2-40B4-BE49-F238E27FC236}">
                <a16:creationId xmlns:a16="http://schemas.microsoft.com/office/drawing/2014/main" id="{CD6CE453-C42A-4C48-B190-F6AB7EB470A2}"/>
              </a:ext>
            </a:extLst>
          </p:cNvPr>
          <p:cNvSpPr>
            <a:spLocks xmlns:a="http://schemas.openxmlformats.org/drawingml/2006/main" noGrp="1"/>
          </p:cNvSpPr>
          <p:nvPr/>
        </p:nvSpPr>
        <p:spPr>
          <a:xfrm xmlns:a="http://schemas.openxmlformats.org/drawingml/2006/main">
            <a:off x="5076825" y="1285875"/>
            <a:ext cx="1419225"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9525">
            <a:solidFill>
              <a:srgbClr val="C8DCD7"/>
            </a:solidFill>
            <a:prstDash val="solid"/>
          </a:ln>
        </p:spPr>
      </p:sp>
      <p:sp>
        <p:nvSpPr>
          <p:cNvPr id="21" name="">
            <a:extLst xmlns:a="http://schemas.openxmlformats.org/drawingml/2006/main">
              <a:ext uri="{FF2B5EF4-FFF2-40B4-BE49-F238E27FC236}">
                <a16:creationId xmlns:a16="http://schemas.microsoft.com/office/drawing/2014/main" id="{79934F38-4D18-4668-9FD0-2619BD646C20}"/>
              </a:ext>
            </a:extLst>
          </p:cNvPr>
          <p:cNvSpPr>
            <a:spLocks xmlns:a="http://schemas.openxmlformats.org/drawingml/2006/main" noGrp="1"/>
          </p:cNvSpPr>
          <p:nvPr/>
        </p:nvSpPr>
        <p:spPr>
          <a:xfrm xmlns:a="http://schemas.openxmlformats.org/drawingml/2006/main">
            <a:off x="5076825" y="1285875"/>
            <a:ext cx="76200" cy="1066800"/>
          </a:xfrm>
          <a:prstGeom xmlns:a="http://schemas.openxmlformats.org/drawingml/2006/main" prst="rect">
            <a:avLst/>
          </a:prstGeom>
          <a:solidFill xmlns:a="http://schemas.openxmlformats.org/drawingml/2006/main">
            <a:srgbClr val="D6544D"/>
          </a:solidFill>
          <a:ln xmlns:a="http://schemas.openxmlformats.org/drawingml/2006/main" w="0">
            <a:solidFill>
              <a:srgbClr val="D6544D"/>
            </a:solidFill>
            <a:prstDash val="solid"/>
          </a:ln>
        </p:spPr>
      </p:sp>
      <p:sp>
        <p:nvSpPr>
          <p:cNvPr id="22" name="">
            <a:extLst xmlns:a="http://schemas.openxmlformats.org/drawingml/2006/main">
              <a:ext uri="{FF2B5EF4-FFF2-40B4-BE49-F238E27FC236}">
                <a16:creationId xmlns:a16="http://schemas.microsoft.com/office/drawing/2014/main" id="{B703F287-898D-4E83-B858-14FFD83A8B28}"/>
              </a:ext>
            </a:extLst>
          </p:cNvPr>
          <p:cNvSpPr>
            <a:spLocks xmlns:a="http://schemas.openxmlformats.org/drawingml/2006/main" noGrp="1"/>
          </p:cNvSpPr>
          <p:nvPr/>
        </p:nvSpPr>
        <p:spPr>
          <a:xfrm xmlns:a="http://schemas.openxmlformats.org/drawingml/2006/main">
            <a:off x="5248275" y="1400175"/>
            <a:ext cx="115252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5F716E"/>
                </a:solidFill>
              </a:defRPr>
            </a:pPr>
            <a:r>
              <a:rPr sz="900" b="1">
                <a:solidFill>
                  <a:srgbClr val="5F716E"/>
                </a:solidFill>
              </a:rPr>
              <a:t>GAP</a:t>
            </a:r>
          </a:p>
        </p:txBody>
      </p:sp>
      <p:sp>
        <p:nvSpPr>
          <p:cNvPr id="23" name="">
            <a:extLst xmlns:a="http://schemas.openxmlformats.org/drawingml/2006/main">
              <a:ext uri="{FF2B5EF4-FFF2-40B4-BE49-F238E27FC236}">
                <a16:creationId xmlns:a16="http://schemas.microsoft.com/office/drawing/2014/main" id="{8F7B1A9C-4637-44E4-B209-9F8A40483A74}"/>
              </a:ext>
            </a:extLst>
          </p:cNvPr>
          <p:cNvSpPr>
            <a:spLocks xmlns:a="http://schemas.openxmlformats.org/drawingml/2006/main" noGrp="1"/>
          </p:cNvSpPr>
          <p:nvPr/>
        </p:nvSpPr>
        <p:spPr>
          <a:xfrm xmlns:a="http://schemas.openxmlformats.org/drawingml/2006/main">
            <a:off x="5248275" y="1628775"/>
            <a:ext cx="11525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875" b="1">
                <a:solidFill>
                  <a:srgbClr val="D6544D"/>
                </a:solidFill>
              </a:defRPr>
            </a:pPr>
            <a:r>
              <a:rPr sz="1875" b="1">
                <a:solidFill>
                  <a:srgbClr val="D6544D"/>
                </a:solidFill>
              </a:rPr>
              <a:t>₹4.28 Cr</a:t>
            </a:r>
          </a:p>
        </p:txBody>
      </p:sp>
      <p:sp>
        <p:nvSpPr>
          <p:cNvPr id="24" name="">
            <a:extLst xmlns:a="http://schemas.openxmlformats.org/drawingml/2006/main">
              <a:ext uri="{FF2B5EF4-FFF2-40B4-BE49-F238E27FC236}">
                <a16:creationId xmlns:a16="http://schemas.microsoft.com/office/drawing/2014/main" id="{4F98D717-217D-4E75-8016-D11FBE837D94}"/>
              </a:ext>
            </a:extLst>
          </p:cNvPr>
          <p:cNvSpPr>
            <a:spLocks xmlns:a="http://schemas.openxmlformats.org/drawingml/2006/main" noGrp="1"/>
          </p:cNvSpPr>
          <p:nvPr/>
        </p:nvSpPr>
        <p:spPr>
          <a:xfrm xmlns:a="http://schemas.openxmlformats.org/drawingml/2006/main">
            <a:off x="5248275" y="2028825"/>
            <a:ext cx="115252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0">
                <a:solidFill>
                  <a:srgbClr val="5F716E"/>
                </a:solidFill>
              </a:defRPr>
            </a:pPr>
            <a:r>
              <a:rPr sz="825" b="0">
                <a:solidFill>
                  <a:srgbClr val="5F716E"/>
                </a:solidFill>
              </a:rPr>
              <a:t>Primary − offtake</a:t>
            </a:r>
          </a:p>
        </p:txBody>
      </p:sp>
      <p:sp>
        <p:nvSpPr>
          <p:cNvPr id="25" name="">
            <a:extLst xmlns:a="http://schemas.openxmlformats.org/drawingml/2006/main">
              <a:ext uri="{FF2B5EF4-FFF2-40B4-BE49-F238E27FC236}">
                <a16:creationId xmlns:a16="http://schemas.microsoft.com/office/drawing/2014/main" id="{B652F215-FEEB-4D76-AFE6-BB093E28C9E1}"/>
              </a:ext>
            </a:extLst>
          </p:cNvPr>
          <p:cNvSpPr>
            <a:spLocks xmlns:a="http://schemas.openxmlformats.org/drawingml/2006/main" noGrp="1"/>
          </p:cNvSpPr>
          <p:nvPr/>
        </p:nvSpPr>
        <p:spPr>
          <a:xfrm xmlns:a="http://schemas.openxmlformats.org/drawingml/2006/main">
            <a:off x="361950" y="2476500"/>
            <a:ext cx="6134100" cy="457200"/>
          </a:xfrm>
          <a:prstGeom xmlns:a="http://schemas.openxmlformats.org/drawingml/2006/main" prst="roundRect">
            <a:avLst>
              <a:gd name="adj" fmla="val 16667"/>
            </a:avLst>
          </a:prstGeom>
          <a:solidFill xmlns:a="http://schemas.openxmlformats.org/drawingml/2006/main">
            <a:srgbClr val="DFF2ED"/>
          </a:solidFill>
          <a:ln xmlns:a="http://schemas.openxmlformats.org/drawingml/2006/main" w="9525">
            <a:solidFill>
              <a:srgbClr val="28A596"/>
            </a:solidFill>
            <a:prstDash val="solid"/>
          </a:ln>
        </p:spPr>
      </p:sp>
      <p:sp>
        <p:nvSpPr>
          <p:cNvPr id="26" name="">
            <a:extLst xmlns:a="http://schemas.openxmlformats.org/drawingml/2006/main">
              <a:ext uri="{FF2B5EF4-FFF2-40B4-BE49-F238E27FC236}">
                <a16:creationId xmlns:a16="http://schemas.microsoft.com/office/drawing/2014/main" id="{F63DA261-7DF6-4D9C-8CE9-0FD837B703B3}"/>
              </a:ext>
            </a:extLst>
          </p:cNvPr>
          <p:cNvSpPr>
            <a:spLocks xmlns:a="http://schemas.openxmlformats.org/drawingml/2006/main" noGrp="1"/>
          </p:cNvSpPr>
          <p:nvPr/>
        </p:nvSpPr>
        <p:spPr>
          <a:xfrm xmlns:a="http://schemas.openxmlformats.org/drawingml/2006/main">
            <a:off x="476250" y="2533650"/>
            <a:ext cx="1381125"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1">
                <a:solidFill>
                  <a:srgbClr val="116F68"/>
                </a:solidFill>
              </a:defRPr>
            </a:pPr>
            <a:r>
              <a:rPr sz="825" b="1">
                <a:solidFill>
                  <a:srgbClr val="116F68"/>
                </a:solidFill>
              </a:rPr>
              <a:t>MANAGEMENT PRIORITY</a:t>
            </a:r>
          </a:p>
        </p:txBody>
      </p:sp>
      <p:sp>
        <p:nvSpPr>
          <p:cNvPr id="27" name="">
            <a:extLst xmlns:a="http://schemas.openxmlformats.org/drawingml/2006/main">
              <a:ext uri="{FF2B5EF4-FFF2-40B4-BE49-F238E27FC236}">
                <a16:creationId xmlns:a16="http://schemas.microsoft.com/office/drawing/2014/main" id="{7026CD4D-B0D3-4FE0-8208-21C59CD04EBA}"/>
              </a:ext>
            </a:extLst>
          </p:cNvPr>
          <p:cNvSpPr>
            <a:spLocks xmlns:a="http://schemas.openxmlformats.org/drawingml/2006/main" noGrp="1"/>
          </p:cNvSpPr>
          <p:nvPr/>
        </p:nvSpPr>
        <p:spPr>
          <a:xfrm xmlns:a="http://schemas.openxmlformats.org/drawingml/2006/main">
            <a:off x="1885950" y="2514600"/>
            <a:ext cx="4429125"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183B39"/>
                </a:solidFill>
              </a:defRPr>
            </a:pPr>
            <a:r>
              <a:rPr sz="900" b="1">
                <a:solidFill>
                  <a:srgbClr val="183B39"/>
                </a:solidFill>
              </a:rPr>
              <a:t>Close Reliance exceptions  •  Protect hero-SKU OSA  •  Review conversion weekly</a:t>
            </a:r>
          </a:p>
        </p:txBody>
      </p:sp>
      <p:sp>
        <p:nvSpPr>
          <p:cNvPr id="28" name="">
            <a:extLst xmlns:a="http://schemas.openxmlformats.org/drawingml/2006/main">
              <a:ext uri="{FF2B5EF4-FFF2-40B4-BE49-F238E27FC236}">
                <a16:creationId xmlns:a16="http://schemas.microsoft.com/office/drawing/2014/main" id="{D5D9707A-1884-4F81-924F-504ACD37DF06}"/>
              </a:ext>
            </a:extLst>
          </p:cNvPr>
          <p:cNvSpPr>
            <a:spLocks xmlns:a="http://schemas.openxmlformats.org/drawingml/2006/main" noGrp="1"/>
          </p:cNvSpPr>
          <p:nvPr/>
        </p:nvSpPr>
        <p:spPr>
          <a:xfrm xmlns:a="http://schemas.openxmlformats.org/drawingml/2006/main">
            <a:off x="361950" y="3048000"/>
            <a:ext cx="2895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183B39"/>
                </a:solidFill>
              </a:defRPr>
            </a:pPr>
            <a:r>
              <a:rPr sz="900" b="1">
                <a:solidFill>
                  <a:srgbClr val="183B39"/>
                </a:solidFill>
              </a:rPr>
              <a:t>Mamaearth — top 3 sub-categories</a:t>
            </a:r>
          </a:p>
        </p:txBody>
      </p:sp>
      <p:graphicFrame>
        <p:nvGraphicFramePr>
          <p:cNvPr id="140" name="Chart"/>
          <p:cNvGraphicFramePr/>
          <p:nvPr/>
        </p:nvGraphicFramePr>
        <p:xfrm>
          <a:off xmlns:a="http://schemas.openxmlformats.org/drawingml/2006/main" x="361950" y="3286125"/>
          <a:ext xmlns:a="http://schemas.openxmlformats.org/drawingml/2006/main" cx="2895600" cy="1666875"/>
        </p:xfrm>
        <a:graphic xmlns:a="http://schemas.openxmlformats.org/drawingml/2006/main">
          <a:graphicData uri="http://schemas.openxmlformats.org/drawingml/2006/chart">
            <c:chart xmlns:r="http://schemas.openxmlformats.org/officeDocument/2006/relationships" xmlns:c="http://schemas.openxmlformats.org/drawingml/2006/chart" r:id="Rba3769e1c9484e65"/>
          </a:graphicData>
        </a:graphic>
      </p:graphicFrame>
      <p:sp>
        <p:nvSpPr>
          <p:cNvPr id="30" name="">
            <a:extLst xmlns:a="http://schemas.openxmlformats.org/drawingml/2006/main">
              <a:ext uri="{FF2B5EF4-FFF2-40B4-BE49-F238E27FC236}">
                <a16:creationId xmlns:a16="http://schemas.microsoft.com/office/drawing/2014/main" id="{87F63E05-4C42-4CA8-B62B-B513177154CC}"/>
              </a:ext>
            </a:extLst>
          </p:cNvPr>
          <p:cNvSpPr>
            <a:spLocks xmlns:a="http://schemas.openxmlformats.org/drawingml/2006/main" noGrp="1"/>
          </p:cNvSpPr>
          <p:nvPr/>
        </p:nvSpPr>
        <p:spPr>
          <a:xfrm xmlns:a="http://schemas.openxmlformats.org/drawingml/2006/main">
            <a:off x="3600450" y="3048000"/>
            <a:ext cx="2895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183B39"/>
                </a:solidFill>
              </a:defRPr>
            </a:pPr>
            <a:r>
              <a:rPr sz="900" b="1">
                <a:solidFill>
                  <a:srgbClr val="183B39"/>
                </a:solidFill>
              </a:rPr>
              <a:t>The Derma Co. — top 3 sub-categories</a:t>
            </a:r>
          </a:p>
        </p:txBody>
      </p:sp>
      <p:graphicFrame>
        <p:nvGraphicFramePr>
          <p:cNvPr id="142" name="Chart"/>
          <p:cNvGraphicFramePr/>
          <p:nvPr/>
        </p:nvGraphicFramePr>
        <p:xfrm>
          <a:off xmlns:a="http://schemas.openxmlformats.org/drawingml/2006/main" x="3600450" y="3286125"/>
          <a:ext xmlns:a="http://schemas.openxmlformats.org/drawingml/2006/main" cx="2895600" cy="1666875"/>
        </p:xfrm>
        <a:graphic xmlns:a="http://schemas.openxmlformats.org/drawingml/2006/main">
          <a:graphicData uri="http://schemas.openxmlformats.org/drawingml/2006/chart">
            <c:chart xmlns:r="http://schemas.openxmlformats.org/officeDocument/2006/relationships" xmlns:c="http://schemas.openxmlformats.org/drawingml/2006/chart" r:id="R6b4d82ef6fd14b5e"/>
          </a:graphicData>
        </a:graphic>
      </p:graphicFrame>
      <p:sp>
        <p:nvSpPr>
          <p:cNvPr id="32" name="">
            <a:extLst xmlns:a="http://schemas.openxmlformats.org/drawingml/2006/main">
              <a:ext uri="{FF2B5EF4-FFF2-40B4-BE49-F238E27FC236}">
                <a16:creationId xmlns:a16="http://schemas.microsoft.com/office/drawing/2014/main" id="{3CCD4169-B5E4-4770-8D75-DEC233FB3A95}"/>
              </a:ext>
            </a:extLst>
          </p:cNvPr>
          <p:cNvSpPr>
            <a:spLocks xmlns:a="http://schemas.openxmlformats.org/drawingml/2006/main" noGrp="1"/>
          </p:cNvSpPr>
          <p:nvPr/>
        </p:nvSpPr>
        <p:spPr>
          <a:xfrm xmlns:a="http://schemas.openxmlformats.org/drawingml/2006/main">
            <a:off x="361950" y="5095875"/>
            <a:ext cx="1905000" cy="2476500"/>
          </a:xfrm>
          <a:prstGeom xmlns:a="http://schemas.openxmlformats.org/drawingml/2006/main" prst="roundRect">
            <a:avLst>
              <a:gd name="adj" fmla="val 4000"/>
            </a:avLst>
          </a:prstGeom>
          <a:solidFill xmlns:a="http://schemas.openxmlformats.org/drawingml/2006/main">
            <a:srgbClr val="FFFFFF"/>
          </a:solidFill>
          <a:ln xmlns:a="http://schemas.openxmlformats.org/drawingml/2006/main" w="9525">
            <a:solidFill>
              <a:srgbClr val="C8DCD7"/>
            </a:solidFill>
            <a:prstDash val="solid"/>
          </a:ln>
        </p:spPr>
      </p:sp>
      <p:sp>
        <p:nvSpPr>
          <p:cNvPr id="33" name="">
            <a:extLst xmlns:a="http://schemas.openxmlformats.org/drawingml/2006/main">
              <a:ext uri="{FF2B5EF4-FFF2-40B4-BE49-F238E27FC236}">
                <a16:creationId xmlns:a16="http://schemas.microsoft.com/office/drawing/2014/main" id="{8C36BB2E-0A21-44F2-ABC1-7B7C267B3E7A}"/>
              </a:ext>
            </a:extLst>
          </p:cNvPr>
          <p:cNvSpPr>
            <a:spLocks xmlns:a="http://schemas.openxmlformats.org/drawingml/2006/main" noGrp="1"/>
          </p:cNvSpPr>
          <p:nvPr/>
        </p:nvSpPr>
        <p:spPr>
          <a:xfrm xmlns:a="http://schemas.openxmlformats.org/drawingml/2006/main">
            <a:off x="495300" y="5219700"/>
            <a:ext cx="16573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116F68"/>
                </a:solidFill>
              </a:defRPr>
            </a:pPr>
            <a:r>
              <a:rPr sz="900" b="1">
                <a:solidFill>
                  <a:srgbClr val="116F68"/>
                </a:solidFill>
              </a:rPr>
              <a:t>TOP CHAINS / STATES</a:t>
            </a:r>
          </a:p>
        </p:txBody>
      </p:sp>
      <p:sp>
        <p:nvSpPr>
          <p:cNvPr id="34" name="">
            <a:extLst xmlns:a="http://schemas.openxmlformats.org/drawingml/2006/main">
              <a:ext uri="{FF2B5EF4-FFF2-40B4-BE49-F238E27FC236}">
                <a16:creationId xmlns:a16="http://schemas.microsoft.com/office/drawing/2014/main" id="{39C71DE4-9799-41BC-A6B1-994408931301}"/>
              </a:ext>
            </a:extLst>
          </p:cNvPr>
          <p:cNvSpPr>
            <a:spLocks xmlns:a="http://schemas.openxmlformats.org/drawingml/2006/main" noGrp="1"/>
          </p:cNvSpPr>
          <p:nvPr/>
        </p:nvSpPr>
        <p:spPr>
          <a:xfrm xmlns:a="http://schemas.openxmlformats.org/drawingml/2006/main">
            <a:off x="495300" y="5543550"/>
            <a:ext cx="16573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1">
                <a:solidFill>
                  <a:srgbClr val="183B39"/>
                </a:solidFill>
              </a:defRPr>
            </a:pPr>
            <a:r>
              <a:rPr sz="825" b="1">
                <a:solidFill>
                  <a:srgbClr val="183B39"/>
                </a:solidFill>
              </a:rPr>
              <a:t>1. Reliance  ₹2.16 Cr</a:t>
            </a:r>
          </a:p>
        </p:txBody>
      </p:sp>
      <p:sp>
        <p:nvSpPr>
          <p:cNvPr id="35" name="">
            <a:extLst xmlns:a="http://schemas.openxmlformats.org/drawingml/2006/main">
              <a:ext uri="{FF2B5EF4-FFF2-40B4-BE49-F238E27FC236}">
                <a16:creationId xmlns:a16="http://schemas.microsoft.com/office/drawing/2014/main" id="{3D5486E4-59A0-46E0-80AD-3A0311E261CF}"/>
              </a:ext>
            </a:extLst>
          </p:cNvPr>
          <p:cNvSpPr>
            <a:spLocks xmlns:a="http://schemas.openxmlformats.org/drawingml/2006/main" noGrp="1"/>
          </p:cNvSpPr>
          <p:nvPr/>
        </p:nvSpPr>
        <p:spPr>
          <a:xfrm xmlns:a="http://schemas.openxmlformats.org/drawingml/2006/main">
            <a:off x="495300" y="5867400"/>
            <a:ext cx="16573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0">
                <a:solidFill>
                  <a:srgbClr val="183B39"/>
                </a:solidFill>
              </a:defRPr>
            </a:pPr>
            <a:r>
              <a:rPr sz="825" b="0">
                <a:solidFill>
                  <a:srgbClr val="183B39"/>
                </a:solidFill>
              </a:rPr>
              <a:t>2. Apollo  ₹0.80 Cr</a:t>
            </a:r>
          </a:p>
        </p:txBody>
      </p:sp>
      <p:sp>
        <p:nvSpPr>
          <p:cNvPr id="36" name="">
            <a:extLst xmlns:a="http://schemas.openxmlformats.org/drawingml/2006/main">
              <a:ext uri="{FF2B5EF4-FFF2-40B4-BE49-F238E27FC236}">
                <a16:creationId xmlns:a16="http://schemas.microsoft.com/office/drawing/2014/main" id="{5BFC91F7-B67B-4BB7-AF86-F89015AAD234}"/>
              </a:ext>
            </a:extLst>
          </p:cNvPr>
          <p:cNvSpPr>
            <a:spLocks xmlns:a="http://schemas.openxmlformats.org/drawingml/2006/main" noGrp="1"/>
          </p:cNvSpPr>
          <p:nvPr/>
        </p:nvSpPr>
        <p:spPr>
          <a:xfrm xmlns:a="http://schemas.openxmlformats.org/drawingml/2006/main">
            <a:off x="495300" y="6191250"/>
            <a:ext cx="16573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0">
                <a:solidFill>
                  <a:srgbClr val="183B39"/>
                </a:solidFill>
              </a:defRPr>
            </a:pPr>
            <a:r>
              <a:rPr sz="825" b="0">
                <a:solidFill>
                  <a:srgbClr val="183B39"/>
                </a:solidFill>
              </a:rPr>
              <a:t>3. Vishal Mega Ma…  ₹0.17 Cr</a:t>
            </a:r>
          </a:p>
        </p:txBody>
      </p:sp>
      <p:sp>
        <p:nvSpPr>
          <p:cNvPr id="37" name="">
            <a:extLst xmlns:a="http://schemas.openxmlformats.org/drawingml/2006/main">
              <a:ext uri="{FF2B5EF4-FFF2-40B4-BE49-F238E27FC236}">
                <a16:creationId xmlns:a16="http://schemas.microsoft.com/office/drawing/2014/main" id="{7A44AC08-992F-41D3-A4BA-0870631ECBDA}"/>
              </a:ext>
            </a:extLst>
          </p:cNvPr>
          <p:cNvSpPr>
            <a:spLocks xmlns:a="http://schemas.openxmlformats.org/drawingml/2006/main" noGrp="1"/>
          </p:cNvSpPr>
          <p:nvPr/>
        </p:nvSpPr>
        <p:spPr>
          <a:xfrm xmlns:a="http://schemas.openxmlformats.org/drawingml/2006/main">
            <a:off x="495300" y="6572250"/>
            <a:ext cx="16573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1">
                <a:solidFill>
                  <a:srgbClr val="5F716E"/>
                </a:solidFill>
              </a:defRPr>
            </a:pPr>
            <a:r>
              <a:rPr sz="825" b="1">
                <a:solidFill>
                  <a:srgbClr val="5F716E"/>
                </a:solidFill>
              </a:rPr>
              <a:t>1. West Bengal  ₹1.56 Cr</a:t>
            </a:r>
          </a:p>
        </p:txBody>
      </p:sp>
      <p:sp>
        <p:nvSpPr>
          <p:cNvPr id="38" name="">
            <a:extLst xmlns:a="http://schemas.openxmlformats.org/drawingml/2006/main">
              <a:ext uri="{FF2B5EF4-FFF2-40B4-BE49-F238E27FC236}">
                <a16:creationId xmlns:a16="http://schemas.microsoft.com/office/drawing/2014/main" id="{A12EA123-3299-4650-8FD8-D81424556C9F}"/>
              </a:ext>
            </a:extLst>
          </p:cNvPr>
          <p:cNvSpPr>
            <a:spLocks xmlns:a="http://schemas.openxmlformats.org/drawingml/2006/main" noGrp="1"/>
          </p:cNvSpPr>
          <p:nvPr/>
        </p:nvSpPr>
        <p:spPr>
          <a:xfrm xmlns:a="http://schemas.openxmlformats.org/drawingml/2006/main">
            <a:off x="495300" y="6858000"/>
            <a:ext cx="16573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0">
                <a:solidFill>
                  <a:srgbClr val="5F716E"/>
                </a:solidFill>
              </a:defRPr>
            </a:pPr>
            <a:r>
              <a:rPr sz="825" b="0">
                <a:solidFill>
                  <a:srgbClr val="5F716E"/>
                </a:solidFill>
              </a:rPr>
              <a:t>2. Odisha  ₹0.60 Cr</a:t>
            </a:r>
          </a:p>
        </p:txBody>
      </p:sp>
      <p:sp>
        <p:nvSpPr>
          <p:cNvPr id="39" name="">
            <a:extLst xmlns:a="http://schemas.openxmlformats.org/drawingml/2006/main">
              <a:ext uri="{FF2B5EF4-FFF2-40B4-BE49-F238E27FC236}">
                <a16:creationId xmlns:a16="http://schemas.microsoft.com/office/drawing/2014/main" id="{15725FE5-E635-4108-B6BF-C2F07FF054A0}"/>
              </a:ext>
            </a:extLst>
          </p:cNvPr>
          <p:cNvSpPr>
            <a:spLocks xmlns:a="http://schemas.openxmlformats.org/drawingml/2006/main" noGrp="1"/>
          </p:cNvSpPr>
          <p:nvPr/>
        </p:nvSpPr>
        <p:spPr>
          <a:xfrm xmlns:a="http://schemas.openxmlformats.org/drawingml/2006/main">
            <a:off x="495300" y="7143750"/>
            <a:ext cx="16573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0">
                <a:solidFill>
                  <a:srgbClr val="5F716E"/>
                </a:solidFill>
              </a:defRPr>
            </a:pPr>
            <a:r>
              <a:rPr sz="825" b="0">
                <a:solidFill>
                  <a:srgbClr val="5F716E"/>
                </a:solidFill>
              </a:rPr>
              <a:t>3. Bihar  ₹0.49 Cr</a:t>
            </a:r>
          </a:p>
        </p:txBody>
      </p:sp>
      <p:sp>
        <p:nvSpPr>
          <p:cNvPr id="40" name="">
            <a:extLst xmlns:a="http://schemas.openxmlformats.org/drawingml/2006/main">
              <a:ext uri="{FF2B5EF4-FFF2-40B4-BE49-F238E27FC236}">
                <a16:creationId xmlns:a16="http://schemas.microsoft.com/office/drawing/2014/main" id="{023D04AC-6D23-4586-8E14-B4CC54033DE8}"/>
              </a:ext>
            </a:extLst>
          </p:cNvPr>
          <p:cNvSpPr>
            <a:spLocks xmlns:a="http://schemas.openxmlformats.org/drawingml/2006/main" noGrp="1"/>
          </p:cNvSpPr>
          <p:nvPr/>
        </p:nvSpPr>
        <p:spPr>
          <a:xfrm xmlns:a="http://schemas.openxmlformats.org/drawingml/2006/main">
            <a:off x="2381250" y="5095875"/>
            <a:ext cx="4114800" cy="2476500"/>
          </a:xfrm>
          <a:prstGeom xmlns:a="http://schemas.openxmlformats.org/drawingml/2006/main" prst="roundRect">
            <a:avLst>
              <a:gd name="adj" fmla="val 3077"/>
            </a:avLst>
          </a:prstGeom>
          <a:solidFill xmlns:a="http://schemas.openxmlformats.org/drawingml/2006/main">
            <a:srgbClr val="FFFFFF"/>
          </a:solidFill>
          <a:ln xmlns:a="http://schemas.openxmlformats.org/drawingml/2006/main" w="9525">
            <a:solidFill>
              <a:srgbClr val="C8DCD7"/>
            </a:solidFill>
            <a:prstDash val="solid"/>
          </a:ln>
        </p:spPr>
      </p:sp>
      <p:sp>
        <p:nvSpPr>
          <p:cNvPr id="41" name="">
            <a:extLst xmlns:a="http://schemas.openxmlformats.org/drawingml/2006/main">
              <a:ext uri="{FF2B5EF4-FFF2-40B4-BE49-F238E27FC236}">
                <a16:creationId xmlns:a16="http://schemas.microsoft.com/office/drawing/2014/main" id="{A725963D-EECD-4297-BB54-3A3EB529EC29}"/>
              </a:ext>
            </a:extLst>
          </p:cNvPr>
          <p:cNvSpPr>
            <a:spLocks xmlns:a="http://schemas.openxmlformats.org/drawingml/2006/main" noGrp="1"/>
          </p:cNvSpPr>
          <p:nvPr/>
        </p:nvSpPr>
        <p:spPr>
          <a:xfrm xmlns:a="http://schemas.openxmlformats.org/drawingml/2006/main">
            <a:off x="2514600" y="5219700"/>
            <a:ext cx="3810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116F68"/>
                </a:solidFill>
              </a:defRPr>
            </a:pPr>
            <a:r>
              <a:rPr sz="900" b="1">
                <a:solidFill>
                  <a:srgbClr val="116F68"/>
                </a:solidFill>
              </a:rPr>
              <a:t>TOP 2 BRANDS × TOP SUB-CATEGORIES</a:t>
            </a:r>
          </a:p>
        </p:txBody>
      </p:sp>
      <p:sp>
        <p:nvSpPr>
          <p:cNvPr id="42" name="">
            <a:extLst xmlns:a="http://schemas.openxmlformats.org/drawingml/2006/main">
              <a:ext uri="{FF2B5EF4-FFF2-40B4-BE49-F238E27FC236}">
                <a16:creationId xmlns:a16="http://schemas.microsoft.com/office/drawing/2014/main" id="{9AD37903-6919-42A9-A013-AF6438663A51}"/>
              </a:ext>
            </a:extLst>
          </p:cNvPr>
          <p:cNvSpPr>
            <a:spLocks xmlns:a="http://schemas.openxmlformats.org/drawingml/2006/main" noGrp="1"/>
          </p:cNvSpPr>
          <p:nvPr/>
        </p:nvSpPr>
        <p:spPr>
          <a:xfrm xmlns:a="http://schemas.openxmlformats.org/drawingml/2006/main">
            <a:off x="2514600" y="5543550"/>
            <a:ext cx="1809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75" b="1">
                <a:solidFill>
                  <a:srgbClr val="28A596"/>
                </a:solidFill>
              </a:defRPr>
            </a:pPr>
            <a:r>
              <a:rPr sz="975" b="1">
                <a:solidFill>
                  <a:srgbClr val="28A596"/>
                </a:solidFill>
              </a:rPr>
              <a:t>Mamaearth | ₹2.91 Cr</a:t>
            </a:r>
          </a:p>
        </p:txBody>
      </p:sp>
      <p:sp>
        <p:nvSpPr>
          <p:cNvPr id="43" name="">
            <a:extLst xmlns:a="http://schemas.openxmlformats.org/drawingml/2006/main">
              <a:ext uri="{FF2B5EF4-FFF2-40B4-BE49-F238E27FC236}">
                <a16:creationId xmlns:a16="http://schemas.microsoft.com/office/drawing/2014/main" id="{7B3C24CC-B726-461A-913F-8E5863692404}"/>
              </a:ext>
            </a:extLst>
          </p:cNvPr>
          <p:cNvSpPr>
            <a:spLocks xmlns:a="http://schemas.openxmlformats.org/drawingml/2006/main" noGrp="1"/>
          </p:cNvSpPr>
          <p:nvPr/>
        </p:nvSpPr>
        <p:spPr>
          <a:xfrm xmlns:a="http://schemas.openxmlformats.org/drawingml/2006/main">
            <a:off x="2514600" y="5905500"/>
            <a:ext cx="1809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88" b="1">
                <a:solidFill>
                  <a:srgbClr val="183B39"/>
                </a:solidFill>
              </a:defRPr>
            </a:pPr>
            <a:r>
              <a:rPr sz="788" b="1">
                <a:solidFill>
                  <a:srgbClr val="183B39"/>
                </a:solidFill>
              </a:rPr>
              <a:t>1. Face Cleanser  ₹1.34 Cr</a:t>
            </a:r>
          </a:p>
        </p:txBody>
      </p:sp>
      <p:sp>
        <p:nvSpPr>
          <p:cNvPr id="44" name="">
            <a:extLst xmlns:a="http://schemas.openxmlformats.org/drawingml/2006/main">
              <a:ext uri="{FF2B5EF4-FFF2-40B4-BE49-F238E27FC236}">
                <a16:creationId xmlns:a16="http://schemas.microsoft.com/office/drawing/2014/main" id="{D3CF295F-A268-4510-B2CA-A4721E5C2070}"/>
              </a:ext>
            </a:extLst>
          </p:cNvPr>
          <p:cNvSpPr>
            <a:spLocks xmlns:a="http://schemas.openxmlformats.org/drawingml/2006/main" noGrp="1"/>
          </p:cNvSpPr>
          <p:nvPr/>
        </p:nvSpPr>
        <p:spPr>
          <a:xfrm xmlns:a="http://schemas.openxmlformats.org/drawingml/2006/main">
            <a:off x="2514600" y="6210300"/>
            <a:ext cx="1809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88" b="0">
                <a:solidFill>
                  <a:srgbClr val="183B39"/>
                </a:solidFill>
              </a:defRPr>
            </a:pPr>
            <a:r>
              <a:rPr sz="788" b="0">
                <a:solidFill>
                  <a:srgbClr val="183B39"/>
                </a:solidFill>
              </a:rPr>
              <a:t>2. Shampoo  ₹1.18 Cr</a:t>
            </a:r>
          </a:p>
        </p:txBody>
      </p:sp>
      <p:sp>
        <p:nvSpPr>
          <p:cNvPr id="45" name="">
            <a:extLst xmlns:a="http://schemas.openxmlformats.org/drawingml/2006/main">
              <a:ext uri="{FF2B5EF4-FFF2-40B4-BE49-F238E27FC236}">
                <a16:creationId xmlns:a16="http://schemas.microsoft.com/office/drawing/2014/main" id="{9FE5D5AC-8F1A-4932-973D-636D844F99F7}"/>
              </a:ext>
            </a:extLst>
          </p:cNvPr>
          <p:cNvSpPr>
            <a:spLocks xmlns:a="http://schemas.openxmlformats.org/drawingml/2006/main" noGrp="1"/>
          </p:cNvSpPr>
          <p:nvPr/>
        </p:nvSpPr>
        <p:spPr>
          <a:xfrm xmlns:a="http://schemas.openxmlformats.org/drawingml/2006/main">
            <a:off x="2514600" y="6515100"/>
            <a:ext cx="1809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88" b="0">
                <a:solidFill>
                  <a:srgbClr val="183B39"/>
                </a:solidFill>
              </a:defRPr>
            </a:pPr>
            <a:r>
              <a:rPr sz="788" b="0">
                <a:solidFill>
                  <a:srgbClr val="183B39"/>
                </a:solidFill>
              </a:rPr>
              <a:t>3. Sun Care  ₹0.19 Cr</a:t>
            </a:r>
          </a:p>
        </p:txBody>
      </p:sp>
      <p:sp>
        <p:nvSpPr>
          <p:cNvPr id="46" name="">
            <a:extLst xmlns:a="http://schemas.openxmlformats.org/drawingml/2006/main">
              <a:ext uri="{FF2B5EF4-FFF2-40B4-BE49-F238E27FC236}">
                <a16:creationId xmlns:a16="http://schemas.microsoft.com/office/drawing/2014/main" id="{4A6E4533-995F-45C0-9E9E-46B1A90B9B95}"/>
              </a:ext>
            </a:extLst>
          </p:cNvPr>
          <p:cNvSpPr>
            <a:spLocks xmlns:a="http://schemas.openxmlformats.org/drawingml/2006/main" noGrp="1"/>
          </p:cNvSpPr>
          <p:nvPr/>
        </p:nvSpPr>
        <p:spPr>
          <a:xfrm xmlns:a="http://schemas.openxmlformats.org/drawingml/2006/main">
            <a:off x="4438650" y="5543550"/>
            <a:ext cx="1809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75" b="1">
                <a:solidFill>
                  <a:srgbClr val="2E7DA8"/>
                </a:solidFill>
              </a:defRPr>
            </a:pPr>
            <a:r>
              <a:rPr sz="975" b="1">
                <a:solidFill>
                  <a:srgbClr val="2E7DA8"/>
                </a:solidFill>
              </a:rPr>
              <a:t>The Derma Co. | ₹0.60 Cr</a:t>
            </a:r>
          </a:p>
        </p:txBody>
      </p:sp>
      <p:sp>
        <p:nvSpPr>
          <p:cNvPr id="47" name="">
            <a:extLst xmlns:a="http://schemas.openxmlformats.org/drawingml/2006/main">
              <a:ext uri="{FF2B5EF4-FFF2-40B4-BE49-F238E27FC236}">
                <a16:creationId xmlns:a16="http://schemas.microsoft.com/office/drawing/2014/main" id="{15A88082-107F-40E5-8C5E-20000D02D1C2}"/>
              </a:ext>
            </a:extLst>
          </p:cNvPr>
          <p:cNvSpPr>
            <a:spLocks xmlns:a="http://schemas.openxmlformats.org/drawingml/2006/main" noGrp="1"/>
          </p:cNvSpPr>
          <p:nvPr/>
        </p:nvSpPr>
        <p:spPr>
          <a:xfrm xmlns:a="http://schemas.openxmlformats.org/drawingml/2006/main">
            <a:off x="4438650" y="5905500"/>
            <a:ext cx="1809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88" b="1">
                <a:solidFill>
                  <a:srgbClr val="183B39"/>
                </a:solidFill>
              </a:defRPr>
            </a:pPr>
            <a:r>
              <a:rPr sz="788" b="1">
                <a:solidFill>
                  <a:srgbClr val="183B39"/>
                </a:solidFill>
              </a:rPr>
              <a:t>1. Face Cleanser  ₹0.47 Cr</a:t>
            </a:r>
          </a:p>
        </p:txBody>
      </p:sp>
      <p:sp>
        <p:nvSpPr>
          <p:cNvPr id="48" name="">
            <a:extLst xmlns:a="http://schemas.openxmlformats.org/drawingml/2006/main">
              <a:ext uri="{FF2B5EF4-FFF2-40B4-BE49-F238E27FC236}">
                <a16:creationId xmlns:a16="http://schemas.microsoft.com/office/drawing/2014/main" id="{B9F0FB46-2F88-4827-A64C-7CFE24238BC0}"/>
              </a:ext>
            </a:extLst>
          </p:cNvPr>
          <p:cNvSpPr>
            <a:spLocks xmlns:a="http://schemas.openxmlformats.org/drawingml/2006/main" noGrp="1"/>
          </p:cNvSpPr>
          <p:nvPr/>
        </p:nvSpPr>
        <p:spPr>
          <a:xfrm xmlns:a="http://schemas.openxmlformats.org/drawingml/2006/main">
            <a:off x="4438650" y="6210300"/>
            <a:ext cx="1809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88" b="0">
                <a:solidFill>
                  <a:srgbClr val="183B39"/>
                </a:solidFill>
              </a:defRPr>
            </a:pPr>
            <a:r>
              <a:rPr sz="788" b="0">
                <a:solidFill>
                  <a:srgbClr val="183B39"/>
                </a:solidFill>
              </a:rPr>
              <a:t>2. Sun Care  ₹0.09 Cr</a:t>
            </a:r>
          </a:p>
        </p:txBody>
      </p:sp>
      <p:sp>
        <p:nvSpPr>
          <p:cNvPr id="49" name="">
            <a:extLst xmlns:a="http://schemas.openxmlformats.org/drawingml/2006/main">
              <a:ext uri="{FF2B5EF4-FFF2-40B4-BE49-F238E27FC236}">
                <a16:creationId xmlns:a16="http://schemas.microsoft.com/office/drawing/2014/main" id="{785195CC-37CC-48EE-9E5C-1914BA4910D6}"/>
              </a:ext>
            </a:extLst>
          </p:cNvPr>
          <p:cNvSpPr>
            <a:spLocks xmlns:a="http://schemas.openxmlformats.org/drawingml/2006/main" noGrp="1"/>
          </p:cNvSpPr>
          <p:nvPr/>
        </p:nvSpPr>
        <p:spPr>
          <a:xfrm xmlns:a="http://schemas.openxmlformats.org/drawingml/2006/main">
            <a:off x="4438650" y="6515100"/>
            <a:ext cx="1809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88" b="0">
                <a:solidFill>
                  <a:srgbClr val="183B39"/>
                </a:solidFill>
              </a:defRPr>
            </a:pPr>
            <a:r>
              <a:rPr sz="788" b="0">
                <a:solidFill>
                  <a:srgbClr val="183B39"/>
                </a:solidFill>
              </a:rPr>
              <a:t>3. Face Serum  ₹0.05 Cr</a:t>
            </a:r>
          </a:p>
        </p:txBody>
      </p:sp>
      <p:sp>
        <p:nvSpPr>
          <p:cNvPr id="50" name="">
            <a:extLst xmlns:a="http://schemas.openxmlformats.org/drawingml/2006/main">
              <a:ext uri="{FF2B5EF4-FFF2-40B4-BE49-F238E27FC236}">
                <a16:creationId xmlns:a16="http://schemas.microsoft.com/office/drawing/2014/main" id="{44397867-D068-4903-B33A-B31D24EACBC3}"/>
              </a:ext>
            </a:extLst>
          </p:cNvPr>
          <p:cNvSpPr>
            <a:spLocks xmlns:a="http://schemas.openxmlformats.org/drawingml/2006/main" noGrp="1"/>
          </p:cNvSpPr>
          <p:nvPr/>
        </p:nvSpPr>
        <p:spPr>
          <a:xfrm xmlns:a="http://schemas.openxmlformats.org/drawingml/2006/main">
            <a:off x="2514600" y="7200900"/>
            <a:ext cx="1619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1">
                <a:solidFill>
                  <a:srgbClr val="D6544D"/>
                </a:solidFill>
              </a:defRPr>
            </a:pPr>
            <a:r>
              <a:rPr sz="825" b="1">
                <a:solidFill>
                  <a:srgbClr val="D6544D"/>
                </a:solidFill>
              </a:rPr>
              <a:t>NPI CONTRIBUTION</a:t>
            </a:r>
          </a:p>
        </p:txBody>
      </p:sp>
      <p:sp>
        <p:nvSpPr>
          <p:cNvPr id="51" name="">
            <a:extLst xmlns:a="http://schemas.openxmlformats.org/drawingml/2006/main">
              <a:ext uri="{FF2B5EF4-FFF2-40B4-BE49-F238E27FC236}">
                <a16:creationId xmlns:a16="http://schemas.microsoft.com/office/drawing/2014/main" id="{75440072-0CC1-4BC5-B78F-F64DD2CBA52A}"/>
              </a:ext>
            </a:extLst>
          </p:cNvPr>
          <p:cNvSpPr>
            <a:spLocks xmlns:a="http://schemas.openxmlformats.org/drawingml/2006/main" noGrp="1"/>
          </p:cNvSpPr>
          <p:nvPr/>
        </p:nvSpPr>
        <p:spPr>
          <a:xfrm xmlns:a="http://schemas.openxmlformats.org/drawingml/2006/main">
            <a:off x="4095750" y="7124700"/>
            <a:ext cx="22098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690" b="0">
                <a:solidFill>
                  <a:srgbClr val="5F716E"/>
                </a:solidFill>
              </a:defRPr>
            </a:pPr>
            <a:r>
              <a:rPr sz="690" b="0">
                <a:solidFill>
                  <a:srgbClr val="5F716E"/>
                </a:solidFill>
              </a:rPr>
              <a:t>₹0.36 Cr | 10.2% of zone | ME Onion Hai… • ME Lemon Ant… • Rosemary Ant…</a:t>
            </a:r>
          </a:p>
        </p:txBody>
      </p:sp>
      <p:sp>
        <p:nvSpPr>
          <p:cNvPr id="52" name="">
            <a:extLst xmlns:a="http://schemas.openxmlformats.org/drawingml/2006/main">
              <a:ext uri="{FF2B5EF4-FFF2-40B4-BE49-F238E27FC236}">
                <a16:creationId xmlns:a16="http://schemas.microsoft.com/office/drawing/2014/main" id="{322444F7-FC2A-4879-AE9B-11710623CF74}"/>
              </a:ext>
            </a:extLst>
          </p:cNvPr>
          <p:cNvSpPr>
            <a:spLocks xmlns:a="http://schemas.openxmlformats.org/drawingml/2006/main" noGrp="1"/>
          </p:cNvSpPr>
          <p:nvPr/>
        </p:nvSpPr>
        <p:spPr>
          <a:xfrm xmlns:a="http://schemas.openxmlformats.org/drawingml/2006/main">
            <a:off x="361950" y="7762875"/>
            <a:ext cx="6134100" cy="257175"/>
          </a:xfrm>
          <a:prstGeom xmlns:a="http://schemas.openxmlformats.org/drawingml/2006/main" prst="rect">
            <a:avLst/>
          </a:prstGeom>
          <a:solidFill xmlns:a="http://schemas.openxmlformats.org/drawingml/2006/main">
            <a:srgbClr val="116F68"/>
          </a:solidFill>
          <a:ln xmlns:a="http://schemas.openxmlformats.org/drawingml/2006/main" w="0">
            <a:solidFill>
              <a:srgbClr val="116F68"/>
            </a:solidFill>
            <a:prstDash val="solid"/>
          </a:ln>
        </p:spPr>
      </p:sp>
      <p:sp>
        <p:nvSpPr>
          <p:cNvPr id="53" name="">
            <a:extLst xmlns:a="http://schemas.openxmlformats.org/drawingml/2006/main">
              <a:ext uri="{FF2B5EF4-FFF2-40B4-BE49-F238E27FC236}">
                <a16:creationId xmlns:a16="http://schemas.microsoft.com/office/drawing/2014/main" id="{BFE14859-5EB1-44B7-9D27-0D226B35D542}"/>
              </a:ext>
            </a:extLst>
          </p:cNvPr>
          <p:cNvSpPr>
            <a:spLocks xmlns:a="http://schemas.openxmlformats.org/drawingml/2006/main" noGrp="1"/>
          </p:cNvSpPr>
          <p:nvPr/>
        </p:nvSpPr>
        <p:spPr>
          <a:xfrm xmlns:a="http://schemas.openxmlformats.org/drawingml/2006/main">
            <a:off x="457200" y="7772400"/>
            <a:ext cx="59436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FFFFFF"/>
                </a:solidFill>
              </a:defRPr>
            </a:pPr>
            <a:r>
              <a:rPr sz="900" b="1">
                <a:solidFill>
                  <a:srgbClr val="FFFFFF"/>
                </a:solidFill>
              </a:rPr>
              <a:t>15 ZONE-SPECIFIC INSIGHTS AND ACTIONS</a:t>
            </a:r>
          </a:p>
        </p:txBody>
      </p:sp>
      <p:sp>
        <p:nvSpPr>
          <p:cNvPr id="54" name="">
            <a:extLst xmlns:a="http://schemas.openxmlformats.org/drawingml/2006/main">
              <a:ext uri="{FF2B5EF4-FFF2-40B4-BE49-F238E27FC236}">
                <a16:creationId xmlns:a16="http://schemas.microsoft.com/office/drawing/2014/main" id="{39E036A4-9088-4D89-9B7A-91F293EF1C57}"/>
              </a:ext>
            </a:extLst>
          </p:cNvPr>
          <p:cNvSpPr>
            <a:spLocks xmlns:a="http://schemas.openxmlformats.org/drawingml/2006/main" noGrp="1"/>
          </p:cNvSpPr>
          <p:nvPr/>
        </p:nvSpPr>
        <p:spPr>
          <a:xfrm xmlns:a="http://schemas.openxmlformats.org/drawingml/2006/main">
            <a:off x="361950" y="8096250"/>
            <a:ext cx="1981200" cy="514350"/>
          </a:xfrm>
          <a:prstGeom xmlns:a="http://schemas.openxmlformats.org/drawingml/2006/main" prst="roundRect">
            <a:avLst>
              <a:gd name="adj" fmla="val 14815"/>
            </a:avLst>
          </a:prstGeom>
          <a:solidFill xmlns:a="http://schemas.openxmlformats.org/drawingml/2006/main">
            <a:srgbClr val="DFF2ED"/>
          </a:solidFill>
          <a:ln xmlns:a="http://schemas.openxmlformats.org/drawingml/2006/main" w="9525">
            <a:solidFill>
              <a:srgbClr val="C8DCD7"/>
            </a:solidFill>
            <a:prstDash val="solid"/>
          </a:ln>
        </p:spPr>
      </p:sp>
      <p:sp>
        <p:nvSpPr>
          <p:cNvPr id="55" name="">
            <a:extLst xmlns:a="http://schemas.openxmlformats.org/drawingml/2006/main">
              <a:ext uri="{FF2B5EF4-FFF2-40B4-BE49-F238E27FC236}">
                <a16:creationId xmlns:a16="http://schemas.microsoft.com/office/drawing/2014/main" id="{10973B88-2A85-4C69-B598-B5CE74A5E452}"/>
              </a:ext>
            </a:extLst>
          </p:cNvPr>
          <p:cNvSpPr>
            <a:spLocks xmlns:a="http://schemas.openxmlformats.org/drawingml/2006/main" noGrp="1"/>
          </p:cNvSpPr>
          <p:nvPr/>
        </p:nvSpPr>
        <p:spPr>
          <a:xfrm xmlns:a="http://schemas.openxmlformats.org/drawingml/2006/main">
            <a:off x="419100" y="814387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28A596"/>
                </a:solidFill>
              </a:defRPr>
            </a:pPr>
            <a:r>
              <a:rPr sz="675" b="1">
                <a:solidFill>
                  <a:srgbClr val="28A596"/>
                </a:solidFill>
              </a:rPr>
              <a:t>01</a:t>
            </a:r>
          </a:p>
        </p:txBody>
      </p:sp>
      <p:sp>
        <p:nvSpPr>
          <p:cNvPr id="56" name="">
            <a:extLst xmlns:a="http://schemas.openxmlformats.org/drawingml/2006/main">
              <a:ext uri="{FF2B5EF4-FFF2-40B4-BE49-F238E27FC236}">
                <a16:creationId xmlns:a16="http://schemas.microsoft.com/office/drawing/2014/main" id="{3B37EE9E-5573-472C-BD3C-5720456C0579}"/>
              </a:ext>
            </a:extLst>
          </p:cNvPr>
          <p:cNvSpPr>
            <a:spLocks xmlns:a="http://schemas.openxmlformats.org/drawingml/2006/main" noGrp="1"/>
          </p:cNvSpPr>
          <p:nvPr/>
        </p:nvSpPr>
        <p:spPr>
          <a:xfrm xmlns:a="http://schemas.openxmlformats.org/drawingml/2006/main">
            <a:off x="742950" y="813435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1">
                <a:solidFill>
                  <a:srgbClr val="183B39"/>
                </a:solidFill>
              </a:defRPr>
            </a:pPr>
            <a:r>
              <a:rPr sz="713" b="1">
                <a:solidFill>
                  <a:srgbClr val="183B39"/>
                </a:solidFill>
              </a:rPr>
              <a:t>East delivers ₹3.55 Cr offtake, 9.8% of national value.</a:t>
            </a:r>
          </a:p>
        </p:txBody>
      </p:sp>
      <p:sp>
        <p:nvSpPr>
          <p:cNvPr id="57" name="">
            <a:extLst xmlns:a="http://schemas.openxmlformats.org/drawingml/2006/main">
              <a:ext uri="{FF2B5EF4-FFF2-40B4-BE49-F238E27FC236}">
                <a16:creationId xmlns:a16="http://schemas.microsoft.com/office/drawing/2014/main" id="{84B62412-D8DB-4D94-8A5F-C429B9959645}"/>
              </a:ext>
            </a:extLst>
          </p:cNvPr>
          <p:cNvSpPr>
            <a:spLocks xmlns:a="http://schemas.openxmlformats.org/drawingml/2006/main" noGrp="1"/>
          </p:cNvSpPr>
          <p:nvPr/>
        </p:nvSpPr>
        <p:spPr>
          <a:xfrm xmlns:a="http://schemas.openxmlformats.org/drawingml/2006/main">
            <a:off x="2438400" y="8096250"/>
            <a:ext cx="1981200" cy="514350"/>
          </a:xfrm>
          <a:prstGeom xmlns:a="http://schemas.openxmlformats.org/drawingml/2006/main" prst="roundRect">
            <a:avLst>
              <a:gd name="adj" fmla="val 14815"/>
            </a:avLst>
          </a:prstGeom>
          <a:solidFill xmlns:a="http://schemas.openxmlformats.org/drawingml/2006/main">
            <a:srgbClr val="DFF2ED"/>
          </a:solidFill>
          <a:ln xmlns:a="http://schemas.openxmlformats.org/drawingml/2006/main" w="9525">
            <a:solidFill>
              <a:srgbClr val="C8DCD7"/>
            </a:solidFill>
            <a:prstDash val="solid"/>
          </a:ln>
        </p:spPr>
      </p:sp>
      <p:sp>
        <p:nvSpPr>
          <p:cNvPr id="58" name="">
            <a:extLst xmlns:a="http://schemas.openxmlformats.org/drawingml/2006/main">
              <a:ext uri="{FF2B5EF4-FFF2-40B4-BE49-F238E27FC236}">
                <a16:creationId xmlns:a16="http://schemas.microsoft.com/office/drawing/2014/main" id="{4374951A-34AF-40D3-928B-123B934D6200}"/>
              </a:ext>
            </a:extLst>
          </p:cNvPr>
          <p:cNvSpPr>
            <a:spLocks xmlns:a="http://schemas.openxmlformats.org/drawingml/2006/main" noGrp="1"/>
          </p:cNvSpPr>
          <p:nvPr/>
        </p:nvSpPr>
        <p:spPr>
          <a:xfrm xmlns:a="http://schemas.openxmlformats.org/drawingml/2006/main">
            <a:off x="2495550" y="814387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28A596"/>
                </a:solidFill>
              </a:defRPr>
            </a:pPr>
            <a:r>
              <a:rPr sz="675" b="1">
                <a:solidFill>
                  <a:srgbClr val="28A596"/>
                </a:solidFill>
              </a:rPr>
              <a:t>02</a:t>
            </a:r>
          </a:p>
        </p:txBody>
      </p:sp>
      <p:sp>
        <p:nvSpPr>
          <p:cNvPr id="59" name="">
            <a:extLst xmlns:a="http://schemas.openxmlformats.org/drawingml/2006/main">
              <a:ext uri="{FF2B5EF4-FFF2-40B4-BE49-F238E27FC236}">
                <a16:creationId xmlns:a16="http://schemas.microsoft.com/office/drawing/2014/main" id="{E5D752E6-9807-4260-BACD-6077EB8E6E44}"/>
              </a:ext>
            </a:extLst>
          </p:cNvPr>
          <p:cNvSpPr>
            <a:spLocks xmlns:a="http://schemas.openxmlformats.org/drawingml/2006/main" noGrp="1"/>
          </p:cNvSpPr>
          <p:nvPr/>
        </p:nvSpPr>
        <p:spPr>
          <a:xfrm xmlns:a="http://schemas.openxmlformats.org/drawingml/2006/main">
            <a:off x="2819400" y="813435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1">
                <a:solidFill>
                  <a:srgbClr val="183B39"/>
                </a:solidFill>
              </a:defRPr>
            </a:pPr>
            <a:r>
              <a:rPr sz="713" b="1">
                <a:solidFill>
                  <a:srgbClr val="183B39"/>
                </a:solidFill>
              </a:rPr>
              <a:t>Primary is ₹7.83 Cr versus ₹3.55 Cr offtake.</a:t>
            </a:r>
          </a:p>
        </p:txBody>
      </p:sp>
      <p:sp>
        <p:nvSpPr>
          <p:cNvPr id="60" name="">
            <a:extLst xmlns:a="http://schemas.openxmlformats.org/drawingml/2006/main">
              <a:ext uri="{FF2B5EF4-FFF2-40B4-BE49-F238E27FC236}">
                <a16:creationId xmlns:a16="http://schemas.microsoft.com/office/drawing/2014/main" id="{4306609B-3839-4A2C-B35D-F96A0814237C}"/>
              </a:ext>
            </a:extLst>
          </p:cNvPr>
          <p:cNvSpPr>
            <a:spLocks xmlns:a="http://schemas.openxmlformats.org/drawingml/2006/main" noGrp="1"/>
          </p:cNvSpPr>
          <p:nvPr/>
        </p:nvSpPr>
        <p:spPr>
          <a:xfrm xmlns:a="http://schemas.openxmlformats.org/drawingml/2006/main">
            <a:off x="4514850" y="8096250"/>
            <a:ext cx="1981200" cy="514350"/>
          </a:xfrm>
          <a:prstGeom xmlns:a="http://schemas.openxmlformats.org/drawingml/2006/main" prst="roundRect">
            <a:avLst>
              <a:gd name="adj" fmla="val 14815"/>
            </a:avLst>
          </a:prstGeom>
          <a:solidFill xmlns:a="http://schemas.openxmlformats.org/drawingml/2006/main">
            <a:srgbClr val="DFF2ED"/>
          </a:solidFill>
          <a:ln xmlns:a="http://schemas.openxmlformats.org/drawingml/2006/main" w="9525">
            <a:solidFill>
              <a:srgbClr val="C8DCD7"/>
            </a:solidFill>
            <a:prstDash val="solid"/>
          </a:ln>
        </p:spPr>
      </p:sp>
      <p:sp>
        <p:nvSpPr>
          <p:cNvPr id="61" name="">
            <a:extLst xmlns:a="http://schemas.openxmlformats.org/drawingml/2006/main">
              <a:ext uri="{FF2B5EF4-FFF2-40B4-BE49-F238E27FC236}">
                <a16:creationId xmlns:a16="http://schemas.microsoft.com/office/drawing/2014/main" id="{8673C707-26AF-43C1-ABDE-B587D1FD75EF}"/>
              </a:ext>
            </a:extLst>
          </p:cNvPr>
          <p:cNvSpPr>
            <a:spLocks xmlns:a="http://schemas.openxmlformats.org/drawingml/2006/main" noGrp="1"/>
          </p:cNvSpPr>
          <p:nvPr/>
        </p:nvSpPr>
        <p:spPr>
          <a:xfrm xmlns:a="http://schemas.openxmlformats.org/drawingml/2006/main">
            <a:off x="4572000" y="814387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28A596"/>
                </a:solidFill>
              </a:defRPr>
            </a:pPr>
            <a:r>
              <a:rPr sz="675" b="1">
                <a:solidFill>
                  <a:srgbClr val="28A596"/>
                </a:solidFill>
              </a:rPr>
              <a:t>03</a:t>
            </a:r>
          </a:p>
        </p:txBody>
      </p:sp>
      <p:sp>
        <p:nvSpPr>
          <p:cNvPr id="62" name="">
            <a:extLst xmlns:a="http://schemas.openxmlformats.org/drawingml/2006/main">
              <a:ext uri="{FF2B5EF4-FFF2-40B4-BE49-F238E27FC236}">
                <a16:creationId xmlns:a16="http://schemas.microsoft.com/office/drawing/2014/main" id="{170BCE32-7D1F-4212-885A-44F47A6D9FE3}"/>
              </a:ext>
            </a:extLst>
          </p:cNvPr>
          <p:cNvSpPr>
            <a:spLocks xmlns:a="http://schemas.openxmlformats.org/drawingml/2006/main" noGrp="1"/>
          </p:cNvSpPr>
          <p:nvPr/>
        </p:nvSpPr>
        <p:spPr>
          <a:xfrm xmlns:a="http://schemas.openxmlformats.org/drawingml/2006/main">
            <a:off x="4895850" y="813435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1">
                <a:solidFill>
                  <a:srgbClr val="183B39"/>
                </a:solidFill>
              </a:defRPr>
            </a:pPr>
            <a:r>
              <a:rPr sz="713" b="1">
                <a:solidFill>
                  <a:srgbClr val="183B39"/>
                </a:solidFill>
              </a:rPr>
              <a:t>Flow conversion is 45.3% for July.</a:t>
            </a:r>
          </a:p>
        </p:txBody>
      </p:sp>
      <p:sp>
        <p:nvSpPr>
          <p:cNvPr id="63" name="">
            <a:extLst xmlns:a="http://schemas.openxmlformats.org/drawingml/2006/main">
              <a:ext uri="{FF2B5EF4-FFF2-40B4-BE49-F238E27FC236}">
                <a16:creationId xmlns:a16="http://schemas.microsoft.com/office/drawing/2014/main" id="{AA8D8DDF-DF49-4498-9971-3CDDAAEA97F7}"/>
              </a:ext>
            </a:extLst>
          </p:cNvPr>
          <p:cNvSpPr>
            <a:spLocks xmlns:a="http://schemas.openxmlformats.org/drawingml/2006/main" noGrp="1"/>
          </p:cNvSpPr>
          <p:nvPr/>
        </p:nvSpPr>
        <p:spPr>
          <a:xfrm xmlns:a="http://schemas.openxmlformats.org/drawingml/2006/main">
            <a:off x="361950" y="8686800"/>
            <a:ext cx="1981200" cy="514350"/>
          </a:xfrm>
          <a:prstGeom xmlns:a="http://schemas.openxmlformats.org/drawingml/2006/main" prst="roundRect">
            <a:avLst>
              <a:gd name="adj" fmla="val 14815"/>
            </a:avLst>
          </a:prstGeom>
          <a:solidFill xmlns:a="http://schemas.openxmlformats.org/drawingml/2006/main">
            <a:srgbClr val="DFF2ED"/>
          </a:solidFill>
          <a:ln xmlns:a="http://schemas.openxmlformats.org/drawingml/2006/main" w="9525">
            <a:solidFill>
              <a:srgbClr val="C8DCD7"/>
            </a:solidFill>
            <a:prstDash val="solid"/>
          </a:ln>
        </p:spPr>
      </p:sp>
      <p:sp>
        <p:nvSpPr>
          <p:cNvPr id="64" name="">
            <a:extLst xmlns:a="http://schemas.openxmlformats.org/drawingml/2006/main">
              <a:ext uri="{FF2B5EF4-FFF2-40B4-BE49-F238E27FC236}">
                <a16:creationId xmlns:a16="http://schemas.microsoft.com/office/drawing/2014/main" id="{031672C2-1CCA-4E71-8E70-74ADB3DB25D8}"/>
              </a:ext>
            </a:extLst>
          </p:cNvPr>
          <p:cNvSpPr>
            <a:spLocks xmlns:a="http://schemas.openxmlformats.org/drawingml/2006/main" noGrp="1"/>
          </p:cNvSpPr>
          <p:nvPr/>
        </p:nvSpPr>
        <p:spPr>
          <a:xfrm xmlns:a="http://schemas.openxmlformats.org/drawingml/2006/main">
            <a:off x="419100" y="873442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28A596"/>
                </a:solidFill>
              </a:defRPr>
            </a:pPr>
            <a:r>
              <a:rPr sz="675" b="1">
                <a:solidFill>
                  <a:srgbClr val="28A596"/>
                </a:solidFill>
              </a:rPr>
              <a:t>04</a:t>
            </a:r>
          </a:p>
        </p:txBody>
      </p:sp>
      <p:sp>
        <p:nvSpPr>
          <p:cNvPr id="65" name="">
            <a:extLst xmlns:a="http://schemas.openxmlformats.org/drawingml/2006/main">
              <a:ext uri="{FF2B5EF4-FFF2-40B4-BE49-F238E27FC236}">
                <a16:creationId xmlns:a16="http://schemas.microsoft.com/office/drawing/2014/main" id="{B5FD189E-97BF-4DAE-ABB8-A2724A3A4104}"/>
              </a:ext>
            </a:extLst>
          </p:cNvPr>
          <p:cNvSpPr>
            <a:spLocks xmlns:a="http://schemas.openxmlformats.org/drawingml/2006/main" noGrp="1"/>
          </p:cNvSpPr>
          <p:nvPr/>
        </p:nvSpPr>
        <p:spPr>
          <a:xfrm xmlns:a="http://schemas.openxmlformats.org/drawingml/2006/main">
            <a:off x="742950" y="872490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0">
                <a:solidFill>
                  <a:srgbClr val="183B39"/>
                </a:solidFill>
              </a:defRPr>
            </a:pPr>
            <a:r>
              <a:rPr sz="713" b="0">
                <a:solidFill>
                  <a:srgbClr val="183B39"/>
                </a:solidFill>
              </a:rPr>
              <a:t>The same-period flow gap is ₹4.28 Cr.</a:t>
            </a:r>
          </a:p>
        </p:txBody>
      </p:sp>
      <p:sp>
        <p:nvSpPr>
          <p:cNvPr id="66" name="">
            <a:extLst xmlns:a="http://schemas.openxmlformats.org/drawingml/2006/main">
              <a:ext uri="{FF2B5EF4-FFF2-40B4-BE49-F238E27FC236}">
                <a16:creationId xmlns:a16="http://schemas.microsoft.com/office/drawing/2014/main" id="{D835BE02-A721-4C59-B261-643E165E6224}"/>
              </a:ext>
            </a:extLst>
          </p:cNvPr>
          <p:cNvSpPr>
            <a:spLocks xmlns:a="http://schemas.openxmlformats.org/drawingml/2006/main" noGrp="1"/>
          </p:cNvSpPr>
          <p:nvPr/>
        </p:nvSpPr>
        <p:spPr>
          <a:xfrm xmlns:a="http://schemas.openxmlformats.org/drawingml/2006/main">
            <a:off x="2438400" y="8686800"/>
            <a:ext cx="1981200" cy="514350"/>
          </a:xfrm>
          <a:prstGeom xmlns:a="http://schemas.openxmlformats.org/drawingml/2006/main" prst="roundRect">
            <a:avLst>
              <a:gd name="adj" fmla="val 14815"/>
            </a:avLst>
          </a:prstGeom>
          <a:solidFill xmlns:a="http://schemas.openxmlformats.org/drawingml/2006/main">
            <a:srgbClr val="DFF2ED"/>
          </a:solidFill>
          <a:ln xmlns:a="http://schemas.openxmlformats.org/drawingml/2006/main" w="9525">
            <a:solidFill>
              <a:srgbClr val="C8DCD7"/>
            </a:solidFill>
            <a:prstDash val="solid"/>
          </a:ln>
        </p:spPr>
      </p:sp>
      <p:sp>
        <p:nvSpPr>
          <p:cNvPr id="67" name="">
            <a:extLst xmlns:a="http://schemas.openxmlformats.org/drawingml/2006/main">
              <a:ext uri="{FF2B5EF4-FFF2-40B4-BE49-F238E27FC236}">
                <a16:creationId xmlns:a16="http://schemas.microsoft.com/office/drawing/2014/main" id="{93B209B6-B156-49A2-A588-5FA6C5B5EA41}"/>
              </a:ext>
            </a:extLst>
          </p:cNvPr>
          <p:cNvSpPr>
            <a:spLocks xmlns:a="http://schemas.openxmlformats.org/drawingml/2006/main" noGrp="1"/>
          </p:cNvSpPr>
          <p:nvPr/>
        </p:nvSpPr>
        <p:spPr>
          <a:xfrm xmlns:a="http://schemas.openxmlformats.org/drawingml/2006/main">
            <a:off x="2495550" y="873442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28A596"/>
                </a:solidFill>
              </a:defRPr>
            </a:pPr>
            <a:r>
              <a:rPr sz="675" b="1">
                <a:solidFill>
                  <a:srgbClr val="28A596"/>
                </a:solidFill>
              </a:rPr>
              <a:t>05</a:t>
            </a:r>
          </a:p>
        </p:txBody>
      </p:sp>
      <p:sp>
        <p:nvSpPr>
          <p:cNvPr id="68" name="">
            <a:extLst xmlns:a="http://schemas.openxmlformats.org/drawingml/2006/main">
              <a:ext uri="{FF2B5EF4-FFF2-40B4-BE49-F238E27FC236}">
                <a16:creationId xmlns:a16="http://schemas.microsoft.com/office/drawing/2014/main" id="{FF3B31E4-A862-4A0C-AFF8-BDD8453CC0BE}"/>
              </a:ext>
            </a:extLst>
          </p:cNvPr>
          <p:cNvSpPr>
            <a:spLocks xmlns:a="http://schemas.openxmlformats.org/drawingml/2006/main" noGrp="1"/>
          </p:cNvSpPr>
          <p:nvPr/>
        </p:nvSpPr>
        <p:spPr>
          <a:xfrm xmlns:a="http://schemas.openxmlformats.org/drawingml/2006/main">
            <a:off x="2819400" y="872490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0">
                <a:solidFill>
                  <a:srgbClr val="183B39"/>
                </a:solidFill>
              </a:defRPr>
            </a:pPr>
            <a:r>
              <a:rPr sz="713" b="0">
                <a:solidFill>
                  <a:srgbClr val="183B39"/>
                </a:solidFill>
              </a:rPr>
              <a:t>East ranks #5 by national offtake.</a:t>
            </a:r>
          </a:p>
        </p:txBody>
      </p:sp>
      <p:sp>
        <p:nvSpPr>
          <p:cNvPr id="69" name="">
            <a:extLst xmlns:a="http://schemas.openxmlformats.org/drawingml/2006/main">
              <a:ext uri="{FF2B5EF4-FFF2-40B4-BE49-F238E27FC236}">
                <a16:creationId xmlns:a16="http://schemas.microsoft.com/office/drawing/2014/main" id="{C008CE31-8B65-4F13-80C8-82479D680830}"/>
              </a:ext>
            </a:extLst>
          </p:cNvPr>
          <p:cNvSpPr>
            <a:spLocks xmlns:a="http://schemas.openxmlformats.org/drawingml/2006/main" noGrp="1"/>
          </p:cNvSpPr>
          <p:nvPr/>
        </p:nvSpPr>
        <p:spPr>
          <a:xfrm xmlns:a="http://schemas.openxmlformats.org/drawingml/2006/main">
            <a:off x="4514850" y="8686800"/>
            <a:ext cx="1981200" cy="514350"/>
          </a:xfrm>
          <a:prstGeom xmlns:a="http://schemas.openxmlformats.org/drawingml/2006/main" prst="roundRect">
            <a:avLst>
              <a:gd name="adj" fmla="val 14815"/>
            </a:avLst>
          </a:prstGeom>
          <a:solidFill xmlns:a="http://schemas.openxmlformats.org/drawingml/2006/main">
            <a:srgbClr val="FFFFFF"/>
          </a:solidFill>
          <a:ln xmlns:a="http://schemas.openxmlformats.org/drawingml/2006/main" w="9525">
            <a:solidFill>
              <a:srgbClr val="C8DCD7"/>
            </a:solidFill>
            <a:prstDash val="solid"/>
          </a:ln>
        </p:spPr>
      </p:sp>
      <p:sp>
        <p:nvSpPr>
          <p:cNvPr id="70" name="">
            <a:extLst xmlns:a="http://schemas.openxmlformats.org/drawingml/2006/main">
              <a:ext uri="{FF2B5EF4-FFF2-40B4-BE49-F238E27FC236}">
                <a16:creationId xmlns:a16="http://schemas.microsoft.com/office/drawing/2014/main" id="{3F58ECEF-7FE2-4B19-85BA-4411EB56EF66}"/>
              </a:ext>
            </a:extLst>
          </p:cNvPr>
          <p:cNvSpPr>
            <a:spLocks xmlns:a="http://schemas.openxmlformats.org/drawingml/2006/main" noGrp="1"/>
          </p:cNvSpPr>
          <p:nvPr/>
        </p:nvSpPr>
        <p:spPr>
          <a:xfrm xmlns:a="http://schemas.openxmlformats.org/drawingml/2006/main">
            <a:off x="4572000" y="873442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D6544D"/>
                </a:solidFill>
              </a:defRPr>
            </a:pPr>
            <a:r>
              <a:rPr sz="675" b="1">
                <a:solidFill>
                  <a:srgbClr val="D6544D"/>
                </a:solidFill>
              </a:rPr>
              <a:t>06</a:t>
            </a:r>
          </a:p>
        </p:txBody>
      </p:sp>
      <p:sp>
        <p:nvSpPr>
          <p:cNvPr id="71" name="">
            <a:extLst xmlns:a="http://schemas.openxmlformats.org/drawingml/2006/main">
              <a:ext uri="{FF2B5EF4-FFF2-40B4-BE49-F238E27FC236}">
                <a16:creationId xmlns:a16="http://schemas.microsoft.com/office/drawing/2014/main" id="{C925BC35-FEC7-499A-A4B7-19C8725C7B22}"/>
              </a:ext>
            </a:extLst>
          </p:cNvPr>
          <p:cNvSpPr>
            <a:spLocks xmlns:a="http://schemas.openxmlformats.org/drawingml/2006/main" noGrp="1"/>
          </p:cNvSpPr>
          <p:nvPr/>
        </p:nvSpPr>
        <p:spPr>
          <a:xfrm xmlns:a="http://schemas.openxmlformats.org/drawingml/2006/main">
            <a:off x="4895850" y="872490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0">
                <a:solidFill>
                  <a:srgbClr val="183B39"/>
                </a:solidFill>
              </a:defRPr>
            </a:pPr>
            <a:r>
              <a:rPr sz="713" b="0">
                <a:solidFill>
                  <a:srgbClr val="183B39"/>
                </a:solidFill>
              </a:rPr>
              <a:t>West Bengal ranks #1 with ₹1.56 Cr offtake.</a:t>
            </a:r>
          </a:p>
        </p:txBody>
      </p:sp>
      <p:sp>
        <p:nvSpPr>
          <p:cNvPr id="72" name="">
            <a:extLst xmlns:a="http://schemas.openxmlformats.org/drawingml/2006/main">
              <a:ext uri="{FF2B5EF4-FFF2-40B4-BE49-F238E27FC236}">
                <a16:creationId xmlns:a16="http://schemas.microsoft.com/office/drawing/2014/main" id="{53CAF1BE-5C5F-4B13-BE71-4107E6BA95F7}"/>
              </a:ext>
            </a:extLst>
          </p:cNvPr>
          <p:cNvSpPr>
            <a:spLocks xmlns:a="http://schemas.openxmlformats.org/drawingml/2006/main" noGrp="1"/>
          </p:cNvSpPr>
          <p:nvPr/>
        </p:nvSpPr>
        <p:spPr>
          <a:xfrm xmlns:a="http://schemas.openxmlformats.org/drawingml/2006/main">
            <a:off x="361950" y="9277350"/>
            <a:ext cx="1981200" cy="514350"/>
          </a:xfrm>
          <a:prstGeom xmlns:a="http://schemas.openxmlformats.org/drawingml/2006/main" prst="roundRect">
            <a:avLst>
              <a:gd name="adj" fmla="val 14815"/>
            </a:avLst>
          </a:prstGeom>
          <a:solidFill xmlns:a="http://schemas.openxmlformats.org/drawingml/2006/main">
            <a:srgbClr val="FFFFFF"/>
          </a:solidFill>
          <a:ln xmlns:a="http://schemas.openxmlformats.org/drawingml/2006/main" w="9525">
            <a:solidFill>
              <a:srgbClr val="C8DCD7"/>
            </a:solidFill>
            <a:prstDash val="solid"/>
          </a:ln>
        </p:spPr>
      </p:sp>
      <p:sp>
        <p:nvSpPr>
          <p:cNvPr id="73" name="">
            <a:extLst xmlns:a="http://schemas.openxmlformats.org/drawingml/2006/main">
              <a:ext uri="{FF2B5EF4-FFF2-40B4-BE49-F238E27FC236}">
                <a16:creationId xmlns:a16="http://schemas.microsoft.com/office/drawing/2014/main" id="{F99E56B4-ED36-4ECC-9E83-7B95E4FBB2D6}"/>
              </a:ext>
            </a:extLst>
          </p:cNvPr>
          <p:cNvSpPr>
            <a:spLocks xmlns:a="http://schemas.openxmlformats.org/drawingml/2006/main" noGrp="1"/>
          </p:cNvSpPr>
          <p:nvPr/>
        </p:nvSpPr>
        <p:spPr>
          <a:xfrm xmlns:a="http://schemas.openxmlformats.org/drawingml/2006/main">
            <a:off x="419100" y="932497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D6544D"/>
                </a:solidFill>
              </a:defRPr>
            </a:pPr>
            <a:r>
              <a:rPr sz="675" b="1">
                <a:solidFill>
                  <a:srgbClr val="D6544D"/>
                </a:solidFill>
              </a:rPr>
              <a:t>07</a:t>
            </a:r>
          </a:p>
        </p:txBody>
      </p:sp>
      <p:sp>
        <p:nvSpPr>
          <p:cNvPr id="74" name="">
            <a:extLst xmlns:a="http://schemas.openxmlformats.org/drawingml/2006/main">
              <a:ext uri="{FF2B5EF4-FFF2-40B4-BE49-F238E27FC236}">
                <a16:creationId xmlns:a16="http://schemas.microsoft.com/office/drawing/2014/main" id="{8F767BE3-57B4-4DBF-99F6-B607180D50D0}"/>
              </a:ext>
            </a:extLst>
          </p:cNvPr>
          <p:cNvSpPr>
            <a:spLocks xmlns:a="http://schemas.openxmlformats.org/drawingml/2006/main" noGrp="1"/>
          </p:cNvSpPr>
          <p:nvPr/>
        </p:nvSpPr>
        <p:spPr>
          <a:xfrm xmlns:a="http://schemas.openxmlformats.org/drawingml/2006/main">
            <a:off x="742950" y="931545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0">
                <a:solidFill>
                  <a:srgbClr val="183B39"/>
                </a:solidFill>
              </a:defRPr>
            </a:pPr>
            <a:r>
              <a:rPr sz="713" b="0">
                <a:solidFill>
                  <a:srgbClr val="183B39"/>
                </a:solidFill>
              </a:rPr>
              <a:t>Odisha ranks #2 with ₹0.60 Cr offtake.</a:t>
            </a:r>
          </a:p>
        </p:txBody>
      </p:sp>
      <p:sp>
        <p:nvSpPr>
          <p:cNvPr id="75" name="">
            <a:extLst xmlns:a="http://schemas.openxmlformats.org/drawingml/2006/main">
              <a:ext uri="{FF2B5EF4-FFF2-40B4-BE49-F238E27FC236}">
                <a16:creationId xmlns:a16="http://schemas.microsoft.com/office/drawing/2014/main" id="{9D62F6DC-DA28-4329-8E1D-579CC19A358A}"/>
              </a:ext>
            </a:extLst>
          </p:cNvPr>
          <p:cNvSpPr>
            <a:spLocks xmlns:a="http://schemas.openxmlformats.org/drawingml/2006/main" noGrp="1"/>
          </p:cNvSpPr>
          <p:nvPr/>
        </p:nvSpPr>
        <p:spPr>
          <a:xfrm xmlns:a="http://schemas.openxmlformats.org/drawingml/2006/main">
            <a:off x="2438400" y="9277350"/>
            <a:ext cx="1981200" cy="514350"/>
          </a:xfrm>
          <a:prstGeom xmlns:a="http://schemas.openxmlformats.org/drawingml/2006/main" prst="roundRect">
            <a:avLst>
              <a:gd name="adj" fmla="val 14815"/>
            </a:avLst>
          </a:prstGeom>
          <a:solidFill xmlns:a="http://schemas.openxmlformats.org/drawingml/2006/main">
            <a:srgbClr val="FFFFFF"/>
          </a:solidFill>
          <a:ln xmlns:a="http://schemas.openxmlformats.org/drawingml/2006/main" w="9525">
            <a:solidFill>
              <a:srgbClr val="C8DCD7"/>
            </a:solidFill>
            <a:prstDash val="solid"/>
          </a:ln>
        </p:spPr>
      </p:sp>
      <p:sp>
        <p:nvSpPr>
          <p:cNvPr id="76" name="">
            <a:extLst xmlns:a="http://schemas.openxmlformats.org/drawingml/2006/main">
              <a:ext uri="{FF2B5EF4-FFF2-40B4-BE49-F238E27FC236}">
                <a16:creationId xmlns:a16="http://schemas.microsoft.com/office/drawing/2014/main" id="{567D0537-584D-440A-B79F-B18B88BE3BDA}"/>
              </a:ext>
            </a:extLst>
          </p:cNvPr>
          <p:cNvSpPr>
            <a:spLocks xmlns:a="http://schemas.openxmlformats.org/drawingml/2006/main" noGrp="1"/>
          </p:cNvSpPr>
          <p:nvPr/>
        </p:nvSpPr>
        <p:spPr>
          <a:xfrm xmlns:a="http://schemas.openxmlformats.org/drawingml/2006/main">
            <a:off x="2495550" y="932497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D6544D"/>
                </a:solidFill>
              </a:defRPr>
            </a:pPr>
            <a:r>
              <a:rPr sz="675" b="1">
                <a:solidFill>
                  <a:srgbClr val="D6544D"/>
                </a:solidFill>
              </a:rPr>
              <a:t>08</a:t>
            </a:r>
          </a:p>
        </p:txBody>
      </p:sp>
      <p:sp>
        <p:nvSpPr>
          <p:cNvPr id="77" name="">
            <a:extLst xmlns:a="http://schemas.openxmlformats.org/drawingml/2006/main">
              <a:ext uri="{FF2B5EF4-FFF2-40B4-BE49-F238E27FC236}">
                <a16:creationId xmlns:a16="http://schemas.microsoft.com/office/drawing/2014/main" id="{3465A72E-23C8-44C8-A9A2-3031156AEF03}"/>
              </a:ext>
            </a:extLst>
          </p:cNvPr>
          <p:cNvSpPr>
            <a:spLocks xmlns:a="http://schemas.openxmlformats.org/drawingml/2006/main" noGrp="1"/>
          </p:cNvSpPr>
          <p:nvPr/>
        </p:nvSpPr>
        <p:spPr>
          <a:xfrm xmlns:a="http://schemas.openxmlformats.org/drawingml/2006/main">
            <a:off x="2819400" y="931545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0">
                <a:solidFill>
                  <a:srgbClr val="183B39"/>
                </a:solidFill>
              </a:defRPr>
            </a:pPr>
            <a:r>
              <a:rPr sz="713" b="0">
                <a:solidFill>
                  <a:srgbClr val="183B39"/>
                </a:solidFill>
              </a:rPr>
              <a:t>Bihar ranks #3 with ₹0.49 Cr offtake.</a:t>
            </a:r>
          </a:p>
        </p:txBody>
      </p:sp>
      <p:sp>
        <p:nvSpPr>
          <p:cNvPr id="78" name="">
            <a:extLst xmlns:a="http://schemas.openxmlformats.org/drawingml/2006/main">
              <a:ext uri="{FF2B5EF4-FFF2-40B4-BE49-F238E27FC236}">
                <a16:creationId xmlns:a16="http://schemas.microsoft.com/office/drawing/2014/main" id="{3EA99529-78E3-4A40-904F-4A7710EFE7D6}"/>
              </a:ext>
            </a:extLst>
          </p:cNvPr>
          <p:cNvSpPr>
            <a:spLocks xmlns:a="http://schemas.openxmlformats.org/drawingml/2006/main" noGrp="1"/>
          </p:cNvSpPr>
          <p:nvPr/>
        </p:nvSpPr>
        <p:spPr>
          <a:xfrm xmlns:a="http://schemas.openxmlformats.org/drawingml/2006/main">
            <a:off x="4514850" y="9277350"/>
            <a:ext cx="1981200" cy="514350"/>
          </a:xfrm>
          <a:prstGeom xmlns:a="http://schemas.openxmlformats.org/drawingml/2006/main" prst="roundRect">
            <a:avLst>
              <a:gd name="adj" fmla="val 14815"/>
            </a:avLst>
          </a:prstGeom>
          <a:solidFill xmlns:a="http://schemas.openxmlformats.org/drawingml/2006/main">
            <a:srgbClr val="FFFFFF"/>
          </a:solidFill>
          <a:ln xmlns:a="http://schemas.openxmlformats.org/drawingml/2006/main" w="9525">
            <a:solidFill>
              <a:srgbClr val="C8DCD7"/>
            </a:solidFill>
            <a:prstDash val="solid"/>
          </a:ln>
        </p:spPr>
      </p:sp>
      <p:sp>
        <p:nvSpPr>
          <p:cNvPr id="79" name="">
            <a:extLst xmlns:a="http://schemas.openxmlformats.org/drawingml/2006/main">
              <a:ext uri="{FF2B5EF4-FFF2-40B4-BE49-F238E27FC236}">
                <a16:creationId xmlns:a16="http://schemas.microsoft.com/office/drawing/2014/main" id="{E5B3B42C-E324-439B-9D83-56DE163CAAAA}"/>
              </a:ext>
            </a:extLst>
          </p:cNvPr>
          <p:cNvSpPr>
            <a:spLocks xmlns:a="http://schemas.openxmlformats.org/drawingml/2006/main" noGrp="1"/>
          </p:cNvSpPr>
          <p:nvPr/>
        </p:nvSpPr>
        <p:spPr>
          <a:xfrm xmlns:a="http://schemas.openxmlformats.org/drawingml/2006/main">
            <a:off x="4572000" y="932497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D6544D"/>
                </a:solidFill>
              </a:defRPr>
            </a:pPr>
            <a:r>
              <a:rPr sz="675" b="1">
                <a:solidFill>
                  <a:srgbClr val="D6544D"/>
                </a:solidFill>
              </a:rPr>
              <a:t>09</a:t>
            </a:r>
          </a:p>
        </p:txBody>
      </p:sp>
      <p:sp>
        <p:nvSpPr>
          <p:cNvPr id="80" name="">
            <a:extLst xmlns:a="http://schemas.openxmlformats.org/drawingml/2006/main">
              <a:ext uri="{FF2B5EF4-FFF2-40B4-BE49-F238E27FC236}">
                <a16:creationId xmlns:a16="http://schemas.microsoft.com/office/drawing/2014/main" id="{DAEDA6C7-3A63-4C0F-8BCF-98036EA6C189}"/>
              </a:ext>
            </a:extLst>
          </p:cNvPr>
          <p:cNvSpPr>
            <a:spLocks xmlns:a="http://schemas.openxmlformats.org/drawingml/2006/main" noGrp="1"/>
          </p:cNvSpPr>
          <p:nvPr/>
        </p:nvSpPr>
        <p:spPr>
          <a:xfrm xmlns:a="http://schemas.openxmlformats.org/drawingml/2006/main">
            <a:off x="4895850" y="931545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0">
                <a:solidFill>
                  <a:srgbClr val="183B39"/>
                </a:solidFill>
              </a:defRPr>
            </a:pPr>
            <a:r>
              <a:rPr sz="713" b="0">
                <a:solidFill>
                  <a:srgbClr val="183B39"/>
                </a:solidFill>
              </a:rPr>
              <a:t>The leading state contributes 43.8% of zone offtake.</a:t>
            </a:r>
          </a:p>
        </p:txBody>
      </p:sp>
      <p:sp>
        <p:nvSpPr>
          <p:cNvPr id="81" name="">
            <a:extLst xmlns:a="http://schemas.openxmlformats.org/drawingml/2006/main">
              <a:ext uri="{FF2B5EF4-FFF2-40B4-BE49-F238E27FC236}">
                <a16:creationId xmlns:a16="http://schemas.microsoft.com/office/drawing/2014/main" id="{FD82F0C3-D4AD-402F-AF59-89285183B47D}"/>
              </a:ext>
            </a:extLst>
          </p:cNvPr>
          <p:cNvSpPr>
            <a:spLocks xmlns:a="http://schemas.openxmlformats.org/drawingml/2006/main" noGrp="1"/>
          </p:cNvSpPr>
          <p:nvPr/>
        </p:nvSpPr>
        <p:spPr>
          <a:xfrm xmlns:a="http://schemas.openxmlformats.org/drawingml/2006/main">
            <a:off x="361950" y="9867900"/>
            <a:ext cx="1981200" cy="514350"/>
          </a:xfrm>
          <a:prstGeom xmlns:a="http://schemas.openxmlformats.org/drawingml/2006/main" prst="roundRect">
            <a:avLst>
              <a:gd name="adj" fmla="val 14815"/>
            </a:avLst>
          </a:prstGeom>
          <a:solidFill xmlns:a="http://schemas.openxmlformats.org/drawingml/2006/main">
            <a:srgbClr val="FFFFFF"/>
          </a:solidFill>
          <a:ln xmlns:a="http://schemas.openxmlformats.org/drawingml/2006/main" w="9525">
            <a:solidFill>
              <a:srgbClr val="C8DCD7"/>
            </a:solidFill>
            <a:prstDash val="solid"/>
          </a:ln>
        </p:spPr>
      </p:sp>
      <p:sp>
        <p:nvSpPr>
          <p:cNvPr id="82" name="">
            <a:extLst xmlns:a="http://schemas.openxmlformats.org/drawingml/2006/main">
              <a:ext uri="{FF2B5EF4-FFF2-40B4-BE49-F238E27FC236}">
                <a16:creationId xmlns:a16="http://schemas.microsoft.com/office/drawing/2014/main" id="{7742CE6E-6FF4-4CFE-B9FE-EF2E5D486A82}"/>
              </a:ext>
            </a:extLst>
          </p:cNvPr>
          <p:cNvSpPr>
            <a:spLocks xmlns:a="http://schemas.openxmlformats.org/drawingml/2006/main" noGrp="1"/>
          </p:cNvSpPr>
          <p:nvPr/>
        </p:nvSpPr>
        <p:spPr>
          <a:xfrm xmlns:a="http://schemas.openxmlformats.org/drawingml/2006/main">
            <a:off x="419100" y="991552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D6544D"/>
                </a:solidFill>
              </a:defRPr>
            </a:pPr>
            <a:r>
              <a:rPr sz="675" b="1">
                <a:solidFill>
                  <a:srgbClr val="D6544D"/>
                </a:solidFill>
              </a:rPr>
              <a:t>10</a:t>
            </a:r>
          </a:p>
        </p:txBody>
      </p:sp>
      <p:sp>
        <p:nvSpPr>
          <p:cNvPr id="83" name="">
            <a:extLst xmlns:a="http://schemas.openxmlformats.org/drawingml/2006/main">
              <a:ext uri="{FF2B5EF4-FFF2-40B4-BE49-F238E27FC236}">
                <a16:creationId xmlns:a16="http://schemas.microsoft.com/office/drawing/2014/main" id="{D7BCE096-A16A-4EB9-A43D-D87F75B7154D}"/>
              </a:ext>
            </a:extLst>
          </p:cNvPr>
          <p:cNvSpPr>
            <a:spLocks xmlns:a="http://schemas.openxmlformats.org/drawingml/2006/main" noGrp="1"/>
          </p:cNvSpPr>
          <p:nvPr/>
        </p:nvSpPr>
        <p:spPr>
          <a:xfrm xmlns:a="http://schemas.openxmlformats.org/drawingml/2006/main">
            <a:off x="742950" y="990600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0">
                <a:solidFill>
                  <a:srgbClr val="183B39"/>
                </a:solidFill>
              </a:defRPr>
            </a:pPr>
            <a:r>
              <a:rPr sz="713" b="0">
                <a:solidFill>
                  <a:srgbClr val="183B39"/>
                </a:solidFill>
              </a:rPr>
              <a:t>The top three states contribute 74.3% of zone offtake.</a:t>
            </a:r>
          </a:p>
        </p:txBody>
      </p:sp>
      <p:sp>
        <p:nvSpPr>
          <p:cNvPr id="84" name="">
            <a:extLst xmlns:a="http://schemas.openxmlformats.org/drawingml/2006/main">
              <a:ext uri="{FF2B5EF4-FFF2-40B4-BE49-F238E27FC236}">
                <a16:creationId xmlns:a16="http://schemas.microsoft.com/office/drawing/2014/main" id="{D429F0B9-1EC4-4A61-B514-E8430DCC66D7}"/>
              </a:ext>
            </a:extLst>
          </p:cNvPr>
          <p:cNvSpPr>
            <a:spLocks xmlns:a="http://schemas.openxmlformats.org/drawingml/2006/main" noGrp="1"/>
          </p:cNvSpPr>
          <p:nvPr/>
        </p:nvSpPr>
        <p:spPr>
          <a:xfrm xmlns:a="http://schemas.openxmlformats.org/drawingml/2006/main">
            <a:off x="2438400" y="9867900"/>
            <a:ext cx="1981200" cy="514350"/>
          </a:xfrm>
          <a:prstGeom xmlns:a="http://schemas.openxmlformats.org/drawingml/2006/main" prst="roundRect">
            <a:avLst>
              <a:gd name="adj" fmla="val 14815"/>
            </a:avLst>
          </a:prstGeom>
          <a:solidFill xmlns:a="http://schemas.openxmlformats.org/drawingml/2006/main">
            <a:srgbClr val="FFFFFF"/>
          </a:solidFill>
          <a:ln xmlns:a="http://schemas.openxmlformats.org/drawingml/2006/main" w="9525">
            <a:solidFill>
              <a:srgbClr val="C8DCD7"/>
            </a:solidFill>
            <a:prstDash val="solid"/>
          </a:ln>
        </p:spPr>
      </p:sp>
      <p:sp>
        <p:nvSpPr>
          <p:cNvPr id="85" name="">
            <a:extLst xmlns:a="http://schemas.openxmlformats.org/drawingml/2006/main">
              <a:ext uri="{FF2B5EF4-FFF2-40B4-BE49-F238E27FC236}">
                <a16:creationId xmlns:a16="http://schemas.microsoft.com/office/drawing/2014/main" id="{B0397E24-5F3A-440C-A4BF-1FF8A1DA977B}"/>
              </a:ext>
            </a:extLst>
          </p:cNvPr>
          <p:cNvSpPr>
            <a:spLocks xmlns:a="http://schemas.openxmlformats.org/drawingml/2006/main" noGrp="1"/>
          </p:cNvSpPr>
          <p:nvPr/>
        </p:nvSpPr>
        <p:spPr>
          <a:xfrm xmlns:a="http://schemas.openxmlformats.org/drawingml/2006/main">
            <a:off x="2495550" y="991552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D6544D"/>
                </a:solidFill>
              </a:defRPr>
            </a:pPr>
            <a:r>
              <a:rPr sz="675" b="1">
                <a:solidFill>
                  <a:srgbClr val="D6544D"/>
                </a:solidFill>
              </a:rPr>
              <a:t>11</a:t>
            </a:r>
          </a:p>
        </p:txBody>
      </p:sp>
      <p:sp>
        <p:nvSpPr>
          <p:cNvPr id="86" name="">
            <a:extLst xmlns:a="http://schemas.openxmlformats.org/drawingml/2006/main">
              <a:ext uri="{FF2B5EF4-FFF2-40B4-BE49-F238E27FC236}">
                <a16:creationId xmlns:a16="http://schemas.microsoft.com/office/drawing/2014/main" id="{0965A45D-ABA8-415C-840A-1A11835FD4A4}"/>
              </a:ext>
            </a:extLst>
          </p:cNvPr>
          <p:cNvSpPr>
            <a:spLocks xmlns:a="http://schemas.openxmlformats.org/drawingml/2006/main" noGrp="1"/>
          </p:cNvSpPr>
          <p:nvPr/>
        </p:nvSpPr>
        <p:spPr>
          <a:xfrm xmlns:a="http://schemas.openxmlformats.org/drawingml/2006/main">
            <a:off x="2819400" y="990600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0">
                <a:solidFill>
                  <a:srgbClr val="183B39"/>
                </a:solidFill>
              </a:defRPr>
            </a:pPr>
            <a:r>
              <a:rPr sz="713" b="0">
                <a:solidFill>
                  <a:srgbClr val="183B39"/>
                </a:solidFill>
              </a:rPr>
              <a:t>Reliance: ₹2.16 Cr offtake; 52.9%.</a:t>
            </a:r>
          </a:p>
        </p:txBody>
      </p:sp>
      <p:sp>
        <p:nvSpPr>
          <p:cNvPr id="87" name="">
            <a:extLst xmlns:a="http://schemas.openxmlformats.org/drawingml/2006/main">
              <a:ext uri="{FF2B5EF4-FFF2-40B4-BE49-F238E27FC236}">
                <a16:creationId xmlns:a16="http://schemas.microsoft.com/office/drawing/2014/main" id="{732941AC-CFFA-424A-88AB-1B6F02506CC1}"/>
              </a:ext>
            </a:extLst>
          </p:cNvPr>
          <p:cNvSpPr>
            <a:spLocks xmlns:a="http://schemas.openxmlformats.org/drawingml/2006/main" noGrp="1"/>
          </p:cNvSpPr>
          <p:nvPr/>
        </p:nvSpPr>
        <p:spPr>
          <a:xfrm xmlns:a="http://schemas.openxmlformats.org/drawingml/2006/main">
            <a:off x="4514850" y="9867900"/>
            <a:ext cx="1981200" cy="514350"/>
          </a:xfrm>
          <a:prstGeom xmlns:a="http://schemas.openxmlformats.org/drawingml/2006/main" prst="roundRect">
            <a:avLst>
              <a:gd name="adj" fmla="val 14815"/>
            </a:avLst>
          </a:prstGeom>
          <a:solidFill xmlns:a="http://schemas.openxmlformats.org/drawingml/2006/main">
            <a:srgbClr val="FFFFFF"/>
          </a:solidFill>
          <a:ln xmlns:a="http://schemas.openxmlformats.org/drawingml/2006/main" w="9525">
            <a:solidFill>
              <a:srgbClr val="C8DCD7"/>
            </a:solidFill>
            <a:prstDash val="solid"/>
          </a:ln>
        </p:spPr>
      </p:sp>
      <p:sp>
        <p:nvSpPr>
          <p:cNvPr id="88" name="">
            <a:extLst xmlns:a="http://schemas.openxmlformats.org/drawingml/2006/main">
              <a:ext uri="{FF2B5EF4-FFF2-40B4-BE49-F238E27FC236}">
                <a16:creationId xmlns:a16="http://schemas.microsoft.com/office/drawing/2014/main" id="{8819AF84-CA09-4943-8759-4D28EB8249CC}"/>
              </a:ext>
            </a:extLst>
          </p:cNvPr>
          <p:cNvSpPr>
            <a:spLocks xmlns:a="http://schemas.openxmlformats.org/drawingml/2006/main" noGrp="1"/>
          </p:cNvSpPr>
          <p:nvPr/>
        </p:nvSpPr>
        <p:spPr>
          <a:xfrm xmlns:a="http://schemas.openxmlformats.org/drawingml/2006/main">
            <a:off x="4572000" y="991552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D6544D"/>
                </a:solidFill>
              </a:defRPr>
            </a:pPr>
            <a:r>
              <a:rPr sz="675" b="1">
                <a:solidFill>
                  <a:srgbClr val="D6544D"/>
                </a:solidFill>
              </a:rPr>
              <a:t>12</a:t>
            </a:r>
          </a:p>
        </p:txBody>
      </p:sp>
      <p:sp>
        <p:nvSpPr>
          <p:cNvPr id="89" name="">
            <a:extLst xmlns:a="http://schemas.openxmlformats.org/drawingml/2006/main">
              <a:ext uri="{FF2B5EF4-FFF2-40B4-BE49-F238E27FC236}">
                <a16:creationId xmlns:a16="http://schemas.microsoft.com/office/drawing/2014/main" id="{A3BC489D-9389-4C01-8AF2-BCD018A311C5}"/>
              </a:ext>
            </a:extLst>
          </p:cNvPr>
          <p:cNvSpPr>
            <a:spLocks xmlns:a="http://schemas.openxmlformats.org/drawingml/2006/main" noGrp="1"/>
          </p:cNvSpPr>
          <p:nvPr/>
        </p:nvSpPr>
        <p:spPr>
          <a:xfrm xmlns:a="http://schemas.openxmlformats.org/drawingml/2006/main">
            <a:off x="4895850" y="990600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0">
                <a:solidFill>
                  <a:srgbClr val="183B39"/>
                </a:solidFill>
              </a:defRPr>
            </a:pPr>
            <a:r>
              <a:rPr sz="713" b="0">
                <a:solidFill>
                  <a:srgbClr val="183B39"/>
                </a:solidFill>
              </a:rPr>
              <a:t>Apollo: ₹0.80 Cr offtake; 121.1%.</a:t>
            </a:r>
          </a:p>
        </p:txBody>
      </p:sp>
      <p:sp>
        <p:nvSpPr>
          <p:cNvPr id="90" name="">
            <a:extLst xmlns:a="http://schemas.openxmlformats.org/drawingml/2006/main">
              <a:ext uri="{FF2B5EF4-FFF2-40B4-BE49-F238E27FC236}">
                <a16:creationId xmlns:a16="http://schemas.microsoft.com/office/drawing/2014/main" id="{C5367463-00C7-4E81-AC3D-5FBCDCA09A24}"/>
              </a:ext>
            </a:extLst>
          </p:cNvPr>
          <p:cNvSpPr>
            <a:spLocks xmlns:a="http://schemas.openxmlformats.org/drawingml/2006/main" noGrp="1"/>
          </p:cNvSpPr>
          <p:nvPr/>
        </p:nvSpPr>
        <p:spPr>
          <a:xfrm xmlns:a="http://schemas.openxmlformats.org/drawingml/2006/main">
            <a:off x="361950" y="10458450"/>
            <a:ext cx="1981200" cy="514350"/>
          </a:xfrm>
          <a:prstGeom xmlns:a="http://schemas.openxmlformats.org/drawingml/2006/main" prst="roundRect">
            <a:avLst>
              <a:gd name="adj" fmla="val 14815"/>
            </a:avLst>
          </a:prstGeom>
          <a:solidFill xmlns:a="http://schemas.openxmlformats.org/drawingml/2006/main">
            <a:srgbClr val="FFFFFF"/>
          </a:solidFill>
          <a:ln xmlns:a="http://schemas.openxmlformats.org/drawingml/2006/main" w="9525">
            <a:solidFill>
              <a:srgbClr val="C8DCD7"/>
            </a:solidFill>
            <a:prstDash val="solid"/>
          </a:ln>
        </p:spPr>
      </p:sp>
      <p:sp>
        <p:nvSpPr>
          <p:cNvPr id="91" name="">
            <a:extLst xmlns:a="http://schemas.openxmlformats.org/drawingml/2006/main">
              <a:ext uri="{FF2B5EF4-FFF2-40B4-BE49-F238E27FC236}">
                <a16:creationId xmlns:a16="http://schemas.microsoft.com/office/drawing/2014/main" id="{DF432B66-4669-4012-A88F-9F6EE4F88731}"/>
              </a:ext>
            </a:extLst>
          </p:cNvPr>
          <p:cNvSpPr>
            <a:spLocks xmlns:a="http://schemas.openxmlformats.org/drawingml/2006/main" noGrp="1"/>
          </p:cNvSpPr>
          <p:nvPr/>
        </p:nvSpPr>
        <p:spPr>
          <a:xfrm xmlns:a="http://schemas.openxmlformats.org/drawingml/2006/main">
            <a:off x="419100" y="1050607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D6544D"/>
                </a:solidFill>
              </a:defRPr>
            </a:pPr>
            <a:r>
              <a:rPr sz="675" b="1">
                <a:solidFill>
                  <a:srgbClr val="D6544D"/>
                </a:solidFill>
              </a:rPr>
              <a:t>13</a:t>
            </a:r>
          </a:p>
        </p:txBody>
      </p:sp>
      <p:sp>
        <p:nvSpPr>
          <p:cNvPr id="92" name="">
            <a:extLst xmlns:a="http://schemas.openxmlformats.org/drawingml/2006/main">
              <a:ext uri="{FF2B5EF4-FFF2-40B4-BE49-F238E27FC236}">
                <a16:creationId xmlns:a16="http://schemas.microsoft.com/office/drawing/2014/main" id="{60B65440-3BD3-42B3-BF52-D101C8C69514}"/>
              </a:ext>
            </a:extLst>
          </p:cNvPr>
          <p:cNvSpPr>
            <a:spLocks xmlns:a="http://schemas.openxmlformats.org/drawingml/2006/main" noGrp="1"/>
          </p:cNvSpPr>
          <p:nvPr/>
        </p:nvSpPr>
        <p:spPr>
          <a:xfrm xmlns:a="http://schemas.openxmlformats.org/drawingml/2006/main">
            <a:off x="742950" y="1049655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0">
                <a:solidFill>
                  <a:srgbClr val="183B39"/>
                </a:solidFill>
              </a:defRPr>
            </a:pPr>
            <a:r>
              <a:rPr sz="713" b="0">
                <a:solidFill>
                  <a:srgbClr val="183B39"/>
                </a:solidFill>
              </a:rPr>
              <a:t>Vishal Mega Mart: ₹0.17 Cr offtake; primary comparison unavailable.</a:t>
            </a:r>
          </a:p>
        </p:txBody>
      </p:sp>
      <p:sp>
        <p:nvSpPr>
          <p:cNvPr id="93" name="">
            <a:extLst xmlns:a="http://schemas.openxmlformats.org/drawingml/2006/main">
              <a:ext uri="{FF2B5EF4-FFF2-40B4-BE49-F238E27FC236}">
                <a16:creationId xmlns:a16="http://schemas.microsoft.com/office/drawing/2014/main" id="{1484FD4E-48F9-41A2-BDF7-6B5BCAC67768}"/>
              </a:ext>
            </a:extLst>
          </p:cNvPr>
          <p:cNvSpPr>
            <a:spLocks xmlns:a="http://schemas.openxmlformats.org/drawingml/2006/main" noGrp="1"/>
          </p:cNvSpPr>
          <p:nvPr/>
        </p:nvSpPr>
        <p:spPr>
          <a:xfrm xmlns:a="http://schemas.openxmlformats.org/drawingml/2006/main">
            <a:off x="2438400" y="10458450"/>
            <a:ext cx="1981200" cy="514350"/>
          </a:xfrm>
          <a:prstGeom xmlns:a="http://schemas.openxmlformats.org/drawingml/2006/main" prst="roundRect">
            <a:avLst>
              <a:gd name="adj" fmla="val 14815"/>
            </a:avLst>
          </a:prstGeom>
          <a:solidFill xmlns:a="http://schemas.openxmlformats.org/drawingml/2006/main">
            <a:srgbClr val="FFFFFF"/>
          </a:solidFill>
          <a:ln xmlns:a="http://schemas.openxmlformats.org/drawingml/2006/main" w="9525">
            <a:solidFill>
              <a:srgbClr val="C8DCD7"/>
            </a:solidFill>
            <a:prstDash val="solid"/>
          </a:ln>
        </p:spPr>
      </p:sp>
      <p:sp>
        <p:nvSpPr>
          <p:cNvPr id="94" name="">
            <a:extLst xmlns:a="http://schemas.openxmlformats.org/drawingml/2006/main">
              <a:ext uri="{FF2B5EF4-FFF2-40B4-BE49-F238E27FC236}">
                <a16:creationId xmlns:a16="http://schemas.microsoft.com/office/drawing/2014/main" id="{D71BD2FD-E592-434C-9E16-0078B3DD2109}"/>
              </a:ext>
            </a:extLst>
          </p:cNvPr>
          <p:cNvSpPr>
            <a:spLocks xmlns:a="http://schemas.openxmlformats.org/drawingml/2006/main" noGrp="1"/>
          </p:cNvSpPr>
          <p:nvPr/>
        </p:nvSpPr>
        <p:spPr>
          <a:xfrm xmlns:a="http://schemas.openxmlformats.org/drawingml/2006/main">
            <a:off x="2495550" y="1050607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D6544D"/>
                </a:solidFill>
              </a:defRPr>
            </a:pPr>
            <a:r>
              <a:rPr sz="675" b="1">
                <a:solidFill>
                  <a:srgbClr val="D6544D"/>
                </a:solidFill>
              </a:rPr>
              <a:t>14</a:t>
            </a:r>
          </a:p>
        </p:txBody>
      </p:sp>
      <p:sp>
        <p:nvSpPr>
          <p:cNvPr id="95" name="">
            <a:extLst xmlns:a="http://schemas.openxmlformats.org/drawingml/2006/main">
              <a:ext uri="{FF2B5EF4-FFF2-40B4-BE49-F238E27FC236}">
                <a16:creationId xmlns:a16="http://schemas.microsoft.com/office/drawing/2014/main" id="{C3A6BC2B-AB8A-417E-9F37-7E3D0474AF97}"/>
              </a:ext>
            </a:extLst>
          </p:cNvPr>
          <p:cNvSpPr>
            <a:spLocks xmlns:a="http://schemas.openxmlformats.org/drawingml/2006/main" noGrp="1"/>
          </p:cNvSpPr>
          <p:nvPr/>
        </p:nvSpPr>
        <p:spPr>
          <a:xfrm xmlns:a="http://schemas.openxmlformats.org/drawingml/2006/main">
            <a:off x="2819400" y="1049655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0">
                <a:solidFill>
                  <a:srgbClr val="183B39"/>
                </a:solidFill>
              </a:defRPr>
            </a:pPr>
            <a:r>
              <a:rPr sz="713" b="0">
                <a:solidFill>
                  <a:srgbClr val="183B39"/>
                </a:solidFill>
              </a:rPr>
              <a:t>The leading chain contributes 60.9% of zone offtake.</a:t>
            </a:r>
          </a:p>
        </p:txBody>
      </p:sp>
      <p:sp>
        <p:nvSpPr>
          <p:cNvPr id="96" name="">
            <a:extLst xmlns:a="http://schemas.openxmlformats.org/drawingml/2006/main">
              <a:ext uri="{FF2B5EF4-FFF2-40B4-BE49-F238E27FC236}">
                <a16:creationId xmlns:a16="http://schemas.microsoft.com/office/drawing/2014/main" id="{F993C6E9-5F09-4C2D-8B98-3793DEAEA241}"/>
              </a:ext>
            </a:extLst>
          </p:cNvPr>
          <p:cNvSpPr>
            <a:spLocks xmlns:a="http://schemas.openxmlformats.org/drawingml/2006/main" noGrp="1"/>
          </p:cNvSpPr>
          <p:nvPr/>
        </p:nvSpPr>
        <p:spPr>
          <a:xfrm xmlns:a="http://schemas.openxmlformats.org/drawingml/2006/main">
            <a:off x="4514850" y="10458450"/>
            <a:ext cx="1981200" cy="514350"/>
          </a:xfrm>
          <a:prstGeom xmlns:a="http://schemas.openxmlformats.org/drawingml/2006/main" prst="roundRect">
            <a:avLst>
              <a:gd name="adj" fmla="val 14815"/>
            </a:avLst>
          </a:prstGeom>
          <a:solidFill xmlns:a="http://schemas.openxmlformats.org/drawingml/2006/main">
            <a:srgbClr val="FFFFFF"/>
          </a:solidFill>
          <a:ln xmlns:a="http://schemas.openxmlformats.org/drawingml/2006/main" w="9525">
            <a:solidFill>
              <a:srgbClr val="C8DCD7"/>
            </a:solidFill>
            <a:prstDash val="solid"/>
          </a:ln>
        </p:spPr>
      </p:sp>
      <p:sp>
        <p:nvSpPr>
          <p:cNvPr id="97" name="">
            <a:extLst xmlns:a="http://schemas.openxmlformats.org/drawingml/2006/main">
              <a:ext uri="{FF2B5EF4-FFF2-40B4-BE49-F238E27FC236}">
                <a16:creationId xmlns:a16="http://schemas.microsoft.com/office/drawing/2014/main" id="{47BD1D84-E11C-4BF7-8EE9-01C7018DF833}"/>
              </a:ext>
            </a:extLst>
          </p:cNvPr>
          <p:cNvSpPr>
            <a:spLocks xmlns:a="http://schemas.openxmlformats.org/drawingml/2006/main" noGrp="1"/>
          </p:cNvSpPr>
          <p:nvPr/>
        </p:nvSpPr>
        <p:spPr>
          <a:xfrm xmlns:a="http://schemas.openxmlformats.org/drawingml/2006/main">
            <a:off x="4572000" y="1050607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D6544D"/>
                </a:solidFill>
              </a:defRPr>
            </a:pPr>
            <a:r>
              <a:rPr sz="675" b="1">
                <a:solidFill>
                  <a:srgbClr val="D6544D"/>
                </a:solidFill>
              </a:rPr>
              <a:t>15</a:t>
            </a:r>
          </a:p>
        </p:txBody>
      </p:sp>
      <p:sp>
        <p:nvSpPr>
          <p:cNvPr id="98" name="">
            <a:extLst xmlns:a="http://schemas.openxmlformats.org/drawingml/2006/main">
              <a:ext uri="{FF2B5EF4-FFF2-40B4-BE49-F238E27FC236}">
                <a16:creationId xmlns:a16="http://schemas.microsoft.com/office/drawing/2014/main" id="{99C93FDE-FE53-4105-AEF6-1CA74A77101F}"/>
              </a:ext>
            </a:extLst>
          </p:cNvPr>
          <p:cNvSpPr>
            <a:spLocks xmlns:a="http://schemas.openxmlformats.org/drawingml/2006/main" noGrp="1"/>
          </p:cNvSpPr>
          <p:nvPr/>
        </p:nvSpPr>
        <p:spPr>
          <a:xfrm xmlns:a="http://schemas.openxmlformats.org/drawingml/2006/main">
            <a:off x="4895850" y="1049655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0">
                <a:solidFill>
                  <a:srgbClr val="183B39"/>
                </a:solidFill>
              </a:defRPr>
            </a:pPr>
            <a:r>
              <a:rPr sz="713" b="0">
                <a:solidFill>
                  <a:srgbClr val="183B39"/>
                </a:solidFill>
              </a:rPr>
              <a:t>The top three chains contribute 88.2% of zone offtake.</a:t>
            </a:r>
          </a:p>
        </p:txBody>
      </p:sp>
      <p:sp>
        <p:nvSpPr>
          <p:cNvPr id="99" name="">
            <a:extLst xmlns:a="http://schemas.openxmlformats.org/drawingml/2006/main">
              <a:ext uri="{FF2B5EF4-FFF2-40B4-BE49-F238E27FC236}">
                <a16:creationId xmlns:a16="http://schemas.microsoft.com/office/drawing/2014/main" id="{72DA48CD-D128-40B4-B148-76C0E242BC11}"/>
              </a:ext>
            </a:extLst>
          </p:cNvPr>
          <p:cNvSpPr>
            <a:spLocks xmlns:a="http://schemas.openxmlformats.org/drawingml/2006/main" noGrp="1"/>
          </p:cNvSpPr>
          <p:nvPr/>
        </p:nvSpPr>
        <p:spPr>
          <a:xfrm xmlns:a="http://schemas.openxmlformats.org/drawingml/2006/main">
            <a:off x="381000" y="11239500"/>
            <a:ext cx="6096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750" b="0">
                <a:solidFill>
                  <a:srgbClr val="5F716E"/>
                </a:solidFill>
              </a:defRPr>
            </a:pPr>
            <a:r>
              <a:rPr sz="750" b="0">
                <a:solidFill>
                  <a:srgbClr val="5F716E"/>
                </a:solidFill>
              </a:rPr>
              <a:t>East NPI mix 10.2% | Priority: Reliance × hero-EAN availability</a:t>
            </a:r>
          </a:p>
        </p:txBody>
      </p:sp>
      <p:sp>
        <p:nvSpPr>
          <p:cNvPr id="100" name="">
            <a:extLst xmlns:a="http://schemas.openxmlformats.org/drawingml/2006/main">
              <a:ext uri="{FF2B5EF4-FFF2-40B4-BE49-F238E27FC236}">
                <a16:creationId xmlns:a16="http://schemas.microsoft.com/office/drawing/2014/main" id="{4B2F9B23-FF2F-4E5B-AB18-2038E78B5D76}"/>
              </a:ext>
            </a:extLst>
          </p:cNvPr>
          <p:cNvSpPr>
            <a:spLocks xmlns:a="http://schemas.openxmlformats.org/drawingml/2006/main" noGrp="1"/>
          </p:cNvSpPr>
          <p:nvPr/>
        </p:nvSpPr>
        <p:spPr>
          <a:xfrm xmlns:a="http://schemas.openxmlformats.org/drawingml/2006/main">
            <a:off x="361950" y="11544300"/>
            <a:ext cx="6134100" cy="457200"/>
          </a:xfrm>
          <a:prstGeom xmlns:a="http://schemas.openxmlformats.org/drawingml/2006/main" prst="roundRect">
            <a:avLst>
              <a:gd name="adj" fmla="val 16667"/>
            </a:avLst>
          </a:prstGeom>
          <a:solidFill xmlns:a="http://schemas.openxmlformats.org/drawingml/2006/main">
            <a:srgbClr val="DFF2ED"/>
          </a:solidFill>
          <a:ln xmlns:a="http://schemas.openxmlformats.org/drawingml/2006/main" w="9525">
            <a:solidFill>
              <a:srgbClr val="28A596"/>
            </a:solidFill>
            <a:prstDash val="solid"/>
          </a:ln>
        </p:spPr>
      </p:sp>
      <p:sp>
        <p:nvSpPr>
          <p:cNvPr id="101" name="">
            <a:extLst xmlns:a="http://schemas.openxmlformats.org/drawingml/2006/main">
              <a:ext uri="{FF2B5EF4-FFF2-40B4-BE49-F238E27FC236}">
                <a16:creationId xmlns:a16="http://schemas.microsoft.com/office/drawing/2014/main" id="{DE372E18-DC60-4E89-A988-6573D6F9F251}"/>
              </a:ext>
            </a:extLst>
          </p:cNvPr>
          <p:cNvSpPr>
            <a:spLocks xmlns:a="http://schemas.openxmlformats.org/drawingml/2006/main" noGrp="1"/>
          </p:cNvSpPr>
          <p:nvPr/>
        </p:nvSpPr>
        <p:spPr>
          <a:xfrm xmlns:a="http://schemas.openxmlformats.org/drawingml/2006/main">
            <a:off x="438150" y="11582400"/>
            <a:ext cx="142875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38" b="1">
                <a:solidFill>
                  <a:srgbClr val="116F68"/>
                </a:solidFill>
              </a:defRPr>
            </a:pPr>
            <a:r>
              <a:rPr sz="638" b="1">
                <a:solidFill>
                  <a:srgbClr val="116F68"/>
                </a:solidFill>
              </a:rPr>
              <a:t>EVIDENCE</a:t>
            </a:r>
          </a:p>
        </p:txBody>
      </p:sp>
      <p:sp>
        <p:nvSpPr>
          <p:cNvPr id="102" name="">
            <a:extLst xmlns:a="http://schemas.openxmlformats.org/drawingml/2006/main">
              <a:ext uri="{FF2B5EF4-FFF2-40B4-BE49-F238E27FC236}">
                <a16:creationId xmlns:a16="http://schemas.microsoft.com/office/drawing/2014/main" id="{29944DC8-38F9-4424-A3D8-3C5DBA8A832F}"/>
              </a:ext>
            </a:extLst>
          </p:cNvPr>
          <p:cNvSpPr>
            <a:spLocks xmlns:a="http://schemas.openxmlformats.org/drawingml/2006/main" noGrp="1"/>
          </p:cNvSpPr>
          <p:nvPr/>
        </p:nvSpPr>
        <p:spPr>
          <a:xfrm xmlns:a="http://schemas.openxmlformats.org/drawingml/2006/main">
            <a:off x="438150" y="11734800"/>
            <a:ext cx="1428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00" b="0">
                <a:solidFill>
                  <a:srgbClr val="183B39"/>
                </a:solidFill>
              </a:defRPr>
            </a:pPr>
            <a:r>
              <a:rPr sz="600" b="0">
                <a:solidFill>
                  <a:srgbClr val="183B39"/>
                </a:solidFill>
              </a:rPr>
              <a:t>East 45.3% conv — worst nationally; ₹7.83 Cr primary vs ₹3.55 Cr offtake; Reliance East 52.9% core problem; LY: offtake +46.4% Aug-25 (Paisa Vasool); LY primary Jul-25 ₹6.68→Aug-25 ₹5.42 Cr (−18.8%); East pipeline may convert Aug-26; NPI 10.2% highest nationally</a:t>
            </a:r>
          </a:p>
        </p:txBody>
      </p:sp>
      <p:sp>
        <p:nvSpPr>
          <p:cNvPr id="103" name="">
            <a:extLst xmlns:a="http://schemas.openxmlformats.org/drawingml/2006/main">
              <a:ext uri="{FF2B5EF4-FFF2-40B4-BE49-F238E27FC236}">
                <a16:creationId xmlns:a16="http://schemas.microsoft.com/office/drawing/2014/main" id="{34D753D9-5801-4006-B53D-D8FBDCAE619D}"/>
              </a:ext>
            </a:extLst>
          </p:cNvPr>
          <p:cNvSpPr>
            <a:spLocks xmlns:a="http://schemas.openxmlformats.org/drawingml/2006/main" noGrp="1"/>
          </p:cNvSpPr>
          <p:nvPr/>
        </p:nvSpPr>
        <p:spPr>
          <a:xfrm xmlns:a="http://schemas.openxmlformats.org/drawingml/2006/main">
            <a:off x="1924050" y="11610975"/>
            <a:ext cx="0" cy="304800"/>
          </a:xfrm>
          <a:prstGeom xmlns:a="http://schemas.openxmlformats.org/drawingml/2006/main" prst="line">
            <a:avLst/>
          </a:prstGeom>
          <a:ln xmlns:a="http://schemas.openxmlformats.org/drawingml/2006/main" w="9525">
            <a:solidFill>
              <a:srgbClr val="C8DCD7"/>
            </a:solidFill>
            <a:prstDash val="solid"/>
          </a:ln>
        </p:spPr>
      </p:sp>
      <p:sp>
        <p:nvSpPr>
          <p:cNvPr id="104" name="">
            <a:extLst xmlns:a="http://schemas.openxmlformats.org/drawingml/2006/main">
              <a:ext uri="{FF2B5EF4-FFF2-40B4-BE49-F238E27FC236}">
                <a16:creationId xmlns:a16="http://schemas.microsoft.com/office/drawing/2014/main" id="{8CB9FF07-EF61-4C50-A286-CDB5F21D41E9}"/>
              </a:ext>
            </a:extLst>
          </p:cNvPr>
          <p:cNvSpPr>
            <a:spLocks xmlns:a="http://schemas.openxmlformats.org/drawingml/2006/main" noGrp="1"/>
          </p:cNvSpPr>
          <p:nvPr/>
        </p:nvSpPr>
        <p:spPr>
          <a:xfrm xmlns:a="http://schemas.openxmlformats.org/drawingml/2006/main">
            <a:off x="1952625" y="11582400"/>
            <a:ext cx="142875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38" b="1">
                <a:solidFill>
                  <a:srgbClr val="116F68"/>
                </a:solidFill>
              </a:defRPr>
            </a:pPr>
            <a:r>
              <a:rPr sz="638" b="1">
                <a:solidFill>
                  <a:srgbClr val="116F68"/>
                </a:solidFill>
              </a:rPr>
              <a:t>IMPLICATION</a:t>
            </a:r>
          </a:p>
        </p:txBody>
      </p:sp>
      <p:sp>
        <p:nvSpPr>
          <p:cNvPr id="105" name="">
            <a:extLst xmlns:a="http://schemas.openxmlformats.org/drawingml/2006/main">
              <a:ext uri="{FF2B5EF4-FFF2-40B4-BE49-F238E27FC236}">
                <a16:creationId xmlns:a16="http://schemas.microsoft.com/office/drawing/2014/main" id="{81707F77-CEFD-40AF-866D-D080A384B6D4}"/>
              </a:ext>
            </a:extLst>
          </p:cNvPr>
          <p:cNvSpPr>
            <a:spLocks xmlns:a="http://schemas.openxmlformats.org/drawingml/2006/main" noGrp="1"/>
          </p:cNvSpPr>
          <p:nvPr/>
        </p:nvSpPr>
        <p:spPr>
          <a:xfrm xmlns:a="http://schemas.openxmlformats.org/drawingml/2006/main">
            <a:off x="1952625" y="11734800"/>
            <a:ext cx="1428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00" b="0">
                <a:solidFill>
                  <a:srgbClr val="183B39"/>
                </a:solidFill>
              </a:defRPr>
            </a:pPr>
            <a:r>
              <a:rPr sz="600" b="0">
                <a:solidFill>
                  <a:srgbClr val="183B39"/>
                </a:solidFill>
              </a:rPr>
              <a:t>East is over-loaded relative to demonstrated demand; 10.2% NPI mix risks inventory buildup if sellthrough is not confirmed before the next primary cycle</a:t>
            </a:r>
          </a:p>
        </p:txBody>
      </p:sp>
      <p:sp>
        <p:nvSpPr>
          <p:cNvPr id="106" name="">
            <a:extLst xmlns:a="http://schemas.openxmlformats.org/drawingml/2006/main">
              <a:ext uri="{FF2B5EF4-FFF2-40B4-BE49-F238E27FC236}">
                <a16:creationId xmlns:a16="http://schemas.microsoft.com/office/drawing/2014/main" id="{30A739DA-826D-4E78-A9A4-C0F4F896423F}"/>
              </a:ext>
            </a:extLst>
          </p:cNvPr>
          <p:cNvSpPr>
            <a:spLocks xmlns:a="http://schemas.openxmlformats.org/drawingml/2006/main" noGrp="1"/>
          </p:cNvSpPr>
          <p:nvPr/>
        </p:nvSpPr>
        <p:spPr>
          <a:xfrm xmlns:a="http://schemas.openxmlformats.org/drawingml/2006/main">
            <a:off x="3438525" y="11610975"/>
            <a:ext cx="0" cy="304800"/>
          </a:xfrm>
          <a:prstGeom xmlns:a="http://schemas.openxmlformats.org/drawingml/2006/main" prst="line">
            <a:avLst/>
          </a:prstGeom>
          <a:ln xmlns:a="http://schemas.openxmlformats.org/drawingml/2006/main" w="9525">
            <a:solidFill>
              <a:srgbClr val="C8DCD7"/>
            </a:solidFill>
            <a:prstDash val="solid"/>
          </a:ln>
        </p:spPr>
      </p:sp>
      <p:sp>
        <p:nvSpPr>
          <p:cNvPr id="107" name="">
            <a:extLst xmlns:a="http://schemas.openxmlformats.org/drawingml/2006/main">
              <a:ext uri="{FF2B5EF4-FFF2-40B4-BE49-F238E27FC236}">
                <a16:creationId xmlns:a16="http://schemas.microsoft.com/office/drawing/2014/main" id="{715DA62F-9DE0-43F8-B71C-A3E9547F56A8}"/>
              </a:ext>
            </a:extLst>
          </p:cNvPr>
          <p:cNvSpPr>
            <a:spLocks xmlns:a="http://schemas.openxmlformats.org/drawingml/2006/main" noGrp="1"/>
          </p:cNvSpPr>
          <p:nvPr/>
        </p:nvSpPr>
        <p:spPr>
          <a:xfrm xmlns:a="http://schemas.openxmlformats.org/drawingml/2006/main">
            <a:off x="3467100" y="11582400"/>
            <a:ext cx="142875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38" b="1">
                <a:solidFill>
                  <a:srgbClr val="116F68"/>
                </a:solidFill>
              </a:defRPr>
            </a:pPr>
            <a:r>
              <a:rPr sz="638" b="1">
                <a:solidFill>
                  <a:srgbClr val="116F68"/>
                </a:solidFill>
              </a:rPr>
              <a:t>ACTION</a:t>
            </a:r>
          </a:p>
        </p:txBody>
      </p:sp>
      <p:sp>
        <p:nvSpPr>
          <p:cNvPr id="108" name="">
            <a:extLst xmlns:a="http://schemas.openxmlformats.org/drawingml/2006/main">
              <a:ext uri="{FF2B5EF4-FFF2-40B4-BE49-F238E27FC236}">
                <a16:creationId xmlns:a16="http://schemas.microsoft.com/office/drawing/2014/main" id="{690F7DCB-C945-4906-AA02-5A07D85CAF50}"/>
              </a:ext>
            </a:extLst>
          </p:cNvPr>
          <p:cNvSpPr>
            <a:spLocks xmlns:a="http://schemas.openxmlformats.org/drawingml/2006/main" noGrp="1"/>
          </p:cNvSpPr>
          <p:nvPr/>
        </p:nvSpPr>
        <p:spPr>
          <a:xfrm xmlns:a="http://schemas.openxmlformats.org/drawingml/2006/main">
            <a:off x="3467100" y="11734800"/>
            <a:ext cx="1428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00" b="0">
                <a:solidFill>
                  <a:srgbClr val="183B39"/>
                </a:solidFill>
              </a:defRPr>
            </a:pPr>
            <a:r>
              <a:rPr sz="600" b="0">
                <a:solidFill>
                  <a:srgbClr val="183B39"/>
                </a:solidFill>
              </a:rPr>
              <a:t>Non-Hero SKU moratorium stands; validate Aug-26 Reliance East offtake by 05-Aug; if Aug conv below 70% pull Reliance East EAN-store list and weekly owner review; Hero-SKU OSA monitoring continues</a:t>
            </a:r>
          </a:p>
        </p:txBody>
      </p:sp>
      <p:sp>
        <p:nvSpPr>
          <p:cNvPr id="109" name="">
            <a:extLst xmlns:a="http://schemas.openxmlformats.org/drawingml/2006/main">
              <a:ext uri="{FF2B5EF4-FFF2-40B4-BE49-F238E27FC236}">
                <a16:creationId xmlns:a16="http://schemas.microsoft.com/office/drawing/2014/main" id="{13C1D9A1-C4ED-4F0F-8054-1270E9228E01}"/>
              </a:ext>
            </a:extLst>
          </p:cNvPr>
          <p:cNvSpPr>
            <a:spLocks xmlns:a="http://schemas.openxmlformats.org/drawingml/2006/main" noGrp="1"/>
          </p:cNvSpPr>
          <p:nvPr/>
        </p:nvSpPr>
        <p:spPr>
          <a:xfrm xmlns:a="http://schemas.openxmlformats.org/drawingml/2006/main">
            <a:off x="4953000" y="11610975"/>
            <a:ext cx="0" cy="304800"/>
          </a:xfrm>
          <a:prstGeom xmlns:a="http://schemas.openxmlformats.org/drawingml/2006/main" prst="line">
            <a:avLst/>
          </a:prstGeom>
          <a:ln xmlns:a="http://schemas.openxmlformats.org/drawingml/2006/main" w="9525">
            <a:solidFill>
              <a:srgbClr val="C8DCD7"/>
            </a:solidFill>
            <a:prstDash val="solid"/>
          </a:ln>
        </p:spPr>
      </p:sp>
      <p:sp>
        <p:nvSpPr>
          <p:cNvPr id="110" name="">
            <a:extLst xmlns:a="http://schemas.openxmlformats.org/drawingml/2006/main">
              <a:ext uri="{FF2B5EF4-FFF2-40B4-BE49-F238E27FC236}">
                <a16:creationId xmlns:a16="http://schemas.microsoft.com/office/drawing/2014/main" id="{A26A8C7D-DB83-4C55-82C8-156253300F06}"/>
              </a:ext>
            </a:extLst>
          </p:cNvPr>
          <p:cNvSpPr>
            <a:spLocks xmlns:a="http://schemas.openxmlformats.org/drawingml/2006/main" noGrp="1"/>
          </p:cNvSpPr>
          <p:nvPr/>
        </p:nvSpPr>
        <p:spPr>
          <a:xfrm xmlns:a="http://schemas.openxmlformats.org/drawingml/2006/main">
            <a:off x="4981575" y="11582400"/>
            <a:ext cx="142875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38" b="1">
                <a:solidFill>
                  <a:srgbClr val="116F68"/>
                </a:solidFill>
              </a:defRPr>
            </a:pPr>
            <a:r>
              <a:rPr sz="638" b="1">
                <a:solidFill>
                  <a:srgbClr val="116F68"/>
                </a:solidFill>
              </a:rPr>
              <a:t>OWNER</a:t>
            </a:r>
          </a:p>
        </p:txBody>
      </p:sp>
      <p:sp>
        <p:nvSpPr>
          <p:cNvPr id="111" name="">
            <a:extLst xmlns:a="http://schemas.openxmlformats.org/drawingml/2006/main">
              <a:ext uri="{FF2B5EF4-FFF2-40B4-BE49-F238E27FC236}">
                <a16:creationId xmlns:a16="http://schemas.microsoft.com/office/drawing/2014/main" id="{2814B9D7-7ED9-465B-B688-F8A3B026FC07}"/>
              </a:ext>
            </a:extLst>
          </p:cNvPr>
          <p:cNvSpPr>
            <a:spLocks xmlns:a="http://schemas.openxmlformats.org/drawingml/2006/main" noGrp="1"/>
          </p:cNvSpPr>
          <p:nvPr/>
        </p:nvSpPr>
        <p:spPr>
          <a:xfrm xmlns:a="http://schemas.openxmlformats.org/drawingml/2006/main">
            <a:off x="4981575" y="11734800"/>
            <a:ext cx="1428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00" b="0">
                <a:solidFill>
                  <a:srgbClr val="183B39"/>
                </a:solidFill>
              </a:defRPr>
            </a:pPr>
            <a:r>
              <a:rPr sz="600" b="0">
                <a:solidFill>
                  <a:srgbClr val="183B39"/>
                </a:solidFill>
              </a:rPr>
              <a:t>East ZSM + NKAM Reliance East | Offtake check 05-Aug; EAN action if Aug disappoints</a:t>
            </a:r>
          </a:p>
        </p:txBody>
      </p:sp>
    </p:spTree>
    <p:extLst>
      <p:ext uri="{BB962C8B-B14F-4D97-AF65-F5344CB8AC3E}">
        <p14:creationId xmlns:p14="http://schemas.microsoft.com/office/powerpoint/2010/main" val="1194428533"/>
      </p:ext>
    </p:extLst>
  </p:cSld>
</p:sld>
</file>

<file path=ppt/slides/slide10.xml><?xml version="1.0" encoding="utf-8"?>
<p:sld xmlns:p="http://schemas.openxmlformats.org/presentationml/2006/main">
  <p:cSld>
    <p:bg>
      <p:bgPr>
        <a:solidFill xmlns:a="http://schemas.openxmlformats.org/drawingml/2006/main">
          <a:srgbClr val="F7FBFA"/>
        </a:solidFill>
      </p:bgPr>
    </p:bg>
    <p:spTree>
      <p:nvGrpSpPr>
        <p:cNvPr id="1" name=""/>
        <p:cNvGrpSpPr/>
        <p:nvPr/>
      </p:nvGrpSpPr>
      <p:grpSpPr>
        <a:xfrm xmlns:a="http://schemas.openxmlformats.org/drawingml/2006/main"/>
      </p:grpSpPr>
      <p:sp>
        <p:nvSpPr>
          <p:cNvPr id="111" name="">
            <a:extLst xmlns:a="http://schemas.openxmlformats.org/drawingml/2006/main">
              <a:ext uri="{FF2B5EF4-FFF2-40B4-BE49-F238E27FC236}">
                <a16:creationId xmlns:a16="http://schemas.microsoft.com/office/drawing/2014/main" id="{2F188770-DD9D-45E3-8DE7-311093C0039D}"/>
              </a:ext>
            </a:extLst>
          </p:cNvPr>
          <p:cNvSpPr>
            <a:spLocks xmlns:a="http://schemas.openxmlformats.org/drawingml/2006/main" noGrp="1"/>
          </p:cNvSpPr>
          <p:nvPr/>
        </p:nvSpPr>
        <p:spPr>
          <a:xfrm xmlns:a="http://schemas.openxmlformats.org/drawingml/2006/main">
            <a:off x="0" y="0"/>
            <a:ext cx="6858000" cy="1000125"/>
          </a:xfrm>
          <a:prstGeom xmlns:a="http://schemas.openxmlformats.org/drawingml/2006/main" prst="rect">
            <a:avLst/>
          </a:prstGeom>
          <a:solidFill xmlns:a="http://schemas.openxmlformats.org/drawingml/2006/main">
            <a:srgbClr val="116F68"/>
          </a:solidFill>
          <a:ln xmlns:a="http://schemas.openxmlformats.org/drawingml/2006/main" w="0">
            <a:solidFill>
              <a:srgbClr val="116F68"/>
            </a:solidFill>
            <a:prstDash val="solid"/>
          </a:ln>
        </p:spPr>
      </p:sp>
      <p:sp>
        <p:nvSpPr>
          <p:cNvPr id="2" name="">
            <a:extLst xmlns:a="http://schemas.openxmlformats.org/drawingml/2006/main">
              <a:ext uri="{FF2B5EF4-FFF2-40B4-BE49-F238E27FC236}">
                <a16:creationId xmlns:a16="http://schemas.microsoft.com/office/drawing/2014/main" id="{B588473E-FE6E-4B70-94C0-761B59300A79}"/>
              </a:ext>
            </a:extLst>
          </p:cNvPr>
          <p:cNvSpPr>
            <a:spLocks xmlns:a="http://schemas.openxmlformats.org/drawingml/2006/main" noGrp="1"/>
          </p:cNvSpPr>
          <p:nvPr/>
        </p:nvSpPr>
        <p:spPr>
          <a:xfrm xmlns:a="http://schemas.openxmlformats.org/drawingml/2006/main">
            <a:off x="361950" y="228600"/>
            <a:ext cx="59055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2025" b="1">
                <a:solidFill>
                  <a:srgbClr val="FFFFFF"/>
                </a:solidFill>
              </a:defRPr>
            </a:pPr>
            <a:r>
              <a:rPr sz="2025" b="1">
                <a:solidFill>
                  <a:srgbClr val="FFFFFF"/>
                </a:solidFill>
              </a:rPr>
              <a:t>Central: Watch and convert</a:t>
            </a:r>
          </a:p>
        </p:txBody>
      </p:sp>
      <p:sp>
        <p:nvSpPr>
          <p:cNvPr id="3" name="">
            <a:extLst xmlns:a="http://schemas.openxmlformats.org/drawingml/2006/main">
              <a:ext uri="{FF2B5EF4-FFF2-40B4-BE49-F238E27FC236}">
                <a16:creationId xmlns:a16="http://schemas.microsoft.com/office/drawing/2014/main" id="{3FD2A213-0D8B-4B39-A642-5BE3B36B2681}"/>
              </a:ext>
            </a:extLst>
          </p:cNvPr>
          <p:cNvSpPr>
            <a:spLocks xmlns:a="http://schemas.openxmlformats.org/drawingml/2006/main" noGrp="1"/>
          </p:cNvSpPr>
          <p:nvPr/>
        </p:nvSpPr>
        <p:spPr>
          <a:xfrm xmlns:a="http://schemas.openxmlformats.org/drawingml/2006/main">
            <a:off x="381000" y="695325"/>
            <a:ext cx="57150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75" b="0">
                <a:solidFill>
                  <a:srgbClr val="DFF2ED"/>
                </a:solidFill>
              </a:defRPr>
            </a:pPr>
            <a:r>
              <a:rPr sz="975" b="0">
                <a:solidFill>
                  <a:srgbClr val="DFF2ED"/>
                </a:solidFill>
              </a:rPr>
              <a:t>Zone deep dive | July 2026 | ₹ Cr</a:t>
            </a:r>
          </a:p>
        </p:txBody>
      </p:sp>
      <p:sp>
        <p:nvSpPr>
          <p:cNvPr id="4" name="">
            <a:extLst xmlns:a="http://schemas.openxmlformats.org/drawingml/2006/main">
              <a:ext uri="{FF2B5EF4-FFF2-40B4-BE49-F238E27FC236}">
                <a16:creationId xmlns:a16="http://schemas.microsoft.com/office/drawing/2014/main" id="{BFAB70E1-4FDB-426A-BE4E-8FF70319CAB6}"/>
              </a:ext>
            </a:extLst>
          </p:cNvPr>
          <p:cNvSpPr>
            <a:spLocks xmlns:a="http://schemas.openxmlformats.org/drawingml/2006/main" noGrp="1"/>
          </p:cNvSpPr>
          <p:nvPr/>
        </p:nvSpPr>
        <p:spPr>
          <a:xfrm xmlns:a="http://schemas.openxmlformats.org/drawingml/2006/main">
            <a:off x="6191250" y="361950"/>
            <a:ext cx="3429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900" b="1">
                <a:solidFill>
                  <a:srgbClr val="FFFFFF"/>
                </a:solidFill>
              </a:defRPr>
            </a:pPr>
            <a:r>
              <a:rPr sz="900" b="1">
                <a:solidFill>
                  <a:srgbClr val="FFFFFF"/>
                </a:solidFill>
              </a:rPr>
              <a:t>10</a:t>
            </a:r>
          </a:p>
        </p:txBody>
      </p:sp>
      <p:sp>
        <p:nvSpPr>
          <p:cNvPr id="5" name="">
            <a:extLst xmlns:a="http://schemas.openxmlformats.org/drawingml/2006/main">
              <a:ext uri="{FF2B5EF4-FFF2-40B4-BE49-F238E27FC236}">
                <a16:creationId xmlns:a16="http://schemas.microsoft.com/office/drawing/2014/main" id="{D758F608-9069-49A2-83CE-2F63D00E568E}"/>
              </a:ext>
            </a:extLst>
          </p:cNvPr>
          <p:cNvSpPr>
            <a:spLocks xmlns:a="http://schemas.openxmlformats.org/drawingml/2006/main" noGrp="1"/>
          </p:cNvSpPr>
          <p:nvPr/>
        </p:nvSpPr>
        <p:spPr>
          <a:xfrm xmlns:a="http://schemas.openxmlformats.org/drawingml/2006/main">
            <a:off x="361950" y="1285875"/>
            <a:ext cx="140970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9525">
            <a:solidFill>
              <a:srgbClr val="C8DCD7"/>
            </a:solidFill>
            <a:prstDash val="solid"/>
          </a:ln>
        </p:spPr>
      </p:sp>
      <p:sp>
        <p:nvSpPr>
          <p:cNvPr id="6" name="">
            <a:extLst xmlns:a="http://schemas.openxmlformats.org/drawingml/2006/main">
              <a:ext uri="{FF2B5EF4-FFF2-40B4-BE49-F238E27FC236}">
                <a16:creationId xmlns:a16="http://schemas.microsoft.com/office/drawing/2014/main" id="{AE361E68-5DF5-4FDE-BDF7-1A39E36228FE}"/>
              </a:ext>
            </a:extLst>
          </p:cNvPr>
          <p:cNvSpPr>
            <a:spLocks xmlns:a="http://schemas.openxmlformats.org/drawingml/2006/main" noGrp="1"/>
          </p:cNvSpPr>
          <p:nvPr/>
        </p:nvSpPr>
        <p:spPr>
          <a:xfrm xmlns:a="http://schemas.openxmlformats.org/drawingml/2006/main">
            <a:off x="361950" y="1285875"/>
            <a:ext cx="76200" cy="1066800"/>
          </a:xfrm>
          <a:prstGeom xmlns:a="http://schemas.openxmlformats.org/drawingml/2006/main" prst="rect">
            <a:avLst/>
          </a:prstGeom>
          <a:solidFill xmlns:a="http://schemas.openxmlformats.org/drawingml/2006/main">
            <a:srgbClr val="28A596"/>
          </a:solidFill>
          <a:ln xmlns:a="http://schemas.openxmlformats.org/drawingml/2006/main" w="0">
            <a:solidFill>
              <a:srgbClr val="28A596"/>
            </a:solidFill>
            <a:prstDash val="solid"/>
          </a:ln>
        </p:spPr>
      </p:sp>
      <p:sp>
        <p:nvSpPr>
          <p:cNvPr id="7" name="">
            <a:extLst xmlns:a="http://schemas.openxmlformats.org/drawingml/2006/main">
              <a:ext uri="{FF2B5EF4-FFF2-40B4-BE49-F238E27FC236}">
                <a16:creationId xmlns:a16="http://schemas.microsoft.com/office/drawing/2014/main" id="{01965D17-7EBB-44E5-B4A1-623F599B412C}"/>
              </a:ext>
            </a:extLst>
          </p:cNvPr>
          <p:cNvSpPr>
            <a:spLocks xmlns:a="http://schemas.openxmlformats.org/drawingml/2006/main" noGrp="1"/>
          </p:cNvSpPr>
          <p:nvPr/>
        </p:nvSpPr>
        <p:spPr>
          <a:xfrm xmlns:a="http://schemas.openxmlformats.org/drawingml/2006/main">
            <a:off x="533400" y="1400175"/>
            <a:ext cx="1143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5F716E"/>
                </a:solidFill>
              </a:defRPr>
            </a:pPr>
            <a:r>
              <a:rPr sz="900" b="1">
                <a:solidFill>
                  <a:srgbClr val="5F716E"/>
                </a:solidFill>
              </a:rPr>
              <a:t>PRIMARY</a:t>
            </a:r>
          </a:p>
        </p:txBody>
      </p:sp>
      <p:sp>
        <p:nvSpPr>
          <p:cNvPr id="8" name="">
            <a:extLst xmlns:a="http://schemas.openxmlformats.org/drawingml/2006/main">
              <a:ext uri="{FF2B5EF4-FFF2-40B4-BE49-F238E27FC236}">
                <a16:creationId xmlns:a16="http://schemas.microsoft.com/office/drawing/2014/main" id="{B0B7D8DD-C109-44C1-958A-F589B7D326B8}"/>
              </a:ext>
            </a:extLst>
          </p:cNvPr>
          <p:cNvSpPr>
            <a:spLocks xmlns:a="http://schemas.openxmlformats.org/drawingml/2006/main" noGrp="1"/>
          </p:cNvSpPr>
          <p:nvPr/>
        </p:nvSpPr>
        <p:spPr>
          <a:xfrm xmlns:a="http://schemas.openxmlformats.org/drawingml/2006/main">
            <a:off x="533400" y="1628775"/>
            <a:ext cx="1143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875" b="1">
                <a:solidFill>
                  <a:srgbClr val="28A596"/>
                </a:solidFill>
              </a:defRPr>
            </a:pPr>
            <a:r>
              <a:rPr sz="1875" b="1">
                <a:solidFill>
                  <a:srgbClr val="28A596"/>
                </a:solidFill>
              </a:rPr>
              <a:t>₹2.69 Cr</a:t>
            </a:r>
          </a:p>
        </p:txBody>
      </p:sp>
      <p:sp>
        <p:nvSpPr>
          <p:cNvPr id="9" name="">
            <a:extLst xmlns:a="http://schemas.openxmlformats.org/drawingml/2006/main">
              <a:ext uri="{FF2B5EF4-FFF2-40B4-BE49-F238E27FC236}">
                <a16:creationId xmlns:a16="http://schemas.microsoft.com/office/drawing/2014/main" id="{6C2E5450-8424-4301-A0B6-5F8B8E741EE0}"/>
              </a:ext>
            </a:extLst>
          </p:cNvPr>
          <p:cNvSpPr>
            <a:spLocks xmlns:a="http://schemas.openxmlformats.org/drawingml/2006/main" noGrp="1"/>
          </p:cNvSpPr>
          <p:nvPr/>
        </p:nvSpPr>
        <p:spPr>
          <a:xfrm xmlns:a="http://schemas.openxmlformats.org/drawingml/2006/main">
            <a:off x="533400" y="2028825"/>
            <a:ext cx="1143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0">
                <a:solidFill>
                  <a:srgbClr val="5F716E"/>
                </a:solidFill>
              </a:defRPr>
            </a:pPr>
            <a:r>
              <a:rPr sz="825" b="0">
                <a:solidFill>
                  <a:srgbClr val="5F716E"/>
                </a:solidFill>
              </a:rPr>
              <a:t>July billing</a:t>
            </a:r>
          </a:p>
        </p:txBody>
      </p:sp>
      <p:sp>
        <p:nvSpPr>
          <p:cNvPr id="10" name="">
            <a:extLst xmlns:a="http://schemas.openxmlformats.org/drawingml/2006/main">
              <a:ext uri="{FF2B5EF4-FFF2-40B4-BE49-F238E27FC236}">
                <a16:creationId xmlns:a16="http://schemas.microsoft.com/office/drawing/2014/main" id="{41AFEC77-1592-4A27-8C8D-741E97258D19}"/>
              </a:ext>
            </a:extLst>
          </p:cNvPr>
          <p:cNvSpPr>
            <a:spLocks xmlns:a="http://schemas.openxmlformats.org/drawingml/2006/main" noGrp="1"/>
          </p:cNvSpPr>
          <p:nvPr/>
        </p:nvSpPr>
        <p:spPr>
          <a:xfrm xmlns:a="http://schemas.openxmlformats.org/drawingml/2006/main">
            <a:off x="1933575" y="1285875"/>
            <a:ext cx="140970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9525">
            <a:solidFill>
              <a:srgbClr val="C8DCD7"/>
            </a:solidFill>
            <a:prstDash val="solid"/>
          </a:ln>
        </p:spPr>
      </p:sp>
      <p:sp>
        <p:nvSpPr>
          <p:cNvPr id="11" name="">
            <a:extLst xmlns:a="http://schemas.openxmlformats.org/drawingml/2006/main">
              <a:ext uri="{FF2B5EF4-FFF2-40B4-BE49-F238E27FC236}">
                <a16:creationId xmlns:a16="http://schemas.microsoft.com/office/drawing/2014/main" id="{2904014D-B742-4B7C-BDB9-DC4FA9FD0243}"/>
              </a:ext>
            </a:extLst>
          </p:cNvPr>
          <p:cNvSpPr>
            <a:spLocks xmlns:a="http://schemas.openxmlformats.org/drawingml/2006/main" noGrp="1"/>
          </p:cNvSpPr>
          <p:nvPr/>
        </p:nvSpPr>
        <p:spPr>
          <a:xfrm xmlns:a="http://schemas.openxmlformats.org/drawingml/2006/main">
            <a:off x="1933575" y="1285875"/>
            <a:ext cx="76200" cy="1066800"/>
          </a:xfrm>
          <a:prstGeom xmlns:a="http://schemas.openxmlformats.org/drawingml/2006/main" prst="rect">
            <a:avLst/>
          </a:prstGeom>
          <a:solidFill xmlns:a="http://schemas.openxmlformats.org/drawingml/2006/main">
            <a:srgbClr val="2B9A66"/>
          </a:solidFill>
          <a:ln xmlns:a="http://schemas.openxmlformats.org/drawingml/2006/main" w="0">
            <a:solidFill>
              <a:srgbClr val="2B9A66"/>
            </a:solidFill>
            <a:prstDash val="solid"/>
          </a:ln>
        </p:spPr>
      </p:sp>
      <p:sp>
        <p:nvSpPr>
          <p:cNvPr id="12" name="">
            <a:extLst xmlns:a="http://schemas.openxmlformats.org/drawingml/2006/main">
              <a:ext uri="{FF2B5EF4-FFF2-40B4-BE49-F238E27FC236}">
                <a16:creationId xmlns:a16="http://schemas.microsoft.com/office/drawing/2014/main" id="{C8EF49B5-B047-413B-A91D-DC53E8B4FEBB}"/>
              </a:ext>
            </a:extLst>
          </p:cNvPr>
          <p:cNvSpPr>
            <a:spLocks xmlns:a="http://schemas.openxmlformats.org/drawingml/2006/main" noGrp="1"/>
          </p:cNvSpPr>
          <p:nvPr/>
        </p:nvSpPr>
        <p:spPr>
          <a:xfrm xmlns:a="http://schemas.openxmlformats.org/drawingml/2006/main">
            <a:off x="2105025" y="1400175"/>
            <a:ext cx="1143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5F716E"/>
                </a:solidFill>
              </a:defRPr>
            </a:pPr>
            <a:r>
              <a:rPr sz="900" b="1">
                <a:solidFill>
                  <a:srgbClr val="5F716E"/>
                </a:solidFill>
              </a:rPr>
              <a:t>OFFTAKE</a:t>
            </a:r>
          </a:p>
        </p:txBody>
      </p:sp>
      <p:sp>
        <p:nvSpPr>
          <p:cNvPr id="13" name="">
            <a:extLst xmlns:a="http://schemas.openxmlformats.org/drawingml/2006/main">
              <a:ext uri="{FF2B5EF4-FFF2-40B4-BE49-F238E27FC236}">
                <a16:creationId xmlns:a16="http://schemas.microsoft.com/office/drawing/2014/main" id="{395C62E6-9F82-4BA6-862E-50EFA7D125CC}"/>
              </a:ext>
            </a:extLst>
          </p:cNvPr>
          <p:cNvSpPr>
            <a:spLocks xmlns:a="http://schemas.openxmlformats.org/drawingml/2006/main" noGrp="1"/>
          </p:cNvSpPr>
          <p:nvPr/>
        </p:nvSpPr>
        <p:spPr>
          <a:xfrm xmlns:a="http://schemas.openxmlformats.org/drawingml/2006/main">
            <a:off x="2105025" y="1628775"/>
            <a:ext cx="1143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875" b="1">
                <a:solidFill>
                  <a:srgbClr val="2B9A66"/>
                </a:solidFill>
              </a:defRPr>
            </a:pPr>
            <a:r>
              <a:rPr sz="1875" b="1">
                <a:solidFill>
                  <a:srgbClr val="2B9A66"/>
                </a:solidFill>
              </a:rPr>
              <a:t>₹2.12 Cr</a:t>
            </a:r>
          </a:p>
        </p:txBody>
      </p:sp>
      <p:sp>
        <p:nvSpPr>
          <p:cNvPr id="14" name="">
            <a:extLst xmlns:a="http://schemas.openxmlformats.org/drawingml/2006/main">
              <a:ext uri="{FF2B5EF4-FFF2-40B4-BE49-F238E27FC236}">
                <a16:creationId xmlns:a16="http://schemas.microsoft.com/office/drawing/2014/main" id="{A7D96BD6-DA19-467C-9621-DCD13D6DF2B9}"/>
              </a:ext>
            </a:extLst>
          </p:cNvPr>
          <p:cNvSpPr>
            <a:spLocks xmlns:a="http://schemas.openxmlformats.org/drawingml/2006/main" noGrp="1"/>
          </p:cNvSpPr>
          <p:nvPr/>
        </p:nvSpPr>
        <p:spPr>
          <a:xfrm xmlns:a="http://schemas.openxmlformats.org/drawingml/2006/main">
            <a:off x="2105025" y="2028825"/>
            <a:ext cx="1143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0">
                <a:solidFill>
                  <a:srgbClr val="5F716E"/>
                </a:solidFill>
              </a:defRPr>
            </a:pPr>
            <a:r>
              <a:rPr sz="825" b="0">
                <a:solidFill>
                  <a:srgbClr val="5F716E"/>
                </a:solidFill>
              </a:rPr>
              <a:t>5.9% mix</a:t>
            </a:r>
          </a:p>
        </p:txBody>
      </p:sp>
      <p:sp>
        <p:nvSpPr>
          <p:cNvPr id="15" name="">
            <a:extLst xmlns:a="http://schemas.openxmlformats.org/drawingml/2006/main">
              <a:ext uri="{FF2B5EF4-FFF2-40B4-BE49-F238E27FC236}">
                <a16:creationId xmlns:a16="http://schemas.microsoft.com/office/drawing/2014/main" id="{422DFEE1-1AE9-4E91-BA75-EEE23F9628C3}"/>
              </a:ext>
            </a:extLst>
          </p:cNvPr>
          <p:cNvSpPr>
            <a:spLocks xmlns:a="http://schemas.openxmlformats.org/drawingml/2006/main" noGrp="1"/>
          </p:cNvSpPr>
          <p:nvPr/>
        </p:nvSpPr>
        <p:spPr>
          <a:xfrm xmlns:a="http://schemas.openxmlformats.org/drawingml/2006/main">
            <a:off x="3505200" y="1285875"/>
            <a:ext cx="140970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9525">
            <a:solidFill>
              <a:srgbClr val="C8DCD7"/>
            </a:solidFill>
            <a:prstDash val="solid"/>
          </a:ln>
        </p:spPr>
      </p:sp>
      <p:sp>
        <p:nvSpPr>
          <p:cNvPr id="16" name="">
            <a:extLst xmlns:a="http://schemas.openxmlformats.org/drawingml/2006/main">
              <a:ext uri="{FF2B5EF4-FFF2-40B4-BE49-F238E27FC236}">
                <a16:creationId xmlns:a16="http://schemas.microsoft.com/office/drawing/2014/main" id="{D9A2077C-7296-48D2-95D3-4BB022C87D85}"/>
              </a:ext>
            </a:extLst>
          </p:cNvPr>
          <p:cNvSpPr>
            <a:spLocks xmlns:a="http://schemas.openxmlformats.org/drawingml/2006/main" noGrp="1"/>
          </p:cNvSpPr>
          <p:nvPr/>
        </p:nvSpPr>
        <p:spPr>
          <a:xfrm xmlns:a="http://schemas.openxmlformats.org/drawingml/2006/main">
            <a:off x="3505200" y="1285875"/>
            <a:ext cx="76200" cy="1066800"/>
          </a:xfrm>
          <a:prstGeom xmlns:a="http://schemas.openxmlformats.org/drawingml/2006/main" prst="rect">
            <a:avLst/>
          </a:prstGeom>
          <a:solidFill xmlns:a="http://schemas.openxmlformats.org/drawingml/2006/main">
            <a:srgbClr val="2B9A66"/>
          </a:solidFill>
          <a:ln xmlns:a="http://schemas.openxmlformats.org/drawingml/2006/main" w="0">
            <a:solidFill>
              <a:srgbClr val="2B9A66"/>
            </a:solidFill>
            <a:prstDash val="solid"/>
          </a:ln>
        </p:spPr>
      </p:sp>
      <p:sp>
        <p:nvSpPr>
          <p:cNvPr id="17" name="">
            <a:extLst xmlns:a="http://schemas.openxmlformats.org/drawingml/2006/main">
              <a:ext uri="{FF2B5EF4-FFF2-40B4-BE49-F238E27FC236}">
                <a16:creationId xmlns:a16="http://schemas.microsoft.com/office/drawing/2014/main" id="{264804EE-BF28-4923-9452-0C56C2925B76}"/>
              </a:ext>
            </a:extLst>
          </p:cNvPr>
          <p:cNvSpPr>
            <a:spLocks xmlns:a="http://schemas.openxmlformats.org/drawingml/2006/main" noGrp="1"/>
          </p:cNvSpPr>
          <p:nvPr/>
        </p:nvSpPr>
        <p:spPr>
          <a:xfrm xmlns:a="http://schemas.openxmlformats.org/drawingml/2006/main">
            <a:off x="3676650" y="1400175"/>
            <a:ext cx="1143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5F716E"/>
                </a:solidFill>
              </a:defRPr>
            </a:pPr>
            <a:r>
              <a:rPr sz="900" b="1">
                <a:solidFill>
                  <a:srgbClr val="5F716E"/>
                </a:solidFill>
              </a:rPr>
              <a:t>CONVERSION</a:t>
            </a:r>
          </a:p>
        </p:txBody>
      </p:sp>
      <p:sp>
        <p:nvSpPr>
          <p:cNvPr id="18" name="">
            <a:extLst xmlns:a="http://schemas.openxmlformats.org/drawingml/2006/main">
              <a:ext uri="{FF2B5EF4-FFF2-40B4-BE49-F238E27FC236}">
                <a16:creationId xmlns:a16="http://schemas.microsoft.com/office/drawing/2014/main" id="{40011A50-0096-4617-96F4-662F813395A1}"/>
              </a:ext>
            </a:extLst>
          </p:cNvPr>
          <p:cNvSpPr>
            <a:spLocks xmlns:a="http://schemas.openxmlformats.org/drawingml/2006/main" noGrp="1"/>
          </p:cNvSpPr>
          <p:nvPr/>
        </p:nvSpPr>
        <p:spPr>
          <a:xfrm xmlns:a="http://schemas.openxmlformats.org/drawingml/2006/main">
            <a:off x="3676650" y="1628775"/>
            <a:ext cx="1143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875" b="1">
                <a:solidFill>
                  <a:srgbClr val="2B9A66"/>
                </a:solidFill>
              </a:defRPr>
            </a:pPr>
            <a:r>
              <a:rPr sz="1875" b="1">
                <a:solidFill>
                  <a:srgbClr val="2B9A66"/>
                </a:solidFill>
              </a:rPr>
              <a:t>78.8%</a:t>
            </a:r>
          </a:p>
        </p:txBody>
      </p:sp>
      <p:sp>
        <p:nvSpPr>
          <p:cNvPr id="19" name="">
            <a:extLst xmlns:a="http://schemas.openxmlformats.org/drawingml/2006/main">
              <a:ext uri="{FF2B5EF4-FFF2-40B4-BE49-F238E27FC236}">
                <a16:creationId xmlns:a16="http://schemas.microsoft.com/office/drawing/2014/main" id="{EA7D38F3-B84D-4A14-B1D4-B9BD0E96DE50}"/>
              </a:ext>
            </a:extLst>
          </p:cNvPr>
          <p:cNvSpPr>
            <a:spLocks xmlns:a="http://schemas.openxmlformats.org/drawingml/2006/main" noGrp="1"/>
          </p:cNvSpPr>
          <p:nvPr/>
        </p:nvSpPr>
        <p:spPr>
          <a:xfrm xmlns:a="http://schemas.openxmlformats.org/drawingml/2006/main">
            <a:off x="3676650" y="2028825"/>
            <a:ext cx="1143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0">
                <a:solidFill>
                  <a:srgbClr val="5F716E"/>
                </a:solidFill>
              </a:defRPr>
            </a:pPr>
            <a:r>
              <a:rPr sz="825" b="0">
                <a:solidFill>
                  <a:srgbClr val="5F716E"/>
                </a:solidFill>
              </a:rPr>
              <a:t>Flow</a:t>
            </a:r>
          </a:p>
        </p:txBody>
      </p:sp>
      <p:sp>
        <p:nvSpPr>
          <p:cNvPr id="20" name="">
            <a:extLst xmlns:a="http://schemas.openxmlformats.org/drawingml/2006/main">
              <a:ext uri="{FF2B5EF4-FFF2-40B4-BE49-F238E27FC236}">
                <a16:creationId xmlns:a16="http://schemas.microsoft.com/office/drawing/2014/main" id="{B0D59B83-B25D-4130-AC11-42A8B491B0E9}"/>
              </a:ext>
            </a:extLst>
          </p:cNvPr>
          <p:cNvSpPr>
            <a:spLocks xmlns:a="http://schemas.openxmlformats.org/drawingml/2006/main" noGrp="1"/>
          </p:cNvSpPr>
          <p:nvPr/>
        </p:nvSpPr>
        <p:spPr>
          <a:xfrm xmlns:a="http://schemas.openxmlformats.org/drawingml/2006/main">
            <a:off x="5076825" y="1285875"/>
            <a:ext cx="1419225"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9525">
            <a:solidFill>
              <a:srgbClr val="C8DCD7"/>
            </a:solidFill>
            <a:prstDash val="solid"/>
          </a:ln>
        </p:spPr>
      </p:sp>
      <p:sp>
        <p:nvSpPr>
          <p:cNvPr id="21" name="">
            <a:extLst xmlns:a="http://schemas.openxmlformats.org/drawingml/2006/main">
              <a:ext uri="{FF2B5EF4-FFF2-40B4-BE49-F238E27FC236}">
                <a16:creationId xmlns:a16="http://schemas.microsoft.com/office/drawing/2014/main" id="{04927726-E1F5-447C-AEF9-5D4B1F77531D}"/>
              </a:ext>
            </a:extLst>
          </p:cNvPr>
          <p:cNvSpPr>
            <a:spLocks xmlns:a="http://schemas.openxmlformats.org/drawingml/2006/main" noGrp="1"/>
          </p:cNvSpPr>
          <p:nvPr/>
        </p:nvSpPr>
        <p:spPr>
          <a:xfrm xmlns:a="http://schemas.openxmlformats.org/drawingml/2006/main">
            <a:off x="5076825" y="1285875"/>
            <a:ext cx="76200" cy="1066800"/>
          </a:xfrm>
          <a:prstGeom xmlns:a="http://schemas.openxmlformats.org/drawingml/2006/main" prst="rect">
            <a:avLst/>
          </a:prstGeom>
          <a:solidFill xmlns:a="http://schemas.openxmlformats.org/drawingml/2006/main">
            <a:srgbClr val="D6544D"/>
          </a:solidFill>
          <a:ln xmlns:a="http://schemas.openxmlformats.org/drawingml/2006/main" w="0">
            <a:solidFill>
              <a:srgbClr val="D6544D"/>
            </a:solidFill>
            <a:prstDash val="solid"/>
          </a:ln>
        </p:spPr>
      </p:sp>
      <p:sp>
        <p:nvSpPr>
          <p:cNvPr id="22" name="">
            <a:extLst xmlns:a="http://schemas.openxmlformats.org/drawingml/2006/main">
              <a:ext uri="{FF2B5EF4-FFF2-40B4-BE49-F238E27FC236}">
                <a16:creationId xmlns:a16="http://schemas.microsoft.com/office/drawing/2014/main" id="{B36D57A8-3D76-4B0E-8A1A-A1FCCEBB66FF}"/>
              </a:ext>
            </a:extLst>
          </p:cNvPr>
          <p:cNvSpPr>
            <a:spLocks xmlns:a="http://schemas.openxmlformats.org/drawingml/2006/main" noGrp="1"/>
          </p:cNvSpPr>
          <p:nvPr/>
        </p:nvSpPr>
        <p:spPr>
          <a:xfrm xmlns:a="http://schemas.openxmlformats.org/drawingml/2006/main">
            <a:off x="5248275" y="1400175"/>
            <a:ext cx="115252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5F716E"/>
                </a:solidFill>
              </a:defRPr>
            </a:pPr>
            <a:r>
              <a:rPr sz="900" b="1">
                <a:solidFill>
                  <a:srgbClr val="5F716E"/>
                </a:solidFill>
              </a:rPr>
              <a:t>GAP</a:t>
            </a:r>
          </a:p>
        </p:txBody>
      </p:sp>
      <p:sp>
        <p:nvSpPr>
          <p:cNvPr id="23" name="">
            <a:extLst xmlns:a="http://schemas.openxmlformats.org/drawingml/2006/main">
              <a:ext uri="{FF2B5EF4-FFF2-40B4-BE49-F238E27FC236}">
                <a16:creationId xmlns:a16="http://schemas.microsoft.com/office/drawing/2014/main" id="{0C6E1B33-3226-4265-89BB-AFDD0B1A1E89}"/>
              </a:ext>
            </a:extLst>
          </p:cNvPr>
          <p:cNvSpPr>
            <a:spLocks xmlns:a="http://schemas.openxmlformats.org/drawingml/2006/main" noGrp="1"/>
          </p:cNvSpPr>
          <p:nvPr/>
        </p:nvSpPr>
        <p:spPr>
          <a:xfrm xmlns:a="http://schemas.openxmlformats.org/drawingml/2006/main">
            <a:off x="5248275" y="1628775"/>
            <a:ext cx="11525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875" b="1">
                <a:solidFill>
                  <a:srgbClr val="D6544D"/>
                </a:solidFill>
              </a:defRPr>
            </a:pPr>
            <a:r>
              <a:rPr sz="1875" b="1">
                <a:solidFill>
                  <a:srgbClr val="D6544D"/>
                </a:solidFill>
              </a:rPr>
              <a:t>₹0.57 Cr</a:t>
            </a:r>
          </a:p>
        </p:txBody>
      </p:sp>
      <p:sp>
        <p:nvSpPr>
          <p:cNvPr id="24" name="">
            <a:extLst xmlns:a="http://schemas.openxmlformats.org/drawingml/2006/main">
              <a:ext uri="{FF2B5EF4-FFF2-40B4-BE49-F238E27FC236}">
                <a16:creationId xmlns:a16="http://schemas.microsoft.com/office/drawing/2014/main" id="{3728434A-1952-4B6A-8D40-2FCC4B97F317}"/>
              </a:ext>
            </a:extLst>
          </p:cNvPr>
          <p:cNvSpPr>
            <a:spLocks xmlns:a="http://schemas.openxmlformats.org/drawingml/2006/main" noGrp="1"/>
          </p:cNvSpPr>
          <p:nvPr/>
        </p:nvSpPr>
        <p:spPr>
          <a:xfrm xmlns:a="http://schemas.openxmlformats.org/drawingml/2006/main">
            <a:off x="5248275" y="2028825"/>
            <a:ext cx="115252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0">
                <a:solidFill>
                  <a:srgbClr val="5F716E"/>
                </a:solidFill>
              </a:defRPr>
            </a:pPr>
            <a:r>
              <a:rPr sz="825" b="0">
                <a:solidFill>
                  <a:srgbClr val="5F716E"/>
                </a:solidFill>
              </a:rPr>
              <a:t>Primary − offtake</a:t>
            </a:r>
          </a:p>
        </p:txBody>
      </p:sp>
      <p:sp>
        <p:nvSpPr>
          <p:cNvPr id="25" name="">
            <a:extLst xmlns:a="http://schemas.openxmlformats.org/drawingml/2006/main">
              <a:ext uri="{FF2B5EF4-FFF2-40B4-BE49-F238E27FC236}">
                <a16:creationId xmlns:a16="http://schemas.microsoft.com/office/drawing/2014/main" id="{13CD0C66-910F-48C5-A226-55DE88646708}"/>
              </a:ext>
            </a:extLst>
          </p:cNvPr>
          <p:cNvSpPr>
            <a:spLocks xmlns:a="http://schemas.openxmlformats.org/drawingml/2006/main" noGrp="1"/>
          </p:cNvSpPr>
          <p:nvPr/>
        </p:nvSpPr>
        <p:spPr>
          <a:xfrm xmlns:a="http://schemas.openxmlformats.org/drawingml/2006/main">
            <a:off x="361950" y="2476500"/>
            <a:ext cx="6134100" cy="457200"/>
          </a:xfrm>
          <a:prstGeom xmlns:a="http://schemas.openxmlformats.org/drawingml/2006/main" prst="roundRect">
            <a:avLst>
              <a:gd name="adj" fmla="val 16667"/>
            </a:avLst>
          </a:prstGeom>
          <a:solidFill xmlns:a="http://schemas.openxmlformats.org/drawingml/2006/main">
            <a:srgbClr val="DFF2ED"/>
          </a:solidFill>
          <a:ln xmlns:a="http://schemas.openxmlformats.org/drawingml/2006/main" w="9525">
            <a:solidFill>
              <a:srgbClr val="28A596"/>
            </a:solidFill>
            <a:prstDash val="solid"/>
          </a:ln>
        </p:spPr>
      </p:sp>
      <p:sp>
        <p:nvSpPr>
          <p:cNvPr id="26" name="">
            <a:extLst xmlns:a="http://schemas.openxmlformats.org/drawingml/2006/main">
              <a:ext uri="{FF2B5EF4-FFF2-40B4-BE49-F238E27FC236}">
                <a16:creationId xmlns:a16="http://schemas.microsoft.com/office/drawing/2014/main" id="{67D901EA-B154-4560-A8C6-04EF98122E4C}"/>
              </a:ext>
            </a:extLst>
          </p:cNvPr>
          <p:cNvSpPr>
            <a:spLocks xmlns:a="http://schemas.openxmlformats.org/drawingml/2006/main" noGrp="1"/>
          </p:cNvSpPr>
          <p:nvPr/>
        </p:nvSpPr>
        <p:spPr>
          <a:xfrm xmlns:a="http://schemas.openxmlformats.org/drawingml/2006/main">
            <a:off x="476250" y="2533650"/>
            <a:ext cx="1381125"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1">
                <a:solidFill>
                  <a:srgbClr val="116F68"/>
                </a:solidFill>
              </a:defRPr>
            </a:pPr>
            <a:r>
              <a:rPr sz="825" b="1">
                <a:solidFill>
                  <a:srgbClr val="116F68"/>
                </a:solidFill>
              </a:rPr>
              <a:t>MANAGEMENT PRIORITY</a:t>
            </a:r>
          </a:p>
        </p:txBody>
      </p:sp>
      <p:sp>
        <p:nvSpPr>
          <p:cNvPr id="27" name="">
            <a:extLst xmlns:a="http://schemas.openxmlformats.org/drawingml/2006/main">
              <a:ext uri="{FF2B5EF4-FFF2-40B4-BE49-F238E27FC236}">
                <a16:creationId xmlns:a16="http://schemas.microsoft.com/office/drawing/2014/main" id="{9F073B1E-8857-49E3-90CF-76585746E560}"/>
              </a:ext>
            </a:extLst>
          </p:cNvPr>
          <p:cNvSpPr>
            <a:spLocks xmlns:a="http://schemas.openxmlformats.org/drawingml/2006/main" noGrp="1"/>
          </p:cNvSpPr>
          <p:nvPr/>
        </p:nvSpPr>
        <p:spPr>
          <a:xfrm xmlns:a="http://schemas.openxmlformats.org/drawingml/2006/main">
            <a:off x="1885950" y="2514600"/>
            <a:ext cx="4429125"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183B39"/>
                </a:solidFill>
              </a:defRPr>
            </a:pPr>
            <a:r>
              <a:rPr sz="900" b="1">
                <a:solidFill>
                  <a:srgbClr val="183B39"/>
                </a:solidFill>
              </a:rPr>
              <a:t>Close DMart exceptions  •  Protect hero-SKU OSA  •  Review conversion weekly</a:t>
            </a:r>
          </a:p>
        </p:txBody>
      </p:sp>
      <p:sp>
        <p:nvSpPr>
          <p:cNvPr id="28" name="">
            <a:extLst xmlns:a="http://schemas.openxmlformats.org/drawingml/2006/main">
              <a:ext uri="{FF2B5EF4-FFF2-40B4-BE49-F238E27FC236}">
                <a16:creationId xmlns:a16="http://schemas.microsoft.com/office/drawing/2014/main" id="{795FF0CD-CCA6-442D-878B-E93F90F82068}"/>
              </a:ext>
            </a:extLst>
          </p:cNvPr>
          <p:cNvSpPr>
            <a:spLocks xmlns:a="http://schemas.openxmlformats.org/drawingml/2006/main" noGrp="1"/>
          </p:cNvSpPr>
          <p:nvPr/>
        </p:nvSpPr>
        <p:spPr>
          <a:xfrm xmlns:a="http://schemas.openxmlformats.org/drawingml/2006/main">
            <a:off x="361950" y="3048000"/>
            <a:ext cx="2895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183B39"/>
                </a:solidFill>
              </a:defRPr>
            </a:pPr>
            <a:r>
              <a:rPr sz="900" b="1">
                <a:solidFill>
                  <a:srgbClr val="183B39"/>
                </a:solidFill>
              </a:rPr>
              <a:t>Mamaearth — top 3 sub-categories</a:t>
            </a:r>
          </a:p>
        </p:txBody>
      </p:sp>
      <p:graphicFrame>
        <p:nvGraphicFramePr>
          <p:cNvPr id="139" name="Chart"/>
          <p:cNvGraphicFramePr/>
          <p:nvPr/>
        </p:nvGraphicFramePr>
        <p:xfrm>
          <a:off xmlns:a="http://schemas.openxmlformats.org/drawingml/2006/main" x="361950" y="3286125"/>
          <a:ext xmlns:a="http://schemas.openxmlformats.org/drawingml/2006/main" cx="2895600" cy="1666875"/>
        </p:xfrm>
        <a:graphic xmlns:a="http://schemas.openxmlformats.org/drawingml/2006/main">
          <a:graphicData uri="http://schemas.openxmlformats.org/drawingml/2006/chart">
            <c:chart xmlns:r="http://schemas.openxmlformats.org/officeDocument/2006/relationships" xmlns:c="http://schemas.openxmlformats.org/drawingml/2006/chart" r:id="R8a1d343107c24bdb"/>
          </a:graphicData>
        </a:graphic>
      </p:graphicFrame>
      <p:sp>
        <p:nvSpPr>
          <p:cNvPr id="30" name="">
            <a:extLst xmlns:a="http://schemas.openxmlformats.org/drawingml/2006/main">
              <a:ext uri="{FF2B5EF4-FFF2-40B4-BE49-F238E27FC236}">
                <a16:creationId xmlns:a16="http://schemas.microsoft.com/office/drawing/2014/main" id="{0A67BFCE-0918-49FA-B31E-84D16D894F9A}"/>
              </a:ext>
            </a:extLst>
          </p:cNvPr>
          <p:cNvSpPr>
            <a:spLocks xmlns:a="http://schemas.openxmlformats.org/drawingml/2006/main" noGrp="1"/>
          </p:cNvSpPr>
          <p:nvPr/>
        </p:nvSpPr>
        <p:spPr>
          <a:xfrm xmlns:a="http://schemas.openxmlformats.org/drawingml/2006/main">
            <a:off x="3600450" y="3048000"/>
            <a:ext cx="2895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183B39"/>
                </a:solidFill>
              </a:defRPr>
            </a:pPr>
            <a:r>
              <a:rPr sz="900" b="1">
                <a:solidFill>
                  <a:srgbClr val="183B39"/>
                </a:solidFill>
              </a:rPr>
              <a:t>The Derma Co. — top 3 sub-categories</a:t>
            </a:r>
          </a:p>
        </p:txBody>
      </p:sp>
      <p:graphicFrame>
        <p:nvGraphicFramePr>
          <p:cNvPr id="141" name="Chart"/>
          <p:cNvGraphicFramePr/>
          <p:nvPr/>
        </p:nvGraphicFramePr>
        <p:xfrm>
          <a:off xmlns:a="http://schemas.openxmlformats.org/drawingml/2006/main" x="3600450" y="3286125"/>
          <a:ext xmlns:a="http://schemas.openxmlformats.org/drawingml/2006/main" cx="2895600" cy="1666875"/>
        </p:xfrm>
        <a:graphic xmlns:a="http://schemas.openxmlformats.org/drawingml/2006/main">
          <a:graphicData uri="http://schemas.openxmlformats.org/drawingml/2006/chart">
            <c:chart xmlns:r="http://schemas.openxmlformats.org/officeDocument/2006/relationships" xmlns:c="http://schemas.openxmlformats.org/drawingml/2006/chart" r:id="Rcb7f0b9eee784ba4"/>
          </a:graphicData>
        </a:graphic>
      </p:graphicFrame>
      <p:sp>
        <p:nvSpPr>
          <p:cNvPr id="32" name="">
            <a:extLst xmlns:a="http://schemas.openxmlformats.org/drawingml/2006/main">
              <a:ext uri="{FF2B5EF4-FFF2-40B4-BE49-F238E27FC236}">
                <a16:creationId xmlns:a16="http://schemas.microsoft.com/office/drawing/2014/main" id="{4744B27E-45B4-4158-9E0F-2EA61856197B}"/>
              </a:ext>
            </a:extLst>
          </p:cNvPr>
          <p:cNvSpPr>
            <a:spLocks xmlns:a="http://schemas.openxmlformats.org/drawingml/2006/main" noGrp="1"/>
          </p:cNvSpPr>
          <p:nvPr/>
        </p:nvSpPr>
        <p:spPr>
          <a:xfrm xmlns:a="http://schemas.openxmlformats.org/drawingml/2006/main">
            <a:off x="361950" y="5095875"/>
            <a:ext cx="1905000" cy="2476500"/>
          </a:xfrm>
          <a:prstGeom xmlns:a="http://schemas.openxmlformats.org/drawingml/2006/main" prst="roundRect">
            <a:avLst>
              <a:gd name="adj" fmla="val 4000"/>
            </a:avLst>
          </a:prstGeom>
          <a:solidFill xmlns:a="http://schemas.openxmlformats.org/drawingml/2006/main">
            <a:srgbClr val="FFFFFF"/>
          </a:solidFill>
          <a:ln xmlns:a="http://schemas.openxmlformats.org/drawingml/2006/main" w="9525">
            <a:solidFill>
              <a:srgbClr val="C8DCD7"/>
            </a:solidFill>
            <a:prstDash val="solid"/>
          </a:ln>
        </p:spPr>
      </p:sp>
      <p:sp>
        <p:nvSpPr>
          <p:cNvPr id="33" name="">
            <a:extLst xmlns:a="http://schemas.openxmlformats.org/drawingml/2006/main">
              <a:ext uri="{FF2B5EF4-FFF2-40B4-BE49-F238E27FC236}">
                <a16:creationId xmlns:a16="http://schemas.microsoft.com/office/drawing/2014/main" id="{4DBE4443-6175-42BF-9417-8F1F63A89B02}"/>
              </a:ext>
            </a:extLst>
          </p:cNvPr>
          <p:cNvSpPr>
            <a:spLocks xmlns:a="http://schemas.openxmlformats.org/drawingml/2006/main" noGrp="1"/>
          </p:cNvSpPr>
          <p:nvPr/>
        </p:nvSpPr>
        <p:spPr>
          <a:xfrm xmlns:a="http://schemas.openxmlformats.org/drawingml/2006/main">
            <a:off x="495300" y="5219700"/>
            <a:ext cx="16573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116F68"/>
                </a:solidFill>
              </a:defRPr>
            </a:pPr>
            <a:r>
              <a:rPr sz="900" b="1">
                <a:solidFill>
                  <a:srgbClr val="116F68"/>
                </a:solidFill>
              </a:rPr>
              <a:t>TOP CHAINS / STATES</a:t>
            </a:r>
          </a:p>
        </p:txBody>
      </p:sp>
      <p:sp>
        <p:nvSpPr>
          <p:cNvPr id="34" name="">
            <a:extLst xmlns:a="http://schemas.openxmlformats.org/drawingml/2006/main">
              <a:ext uri="{FF2B5EF4-FFF2-40B4-BE49-F238E27FC236}">
                <a16:creationId xmlns:a16="http://schemas.microsoft.com/office/drawing/2014/main" id="{FA535D3E-D67B-45B1-8B30-F130B749CFFF}"/>
              </a:ext>
            </a:extLst>
          </p:cNvPr>
          <p:cNvSpPr>
            <a:spLocks xmlns:a="http://schemas.openxmlformats.org/drawingml/2006/main" noGrp="1"/>
          </p:cNvSpPr>
          <p:nvPr/>
        </p:nvSpPr>
        <p:spPr>
          <a:xfrm xmlns:a="http://schemas.openxmlformats.org/drawingml/2006/main">
            <a:off x="495300" y="5543550"/>
            <a:ext cx="16573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1">
                <a:solidFill>
                  <a:srgbClr val="183B39"/>
                </a:solidFill>
              </a:defRPr>
            </a:pPr>
            <a:r>
              <a:rPr sz="825" b="1">
                <a:solidFill>
                  <a:srgbClr val="183B39"/>
                </a:solidFill>
              </a:rPr>
              <a:t>1. DMart  ₹1.41 Cr</a:t>
            </a:r>
          </a:p>
        </p:txBody>
      </p:sp>
      <p:sp>
        <p:nvSpPr>
          <p:cNvPr id="35" name="">
            <a:extLst xmlns:a="http://schemas.openxmlformats.org/drawingml/2006/main">
              <a:ext uri="{FF2B5EF4-FFF2-40B4-BE49-F238E27FC236}">
                <a16:creationId xmlns:a16="http://schemas.microsoft.com/office/drawing/2014/main" id="{BBC3DEB6-D3B3-4277-84AA-F1132C61FB13}"/>
              </a:ext>
            </a:extLst>
          </p:cNvPr>
          <p:cNvSpPr>
            <a:spLocks xmlns:a="http://schemas.openxmlformats.org/drawingml/2006/main" noGrp="1"/>
          </p:cNvSpPr>
          <p:nvPr/>
        </p:nvSpPr>
        <p:spPr>
          <a:xfrm xmlns:a="http://schemas.openxmlformats.org/drawingml/2006/main">
            <a:off x="495300" y="5867400"/>
            <a:ext cx="16573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0">
                <a:solidFill>
                  <a:srgbClr val="183B39"/>
                </a:solidFill>
              </a:defRPr>
            </a:pPr>
            <a:r>
              <a:rPr sz="825" b="0">
                <a:solidFill>
                  <a:srgbClr val="183B39"/>
                </a:solidFill>
              </a:rPr>
              <a:t>2. Reliance  ₹0.46 Cr</a:t>
            </a:r>
          </a:p>
        </p:txBody>
      </p:sp>
      <p:sp>
        <p:nvSpPr>
          <p:cNvPr id="36" name="">
            <a:extLst xmlns:a="http://schemas.openxmlformats.org/drawingml/2006/main">
              <a:ext uri="{FF2B5EF4-FFF2-40B4-BE49-F238E27FC236}">
                <a16:creationId xmlns:a16="http://schemas.microsoft.com/office/drawing/2014/main" id="{565BA622-0B3D-452D-A016-FF22822E88A8}"/>
              </a:ext>
            </a:extLst>
          </p:cNvPr>
          <p:cNvSpPr>
            <a:spLocks xmlns:a="http://schemas.openxmlformats.org/drawingml/2006/main" noGrp="1"/>
          </p:cNvSpPr>
          <p:nvPr/>
        </p:nvSpPr>
        <p:spPr>
          <a:xfrm xmlns:a="http://schemas.openxmlformats.org/drawingml/2006/main">
            <a:off x="495300" y="6191250"/>
            <a:ext cx="16573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0">
                <a:solidFill>
                  <a:srgbClr val="183B39"/>
                </a:solidFill>
              </a:defRPr>
            </a:pPr>
            <a:r>
              <a:rPr sz="825" b="0">
                <a:solidFill>
                  <a:srgbClr val="183B39"/>
                </a:solidFill>
              </a:rPr>
              <a:t>3. Apollo  ₹0.19 Cr</a:t>
            </a:r>
          </a:p>
        </p:txBody>
      </p:sp>
      <p:sp>
        <p:nvSpPr>
          <p:cNvPr id="37" name="">
            <a:extLst xmlns:a="http://schemas.openxmlformats.org/drawingml/2006/main">
              <a:ext uri="{FF2B5EF4-FFF2-40B4-BE49-F238E27FC236}">
                <a16:creationId xmlns:a16="http://schemas.microsoft.com/office/drawing/2014/main" id="{1BE01C57-6E39-4EED-B26F-ECBE4E2734A1}"/>
              </a:ext>
            </a:extLst>
          </p:cNvPr>
          <p:cNvSpPr>
            <a:spLocks xmlns:a="http://schemas.openxmlformats.org/drawingml/2006/main" noGrp="1"/>
          </p:cNvSpPr>
          <p:nvPr/>
        </p:nvSpPr>
        <p:spPr>
          <a:xfrm xmlns:a="http://schemas.openxmlformats.org/drawingml/2006/main">
            <a:off x="495300" y="6572250"/>
            <a:ext cx="16573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1">
                <a:solidFill>
                  <a:srgbClr val="5F716E"/>
                </a:solidFill>
              </a:defRPr>
            </a:pPr>
            <a:r>
              <a:rPr sz="825" b="1">
                <a:solidFill>
                  <a:srgbClr val="5F716E"/>
                </a:solidFill>
              </a:rPr>
              <a:t>1. Madhya Pradesh  ₹1.68 Cr</a:t>
            </a:r>
          </a:p>
        </p:txBody>
      </p:sp>
      <p:sp>
        <p:nvSpPr>
          <p:cNvPr id="38" name="">
            <a:extLst xmlns:a="http://schemas.openxmlformats.org/drawingml/2006/main">
              <a:ext uri="{FF2B5EF4-FFF2-40B4-BE49-F238E27FC236}">
                <a16:creationId xmlns:a16="http://schemas.microsoft.com/office/drawing/2014/main" id="{8D69C885-1E1E-4197-B8B4-03EF54CFC03B}"/>
              </a:ext>
            </a:extLst>
          </p:cNvPr>
          <p:cNvSpPr>
            <a:spLocks xmlns:a="http://schemas.openxmlformats.org/drawingml/2006/main" noGrp="1"/>
          </p:cNvSpPr>
          <p:nvPr/>
        </p:nvSpPr>
        <p:spPr>
          <a:xfrm xmlns:a="http://schemas.openxmlformats.org/drawingml/2006/main">
            <a:off x="495300" y="6858000"/>
            <a:ext cx="16573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0">
                <a:solidFill>
                  <a:srgbClr val="5F716E"/>
                </a:solidFill>
              </a:defRPr>
            </a:pPr>
            <a:r>
              <a:rPr sz="825" b="0">
                <a:solidFill>
                  <a:srgbClr val="5F716E"/>
                </a:solidFill>
              </a:rPr>
              <a:t>2. Chhattisgarh  ₹0.44 Cr</a:t>
            </a:r>
          </a:p>
        </p:txBody>
      </p:sp>
      <p:sp>
        <p:nvSpPr>
          <p:cNvPr id="39" name="">
            <a:extLst xmlns:a="http://schemas.openxmlformats.org/drawingml/2006/main">
              <a:ext uri="{FF2B5EF4-FFF2-40B4-BE49-F238E27FC236}">
                <a16:creationId xmlns:a16="http://schemas.microsoft.com/office/drawing/2014/main" id="{0B8F1B9E-73FE-4B73-9B64-F45E8107D280}"/>
              </a:ext>
            </a:extLst>
          </p:cNvPr>
          <p:cNvSpPr>
            <a:spLocks xmlns:a="http://schemas.openxmlformats.org/drawingml/2006/main" noGrp="1"/>
          </p:cNvSpPr>
          <p:nvPr/>
        </p:nvSpPr>
        <p:spPr>
          <a:xfrm xmlns:a="http://schemas.openxmlformats.org/drawingml/2006/main">
            <a:off x="2381250" y="5095875"/>
            <a:ext cx="4114800" cy="2476500"/>
          </a:xfrm>
          <a:prstGeom xmlns:a="http://schemas.openxmlformats.org/drawingml/2006/main" prst="roundRect">
            <a:avLst>
              <a:gd name="adj" fmla="val 3077"/>
            </a:avLst>
          </a:prstGeom>
          <a:solidFill xmlns:a="http://schemas.openxmlformats.org/drawingml/2006/main">
            <a:srgbClr val="FFFFFF"/>
          </a:solidFill>
          <a:ln xmlns:a="http://schemas.openxmlformats.org/drawingml/2006/main" w="9525">
            <a:solidFill>
              <a:srgbClr val="C8DCD7"/>
            </a:solidFill>
            <a:prstDash val="solid"/>
          </a:ln>
        </p:spPr>
      </p:sp>
      <p:sp>
        <p:nvSpPr>
          <p:cNvPr id="40" name="">
            <a:extLst xmlns:a="http://schemas.openxmlformats.org/drawingml/2006/main">
              <a:ext uri="{FF2B5EF4-FFF2-40B4-BE49-F238E27FC236}">
                <a16:creationId xmlns:a16="http://schemas.microsoft.com/office/drawing/2014/main" id="{7F6EBFFE-66D0-4F13-B4F4-35AFABB84F45}"/>
              </a:ext>
            </a:extLst>
          </p:cNvPr>
          <p:cNvSpPr>
            <a:spLocks xmlns:a="http://schemas.openxmlformats.org/drawingml/2006/main" noGrp="1"/>
          </p:cNvSpPr>
          <p:nvPr/>
        </p:nvSpPr>
        <p:spPr>
          <a:xfrm xmlns:a="http://schemas.openxmlformats.org/drawingml/2006/main">
            <a:off x="2514600" y="5219700"/>
            <a:ext cx="3810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116F68"/>
                </a:solidFill>
              </a:defRPr>
            </a:pPr>
            <a:r>
              <a:rPr sz="900" b="1">
                <a:solidFill>
                  <a:srgbClr val="116F68"/>
                </a:solidFill>
              </a:rPr>
              <a:t>TOP 2 BRANDS × TOP SUB-CATEGORIES</a:t>
            </a:r>
          </a:p>
        </p:txBody>
      </p:sp>
      <p:sp>
        <p:nvSpPr>
          <p:cNvPr id="41" name="">
            <a:extLst xmlns:a="http://schemas.openxmlformats.org/drawingml/2006/main">
              <a:ext uri="{FF2B5EF4-FFF2-40B4-BE49-F238E27FC236}">
                <a16:creationId xmlns:a16="http://schemas.microsoft.com/office/drawing/2014/main" id="{6F6F78A7-F589-4019-AAD6-3C799EE47C28}"/>
              </a:ext>
            </a:extLst>
          </p:cNvPr>
          <p:cNvSpPr>
            <a:spLocks xmlns:a="http://schemas.openxmlformats.org/drawingml/2006/main" noGrp="1"/>
          </p:cNvSpPr>
          <p:nvPr/>
        </p:nvSpPr>
        <p:spPr>
          <a:xfrm xmlns:a="http://schemas.openxmlformats.org/drawingml/2006/main">
            <a:off x="2514600" y="5543550"/>
            <a:ext cx="1809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75" b="1">
                <a:solidFill>
                  <a:srgbClr val="28A596"/>
                </a:solidFill>
              </a:defRPr>
            </a:pPr>
            <a:r>
              <a:rPr sz="975" b="1">
                <a:solidFill>
                  <a:srgbClr val="28A596"/>
                </a:solidFill>
              </a:rPr>
              <a:t>Mamaearth | ₹1.25 Cr</a:t>
            </a:r>
          </a:p>
        </p:txBody>
      </p:sp>
      <p:sp>
        <p:nvSpPr>
          <p:cNvPr id="42" name="">
            <a:extLst xmlns:a="http://schemas.openxmlformats.org/drawingml/2006/main">
              <a:ext uri="{FF2B5EF4-FFF2-40B4-BE49-F238E27FC236}">
                <a16:creationId xmlns:a16="http://schemas.microsoft.com/office/drawing/2014/main" id="{A7A8E546-2FD8-402D-9D49-1F47CE9E7694}"/>
              </a:ext>
            </a:extLst>
          </p:cNvPr>
          <p:cNvSpPr>
            <a:spLocks xmlns:a="http://schemas.openxmlformats.org/drawingml/2006/main" noGrp="1"/>
          </p:cNvSpPr>
          <p:nvPr/>
        </p:nvSpPr>
        <p:spPr>
          <a:xfrm xmlns:a="http://schemas.openxmlformats.org/drawingml/2006/main">
            <a:off x="2514600" y="5905500"/>
            <a:ext cx="1809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88" b="1">
                <a:solidFill>
                  <a:srgbClr val="183B39"/>
                </a:solidFill>
              </a:defRPr>
            </a:pPr>
            <a:r>
              <a:rPr sz="788" b="1">
                <a:solidFill>
                  <a:srgbClr val="183B39"/>
                </a:solidFill>
              </a:rPr>
              <a:t>1. Face Cleanser  ₹0.54 Cr</a:t>
            </a:r>
          </a:p>
        </p:txBody>
      </p:sp>
      <p:sp>
        <p:nvSpPr>
          <p:cNvPr id="43" name="">
            <a:extLst xmlns:a="http://schemas.openxmlformats.org/drawingml/2006/main">
              <a:ext uri="{FF2B5EF4-FFF2-40B4-BE49-F238E27FC236}">
                <a16:creationId xmlns:a16="http://schemas.microsoft.com/office/drawing/2014/main" id="{DF7131EA-A081-49DD-824D-0C71ADEEA8A1}"/>
              </a:ext>
            </a:extLst>
          </p:cNvPr>
          <p:cNvSpPr>
            <a:spLocks xmlns:a="http://schemas.openxmlformats.org/drawingml/2006/main" noGrp="1"/>
          </p:cNvSpPr>
          <p:nvPr/>
        </p:nvSpPr>
        <p:spPr>
          <a:xfrm xmlns:a="http://schemas.openxmlformats.org/drawingml/2006/main">
            <a:off x="2514600" y="6210300"/>
            <a:ext cx="1809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88" b="0">
                <a:solidFill>
                  <a:srgbClr val="183B39"/>
                </a:solidFill>
              </a:defRPr>
            </a:pPr>
            <a:r>
              <a:rPr sz="788" b="0">
                <a:solidFill>
                  <a:srgbClr val="183B39"/>
                </a:solidFill>
              </a:rPr>
              <a:t>2. Shampoo  ₹0.40 Cr</a:t>
            </a:r>
          </a:p>
        </p:txBody>
      </p:sp>
      <p:sp>
        <p:nvSpPr>
          <p:cNvPr id="44" name="">
            <a:extLst xmlns:a="http://schemas.openxmlformats.org/drawingml/2006/main">
              <a:ext uri="{FF2B5EF4-FFF2-40B4-BE49-F238E27FC236}">
                <a16:creationId xmlns:a16="http://schemas.microsoft.com/office/drawing/2014/main" id="{DB512AE9-5B5F-4F56-A00E-D2DBEAAD81A7}"/>
              </a:ext>
            </a:extLst>
          </p:cNvPr>
          <p:cNvSpPr>
            <a:spLocks xmlns:a="http://schemas.openxmlformats.org/drawingml/2006/main" noGrp="1"/>
          </p:cNvSpPr>
          <p:nvPr/>
        </p:nvSpPr>
        <p:spPr>
          <a:xfrm xmlns:a="http://schemas.openxmlformats.org/drawingml/2006/main">
            <a:off x="2514600" y="6515100"/>
            <a:ext cx="1809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88" b="0">
                <a:solidFill>
                  <a:srgbClr val="183B39"/>
                </a:solidFill>
              </a:defRPr>
            </a:pPr>
            <a:r>
              <a:rPr sz="788" b="0">
                <a:solidFill>
                  <a:srgbClr val="183B39"/>
                </a:solidFill>
              </a:rPr>
              <a:t>3. Sun Care  ₹0.09 Cr</a:t>
            </a:r>
          </a:p>
        </p:txBody>
      </p:sp>
      <p:sp>
        <p:nvSpPr>
          <p:cNvPr id="45" name="">
            <a:extLst xmlns:a="http://schemas.openxmlformats.org/drawingml/2006/main">
              <a:ext uri="{FF2B5EF4-FFF2-40B4-BE49-F238E27FC236}">
                <a16:creationId xmlns:a16="http://schemas.microsoft.com/office/drawing/2014/main" id="{0F4A3DB4-4B9C-4D1D-97B2-F8C421AA331D}"/>
              </a:ext>
            </a:extLst>
          </p:cNvPr>
          <p:cNvSpPr>
            <a:spLocks xmlns:a="http://schemas.openxmlformats.org/drawingml/2006/main" noGrp="1"/>
          </p:cNvSpPr>
          <p:nvPr/>
        </p:nvSpPr>
        <p:spPr>
          <a:xfrm xmlns:a="http://schemas.openxmlformats.org/drawingml/2006/main">
            <a:off x="4438650" y="5543550"/>
            <a:ext cx="1809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75" b="1">
                <a:solidFill>
                  <a:srgbClr val="2E7DA8"/>
                </a:solidFill>
              </a:defRPr>
            </a:pPr>
            <a:r>
              <a:rPr sz="975" b="1">
                <a:solidFill>
                  <a:srgbClr val="2E7DA8"/>
                </a:solidFill>
              </a:rPr>
              <a:t>The Derma Co. | ₹0.82 Cr</a:t>
            </a:r>
          </a:p>
        </p:txBody>
      </p:sp>
      <p:sp>
        <p:nvSpPr>
          <p:cNvPr id="46" name="">
            <a:extLst xmlns:a="http://schemas.openxmlformats.org/drawingml/2006/main">
              <a:ext uri="{FF2B5EF4-FFF2-40B4-BE49-F238E27FC236}">
                <a16:creationId xmlns:a16="http://schemas.microsoft.com/office/drawing/2014/main" id="{14A80498-3EA2-406C-96C4-624698927FFB}"/>
              </a:ext>
            </a:extLst>
          </p:cNvPr>
          <p:cNvSpPr>
            <a:spLocks xmlns:a="http://schemas.openxmlformats.org/drawingml/2006/main" noGrp="1"/>
          </p:cNvSpPr>
          <p:nvPr/>
        </p:nvSpPr>
        <p:spPr>
          <a:xfrm xmlns:a="http://schemas.openxmlformats.org/drawingml/2006/main">
            <a:off x="4438650" y="5905500"/>
            <a:ext cx="1809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88" b="1">
                <a:solidFill>
                  <a:srgbClr val="183B39"/>
                </a:solidFill>
              </a:defRPr>
            </a:pPr>
            <a:r>
              <a:rPr sz="788" b="1">
                <a:solidFill>
                  <a:srgbClr val="183B39"/>
                </a:solidFill>
              </a:rPr>
              <a:t>1. Face Cleanser  ₹0.66 Cr</a:t>
            </a:r>
          </a:p>
        </p:txBody>
      </p:sp>
      <p:sp>
        <p:nvSpPr>
          <p:cNvPr id="47" name="">
            <a:extLst xmlns:a="http://schemas.openxmlformats.org/drawingml/2006/main">
              <a:ext uri="{FF2B5EF4-FFF2-40B4-BE49-F238E27FC236}">
                <a16:creationId xmlns:a16="http://schemas.microsoft.com/office/drawing/2014/main" id="{31953407-8634-4828-8DAB-2EB5C0C17E72}"/>
              </a:ext>
            </a:extLst>
          </p:cNvPr>
          <p:cNvSpPr>
            <a:spLocks xmlns:a="http://schemas.openxmlformats.org/drawingml/2006/main" noGrp="1"/>
          </p:cNvSpPr>
          <p:nvPr/>
        </p:nvSpPr>
        <p:spPr>
          <a:xfrm xmlns:a="http://schemas.openxmlformats.org/drawingml/2006/main">
            <a:off x="4438650" y="6210300"/>
            <a:ext cx="1809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88" b="0">
                <a:solidFill>
                  <a:srgbClr val="183B39"/>
                </a:solidFill>
              </a:defRPr>
            </a:pPr>
            <a:r>
              <a:rPr sz="788" b="0">
                <a:solidFill>
                  <a:srgbClr val="183B39"/>
                </a:solidFill>
              </a:rPr>
              <a:t>2. Sun Care  ₹0.18 Cr</a:t>
            </a:r>
          </a:p>
        </p:txBody>
      </p:sp>
      <p:sp>
        <p:nvSpPr>
          <p:cNvPr id="48" name="">
            <a:extLst xmlns:a="http://schemas.openxmlformats.org/drawingml/2006/main">
              <a:ext uri="{FF2B5EF4-FFF2-40B4-BE49-F238E27FC236}">
                <a16:creationId xmlns:a16="http://schemas.microsoft.com/office/drawing/2014/main" id="{141F412F-78C0-48D4-A21A-0A0B3E966B2A}"/>
              </a:ext>
            </a:extLst>
          </p:cNvPr>
          <p:cNvSpPr>
            <a:spLocks xmlns:a="http://schemas.openxmlformats.org/drawingml/2006/main" noGrp="1"/>
          </p:cNvSpPr>
          <p:nvPr/>
        </p:nvSpPr>
        <p:spPr>
          <a:xfrm xmlns:a="http://schemas.openxmlformats.org/drawingml/2006/main">
            <a:off x="4438650" y="6515100"/>
            <a:ext cx="1809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88" b="0">
                <a:solidFill>
                  <a:srgbClr val="183B39"/>
                </a:solidFill>
              </a:defRPr>
            </a:pPr>
            <a:r>
              <a:rPr sz="788" b="0">
                <a:solidFill>
                  <a:srgbClr val="183B39"/>
                </a:solidFill>
              </a:rPr>
              <a:t>3. Face Serum  ₹0.02 Cr</a:t>
            </a:r>
          </a:p>
        </p:txBody>
      </p:sp>
      <p:sp>
        <p:nvSpPr>
          <p:cNvPr id="49" name="">
            <a:extLst xmlns:a="http://schemas.openxmlformats.org/drawingml/2006/main">
              <a:ext uri="{FF2B5EF4-FFF2-40B4-BE49-F238E27FC236}">
                <a16:creationId xmlns:a16="http://schemas.microsoft.com/office/drawing/2014/main" id="{317F8404-0AB9-443F-8B09-1672D1EACCB7}"/>
              </a:ext>
            </a:extLst>
          </p:cNvPr>
          <p:cNvSpPr>
            <a:spLocks xmlns:a="http://schemas.openxmlformats.org/drawingml/2006/main" noGrp="1"/>
          </p:cNvSpPr>
          <p:nvPr/>
        </p:nvSpPr>
        <p:spPr>
          <a:xfrm xmlns:a="http://schemas.openxmlformats.org/drawingml/2006/main">
            <a:off x="2514600" y="7200900"/>
            <a:ext cx="1619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1">
                <a:solidFill>
                  <a:srgbClr val="D6544D"/>
                </a:solidFill>
              </a:defRPr>
            </a:pPr>
            <a:r>
              <a:rPr sz="825" b="1">
                <a:solidFill>
                  <a:srgbClr val="D6544D"/>
                </a:solidFill>
              </a:rPr>
              <a:t>NPI CONTRIBUTION</a:t>
            </a:r>
          </a:p>
        </p:txBody>
      </p:sp>
      <p:sp>
        <p:nvSpPr>
          <p:cNvPr id="50" name="">
            <a:extLst xmlns:a="http://schemas.openxmlformats.org/drawingml/2006/main">
              <a:ext uri="{FF2B5EF4-FFF2-40B4-BE49-F238E27FC236}">
                <a16:creationId xmlns:a16="http://schemas.microsoft.com/office/drawing/2014/main" id="{4DD50C86-7845-4CE3-93A9-AD0812C770DB}"/>
              </a:ext>
            </a:extLst>
          </p:cNvPr>
          <p:cNvSpPr>
            <a:spLocks xmlns:a="http://schemas.openxmlformats.org/drawingml/2006/main" noGrp="1"/>
          </p:cNvSpPr>
          <p:nvPr/>
        </p:nvSpPr>
        <p:spPr>
          <a:xfrm xmlns:a="http://schemas.openxmlformats.org/drawingml/2006/main">
            <a:off x="4095750" y="7124700"/>
            <a:ext cx="22098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690" b="0">
                <a:solidFill>
                  <a:srgbClr val="5F716E"/>
                </a:solidFill>
              </a:defRPr>
            </a:pPr>
            <a:r>
              <a:rPr sz="690" b="0">
                <a:solidFill>
                  <a:srgbClr val="5F716E"/>
                </a:solidFill>
              </a:rPr>
              <a:t>₹0.18 Cr | 8.5% of zone | ME Onion hai… • ME VitC Dail… • ME Onion Hai…</a:t>
            </a:r>
          </a:p>
        </p:txBody>
      </p:sp>
      <p:sp>
        <p:nvSpPr>
          <p:cNvPr id="51" name="">
            <a:extLst xmlns:a="http://schemas.openxmlformats.org/drawingml/2006/main">
              <a:ext uri="{FF2B5EF4-FFF2-40B4-BE49-F238E27FC236}">
                <a16:creationId xmlns:a16="http://schemas.microsoft.com/office/drawing/2014/main" id="{41B9D0D7-549A-43D5-A5DF-3EE008234C7E}"/>
              </a:ext>
            </a:extLst>
          </p:cNvPr>
          <p:cNvSpPr>
            <a:spLocks xmlns:a="http://schemas.openxmlformats.org/drawingml/2006/main" noGrp="1"/>
          </p:cNvSpPr>
          <p:nvPr/>
        </p:nvSpPr>
        <p:spPr>
          <a:xfrm xmlns:a="http://schemas.openxmlformats.org/drawingml/2006/main">
            <a:off x="361950" y="7762875"/>
            <a:ext cx="6134100" cy="257175"/>
          </a:xfrm>
          <a:prstGeom xmlns:a="http://schemas.openxmlformats.org/drawingml/2006/main" prst="rect">
            <a:avLst/>
          </a:prstGeom>
          <a:solidFill xmlns:a="http://schemas.openxmlformats.org/drawingml/2006/main">
            <a:srgbClr val="116F68"/>
          </a:solidFill>
          <a:ln xmlns:a="http://schemas.openxmlformats.org/drawingml/2006/main" w="0">
            <a:solidFill>
              <a:srgbClr val="116F68"/>
            </a:solidFill>
            <a:prstDash val="solid"/>
          </a:ln>
        </p:spPr>
      </p:sp>
      <p:sp>
        <p:nvSpPr>
          <p:cNvPr id="52" name="">
            <a:extLst xmlns:a="http://schemas.openxmlformats.org/drawingml/2006/main">
              <a:ext uri="{FF2B5EF4-FFF2-40B4-BE49-F238E27FC236}">
                <a16:creationId xmlns:a16="http://schemas.microsoft.com/office/drawing/2014/main" id="{6C2C7E3E-8173-47FD-A24B-D1940288D598}"/>
              </a:ext>
            </a:extLst>
          </p:cNvPr>
          <p:cNvSpPr>
            <a:spLocks xmlns:a="http://schemas.openxmlformats.org/drawingml/2006/main" noGrp="1"/>
          </p:cNvSpPr>
          <p:nvPr/>
        </p:nvSpPr>
        <p:spPr>
          <a:xfrm xmlns:a="http://schemas.openxmlformats.org/drawingml/2006/main">
            <a:off x="457200" y="7772400"/>
            <a:ext cx="59436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FFFFFF"/>
                </a:solidFill>
              </a:defRPr>
            </a:pPr>
            <a:r>
              <a:rPr sz="900" b="1">
                <a:solidFill>
                  <a:srgbClr val="FFFFFF"/>
                </a:solidFill>
              </a:rPr>
              <a:t>15 ZONE-SPECIFIC INSIGHTS AND ACTIONS</a:t>
            </a:r>
          </a:p>
        </p:txBody>
      </p:sp>
      <p:sp>
        <p:nvSpPr>
          <p:cNvPr id="53" name="">
            <a:extLst xmlns:a="http://schemas.openxmlformats.org/drawingml/2006/main">
              <a:ext uri="{FF2B5EF4-FFF2-40B4-BE49-F238E27FC236}">
                <a16:creationId xmlns:a16="http://schemas.microsoft.com/office/drawing/2014/main" id="{E1D78915-FBA5-4929-9481-5535D7AE3024}"/>
              </a:ext>
            </a:extLst>
          </p:cNvPr>
          <p:cNvSpPr>
            <a:spLocks xmlns:a="http://schemas.openxmlformats.org/drawingml/2006/main" noGrp="1"/>
          </p:cNvSpPr>
          <p:nvPr/>
        </p:nvSpPr>
        <p:spPr>
          <a:xfrm xmlns:a="http://schemas.openxmlformats.org/drawingml/2006/main">
            <a:off x="361950" y="8096250"/>
            <a:ext cx="1981200" cy="514350"/>
          </a:xfrm>
          <a:prstGeom xmlns:a="http://schemas.openxmlformats.org/drawingml/2006/main" prst="roundRect">
            <a:avLst>
              <a:gd name="adj" fmla="val 14815"/>
            </a:avLst>
          </a:prstGeom>
          <a:solidFill xmlns:a="http://schemas.openxmlformats.org/drawingml/2006/main">
            <a:srgbClr val="DFF2ED"/>
          </a:solidFill>
          <a:ln xmlns:a="http://schemas.openxmlformats.org/drawingml/2006/main" w="9525">
            <a:solidFill>
              <a:srgbClr val="C8DCD7"/>
            </a:solidFill>
            <a:prstDash val="solid"/>
          </a:ln>
        </p:spPr>
      </p:sp>
      <p:sp>
        <p:nvSpPr>
          <p:cNvPr id="54" name="">
            <a:extLst xmlns:a="http://schemas.openxmlformats.org/drawingml/2006/main">
              <a:ext uri="{FF2B5EF4-FFF2-40B4-BE49-F238E27FC236}">
                <a16:creationId xmlns:a16="http://schemas.microsoft.com/office/drawing/2014/main" id="{A01B8682-1694-4CB3-A8A7-5481F1739C49}"/>
              </a:ext>
            </a:extLst>
          </p:cNvPr>
          <p:cNvSpPr>
            <a:spLocks xmlns:a="http://schemas.openxmlformats.org/drawingml/2006/main" noGrp="1"/>
          </p:cNvSpPr>
          <p:nvPr/>
        </p:nvSpPr>
        <p:spPr>
          <a:xfrm xmlns:a="http://schemas.openxmlformats.org/drawingml/2006/main">
            <a:off x="419100" y="814387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28A596"/>
                </a:solidFill>
              </a:defRPr>
            </a:pPr>
            <a:r>
              <a:rPr sz="675" b="1">
                <a:solidFill>
                  <a:srgbClr val="28A596"/>
                </a:solidFill>
              </a:rPr>
              <a:t>01</a:t>
            </a:r>
          </a:p>
        </p:txBody>
      </p:sp>
      <p:sp>
        <p:nvSpPr>
          <p:cNvPr id="55" name="">
            <a:extLst xmlns:a="http://schemas.openxmlformats.org/drawingml/2006/main">
              <a:ext uri="{FF2B5EF4-FFF2-40B4-BE49-F238E27FC236}">
                <a16:creationId xmlns:a16="http://schemas.microsoft.com/office/drawing/2014/main" id="{CF649EFC-EA76-409F-AD93-7FDD1A4D48A6}"/>
              </a:ext>
            </a:extLst>
          </p:cNvPr>
          <p:cNvSpPr>
            <a:spLocks xmlns:a="http://schemas.openxmlformats.org/drawingml/2006/main" noGrp="1"/>
          </p:cNvSpPr>
          <p:nvPr/>
        </p:nvSpPr>
        <p:spPr>
          <a:xfrm xmlns:a="http://schemas.openxmlformats.org/drawingml/2006/main">
            <a:off x="742950" y="813435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1">
                <a:solidFill>
                  <a:srgbClr val="183B39"/>
                </a:solidFill>
              </a:defRPr>
            </a:pPr>
            <a:r>
              <a:rPr sz="713" b="1">
                <a:solidFill>
                  <a:srgbClr val="183B39"/>
                </a:solidFill>
              </a:rPr>
              <a:t>Central delivers ₹2.12 Cr offtake, 5.9% of national value.</a:t>
            </a:r>
          </a:p>
        </p:txBody>
      </p:sp>
      <p:sp>
        <p:nvSpPr>
          <p:cNvPr id="56" name="">
            <a:extLst xmlns:a="http://schemas.openxmlformats.org/drawingml/2006/main">
              <a:ext uri="{FF2B5EF4-FFF2-40B4-BE49-F238E27FC236}">
                <a16:creationId xmlns:a16="http://schemas.microsoft.com/office/drawing/2014/main" id="{1206BF23-2E5B-4140-B6EA-1A5C30908575}"/>
              </a:ext>
            </a:extLst>
          </p:cNvPr>
          <p:cNvSpPr>
            <a:spLocks xmlns:a="http://schemas.openxmlformats.org/drawingml/2006/main" noGrp="1"/>
          </p:cNvSpPr>
          <p:nvPr/>
        </p:nvSpPr>
        <p:spPr>
          <a:xfrm xmlns:a="http://schemas.openxmlformats.org/drawingml/2006/main">
            <a:off x="2438400" y="8096250"/>
            <a:ext cx="1981200" cy="514350"/>
          </a:xfrm>
          <a:prstGeom xmlns:a="http://schemas.openxmlformats.org/drawingml/2006/main" prst="roundRect">
            <a:avLst>
              <a:gd name="adj" fmla="val 14815"/>
            </a:avLst>
          </a:prstGeom>
          <a:solidFill xmlns:a="http://schemas.openxmlformats.org/drawingml/2006/main">
            <a:srgbClr val="DFF2ED"/>
          </a:solidFill>
          <a:ln xmlns:a="http://schemas.openxmlformats.org/drawingml/2006/main" w="9525">
            <a:solidFill>
              <a:srgbClr val="C8DCD7"/>
            </a:solidFill>
            <a:prstDash val="solid"/>
          </a:ln>
        </p:spPr>
      </p:sp>
      <p:sp>
        <p:nvSpPr>
          <p:cNvPr id="57" name="">
            <a:extLst xmlns:a="http://schemas.openxmlformats.org/drawingml/2006/main">
              <a:ext uri="{FF2B5EF4-FFF2-40B4-BE49-F238E27FC236}">
                <a16:creationId xmlns:a16="http://schemas.microsoft.com/office/drawing/2014/main" id="{A5B665CC-8B2B-4919-BB57-4605AB067B22}"/>
              </a:ext>
            </a:extLst>
          </p:cNvPr>
          <p:cNvSpPr>
            <a:spLocks xmlns:a="http://schemas.openxmlformats.org/drawingml/2006/main" noGrp="1"/>
          </p:cNvSpPr>
          <p:nvPr/>
        </p:nvSpPr>
        <p:spPr>
          <a:xfrm xmlns:a="http://schemas.openxmlformats.org/drawingml/2006/main">
            <a:off x="2495550" y="814387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28A596"/>
                </a:solidFill>
              </a:defRPr>
            </a:pPr>
            <a:r>
              <a:rPr sz="675" b="1">
                <a:solidFill>
                  <a:srgbClr val="28A596"/>
                </a:solidFill>
              </a:rPr>
              <a:t>02</a:t>
            </a:r>
          </a:p>
        </p:txBody>
      </p:sp>
      <p:sp>
        <p:nvSpPr>
          <p:cNvPr id="58" name="">
            <a:extLst xmlns:a="http://schemas.openxmlformats.org/drawingml/2006/main">
              <a:ext uri="{FF2B5EF4-FFF2-40B4-BE49-F238E27FC236}">
                <a16:creationId xmlns:a16="http://schemas.microsoft.com/office/drawing/2014/main" id="{ED75CBDB-2715-4F5C-B786-59B0CEE7CA80}"/>
              </a:ext>
            </a:extLst>
          </p:cNvPr>
          <p:cNvSpPr>
            <a:spLocks xmlns:a="http://schemas.openxmlformats.org/drawingml/2006/main" noGrp="1"/>
          </p:cNvSpPr>
          <p:nvPr/>
        </p:nvSpPr>
        <p:spPr>
          <a:xfrm xmlns:a="http://schemas.openxmlformats.org/drawingml/2006/main">
            <a:off x="2819400" y="813435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1">
                <a:solidFill>
                  <a:srgbClr val="183B39"/>
                </a:solidFill>
              </a:defRPr>
            </a:pPr>
            <a:r>
              <a:rPr sz="713" b="1">
                <a:solidFill>
                  <a:srgbClr val="183B39"/>
                </a:solidFill>
              </a:rPr>
              <a:t>Primary is ₹2.69 Cr versus ₹2.12 Cr offtake.</a:t>
            </a:r>
          </a:p>
        </p:txBody>
      </p:sp>
      <p:sp>
        <p:nvSpPr>
          <p:cNvPr id="59" name="">
            <a:extLst xmlns:a="http://schemas.openxmlformats.org/drawingml/2006/main">
              <a:ext uri="{FF2B5EF4-FFF2-40B4-BE49-F238E27FC236}">
                <a16:creationId xmlns:a16="http://schemas.microsoft.com/office/drawing/2014/main" id="{008ED485-0943-4486-8F3C-E0D2100A5506}"/>
              </a:ext>
            </a:extLst>
          </p:cNvPr>
          <p:cNvSpPr>
            <a:spLocks xmlns:a="http://schemas.openxmlformats.org/drawingml/2006/main" noGrp="1"/>
          </p:cNvSpPr>
          <p:nvPr/>
        </p:nvSpPr>
        <p:spPr>
          <a:xfrm xmlns:a="http://schemas.openxmlformats.org/drawingml/2006/main">
            <a:off x="4514850" y="8096250"/>
            <a:ext cx="1981200" cy="514350"/>
          </a:xfrm>
          <a:prstGeom xmlns:a="http://schemas.openxmlformats.org/drawingml/2006/main" prst="roundRect">
            <a:avLst>
              <a:gd name="adj" fmla="val 14815"/>
            </a:avLst>
          </a:prstGeom>
          <a:solidFill xmlns:a="http://schemas.openxmlformats.org/drawingml/2006/main">
            <a:srgbClr val="DFF2ED"/>
          </a:solidFill>
          <a:ln xmlns:a="http://schemas.openxmlformats.org/drawingml/2006/main" w="9525">
            <a:solidFill>
              <a:srgbClr val="C8DCD7"/>
            </a:solidFill>
            <a:prstDash val="solid"/>
          </a:ln>
        </p:spPr>
      </p:sp>
      <p:sp>
        <p:nvSpPr>
          <p:cNvPr id="60" name="">
            <a:extLst xmlns:a="http://schemas.openxmlformats.org/drawingml/2006/main">
              <a:ext uri="{FF2B5EF4-FFF2-40B4-BE49-F238E27FC236}">
                <a16:creationId xmlns:a16="http://schemas.microsoft.com/office/drawing/2014/main" id="{1E732DD1-3FEF-4CEE-A1C3-975E04852F36}"/>
              </a:ext>
            </a:extLst>
          </p:cNvPr>
          <p:cNvSpPr>
            <a:spLocks xmlns:a="http://schemas.openxmlformats.org/drawingml/2006/main" noGrp="1"/>
          </p:cNvSpPr>
          <p:nvPr/>
        </p:nvSpPr>
        <p:spPr>
          <a:xfrm xmlns:a="http://schemas.openxmlformats.org/drawingml/2006/main">
            <a:off x="4572000" y="814387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28A596"/>
                </a:solidFill>
              </a:defRPr>
            </a:pPr>
            <a:r>
              <a:rPr sz="675" b="1">
                <a:solidFill>
                  <a:srgbClr val="28A596"/>
                </a:solidFill>
              </a:rPr>
              <a:t>03</a:t>
            </a:r>
          </a:p>
        </p:txBody>
      </p:sp>
      <p:sp>
        <p:nvSpPr>
          <p:cNvPr id="61" name="">
            <a:extLst xmlns:a="http://schemas.openxmlformats.org/drawingml/2006/main">
              <a:ext uri="{FF2B5EF4-FFF2-40B4-BE49-F238E27FC236}">
                <a16:creationId xmlns:a16="http://schemas.microsoft.com/office/drawing/2014/main" id="{64E46CDA-5CD2-4565-86E5-1AB32F337DA0}"/>
              </a:ext>
            </a:extLst>
          </p:cNvPr>
          <p:cNvSpPr>
            <a:spLocks xmlns:a="http://schemas.openxmlformats.org/drawingml/2006/main" noGrp="1"/>
          </p:cNvSpPr>
          <p:nvPr/>
        </p:nvSpPr>
        <p:spPr>
          <a:xfrm xmlns:a="http://schemas.openxmlformats.org/drawingml/2006/main">
            <a:off x="4895850" y="813435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1">
                <a:solidFill>
                  <a:srgbClr val="183B39"/>
                </a:solidFill>
              </a:defRPr>
            </a:pPr>
            <a:r>
              <a:rPr sz="713" b="1">
                <a:solidFill>
                  <a:srgbClr val="183B39"/>
                </a:solidFill>
              </a:rPr>
              <a:t>Flow conversion is 78.8% for July.</a:t>
            </a:r>
          </a:p>
        </p:txBody>
      </p:sp>
      <p:sp>
        <p:nvSpPr>
          <p:cNvPr id="62" name="">
            <a:extLst xmlns:a="http://schemas.openxmlformats.org/drawingml/2006/main">
              <a:ext uri="{FF2B5EF4-FFF2-40B4-BE49-F238E27FC236}">
                <a16:creationId xmlns:a16="http://schemas.microsoft.com/office/drawing/2014/main" id="{7249268D-EA93-49E5-86F2-829961B85272}"/>
              </a:ext>
            </a:extLst>
          </p:cNvPr>
          <p:cNvSpPr>
            <a:spLocks xmlns:a="http://schemas.openxmlformats.org/drawingml/2006/main" noGrp="1"/>
          </p:cNvSpPr>
          <p:nvPr/>
        </p:nvSpPr>
        <p:spPr>
          <a:xfrm xmlns:a="http://schemas.openxmlformats.org/drawingml/2006/main">
            <a:off x="361950" y="8686800"/>
            <a:ext cx="1981200" cy="514350"/>
          </a:xfrm>
          <a:prstGeom xmlns:a="http://schemas.openxmlformats.org/drawingml/2006/main" prst="roundRect">
            <a:avLst>
              <a:gd name="adj" fmla="val 14815"/>
            </a:avLst>
          </a:prstGeom>
          <a:solidFill xmlns:a="http://schemas.openxmlformats.org/drawingml/2006/main">
            <a:srgbClr val="DFF2ED"/>
          </a:solidFill>
          <a:ln xmlns:a="http://schemas.openxmlformats.org/drawingml/2006/main" w="9525">
            <a:solidFill>
              <a:srgbClr val="C8DCD7"/>
            </a:solidFill>
            <a:prstDash val="solid"/>
          </a:ln>
        </p:spPr>
      </p:sp>
      <p:sp>
        <p:nvSpPr>
          <p:cNvPr id="63" name="">
            <a:extLst xmlns:a="http://schemas.openxmlformats.org/drawingml/2006/main">
              <a:ext uri="{FF2B5EF4-FFF2-40B4-BE49-F238E27FC236}">
                <a16:creationId xmlns:a16="http://schemas.microsoft.com/office/drawing/2014/main" id="{0BE4BF34-8F20-4D43-8474-8BD326E86D37}"/>
              </a:ext>
            </a:extLst>
          </p:cNvPr>
          <p:cNvSpPr>
            <a:spLocks xmlns:a="http://schemas.openxmlformats.org/drawingml/2006/main" noGrp="1"/>
          </p:cNvSpPr>
          <p:nvPr/>
        </p:nvSpPr>
        <p:spPr>
          <a:xfrm xmlns:a="http://schemas.openxmlformats.org/drawingml/2006/main">
            <a:off x="419100" y="873442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28A596"/>
                </a:solidFill>
              </a:defRPr>
            </a:pPr>
            <a:r>
              <a:rPr sz="675" b="1">
                <a:solidFill>
                  <a:srgbClr val="28A596"/>
                </a:solidFill>
              </a:rPr>
              <a:t>04</a:t>
            </a:r>
          </a:p>
        </p:txBody>
      </p:sp>
      <p:sp>
        <p:nvSpPr>
          <p:cNvPr id="64" name="">
            <a:extLst xmlns:a="http://schemas.openxmlformats.org/drawingml/2006/main">
              <a:ext uri="{FF2B5EF4-FFF2-40B4-BE49-F238E27FC236}">
                <a16:creationId xmlns:a16="http://schemas.microsoft.com/office/drawing/2014/main" id="{3D2360B8-533E-4D8F-BAB1-F1BC6F025915}"/>
              </a:ext>
            </a:extLst>
          </p:cNvPr>
          <p:cNvSpPr>
            <a:spLocks xmlns:a="http://schemas.openxmlformats.org/drawingml/2006/main" noGrp="1"/>
          </p:cNvSpPr>
          <p:nvPr/>
        </p:nvSpPr>
        <p:spPr>
          <a:xfrm xmlns:a="http://schemas.openxmlformats.org/drawingml/2006/main">
            <a:off x="742950" y="872490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0">
                <a:solidFill>
                  <a:srgbClr val="183B39"/>
                </a:solidFill>
              </a:defRPr>
            </a:pPr>
            <a:r>
              <a:rPr sz="713" b="0">
                <a:solidFill>
                  <a:srgbClr val="183B39"/>
                </a:solidFill>
              </a:rPr>
              <a:t>The same-period flow gap is ₹0.57 Cr.</a:t>
            </a:r>
          </a:p>
        </p:txBody>
      </p:sp>
      <p:sp>
        <p:nvSpPr>
          <p:cNvPr id="65" name="">
            <a:extLst xmlns:a="http://schemas.openxmlformats.org/drawingml/2006/main">
              <a:ext uri="{FF2B5EF4-FFF2-40B4-BE49-F238E27FC236}">
                <a16:creationId xmlns:a16="http://schemas.microsoft.com/office/drawing/2014/main" id="{89D0CB9D-0A2A-4303-AFEF-AE3A08258AA4}"/>
              </a:ext>
            </a:extLst>
          </p:cNvPr>
          <p:cNvSpPr>
            <a:spLocks xmlns:a="http://schemas.openxmlformats.org/drawingml/2006/main" noGrp="1"/>
          </p:cNvSpPr>
          <p:nvPr/>
        </p:nvSpPr>
        <p:spPr>
          <a:xfrm xmlns:a="http://schemas.openxmlformats.org/drawingml/2006/main">
            <a:off x="2438400" y="8686800"/>
            <a:ext cx="1981200" cy="514350"/>
          </a:xfrm>
          <a:prstGeom xmlns:a="http://schemas.openxmlformats.org/drawingml/2006/main" prst="roundRect">
            <a:avLst>
              <a:gd name="adj" fmla="val 14815"/>
            </a:avLst>
          </a:prstGeom>
          <a:solidFill xmlns:a="http://schemas.openxmlformats.org/drawingml/2006/main">
            <a:srgbClr val="DFF2ED"/>
          </a:solidFill>
          <a:ln xmlns:a="http://schemas.openxmlformats.org/drawingml/2006/main" w="9525">
            <a:solidFill>
              <a:srgbClr val="C8DCD7"/>
            </a:solidFill>
            <a:prstDash val="solid"/>
          </a:ln>
        </p:spPr>
      </p:sp>
      <p:sp>
        <p:nvSpPr>
          <p:cNvPr id="66" name="">
            <a:extLst xmlns:a="http://schemas.openxmlformats.org/drawingml/2006/main">
              <a:ext uri="{FF2B5EF4-FFF2-40B4-BE49-F238E27FC236}">
                <a16:creationId xmlns:a16="http://schemas.microsoft.com/office/drawing/2014/main" id="{CF163A34-75DB-407C-854E-890E2E5BC509}"/>
              </a:ext>
            </a:extLst>
          </p:cNvPr>
          <p:cNvSpPr>
            <a:spLocks xmlns:a="http://schemas.openxmlformats.org/drawingml/2006/main" noGrp="1"/>
          </p:cNvSpPr>
          <p:nvPr/>
        </p:nvSpPr>
        <p:spPr>
          <a:xfrm xmlns:a="http://schemas.openxmlformats.org/drawingml/2006/main">
            <a:off x="2495550" y="873442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28A596"/>
                </a:solidFill>
              </a:defRPr>
            </a:pPr>
            <a:r>
              <a:rPr sz="675" b="1">
                <a:solidFill>
                  <a:srgbClr val="28A596"/>
                </a:solidFill>
              </a:rPr>
              <a:t>05</a:t>
            </a:r>
          </a:p>
        </p:txBody>
      </p:sp>
      <p:sp>
        <p:nvSpPr>
          <p:cNvPr id="67" name="">
            <a:extLst xmlns:a="http://schemas.openxmlformats.org/drawingml/2006/main">
              <a:ext uri="{FF2B5EF4-FFF2-40B4-BE49-F238E27FC236}">
                <a16:creationId xmlns:a16="http://schemas.microsoft.com/office/drawing/2014/main" id="{5DE77F23-D643-4287-BE1E-33358162338D}"/>
              </a:ext>
            </a:extLst>
          </p:cNvPr>
          <p:cNvSpPr>
            <a:spLocks xmlns:a="http://schemas.openxmlformats.org/drawingml/2006/main" noGrp="1"/>
          </p:cNvSpPr>
          <p:nvPr/>
        </p:nvSpPr>
        <p:spPr>
          <a:xfrm xmlns:a="http://schemas.openxmlformats.org/drawingml/2006/main">
            <a:off x="2819400" y="872490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0">
                <a:solidFill>
                  <a:srgbClr val="183B39"/>
                </a:solidFill>
              </a:defRPr>
            </a:pPr>
            <a:r>
              <a:rPr sz="713" b="0">
                <a:solidFill>
                  <a:srgbClr val="183B39"/>
                </a:solidFill>
              </a:rPr>
              <a:t>Central ranks #6 by national offtake.</a:t>
            </a:r>
          </a:p>
        </p:txBody>
      </p:sp>
      <p:sp>
        <p:nvSpPr>
          <p:cNvPr id="68" name="">
            <a:extLst xmlns:a="http://schemas.openxmlformats.org/drawingml/2006/main">
              <a:ext uri="{FF2B5EF4-FFF2-40B4-BE49-F238E27FC236}">
                <a16:creationId xmlns:a16="http://schemas.microsoft.com/office/drawing/2014/main" id="{30A7A896-3499-41BC-8245-13D3048D5548}"/>
              </a:ext>
            </a:extLst>
          </p:cNvPr>
          <p:cNvSpPr>
            <a:spLocks xmlns:a="http://schemas.openxmlformats.org/drawingml/2006/main" noGrp="1"/>
          </p:cNvSpPr>
          <p:nvPr/>
        </p:nvSpPr>
        <p:spPr>
          <a:xfrm xmlns:a="http://schemas.openxmlformats.org/drawingml/2006/main">
            <a:off x="4514850" y="8686800"/>
            <a:ext cx="1981200" cy="514350"/>
          </a:xfrm>
          <a:prstGeom xmlns:a="http://schemas.openxmlformats.org/drawingml/2006/main" prst="roundRect">
            <a:avLst>
              <a:gd name="adj" fmla="val 14815"/>
            </a:avLst>
          </a:prstGeom>
          <a:solidFill xmlns:a="http://schemas.openxmlformats.org/drawingml/2006/main">
            <a:srgbClr val="FFFFFF"/>
          </a:solidFill>
          <a:ln xmlns:a="http://schemas.openxmlformats.org/drawingml/2006/main" w="9525">
            <a:solidFill>
              <a:srgbClr val="C8DCD7"/>
            </a:solidFill>
            <a:prstDash val="solid"/>
          </a:ln>
        </p:spPr>
      </p:sp>
      <p:sp>
        <p:nvSpPr>
          <p:cNvPr id="69" name="">
            <a:extLst xmlns:a="http://schemas.openxmlformats.org/drawingml/2006/main">
              <a:ext uri="{FF2B5EF4-FFF2-40B4-BE49-F238E27FC236}">
                <a16:creationId xmlns:a16="http://schemas.microsoft.com/office/drawing/2014/main" id="{52EFF918-3033-41DD-9324-70EC3E70A4F8}"/>
              </a:ext>
            </a:extLst>
          </p:cNvPr>
          <p:cNvSpPr>
            <a:spLocks xmlns:a="http://schemas.openxmlformats.org/drawingml/2006/main" noGrp="1"/>
          </p:cNvSpPr>
          <p:nvPr/>
        </p:nvSpPr>
        <p:spPr>
          <a:xfrm xmlns:a="http://schemas.openxmlformats.org/drawingml/2006/main">
            <a:off x="4572000" y="873442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D6544D"/>
                </a:solidFill>
              </a:defRPr>
            </a:pPr>
            <a:r>
              <a:rPr sz="675" b="1">
                <a:solidFill>
                  <a:srgbClr val="D6544D"/>
                </a:solidFill>
              </a:rPr>
              <a:t>06</a:t>
            </a:r>
          </a:p>
        </p:txBody>
      </p:sp>
      <p:sp>
        <p:nvSpPr>
          <p:cNvPr id="70" name="">
            <a:extLst xmlns:a="http://schemas.openxmlformats.org/drawingml/2006/main">
              <a:ext uri="{FF2B5EF4-FFF2-40B4-BE49-F238E27FC236}">
                <a16:creationId xmlns:a16="http://schemas.microsoft.com/office/drawing/2014/main" id="{15CD66C1-A38C-4392-B952-A1F150D3E6D6}"/>
              </a:ext>
            </a:extLst>
          </p:cNvPr>
          <p:cNvSpPr>
            <a:spLocks xmlns:a="http://schemas.openxmlformats.org/drawingml/2006/main" noGrp="1"/>
          </p:cNvSpPr>
          <p:nvPr/>
        </p:nvSpPr>
        <p:spPr>
          <a:xfrm xmlns:a="http://schemas.openxmlformats.org/drawingml/2006/main">
            <a:off x="4895850" y="872490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0">
                <a:solidFill>
                  <a:srgbClr val="183B39"/>
                </a:solidFill>
              </a:defRPr>
            </a:pPr>
            <a:r>
              <a:rPr sz="713" b="0">
                <a:solidFill>
                  <a:srgbClr val="183B39"/>
                </a:solidFill>
              </a:rPr>
              <a:t>Madhya Pradesh ranks #1 with ₹1.68 Cr offtake.</a:t>
            </a:r>
          </a:p>
        </p:txBody>
      </p:sp>
      <p:sp>
        <p:nvSpPr>
          <p:cNvPr id="71" name="">
            <a:extLst xmlns:a="http://schemas.openxmlformats.org/drawingml/2006/main">
              <a:ext uri="{FF2B5EF4-FFF2-40B4-BE49-F238E27FC236}">
                <a16:creationId xmlns:a16="http://schemas.microsoft.com/office/drawing/2014/main" id="{5F2CDF5C-BD9B-44B3-A45D-C3F50E74D21F}"/>
              </a:ext>
            </a:extLst>
          </p:cNvPr>
          <p:cNvSpPr>
            <a:spLocks xmlns:a="http://schemas.openxmlformats.org/drawingml/2006/main" noGrp="1"/>
          </p:cNvSpPr>
          <p:nvPr/>
        </p:nvSpPr>
        <p:spPr>
          <a:xfrm xmlns:a="http://schemas.openxmlformats.org/drawingml/2006/main">
            <a:off x="361950" y="9277350"/>
            <a:ext cx="1981200" cy="514350"/>
          </a:xfrm>
          <a:prstGeom xmlns:a="http://schemas.openxmlformats.org/drawingml/2006/main" prst="roundRect">
            <a:avLst>
              <a:gd name="adj" fmla="val 14815"/>
            </a:avLst>
          </a:prstGeom>
          <a:solidFill xmlns:a="http://schemas.openxmlformats.org/drawingml/2006/main">
            <a:srgbClr val="FFFFFF"/>
          </a:solidFill>
          <a:ln xmlns:a="http://schemas.openxmlformats.org/drawingml/2006/main" w="9525">
            <a:solidFill>
              <a:srgbClr val="C8DCD7"/>
            </a:solidFill>
            <a:prstDash val="solid"/>
          </a:ln>
        </p:spPr>
      </p:sp>
      <p:sp>
        <p:nvSpPr>
          <p:cNvPr id="72" name="">
            <a:extLst xmlns:a="http://schemas.openxmlformats.org/drawingml/2006/main">
              <a:ext uri="{FF2B5EF4-FFF2-40B4-BE49-F238E27FC236}">
                <a16:creationId xmlns:a16="http://schemas.microsoft.com/office/drawing/2014/main" id="{1055A9F7-6CD3-4FC7-B0F0-AD8A7A114522}"/>
              </a:ext>
            </a:extLst>
          </p:cNvPr>
          <p:cNvSpPr>
            <a:spLocks xmlns:a="http://schemas.openxmlformats.org/drawingml/2006/main" noGrp="1"/>
          </p:cNvSpPr>
          <p:nvPr/>
        </p:nvSpPr>
        <p:spPr>
          <a:xfrm xmlns:a="http://schemas.openxmlformats.org/drawingml/2006/main">
            <a:off x="419100" y="932497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D6544D"/>
                </a:solidFill>
              </a:defRPr>
            </a:pPr>
            <a:r>
              <a:rPr sz="675" b="1">
                <a:solidFill>
                  <a:srgbClr val="D6544D"/>
                </a:solidFill>
              </a:rPr>
              <a:t>07</a:t>
            </a:r>
          </a:p>
        </p:txBody>
      </p:sp>
      <p:sp>
        <p:nvSpPr>
          <p:cNvPr id="73" name="">
            <a:extLst xmlns:a="http://schemas.openxmlformats.org/drawingml/2006/main">
              <a:ext uri="{FF2B5EF4-FFF2-40B4-BE49-F238E27FC236}">
                <a16:creationId xmlns:a16="http://schemas.microsoft.com/office/drawing/2014/main" id="{7D7FB2EE-86C5-4342-8EF0-3FD3598F2CF6}"/>
              </a:ext>
            </a:extLst>
          </p:cNvPr>
          <p:cNvSpPr>
            <a:spLocks xmlns:a="http://schemas.openxmlformats.org/drawingml/2006/main" noGrp="1"/>
          </p:cNvSpPr>
          <p:nvPr/>
        </p:nvSpPr>
        <p:spPr>
          <a:xfrm xmlns:a="http://schemas.openxmlformats.org/drawingml/2006/main">
            <a:off x="742950" y="931545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0">
                <a:solidFill>
                  <a:srgbClr val="183B39"/>
                </a:solidFill>
              </a:defRPr>
            </a:pPr>
            <a:r>
              <a:rPr sz="713" b="0">
                <a:solidFill>
                  <a:srgbClr val="183B39"/>
                </a:solidFill>
              </a:rPr>
              <a:t>Chhattisgarh ranks #2 with ₹0.44 Cr offtake.</a:t>
            </a:r>
          </a:p>
        </p:txBody>
      </p:sp>
      <p:sp>
        <p:nvSpPr>
          <p:cNvPr id="74" name="">
            <a:extLst xmlns:a="http://schemas.openxmlformats.org/drawingml/2006/main">
              <a:ext uri="{FF2B5EF4-FFF2-40B4-BE49-F238E27FC236}">
                <a16:creationId xmlns:a16="http://schemas.microsoft.com/office/drawing/2014/main" id="{3C5464D1-1AEF-41CA-9DE7-084427F1BE2B}"/>
              </a:ext>
            </a:extLst>
          </p:cNvPr>
          <p:cNvSpPr>
            <a:spLocks xmlns:a="http://schemas.openxmlformats.org/drawingml/2006/main" noGrp="1"/>
          </p:cNvSpPr>
          <p:nvPr/>
        </p:nvSpPr>
        <p:spPr>
          <a:xfrm xmlns:a="http://schemas.openxmlformats.org/drawingml/2006/main">
            <a:off x="2438400" y="9277350"/>
            <a:ext cx="1981200" cy="514350"/>
          </a:xfrm>
          <a:prstGeom xmlns:a="http://schemas.openxmlformats.org/drawingml/2006/main" prst="roundRect">
            <a:avLst>
              <a:gd name="adj" fmla="val 14815"/>
            </a:avLst>
          </a:prstGeom>
          <a:solidFill xmlns:a="http://schemas.openxmlformats.org/drawingml/2006/main">
            <a:srgbClr val="FFFFFF"/>
          </a:solidFill>
          <a:ln xmlns:a="http://schemas.openxmlformats.org/drawingml/2006/main" w="9525">
            <a:solidFill>
              <a:srgbClr val="C8DCD7"/>
            </a:solidFill>
            <a:prstDash val="solid"/>
          </a:ln>
        </p:spPr>
      </p:sp>
      <p:sp>
        <p:nvSpPr>
          <p:cNvPr id="75" name="">
            <a:extLst xmlns:a="http://schemas.openxmlformats.org/drawingml/2006/main">
              <a:ext uri="{FF2B5EF4-FFF2-40B4-BE49-F238E27FC236}">
                <a16:creationId xmlns:a16="http://schemas.microsoft.com/office/drawing/2014/main" id="{06980283-F066-4CF2-9BFB-EA2D2D802BBC}"/>
              </a:ext>
            </a:extLst>
          </p:cNvPr>
          <p:cNvSpPr>
            <a:spLocks xmlns:a="http://schemas.openxmlformats.org/drawingml/2006/main" noGrp="1"/>
          </p:cNvSpPr>
          <p:nvPr/>
        </p:nvSpPr>
        <p:spPr>
          <a:xfrm xmlns:a="http://schemas.openxmlformats.org/drawingml/2006/main">
            <a:off x="2495550" y="932497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D6544D"/>
                </a:solidFill>
              </a:defRPr>
            </a:pPr>
            <a:r>
              <a:rPr sz="675" b="1">
                <a:solidFill>
                  <a:srgbClr val="D6544D"/>
                </a:solidFill>
              </a:rPr>
              <a:t>08</a:t>
            </a:r>
          </a:p>
        </p:txBody>
      </p:sp>
      <p:sp>
        <p:nvSpPr>
          <p:cNvPr id="76" name="">
            <a:extLst xmlns:a="http://schemas.openxmlformats.org/drawingml/2006/main">
              <a:ext uri="{FF2B5EF4-FFF2-40B4-BE49-F238E27FC236}">
                <a16:creationId xmlns:a16="http://schemas.microsoft.com/office/drawing/2014/main" id="{F70DAF63-89EC-4AD9-AABF-5142B4073509}"/>
              </a:ext>
            </a:extLst>
          </p:cNvPr>
          <p:cNvSpPr>
            <a:spLocks xmlns:a="http://schemas.openxmlformats.org/drawingml/2006/main" noGrp="1"/>
          </p:cNvSpPr>
          <p:nvPr/>
        </p:nvSpPr>
        <p:spPr>
          <a:xfrm xmlns:a="http://schemas.openxmlformats.org/drawingml/2006/main">
            <a:off x="2819400" y="931545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0">
                <a:solidFill>
                  <a:srgbClr val="183B39"/>
                </a:solidFill>
              </a:defRPr>
            </a:pPr>
            <a:r>
              <a:rPr sz="713" b="0">
                <a:solidFill>
                  <a:srgbClr val="183B39"/>
                </a:solidFill>
              </a:rPr>
              <a:t>The leading state contributes 79.3% of zone offtake.</a:t>
            </a:r>
          </a:p>
        </p:txBody>
      </p:sp>
      <p:sp>
        <p:nvSpPr>
          <p:cNvPr id="77" name="">
            <a:extLst xmlns:a="http://schemas.openxmlformats.org/drawingml/2006/main">
              <a:ext uri="{FF2B5EF4-FFF2-40B4-BE49-F238E27FC236}">
                <a16:creationId xmlns:a16="http://schemas.microsoft.com/office/drawing/2014/main" id="{6521CBA5-066C-40B0-ACF0-9A48AE84F4C5}"/>
              </a:ext>
            </a:extLst>
          </p:cNvPr>
          <p:cNvSpPr>
            <a:spLocks xmlns:a="http://schemas.openxmlformats.org/drawingml/2006/main" noGrp="1"/>
          </p:cNvSpPr>
          <p:nvPr/>
        </p:nvSpPr>
        <p:spPr>
          <a:xfrm xmlns:a="http://schemas.openxmlformats.org/drawingml/2006/main">
            <a:off x="4514850" y="9277350"/>
            <a:ext cx="1981200" cy="514350"/>
          </a:xfrm>
          <a:prstGeom xmlns:a="http://schemas.openxmlformats.org/drawingml/2006/main" prst="roundRect">
            <a:avLst>
              <a:gd name="adj" fmla="val 14815"/>
            </a:avLst>
          </a:prstGeom>
          <a:solidFill xmlns:a="http://schemas.openxmlformats.org/drawingml/2006/main">
            <a:srgbClr val="FFFFFF"/>
          </a:solidFill>
          <a:ln xmlns:a="http://schemas.openxmlformats.org/drawingml/2006/main" w="9525">
            <a:solidFill>
              <a:srgbClr val="C8DCD7"/>
            </a:solidFill>
            <a:prstDash val="solid"/>
          </a:ln>
        </p:spPr>
      </p:sp>
      <p:sp>
        <p:nvSpPr>
          <p:cNvPr id="78" name="">
            <a:extLst xmlns:a="http://schemas.openxmlformats.org/drawingml/2006/main">
              <a:ext uri="{FF2B5EF4-FFF2-40B4-BE49-F238E27FC236}">
                <a16:creationId xmlns:a16="http://schemas.microsoft.com/office/drawing/2014/main" id="{C4B7A8C1-EB30-4257-8F02-CF75220E8667}"/>
              </a:ext>
            </a:extLst>
          </p:cNvPr>
          <p:cNvSpPr>
            <a:spLocks xmlns:a="http://schemas.openxmlformats.org/drawingml/2006/main" noGrp="1"/>
          </p:cNvSpPr>
          <p:nvPr/>
        </p:nvSpPr>
        <p:spPr>
          <a:xfrm xmlns:a="http://schemas.openxmlformats.org/drawingml/2006/main">
            <a:off x="4572000" y="932497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D6544D"/>
                </a:solidFill>
              </a:defRPr>
            </a:pPr>
            <a:r>
              <a:rPr sz="675" b="1">
                <a:solidFill>
                  <a:srgbClr val="D6544D"/>
                </a:solidFill>
              </a:rPr>
              <a:t>09</a:t>
            </a:r>
          </a:p>
        </p:txBody>
      </p:sp>
      <p:sp>
        <p:nvSpPr>
          <p:cNvPr id="79" name="">
            <a:extLst xmlns:a="http://schemas.openxmlformats.org/drawingml/2006/main">
              <a:ext uri="{FF2B5EF4-FFF2-40B4-BE49-F238E27FC236}">
                <a16:creationId xmlns:a16="http://schemas.microsoft.com/office/drawing/2014/main" id="{21B7DB0E-FB0B-446F-830E-03660605A3DA}"/>
              </a:ext>
            </a:extLst>
          </p:cNvPr>
          <p:cNvSpPr>
            <a:spLocks xmlns:a="http://schemas.openxmlformats.org/drawingml/2006/main" noGrp="1"/>
          </p:cNvSpPr>
          <p:nvPr/>
        </p:nvSpPr>
        <p:spPr>
          <a:xfrm xmlns:a="http://schemas.openxmlformats.org/drawingml/2006/main">
            <a:off x="4895850" y="931545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0">
                <a:solidFill>
                  <a:srgbClr val="183B39"/>
                </a:solidFill>
              </a:defRPr>
            </a:pPr>
            <a:r>
              <a:rPr sz="713" b="0">
                <a:solidFill>
                  <a:srgbClr val="183B39"/>
                </a:solidFill>
              </a:rPr>
              <a:t>The top three states contribute 100.0% of zone offtake.</a:t>
            </a:r>
          </a:p>
        </p:txBody>
      </p:sp>
      <p:sp>
        <p:nvSpPr>
          <p:cNvPr id="80" name="">
            <a:extLst xmlns:a="http://schemas.openxmlformats.org/drawingml/2006/main">
              <a:ext uri="{FF2B5EF4-FFF2-40B4-BE49-F238E27FC236}">
                <a16:creationId xmlns:a16="http://schemas.microsoft.com/office/drawing/2014/main" id="{FA21653D-790C-4990-AA98-6F08E65BBDA7}"/>
              </a:ext>
            </a:extLst>
          </p:cNvPr>
          <p:cNvSpPr>
            <a:spLocks xmlns:a="http://schemas.openxmlformats.org/drawingml/2006/main" noGrp="1"/>
          </p:cNvSpPr>
          <p:nvPr/>
        </p:nvSpPr>
        <p:spPr>
          <a:xfrm xmlns:a="http://schemas.openxmlformats.org/drawingml/2006/main">
            <a:off x="361950" y="9867900"/>
            <a:ext cx="1981200" cy="514350"/>
          </a:xfrm>
          <a:prstGeom xmlns:a="http://schemas.openxmlformats.org/drawingml/2006/main" prst="roundRect">
            <a:avLst>
              <a:gd name="adj" fmla="val 14815"/>
            </a:avLst>
          </a:prstGeom>
          <a:solidFill xmlns:a="http://schemas.openxmlformats.org/drawingml/2006/main">
            <a:srgbClr val="FFFFFF"/>
          </a:solidFill>
          <a:ln xmlns:a="http://schemas.openxmlformats.org/drawingml/2006/main" w="9525">
            <a:solidFill>
              <a:srgbClr val="C8DCD7"/>
            </a:solidFill>
            <a:prstDash val="solid"/>
          </a:ln>
        </p:spPr>
      </p:sp>
      <p:sp>
        <p:nvSpPr>
          <p:cNvPr id="81" name="">
            <a:extLst xmlns:a="http://schemas.openxmlformats.org/drawingml/2006/main">
              <a:ext uri="{FF2B5EF4-FFF2-40B4-BE49-F238E27FC236}">
                <a16:creationId xmlns:a16="http://schemas.microsoft.com/office/drawing/2014/main" id="{CCEF1428-3F8B-4E4F-90E1-23882FEE27B8}"/>
              </a:ext>
            </a:extLst>
          </p:cNvPr>
          <p:cNvSpPr>
            <a:spLocks xmlns:a="http://schemas.openxmlformats.org/drawingml/2006/main" noGrp="1"/>
          </p:cNvSpPr>
          <p:nvPr/>
        </p:nvSpPr>
        <p:spPr>
          <a:xfrm xmlns:a="http://schemas.openxmlformats.org/drawingml/2006/main">
            <a:off x="419100" y="991552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D6544D"/>
                </a:solidFill>
              </a:defRPr>
            </a:pPr>
            <a:r>
              <a:rPr sz="675" b="1">
                <a:solidFill>
                  <a:srgbClr val="D6544D"/>
                </a:solidFill>
              </a:rPr>
              <a:t>10</a:t>
            </a:r>
          </a:p>
        </p:txBody>
      </p:sp>
      <p:sp>
        <p:nvSpPr>
          <p:cNvPr id="82" name="">
            <a:extLst xmlns:a="http://schemas.openxmlformats.org/drawingml/2006/main">
              <a:ext uri="{FF2B5EF4-FFF2-40B4-BE49-F238E27FC236}">
                <a16:creationId xmlns:a16="http://schemas.microsoft.com/office/drawing/2014/main" id="{4FC73ACE-7830-494D-8509-A555A3E2DF76}"/>
              </a:ext>
            </a:extLst>
          </p:cNvPr>
          <p:cNvSpPr>
            <a:spLocks xmlns:a="http://schemas.openxmlformats.org/drawingml/2006/main" noGrp="1"/>
          </p:cNvSpPr>
          <p:nvPr/>
        </p:nvSpPr>
        <p:spPr>
          <a:xfrm xmlns:a="http://schemas.openxmlformats.org/drawingml/2006/main">
            <a:off x="742950" y="990600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0">
                <a:solidFill>
                  <a:srgbClr val="183B39"/>
                </a:solidFill>
              </a:defRPr>
            </a:pPr>
            <a:r>
              <a:rPr sz="713" b="0">
                <a:solidFill>
                  <a:srgbClr val="183B39"/>
                </a:solidFill>
              </a:rPr>
              <a:t>The source reports 2 material states in the displayed zone cut.</a:t>
            </a:r>
          </a:p>
        </p:txBody>
      </p:sp>
      <p:sp>
        <p:nvSpPr>
          <p:cNvPr id="83" name="">
            <a:extLst xmlns:a="http://schemas.openxmlformats.org/drawingml/2006/main">
              <a:ext uri="{FF2B5EF4-FFF2-40B4-BE49-F238E27FC236}">
                <a16:creationId xmlns:a16="http://schemas.microsoft.com/office/drawing/2014/main" id="{AA4D28E3-1BB6-4DCE-B884-F93EB18381F2}"/>
              </a:ext>
            </a:extLst>
          </p:cNvPr>
          <p:cNvSpPr>
            <a:spLocks xmlns:a="http://schemas.openxmlformats.org/drawingml/2006/main" noGrp="1"/>
          </p:cNvSpPr>
          <p:nvPr/>
        </p:nvSpPr>
        <p:spPr>
          <a:xfrm xmlns:a="http://schemas.openxmlformats.org/drawingml/2006/main">
            <a:off x="2438400" y="9867900"/>
            <a:ext cx="1981200" cy="514350"/>
          </a:xfrm>
          <a:prstGeom xmlns:a="http://schemas.openxmlformats.org/drawingml/2006/main" prst="roundRect">
            <a:avLst>
              <a:gd name="adj" fmla="val 14815"/>
            </a:avLst>
          </a:prstGeom>
          <a:solidFill xmlns:a="http://schemas.openxmlformats.org/drawingml/2006/main">
            <a:srgbClr val="FFFFFF"/>
          </a:solidFill>
          <a:ln xmlns:a="http://schemas.openxmlformats.org/drawingml/2006/main" w="9525">
            <a:solidFill>
              <a:srgbClr val="C8DCD7"/>
            </a:solidFill>
            <a:prstDash val="solid"/>
          </a:ln>
        </p:spPr>
      </p:sp>
      <p:sp>
        <p:nvSpPr>
          <p:cNvPr id="84" name="">
            <a:extLst xmlns:a="http://schemas.openxmlformats.org/drawingml/2006/main">
              <a:ext uri="{FF2B5EF4-FFF2-40B4-BE49-F238E27FC236}">
                <a16:creationId xmlns:a16="http://schemas.microsoft.com/office/drawing/2014/main" id="{C1F1A992-26A9-44C2-B5C7-078E3561F106}"/>
              </a:ext>
            </a:extLst>
          </p:cNvPr>
          <p:cNvSpPr>
            <a:spLocks xmlns:a="http://schemas.openxmlformats.org/drawingml/2006/main" noGrp="1"/>
          </p:cNvSpPr>
          <p:nvPr/>
        </p:nvSpPr>
        <p:spPr>
          <a:xfrm xmlns:a="http://schemas.openxmlformats.org/drawingml/2006/main">
            <a:off x="2495550" y="991552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D6544D"/>
                </a:solidFill>
              </a:defRPr>
            </a:pPr>
            <a:r>
              <a:rPr sz="675" b="1">
                <a:solidFill>
                  <a:srgbClr val="D6544D"/>
                </a:solidFill>
              </a:rPr>
              <a:t>11</a:t>
            </a:r>
          </a:p>
        </p:txBody>
      </p:sp>
      <p:sp>
        <p:nvSpPr>
          <p:cNvPr id="85" name="">
            <a:extLst xmlns:a="http://schemas.openxmlformats.org/drawingml/2006/main">
              <a:ext uri="{FF2B5EF4-FFF2-40B4-BE49-F238E27FC236}">
                <a16:creationId xmlns:a16="http://schemas.microsoft.com/office/drawing/2014/main" id="{683191D4-057A-4F98-B24C-0357BBC1C801}"/>
              </a:ext>
            </a:extLst>
          </p:cNvPr>
          <p:cNvSpPr>
            <a:spLocks xmlns:a="http://schemas.openxmlformats.org/drawingml/2006/main" noGrp="1"/>
          </p:cNvSpPr>
          <p:nvPr/>
        </p:nvSpPr>
        <p:spPr>
          <a:xfrm xmlns:a="http://schemas.openxmlformats.org/drawingml/2006/main">
            <a:off x="2819400" y="990600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0">
                <a:solidFill>
                  <a:srgbClr val="183B39"/>
                </a:solidFill>
              </a:defRPr>
            </a:pPr>
            <a:r>
              <a:rPr sz="713" b="0">
                <a:solidFill>
                  <a:srgbClr val="183B39"/>
                </a:solidFill>
              </a:rPr>
              <a:t>DMart: ₹1.41 Cr offtake; 95.3%.</a:t>
            </a:r>
          </a:p>
        </p:txBody>
      </p:sp>
      <p:sp>
        <p:nvSpPr>
          <p:cNvPr id="86" name="">
            <a:extLst xmlns:a="http://schemas.openxmlformats.org/drawingml/2006/main">
              <a:ext uri="{FF2B5EF4-FFF2-40B4-BE49-F238E27FC236}">
                <a16:creationId xmlns:a16="http://schemas.microsoft.com/office/drawing/2014/main" id="{C99B4C29-D889-473C-BEFF-28B39B80454D}"/>
              </a:ext>
            </a:extLst>
          </p:cNvPr>
          <p:cNvSpPr>
            <a:spLocks xmlns:a="http://schemas.openxmlformats.org/drawingml/2006/main" noGrp="1"/>
          </p:cNvSpPr>
          <p:nvPr/>
        </p:nvSpPr>
        <p:spPr>
          <a:xfrm xmlns:a="http://schemas.openxmlformats.org/drawingml/2006/main">
            <a:off x="4514850" y="9867900"/>
            <a:ext cx="1981200" cy="514350"/>
          </a:xfrm>
          <a:prstGeom xmlns:a="http://schemas.openxmlformats.org/drawingml/2006/main" prst="roundRect">
            <a:avLst>
              <a:gd name="adj" fmla="val 14815"/>
            </a:avLst>
          </a:prstGeom>
          <a:solidFill xmlns:a="http://schemas.openxmlformats.org/drawingml/2006/main">
            <a:srgbClr val="FFFFFF"/>
          </a:solidFill>
          <a:ln xmlns:a="http://schemas.openxmlformats.org/drawingml/2006/main" w="9525">
            <a:solidFill>
              <a:srgbClr val="C8DCD7"/>
            </a:solidFill>
            <a:prstDash val="solid"/>
          </a:ln>
        </p:spPr>
      </p:sp>
      <p:sp>
        <p:nvSpPr>
          <p:cNvPr id="87" name="">
            <a:extLst xmlns:a="http://schemas.openxmlformats.org/drawingml/2006/main">
              <a:ext uri="{FF2B5EF4-FFF2-40B4-BE49-F238E27FC236}">
                <a16:creationId xmlns:a16="http://schemas.microsoft.com/office/drawing/2014/main" id="{91B50D32-08B5-4B51-8670-9776B97219F6}"/>
              </a:ext>
            </a:extLst>
          </p:cNvPr>
          <p:cNvSpPr>
            <a:spLocks xmlns:a="http://schemas.openxmlformats.org/drawingml/2006/main" noGrp="1"/>
          </p:cNvSpPr>
          <p:nvPr/>
        </p:nvSpPr>
        <p:spPr>
          <a:xfrm xmlns:a="http://schemas.openxmlformats.org/drawingml/2006/main">
            <a:off x="4572000" y="991552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D6544D"/>
                </a:solidFill>
              </a:defRPr>
            </a:pPr>
            <a:r>
              <a:rPr sz="675" b="1">
                <a:solidFill>
                  <a:srgbClr val="D6544D"/>
                </a:solidFill>
              </a:rPr>
              <a:t>12</a:t>
            </a:r>
          </a:p>
        </p:txBody>
      </p:sp>
      <p:sp>
        <p:nvSpPr>
          <p:cNvPr id="88" name="">
            <a:extLst xmlns:a="http://schemas.openxmlformats.org/drawingml/2006/main">
              <a:ext uri="{FF2B5EF4-FFF2-40B4-BE49-F238E27FC236}">
                <a16:creationId xmlns:a16="http://schemas.microsoft.com/office/drawing/2014/main" id="{6EDD0E5F-4E12-4CB5-9A58-402051C2FA73}"/>
              </a:ext>
            </a:extLst>
          </p:cNvPr>
          <p:cNvSpPr>
            <a:spLocks xmlns:a="http://schemas.openxmlformats.org/drawingml/2006/main" noGrp="1"/>
          </p:cNvSpPr>
          <p:nvPr/>
        </p:nvSpPr>
        <p:spPr>
          <a:xfrm xmlns:a="http://schemas.openxmlformats.org/drawingml/2006/main">
            <a:off x="4895850" y="990600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0">
                <a:solidFill>
                  <a:srgbClr val="183B39"/>
                </a:solidFill>
              </a:defRPr>
            </a:pPr>
            <a:r>
              <a:rPr sz="713" b="0">
                <a:solidFill>
                  <a:srgbClr val="183B39"/>
                </a:solidFill>
              </a:rPr>
              <a:t>Reliance: ₹0.46 Cr offtake; 51.2%.</a:t>
            </a:r>
          </a:p>
        </p:txBody>
      </p:sp>
      <p:sp>
        <p:nvSpPr>
          <p:cNvPr id="89" name="">
            <a:extLst xmlns:a="http://schemas.openxmlformats.org/drawingml/2006/main">
              <a:ext uri="{FF2B5EF4-FFF2-40B4-BE49-F238E27FC236}">
                <a16:creationId xmlns:a16="http://schemas.microsoft.com/office/drawing/2014/main" id="{5364F04E-F20B-4C84-94AB-66323116CB0E}"/>
              </a:ext>
            </a:extLst>
          </p:cNvPr>
          <p:cNvSpPr>
            <a:spLocks xmlns:a="http://schemas.openxmlformats.org/drawingml/2006/main" noGrp="1"/>
          </p:cNvSpPr>
          <p:nvPr/>
        </p:nvSpPr>
        <p:spPr>
          <a:xfrm xmlns:a="http://schemas.openxmlformats.org/drawingml/2006/main">
            <a:off x="361950" y="10458450"/>
            <a:ext cx="1981200" cy="514350"/>
          </a:xfrm>
          <a:prstGeom xmlns:a="http://schemas.openxmlformats.org/drawingml/2006/main" prst="roundRect">
            <a:avLst>
              <a:gd name="adj" fmla="val 14815"/>
            </a:avLst>
          </a:prstGeom>
          <a:solidFill xmlns:a="http://schemas.openxmlformats.org/drawingml/2006/main">
            <a:srgbClr val="FFFFFF"/>
          </a:solidFill>
          <a:ln xmlns:a="http://schemas.openxmlformats.org/drawingml/2006/main" w="9525">
            <a:solidFill>
              <a:srgbClr val="C8DCD7"/>
            </a:solidFill>
            <a:prstDash val="solid"/>
          </a:ln>
        </p:spPr>
      </p:sp>
      <p:sp>
        <p:nvSpPr>
          <p:cNvPr id="90" name="">
            <a:extLst xmlns:a="http://schemas.openxmlformats.org/drawingml/2006/main">
              <a:ext uri="{FF2B5EF4-FFF2-40B4-BE49-F238E27FC236}">
                <a16:creationId xmlns:a16="http://schemas.microsoft.com/office/drawing/2014/main" id="{C6B2CBCE-6E6E-48AC-ABFB-E63AFED38A82}"/>
              </a:ext>
            </a:extLst>
          </p:cNvPr>
          <p:cNvSpPr>
            <a:spLocks xmlns:a="http://schemas.openxmlformats.org/drawingml/2006/main" noGrp="1"/>
          </p:cNvSpPr>
          <p:nvPr/>
        </p:nvSpPr>
        <p:spPr>
          <a:xfrm xmlns:a="http://schemas.openxmlformats.org/drawingml/2006/main">
            <a:off x="419100" y="1050607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D6544D"/>
                </a:solidFill>
              </a:defRPr>
            </a:pPr>
            <a:r>
              <a:rPr sz="675" b="1">
                <a:solidFill>
                  <a:srgbClr val="D6544D"/>
                </a:solidFill>
              </a:rPr>
              <a:t>13</a:t>
            </a:r>
          </a:p>
        </p:txBody>
      </p:sp>
      <p:sp>
        <p:nvSpPr>
          <p:cNvPr id="91" name="">
            <a:extLst xmlns:a="http://schemas.openxmlformats.org/drawingml/2006/main">
              <a:ext uri="{FF2B5EF4-FFF2-40B4-BE49-F238E27FC236}">
                <a16:creationId xmlns:a16="http://schemas.microsoft.com/office/drawing/2014/main" id="{B2B2DE97-ABD3-45FD-ACFF-08ACEA0DD063}"/>
              </a:ext>
            </a:extLst>
          </p:cNvPr>
          <p:cNvSpPr>
            <a:spLocks xmlns:a="http://schemas.openxmlformats.org/drawingml/2006/main" noGrp="1"/>
          </p:cNvSpPr>
          <p:nvPr/>
        </p:nvSpPr>
        <p:spPr>
          <a:xfrm xmlns:a="http://schemas.openxmlformats.org/drawingml/2006/main">
            <a:off x="742950" y="1049655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0">
                <a:solidFill>
                  <a:srgbClr val="183B39"/>
                </a:solidFill>
              </a:defRPr>
            </a:pPr>
            <a:r>
              <a:rPr sz="713" b="0">
                <a:solidFill>
                  <a:srgbClr val="183B39"/>
                </a:solidFill>
              </a:rPr>
              <a:t>Apollo: ₹0.19 Cr offtake; 137.7%.</a:t>
            </a:r>
          </a:p>
        </p:txBody>
      </p:sp>
      <p:sp>
        <p:nvSpPr>
          <p:cNvPr id="92" name="">
            <a:extLst xmlns:a="http://schemas.openxmlformats.org/drawingml/2006/main">
              <a:ext uri="{FF2B5EF4-FFF2-40B4-BE49-F238E27FC236}">
                <a16:creationId xmlns:a16="http://schemas.microsoft.com/office/drawing/2014/main" id="{E6F8EB11-E0EB-441F-81E7-0A495433A25A}"/>
              </a:ext>
            </a:extLst>
          </p:cNvPr>
          <p:cNvSpPr>
            <a:spLocks xmlns:a="http://schemas.openxmlformats.org/drawingml/2006/main" noGrp="1"/>
          </p:cNvSpPr>
          <p:nvPr/>
        </p:nvSpPr>
        <p:spPr>
          <a:xfrm xmlns:a="http://schemas.openxmlformats.org/drawingml/2006/main">
            <a:off x="2438400" y="10458450"/>
            <a:ext cx="1981200" cy="514350"/>
          </a:xfrm>
          <a:prstGeom xmlns:a="http://schemas.openxmlformats.org/drawingml/2006/main" prst="roundRect">
            <a:avLst>
              <a:gd name="adj" fmla="val 14815"/>
            </a:avLst>
          </a:prstGeom>
          <a:solidFill xmlns:a="http://schemas.openxmlformats.org/drawingml/2006/main">
            <a:srgbClr val="FFFFFF"/>
          </a:solidFill>
          <a:ln xmlns:a="http://schemas.openxmlformats.org/drawingml/2006/main" w="9525">
            <a:solidFill>
              <a:srgbClr val="C8DCD7"/>
            </a:solidFill>
            <a:prstDash val="solid"/>
          </a:ln>
        </p:spPr>
      </p:sp>
      <p:sp>
        <p:nvSpPr>
          <p:cNvPr id="93" name="">
            <a:extLst xmlns:a="http://schemas.openxmlformats.org/drawingml/2006/main">
              <a:ext uri="{FF2B5EF4-FFF2-40B4-BE49-F238E27FC236}">
                <a16:creationId xmlns:a16="http://schemas.microsoft.com/office/drawing/2014/main" id="{A13B08BB-7063-4CB8-9B84-58853FBB63F0}"/>
              </a:ext>
            </a:extLst>
          </p:cNvPr>
          <p:cNvSpPr>
            <a:spLocks xmlns:a="http://schemas.openxmlformats.org/drawingml/2006/main" noGrp="1"/>
          </p:cNvSpPr>
          <p:nvPr/>
        </p:nvSpPr>
        <p:spPr>
          <a:xfrm xmlns:a="http://schemas.openxmlformats.org/drawingml/2006/main">
            <a:off x="2495550" y="1050607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D6544D"/>
                </a:solidFill>
              </a:defRPr>
            </a:pPr>
            <a:r>
              <a:rPr sz="675" b="1">
                <a:solidFill>
                  <a:srgbClr val="D6544D"/>
                </a:solidFill>
              </a:rPr>
              <a:t>14</a:t>
            </a:r>
          </a:p>
        </p:txBody>
      </p:sp>
      <p:sp>
        <p:nvSpPr>
          <p:cNvPr id="94" name="">
            <a:extLst xmlns:a="http://schemas.openxmlformats.org/drawingml/2006/main">
              <a:ext uri="{FF2B5EF4-FFF2-40B4-BE49-F238E27FC236}">
                <a16:creationId xmlns:a16="http://schemas.microsoft.com/office/drawing/2014/main" id="{71D151DC-38A8-4231-8601-8066C04B8806}"/>
              </a:ext>
            </a:extLst>
          </p:cNvPr>
          <p:cNvSpPr>
            <a:spLocks xmlns:a="http://schemas.openxmlformats.org/drawingml/2006/main" noGrp="1"/>
          </p:cNvSpPr>
          <p:nvPr/>
        </p:nvSpPr>
        <p:spPr>
          <a:xfrm xmlns:a="http://schemas.openxmlformats.org/drawingml/2006/main">
            <a:off x="2819400" y="1049655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0">
                <a:solidFill>
                  <a:srgbClr val="183B39"/>
                </a:solidFill>
              </a:defRPr>
            </a:pPr>
            <a:r>
              <a:rPr sz="713" b="0">
                <a:solidFill>
                  <a:srgbClr val="183B39"/>
                </a:solidFill>
              </a:rPr>
              <a:t>The leading chain contributes 66.5% of zone offtake.</a:t>
            </a:r>
          </a:p>
        </p:txBody>
      </p:sp>
      <p:sp>
        <p:nvSpPr>
          <p:cNvPr id="95" name="">
            <a:extLst xmlns:a="http://schemas.openxmlformats.org/drawingml/2006/main">
              <a:ext uri="{FF2B5EF4-FFF2-40B4-BE49-F238E27FC236}">
                <a16:creationId xmlns:a16="http://schemas.microsoft.com/office/drawing/2014/main" id="{FB2B5E32-C326-403A-AD20-5FCFCC7676E8}"/>
              </a:ext>
            </a:extLst>
          </p:cNvPr>
          <p:cNvSpPr>
            <a:spLocks xmlns:a="http://schemas.openxmlformats.org/drawingml/2006/main" noGrp="1"/>
          </p:cNvSpPr>
          <p:nvPr/>
        </p:nvSpPr>
        <p:spPr>
          <a:xfrm xmlns:a="http://schemas.openxmlformats.org/drawingml/2006/main">
            <a:off x="4514850" y="10458450"/>
            <a:ext cx="1981200" cy="514350"/>
          </a:xfrm>
          <a:prstGeom xmlns:a="http://schemas.openxmlformats.org/drawingml/2006/main" prst="roundRect">
            <a:avLst>
              <a:gd name="adj" fmla="val 14815"/>
            </a:avLst>
          </a:prstGeom>
          <a:solidFill xmlns:a="http://schemas.openxmlformats.org/drawingml/2006/main">
            <a:srgbClr val="FFFFFF"/>
          </a:solidFill>
          <a:ln xmlns:a="http://schemas.openxmlformats.org/drawingml/2006/main" w="9525">
            <a:solidFill>
              <a:srgbClr val="C8DCD7"/>
            </a:solidFill>
            <a:prstDash val="solid"/>
          </a:ln>
        </p:spPr>
      </p:sp>
      <p:sp>
        <p:nvSpPr>
          <p:cNvPr id="96" name="">
            <a:extLst xmlns:a="http://schemas.openxmlformats.org/drawingml/2006/main">
              <a:ext uri="{FF2B5EF4-FFF2-40B4-BE49-F238E27FC236}">
                <a16:creationId xmlns:a16="http://schemas.microsoft.com/office/drawing/2014/main" id="{4E5E505F-F9BA-4E9B-B12E-BFB96C02E5E9}"/>
              </a:ext>
            </a:extLst>
          </p:cNvPr>
          <p:cNvSpPr>
            <a:spLocks xmlns:a="http://schemas.openxmlformats.org/drawingml/2006/main" noGrp="1"/>
          </p:cNvSpPr>
          <p:nvPr/>
        </p:nvSpPr>
        <p:spPr>
          <a:xfrm xmlns:a="http://schemas.openxmlformats.org/drawingml/2006/main">
            <a:off x="4572000" y="1050607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D6544D"/>
                </a:solidFill>
              </a:defRPr>
            </a:pPr>
            <a:r>
              <a:rPr sz="675" b="1">
                <a:solidFill>
                  <a:srgbClr val="D6544D"/>
                </a:solidFill>
              </a:rPr>
              <a:t>15</a:t>
            </a:r>
          </a:p>
        </p:txBody>
      </p:sp>
      <p:sp>
        <p:nvSpPr>
          <p:cNvPr id="97" name="">
            <a:extLst xmlns:a="http://schemas.openxmlformats.org/drawingml/2006/main">
              <a:ext uri="{FF2B5EF4-FFF2-40B4-BE49-F238E27FC236}">
                <a16:creationId xmlns:a16="http://schemas.microsoft.com/office/drawing/2014/main" id="{030647EA-85AD-4976-BF5C-879EFFD269D3}"/>
              </a:ext>
            </a:extLst>
          </p:cNvPr>
          <p:cNvSpPr>
            <a:spLocks xmlns:a="http://schemas.openxmlformats.org/drawingml/2006/main" noGrp="1"/>
          </p:cNvSpPr>
          <p:nvPr/>
        </p:nvSpPr>
        <p:spPr>
          <a:xfrm xmlns:a="http://schemas.openxmlformats.org/drawingml/2006/main">
            <a:off x="4895850" y="1049655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0">
                <a:solidFill>
                  <a:srgbClr val="183B39"/>
                </a:solidFill>
              </a:defRPr>
            </a:pPr>
            <a:r>
              <a:rPr sz="713" b="0">
                <a:solidFill>
                  <a:srgbClr val="183B39"/>
                </a:solidFill>
              </a:rPr>
              <a:t>The top three chains contribute 97.6% of zone offtake.</a:t>
            </a:r>
          </a:p>
        </p:txBody>
      </p:sp>
      <p:sp>
        <p:nvSpPr>
          <p:cNvPr id="98" name="">
            <a:extLst xmlns:a="http://schemas.openxmlformats.org/drawingml/2006/main">
              <a:ext uri="{FF2B5EF4-FFF2-40B4-BE49-F238E27FC236}">
                <a16:creationId xmlns:a16="http://schemas.microsoft.com/office/drawing/2014/main" id="{9218FED0-AE8C-4E00-8723-6537671121F0}"/>
              </a:ext>
            </a:extLst>
          </p:cNvPr>
          <p:cNvSpPr>
            <a:spLocks xmlns:a="http://schemas.openxmlformats.org/drawingml/2006/main" noGrp="1"/>
          </p:cNvSpPr>
          <p:nvPr/>
        </p:nvSpPr>
        <p:spPr>
          <a:xfrm xmlns:a="http://schemas.openxmlformats.org/drawingml/2006/main">
            <a:off x="381000" y="11239500"/>
            <a:ext cx="6096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750" b="0">
                <a:solidFill>
                  <a:srgbClr val="5F716E"/>
                </a:solidFill>
              </a:defRPr>
            </a:pPr>
            <a:r>
              <a:rPr sz="750" b="0">
                <a:solidFill>
                  <a:srgbClr val="5F716E"/>
                </a:solidFill>
              </a:rPr>
              <a:t>Central NPI mix 8.5% | Priority: DMart × hero-EAN availability</a:t>
            </a:r>
          </a:p>
        </p:txBody>
      </p:sp>
      <p:sp>
        <p:nvSpPr>
          <p:cNvPr id="99" name="">
            <a:extLst xmlns:a="http://schemas.openxmlformats.org/drawingml/2006/main">
              <a:ext uri="{FF2B5EF4-FFF2-40B4-BE49-F238E27FC236}">
                <a16:creationId xmlns:a16="http://schemas.microsoft.com/office/drawing/2014/main" id="{3CE92195-A5B0-43DA-8E22-200388873298}"/>
              </a:ext>
            </a:extLst>
          </p:cNvPr>
          <p:cNvSpPr>
            <a:spLocks xmlns:a="http://schemas.openxmlformats.org/drawingml/2006/main" noGrp="1"/>
          </p:cNvSpPr>
          <p:nvPr/>
        </p:nvSpPr>
        <p:spPr>
          <a:xfrm xmlns:a="http://schemas.openxmlformats.org/drawingml/2006/main">
            <a:off x="361950" y="11544300"/>
            <a:ext cx="6134100" cy="457200"/>
          </a:xfrm>
          <a:prstGeom xmlns:a="http://schemas.openxmlformats.org/drawingml/2006/main" prst="roundRect">
            <a:avLst>
              <a:gd name="adj" fmla="val 16667"/>
            </a:avLst>
          </a:prstGeom>
          <a:solidFill xmlns:a="http://schemas.openxmlformats.org/drawingml/2006/main">
            <a:srgbClr val="DFF2ED"/>
          </a:solidFill>
          <a:ln xmlns:a="http://schemas.openxmlformats.org/drawingml/2006/main" w="9525">
            <a:solidFill>
              <a:srgbClr val="28A596"/>
            </a:solidFill>
            <a:prstDash val="solid"/>
          </a:ln>
        </p:spPr>
      </p:sp>
      <p:sp>
        <p:nvSpPr>
          <p:cNvPr id="100" name="">
            <a:extLst xmlns:a="http://schemas.openxmlformats.org/drawingml/2006/main">
              <a:ext uri="{FF2B5EF4-FFF2-40B4-BE49-F238E27FC236}">
                <a16:creationId xmlns:a16="http://schemas.microsoft.com/office/drawing/2014/main" id="{88BF8C23-FDE0-4445-BC67-6D5B8BFE33BB}"/>
              </a:ext>
            </a:extLst>
          </p:cNvPr>
          <p:cNvSpPr>
            <a:spLocks xmlns:a="http://schemas.openxmlformats.org/drawingml/2006/main" noGrp="1"/>
          </p:cNvSpPr>
          <p:nvPr/>
        </p:nvSpPr>
        <p:spPr>
          <a:xfrm xmlns:a="http://schemas.openxmlformats.org/drawingml/2006/main">
            <a:off x="438150" y="11582400"/>
            <a:ext cx="142875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38" b="1">
                <a:solidFill>
                  <a:srgbClr val="116F68"/>
                </a:solidFill>
              </a:defRPr>
            </a:pPr>
            <a:r>
              <a:rPr sz="638" b="1">
                <a:solidFill>
                  <a:srgbClr val="116F68"/>
                </a:solidFill>
              </a:rPr>
              <a:t>EVIDENCE</a:t>
            </a:r>
          </a:p>
        </p:txBody>
      </p:sp>
      <p:sp>
        <p:nvSpPr>
          <p:cNvPr id="101" name="">
            <a:extLst xmlns:a="http://schemas.openxmlformats.org/drawingml/2006/main">
              <a:ext uri="{FF2B5EF4-FFF2-40B4-BE49-F238E27FC236}">
                <a16:creationId xmlns:a16="http://schemas.microsoft.com/office/drawing/2014/main" id="{76DC24E9-38F7-4E0F-995B-A93E2A73A3AE}"/>
              </a:ext>
            </a:extLst>
          </p:cNvPr>
          <p:cNvSpPr>
            <a:spLocks xmlns:a="http://schemas.openxmlformats.org/drawingml/2006/main" noGrp="1"/>
          </p:cNvSpPr>
          <p:nvPr/>
        </p:nvSpPr>
        <p:spPr>
          <a:xfrm xmlns:a="http://schemas.openxmlformats.org/drawingml/2006/main">
            <a:off x="438150" y="11734800"/>
            <a:ext cx="1428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00" b="0">
                <a:solidFill>
                  <a:srgbClr val="183B39"/>
                </a:solidFill>
              </a:defRPr>
            </a:pPr>
            <a:r>
              <a:rPr sz="600" b="0">
                <a:solidFill>
                  <a:srgbClr val="183B39"/>
                </a:solidFill>
              </a:rPr>
              <a:t>Central ₹2.12 Cr at 78.8% conversion; DMart Central 95.3% is the best DMart rate nationally; zone data available from July only (first billing month)</a:t>
            </a:r>
          </a:p>
        </p:txBody>
      </p:sp>
      <p:sp>
        <p:nvSpPr>
          <p:cNvPr id="102" name="">
            <a:extLst xmlns:a="http://schemas.openxmlformats.org/drawingml/2006/main">
              <a:ext uri="{FF2B5EF4-FFF2-40B4-BE49-F238E27FC236}">
                <a16:creationId xmlns:a16="http://schemas.microsoft.com/office/drawing/2014/main" id="{8BC2F3A2-8C5D-43C5-A310-EC50571995D0}"/>
              </a:ext>
            </a:extLst>
          </p:cNvPr>
          <p:cNvSpPr>
            <a:spLocks xmlns:a="http://schemas.openxmlformats.org/drawingml/2006/main" noGrp="1"/>
          </p:cNvSpPr>
          <p:nvPr/>
        </p:nvSpPr>
        <p:spPr>
          <a:xfrm xmlns:a="http://schemas.openxmlformats.org/drawingml/2006/main">
            <a:off x="1924050" y="11610975"/>
            <a:ext cx="0" cy="304800"/>
          </a:xfrm>
          <a:prstGeom xmlns:a="http://schemas.openxmlformats.org/drawingml/2006/main" prst="line">
            <a:avLst/>
          </a:prstGeom>
          <a:ln xmlns:a="http://schemas.openxmlformats.org/drawingml/2006/main" w="9525">
            <a:solidFill>
              <a:srgbClr val="C8DCD7"/>
            </a:solidFill>
            <a:prstDash val="solid"/>
          </a:ln>
        </p:spPr>
      </p:sp>
      <p:sp>
        <p:nvSpPr>
          <p:cNvPr id="103" name="">
            <a:extLst xmlns:a="http://schemas.openxmlformats.org/drawingml/2006/main">
              <a:ext uri="{FF2B5EF4-FFF2-40B4-BE49-F238E27FC236}">
                <a16:creationId xmlns:a16="http://schemas.microsoft.com/office/drawing/2014/main" id="{4BB84072-75DD-4459-80F0-9900F7C2CFD0}"/>
              </a:ext>
            </a:extLst>
          </p:cNvPr>
          <p:cNvSpPr>
            <a:spLocks xmlns:a="http://schemas.openxmlformats.org/drawingml/2006/main" noGrp="1"/>
          </p:cNvSpPr>
          <p:nvPr/>
        </p:nvSpPr>
        <p:spPr>
          <a:xfrm xmlns:a="http://schemas.openxmlformats.org/drawingml/2006/main">
            <a:off x="1952625" y="11582400"/>
            <a:ext cx="142875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38" b="1">
                <a:solidFill>
                  <a:srgbClr val="116F68"/>
                </a:solidFill>
              </a:defRPr>
            </a:pPr>
            <a:r>
              <a:rPr sz="638" b="1">
                <a:solidFill>
                  <a:srgbClr val="116F68"/>
                </a:solidFill>
              </a:rPr>
              <a:t>IMPLICATION</a:t>
            </a:r>
          </a:p>
        </p:txBody>
      </p:sp>
      <p:sp>
        <p:nvSpPr>
          <p:cNvPr id="104" name="">
            <a:extLst xmlns:a="http://schemas.openxmlformats.org/drawingml/2006/main">
              <a:ext uri="{FF2B5EF4-FFF2-40B4-BE49-F238E27FC236}">
                <a16:creationId xmlns:a16="http://schemas.microsoft.com/office/drawing/2014/main" id="{743CA973-6546-4B6C-9DB3-CADF8BC6E1D6}"/>
              </a:ext>
            </a:extLst>
          </p:cNvPr>
          <p:cNvSpPr>
            <a:spLocks xmlns:a="http://schemas.openxmlformats.org/drawingml/2006/main" noGrp="1"/>
          </p:cNvSpPr>
          <p:nvPr/>
        </p:nvSpPr>
        <p:spPr>
          <a:xfrm xmlns:a="http://schemas.openxmlformats.org/drawingml/2006/main">
            <a:off x="1952625" y="11734800"/>
            <a:ext cx="1428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00" b="0">
                <a:solidFill>
                  <a:srgbClr val="183B39"/>
                </a:solidFill>
              </a:defRPr>
            </a:pPr>
            <a:r>
              <a:rPr sz="600" b="0">
                <a:solidFill>
                  <a:srgbClr val="183B39"/>
                </a:solidFill>
              </a:rPr>
              <a:t>Central is a clean new zone — protecting its high conversion from day one avoids the pipeline problems North and East are correcting at significant cost</a:t>
            </a:r>
          </a:p>
        </p:txBody>
      </p:sp>
      <p:sp>
        <p:nvSpPr>
          <p:cNvPr id="105" name="">
            <a:extLst xmlns:a="http://schemas.openxmlformats.org/drawingml/2006/main">
              <a:ext uri="{FF2B5EF4-FFF2-40B4-BE49-F238E27FC236}">
                <a16:creationId xmlns:a16="http://schemas.microsoft.com/office/drawing/2014/main" id="{58D1FEE7-9F00-4331-9D46-F645A651F2DB}"/>
              </a:ext>
            </a:extLst>
          </p:cNvPr>
          <p:cNvSpPr>
            <a:spLocks xmlns:a="http://schemas.openxmlformats.org/drawingml/2006/main" noGrp="1"/>
          </p:cNvSpPr>
          <p:nvPr/>
        </p:nvSpPr>
        <p:spPr>
          <a:xfrm xmlns:a="http://schemas.openxmlformats.org/drawingml/2006/main">
            <a:off x="3438525" y="11610975"/>
            <a:ext cx="0" cy="304800"/>
          </a:xfrm>
          <a:prstGeom xmlns:a="http://schemas.openxmlformats.org/drawingml/2006/main" prst="line">
            <a:avLst/>
          </a:prstGeom>
          <a:ln xmlns:a="http://schemas.openxmlformats.org/drawingml/2006/main" w="9525">
            <a:solidFill>
              <a:srgbClr val="C8DCD7"/>
            </a:solidFill>
            <a:prstDash val="solid"/>
          </a:ln>
        </p:spPr>
      </p:sp>
      <p:sp>
        <p:nvSpPr>
          <p:cNvPr id="106" name="">
            <a:extLst xmlns:a="http://schemas.openxmlformats.org/drawingml/2006/main">
              <a:ext uri="{FF2B5EF4-FFF2-40B4-BE49-F238E27FC236}">
                <a16:creationId xmlns:a16="http://schemas.microsoft.com/office/drawing/2014/main" id="{2C0EFC68-70BB-4AD2-A5C6-D0FAC73B4D94}"/>
              </a:ext>
            </a:extLst>
          </p:cNvPr>
          <p:cNvSpPr>
            <a:spLocks xmlns:a="http://schemas.openxmlformats.org/drawingml/2006/main" noGrp="1"/>
          </p:cNvSpPr>
          <p:nvPr/>
        </p:nvSpPr>
        <p:spPr>
          <a:xfrm xmlns:a="http://schemas.openxmlformats.org/drawingml/2006/main">
            <a:off x="3467100" y="11582400"/>
            <a:ext cx="142875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38" b="1">
                <a:solidFill>
                  <a:srgbClr val="116F68"/>
                </a:solidFill>
              </a:defRPr>
            </a:pPr>
            <a:r>
              <a:rPr sz="638" b="1">
                <a:solidFill>
                  <a:srgbClr val="116F68"/>
                </a:solidFill>
              </a:rPr>
              <a:t>ACTION</a:t>
            </a:r>
          </a:p>
        </p:txBody>
      </p:sp>
      <p:sp>
        <p:nvSpPr>
          <p:cNvPr id="107" name="">
            <a:extLst xmlns:a="http://schemas.openxmlformats.org/drawingml/2006/main">
              <a:ext uri="{FF2B5EF4-FFF2-40B4-BE49-F238E27FC236}">
                <a16:creationId xmlns:a16="http://schemas.microsoft.com/office/drawing/2014/main" id="{F8E782C4-70E2-4605-9AC5-6DD67053577C}"/>
              </a:ext>
            </a:extLst>
          </p:cNvPr>
          <p:cNvSpPr>
            <a:spLocks xmlns:a="http://schemas.openxmlformats.org/drawingml/2006/main" noGrp="1"/>
          </p:cNvSpPr>
          <p:nvPr/>
        </p:nvSpPr>
        <p:spPr>
          <a:xfrm xmlns:a="http://schemas.openxmlformats.org/drawingml/2006/main">
            <a:off x="3467100" y="11734800"/>
            <a:ext cx="1428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00" b="0">
                <a:solidFill>
                  <a:srgbClr val="183B39"/>
                </a:solidFill>
              </a:defRPr>
            </a:pPr>
            <a:r>
              <a:rPr sz="600" b="0">
                <a:solidFill>
                  <a:srgbClr val="183B39"/>
                </a:solidFill>
              </a:rPr>
              <a:t>Document Central DMart's EAN availability and ordering cadence as the national DMart benchmark; build state-level comparable data from August</a:t>
            </a:r>
          </a:p>
        </p:txBody>
      </p:sp>
      <p:sp>
        <p:nvSpPr>
          <p:cNvPr id="108" name="">
            <a:extLst xmlns:a="http://schemas.openxmlformats.org/drawingml/2006/main">
              <a:ext uri="{FF2B5EF4-FFF2-40B4-BE49-F238E27FC236}">
                <a16:creationId xmlns:a16="http://schemas.microsoft.com/office/drawing/2014/main" id="{6F3864C1-C5A2-4159-AC16-F8E4F37B8042}"/>
              </a:ext>
            </a:extLst>
          </p:cNvPr>
          <p:cNvSpPr>
            <a:spLocks xmlns:a="http://schemas.openxmlformats.org/drawingml/2006/main" noGrp="1"/>
          </p:cNvSpPr>
          <p:nvPr/>
        </p:nvSpPr>
        <p:spPr>
          <a:xfrm xmlns:a="http://schemas.openxmlformats.org/drawingml/2006/main">
            <a:off x="4953000" y="11610975"/>
            <a:ext cx="0" cy="304800"/>
          </a:xfrm>
          <a:prstGeom xmlns:a="http://schemas.openxmlformats.org/drawingml/2006/main" prst="line">
            <a:avLst/>
          </a:prstGeom>
          <a:ln xmlns:a="http://schemas.openxmlformats.org/drawingml/2006/main" w="9525">
            <a:solidFill>
              <a:srgbClr val="C8DCD7"/>
            </a:solidFill>
            <a:prstDash val="solid"/>
          </a:ln>
        </p:spPr>
      </p:sp>
      <p:sp>
        <p:nvSpPr>
          <p:cNvPr id="109" name="">
            <a:extLst xmlns:a="http://schemas.openxmlformats.org/drawingml/2006/main">
              <a:ext uri="{FF2B5EF4-FFF2-40B4-BE49-F238E27FC236}">
                <a16:creationId xmlns:a16="http://schemas.microsoft.com/office/drawing/2014/main" id="{0D843866-E4AD-4DDC-801C-6A4C8E126710}"/>
              </a:ext>
            </a:extLst>
          </p:cNvPr>
          <p:cNvSpPr>
            <a:spLocks xmlns:a="http://schemas.openxmlformats.org/drawingml/2006/main" noGrp="1"/>
          </p:cNvSpPr>
          <p:nvPr/>
        </p:nvSpPr>
        <p:spPr>
          <a:xfrm xmlns:a="http://schemas.openxmlformats.org/drawingml/2006/main">
            <a:off x="4981575" y="11582400"/>
            <a:ext cx="142875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38" b="1">
                <a:solidFill>
                  <a:srgbClr val="116F68"/>
                </a:solidFill>
              </a:defRPr>
            </a:pPr>
            <a:r>
              <a:rPr sz="638" b="1">
                <a:solidFill>
                  <a:srgbClr val="116F68"/>
                </a:solidFill>
              </a:rPr>
              <a:t>OWNER</a:t>
            </a:r>
          </a:p>
        </p:txBody>
      </p:sp>
      <p:sp>
        <p:nvSpPr>
          <p:cNvPr id="110" name="">
            <a:extLst xmlns:a="http://schemas.openxmlformats.org/drawingml/2006/main">
              <a:ext uri="{FF2B5EF4-FFF2-40B4-BE49-F238E27FC236}">
                <a16:creationId xmlns:a16="http://schemas.microsoft.com/office/drawing/2014/main" id="{C30940DC-376A-4937-96FE-BCC7D38EC2EA}"/>
              </a:ext>
            </a:extLst>
          </p:cNvPr>
          <p:cNvSpPr>
            <a:spLocks xmlns:a="http://schemas.openxmlformats.org/drawingml/2006/main" noGrp="1"/>
          </p:cNvSpPr>
          <p:nvPr/>
        </p:nvSpPr>
        <p:spPr>
          <a:xfrm xmlns:a="http://schemas.openxmlformats.org/drawingml/2006/main">
            <a:off x="4981575" y="11734800"/>
            <a:ext cx="1428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00" b="0">
                <a:solidFill>
                  <a:srgbClr val="183B39"/>
                </a:solidFill>
              </a:defRPr>
            </a:pPr>
            <a:r>
              <a:rPr sz="600" b="0">
                <a:solidFill>
                  <a:srgbClr val="183B39"/>
                </a:solidFill>
              </a:rPr>
              <a:t>NKAM DMart + Analytics | Framework by 31-Aug</a:t>
            </a:r>
          </a:p>
        </p:txBody>
      </p:sp>
    </p:spTree>
    <p:extLst>
      <p:ext uri="{BB962C8B-B14F-4D97-AF65-F5344CB8AC3E}">
        <p14:creationId xmlns:p14="http://schemas.microsoft.com/office/powerpoint/2010/main" val="2091225696"/>
      </p:ext>
    </p:extLst>
  </p:cSld>
</p:sld>
</file>

<file path=ppt/slides/slide12.xml><?xml version="1.0" encoding="utf-8"?>
<p:sld xmlns:p="http://schemas.openxmlformats.org/presentationml/2006/main">
  <p:cSld>
    <p:bg>
      <p:bgPr>
        <a:solidFill xmlns:a="http://schemas.openxmlformats.org/drawingml/2006/main">
          <a:srgbClr val="F7FBFA"/>
        </a:solidFill>
      </p:bgPr>
    </p:bg>
    <p:spTree>
      <p:nvGrpSpPr>
        <p:cNvPr id="1" name=""/>
        <p:cNvGrpSpPr/>
        <p:nvPr/>
      </p:nvGrpSpPr>
      <p:grpSpPr>
        <a:xfrm xmlns:a="http://schemas.openxmlformats.org/drawingml/2006/main"/>
      </p:grpSpPr>
      <p:sp>
        <p:nvSpPr>
          <p:cNvPr id="113" name="">
            <a:extLst xmlns:a="http://schemas.openxmlformats.org/drawingml/2006/main">
              <a:ext uri="{FF2B5EF4-FFF2-40B4-BE49-F238E27FC236}">
                <a16:creationId xmlns:a16="http://schemas.microsoft.com/office/drawing/2014/main" id="{02682BA1-84C5-4D36-A738-29B514AE8820}"/>
              </a:ext>
            </a:extLst>
          </p:cNvPr>
          <p:cNvSpPr>
            <a:spLocks xmlns:a="http://schemas.openxmlformats.org/drawingml/2006/main" noGrp="1"/>
          </p:cNvSpPr>
          <p:nvPr/>
        </p:nvSpPr>
        <p:spPr>
          <a:xfrm xmlns:a="http://schemas.openxmlformats.org/drawingml/2006/main">
            <a:off x="0" y="0"/>
            <a:ext cx="6858000" cy="1000125"/>
          </a:xfrm>
          <a:prstGeom xmlns:a="http://schemas.openxmlformats.org/drawingml/2006/main" prst="rect">
            <a:avLst/>
          </a:prstGeom>
          <a:solidFill xmlns:a="http://schemas.openxmlformats.org/drawingml/2006/main">
            <a:srgbClr val="116F68"/>
          </a:solidFill>
          <a:ln xmlns:a="http://schemas.openxmlformats.org/drawingml/2006/main" w="0">
            <a:solidFill>
              <a:srgbClr val="116F68"/>
            </a:solidFill>
            <a:prstDash val="solid"/>
          </a:ln>
        </p:spPr>
      </p:sp>
      <p:sp>
        <p:nvSpPr>
          <p:cNvPr id="2" name="">
            <a:extLst xmlns:a="http://schemas.openxmlformats.org/drawingml/2006/main">
              <a:ext uri="{FF2B5EF4-FFF2-40B4-BE49-F238E27FC236}">
                <a16:creationId xmlns:a16="http://schemas.microsoft.com/office/drawing/2014/main" id="{8EB9D3D5-D6A7-4578-B526-7AF1816C4EF8}"/>
              </a:ext>
            </a:extLst>
          </p:cNvPr>
          <p:cNvSpPr>
            <a:spLocks xmlns:a="http://schemas.openxmlformats.org/drawingml/2006/main" noGrp="1"/>
          </p:cNvSpPr>
          <p:nvPr/>
        </p:nvSpPr>
        <p:spPr>
          <a:xfrm xmlns:a="http://schemas.openxmlformats.org/drawingml/2006/main">
            <a:off x="361950" y="228600"/>
            <a:ext cx="59055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2025" b="1">
                <a:solidFill>
                  <a:srgbClr val="FFFFFF"/>
                </a:solidFill>
              </a:defRPr>
            </a:pPr>
            <a:r>
              <a:rPr sz="2025" b="1">
                <a:solidFill>
                  <a:srgbClr val="FFFFFF"/>
                </a:solidFill>
              </a:rPr>
              <a:t>Lulu leads growth; Reliance and Metro require targeted recovery</a:t>
            </a:r>
          </a:p>
        </p:txBody>
      </p:sp>
      <p:sp>
        <p:nvSpPr>
          <p:cNvPr id="3" name="">
            <a:extLst xmlns:a="http://schemas.openxmlformats.org/drawingml/2006/main">
              <a:ext uri="{FF2B5EF4-FFF2-40B4-BE49-F238E27FC236}">
                <a16:creationId xmlns:a16="http://schemas.microsoft.com/office/drawing/2014/main" id="{48C98C43-60B0-49BD-80E8-9A4B5B829B91}"/>
              </a:ext>
            </a:extLst>
          </p:cNvPr>
          <p:cNvSpPr>
            <a:spLocks xmlns:a="http://schemas.openxmlformats.org/drawingml/2006/main" noGrp="1"/>
          </p:cNvSpPr>
          <p:nvPr/>
        </p:nvSpPr>
        <p:spPr>
          <a:xfrm xmlns:a="http://schemas.openxmlformats.org/drawingml/2006/main">
            <a:off x="381000" y="695325"/>
            <a:ext cx="57150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75" b="0">
                <a:solidFill>
                  <a:srgbClr val="DFF2ED"/>
                </a:solidFill>
              </a:defRPr>
            </a:pPr>
            <a:r>
              <a:rPr sz="975" b="0">
                <a:solidFill>
                  <a:srgbClr val="DFF2ED"/>
                </a:solidFill>
              </a:rPr>
              <a:t>Chain growth and risk command centre | June–July 2026</a:t>
            </a:r>
          </a:p>
        </p:txBody>
      </p:sp>
      <p:sp>
        <p:nvSpPr>
          <p:cNvPr id="4" name="">
            <a:extLst xmlns:a="http://schemas.openxmlformats.org/drawingml/2006/main">
              <a:ext uri="{FF2B5EF4-FFF2-40B4-BE49-F238E27FC236}">
                <a16:creationId xmlns:a16="http://schemas.microsoft.com/office/drawing/2014/main" id="{1821A90E-7103-4F72-83B0-0E9071E5E396}"/>
              </a:ext>
            </a:extLst>
          </p:cNvPr>
          <p:cNvSpPr>
            <a:spLocks xmlns:a="http://schemas.openxmlformats.org/drawingml/2006/main" noGrp="1"/>
          </p:cNvSpPr>
          <p:nvPr/>
        </p:nvSpPr>
        <p:spPr>
          <a:xfrm xmlns:a="http://schemas.openxmlformats.org/drawingml/2006/main">
            <a:off x="6191250" y="361950"/>
            <a:ext cx="3429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900" b="1">
                <a:solidFill>
                  <a:srgbClr val="FFFFFF"/>
                </a:solidFill>
              </a:defRPr>
            </a:pPr>
            <a:r>
              <a:rPr sz="900" b="1">
                <a:solidFill>
                  <a:srgbClr val="FFFFFF"/>
                </a:solidFill>
              </a:rPr>
              <a:t>12</a:t>
            </a:r>
          </a:p>
        </p:txBody>
      </p:sp>
      <p:sp>
        <p:nvSpPr>
          <p:cNvPr id="5" name="">
            <a:extLst xmlns:a="http://schemas.openxmlformats.org/drawingml/2006/main">
              <a:ext uri="{FF2B5EF4-FFF2-40B4-BE49-F238E27FC236}">
                <a16:creationId xmlns:a16="http://schemas.microsoft.com/office/drawing/2014/main" id="{ACA1AE0A-97EC-4D8E-A150-C962C6F0F672}"/>
              </a:ext>
            </a:extLst>
          </p:cNvPr>
          <p:cNvSpPr>
            <a:spLocks xmlns:a="http://schemas.openxmlformats.org/drawingml/2006/main" noGrp="1"/>
          </p:cNvSpPr>
          <p:nvPr/>
        </p:nvSpPr>
        <p:spPr>
          <a:xfrm xmlns:a="http://schemas.openxmlformats.org/drawingml/2006/main">
            <a:off x="361950" y="1238250"/>
            <a:ext cx="6134100" cy="257175"/>
          </a:xfrm>
          <a:prstGeom xmlns:a="http://schemas.openxmlformats.org/drawingml/2006/main" prst="rect">
            <a:avLst/>
          </a:prstGeom>
          <a:solidFill xmlns:a="http://schemas.openxmlformats.org/drawingml/2006/main">
            <a:srgbClr val="116F68"/>
          </a:solidFill>
          <a:ln xmlns:a="http://schemas.openxmlformats.org/drawingml/2006/main" w="0">
            <a:solidFill>
              <a:srgbClr val="116F68"/>
            </a:solidFill>
            <a:prstDash val="solid"/>
          </a:ln>
        </p:spPr>
      </p:sp>
      <p:sp>
        <p:nvSpPr>
          <p:cNvPr id="6" name="">
            <a:extLst xmlns:a="http://schemas.openxmlformats.org/drawingml/2006/main">
              <a:ext uri="{FF2B5EF4-FFF2-40B4-BE49-F238E27FC236}">
                <a16:creationId xmlns:a16="http://schemas.microsoft.com/office/drawing/2014/main" id="{77D368BB-86FF-4BFD-932C-A3CC6AFFF2ED}"/>
              </a:ext>
            </a:extLst>
          </p:cNvPr>
          <p:cNvSpPr>
            <a:spLocks xmlns:a="http://schemas.openxmlformats.org/drawingml/2006/main" noGrp="1"/>
          </p:cNvSpPr>
          <p:nvPr/>
        </p:nvSpPr>
        <p:spPr>
          <a:xfrm xmlns:a="http://schemas.openxmlformats.org/drawingml/2006/main">
            <a:off x="457200" y="1247775"/>
            <a:ext cx="59436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FFFFFF"/>
                </a:solidFill>
              </a:defRPr>
            </a:pPr>
            <a:r>
              <a:rPr sz="900" b="1">
                <a:solidFill>
                  <a:srgbClr val="FFFFFF"/>
                </a:solidFill>
              </a:rPr>
              <a:t>COMPARABLE CHAIN SCORECARD</a:t>
            </a:r>
          </a:p>
        </p:txBody>
      </p:sp>
      <p:sp>
        <p:nvSpPr>
          <p:cNvPr id="7" name="">
            <a:extLst xmlns:a="http://schemas.openxmlformats.org/drawingml/2006/main">
              <a:ext uri="{FF2B5EF4-FFF2-40B4-BE49-F238E27FC236}">
                <a16:creationId xmlns:a16="http://schemas.microsoft.com/office/drawing/2014/main" id="{61134D47-6437-44B4-AFA7-C75EC83265FE}"/>
              </a:ext>
            </a:extLst>
          </p:cNvPr>
          <p:cNvSpPr>
            <a:spLocks xmlns:a="http://schemas.openxmlformats.org/drawingml/2006/main" noGrp="1"/>
          </p:cNvSpPr>
          <p:nvPr/>
        </p:nvSpPr>
        <p:spPr>
          <a:xfrm xmlns:a="http://schemas.openxmlformats.org/drawingml/2006/main">
            <a:off x="476250" y="1600200"/>
            <a:ext cx="1809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50" b="1">
                <a:solidFill>
                  <a:srgbClr val="5F716E"/>
                </a:solidFill>
              </a:defRPr>
            </a:pPr>
            <a:r>
              <a:rPr sz="750" b="1">
                <a:solidFill>
                  <a:srgbClr val="5F716E"/>
                </a:solidFill>
              </a:rPr>
              <a:t>CHAIN</a:t>
            </a:r>
          </a:p>
        </p:txBody>
      </p:sp>
      <p:sp>
        <p:nvSpPr>
          <p:cNvPr id="8" name="">
            <a:extLst xmlns:a="http://schemas.openxmlformats.org/drawingml/2006/main">
              <a:ext uri="{FF2B5EF4-FFF2-40B4-BE49-F238E27FC236}">
                <a16:creationId xmlns:a16="http://schemas.microsoft.com/office/drawing/2014/main" id="{7D902A5A-B195-48A4-8D88-D294A5C95662}"/>
              </a:ext>
            </a:extLst>
          </p:cNvPr>
          <p:cNvSpPr>
            <a:spLocks xmlns:a="http://schemas.openxmlformats.org/drawingml/2006/main" noGrp="1"/>
          </p:cNvSpPr>
          <p:nvPr/>
        </p:nvSpPr>
        <p:spPr>
          <a:xfrm xmlns:a="http://schemas.openxmlformats.org/drawingml/2006/main">
            <a:off x="2333625" y="1600200"/>
            <a:ext cx="7810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750" b="1">
                <a:solidFill>
                  <a:srgbClr val="5F716E"/>
                </a:solidFill>
              </a:defRPr>
            </a:pPr>
            <a:r>
              <a:rPr sz="750" b="1">
                <a:solidFill>
                  <a:srgbClr val="5F716E"/>
                </a:solidFill>
              </a:rPr>
              <a:t>JUN</a:t>
            </a:r>
          </a:p>
        </p:txBody>
      </p:sp>
      <p:sp>
        <p:nvSpPr>
          <p:cNvPr id="9" name="">
            <a:extLst xmlns:a="http://schemas.openxmlformats.org/drawingml/2006/main">
              <a:ext uri="{FF2B5EF4-FFF2-40B4-BE49-F238E27FC236}">
                <a16:creationId xmlns:a16="http://schemas.microsoft.com/office/drawing/2014/main" id="{FCA7FA0E-040D-44D7-9A61-87A56BAC9B6D}"/>
              </a:ext>
            </a:extLst>
          </p:cNvPr>
          <p:cNvSpPr>
            <a:spLocks xmlns:a="http://schemas.openxmlformats.org/drawingml/2006/main" noGrp="1"/>
          </p:cNvSpPr>
          <p:nvPr/>
        </p:nvSpPr>
        <p:spPr>
          <a:xfrm xmlns:a="http://schemas.openxmlformats.org/drawingml/2006/main">
            <a:off x="3190875" y="1600200"/>
            <a:ext cx="7810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750" b="1">
                <a:solidFill>
                  <a:srgbClr val="5F716E"/>
                </a:solidFill>
              </a:defRPr>
            </a:pPr>
            <a:r>
              <a:rPr sz="750" b="1">
                <a:solidFill>
                  <a:srgbClr val="5F716E"/>
                </a:solidFill>
              </a:rPr>
              <a:t>JUL</a:t>
            </a:r>
          </a:p>
        </p:txBody>
      </p:sp>
      <p:sp>
        <p:nvSpPr>
          <p:cNvPr id="10" name="">
            <a:extLst xmlns:a="http://schemas.openxmlformats.org/drawingml/2006/main">
              <a:ext uri="{FF2B5EF4-FFF2-40B4-BE49-F238E27FC236}">
                <a16:creationId xmlns:a16="http://schemas.microsoft.com/office/drawing/2014/main" id="{C4E24BA5-690A-4A76-9B87-E8429C11418C}"/>
              </a:ext>
            </a:extLst>
          </p:cNvPr>
          <p:cNvSpPr>
            <a:spLocks xmlns:a="http://schemas.openxmlformats.org/drawingml/2006/main" noGrp="1"/>
          </p:cNvSpPr>
          <p:nvPr/>
        </p:nvSpPr>
        <p:spPr>
          <a:xfrm xmlns:a="http://schemas.openxmlformats.org/drawingml/2006/main">
            <a:off x="4143375" y="1600200"/>
            <a:ext cx="762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750" b="1">
                <a:solidFill>
                  <a:srgbClr val="5F716E"/>
                </a:solidFill>
              </a:defRPr>
            </a:pPr>
            <a:r>
              <a:rPr sz="750" b="1">
                <a:solidFill>
                  <a:srgbClr val="5F716E"/>
                </a:solidFill>
              </a:rPr>
              <a:t>TREND</a:t>
            </a:r>
          </a:p>
        </p:txBody>
      </p:sp>
      <p:sp>
        <p:nvSpPr>
          <p:cNvPr id="11" name="">
            <a:extLst xmlns:a="http://schemas.openxmlformats.org/drawingml/2006/main">
              <a:ext uri="{FF2B5EF4-FFF2-40B4-BE49-F238E27FC236}">
                <a16:creationId xmlns:a16="http://schemas.microsoft.com/office/drawing/2014/main" id="{9D18C056-ECC8-4C76-84B5-00C56E454FCA}"/>
              </a:ext>
            </a:extLst>
          </p:cNvPr>
          <p:cNvSpPr>
            <a:spLocks xmlns:a="http://schemas.openxmlformats.org/drawingml/2006/main" noGrp="1"/>
          </p:cNvSpPr>
          <p:nvPr/>
        </p:nvSpPr>
        <p:spPr>
          <a:xfrm xmlns:a="http://schemas.openxmlformats.org/drawingml/2006/main">
            <a:off x="5048250" y="1600200"/>
            <a:ext cx="1285875"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50" b="1">
                <a:solidFill>
                  <a:srgbClr val="5F716E"/>
                </a:solidFill>
              </a:defRPr>
            </a:pPr>
            <a:r>
              <a:rPr sz="750" b="1">
                <a:solidFill>
                  <a:srgbClr val="5F716E"/>
                </a:solidFill>
              </a:rPr>
              <a:t>SIGNAL</a:t>
            </a:r>
          </a:p>
        </p:txBody>
      </p:sp>
      <p:sp>
        <p:nvSpPr>
          <p:cNvPr id="12" name="">
            <a:extLst xmlns:a="http://schemas.openxmlformats.org/drawingml/2006/main">
              <a:ext uri="{FF2B5EF4-FFF2-40B4-BE49-F238E27FC236}">
                <a16:creationId xmlns:a16="http://schemas.microsoft.com/office/drawing/2014/main" id="{3FC847C2-71F9-418E-906E-A8B1B1E18303}"/>
              </a:ext>
            </a:extLst>
          </p:cNvPr>
          <p:cNvSpPr>
            <a:spLocks xmlns:a="http://schemas.openxmlformats.org/drawingml/2006/main" noGrp="1"/>
          </p:cNvSpPr>
          <p:nvPr/>
        </p:nvSpPr>
        <p:spPr>
          <a:xfrm xmlns:a="http://schemas.openxmlformats.org/drawingml/2006/main">
            <a:off x="361950" y="1885950"/>
            <a:ext cx="6134100" cy="390525"/>
          </a:xfrm>
          <a:prstGeom xmlns:a="http://schemas.openxmlformats.org/drawingml/2006/main" prst="rect">
            <a:avLst/>
          </a:prstGeom>
          <a:solidFill xmlns:a="http://schemas.openxmlformats.org/drawingml/2006/main">
            <a:srgbClr val="FFFFFF"/>
          </a:solidFill>
          <a:ln xmlns:a="http://schemas.openxmlformats.org/drawingml/2006/main" w="0">
            <a:solidFill>
              <a:srgbClr val="FFFFFF"/>
            </a:solidFill>
            <a:prstDash val="solid"/>
          </a:ln>
        </p:spPr>
      </p:sp>
      <p:sp>
        <p:nvSpPr>
          <p:cNvPr id="13" name="">
            <a:extLst xmlns:a="http://schemas.openxmlformats.org/drawingml/2006/main">
              <a:ext uri="{FF2B5EF4-FFF2-40B4-BE49-F238E27FC236}">
                <a16:creationId xmlns:a16="http://schemas.microsoft.com/office/drawing/2014/main" id="{57F5EC09-59AC-40B5-91CD-7EA94E9CD857}"/>
              </a:ext>
            </a:extLst>
          </p:cNvPr>
          <p:cNvSpPr>
            <a:spLocks xmlns:a="http://schemas.openxmlformats.org/drawingml/2006/main" noGrp="1"/>
          </p:cNvSpPr>
          <p:nvPr/>
        </p:nvSpPr>
        <p:spPr>
          <a:xfrm xmlns:a="http://schemas.openxmlformats.org/drawingml/2006/main">
            <a:off x="476250" y="1885950"/>
            <a:ext cx="1762125"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1">
                <a:solidFill>
                  <a:srgbClr val="183B39"/>
                </a:solidFill>
              </a:defRPr>
            </a:pPr>
            <a:r>
              <a:rPr sz="825" b="1">
                <a:solidFill>
                  <a:srgbClr val="183B39"/>
                </a:solidFill>
              </a:rPr>
              <a:t>DMart</a:t>
            </a:r>
          </a:p>
        </p:txBody>
      </p:sp>
      <p:sp>
        <p:nvSpPr>
          <p:cNvPr id="14" name="">
            <a:extLst xmlns:a="http://schemas.openxmlformats.org/drawingml/2006/main">
              <a:ext uri="{FF2B5EF4-FFF2-40B4-BE49-F238E27FC236}">
                <a16:creationId xmlns:a16="http://schemas.microsoft.com/office/drawing/2014/main" id="{AD7E5D76-BC97-420D-B4C2-1178521EAAD2}"/>
              </a:ext>
            </a:extLst>
          </p:cNvPr>
          <p:cNvSpPr>
            <a:spLocks xmlns:a="http://schemas.openxmlformats.org/drawingml/2006/main" noGrp="1"/>
          </p:cNvSpPr>
          <p:nvPr/>
        </p:nvSpPr>
        <p:spPr>
          <a:xfrm xmlns:a="http://schemas.openxmlformats.org/drawingml/2006/main">
            <a:off x="2333625" y="1885950"/>
            <a:ext cx="781050"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788" b="0">
                <a:solidFill>
                  <a:srgbClr val="5F716E"/>
                </a:solidFill>
              </a:defRPr>
            </a:pPr>
            <a:r>
              <a:rPr sz="788" b="0">
                <a:solidFill>
                  <a:srgbClr val="5F716E"/>
                </a:solidFill>
              </a:rPr>
              <a:t>₹14.56 Cr</a:t>
            </a:r>
          </a:p>
        </p:txBody>
      </p:sp>
      <p:sp>
        <p:nvSpPr>
          <p:cNvPr id="15" name="">
            <a:extLst xmlns:a="http://schemas.openxmlformats.org/drawingml/2006/main">
              <a:ext uri="{FF2B5EF4-FFF2-40B4-BE49-F238E27FC236}">
                <a16:creationId xmlns:a16="http://schemas.microsoft.com/office/drawing/2014/main" id="{8792B53E-063E-4243-ADC0-0BEFD29B35FB}"/>
              </a:ext>
            </a:extLst>
          </p:cNvPr>
          <p:cNvSpPr>
            <a:spLocks xmlns:a="http://schemas.openxmlformats.org/drawingml/2006/main" noGrp="1"/>
          </p:cNvSpPr>
          <p:nvPr/>
        </p:nvSpPr>
        <p:spPr>
          <a:xfrm xmlns:a="http://schemas.openxmlformats.org/drawingml/2006/main">
            <a:off x="3190875" y="1885950"/>
            <a:ext cx="781050"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788" b="1">
                <a:solidFill>
                  <a:srgbClr val="183B39"/>
                </a:solidFill>
              </a:defRPr>
            </a:pPr>
            <a:r>
              <a:rPr sz="788" b="1">
                <a:solidFill>
                  <a:srgbClr val="183B39"/>
                </a:solidFill>
              </a:rPr>
              <a:t>₹14.33 Cr</a:t>
            </a:r>
          </a:p>
        </p:txBody>
      </p:sp>
      <p:sp>
        <p:nvSpPr>
          <p:cNvPr id="16" name="">
            <a:extLst xmlns:a="http://schemas.openxmlformats.org/drawingml/2006/main">
              <a:ext uri="{FF2B5EF4-FFF2-40B4-BE49-F238E27FC236}">
                <a16:creationId xmlns:a16="http://schemas.microsoft.com/office/drawing/2014/main" id="{A6213B8A-6F67-4B49-8732-6CF4687082E3}"/>
              </a:ext>
            </a:extLst>
          </p:cNvPr>
          <p:cNvSpPr>
            <a:spLocks xmlns:a="http://schemas.openxmlformats.org/drawingml/2006/main" noGrp="1"/>
          </p:cNvSpPr>
          <p:nvPr/>
        </p:nvSpPr>
        <p:spPr>
          <a:xfrm xmlns:a="http://schemas.openxmlformats.org/drawingml/2006/main">
            <a:off x="4143375" y="1885950"/>
            <a:ext cx="762000"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825" b="1">
                <a:solidFill>
                  <a:srgbClr val="F2B84B"/>
                </a:solidFill>
              </a:defRPr>
            </a:pPr>
            <a:r>
              <a:rPr sz="825" b="1">
                <a:solidFill>
                  <a:srgbClr val="F2B84B"/>
                </a:solidFill>
              </a:rPr>
              <a:t>-1.5%</a:t>
            </a:r>
          </a:p>
        </p:txBody>
      </p:sp>
      <p:sp>
        <p:nvSpPr>
          <p:cNvPr id="17" name="">
            <a:extLst xmlns:a="http://schemas.openxmlformats.org/drawingml/2006/main">
              <a:ext uri="{FF2B5EF4-FFF2-40B4-BE49-F238E27FC236}">
                <a16:creationId xmlns:a16="http://schemas.microsoft.com/office/drawing/2014/main" id="{0205BCF2-5CAF-4E0C-A5F7-9DB46FA5CE2C}"/>
              </a:ext>
            </a:extLst>
          </p:cNvPr>
          <p:cNvSpPr>
            <a:spLocks xmlns:a="http://schemas.openxmlformats.org/drawingml/2006/main" noGrp="1"/>
          </p:cNvSpPr>
          <p:nvPr/>
        </p:nvSpPr>
        <p:spPr>
          <a:xfrm xmlns:a="http://schemas.openxmlformats.org/drawingml/2006/main">
            <a:off x="5048250" y="1885950"/>
            <a:ext cx="1285875"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88" b="1">
                <a:solidFill>
                  <a:srgbClr val="F2B84B"/>
                </a:solidFill>
              </a:defRPr>
            </a:pPr>
            <a:r>
              <a:rPr sz="788" b="1">
                <a:solidFill>
                  <a:srgbClr val="F2B84B"/>
                </a:solidFill>
              </a:rPr>
              <a:t>Watch</a:t>
            </a:r>
          </a:p>
        </p:txBody>
      </p:sp>
      <p:sp>
        <p:nvSpPr>
          <p:cNvPr id="18" name="">
            <a:extLst xmlns:a="http://schemas.openxmlformats.org/drawingml/2006/main">
              <a:ext uri="{FF2B5EF4-FFF2-40B4-BE49-F238E27FC236}">
                <a16:creationId xmlns:a16="http://schemas.microsoft.com/office/drawing/2014/main" id="{8CE5C23E-DBF0-4BDD-99D4-F0F7D665426D}"/>
              </a:ext>
            </a:extLst>
          </p:cNvPr>
          <p:cNvSpPr>
            <a:spLocks xmlns:a="http://schemas.openxmlformats.org/drawingml/2006/main" noGrp="1"/>
          </p:cNvSpPr>
          <p:nvPr/>
        </p:nvSpPr>
        <p:spPr>
          <a:xfrm xmlns:a="http://schemas.openxmlformats.org/drawingml/2006/main">
            <a:off x="476250" y="2314575"/>
            <a:ext cx="1762125"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1">
                <a:solidFill>
                  <a:srgbClr val="183B39"/>
                </a:solidFill>
              </a:defRPr>
            </a:pPr>
            <a:r>
              <a:rPr sz="825" b="1">
                <a:solidFill>
                  <a:srgbClr val="183B39"/>
                </a:solidFill>
              </a:rPr>
              <a:t>Reliance</a:t>
            </a:r>
          </a:p>
        </p:txBody>
      </p:sp>
      <p:sp>
        <p:nvSpPr>
          <p:cNvPr id="19" name="">
            <a:extLst xmlns:a="http://schemas.openxmlformats.org/drawingml/2006/main">
              <a:ext uri="{FF2B5EF4-FFF2-40B4-BE49-F238E27FC236}">
                <a16:creationId xmlns:a16="http://schemas.microsoft.com/office/drawing/2014/main" id="{2E6C031C-D88D-4BD2-9221-CDDB65600368}"/>
              </a:ext>
            </a:extLst>
          </p:cNvPr>
          <p:cNvSpPr>
            <a:spLocks xmlns:a="http://schemas.openxmlformats.org/drawingml/2006/main" noGrp="1"/>
          </p:cNvSpPr>
          <p:nvPr/>
        </p:nvSpPr>
        <p:spPr>
          <a:xfrm xmlns:a="http://schemas.openxmlformats.org/drawingml/2006/main">
            <a:off x="2333625" y="2314575"/>
            <a:ext cx="781050"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788" b="0">
                <a:solidFill>
                  <a:srgbClr val="5F716E"/>
                </a:solidFill>
              </a:defRPr>
            </a:pPr>
            <a:r>
              <a:rPr sz="788" b="0">
                <a:solidFill>
                  <a:srgbClr val="5F716E"/>
                </a:solidFill>
              </a:rPr>
              <a:t>₹9.48 Cr</a:t>
            </a:r>
          </a:p>
        </p:txBody>
      </p:sp>
      <p:sp>
        <p:nvSpPr>
          <p:cNvPr id="20" name="">
            <a:extLst xmlns:a="http://schemas.openxmlformats.org/drawingml/2006/main">
              <a:ext uri="{FF2B5EF4-FFF2-40B4-BE49-F238E27FC236}">
                <a16:creationId xmlns:a16="http://schemas.microsoft.com/office/drawing/2014/main" id="{34EAEC93-A784-4250-BD64-670783B5EEEE}"/>
              </a:ext>
            </a:extLst>
          </p:cNvPr>
          <p:cNvSpPr>
            <a:spLocks xmlns:a="http://schemas.openxmlformats.org/drawingml/2006/main" noGrp="1"/>
          </p:cNvSpPr>
          <p:nvPr/>
        </p:nvSpPr>
        <p:spPr>
          <a:xfrm xmlns:a="http://schemas.openxmlformats.org/drawingml/2006/main">
            <a:off x="3190875" y="2314575"/>
            <a:ext cx="781050"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788" b="1">
                <a:solidFill>
                  <a:srgbClr val="183B39"/>
                </a:solidFill>
              </a:defRPr>
            </a:pPr>
            <a:r>
              <a:rPr sz="788" b="1">
                <a:solidFill>
                  <a:srgbClr val="183B39"/>
                </a:solidFill>
              </a:rPr>
              <a:t>₹8.06 Cr</a:t>
            </a:r>
          </a:p>
        </p:txBody>
      </p:sp>
      <p:sp>
        <p:nvSpPr>
          <p:cNvPr id="21" name="">
            <a:extLst xmlns:a="http://schemas.openxmlformats.org/drawingml/2006/main">
              <a:ext uri="{FF2B5EF4-FFF2-40B4-BE49-F238E27FC236}">
                <a16:creationId xmlns:a16="http://schemas.microsoft.com/office/drawing/2014/main" id="{F6A522B0-7331-4181-9BDE-74673EE97E15}"/>
              </a:ext>
            </a:extLst>
          </p:cNvPr>
          <p:cNvSpPr>
            <a:spLocks xmlns:a="http://schemas.openxmlformats.org/drawingml/2006/main" noGrp="1"/>
          </p:cNvSpPr>
          <p:nvPr/>
        </p:nvSpPr>
        <p:spPr>
          <a:xfrm xmlns:a="http://schemas.openxmlformats.org/drawingml/2006/main">
            <a:off x="4143375" y="2314575"/>
            <a:ext cx="762000"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825" b="1">
                <a:solidFill>
                  <a:srgbClr val="D6544D"/>
                </a:solidFill>
              </a:defRPr>
            </a:pPr>
            <a:r>
              <a:rPr sz="825" b="1">
                <a:solidFill>
                  <a:srgbClr val="D6544D"/>
                </a:solidFill>
              </a:rPr>
              <a:t>-15.0%</a:t>
            </a:r>
          </a:p>
        </p:txBody>
      </p:sp>
      <p:sp>
        <p:nvSpPr>
          <p:cNvPr id="22" name="">
            <a:extLst xmlns:a="http://schemas.openxmlformats.org/drawingml/2006/main">
              <a:ext uri="{FF2B5EF4-FFF2-40B4-BE49-F238E27FC236}">
                <a16:creationId xmlns:a16="http://schemas.microsoft.com/office/drawing/2014/main" id="{0144FEB2-3AD6-4EE5-A69B-2B995C8E1586}"/>
              </a:ext>
            </a:extLst>
          </p:cNvPr>
          <p:cNvSpPr>
            <a:spLocks xmlns:a="http://schemas.openxmlformats.org/drawingml/2006/main" noGrp="1"/>
          </p:cNvSpPr>
          <p:nvPr/>
        </p:nvSpPr>
        <p:spPr>
          <a:xfrm xmlns:a="http://schemas.openxmlformats.org/drawingml/2006/main">
            <a:off x="5048250" y="2314575"/>
            <a:ext cx="1285875"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88" b="1">
                <a:solidFill>
                  <a:srgbClr val="D6544D"/>
                </a:solidFill>
              </a:defRPr>
            </a:pPr>
            <a:r>
              <a:rPr sz="788" b="1">
                <a:solidFill>
                  <a:srgbClr val="D6544D"/>
                </a:solidFill>
              </a:rPr>
              <a:t>Recover</a:t>
            </a:r>
          </a:p>
        </p:txBody>
      </p:sp>
      <p:sp>
        <p:nvSpPr>
          <p:cNvPr id="23" name="">
            <a:extLst xmlns:a="http://schemas.openxmlformats.org/drawingml/2006/main">
              <a:ext uri="{FF2B5EF4-FFF2-40B4-BE49-F238E27FC236}">
                <a16:creationId xmlns:a16="http://schemas.microsoft.com/office/drawing/2014/main" id="{65371972-45C5-43A9-90CA-0464D1DA55F0}"/>
              </a:ext>
            </a:extLst>
          </p:cNvPr>
          <p:cNvSpPr>
            <a:spLocks xmlns:a="http://schemas.openxmlformats.org/drawingml/2006/main" noGrp="1"/>
          </p:cNvSpPr>
          <p:nvPr/>
        </p:nvSpPr>
        <p:spPr>
          <a:xfrm xmlns:a="http://schemas.openxmlformats.org/drawingml/2006/main">
            <a:off x="361950" y="2743200"/>
            <a:ext cx="6134100" cy="390525"/>
          </a:xfrm>
          <a:prstGeom xmlns:a="http://schemas.openxmlformats.org/drawingml/2006/main" prst="rect">
            <a:avLst/>
          </a:prstGeom>
          <a:solidFill xmlns:a="http://schemas.openxmlformats.org/drawingml/2006/main">
            <a:srgbClr val="FFFFFF"/>
          </a:solidFill>
          <a:ln xmlns:a="http://schemas.openxmlformats.org/drawingml/2006/main" w="0">
            <a:solidFill>
              <a:srgbClr val="FFFFFF"/>
            </a:solidFill>
            <a:prstDash val="solid"/>
          </a:ln>
        </p:spPr>
      </p:sp>
      <p:sp>
        <p:nvSpPr>
          <p:cNvPr id="24" name="">
            <a:extLst xmlns:a="http://schemas.openxmlformats.org/drawingml/2006/main">
              <a:ext uri="{FF2B5EF4-FFF2-40B4-BE49-F238E27FC236}">
                <a16:creationId xmlns:a16="http://schemas.microsoft.com/office/drawing/2014/main" id="{788C5DF3-D2E3-4D12-AA4F-3EC237EDA0B5}"/>
              </a:ext>
            </a:extLst>
          </p:cNvPr>
          <p:cNvSpPr>
            <a:spLocks xmlns:a="http://schemas.openxmlformats.org/drawingml/2006/main" noGrp="1"/>
          </p:cNvSpPr>
          <p:nvPr/>
        </p:nvSpPr>
        <p:spPr>
          <a:xfrm xmlns:a="http://schemas.openxmlformats.org/drawingml/2006/main">
            <a:off x="476250" y="2743200"/>
            <a:ext cx="1762125"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1">
                <a:solidFill>
                  <a:srgbClr val="183B39"/>
                </a:solidFill>
              </a:defRPr>
            </a:pPr>
            <a:r>
              <a:rPr sz="825" b="1">
                <a:solidFill>
                  <a:srgbClr val="183B39"/>
                </a:solidFill>
              </a:rPr>
              <a:t>Lulu</a:t>
            </a:r>
          </a:p>
        </p:txBody>
      </p:sp>
      <p:sp>
        <p:nvSpPr>
          <p:cNvPr id="25" name="">
            <a:extLst xmlns:a="http://schemas.openxmlformats.org/drawingml/2006/main">
              <a:ext uri="{FF2B5EF4-FFF2-40B4-BE49-F238E27FC236}">
                <a16:creationId xmlns:a16="http://schemas.microsoft.com/office/drawing/2014/main" id="{827A8716-0A56-45AA-9B0C-20E310ED82F4}"/>
              </a:ext>
            </a:extLst>
          </p:cNvPr>
          <p:cNvSpPr>
            <a:spLocks xmlns:a="http://schemas.openxmlformats.org/drawingml/2006/main" noGrp="1"/>
          </p:cNvSpPr>
          <p:nvPr/>
        </p:nvSpPr>
        <p:spPr>
          <a:xfrm xmlns:a="http://schemas.openxmlformats.org/drawingml/2006/main">
            <a:off x="2333625" y="2743200"/>
            <a:ext cx="781050"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788" b="0">
                <a:solidFill>
                  <a:srgbClr val="5F716E"/>
                </a:solidFill>
              </a:defRPr>
            </a:pPr>
            <a:r>
              <a:rPr sz="788" b="0">
                <a:solidFill>
                  <a:srgbClr val="5F716E"/>
                </a:solidFill>
              </a:rPr>
              <a:t>₹1.16 Cr</a:t>
            </a:r>
          </a:p>
        </p:txBody>
      </p:sp>
      <p:sp>
        <p:nvSpPr>
          <p:cNvPr id="26" name="">
            <a:extLst xmlns:a="http://schemas.openxmlformats.org/drawingml/2006/main">
              <a:ext uri="{FF2B5EF4-FFF2-40B4-BE49-F238E27FC236}">
                <a16:creationId xmlns:a16="http://schemas.microsoft.com/office/drawing/2014/main" id="{25FC044D-647E-4039-BC19-18DFB3A74573}"/>
              </a:ext>
            </a:extLst>
          </p:cNvPr>
          <p:cNvSpPr>
            <a:spLocks xmlns:a="http://schemas.openxmlformats.org/drawingml/2006/main" noGrp="1"/>
          </p:cNvSpPr>
          <p:nvPr/>
        </p:nvSpPr>
        <p:spPr>
          <a:xfrm xmlns:a="http://schemas.openxmlformats.org/drawingml/2006/main">
            <a:off x="3190875" y="2743200"/>
            <a:ext cx="781050"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788" b="1">
                <a:solidFill>
                  <a:srgbClr val="183B39"/>
                </a:solidFill>
              </a:defRPr>
            </a:pPr>
            <a:r>
              <a:rPr sz="788" b="1">
                <a:solidFill>
                  <a:srgbClr val="183B39"/>
                </a:solidFill>
              </a:rPr>
              <a:t>₹1.70 Cr</a:t>
            </a:r>
          </a:p>
        </p:txBody>
      </p:sp>
      <p:sp>
        <p:nvSpPr>
          <p:cNvPr id="27" name="">
            <a:extLst xmlns:a="http://schemas.openxmlformats.org/drawingml/2006/main">
              <a:ext uri="{FF2B5EF4-FFF2-40B4-BE49-F238E27FC236}">
                <a16:creationId xmlns:a16="http://schemas.microsoft.com/office/drawing/2014/main" id="{A6A63F62-606E-4195-BAAE-9DC953D62A2F}"/>
              </a:ext>
            </a:extLst>
          </p:cNvPr>
          <p:cNvSpPr>
            <a:spLocks xmlns:a="http://schemas.openxmlformats.org/drawingml/2006/main" noGrp="1"/>
          </p:cNvSpPr>
          <p:nvPr/>
        </p:nvSpPr>
        <p:spPr>
          <a:xfrm xmlns:a="http://schemas.openxmlformats.org/drawingml/2006/main">
            <a:off x="4143375" y="2743200"/>
            <a:ext cx="762000"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825" b="1">
                <a:solidFill>
                  <a:srgbClr val="2B9A66"/>
                </a:solidFill>
              </a:defRPr>
            </a:pPr>
            <a:r>
              <a:rPr sz="825" b="1">
                <a:solidFill>
                  <a:srgbClr val="2B9A66"/>
                </a:solidFill>
              </a:rPr>
              <a:t>+46.5%</a:t>
            </a:r>
          </a:p>
        </p:txBody>
      </p:sp>
      <p:sp>
        <p:nvSpPr>
          <p:cNvPr id="28" name="">
            <a:extLst xmlns:a="http://schemas.openxmlformats.org/drawingml/2006/main">
              <a:ext uri="{FF2B5EF4-FFF2-40B4-BE49-F238E27FC236}">
                <a16:creationId xmlns:a16="http://schemas.microsoft.com/office/drawing/2014/main" id="{74F2BE73-B525-4921-A85E-DD60680344F2}"/>
              </a:ext>
            </a:extLst>
          </p:cNvPr>
          <p:cNvSpPr>
            <a:spLocks xmlns:a="http://schemas.openxmlformats.org/drawingml/2006/main" noGrp="1"/>
          </p:cNvSpPr>
          <p:nvPr/>
        </p:nvSpPr>
        <p:spPr>
          <a:xfrm xmlns:a="http://schemas.openxmlformats.org/drawingml/2006/main">
            <a:off x="5048250" y="2743200"/>
            <a:ext cx="1285875"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88" b="1">
                <a:solidFill>
                  <a:srgbClr val="2B9A66"/>
                </a:solidFill>
              </a:defRPr>
            </a:pPr>
            <a:r>
              <a:rPr sz="788" b="1">
                <a:solidFill>
                  <a:srgbClr val="2B9A66"/>
                </a:solidFill>
              </a:rPr>
              <a:t>Scale</a:t>
            </a:r>
          </a:p>
        </p:txBody>
      </p:sp>
      <p:sp>
        <p:nvSpPr>
          <p:cNvPr id="29" name="">
            <a:extLst xmlns:a="http://schemas.openxmlformats.org/drawingml/2006/main">
              <a:ext uri="{FF2B5EF4-FFF2-40B4-BE49-F238E27FC236}">
                <a16:creationId xmlns:a16="http://schemas.microsoft.com/office/drawing/2014/main" id="{B55A819E-F7A4-471D-AFAC-F9DF5353CEA0}"/>
              </a:ext>
            </a:extLst>
          </p:cNvPr>
          <p:cNvSpPr>
            <a:spLocks xmlns:a="http://schemas.openxmlformats.org/drawingml/2006/main" noGrp="1"/>
          </p:cNvSpPr>
          <p:nvPr/>
        </p:nvSpPr>
        <p:spPr>
          <a:xfrm xmlns:a="http://schemas.openxmlformats.org/drawingml/2006/main">
            <a:off x="476250" y="3171825"/>
            <a:ext cx="1762125"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1">
                <a:solidFill>
                  <a:srgbClr val="183B39"/>
                </a:solidFill>
              </a:defRPr>
            </a:pPr>
            <a:r>
              <a:rPr sz="825" b="1">
                <a:solidFill>
                  <a:srgbClr val="183B39"/>
                </a:solidFill>
              </a:rPr>
              <a:t>Wellness Forever</a:t>
            </a:r>
          </a:p>
        </p:txBody>
      </p:sp>
      <p:sp>
        <p:nvSpPr>
          <p:cNvPr id="30" name="">
            <a:extLst xmlns:a="http://schemas.openxmlformats.org/drawingml/2006/main">
              <a:ext uri="{FF2B5EF4-FFF2-40B4-BE49-F238E27FC236}">
                <a16:creationId xmlns:a16="http://schemas.microsoft.com/office/drawing/2014/main" id="{5FABB527-CF62-4028-B3A1-1BF5A41B1F81}"/>
              </a:ext>
            </a:extLst>
          </p:cNvPr>
          <p:cNvSpPr>
            <a:spLocks xmlns:a="http://schemas.openxmlformats.org/drawingml/2006/main" noGrp="1"/>
          </p:cNvSpPr>
          <p:nvPr/>
        </p:nvSpPr>
        <p:spPr>
          <a:xfrm xmlns:a="http://schemas.openxmlformats.org/drawingml/2006/main">
            <a:off x="2333625" y="3171825"/>
            <a:ext cx="781050"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788" b="0">
                <a:solidFill>
                  <a:srgbClr val="5F716E"/>
                </a:solidFill>
              </a:defRPr>
            </a:pPr>
            <a:r>
              <a:rPr sz="788" b="0">
                <a:solidFill>
                  <a:srgbClr val="5F716E"/>
                </a:solidFill>
              </a:rPr>
              <a:t>₹0.80 Cr</a:t>
            </a:r>
          </a:p>
        </p:txBody>
      </p:sp>
      <p:sp>
        <p:nvSpPr>
          <p:cNvPr id="31" name="">
            <a:extLst xmlns:a="http://schemas.openxmlformats.org/drawingml/2006/main">
              <a:ext uri="{FF2B5EF4-FFF2-40B4-BE49-F238E27FC236}">
                <a16:creationId xmlns:a16="http://schemas.microsoft.com/office/drawing/2014/main" id="{599918CA-61B2-4752-8AA4-FA5ECEAEDEE6}"/>
              </a:ext>
            </a:extLst>
          </p:cNvPr>
          <p:cNvSpPr>
            <a:spLocks xmlns:a="http://schemas.openxmlformats.org/drawingml/2006/main" noGrp="1"/>
          </p:cNvSpPr>
          <p:nvPr/>
        </p:nvSpPr>
        <p:spPr>
          <a:xfrm xmlns:a="http://schemas.openxmlformats.org/drawingml/2006/main">
            <a:off x="3190875" y="3171825"/>
            <a:ext cx="781050"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788" b="1">
                <a:solidFill>
                  <a:srgbClr val="183B39"/>
                </a:solidFill>
              </a:defRPr>
            </a:pPr>
            <a:r>
              <a:rPr sz="788" b="1">
                <a:solidFill>
                  <a:srgbClr val="183B39"/>
                </a:solidFill>
              </a:rPr>
              <a:t>₹0.72 Cr</a:t>
            </a:r>
          </a:p>
        </p:txBody>
      </p:sp>
      <p:sp>
        <p:nvSpPr>
          <p:cNvPr id="32" name="">
            <a:extLst xmlns:a="http://schemas.openxmlformats.org/drawingml/2006/main">
              <a:ext uri="{FF2B5EF4-FFF2-40B4-BE49-F238E27FC236}">
                <a16:creationId xmlns:a16="http://schemas.microsoft.com/office/drawing/2014/main" id="{234E4584-87CD-47A7-A5C3-7339FAC40831}"/>
              </a:ext>
            </a:extLst>
          </p:cNvPr>
          <p:cNvSpPr>
            <a:spLocks xmlns:a="http://schemas.openxmlformats.org/drawingml/2006/main" noGrp="1"/>
          </p:cNvSpPr>
          <p:nvPr/>
        </p:nvSpPr>
        <p:spPr>
          <a:xfrm xmlns:a="http://schemas.openxmlformats.org/drawingml/2006/main">
            <a:off x="4143375" y="3171825"/>
            <a:ext cx="762000"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825" b="1">
                <a:solidFill>
                  <a:srgbClr val="F2B84B"/>
                </a:solidFill>
              </a:defRPr>
            </a:pPr>
            <a:r>
              <a:rPr sz="825" b="1">
                <a:solidFill>
                  <a:srgbClr val="F2B84B"/>
                </a:solidFill>
              </a:rPr>
              <a:t>-9.9%</a:t>
            </a:r>
          </a:p>
        </p:txBody>
      </p:sp>
      <p:sp>
        <p:nvSpPr>
          <p:cNvPr id="33" name="">
            <a:extLst xmlns:a="http://schemas.openxmlformats.org/drawingml/2006/main">
              <a:ext uri="{FF2B5EF4-FFF2-40B4-BE49-F238E27FC236}">
                <a16:creationId xmlns:a16="http://schemas.microsoft.com/office/drawing/2014/main" id="{35B25556-846A-47B9-A7EA-7DCC0B1DC8D5}"/>
              </a:ext>
            </a:extLst>
          </p:cNvPr>
          <p:cNvSpPr>
            <a:spLocks xmlns:a="http://schemas.openxmlformats.org/drawingml/2006/main" noGrp="1"/>
          </p:cNvSpPr>
          <p:nvPr/>
        </p:nvSpPr>
        <p:spPr>
          <a:xfrm xmlns:a="http://schemas.openxmlformats.org/drawingml/2006/main">
            <a:off x="5048250" y="3171825"/>
            <a:ext cx="1285875"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88" b="1">
                <a:solidFill>
                  <a:srgbClr val="F2B84B"/>
                </a:solidFill>
              </a:defRPr>
            </a:pPr>
            <a:r>
              <a:rPr sz="788" b="1">
                <a:solidFill>
                  <a:srgbClr val="F2B84B"/>
                </a:solidFill>
              </a:rPr>
              <a:t>Watch</a:t>
            </a:r>
          </a:p>
        </p:txBody>
      </p:sp>
      <p:sp>
        <p:nvSpPr>
          <p:cNvPr id="34" name="">
            <a:extLst xmlns:a="http://schemas.openxmlformats.org/drawingml/2006/main">
              <a:ext uri="{FF2B5EF4-FFF2-40B4-BE49-F238E27FC236}">
                <a16:creationId xmlns:a16="http://schemas.microsoft.com/office/drawing/2014/main" id="{4030FE4C-C2C7-4489-B45B-0888088BB9F4}"/>
              </a:ext>
            </a:extLst>
          </p:cNvPr>
          <p:cNvSpPr>
            <a:spLocks xmlns:a="http://schemas.openxmlformats.org/drawingml/2006/main" noGrp="1"/>
          </p:cNvSpPr>
          <p:nvPr/>
        </p:nvSpPr>
        <p:spPr>
          <a:xfrm xmlns:a="http://schemas.openxmlformats.org/drawingml/2006/main">
            <a:off x="361950" y="3600450"/>
            <a:ext cx="6134100" cy="390525"/>
          </a:xfrm>
          <a:prstGeom xmlns:a="http://schemas.openxmlformats.org/drawingml/2006/main" prst="rect">
            <a:avLst/>
          </a:prstGeom>
          <a:solidFill xmlns:a="http://schemas.openxmlformats.org/drawingml/2006/main">
            <a:srgbClr val="FFFFFF"/>
          </a:solidFill>
          <a:ln xmlns:a="http://schemas.openxmlformats.org/drawingml/2006/main" w="0">
            <a:solidFill>
              <a:srgbClr val="FFFFFF"/>
            </a:solidFill>
            <a:prstDash val="solid"/>
          </a:ln>
        </p:spPr>
      </p:sp>
      <p:sp>
        <p:nvSpPr>
          <p:cNvPr id="35" name="">
            <a:extLst xmlns:a="http://schemas.openxmlformats.org/drawingml/2006/main">
              <a:ext uri="{FF2B5EF4-FFF2-40B4-BE49-F238E27FC236}">
                <a16:creationId xmlns:a16="http://schemas.microsoft.com/office/drawing/2014/main" id="{7E4F36E7-5CDC-480F-B620-20B9C90548B4}"/>
              </a:ext>
            </a:extLst>
          </p:cNvPr>
          <p:cNvSpPr>
            <a:spLocks xmlns:a="http://schemas.openxmlformats.org/drawingml/2006/main" noGrp="1"/>
          </p:cNvSpPr>
          <p:nvPr/>
        </p:nvSpPr>
        <p:spPr>
          <a:xfrm xmlns:a="http://schemas.openxmlformats.org/drawingml/2006/main">
            <a:off x="476250" y="3600450"/>
            <a:ext cx="1762125"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0">
                <a:solidFill>
                  <a:srgbClr val="183B39"/>
                </a:solidFill>
              </a:defRPr>
            </a:pPr>
            <a:r>
              <a:rPr sz="825" b="0">
                <a:solidFill>
                  <a:srgbClr val="183B39"/>
                </a:solidFill>
              </a:rPr>
              <a:t>Health &amp; Glow</a:t>
            </a:r>
          </a:p>
        </p:txBody>
      </p:sp>
      <p:sp>
        <p:nvSpPr>
          <p:cNvPr id="36" name="">
            <a:extLst xmlns:a="http://schemas.openxmlformats.org/drawingml/2006/main">
              <a:ext uri="{FF2B5EF4-FFF2-40B4-BE49-F238E27FC236}">
                <a16:creationId xmlns:a16="http://schemas.microsoft.com/office/drawing/2014/main" id="{422BFF1D-09C7-4434-BC88-08817B42DA7C}"/>
              </a:ext>
            </a:extLst>
          </p:cNvPr>
          <p:cNvSpPr>
            <a:spLocks xmlns:a="http://schemas.openxmlformats.org/drawingml/2006/main" noGrp="1"/>
          </p:cNvSpPr>
          <p:nvPr/>
        </p:nvSpPr>
        <p:spPr>
          <a:xfrm xmlns:a="http://schemas.openxmlformats.org/drawingml/2006/main">
            <a:off x="2333625" y="3600450"/>
            <a:ext cx="781050"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788" b="0">
                <a:solidFill>
                  <a:srgbClr val="5F716E"/>
                </a:solidFill>
              </a:defRPr>
            </a:pPr>
            <a:r>
              <a:rPr sz="788" b="0">
                <a:solidFill>
                  <a:srgbClr val="5F716E"/>
                </a:solidFill>
              </a:rPr>
              <a:t>₹0.52 Cr</a:t>
            </a:r>
          </a:p>
        </p:txBody>
      </p:sp>
      <p:sp>
        <p:nvSpPr>
          <p:cNvPr id="37" name="">
            <a:extLst xmlns:a="http://schemas.openxmlformats.org/drawingml/2006/main">
              <a:ext uri="{FF2B5EF4-FFF2-40B4-BE49-F238E27FC236}">
                <a16:creationId xmlns:a16="http://schemas.microsoft.com/office/drawing/2014/main" id="{CF6A7871-ADA5-4516-9CDD-854D4B8C1803}"/>
              </a:ext>
            </a:extLst>
          </p:cNvPr>
          <p:cNvSpPr>
            <a:spLocks xmlns:a="http://schemas.openxmlformats.org/drawingml/2006/main" noGrp="1"/>
          </p:cNvSpPr>
          <p:nvPr/>
        </p:nvSpPr>
        <p:spPr>
          <a:xfrm xmlns:a="http://schemas.openxmlformats.org/drawingml/2006/main">
            <a:off x="3190875" y="3600450"/>
            <a:ext cx="781050"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788" b="1">
                <a:solidFill>
                  <a:srgbClr val="183B39"/>
                </a:solidFill>
              </a:defRPr>
            </a:pPr>
            <a:r>
              <a:rPr sz="788" b="1">
                <a:solidFill>
                  <a:srgbClr val="183B39"/>
                </a:solidFill>
              </a:rPr>
              <a:t>₹0.51 Cr</a:t>
            </a:r>
          </a:p>
        </p:txBody>
      </p:sp>
      <p:sp>
        <p:nvSpPr>
          <p:cNvPr id="38" name="">
            <a:extLst xmlns:a="http://schemas.openxmlformats.org/drawingml/2006/main">
              <a:ext uri="{FF2B5EF4-FFF2-40B4-BE49-F238E27FC236}">
                <a16:creationId xmlns:a16="http://schemas.microsoft.com/office/drawing/2014/main" id="{1CC374FC-ACCC-41D1-A15A-AF1B9EBFDEA7}"/>
              </a:ext>
            </a:extLst>
          </p:cNvPr>
          <p:cNvSpPr>
            <a:spLocks xmlns:a="http://schemas.openxmlformats.org/drawingml/2006/main" noGrp="1"/>
          </p:cNvSpPr>
          <p:nvPr/>
        </p:nvSpPr>
        <p:spPr>
          <a:xfrm xmlns:a="http://schemas.openxmlformats.org/drawingml/2006/main">
            <a:off x="4143375" y="3600450"/>
            <a:ext cx="762000"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825" b="1">
                <a:solidFill>
                  <a:srgbClr val="F2B84B"/>
                </a:solidFill>
              </a:defRPr>
            </a:pPr>
            <a:r>
              <a:rPr sz="825" b="1">
                <a:solidFill>
                  <a:srgbClr val="F2B84B"/>
                </a:solidFill>
              </a:rPr>
              <a:t>-2.0%</a:t>
            </a:r>
          </a:p>
        </p:txBody>
      </p:sp>
      <p:sp>
        <p:nvSpPr>
          <p:cNvPr id="39" name="">
            <a:extLst xmlns:a="http://schemas.openxmlformats.org/drawingml/2006/main">
              <a:ext uri="{FF2B5EF4-FFF2-40B4-BE49-F238E27FC236}">
                <a16:creationId xmlns:a16="http://schemas.microsoft.com/office/drawing/2014/main" id="{6B95E068-8FC2-48C4-BD81-5B9981470AC0}"/>
              </a:ext>
            </a:extLst>
          </p:cNvPr>
          <p:cNvSpPr>
            <a:spLocks xmlns:a="http://schemas.openxmlformats.org/drawingml/2006/main" noGrp="1"/>
          </p:cNvSpPr>
          <p:nvPr/>
        </p:nvSpPr>
        <p:spPr>
          <a:xfrm xmlns:a="http://schemas.openxmlformats.org/drawingml/2006/main">
            <a:off x="5048250" y="3600450"/>
            <a:ext cx="1285875"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88" b="1">
                <a:solidFill>
                  <a:srgbClr val="F2B84B"/>
                </a:solidFill>
              </a:defRPr>
            </a:pPr>
            <a:r>
              <a:rPr sz="788" b="1">
                <a:solidFill>
                  <a:srgbClr val="F2B84B"/>
                </a:solidFill>
              </a:rPr>
              <a:t>Watch</a:t>
            </a:r>
          </a:p>
        </p:txBody>
      </p:sp>
      <p:sp>
        <p:nvSpPr>
          <p:cNvPr id="40" name="">
            <a:extLst xmlns:a="http://schemas.openxmlformats.org/drawingml/2006/main">
              <a:ext uri="{FF2B5EF4-FFF2-40B4-BE49-F238E27FC236}">
                <a16:creationId xmlns:a16="http://schemas.microsoft.com/office/drawing/2014/main" id="{E44813C6-6C31-46D3-95B6-242450C1B8B6}"/>
              </a:ext>
            </a:extLst>
          </p:cNvPr>
          <p:cNvSpPr>
            <a:spLocks xmlns:a="http://schemas.openxmlformats.org/drawingml/2006/main" noGrp="1"/>
          </p:cNvSpPr>
          <p:nvPr/>
        </p:nvSpPr>
        <p:spPr>
          <a:xfrm xmlns:a="http://schemas.openxmlformats.org/drawingml/2006/main">
            <a:off x="476250" y="4029075"/>
            <a:ext cx="1762125"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0">
                <a:solidFill>
                  <a:srgbClr val="183B39"/>
                </a:solidFill>
              </a:defRPr>
            </a:pPr>
            <a:r>
              <a:rPr sz="825" b="0">
                <a:solidFill>
                  <a:srgbClr val="183B39"/>
                </a:solidFill>
              </a:rPr>
              <a:t>Metro</a:t>
            </a:r>
          </a:p>
        </p:txBody>
      </p:sp>
      <p:sp>
        <p:nvSpPr>
          <p:cNvPr id="41" name="">
            <a:extLst xmlns:a="http://schemas.openxmlformats.org/drawingml/2006/main">
              <a:ext uri="{FF2B5EF4-FFF2-40B4-BE49-F238E27FC236}">
                <a16:creationId xmlns:a16="http://schemas.microsoft.com/office/drawing/2014/main" id="{17BE984A-7689-4314-8317-86F7398DBC4B}"/>
              </a:ext>
            </a:extLst>
          </p:cNvPr>
          <p:cNvSpPr>
            <a:spLocks xmlns:a="http://schemas.openxmlformats.org/drawingml/2006/main" noGrp="1"/>
          </p:cNvSpPr>
          <p:nvPr/>
        </p:nvSpPr>
        <p:spPr>
          <a:xfrm xmlns:a="http://schemas.openxmlformats.org/drawingml/2006/main">
            <a:off x="2333625" y="4029075"/>
            <a:ext cx="781050"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788" b="0">
                <a:solidFill>
                  <a:srgbClr val="5F716E"/>
                </a:solidFill>
              </a:defRPr>
            </a:pPr>
            <a:r>
              <a:rPr sz="788" b="0">
                <a:solidFill>
                  <a:srgbClr val="5F716E"/>
                </a:solidFill>
              </a:rPr>
              <a:t>₹0.61 Cr</a:t>
            </a:r>
          </a:p>
        </p:txBody>
      </p:sp>
      <p:sp>
        <p:nvSpPr>
          <p:cNvPr id="42" name="">
            <a:extLst xmlns:a="http://schemas.openxmlformats.org/drawingml/2006/main">
              <a:ext uri="{FF2B5EF4-FFF2-40B4-BE49-F238E27FC236}">
                <a16:creationId xmlns:a16="http://schemas.microsoft.com/office/drawing/2014/main" id="{62A1F0F7-DB69-4CF6-870C-3A3C78818D91}"/>
              </a:ext>
            </a:extLst>
          </p:cNvPr>
          <p:cNvSpPr>
            <a:spLocks xmlns:a="http://schemas.openxmlformats.org/drawingml/2006/main" noGrp="1"/>
          </p:cNvSpPr>
          <p:nvPr/>
        </p:nvSpPr>
        <p:spPr>
          <a:xfrm xmlns:a="http://schemas.openxmlformats.org/drawingml/2006/main">
            <a:off x="3190875" y="4029075"/>
            <a:ext cx="781050"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788" b="1">
                <a:solidFill>
                  <a:srgbClr val="183B39"/>
                </a:solidFill>
              </a:defRPr>
            </a:pPr>
            <a:r>
              <a:rPr sz="788" b="1">
                <a:solidFill>
                  <a:srgbClr val="183B39"/>
                </a:solidFill>
              </a:rPr>
              <a:t>₹0.49 Cr</a:t>
            </a:r>
          </a:p>
        </p:txBody>
      </p:sp>
      <p:sp>
        <p:nvSpPr>
          <p:cNvPr id="43" name="">
            <a:extLst xmlns:a="http://schemas.openxmlformats.org/drawingml/2006/main">
              <a:ext uri="{FF2B5EF4-FFF2-40B4-BE49-F238E27FC236}">
                <a16:creationId xmlns:a16="http://schemas.microsoft.com/office/drawing/2014/main" id="{B93EB22D-49C7-4710-9C5C-AEE494E3CAFA}"/>
              </a:ext>
            </a:extLst>
          </p:cNvPr>
          <p:cNvSpPr>
            <a:spLocks xmlns:a="http://schemas.openxmlformats.org/drawingml/2006/main" noGrp="1"/>
          </p:cNvSpPr>
          <p:nvPr/>
        </p:nvSpPr>
        <p:spPr>
          <a:xfrm xmlns:a="http://schemas.openxmlformats.org/drawingml/2006/main">
            <a:off x="4143375" y="4029075"/>
            <a:ext cx="762000"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825" b="1">
                <a:solidFill>
                  <a:srgbClr val="D6544D"/>
                </a:solidFill>
              </a:defRPr>
            </a:pPr>
            <a:r>
              <a:rPr sz="825" b="1">
                <a:solidFill>
                  <a:srgbClr val="D6544D"/>
                </a:solidFill>
              </a:rPr>
              <a:t>-20.5%</a:t>
            </a:r>
          </a:p>
        </p:txBody>
      </p:sp>
      <p:sp>
        <p:nvSpPr>
          <p:cNvPr id="44" name="">
            <a:extLst xmlns:a="http://schemas.openxmlformats.org/drawingml/2006/main">
              <a:ext uri="{FF2B5EF4-FFF2-40B4-BE49-F238E27FC236}">
                <a16:creationId xmlns:a16="http://schemas.microsoft.com/office/drawing/2014/main" id="{189D891C-B03A-4292-8DF8-2EFD61EBA592}"/>
              </a:ext>
            </a:extLst>
          </p:cNvPr>
          <p:cNvSpPr>
            <a:spLocks xmlns:a="http://schemas.openxmlformats.org/drawingml/2006/main" noGrp="1"/>
          </p:cNvSpPr>
          <p:nvPr/>
        </p:nvSpPr>
        <p:spPr>
          <a:xfrm xmlns:a="http://schemas.openxmlformats.org/drawingml/2006/main">
            <a:off x="5048250" y="4029075"/>
            <a:ext cx="1285875"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88" b="1">
                <a:solidFill>
                  <a:srgbClr val="D6544D"/>
                </a:solidFill>
              </a:defRPr>
            </a:pPr>
            <a:r>
              <a:rPr sz="788" b="1">
                <a:solidFill>
                  <a:srgbClr val="D6544D"/>
                </a:solidFill>
              </a:rPr>
              <a:t>Recover</a:t>
            </a:r>
          </a:p>
        </p:txBody>
      </p:sp>
      <p:sp>
        <p:nvSpPr>
          <p:cNvPr id="45" name="">
            <a:extLst xmlns:a="http://schemas.openxmlformats.org/drawingml/2006/main">
              <a:ext uri="{FF2B5EF4-FFF2-40B4-BE49-F238E27FC236}">
                <a16:creationId xmlns:a16="http://schemas.microsoft.com/office/drawing/2014/main" id="{6A444B59-CCFD-48AC-A7F4-F47C035B8F8D}"/>
              </a:ext>
            </a:extLst>
          </p:cNvPr>
          <p:cNvSpPr>
            <a:spLocks xmlns:a="http://schemas.openxmlformats.org/drawingml/2006/main" noGrp="1"/>
          </p:cNvSpPr>
          <p:nvPr/>
        </p:nvSpPr>
        <p:spPr>
          <a:xfrm xmlns:a="http://schemas.openxmlformats.org/drawingml/2006/main">
            <a:off x="361950" y="4457700"/>
            <a:ext cx="6134100" cy="390525"/>
          </a:xfrm>
          <a:prstGeom xmlns:a="http://schemas.openxmlformats.org/drawingml/2006/main" prst="rect">
            <a:avLst/>
          </a:prstGeom>
          <a:solidFill xmlns:a="http://schemas.openxmlformats.org/drawingml/2006/main">
            <a:srgbClr val="FFFFFF"/>
          </a:solidFill>
          <a:ln xmlns:a="http://schemas.openxmlformats.org/drawingml/2006/main" w="0">
            <a:solidFill>
              <a:srgbClr val="FFFFFF"/>
            </a:solidFill>
            <a:prstDash val="solid"/>
          </a:ln>
        </p:spPr>
      </p:sp>
      <p:sp>
        <p:nvSpPr>
          <p:cNvPr id="46" name="">
            <a:extLst xmlns:a="http://schemas.openxmlformats.org/drawingml/2006/main">
              <a:ext uri="{FF2B5EF4-FFF2-40B4-BE49-F238E27FC236}">
                <a16:creationId xmlns:a16="http://schemas.microsoft.com/office/drawing/2014/main" id="{627FC98A-90F4-4495-A101-F3EB5B59D211}"/>
              </a:ext>
            </a:extLst>
          </p:cNvPr>
          <p:cNvSpPr>
            <a:spLocks xmlns:a="http://schemas.openxmlformats.org/drawingml/2006/main" noGrp="1"/>
          </p:cNvSpPr>
          <p:nvPr/>
        </p:nvSpPr>
        <p:spPr>
          <a:xfrm xmlns:a="http://schemas.openxmlformats.org/drawingml/2006/main">
            <a:off x="476250" y="4457700"/>
            <a:ext cx="1762125"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0">
                <a:solidFill>
                  <a:srgbClr val="183B39"/>
                </a:solidFill>
              </a:defRPr>
            </a:pPr>
            <a:r>
              <a:rPr sz="825" b="0">
                <a:solidFill>
                  <a:srgbClr val="183B39"/>
                </a:solidFill>
              </a:rPr>
              <a:t>More Retail</a:t>
            </a:r>
          </a:p>
        </p:txBody>
      </p:sp>
      <p:sp>
        <p:nvSpPr>
          <p:cNvPr id="47" name="">
            <a:extLst xmlns:a="http://schemas.openxmlformats.org/drawingml/2006/main">
              <a:ext uri="{FF2B5EF4-FFF2-40B4-BE49-F238E27FC236}">
                <a16:creationId xmlns:a16="http://schemas.microsoft.com/office/drawing/2014/main" id="{71CA60F5-5A3A-4935-9836-9D42433A1203}"/>
              </a:ext>
            </a:extLst>
          </p:cNvPr>
          <p:cNvSpPr>
            <a:spLocks xmlns:a="http://schemas.openxmlformats.org/drawingml/2006/main" noGrp="1"/>
          </p:cNvSpPr>
          <p:nvPr/>
        </p:nvSpPr>
        <p:spPr>
          <a:xfrm xmlns:a="http://schemas.openxmlformats.org/drawingml/2006/main">
            <a:off x="2333625" y="4457700"/>
            <a:ext cx="781050"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788" b="0">
                <a:solidFill>
                  <a:srgbClr val="5F716E"/>
                </a:solidFill>
              </a:defRPr>
            </a:pPr>
            <a:r>
              <a:rPr sz="788" b="0">
                <a:solidFill>
                  <a:srgbClr val="5F716E"/>
                </a:solidFill>
              </a:rPr>
              <a:t>₹0.44 Cr</a:t>
            </a:r>
          </a:p>
        </p:txBody>
      </p:sp>
      <p:sp>
        <p:nvSpPr>
          <p:cNvPr id="48" name="">
            <a:extLst xmlns:a="http://schemas.openxmlformats.org/drawingml/2006/main">
              <a:ext uri="{FF2B5EF4-FFF2-40B4-BE49-F238E27FC236}">
                <a16:creationId xmlns:a16="http://schemas.microsoft.com/office/drawing/2014/main" id="{9CA1C038-F895-4C71-A2C3-140E55655ACA}"/>
              </a:ext>
            </a:extLst>
          </p:cNvPr>
          <p:cNvSpPr>
            <a:spLocks xmlns:a="http://schemas.openxmlformats.org/drawingml/2006/main" noGrp="1"/>
          </p:cNvSpPr>
          <p:nvPr/>
        </p:nvSpPr>
        <p:spPr>
          <a:xfrm xmlns:a="http://schemas.openxmlformats.org/drawingml/2006/main">
            <a:off x="3190875" y="4457700"/>
            <a:ext cx="781050"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788" b="1">
                <a:solidFill>
                  <a:srgbClr val="183B39"/>
                </a:solidFill>
              </a:defRPr>
            </a:pPr>
            <a:r>
              <a:rPr sz="788" b="1">
                <a:solidFill>
                  <a:srgbClr val="183B39"/>
                </a:solidFill>
              </a:rPr>
              <a:t>₹0.41 Cr</a:t>
            </a:r>
          </a:p>
        </p:txBody>
      </p:sp>
      <p:sp>
        <p:nvSpPr>
          <p:cNvPr id="49" name="">
            <a:extLst xmlns:a="http://schemas.openxmlformats.org/drawingml/2006/main">
              <a:ext uri="{FF2B5EF4-FFF2-40B4-BE49-F238E27FC236}">
                <a16:creationId xmlns:a16="http://schemas.microsoft.com/office/drawing/2014/main" id="{04D9429F-F742-4B4C-B4ED-0C676814A832}"/>
              </a:ext>
            </a:extLst>
          </p:cNvPr>
          <p:cNvSpPr>
            <a:spLocks xmlns:a="http://schemas.openxmlformats.org/drawingml/2006/main" noGrp="1"/>
          </p:cNvSpPr>
          <p:nvPr/>
        </p:nvSpPr>
        <p:spPr>
          <a:xfrm xmlns:a="http://schemas.openxmlformats.org/drawingml/2006/main">
            <a:off x="4143375" y="4457700"/>
            <a:ext cx="762000"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825" b="1">
                <a:solidFill>
                  <a:srgbClr val="F2B84B"/>
                </a:solidFill>
              </a:defRPr>
            </a:pPr>
            <a:r>
              <a:rPr sz="825" b="1">
                <a:solidFill>
                  <a:srgbClr val="F2B84B"/>
                </a:solidFill>
              </a:rPr>
              <a:t>-6.8%</a:t>
            </a:r>
          </a:p>
        </p:txBody>
      </p:sp>
      <p:sp>
        <p:nvSpPr>
          <p:cNvPr id="50" name="">
            <a:extLst xmlns:a="http://schemas.openxmlformats.org/drawingml/2006/main">
              <a:ext uri="{FF2B5EF4-FFF2-40B4-BE49-F238E27FC236}">
                <a16:creationId xmlns:a16="http://schemas.microsoft.com/office/drawing/2014/main" id="{26B30AB5-47C5-4627-A2B8-B622551815F9}"/>
              </a:ext>
            </a:extLst>
          </p:cNvPr>
          <p:cNvSpPr>
            <a:spLocks xmlns:a="http://schemas.openxmlformats.org/drawingml/2006/main" noGrp="1"/>
          </p:cNvSpPr>
          <p:nvPr/>
        </p:nvSpPr>
        <p:spPr>
          <a:xfrm xmlns:a="http://schemas.openxmlformats.org/drawingml/2006/main">
            <a:off x="5048250" y="4457700"/>
            <a:ext cx="1285875"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88" b="1">
                <a:solidFill>
                  <a:srgbClr val="F2B84B"/>
                </a:solidFill>
              </a:defRPr>
            </a:pPr>
            <a:r>
              <a:rPr sz="788" b="1">
                <a:solidFill>
                  <a:srgbClr val="F2B84B"/>
                </a:solidFill>
              </a:rPr>
              <a:t>Watch</a:t>
            </a:r>
          </a:p>
        </p:txBody>
      </p:sp>
      <p:sp>
        <p:nvSpPr>
          <p:cNvPr id="51" name="">
            <a:extLst xmlns:a="http://schemas.openxmlformats.org/drawingml/2006/main">
              <a:ext uri="{FF2B5EF4-FFF2-40B4-BE49-F238E27FC236}">
                <a16:creationId xmlns:a16="http://schemas.microsoft.com/office/drawing/2014/main" id="{22B3DAB1-443D-4E17-AFFA-55D03F947B4D}"/>
              </a:ext>
            </a:extLst>
          </p:cNvPr>
          <p:cNvSpPr>
            <a:spLocks xmlns:a="http://schemas.openxmlformats.org/drawingml/2006/main" noGrp="1"/>
          </p:cNvSpPr>
          <p:nvPr/>
        </p:nvSpPr>
        <p:spPr>
          <a:xfrm xmlns:a="http://schemas.openxmlformats.org/drawingml/2006/main">
            <a:off x="476250" y="4886325"/>
            <a:ext cx="1762125"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0">
                <a:solidFill>
                  <a:srgbClr val="183B39"/>
                </a:solidFill>
              </a:defRPr>
            </a:pPr>
            <a:r>
              <a:rPr sz="825" b="0">
                <a:solidFill>
                  <a:srgbClr val="183B39"/>
                </a:solidFill>
              </a:rPr>
              <a:t>Vishal Mega Mart</a:t>
            </a:r>
          </a:p>
        </p:txBody>
      </p:sp>
      <p:sp>
        <p:nvSpPr>
          <p:cNvPr id="52" name="">
            <a:extLst xmlns:a="http://schemas.openxmlformats.org/drawingml/2006/main">
              <a:ext uri="{FF2B5EF4-FFF2-40B4-BE49-F238E27FC236}">
                <a16:creationId xmlns:a16="http://schemas.microsoft.com/office/drawing/2014/main" id="{A8A468A6-52CC-4250-91EF-C22AA6895470}"/>
              </a:ext>
            </a:extLst>
          </p:cNvPr>
          <p:cNvSpPr>
            <a:spLocks xmlns:a="http://schemas.openxmlformats.org/drawingml/2006/main" noGrp="1"/>
          </p:cNvSpPr>
          <p:nvPr/>
        </p:nvSpPr>
        <p:spPr>
          <a:xfrm xmlns:a="http://schemas.openxmlformats.org/drawingml/2006/main">
            <a:off x="2333625" y="4886325"/>
            <a:ext cx="781050"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788" b="0">
                <a:solidFill>
                  <a:srgbClr val="5F716E"/>
                </a:solidFill>
              </a:defRPr>
            </a:pPr>
            <a:r>
              <a:rPr sz="788" b="0">
                <a:solidFill>
                  <a:srgbClr val="5F716E"/>
                </a:solidFill>
              </a:rPr>
              <a:t>₹0.31 Cr</a:t>
            </a:r>
          </a:p>
        </p:txBody>
      </p:sp>
      <p:sp>
        <p:nvSpPr>
          <p:cNvPr id="53" name="">
            <a:extLst xmlns:a="http://schemas.openxmlformats.org/drawingml/2006/main">
              <a:ext uri="{FF2B5EF4-FFF2-40B4-BE49-F238E27FC236}">
                <a16:creationId xmlns:a16="http://schemas.microsoft.com/office/drawing/2014/main" id="{E775ADBA-F191-4AF9-A22D-ED58D3CDBC31}"/>
              </a:ext>
            </a:extLst>
          </p:cNvPr>
          <p:cNvSpPr>
            <a:spLocks xmlns:a="http://schemas.openxmlformats.org/drawingml/2006/main" noGrp="1"/>
          </p:cNvSpPr>
          <p:nvPr/>
        </p:nvSpPr>
        <p:spPr>
          <a:xfrm xmlns:a="http://schemas.openxmlformats.org/drawingml/2006/main">
            <a:off x="3190875" y="4886325"/>
            <a:ext cx="781050"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788" b="1">
                <a:solidFill>
                  <a:srgbClr val="183B39"/>
                </a:solidFill>
              </a:defRPr>
            </a:pPr>
            <a:r>
              <a:rPr sz="788" b="1">
                <a:solidFill>
                  <a:srgbClr val="183B39"/>
                </a:solidFill>
              </a:rPr>
              <a:t>₹0.36 Cr</a:t>
            </a:r>
          </a:p>
        </p:txBody>
      </p:sp>
      <p:sp>
        <p:nvSpPr>
          <p:cNvPr id="54" name="">
            <a:extLst xmlns:a="http://schemas.openxmlformats.org/drawingml/2006/main">
              <a:ext uri="{FF2B5EF4-FFF2-40B4-BE49-F238E27FC236}">
                <a16:creationId xmlns:a16="http://schemas.microsoft.com/office/drawing/2014/main" id="{6186DC85-9A95-486D-B3D9-B69BFD6C6FF2}"/>
              </a:ext>
            </a:extLst>
          </p:cNvPr>
          <p:cNvSpPr>
            <a:spLocks xmlns:a="http://schemas.openxmlformats.org/drawingml/2006/main" noGrp="1"/>
          </p:cNvSpPr>
          <p:nvPr/>
        </p:nvSpPr>
        <p:spPr>
          <a:xfrm xmlns:a="http://schemas.openxmlformats.org/drawingml/2006/main">
            <a:off x="4143375" y="4886325"/>
            <a:ext cx="762000"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825" b="1">
                <a:solidFill>
                  <a:srgbClr val="2B9A66"/>
                </a:solidFill>
              </a:defRPr>
            </a:pPr>
            <a:r>
              <a:rPr sz="825" b="1">
                <a:solidFill>
                  <a:srgbClr val="2B9A66"/>
                </a:solidFill>
              </a:rPr>
              <a:t>+18.2%</a:t>
            </a:r>
          </a:p>
        </p:txBody>
      </p:sp>
      <p:sp>
        <p:nvSpPr>
          <p:cNvPr id="55" name="">
            <a:extLst xmlns:a="http://schemas.openxmlformats.org/drawingml/2006/main">
              <a:ext uri="{FF2B5EF4-FFF2-40B4-BE49-F238E27FC236}">
                <a16:creationId xmlns:a16="http://schemas.microsoft.com/office/drawing/2014/main" id="{8103A8BE-C901-4C78-B659-6BF387138ACE}"/>
              </a:ext>
            </a:extLst>
          </p:cNvPr>
          <p:cNvSpPr>
            <a:spLocks xmlns:a="http://schemas.openxmlformats.org/drawingml/2006/main" noGrp="1"/>
          </p:cNvSpPr>
          <p:nvPr/>
        </p:nvSpPr>
        <p:spPr>
          <a:xfrm xmlns:a="http://schemas.openxmlformats.org/drawingml/2006/main">
            <a:off x="5048250" y="4886325"/>
            <a:ext cx="1285875"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88" b="1">
                <a:solidFill>
                  <a:srgbClr val="2B9A66"/>
                </a:solidFill>
              </a:defRPr>
            </a:pPr>
            <a:r>
              <a:rPr sz="788" b="1">
                <a:solidFill>
                  <a:srgbClr val="2B9A66"/>
                </a:solidFill>
              </a:rPr>
              <a:t>Scale</a:t>
            </a:r>
          </a:p>
        </p:txBody>
      </p:sp>
      <p:sp>
        <p:nvSpPr>
          <p:cNvPr id="56" name="">
            <a:extLst xmlns:a="http://schemas.openxmlformats.org/drawingml/2006/main">
              <a:ext uri="{FF2B5EF4-FFF2-40B4-BE49-F238E27FC236}">
                <a16:creationId xmlns:a16="http://schemas.microsoft.com/office/drawing/2014/main" id="{437B7E1F-ACAB-49A7-8FAE-3CDDB68E75A4}"/>
              </a:ext>
            </a:extLst>
          </p:cNvPr>
          <p:cNvSpPr>
            <a:spLocks xmlns:a="http://schemas.openxmlformats.org/drawingml/2006/main" noGrp="1"/>
          </p:cNvSpPr>
          <p:nvPr/>
        </p:nvSpPr>
        <p:spPr>
          <a:xfrm xmlns:a="http://schemas.openxmlformats.org/drawingml/2006/main">
            <a:off x="361950" y="5314950"/>
            <a:ext cx="6134100" cy="390525"/>
          </a:xfrm>
          <a:prstGeom xmlns:a="http://schemas.openxmlformats.org/drawingml/2006/main" prst="rect">
            <a:avLst/>
          </a:prstGeom>
          <a:solidFill xmlns:a="http://schemas.openxmlformats.org/drawingml/2006/main">
            <a:srgbClr val="FFFFFF"/>
          </a:solidFill>
          <a:ln xmlns:a="http://schemas.openxmlformats.org/drawingml/2006/main" w="0">
            <a:solidFill>
              <a:srgbClr val="FFFFFF"/>
            </a:solidFill>
            <a:prstDash val="solid"/>
          </a:ln>
        </p:spPr>
      </p:sp>
      <p:sp>
        <p:nvSpPr>
          <p:cNvPr id="57" name="">
            <a:extLst xmlns:a="http://schemas.openxmlformats.org/drawingml/2006/main">
              <a:ext uri="{FF2B5EF4-FFF2-40B4-BE49-F238E27FC236}">
                <a16:creationId xmlns:a16="http://schemas.microsoft.com/office/drawing/2014/main" id="{D7CFB8D6-CFC8-46CC-9887-F401F7890E49}"/>
              </a:ext>
            </a:extLst>
          </p:cNvPr>
          <p:cNvSpPr>
            <a:spLocks xmlns:a="http://schemas.openxmlformats.org/drawingml/2006/main" noGrp="1"/>
          </p:cNvSpPr>
          <p:nvPr/>
        </p:nvSpPr>
        <p:spPr>
          <a:xfrm xmlns:a="http://schemas.openxmlformats.org/drawingml/2006/main">
            <a:off x="476250" y="5314950"/>
            <a:ext cx="1762125"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0">
                <a:solidFill>
                  <a:srgbClr val="183B39"/>
                </a:solidFill>
              </a:defRPr>
            </a:pPr>
            <a:r>
              <a:rPr sz="825" b="0">
                <a:solidFill>
                  <a:srgbClr val="183B39"/>
                </a:solidFill>
              </a:rPr>
              <a:t>V-Mart</a:t>
            </a:r>
          </a:p>
        </p:txBody>
      </p:sp>
      <p:sp>
        <p:nvSpPr>
          <p:cNvPr id="58" name="">
            <a:extLst xmlns:a="http://schemas.openxmlformats.org/drawingml/2006/main">
              <a:ext uri="{FF2B5EF4-FFF2-40B4-BE49-F238E27FC236}">
                <a16:creationId xmlns:a16="http://schemas.microsoft.com/office/drawing/2014/main" id="{E736FCCF-7AF2-4376-AFFE-672929070496}"/>
              </a:ext>
            </a:extLst>
          </p:cNvPr>
          <p:cNvSpPr>
            <a:spLocks xmlns:a="http://schemas.openxmlformats.org/drawingml/2006/main" noGrp="1"/>
          </p:cNvSpPr>
          <p:nvPr/>
        </p:nvSpPr>
        <p:spPr>
          <a:xfrm xmlns:a="http://schemas.openxmlformats.org/drawingml/2006/main">
            <a:off x="2333625" y="5314950"/>
            <a:ext cx="781050"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788" b="0">
                <a:solidFill>
                  <a:srgbClr val="5F716E"/>
                </a:solidFill>
              </a:defRPr>
            </a:pPr>
            <a:r>
              <a:rPr sz="788" b="0">
                <a:solidFill>
                  <a:srgbClr val="5F716E"/>
                </a:solidFill>
              </a:rPr>
              <a:t>₹0.13 Cr</a:t>
            </a:r>
          </a:p>
        </p:txBody>
      </p:sp>
      <p:sp>
        <p:nvSpPr>
          <p:cNvPr id="59" name="">
            <a:extLst xmlns:a="http://schemas.openxmlformats.org/drawingml/2006/main">
              <a:ext uri="{FF2B5EF4-FFF2-40B4-BE49-F238E27FC236}">
                <a16:creationId xmlns:a16="http://schemas.microsoft.com/office/drawing/2014/main" id="{BE2824F2-D8EF-44AB-AFB2-9B155EB8339F}"/>
              </a:ext>
            </a:extLst>
          </p:cNvPr>
          <p:cNvSpPr>
            <a:spLocks xmlns:a="http://schemas.openxmlformats.org/drawingml/2006/main" noGrp="1"/>
          </p:cNvSpPr>
          <p:nvPr/>
        </p:nvSpPr>
        <p:spPr>
          <a:xfrm xmlns:a="http://schemas.openxmlformats.org/drawingml/2006/main">
            <a:off x="3190875" y="5314950"/>
            <a:ext cx="781050"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788" b="1">
                <a:solidFill>
                  <a:srgbClr val="183B39"/>
                </a:solidFill>
              </a:defRPr>
            </a:pPr>
            <a:r>
              <a:rPr sz="788" b="1">
                <a:solidFill>
                  <a:srgbClr val="183B39"/>
                </a:solidFill>
              </a:rPr>
              <a:t>₹0.12 Cr</a:t>
            </a:r>
          </a:p>
        </p:txBody>
      </p:sp>
      <p:sp>
        <p:nvSpPr>
          <p:cNvPr id="60" name="">
            <a:extLst xmlns:a="http://schemas.openxmlformats.org/drawingml/2006/main">
              <a:ext uri="{FF2B5EF4-FFF2-40B4-BE49-F238E27FC236}">
                <a16:creationId xmlns:a16="http://schemas.microsoft.com/office/drawing/2014/main" id="{699475EB-604F-460F-B8DF-37756CB081AC}"/>
              </a:ext>
            </a:extLst>
          </p:cNvPr>
          <p:cNvSpPr>
            <a:spLocks xmlns:a="http://schemas.openxmlformats.org/drawingml/2006/main" noGrp="1"/>
          </p:cNvSpPr>
          <p:nvPr/>
        </p:nvSpPr>
        <p:spPr>
          <a:xfrm xmlns:a="http://schemas.openxmlformats.org/drawingml/2006/main">
            <a:off x="4143375" y="5314950"/>
            <a:ext cx="762000"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825" b="1">
                <a:solidFill>
                  <a:srgbClr val="F2B84B"/>
                </a:solidFill>
              </a:defRPr>
            </a:pPr>
            <a:r>
              <a:rPr sz="825" b="1">
                <a:solidFill>
                  <a:srgbClr val="F2B84B"/>
                </a:solidFill>
              </a:rPr>
              <a:t>-8.5%</a:t>
            </a:r>
          </a:p>
        </p:txBody>
      </p:sp>
      <p:sp>
        <p:nvSpPr>
          <p:cNvPr id="61" name="">
            <a:extLst xmlns:a="http://schemas.openxmlformats.org/drawingml/2006/main">
              <a:ext uri="{FF2B5EF4-FFF2-40B4-BE49-F238E27FC236}">
                <a16:creationId xmlns:a16="http://schemas.microsoft.com/office/drawing/2014/main" id="{E4163950-53A3-46A1-8C53-1C5231E8BE60}"/>
              </a:ext>
            </a:extLst>
          </p:cNvPr>
          <p:cNvSpPr>
            <a:spLocks xmlns:a="http://schemas.openxmlformats.org/drawingml/2006/main" noGrp="1"/>
          </p:cNvSpPr>
          <p:nvPr/>
        </p:nvSpPr>
        <p:spPr>
          <a:xfrm xmlns:a="http://schemas.openxmlformats.org/drawingml/2006/main">
            <a:off x="5048250" y="5314950"/>
            <a:ext cx="1285875"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88" b="1">
                <a:solidFill>
                  <a:srgbClr val="F2B84B"/>
                </a:solidFill>
              </a:defRPr>
            </a:pPr>
            <a:r>
              <a:rPr sz="788" b="1">
                <a:solidFill>
                  <a:srgbClr val="F2B84B"/>
                </a:solidFill>
              </a:rPr>
              <a:t>Watch</a:t>
            </a:r>
          </a:p>
        </p:txBody>
      </p:sp>
      <p:sp>
        <p:nvSpPr>
          <p:cNvPr id="62" name="">
            <a:extLst xmlns:a="http://schemas.openxmlformats.org/drawingml/2006/main">
              <a:ext uri="{FF2B5EF4-FFF2-40B4-BE49-F238E27FC236}">
                <a16:creationId xmlns:a16="http://schemas.microsoft.com/office/drawing/2014/main" id="{7232F6F3-F75F-4A6B-8F6F-DB695B408F94}"/>
              </a:ext>
            </a:extLst>
          </p:cNvPr>
          <p:cNvSpPr>
            <a:spLocks xmlns:a="http://schemas.openxmlformats.org/drawingml/2006/main" noGrp="1"/>
          </p:cNvSpPr>
          <p:nvPr/>
        </p:nvSpPr>
        <p:spPr>
          <a:xfrm xmlns:a="http://schemas.openxmlformats.org/drawingml/2006/main">
            <a:off x="476250" y="5743575"/>
            <a:ext cx="1762125"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0">
                <a:solidFill>
                  <a:srgbClr val="183B39"/>
                </a:solidFill>
              </a:defRPr>
            </a:pPr>
            <a:r>
              <a:rPr sz="825" b="0">
                <a:solidFill>
                  <a:srgbClr val="183B39"/>
                </a:solidFill>
              </a:rPr>
              <a:t>Spencer</a:t>
            </a:r>
          </a:p>
        </p:txBody>
      </p:sp>
      <p:sp>
        <p:nvSpPr>
          <p:cNvPr id="63" name="">
            <a:extLst xmlns:a="http://schemas.openxmlformats.org/drawingml/2006/main">
              <a:ext uri="{FF2B5EF4-FFF2-40B4-BE49-F238E27FC236}">
                <a16:creationId xmlns:a16="http://schemas.microsoft.com/office/drawing/2014/main" id="{8D573074-157C-427F-A9B9-F11C6512EAEE}"/>
              </a:ext>
            </a:extLst>
          </p:cNvPr>
          <p:cNvSpPr>
            <a:spLocks xmlns:a="http://schemas.openxmlformats.org/drawingml/2006/main" noGrp="1"/>
          </p:cNvSpPr>
          <p:nvPr/>
        </p:nvSpPr>
        <p:spPr>
          <a:xfrm xmlns:a="http://schemas.openxmlformats.org/drawingml/2006/main">
            <a:off x="2333625" y="5743575"/>
            <a:ext cx="781050"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788" b="0">
                <a:solidFill>
                  <a:srgbClr val="5F716E"/>
                </a:solidFill>
              </a:defRPr>
            </a:pPr>
            <a:r>
              <a:rPr sz="788" b="0">
                <a:solidFill>
                  <a:srgbClr val="5F716E"/>
                </a:solidFill>
              </a:rPr>
              <a:t>₹0.08 Cr</a:t>
            </a:r>
          </a:p>
        </p:txBody>
      </p:sp>
      <p:sp>
        <p:nvSpPr>
          <p:cNvPr id="64" name="">
            <a:extLst xmlns:a="http://schemas.openxmlformats.org/drawingml/2006/main">
              <a:ext uri="{FF2B5EF4-FFF2-40B4-BE49-F238E27FC236}">
                <a16:creationId xmlns:a16="http://schemas.microsoft.com/office/drawing/2014/main" id="{3AC7FFC0-7585-4150-8E9E-21D6537841F0}"/>
              </a:ext>
            </a:extLst>
          </p:cNvPr>
          <p:cNvSpPr>
            <a:spLocks xmlns:a="http://schemas.openxmlformats.org/drawingml/2006/main" noGrp="1"/>
          </p:cNvSpPr>
          <p:nvPr/>
        </p:nvSpPr>
        <p:spPr>
          <a:xfrm xmlns:a="http://schemas.openxmlformats.org/drawingml/2006/main">
            <a:off x="3190875" y="5743575"/>
            <a:ext cx="781050"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788" b="1">
                <a:solidFill>
                  <a:srgbClr val="183B39"/>
                </a:solidFill>
              </a:defRPr>
            </a:pPr>
            <a:r>
              <a:rPr sz="788" b="1">
                <a:solidFill>
                  <a:srgbClr val="183B39"/>
                </a:solidFill>
              </a:rPr>
              <a:t>₹0.09 Cr</a:t>
            </a:r>
          </a:p>
        </p:txBody>
      </p:sp>
      <p:sp>
        <p:nvSpPr>
          <p:cNvPr id="65" name="">
            <a:extLst xmlns:a="http://schemas.openxmlformats.org/drawingml/2006/main">
              <a:ext uri="{FF2B5EF4-FFF2-40B4-BE49-F238E27FC236}">
                <a16:creationId xmlns:a16="http://schemas.microsoft.com/office/drawing/2014/main" id="{26912D80-CA9E-42F9-B775-EE3FC5990D69}"/>
              </a:ext>
            </a:extLst>
          </p:cNvPr>
          <p:cNvSpPr>
            <a:spLocks xmlns:a="http://schemas.openxmlformats.org/drawingml/2006/main" noGrp="1"/>
          </p:cNvSpPr>
          <p:nvPr/>
        </p:nvSpPr>
        <p:spPr>
          <a:xfrm xmlns:a="http://schemas.openxmlformats.org/drawingml/2006/main">
            <a:off x="4143375" y="5743575"/>
            <a:ext cx="762000"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825" b="1">
                <a:solidFill>
                  <a:srgbClr val="28A596"/>
                </a:solidFill>
              </a:defRPr>
            </a:pPr>
            <a:r>
              <a:rPr sz="825" b="1">
                <a:solidFill>
                  <a:srgbClr val="28A596"/>
                </a:solidFill>
              </a:rPr>
              <a:t>+0.7%</a:t>
            </a:r>
          </a:p>
        </p:txBody>
      </p:sp>
      <p:sp>
        <p:nvSpPr>
          <p:cNvPr id="66" name="">
            <a:extLst xmlns:a="http://schemas.openxmlformats.org/drawingml/2006/main">
              <a:ext uri="{FF2B5EF4-FFF2-40B4-BE49-F238E27FC236}">
                <a16:creationId xmlns:a16="http://schemas.microsoft.com/office/drawing/2014/main" id="{FE171707-05D7-48EA-AB25-A00B216F04C5}"/>
              </a:ext>
            </a:extLst>
          </p:cNvPr>
          <p:cNvSpPr>
            <a:spLocks xmlns:a="http://schemas.openxmlformats.org/drawingml/2006/main" noGrp="1"/>
          </p:cNvSpPr>
          <p:nvPr/>
        </p:nvSpPr>
        <p:spPr>
          <a:xfrm xmlns:a="http://schemas.openxmlformats.org/drawingml/2006/main">
            <a:off x="5048250" y="5743575"/>
            <a:ext cx="1285875"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88" b="1">
                <a:solidFill>
                  <a:srgbClr val="28A596"/>
                </a:solidFill>
              </a:defRPr>
            </a:pPr>
            <a:r>
              <a:rPr sz="788" b="1">
                <a:solidFill>
                  <a:srgbClr val="28A596"/>
                </a:solidFill>
              </a:rPr>
              <a:t>Protect</a:t>
            </a:r>
          </a:p>
        </p:txBody>
      </p:sp>
      <p:sp>
        <p:nvSpPr>
          <p:cNvPr id="67" name="">
            <a:extLst xmlns:a="http://schemas.openxmlformats.org/drawingml/2006/main">
              <a:ext uri="{FF2B5EF4-FFF2-40B4-BE49-F238E27FC236}">
                <a16:creationId xmlns:a16="http://schemas.microsoft.com/office/drawing/2014/main" id="{6D3DFE1E-6D28-4822-9364-511FC29EA239}"/>
              </a:ext>
            </a:extLst>
          </p:cNvPr>
          <p:cNvSpPr>
            <a:spLocks xmlns:a="http://schemas.openxmlformats.org/drawingml/2006/main" noGrp="1"/>
          </p:cNvSpPr>
          <p:nvPr/>
        </p:nvSpPr>
        <p:spPr>
          <a:xfrm xmlns:a="http://schemas.openxmlformats.org/drawingml/2006/main">
            <a:off x="361950" y="6172200"/>
            <a:ext cx="6134100" cy="390525"/>
          </a:xfrm>
          <a:prstGeom xmlns:a="http://schemas.openxmlformats.org/drawingml/2006/main" prst="rect">
            <a:avLst/>
          </a:prstGeom>
          <a:solidFill xmlns:a="http://schemas.openxmlformats.org/drawingml/2006/main">
            <a:srgbClr val="FFFFFF"/>
          </a:solidFill>
          <a:ln xmlns:a="http://schemas.openxmlformats.org/drawingml/2006/main" w="0">
            <a:solidFill>
              <a:srgbClr val="FFFFFF"/>
            </a:solidFill>
            <a:prstDash val="solid"/>
          </a:ln>
        </p:spPr>
      </p:sp>
      <p:sp>
        <p:nvSpPr>
          <p:cNvPr id="68" name="">
            <a:extLst xmlns:a="http://schemas.openxmlformats.org/drawingml/2006/main">
              <a:ext uri="{FF2B5EF4-FFF2-40B4-BE49-F238E27FC236}">
                <a16:creationId xmlns:a16="http://schemas.microsoft.com/office/drawing/2014/main" id="{785AC899-317A-4826-B455-D8A482723725}"/>
              </a:ext>
            </a:extLst>
          </p:cNvPr>
          <p:cNvSpPr>
            <a:spLocks xmlns:a="http://schemas.openxmlformats.org/drawingml/2006/main" noGrp="1"/>
          </p:cNvSpPr>
          <p:nvPr/>
        </p:nvSpPr>
        <p:spPr>
          <a:xfrm xmlns:a="http://schemas.openxmlformats.org/drawingml/2006/main">
            <a:off x="476250" y="6172200"/>
            <a:ext cx="1762125"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0">
                <a:solidFill>
                  <a:srgbClr val="183B39"/>
                </a:solidFill>
              </a:defRPr>
            </a:pPr>
            <a:r>
              <a:rPr sz="825" b="0">
                <a:solidFill>
                  <a:srgbClr val="183B39"/>
                </a:solidFill>
              </a:rPr>
              <a:t>Arambagh</a:t>
            </a:r>
          </a:p>
        </p:txBody>
      </p:sp>
      <p:sp>
        <p:nvSpPr>
          <p:cNvPr id="69" name="">
            <a:extLst xmlns:a="http://schemas.openxmlformats.org/drawingml/2006/main">
              <a:ext uri="{FF2B5EF4-FFF2-40B4-BE49-F238E27FC236}">
                <a16:creationId xmlns:a16="http://schemas.microsoft.com/office/drawing/2014/main" id="{2DBF9917-7B9F-471B-B424-2085CB0E1538}"/>
              </a:ext>
            </a:extLst>
          </p:cNvPr>
          <p:cNvSpPr>
            <a:spLocks xmlns:a="http://schemas.openxmlformats.org/drawingml/2006/main" noGrp="1"/>
          </p:cNvSpPr>
          <p:nvPr/>
        </p:nvSpPr>
        <p:spPr>
          <a:xfrm xmlns:a="http://schemas.openxmlformats.org/drawingml/2006/main">
            <a:off x="2333625" y="6172200"/>
            <a:ext cx="781050"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788" b="0">
                <a:solidFill>
                  <a:srgbClr val="5F716E"/>
                </a:solidFill>
              </a:defRPr>
            </a:pPr>
            <a:r>
              <a:rPr sz="788" b="0">
                <a:solidFill>
                  <a:srgbClr val="5F716E"/>
                </a:solidFill>
              </a:rPr>
              <a:t>₹0.05 Cr</a:t>
            </a:r>
          </a:p>
        </p:txBody>
      </p:sp>
      <p:sp>
        <p:nvSpPr>
          <p:cNvPr id="70" name="">
            <a:extLst xmlns:a="http://schemas.openxmlformats.org/drawingml/2006/main">
              <a:ext uri="{FF2B5EF4-FFF2-40B4-BE49-F238E27FC236}">
                <a16:creationId xmlns:a16="http://schemas.microsoft.com/office/drawing/2014/main" id="{799BEB23-BD63-4D55-A80C-C1EE2EB9D0CB}"/>
              </a:ext>
            </a:extLst>
          </p:cNvPr>
          <p:cNvSpPr>
            <a:spLocks xmlns:a="http://schemas.openxmlformats.org/drawingml/2006/main" noGrp="1"/>
          </p:cNvSpPr>
          <p:nvPr/>
        </p:nvSpPr>
        <p:spPr>
          <a:xfrm xmlns:a="http://schemas.openxmlformats.org/drawingml/2006/main">
            <a:off x="3190875" y="6172200"/>
            <a:ext cx="781050"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788" b="1">
                <a:solidFill>
                  <a:srgbClr val="183B39"/>
                </a:solidFill>
              </a:defRPr>
            </a:pPr>
            <a:r>
              <a:rPr sz="788" b="1">
                <a:solidFill>
                  <a:srgbClr val="183B39"/>
                </a:solidFill>
              </a:rPr>
              <a:t>₹0.04 Cr</a:t>
            </a:r>
          </a:p>
        </p:txBody>
      </p:sp>
      <p:sp>
        <p:nvSpPr>
          <p:cNvPr id="71" name="">
            <a:extLst xmlns:a="http://schemas.openxmlformats.org/drawingml/2006/main">
              <a:ext uri="{FF2B5EF4-FFF2-40B4-BE49-F238E27FC236}">
                <a16:creationId xmlns:a16="http://schemas.microsoft.com/office/drawing/2014/main" id="{A514D445-F49D-462A-9A19-EF0F33C28D78}"/>
              </a:ext>
            </a:extLst>
          </p:cNvPr>
          <p:cNvSpPr>
            <a:spLocks xmlns:a="http://schemas.openxmlformats.org/drawingml/2006/main" noGrp="1"/>
          </p:cNvSpPr>
          <p:nvPr/>
        </p:nvSpPr>
        <p:spPr>
          <a:xfrm xmlns:a="http://schemas.openxmlformats.org/drawingml/2006/main">
            <a:off x="4143375" y="6172200"/>
            <a:ext cx="762000"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825" b="1">
                <a:solidFill>
                  <a:srgbClr val="D6544D"/>
                </a:solidFill>
              </a:defRPr>
            </a:pPr>
            <a:r>
              <a:rPr sz="825" b="1">
                <a:solidFill>
                  <a:srgbClr val="D6544D"/>
                </a:solidFill>
              </a:rPr>
              <a:t>-22.5%</a:t>
            </a:r>
          </a:p>
        </p:txBody>
      </p:sp>
      <p:sp>
        <p:nvSpPr>
          <p:cNvPr id="72" name="">
            <a:extLst xmlns:a="http://schemas.openxmlformats.org/drawingml/2006/main">
              <a:ext uri="{FF2B5EF4-FFF2-40B4-BE49-F238E27FC236}">
                <a16:creationId xmlns:a16="http://schemas.microsoft.com/office/drawing/2014/main" id="{151842D7-A55C-4BE1-AF06-E5EF8CFF0807}"/>
              </a:ext>
            </a:extLst>
          </p:cNvPr>
          <p:cNvSpPr>
            <a:spLocks xmlns:a="http://schemas.openxmlformats.org/drawingml/2006/main" noGrp="1"/>
          </p:cNvSpPr>
          <p:nvPr/>
        </p:nvSpPr>
        <p:spPr>
          <a:xfrm xmlns:a="http://schemas.openxmlformats.org/drawingml/2006/main">
            <a:off x="5048250" y="6172200"/>
            <a:ext cx="1285875"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88" b="1">
                <a:solidFill>
                  <a:srgbClr val="D6544D"/>
                </a:solidFill>
              </a:defRPr>
            </a:pPr>
            <a:r>
              <a:rPr sz="788" b="1">
                <a:solidFill>
                  <a:srgbClr val="D6544D"/>
                </a:solidFill>
              </a:rPr>
              <a:t>Recover</a:t>
            </a:r>
          </a:p>
        </p:txBody>
      </p:sp>
      <p:sp>
        <p:nvSpPr>
          <p:cNvPr id="73" name="">
            <a:extLst xmlns:a="http://schemas.openxmlformats.org/drawingml/2006/main">
              <a:ext uri="{FF2B5EF4-FFF2-40B4-BE49-F238E27FC236}">
                <a16:creationId xmlns:a16="http://schemas.microsoft.com/office/drawing/2014/main" id="{2BCC6551-780E-49D1-818D-8A06F14327F6}"/>
              </a:ext>
            </a:extLst>
          </p:cNvPr>
          <p:cNvSpPr>
            <a:spLocks xmlns:a="http://schemas.openxmlformats.org/drawingml/2006/main" noGrp="1"/>
          </p:cNvSpPr>
          <p:nvPr/>
        </p:nvSpPr>
        <p:spPr>
          <a:xfrm xmlns:a="http://schemas.openxmlformats.org/drawingml/2006/main">
            <a:off x="476250" y="6600825"/>
            <a:ext cx="1762125"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0">
                <a:solidFill>
                  <a:srgbClr val="183B39"/>
                </a:solidFill>
              </a:defRPr>
            </a:pPr>
            <a:r>
              <a:rPr sz="825" b="0">
                <a:solidFill>
                  <a:srgbClr val="183B39"/>
                </a:solidFill>
              </a:rPr>
              <a:t>Ratandeep</a:t>
            </a:r>
          </a:p>
        </p:txBody>
      </p:sp>
      <p:sp>
        <p:nvSpPr>
          <p:cNvPr id="74" name="">
            <a:extLst xmlns:a="http://schemas.openxmlformats.org/drawingml/2006/main">
              <a:ext uri="{FF2B5EF4-FFF2-40B4-BE49-F238E27FC236}">
                <a16:creationId xmlns:a16="http://schemas.microsoft.com/office/drawing/2014/main" id="{77504A7B-FAE9-475C-B5BB-0D9F7D96F57F}"/>
              </a:ext>
            </a:extLst>
          </p:cNvPr>
          <p:cNvSpPr>
            <a:spLocks xmlns:a="http://schemas.openxmlformats.org/drawingml/2006/main" noGrp="1"/>
          </p:cNvSpPr>
          <p:nvPr/>
        </p:nvSpPr>
        <p:spPr>
          <a:xfrm xmlns:a="http://schemas.openxmlformats.org/drawingml/2006/main">
            <a:off x="2333625" y="6600825"/>
            <a:ext cx="781050"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788" b="0">
                <a:solidFill>
                  <a:srgbClr val="5F716E"/>
                </a:solidFill>
              </a:defRPr>
            </a:pPr>
            <a:r>
              <a:rPr sz="788" b="0">
                <a:solidFill>
                  <a:srgbClr val="5F716E"/>
                </a:solidFill>
              </a:rPr>
              <a:t>₹0.03 Cr</a:t>
            </a:r>
          </a:p>
        </p:txBody>
      </p:sp>
      <p:sp>
        <p:nvSpPr>
          <p:cNvPr id="75" name="">
            <a:extLst xmlns:a="http://schemas.openxmlformats.org/drawingml/2006/main">
              <a:ext uri="{FF2B5EF4-FFF2-40B4-BE49-F238E27FC236}">
                <a16:creationId xmlns:a16="http://schemas.microsoft.com/office/drawing/2014/main" id="{43E475E8-1CBD-48DC-80EA-78BF51A3A868}"/>
              </a:ext>
            </a:extLst>
          </p:cNvPr>
          <p:cNvSpPr>
            <a:spLocks xmlns:a="http://schemas.openxmlformats.org/drawingml/2006/main" noGrp="1"/>
          </p:cNvSpPr>
          <p:nvPr/>
        </p:nvSpPr>
        <p:spPr>
          <a:xfrm xmlns:a="http://schemas.openxmlformats.org/drawingml/2006/main">
            <a:off x="3190875" y="6600825"/>
            <a:ext cx="781050"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788" b="1">
                <a:solidFill>
                  <a:srgbClr val="183B39"/>
                </a:solidFill>
              </a:defRPr>
            </a:pPr>
            <a:r>
              <a:rPr sz="788" b="1">
                <a:solidFill>
                  <a:srgbClr val="183B39"/>
                </a:solidFill>
              </a:rPr>
              <a:t>₹0.03 Cr</a:t>
            </a:r>
          </a:p>
        </p:txBody>
      </p:sp>
      <p:sp>
        <p:nvSpPr>
          <p:cNvPr id="76" name="">
            <a:extLst xmlns:a="http://schemas.openxmlformats.org/drawingml/2006/main">
              <a:ext uri="{FF2B5EF4-FFF2-40B4-BE49-F238E27FC236}">
                <a16:creationId xmlns:a16="http://schemas.microsoft.com/office/drawing/2014/main" id="{08904595-23CF-4C58-9FF9-DA32584D7594}"/>
              </a:ext>
            </a:extLst>
          </p:cNvPr>
          <p:cNvSpPr>
            <a:spLocks xmlns:a="http://schemas.openxmlformats.org/drawingml/2006/main" noGrp="1"/>
          </p:cNvSpPr>
          <p:nvPr/>
        </p:nvSpPr>
        <p:spPr>
          <a:xfrm xmlns:a="http://schemas.openxmlformats.org/drawingml/2006/main">
            <a:off x="4143375" y="6600825"/>
            <a:ext cx="762000"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825" b="1">
                <a:solidFill>
                  <a:srgbClr val="2B9A66"/>
                </a:solidFill>
              </a:defRPr>
            </a:pPr>
            <a:r>
              <a:rPr sz="825" b="1">
                <a:solidFill>
                  <a:srgbClr val="2B9A66"/>
                </a:solidFill>
              </a:rPr>
              <a:t>+21.5%</a:t>
            </a:r>
          </a:p>
        </p:txBody>
      </p:sp>
      <p:sp>
        <p:nvSpPr>
          <p:cNvPr id="77" name="">
            <a:extLst xmlns:a="http://schemas.openxmlformats.org/drawingml/2006/main">
              <a:ext uri="{FF2B5EF4-FFF2-40B4-BE49-F238E27FC236}">
                <a16:creationId xmlns:a16="http://schemas.microsoft.com/office/drawing/2014/main" id="{34D3B71F-04D6-499D-8B00-31EBAA5FB781}"/>
              </a:ext>
            </a:extLst>
          </p:cNvPr>
          <p:cNvSpPr>
            <a:spLocks xmlns:a="http://schemas.openxmlformats.org/drawingml/2006/main" noGrp="1"/>
          </p:cNvSpPr>
          <p:nvPr/>
        </p:nvSpPr>
        <p:spPr>
          <a:xfrm xmlns:a="http://schemas.openxmlformats.org/drawingml/2006/main">
            <a:off x="5048250" y="6600825"/>
            <a:ext cx="1285875"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88" b="1">
                <a:solidFill>
                  <a:srgbClr val="2B9A66"/>
                </a:solidFill>
              </a:defRPr>
            </a:pPr>
            <a:r>
              <a:rPr sz="788" b="1">
                <a:solidFill>
                  <a:srgbClr val="2B9A66"/>
                </a:solidFill>
              </a:rPr>
              <a:t>Scale</a:t>
            </a:r>
          </a:p>
        </p:txBody>
      </p:sp>
      <p:sp>
        <p:nvSpPr>
          <p:cNvPr id="78" name="">
            <a:extLst xmlns:a="http://schemas.openxmlformats.org/drawingml/2006/main">
              <a:ext uri="{FF2B5EF4-FFF2-40B4-BE49-F238E27FC236}">
                <a16:creationId xmlns:a16="http://schemas.microsoft.com/office/drawing/2014/main" id="{F098775D-67A3-4C62-A803-3D93A826FA50}"/>
              </a:ext>
            </a:extLst>
          </p:cNvPr>
          <p:cNvSpPr>
            <a:spLocks xmlns:a="http://schemas.openxmlformats.org/drawingml/2006/main" noGrp="1"/>
          </p:cNvSpPr>
          <p:nvPr/>
        </p:nvSpPr>
        <p:spPr>
          <a:xfrm xmlns:a="http://schemas.openxmlformats.org/drawingml/2006/main">
            <a:off x="361950" y="7029450"/>
            <a:ext cx="6134100" cy="390525"/>
          </a:xfrm>
          <a:prstGeom xmlns:a="http://schemas.openxmlformats.org/drawingml/2006/main" prst="rect">
            <a:avLst/>
          </a:prstGeom>
          <a:solidFill xmlns:a="http://schemas.openxmlformats.org/drawingml/2006/main">
            <a:srgbClr val="FFFFFF"/>
          </a:solidFill>
          <a:ln xmlns:a="http://schemas.openxmlformats.org/drawingml/2006/main" w="0">
            <a:solidFill>
              <a:srgbClr val="FFFFFF"/>
            </a:solidFill>
            <a:prstDash val="solid"/>
          </a:ln>
        </p:spPr>
      </p:sp>
      <p:sp>
        <p:nvSpPr>
          <p:cNvPr id="79" name="">
            <a:extLst xmlns:a="http://schemas.openxmlformats.org/drawingml/2006/main">
              <a:ext uri="{FF2B5EF4-FFF2-40B4-BE49-F238E27FC236}">
                <a16:creationId xmlns:a16="http://schemas.microsoft.com/office/drawing/2014/main" id="{451AFEBC-424C-47A5-BB99-A79F4B5E7ECF}"/>
              </a:ext>
            </a:extLst>
          </p:cNvPr>
          <p:cNvSpPr>
            <a:spLocks xmlns:a="http://schemas.openxmlformats.org/drawingml/2006/main" noGrp="1"/>
          </p:cNvSpPr>
          <p:nvPr/>
        </p:nvSpPr>
        <p:spPr>
          <a:xfrm xmlns:a="http://schemas.openxmlformats.org/drawingml/2006/main">
            <a:off x="476250" y="7029450"/>
            <a:ext cx="1762125"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0">
                <a:solidFill>
                  <a:srgbClr val="183B39"/>
                </a:solidFill>
              </a:defRPr>
            </a:pPr>
            <a:r>
              <a:rPr sz="825" b="0">
                <a:solidFill>
                  <a:srgbClr val="183B39"/>
                </a:solidFill>
              </a:rPr>
              <a:t>Sasta Sundar</a:t>
            </a:r>
          </a:p>
        </p:txBody>
      </p:sp>
      <p:sp>
        <p:nvSpPr>
          <p:cNvPr id="80" name="">
            <a:extLst xmlns:a="http://schemas.openxmlformats.org/drawingml/2006/main">
              <a:ext uri="{FF2B5EF4-FFF2-40B4-BE49-F238E27FC236}">
                <a16:creationId xmlns:a16="http://schemas.microsoft.com/office/drawing/2014/main" id="{01826711-BC05-4254-A67D-6949581B25B7}"/>
              </a:ext>
            </a:extLst>
          </p:cNvPr>
          <p:cNvSpPr>
            <a:spLocks xmlns:a="http://schemas.openxmlformats.org/drawingml/2006/main" noGrp="1"/>
          </p:cNvSpPr>
          <p:nvPr/>
        </p:nvSpPr>
        <p:spPr>
          <a:xfrm xmlns:a="http://schemas.openxmlformats.org/drawingml/2006/main">
            <a:off x="2333625" y="7029450"/>
            <a:ext cx="781050"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788" b="0">
                <a:solidFill>
                  <a:srgbClr val="5F716E"/>
                </a:solidFill>
              </a:defRPr>
            </a:pPr>
            <a:r>
              <a:rPr sz="788" b="0">
                <a:solidFill>
                  <a:srgbClr val="5F716E"/>
                </a:solidFill>
              </a:rPr>
              <a:t>₹0.01 Cr</a:t>
            </a:r>
          </a:p>
        </p:txBody>
      </p:sp>
      <p:sp>
        <p:nvSpPr>
          <p:cNvPr id="81" name="">
            <a:extLst xmlns:a="http://schemas.openxmlformats.org/drawingml/2006/main">
              <a:ext uri="{FF2B5EF4-FFF2-40B4-BE49-F238E27FC236}">
                <a16:creationId xmlns:a16="http://schemas.microsoft.com/office/drawing/2014/main" id="{B9F0CECF-8F05-413C-B82F-7FFA2926BBC3}"/>
              </a:ext>
            </a:extLst>
          </p:cNvPr>
          <p:cNvSpPr>
            <a:spLocks xmlns:a="http://schemas.openxmlformats.org/drawingml/2006/main" noGrp="1"/>
          </p:cNvSpPr>
          <p:nvPr/>
        </p:nvSpPr>
        <p:spPr>
          <a:xfrm xmlns:a="http://schemas.openxmlformats.org/drawingml/2006/main">
            <a:off x="3190875" y="7029450"/>
            <a:ext cx="781050"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788" b="1">
                <a:solidFill>
                  <a:srgbClr val="183B39"/>
                </a:solidFill>
              </a:defRPr>
            </a:pPr>
            <a:r>
              <a:rPr sz="788" b="1">
                <a:solidFill>
                  <a:srgbClr val="183B39"/>
                </a:solidFill>
              </a:rPr>
              <a:t>₹0.02 Cr</a:t>
            </a:r>
          </a:p>
        </p:txBody>
      </p:sp>
      <p:sp>
        <p:nvSpPr>
          <p:cNvPr id="82" name="">
            <a:extLst xmlns:a="http://schemas.openxmlformats.org/drawingml/2006/main">
              <a:ext uri="{FF2B5EF4-FFF2-40B4-BE49-F238E27FC236}">
                <a16:creationId xmlns:a16="http://schemas.microsoft.com/office/drawing/2014/main" id="{6132CD8E-B27F-4FE9-8BCD-054659E864CF}"/>
              </a:ext>
            </a:extLst>
          </p:cNvPr>
          <p:cNvSpPr>
            <a:spLocks xmlns:a="http://schemas.openxmlformats.org/drawingml/2006/main" noGrp="1"/>
          </p:cNvSpPr>
          <p:nvPr/>
        </p:nvSpPr>
        <p:spPr>
          <a:xfrm xmlns:a="http://schemas.openxmlformats.org/drawingml/2006/main">
            <a:off x="4143375" y="7029450"/>
            <a:ext cx="762000"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825" b="1">
                <a:solidFill>
                  <a:srgbClr val="2B9A66"/>
                </a:solidFill>
              </a:defRPr>
            </a:pPr>
            <a:r>
              <a:rPr sz="825" b="1">
                <a:solidFill>
                  <a:srgbClr val="2B9A66"/>
                </a:solidFill>
              </a:rPr>
              <a:t>+127.8%</a:t>
            </a:r>
          </a:p>
        </p:txBody>
      </p:sp>
      <p:sp>
        <p:nvSpPr>
          <p:cNvPr id="83" name="">
            <a:extLst xmlns:a="http://schemas.openxmlformats.org/drawingml/2006/main">
              <a:ext uri="{FF2B5EF4-FFF2-40B4-BE49-F238E27FC236}">
                <a16:creationId xmlns:a16="http://schemas.microsoft.com/office/drawing/2014/main" id="{F144291D-0B6A-4EA3-A6FC-F4E3542F2DA5}"/>
              </a:ext>
            </a:extLst>
          </p:cNvPr>
          <p:cNvSpPr>
            <a:spLocks xmlns:a="http://schemas.openxmlformats.org/drawingml/2006/main" noGrp="1"/>
          </p:cNvSpPr>
          <p:nvPr/>
        </p:nvSpPr>
        <p:spPr>
          <a:xfrm xmlns:a="http://schemas.openxmlformats.org/drawingml/2006/main">
            <a:off x="5048250" y="7029450"/>
            <a:ext cx="1285875"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88" b="1">
                <a:solidFill>
                  <a:srgbClr val="2B9A66"/>
                </a:solidFill>
              </a:defRPr>
            </a:pPr>
            <a:r>
              <a:rPr sz="788" b="1">
                <a:solidFill>
                  <a:srgbClr val="2B9A66"/>
                </a:solidFill>
              </a:rPr>
              <a:t>Scale</a:t>
            </a:r>
          </a:p>
        </p:txBody>
      </p:sp>
      <p:sp>
        <p:nvSpPr>
          <p:cNvPr id="84" name="">
            <a:extLst xmlns:a="http://schemas.openxmlformats.org/drawingml/2006/main">
              <a:ext uri="{FF2B5EF4-FFF2-40B4-BE49-F238E27FC236}">
                <a16:creationId xmlns:a16="http://schemas.microsoft.com/office/drawing/2014/main" id="{B12B33F3-6B03-4520-B296-61947AA1870A}"/>
              </a:ext>
            </a:extLst>
          </p:cNvPr>
          <p:cNvSpPr>
            <a:spLocks xmlns:a="http://schemas.openxmlformats.org/drawingml/2006/main" noGrp="1"/>
          </p:cNvSpPr>
          <p:nvPr/>
        </p:nvSpPr>
        <p:spPr>
          <a:xfrm xmlns:a="http://schemas.openxmlformats.org/drawingml/2006/main">
            <a:off x="476250" y="7458075"/>
            <a:ext cx="1762125"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0">
                <a:solidFill>
                  <a:srgbClr val="183B39"/>
                </a:solidFill>
              </a:defRPr>
            </a:pPr>
            <a:r>
              <a:rPr sz="825" b="0">
                <a:solidFill>
                  <a:srgbClr val="183B39"/>
                </a:solidFill>
              </a:rPr>
              <a:t>Sumo Save</a:t>
            </a:r>
          </a:p>
        </p:txBody>
      </p:sp>
      <p:sp>
        <p:nvSpPr>
          <p:cNvPr id="85" name="">
            <a:extLst xmlns:a="http://schemas.openxmlformats.org/drawingml/2006/main">
              <a:ext uri="{FF2B5EF4-FFF2-40B4-BE49-F238E27FC236}">
                <a16:creationId xmlns:a16="http://schemas.microsoft.com/office/drawing/2014/main" id="{6CE3E03D-374C-4083-B6DB-646D336B1A9E}"/>
              </a:ext>
            </a:extLst>
          </p:cNvPr>
          <p:cNvSpPr>
            <a:spLocks xmlns:a="http://schemas.openxmlformats.org/drawingml/2006/main" noGrp="1"/>
          </p:cNvSpPr>
          <p:nvPr/>
        </p:nvSpPr>
        <p:spPr>
          <a:xfrm xmlns:a="http://schemas.openxmlformats.org/drawingml/2006/main">
            <a:off x="2333625" y="7458075"/>
            <a:ext cx="781050"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788" b="0">
                <a:solidFill>
                  <a:srgbClr val="5F716E"/>
                </a:solidFill>
              </a:defRPr>
            </a:pPr>
            <a:r>
              <a:rPr sz="788" b="0">
                <a:solidFill>
                  <a:srgbClr val="5F716E"/>
                </a:solidFill>
              </a:rPr>
              <a:t>₹0.01 Cr</a:t>
            </a:r>
          </a:p>
        </p:txBody>
      </p:sp>
      <p:sp>
        <p:nvSpPr>
          <p:cNvPr id="86" name="">
            <a:extLst xmlns:a="http://schemas.openxmlformats.org/drawingml/2006/main">
              <a:ext uri="{FF2B5EF4-FFF2-40B4-BE49-F238E27FC236}">
                <a16:creationId xmlns:a16="http://schemas.microsoft.com/office/drawing/2014/main" id="{FEA53EC1-0439-4ABB-B556-3CE8FDB36CDF}"/>
              </a:ext>
            </a:extLst>
          </p:cNvPr>
          <p:cNvSpPr>
            <a:spLocks xmlns:a="http://schemas.openxmlformats.org/drawingml/2006/main" noGrp="1"/>
          </p:cNvSpPr>
          <p:nvPr/>
        </p:nvSpPr>
        <p:spPr>
          <a:xfrm xmlns:a="http://schemas.openxmlformats.org/drawingml/2006/main">
            <a:off x="3190875" y="7458075"/>
            <a:ext cx="781050"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788" b="1">
                <a:solidFill>
                  <a:srgbClr val="183B39"/>
                </a:solidFill>
              </a:defRPr>
            </a:pPr>
            <a:r>
              <a:rPr sz="788" b="1">
                <a:solidFill>
                  <a:srgbClr val="183B39"/>
                </a:solidFill>
              </a:rPr>
              <a:t>₹0.02 Cr</a:t>
            </a:r>
          </a:p>
        </p:txBody>
      </p:sp>
      <p:sp>
        <p:nvSpPr>
          <p:cNvPr id="87" name="">
            <a:extLst xmlns:a="http://schemas.openxmlformats.org/drawingml/2006/main">
              <a:ext uri="{FF2B5EF4-FFF2-40B4-BE49-F238E27FC236}">
                <a16:creationId xmlns:a16="http://schemas.microsoft.com/office/drawing/2014/main" id="{6CB698A2-9D1C-4537-8157-0BC1F9896DD8}"/>
              </a:ext>
            </a:extLst>
          </p:cNvPr>
          <p:cNvSpPr>
            <a:spLocks xmlns:a="http://schemas.openxmlformats.org/drawingml/2006/main" noGrp="1"/>
          </p:cNvSpPr>
          <p:nvPr/>
        </p:nvSpPr>
        <p:spPr>
          <a:xfrm xmlns:a="http://schemas.openxmlformats.org/drawingml/2006/main">
            <a:off x="4143375" y="7458075"/>
            <a:ext cx="762000"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825" b="1">
                <a:solidFill>
                  <a:srgbClr val="2B9A66"/>
                </a:solidFill>
              </a:defRPr>
            </a:pPr>
            <a:r>
              <a:rPr sz="825" b="1">
                <a:solidFill>
                  <a:srgbClr val="2B9A66"/>
                </a:solidFill>
              </a:rPr>
              <a:t>+9.8%</a:t>
            </a:r>
          </a:p>
        </p:txBody>
      </p:sp>
      <p:sp>
        <p:nvSpPr>
          <p:cNvPr id="88" name="">
            <a:extLst xmlns:a="http://schemas.openxmlformats.org/drawingml/2006/main">
              <a:ext uri="{FF2B5EF4-FFF2-40B4-BE49-F238E27FC236}">
                <a16:creationId xmlns:a16="http://schemas.microsoft.com/office/drawing/2014/main" id="{6AED1CCD-A11E-4BB7-AD41-EAC769BF54D8}"/>
              </a:ext>
            </a:extLst>
          </p:cNvPr>
          <p:cNvSpPr>
            <a:spLocks xmlns:a="http://schemas.openxmlformats.org/drawingml/2006/main" noGrp="1"/>
          </p:cNvSpPr>
          <p:nvPr/>
        </p:nvSpPr>
        <p:spPr>
          <a:xfrm xmlns:a="http://schemas.openxmlformats.org/drawingml/2006/main">
            <a:off x="5048250" y="7458075"/>
            <a:ext cx="1285875"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88" b="1">
                <a:solidFill>
                  <a:srgbClr val="2B9A66"/>
                </a:solidFill>
              </a:defRPr>
            </a:pPr>
            <a:r>
              <a:rPr sz="788" b="1">
                <a:solidFill>
                  <a:srgbClr val="2B9A66"/>
                </a:solidFill>
              </a:rPr>
              <a:t>Protect</a:t>
            </a:r>
          </a:p>
        </p:txBody>
      </p:sp>
      <p:sp>
        <p:nvSpPr>
          <p:cNvPr id="89" name="">
            <a:extLst xmlns:a="http://schemas.openxmlformats.org/drawingml/2006/main">
              <a:ext uri="{FF2B5EF4-FFF2-40B4-BE49-F238E27FC236}">
                <a16:creationId xmlns:a16="http://schemas.microsoft.com/office/drawing/2014/main" id="{16F8BE65-F80B-4945-9B55-D7981C8F8207}"/>
              </a:ext>
            </a:extLst>
          </p:cNvPr>
          <p:cNvSpPr>
            <a:spLocks xmlns:a="http://schemas.openxmlformats.org/drawingml/2006/main" noGrp="1"/>
          </p:cNvSpPr>
          <p:nvPr/>
        </p:nvSpPr>
        <p:spPr>
          <a:xfrm xmlns:a="http://schemas.openxmlformats.org/drawingml/2006/main">
            <a:off x="361950" y="8096250"/>
            <a:ext cx="6134100" cy="257175"/>
          </a:xfrm>
          <a:prstGeom xmlns:a="http://schemas.openxmlformats.org/drawingml/2006/main" prst="rect">
            <a:avLst/>
          </a:prstGeom>
          <a:solidFill xmlns:a="http://schemas.openxmlformats.org/drawingml/2006/main">
            <a:srgbClr val="116F68"/>
          </a:solidFill>
          <a:ln xmlns:a="http://schemas.openxmlformats.org/drawingml/2006/main" w="0">
            <a:solidFill>
              <a:srgbClr val="116F68"/>
            </a:solidFill>
            <a:prstDash val="solid"/>
          </a:ln>
        </p:spPr>
      </p:sp>
      <p:sp>
        <p:nvSpPr>
          <p:cNvPr id="90" name="">
            <a:extLst xmlns:a="http://schemas.openxmlformats.org/drawingml/2006/main">
              <a:ext uri="{FF2B5EF4-FFF2-40B4-BE49-F238E27FC236}">
                <a16:creationId xmlns:a16="http://schemas.microsoft.com/office/drawing/2014/main" id="{5F20282F-DC35-4FAC-AFF6-AD5F5608EA55}"/>
              </a:ext>
            </a:extLst>
          </p:cNvPr>
          <p:cNvSpPr>
            <a:spLocks xmlns:a="http://schemas.openxmlformats.org/drawingml/2006/main" noGrp="1"/>
          </p:cNvSpPr>
          <p:nvPr/>
        </p:nvSpPr>
        <p:spPr>
          <a:xfrm xmlns:a="http://schemas.openxmlformats.org/drawingml/2006/main">
            <a:off x="457200" y="8105775"/>
            <a:ext cx="59436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FFFFFF"/>
                </a:solidFill>
              </a:defRPr>
            </a:pPr>
            <a:r>
              <a:rPr sz="900" b="1">
                <a:solidFill>
                  <a:srgbClr val="FFFFFF"/>
                </a:solidFill>
              </a:rPr>
              <a:t>LEADERSHIP READOUT</a:t>
            </a:r>
          </a:p>
        </p:txBody>
      </p:sp>
      <p:sp>
        <p:nvSpPr>
          <p:cNvPr id="91" name="">
            <a:extLst xmlns:a="http://schemas.openxmlformats.org/drawingml/2006/main">
              <a:ext uri="{FF2B5EF4-FFF2-40B4-BE49-F238E27FC236}">
                <a16:creationId xmlns:a16="http://schemas.microsoft.com/office/drawing/2014/main" id="{3EDCBFE7-1033-4940-B570-0C05246B1C62}"/>
              </a:ext>
            </a:extLst>
          </p:cNvPr>
          <p:cNvSpPr>
            <a:spLocks xmlns:a="http://schemas.openxmlformats.org/drawingml/2006/main" noGrp="1"/>
          </p:cNvSpPr>
          <p:nvPr/>
        </p:nvSpPr>
        <p:spPr>
          <a:xfrm xmlns:a="http://schemas.openxmlformats.org/drawingml/2006/main">
            <a:off x="476250" y="8496300"/>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B9A66"/>
                </a:solidFill>
              </a:defRPr>
            </a:pPr>
            <a:r>
              <a:rPr sz="600" b="1">
                <a:solidFill>
                  <a:srgbClr val="2B9A66"/>
                </a:solidFill>
              </a:rPr>
              <a:t>●</a:t>
            </a:r>
          </a:p>
        </p:txBody>
      </p:sp>
      <p:sp>
        <p:nvSpPr>
          <p:cNvPr id="92" name="">
            <a:extLst xmlns:a="http://schemas.openxmlformats.org/drawingml/2006/main">
              <a:ext uri="{FF2B5EF4-FFF2-40B4-BE49-F238E27FC236}">
                <a16:creationId xmlns:a16="http://schemas.microsoft.com/office/drawing/2014/main" id="{412762E3-6C47-4D7D-A7DD-BD9893256E28}"/>
              </a:ext>
            </a:extLst>
          </p:cNvPr>
          <p:cNvSpPr>
            <a:spLocks xmlns:a="http://schemas.openxmlformats.org/drawingml/2006/main" noGrp="1"/>
          </p:cNvSpPr>
          <p:nvPr/>
        </p:nvSpPr>
        <p:spPr>
          <a:xfrm xmlns:a="http://schemas.openxmlformats.org/drawingml/2006/main">
            <a:off x="619125" y="8496300"/>
            <a:ext cx="5762625"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1">
                <a:solidFill>
                  <a:srgbClr val="183B39"/>
                </a:solidFill>
              </a:defRPr>
            </a:pPr>
            <a:r>
              <a:rPr sz="765" b="1">
                <a:solidFill>
                  <a:srgbClr val="183B39"/>
                </a:solidFill>
              </a:rPr>
              <a:t>Lulu +46.5% on a stable 19-site footprint: protect availability and copy winning store execution.</a:t>
            </a:r>
          </a:p>
        </p:txBody>
      </p:sp>
      <p:sp>
        <p:nvSpPr>
          <p:cNvPr id="93" name="">
            <a:extLst xmlns:a="http://schemas.openxmlformats.org/drawingml/2006/main">
              <a:ext uri="{FF2B5EF4-FFF2-40B4-BE49-F238E27FC236}">
                <a16:creationId xmlns:a16="http://schemas.microsoft.com/office/drawing/2014/main" id="{26377C4B-CFEB-4A26-ABD4-3F15208B4EB7}"/>
              </a:ext>
            </a:extLst>
          </p:cNvPr>
          <p:cNvSpPr>
            <a:spLocks xmlns:a="http://schemas.openxmlformats.org/drawingml/2006/main" noGrp="1"/>
          </p:cNvSpPr>
          <p:nvPr/>
        </p:nvSpPr>
        <p:spPr>
          <a:xfrm xmlns:a="http://schemas.openxmlformats.org/drawingml/2006/main">
            <a:off x="476250" y="8943975"/>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D6544D"/>
                </a:solidFill>
              </a:defRPr>
            </a:pPr>
            <a:r>
              <a:rPr sz="600" b="1">
                <a:solidFill>
                  <a:srgbClr val="D6544D"/>
                </a:solidFill>
              </a:rPr>
              <a:t>●</a:t>
            </a:r>
          </a:p>
        </p:txBody>
      </p:sp>
      <p:sp>
        <p:nvSpPr>
          <p:cNvPr id="94" name="">
            <a:extLst xmlns:a="http://schemas.openxmlformats.org/drawingml/2006/main">
              <a:ext uri="{FF2B5EF4-FFF2-40B4-BE49-F238E27FC236}">
                <a16:creationId xmlns:a16="http://schemas.microsoft.com/office/drawing/2014/main" id="{624DC318-9AAC-4029-A86F-6714B9B292BB}"/>
              </a:ext>
            </a:extLst>
          </p:cNvPr>
          <p:cNvSpPr>
            <a:spLocks xmlns:a="http://schemas.openxmlformats.org/drawingml/2006/main" noGrp="1"/>
          </p:cNvSpPr>
          <p:nvPr/>
        </p:nvSpPr>
        <p:spPr>
          <a:xfrm xmlns:a="http://schemas.openxmlformats.org/drawingml/2006/main">
            <a:off x="619125" y="8943975"/>
            <a:ext cx="5762625"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Reliance -15.0%: Mamaearth Shampoo and Sun Care are the central recovery pool; protect TDC growth.</a:t>
            </a:r>
          </a:p>
        </p:txBody>
      </p:sp>
      <p:sp>
        <p:nvSpPr>
          <p:cNvPr id="95" name="">
            <a:extLst xmlns:a="http://schemas.openxmlformats.org/drawingml/2006/main">
              <a:ext uri="{FF2B5EF4-FFF2-40B4-BE49-F238E27FC236}">
                <a16:creationId xmlns:a16="http://schemas.microsoft.com/office/drawing/2014/main" id="{57CF04A2-91C1-428B-B715-43FD128EC369}"/>
              </a:ext>
            </a:extLst>
          </p:cNvPr>
          <p:cNvSpPr>
            <a:spLocks xmlns:a="http://schemas.openxmlformats.org/drawingml/2006/main" noGrp="1"/>
          </p:cNvSpPr>
          <p:nvPr/>
        </p:nvSpPr>
        <p:spPr>
          <a:xfrm xmlns:a="http://schemas.openxmlformats.org/drawingml/2006/main">
            <a:off x="476250" y="9391650"/>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D6544D"/>
                </a:solidFill>
              </a:defRPr>
            </a:pPr>
            <a:r>
              <a:rPr sz="600" b="1">
                <a:solidFill>
                  <a:srgbClr val="D6544D"/>
                </a:solidFill>
              </a:rPr>
              <a:t>●</a:t>
            </a:r>
          </a:p>
        </p:txBody>
      </p:sp>
      <p:sp>
        <p:nvSpPr>
          <p:cNvPr id="96" name="">
            <a:extLst xmlns:a="http://schemas.openxmlformats.org/drawingml/2006/main">
              <a:ext uri="{FF2B5EF4-FFF2-40B4-BE49-F238E27FC236}">
                <a16:creationId xmlns:a16="http://schemas.microsoft.com/office/drawing/2014/main" id="{0528D4F5-3DAB-4EE2-9CF5-4BC9736A11A3}"/>
              </a:ext>
            </a:extLst>
          </p:cNvPr>
          <p:cNvSpPr>
            <a:spLocks xmlns:a="http://schemas.openxmlformats.org/drawingml/2006/main" noGrp="1"/>
          </p:cNvSpPr>
          <p:nvPr/>
        </p:nvSpPr>
        <p:spPr>
          <a:xfrm xmlns:a="http://schemas.openxmlformats.org/drawingml/2006/main">
            <a:off x="619125" y="9391650"/>
            <a:ext cx="5762625"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Metro -20.5% despite more SKUs: stop range expansion until sales/SKU and store productivity recover.</a:t>
            </a:r>
          </a:p>
        </p:txBody>
      </p:sp>
      <p:sp>
        <p:nvSpPr>
          <p:cNvPr id="97" name="">
            <a:extLst xmlns:a="http://schemas.openxmlformats.org/drawingml/2006/main">
              <a:ext uri="{FF2B5EF4-FFF2-40B4-BE49-F238E27FC236}">
                <a16:creationId xmlns:a16="http://schemas.microsoft.com/office/drawing/2014/main" id="{EBBC09DC-182B-4FC5-A1B2-FCC27CC58E45}"/>
              </a:ext>
            </a:extLst>
          </p:cNvPr>
          <p:cNvSpPr>
            <a:spLocks xmlns:a="http://schemas.openxmlformats.org/drawingml/2006/main" noGrp="1"/>
          </p:cNvSpPr>
          <p:nvPr/>
        </p:nvSpPr>
        <p:spPr>
          <a:xfrm xmlns:a="http://schemas.openxmlformats.org/drawingml/2006/main">
            <a:off x="476250" y="9839325"/>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F2B84B"/>
                </a:solidFill>
              </a:defRPr>
            </a:pPr>
            <a:r>
              <a:rPr sz="600" b="1">
                <a:solidFill>
                  <a:srgbClr val="F2B84B"/>
                </a:solidFill>
              </a:rPr>
              <a:t>●</a:t>
            </a:r>
          </a:p>
        </p:txBody>
      </p:sp>
      <p:sp>
        <p:nvSpPr>
          <p:cNvPr id="98" name="">
            <a:extLst xmlns:a="http://schemas.openxmlformats.org/drawingml/2006/main">
              <a:ext uri="{FF2B5EF4-FFF2-40B4-BE49-F238E27FC236}">
                <a16:creationId xmlns:a16="http://schemas.microsoft.com/office/drawing/2014/main" id="{D90A765C-B90F-4C7E-B444-DA4A7982E200}"/>
              </a:ext>
            </a:extLst>
          </p:cNvPr>
          <p:cNvSpPr>
            <a:spLocks xmlns:a="http://schemas.openxmlformats.org/drawingml/2006/main" noGrp="1"/>
          </p:cNvSpPr>
          <p:nvPr/>
        </p:nvSpPr>
        <p:spPr>
          <a:xfrm xmlns:a="http://schemas.openxmlformats.org/drawingml/2006/main">
            <a:off x="619125" y="9839325"/>
            <a:ext cx="5762625"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DMart -1.5% is broadly stable: TDC Face Cleanser offsets Mamaearth seasonal/mix softness.</a:t>
            </a:r>
          </a:p>
        </p:txBody>
      </p:sp>
      <p:sp>
        <p:nvSpPr>
          <p:cNvPr id="99" name="">
            <a:extLst xmlns:a="http://schemas.openxmlformats.org/drawingml/2006/main">
              <a:ext uri="{FF2B5EF4-FFF2-40B4-BE49-F238E27FC236}">
                <a16:creationId xmlns:a16="http://schemas.microsoft.com/office/drawing/2014/main" id="{A4F9DB4E-38B9-4DE6-9FE8-D72A4B988A42}"/>
              </a:ext>
            </a:extLst>
          </p:cNvPr>
          <p:cNvSpPr>
            <a:spLocks xmlns:a="http://schemas.openxmlformats.org/drawingml/2006/main" noGrp="1"/>
          </p:cNvSpPr>
          <p:nvPr/>
        </p:nvSpPr>
        <p:spPr>
          <a:xfrm xmlns:a="http://schemas.openxmlformats.org/drawingml/2006/main">
            <a:off x="476250" y="10287000"/>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8A596"/>
                </a:solidFill>
              </a:defRPr>
            </a:pPr>
            <a:r>
              <a:rPr sz="600" b="1">
                <a:solidFill>
                  <a:srgbClr val="28A596"/>
                </a:solidFill>
              </a:rPr>
              <a:t>●</a:t>
            </a:r>
          </a:p>
        </p:txBody>
      </p:sp>
      <p:sp>
        <p:nvSpPr>
          <p:cNvPr id="100" name="">
            <a:extLst xmlns:a="http://schemas.openxmlformats.org/drawingml/2006/main">
              <a:ext uri="{FF2B5EF4-FFF2-40B4-BE49-F238E27FC236}">
                <a16:creationId xmlns:a16="http://schemas.microsoft.com/office/drawing/2014/main" id="{BCB8D351-32A8-428B-A22D-539231C2332B}"/>
              </a:ext>
            </a:extLst>
          </p:cNvPr>
          <p:cNvSpPr>
            <a:spLocks xmlns:a="http://schemas.openxmlformats.org/drawingml/2006/main" noGrp="1"/>
          </p:cNvSpPr>
          <p:nvPr/>
        </p:nvSpPr>
        <p:spPr>
          <a:xfrm xmlns:a="http://schemas.openxmlformats.org/drawingml/2006/main">
            <a:off x="619125" y="10287000"/>
            <a:ext cx="5762625"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Missing July feeds are data gaps—not commercial de-growth—and remain outside the ranking.</a:t>
            </a:r>
          </a:p>
        </p:txBody>
      </p:sp>
      <p:sp>
        <p:nvSpPr>
          <p:cNvPr id="101" name="">
            <a:extLst xmlns:a="http://schemas.openxmlformats.org/drawingml/2006/main">
              <a:ext uri="{FF2B5EF4-FFF2-40B4-BE49-F238E27FC236}">
                <a16:creationId xmlns:a16="http://schemas.microsoft.com/office/drawing/2014/main" id="{7F3CECE8-6049-4AA7-844B-669F97CC11D3}"/>
              </a:ext>
            </a:extLst>
          </p:cNvPr>
          <p:cNvSpPr>
            <a:spLocks xmlns:a="http://schemas.openxmlformats.org/drawingml/2006/main" noGrp="1"/>
          </p:cNvSpPr>
          <p:nvPr/>
        </p:nvSpPr>
        <p:spPr>
          <a:xfrm xmlns:a="http://schemas.openxmlformats.org/drawingml/2006/main">
            <a:off x="361950" y="11544300"/>
            <a:ext cx="6134100" cy="457200"/>
          </a:xfrm>
          <a:prstGeom xmlns:a="http://schemas.openxmlformats.org/drawingml/2006/main" prst="roundRect">
            <a:avLst>
              <a:gd name="adj" fmla="val 16667"/>
            </a:avLst>
          </a:prstGeom>
          <a:solidFill xmlns:a="http://schemas.openxmlformats.org/drawingml/2006/main">
            <a:srgbClr val="DFF2ED"/>
          </a:solidFill>
          <a:ln xmlns:a="http://schemas.openxmlformats.org/drawingml/2006/main" w="9525">
            <a:solidFill>
              <a:srgbClr val="28A596"/>
            </a:solidFill>
            <a:prstDash val="solid"/>
          </a:ln>
        </p:spPr>
      </p:sp>
      <p:sp>
        <p:nvSpPr>
          <p:cNvPr id="102" name="">
            <a:extLst xmlns:a="http://schemas.openxmlformats.org/drawingml/2006/main">
              <a:ext uri="{FF2B5EF4-FFF2-40B4-BE49-F238E27FC236}">
                <a16:creationId xmlns:a16="http://schemas.microsoft.com/office/drawing/2014/main" id="{AD495F4F-8013-40CD-A947-70D2E59FE9AC}"/>
              </a:ext>
            </a:extLst>
          </p:cNvPr>
          <p:cNvSpPr>
            <a:spLocks xmlns:a="http://schemas.openxmlformats.org/drawingml/2006/main" noGrp="1"/>
          </p:cNvSpPr>
          <p:nvPr/>
        </p:nvSpPr>
        <p:spPr>
          <a:xfrm xmlns:a="http://schemas.openxmlformats.org/drawingml/2006/main">
            <a:off x="438150" y="11582400"/>
            <a:ext cx="142875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38" b="1">
                <a:solidFill>
                  <a:srgbClr val="116F68"/>
                </a:solidFill>
              </a:defRPr>
            </a:pPr>
            <a:r>
              <a:rPr sz="638" b="1">
                <a:solidFill>
                  <a:srgbClr val="116F68"/>
                </a:solidFill>
              </a:rPr>
              <a:t>EVIDENCE</a:t>
            </a:r>
          </a:p>
        </p:txBody>
      </p:sp>
      <p:sp>
        <p:nvSpPr>
          <p:cNvPr id="103" name="">
            <a:extLst xmlns:a="http://schemas.openxmlformats.org/drawingml/2006/main">
              <a:ext uri="{FF2B5EF4-FFF2-40B4-BE49-F238E27FC236}">
                <a16:creationId xmlns:a16="http://schemas.microsoft.com/office/drawing/2014/main" id="{927A1AB4-9F7D-4A90-93C1-668C6DCD2229}"/>
              </a:ext>
            </a:extLst>
          </p:cNvPr>
          <p:cNvSpPr>
            <a:spLocks xmlns:a="http://schemas.openxmlformats.org/drawingml/2006/main" noGrp="1"/>
          </p:cNvSpPr>
          <p:nvPr/>
        </p:nvSpPr>
        <p:spPr>
          <a:xfrm xmlns:a="http://schemas.openxmlformats.org/drawingml/2006/main">
            <a:off x="438150" y="11734800"/>
            <a:ext cx="1428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00" b="0">
                <a:solidFill>
                  <a:srgbClr val="183B39"/>
                </a:solidFill>
              </a:defRPr>
            </a:pPr>
            <a:r>
              <a:rPr sz="600" b="0">
                <a:solidFill>
                  <a:srgbClr val="183B39"/>
                </a:solidFill>
              </a:rPr>
              <a:t>Lulu +46.5%, VMM +18.2%, Sasta Sundar +127.8% are growth engines; Reliance -15.0%, Metro -20.5%, Arambagh -22.5% need urgent recovery</a:t>
            </a:r>
          </a:p>
        </p:txBody>
      </p:sp>
      <p:sp>
        <p:nvSpPr>
          <p:cNvPr id="104" name="">
            <a:extLst xmlns:a="http://schemas.openxmlformats.org/drawingml/2006/main">
              <a:ext uri="{FF2B5EF4-FFF2-40B4-BE49-F238E27FC236}">
                <a16:creationId xmlns:a16="http://schemas.microsoft.com/office/drawing/2014/main" id="{D8D1091B-6B48-42AE-B662-E5136C694FE1}"/>
              </a:ext>
            </a:extLst>
          </p:cNvPr>
          <p:cNvSpPr>
            <a:spLocks xmlns:a="http://schemas.openxmlformats.org/drawingml/2006/main" noGrp="1"/>
          </p:cNvSpPr>
          <p:nvPr/>
        </p:nvSpPr>
        <p:spPr>
          <a:xfrm xmlns:a="http://schemas.openxmlformats.org/drawingml/2006/main">
            <a:off x="1924050" y="11610975"/>
            <a:ext cx="0" cy="304800"/>
          </a:xfrm>
          <a:prstGeom xmlns:a="http://schemas.openxmlformats.org/drawingml/2006/main" prst="line">
            <a:avLst/>
          </a:prstGeom>
          <a:ln xmlns:a="http://schemas.openxmlformats.org/drawingml/2006/main" w="9525">
            <a:solidFill>
              <a:srgbClr val="C8DCD7"/>
            </a:solidFill>
            <a:prstDash val="solid"/>
          </a:ln>
        </p:spPr>
      </p:sp>
      <p:sp>
        <p:nvSpPr>
          <p:cNvPr id="105" name="">
            <a:extLst xmlns:a="http://schemas.openxmlformats.org/drawingml/2006/main">
              <a:ext uri="{FF2B5EF4-FFF2-40B4-BE49-F238E27FC236}">
                <a16:creationId xmlns:a16="http://schemas.microsoft.com/office/drawing/2014/main" id="{6A25320A-AA0A-4DEA-AE43-F3EAF203F445}"/>
              </a:ext>
            </a:extLst>
          </p:cNvPr>
          <p:cNvSpPr>
            <a:spLocks xmlns:a="http://schemas.openxmlformats.org/drawingml/2006/main" noGrp="1"/>
          </p:cNvSpPr>
          <p:nvPr/>
        </p:nvSpPr>
        <p:spPr>
          <a:xfrm xmlns:a="http://schemas.openxmlformats.org/drawingml/2006/main">
            <a:off x="1952625" y="11582400"/>
            <a:ext cx="142875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38" b="1">
                <a:solidFill>
                  <a:srgbClr val="116F68"/>
                </a:solidFill>
              </a:defRPr>
            </a:pPr>
            <a:r>
              <a:rPr sz="638" b="1">
                <a:solidFill>
                  <a:srgbClr val="116F68"/>
                </a:solidFill>
              </a:rPr>
              <a:t>IMPLICATION</a:t>
            </a:r>
          </a:p>
        </p:txBody>
      </p:sp>
      <p:sp>
        <p:nvSpPr>
          <p:cNvPr id="106" name="">
            <a:extLst xmlns:a="http://schemas.openxmlformats.org/drawingml/2006/main">
              <a:ext uri="{FF2B5EF4-FFF2-40B4-BE49-F238E27FC236}">
                <a16:creationId xmlns:a16="http://schemas.microsoft.com/office/drawing/2014/main" id="{324DFD3D-7891-4EED-82AA-AB52310FB23C}"/>
              </a:ext>
            </a:extLst>
          </p:cNvPr>
          <p:cNvSpPr>
            <a:spLocks xmlns:a="http://schemas.openxmlformats.org/drawingml/2006/main" noGrp="1"/>
          </p:cNvSpPr>
          <p:nvPr/>
        </p:nvSpPr>
        <p:spPr>
          <a:xfrm xmlns:a="http://schemas.openxmlformats.org/drawingml/2006/main">
            <a:off x="1952625" y="11734800"/>
            <a:ext cx="1428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00" b="0">
                <a:solidFill>
                  <a:srgbClr val="183B39"/>
                </a:solidFill>
              </a:defRPr>
            </a:pPr>
            <a:r>
              <a:rPr sz="600" b="0">
                <a:solidFill>
                  <a:srgbClr val="183B39"/>
                </a:solidFill>
              </a:rPr>
              <a:t>Scale and recovery chains need different resources; diverting Lulu / VMM attention to fix Reliance risks losing growth momentum in the accounts that are working</a:t>
            </a:r>
          </a:p>
        </p:txBody>
      </p:sp>
      <p:sp>
        <p:nvSpPr>
          <p:cNvPr id="107" name="">
            <a:extLst xmlns:a="http://schemas.openxmlformats.org/drawingml/2006/main">
              <a:ext uri="{FF2B5EF4-FFF2-40B4-BE49-F238E27FC236}">
                <a16:creationId xmlns:a16="http://schemas.microsoft.com/office/drawing/2014/main" id="{E230485F-F82C-44C3-8CFB-5DCA611D0466}"/>
              </a:ext>
            </a:extLst>
          </p:cNvPr>
          <p:cNvSpPr>
            <a:spLocks xmlns:a="http://schemas.openxmlformats.org/drawingml/2006/main" noGrp="1"/>
          </p:cNvSpPr>
          <p:nvPr/>
        </p:nvSpPr>
        <p:spPr>
          <a:xfrm xmlns:a="http://schemas.openxmlformats.org/drawingml/2006/main">
            <a:off x="3438525" y="11610975"/>
            <a:ext cx="0" cy="304800"/>
          </a:xfrm>
          <a:prstGeom xmlns:a="http://schemas.openxmlformats.org/drawingml/2006/main" prst="line">
            <a:avLst/>
          </a:prstGeom>
          <a:ln xmlns:a="http://schemas.openxmlformats.org/drawingml/2006/main" w="9525">
            <a:solidFill>
              <a:srgbClr val="C8DCD7"/>
            </a:solidFill>
            <a:prstDash val="solid"/>
          </a:ln>
        </p:spPr>
      </p:sp>
      <p:sp>
        <p:nvSpPr>
          <p:cNvPr id="108" name="">
            <a:extLst xmlns:a="http://schemas.openxmlformats.org/drawingml/2006/main">
              <a:ext uri="{FF2B5EF4-FFF2-40B4-BE49-F238E27FC236}">
                <a16:creationId xmlns:a16="http://schemas.microsoft.com/office/drawing/2014/main" id="{1909E5DC-039C-4221-A6C7-5F850EAE139C}"/>
              </a:ext>
            </a:extLst>
          </p:cNvPr>
          <p:cNvSpPr>
            <a:spLocks xmlns:a="http://schemas.openxmlformats.org/drawingml/2006/main" noGrp="1"/>
          </p:cNvSpPr>
          <p:nvPr/>
        </p:nvSpPr>
        <p:spPr>
          <a:xfrm xmlns:a="http://schemas.openxmlformats.org/drawingml/2006/main">
            <a:off x="3467100" y="11582400"/>
            <a:ext cx="142875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38" b="1">
                <a:solidFill>
                  <a:srgbClr val="116F68"/>
                </a:solidFill>
              </a:defRPr>
            </a:pPr>
            <a:r>
              <a:rPr sz="638" b="1">
                <a:solidFill>
                  <a:srgbClr val="116F68"/>
                </a:solidFill>
              </a:rPr>
              <a:t>ACTION</a:t>
            </a:r>
          </a:p>
        </p:txBody>
      </p:sp>
      <p:sp>
        <p:nvSpPr>
          <p:cNvPr id="109" name="">
            <a:extLst xmlns:a="http://schemas.openxmlformats.org/drawingml/2006/main">
              <a:ext uri="{FF2B5EF4-FFF2-40B4-BE49-F238E27FC236}">
                <a16:creationId xmlns:a16="http://schemas.microsoft.com/office/drawing/2014/main" id="{38B7D089-7B0D-4792-8C66-316BF9690EA8}"/>
              </a:ext>
            </a:extLst>
          </p:cNvPr>
          <p:cNvSpPr>
            <a:spLocks xmlns:a="http://schemas.openxmlformats.org/drawingml/2006/main" noGrp="1"/>
          </p:cNvSpPr>
          <p:nvPr/>
        </p:nvSpPr>
        <p:spPr>
          <a:xfrm xmlns:a="http://schemas.openxmlformats.org/drawingml/2006/main">
            <a:off x="3467100" y="11734800"/>
            <a:ext cx="1428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00" b="0">
                <a:solidFill>
                  <a:srgbClr val="183B39"/>
                </a:solidFill>
              </a:defRPr>
            </a:pPr>
            <a:r>
              <a:rPr sz="600" b="0">
                <a:solidFill>
                  <a:srgbClr val="183B39"/>
                </a:solidFill>
              </a:rPr>
              <a:t>Parallel owner loops: Reliance / Metro / Arambagh on weekly exception EAN lists; Lulu / VMM on availability protection briefs; no cross-assignment</a:t>
            </a:r>
          </a:p>
        </p:txBody>
      </p:sp>
      <p:sp>
        <p:nvSpPr>
          <p:cNvPr id="110" name="">
            <a:extLst xmlns:a="http://schemas.openxmlformats.org/drawingml/2006/main">
              <a:ext uri="{FF2B5EF4-FFF2-40B4-BE49-F238E27FC236}">
                <a16:creationId xmlns:a16="http://schemas.microsoft.com/office/drawing/2014/main" id="{F816C315-F3C1-4A09-B4E7-2D3A293E93F5}"/>
              </a:ext>
            </a:extLst>
          </p:cNvPr>
          <p:cNvSpPr>
            <a:spLocks xmlns:a="http://schemas.openxmlformats.org/drawingml/2006/main" noGrp="1"/>
          </p:cNvSpPr>
          <p:nvPr/>
        </p:nvSpPr>
        <p:spPr>
          <a:xfrm xmlns:a="http://schemas.openxmlformats.org/drawingml/2006/main">
            <a:off x="4953000" y="11610975"/>
            <a:ext cx="0" cy="304800"/>
          </a:xfrm>
          <a:prstGeom xmlns:a="http://schemas.openxmlformats.org/drawingml/2006/main" prst="line">
            <a:avLst/>
          </a:prstGeom>
          <a:ln xmlns:a="http://schemas.openxmlformats.org/drawingml/2006/main" w="9525">
            <a:solidFill>
              <a:srgbClr val="C8DCD7"/>
            </a:solidFill>
            <a:prstDash val="solid"/>
          </a:ln>
        </p:spPr>
      </p:sp>
      <p:sp>
        <p:nvSpPr>
          <p:cNvPr id="111" name="">
            <a:extLst xmlns:a="http://schemas.openxmlformats.org/drawingml/2006/main">
              <a:ext uri="{FF2B5EF4-FFF2-40B4-BE49-F238E27FC236}">
                <a16:creationId xmlns:a16="http://schemas.microsoft.com/office/drawing/2014/main" id="{C81C6347-D999-4A35-889E-0C8C84F6B5D0}"/>
              </a:ext>
            </a:extLst>
          </p:cNvPr>
          <p:cNvSpPr>
            <a:spLocks xmlns:a="http://schemas.openxmlformats.org/drawingml/2006/main" noGrp="1"/>
          </p:cNvSpPr>
          <p:nvPr/>
        </p:nvSpPr>
        <p:spPr>
          <a:xfrm xmlns:a="http://schemas.openxmlformats.org/drawingml/2006/main">
            <a:off x="4981575" y="11582400"/>
            <a:ext cx="142875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38" b="1">
                <a:solidFill>
                  <a:srgbClr val="116F68"/>
                </a:solidFill>
              </a:defRPr>
            </a:pPr>
            <a:r>
              <a:rPr sz="638" b="1">
                <a:solidFill>
                  <a:srgbClr val="116F68"/>
                </a:solidFill>
              </a:rPr>
              <a:t>OWNER</a:t>
            </a:r>
          </a:p>
        </p:txBody>
      </p:sp>
      <p:sp>
        <p:nvSpPr>
          <p:cNvPr id="112" name="">
            <a:extLst xmlns:a="http://schemas.openxmlformats.org/drawingml/2006/main">
              <a:ext uri="{FF2B5EF4-FFF2-40B4-BE49-F238E27FC236}">
                <a16:creationId xmlns:a16="http://schemas.microsoft.com/office/drawing/2014/main" id="{8F089324-E98E-410D-8DD0-203BA4D22B50}"/>
              </a:ext>
            </a:extLst>
          </p:cNvPr>
          <p:cNvSpPr>
            <a:spLocks xmlns:a="http://schemas.openxmlformats.org/drawingml/2006/main" noGrp="1"/>
          </p:cNvSpPr>
          <p:nvPr/>
        </p:nvSpPr>
        <p:spPr>
          <a:xfrm xmlns:a="http://schemas.openxmlformats.org/drawingml/2006/main">
            <a:off x="4981575" y="11734800"/>
            <a:ext cx="1428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00" b="0">
                <a:solidFill>
                  <a:srgbClr val="183B39"/>
                </a:solidFill>
              </a:defRPr>
            </a:pPr>
            <a:r>
              <a:rPr sz="600" b="0">
                <a:solidFill>
                  <a:srgbClr val="183B39"/>
                </a:solidFill>
              </a:rPr>
              <a:t>Sales Lead (owner assignment per chain) | By 25-Aug</a:t>
            </a:r>
          </a:p>
        </p:txBody>
      </p:sp>
    </p:spTree>
    <p:extLst>
      <p:ext uri="{BB962C8B-B14F-4D97-AF65-F5344CB8AC3E}">
        <p14:creationId xmlns:p14="http://schemas.microsoft.com/office/powerpoint/2010/main" val="2099237179"/>
      </p:ext>
    </p:extLst>
  </p:cSld>
</p:sld>
</file>

<file path=ppt/slides/slide13.xml><?xml version="1.0" encoding="utf-8"?>
<p:sld xmlns:p="http://schemas.openxmlformats.org/presentationml/2006/main">
  <p:cSld>
    <p:bg>
      <p:bgPr>
        <a:solidFill xmlns:a="http://schemas.openxmlformats.org/drawingml/2006/main">
          <a:srgbClr val="F7FBFA"/>
        </a:solidFill>
      </p:bgPr>
    </p:bg>
    <p:spTree>
      <p:nvGrpSpPr>
        <p:cNvPr id="1" name=""/>
        <p:cNvGrpSpPr/>
        <p:nvPr/>
      </p:nvGrpSpPr>
      <p:grpSpPr>
        <a:xfrm xmlns:a="http://schemas.openxmlformats.org/drawingml/2006/main"/>
      </p:grpSpPr>
      <p:sp>
        <p:nvSpPr>
          <p:cNvPr id="100" name="">
            <a:extLst xmlns:a="http://schemas.openxmlformats.org/drawingml/2006/main">
              <a:ext uri="{FF2B5EF4-FFF2-40B4-BE49-F238E27FC236}">
                <a16:creationId xmlns:a16="http://schemas.microsoft.com/office/drawing/2014/main" id="{300F719F-B7EF-44CD-8E59-B7C61F32818F}"/>
              </a:ext>
            </a:extLst>
          </p:cNvPr>
          <p:cNvSpPr>
            <a:spLocks xmlns:a="http://schemas.openxmlformats.org/drawingml/2006/main" noGrp="1"/>
          </p:cNvSpPr>
          <p:nvPr/>
        </p:nvSpPr>
        <p:spPr>
          <a:xfrm xmlns:a="http://schemas.openxmlformats.org/drawingml/2006/main">
            <a:off x="0" y="0"/>
            <a:ext cx="6858000" cy="1000125"/>
          </a:xfrm>
          <a:prstGeom xmlns:a="http://schemas.openxmlformats.org/drawingml/2006/main" prst="rect">
            <a:avLst/>
          </a:prstGeom>
          <a:solidFill xmlns:a="http://schemas.openxmlformats.org/drawingml/2006/main">
            <a:srgbClr val="116F68"/>
          </a:solidFill>
          <a:ln xmlns:a="http://schemas.openxmlformats.org/drawingml/2006/main" w="0">
            <a:solidFill>
              <a:srgbClr val="116F68"/>
            </a:solidFill>
            <a:prstDash val="solid"/>
          </a:ln>
        </p:spPr>
      </p:sp>
      <p:sp>
        <p:nvSpPr>
          <p:cNvPr id="2" name="">
            <a:extLst xmlns:a="http://schemas.openxmlformats.org/drawingml/2006/main">
              <a:ext uri="{FF2B5EF4-FFF2-40B4-BE49-F238E27FC236}">
                <a16:creationId xmlns:a16="http://schemas.microsoft.com/office/drawing/2014/main" id="{C2083917-8A7F-4805-8506-70A710771EE6}"/>
              </a:ext>
            </a:extLst>
          </p:cNvPr>
          <p:cNvSpPr>
            <a:spLocks xmlns:a="http://schemas.openxmlformats.org/drawingml/2006/main" noGrp="1"/>
          </p:cNvSpPr>
          <p:nvPr/>
        </p:nvSpPr>
        <p:spPr>
          <a:xfrm xmlns:a="http://schemas.openxmlformats.org/drawingml/2006/main">
            <a:off x="361950" y="228600"/>
            <a:ext cx="59055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2025" b="1">
                <a:solidFill>
                  <a:srgbClr val="FFFFFF"/>
                </a:solidFill>
              </a:defRPr>
            </a:pPr>
            <a:r>
              <a:rPr sz="2025" b="1">
                <a:solidFill>
                  <a:srgbClr val="FFFFFF"/>
                </a:solidFill>
              </a:rPr>
              <a:t>Fix the specific commercial loophole—not the whole account</a:t>
            </a:r>
          </a:p>
        </p:txBody>
      </p:sp>
      <p:sp>
        <p:nvSpPr>
          <p:cNvPr id="3" name="">
            <a:extLst xmlns:a="http://schemas.openxmlformats.org/drawingml/2006/main">
              <a:ext uri="{FF2B5EF4-FFF2-40B4-BE49-F238E27FC236}">
                <a16:creationId xmlns:a16="http://schemas.microsoft.com/office/drawing/2014/main" id="{20258D9C-3B66-4523-A989-B77C11A32F12}"/>
              </a:ext>
            </a:extLst>
          </p:cNvPr>
          <p:cNvSpPr>
            <a:spLocks xmlns:a="http://schemas.openxmlformats.org/drawingml/2006/main" noGrp="1"/>
          </p:cNvSpPr>
          <p:nvPr/>
        </p:nvSpPr>
        <p:spPr>
          <a:xfrm xmlns:a="http://schemas.openxmlformats.org/drawingml/2006/main">
            <a:off x="381000" y="695325"/>
            <a:ext cx="57150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75" b="0">
                <a:solidFill>
                  <a:srgbClr val="DFF2ED"/>
                </a:solidFill>
              </a:defRPr>
            </a:pPr>
            <a:r>
              <a:rPr sz="975" b="0">
                <a:solidFill>
                  <a:srgbClr val="DFF2ED"/>
                </a:solidFill>
              </a:rPr>
              <a:t>Chain recovery plan | evidence, action and success KPI</a:t>
            </a:r>
          </a:p>
        </p:txBody>
      </p:sp>
      <p:sp>
        <p:nvSpPr>
          <p:cNvPr id="4" name="">
            <a:extLst xmlns:a="http://schemas.openxmlformats.org/drawingml/2006/main">
              <a:ext uri="{FF2B5EF4-FFF2-40B4-BE49-F238E27FC236}">
                <a16:creationId xmlns:a16="http://schemas.microsoft.com/office/drawing/2014/main" id="{8586F3BD-FC25-4603-83AD-F7113E542B13}"/>
              </a:ext>
            </a:extLst>
          </p:cNvPr>
          <p:cNvSpPr>
            <a:spLocks xmlns:a="http://schemas.openxmlformats.org/drawingml/2006/main" noGrp="1"/>
          </p:cNvSpPr>
          <p:nvPr/>
        </p:nvSpPr>
        <p:spPr>
          <a:xfrm xmlns:a="http://schemas.openxmlformats.org/drawingml/2006/main">
            <a:off x="6191250" y="361950"/>
            <a:ext cx="3429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900" b="1">
                <a:solidFill>
                  <a:srgbClr val="FFFFFF"/>
                </a:solidFill>
              </a:defRPr>
            </a:pPr>
            <a:r>
              <a:rPr sz="900" b="1">
                <a:solidFill>
                  <a:srgbClr val="FFFFFF"/>
                </a:solidFill>
              </a:rPr>
              <a:t>13</a:t>
            </a:r>
          </a:p>
        </p:txBody>
      </p:sp>
      <p:sp>
        <p:nvSpPr>
          <p:cNvPr id="5" name="">
            <a:extLst xmlns:a="http://schemas.openxmlformats.org/drawingml/2006/main">
              <a:ext uri="{FF2B5EF4-FFF2-40B4-BE49-F238E27FC236}">
                <a16:creationId xmlns:a16="http://schemas.microsoft.com/office/drawing/2014/main" id="{23E824B4-C8F5-4D01-8671-2BCE3E4C6F93}"/>
              </a:ext>
            </a:extLst>
          </p:cNvPr>
          <p:cNvSpPr>
            <a:spLocks xmlns:a="http://schemas.openxmlformats.org/drawingml/2006/main" noGrp="1"/>
          </p:cNvSpPr>
          <p:nvPr/>
        </p:nvSpPr>
        <p:spPr>
          <a:xfrm xmlns:a="http://schemas.openxmlformats.org/drawingml/2006/main">
            <a:off x="457200" y="1238250"/>
            <a:ext cx="6038850" cy="257175"/>
          </a:xfrm>
          <a:prstGeom xmlns:a="http://schemas.openxmlformats.org/drawingml/2006/main" prst="rect">
            <a:avLst/>
          </a:prstGeom>
          <a:solidFill xmlns:a="http://schemas.openxmlformats.org/drawingml/2006/main">
            <a:srgbClr val="116F68"/>
          </a:solidFill>
          <a:ln xmlns:a="http://schemas.openxmlformats.org/drawingml/2006/main" w="0">
            <a:solidFill>
              <a:srgbClr val="116F68"/>
            </a:solidFill>
            <a:prstDash val="solid"/>
          </a:ln>
        </p:spPr>
      </p:sp>
      <p:sp>
        <p:nvSpPr>
          <p:cNvPr id="6" name="">
            <a:extLst xmlns:a="http://schemas.openxmlformats.org/drawingml/2006/main">
              <a:ext uri="{FF2B5EF4-FFF2-40B4-BE49-F238E27FC236}">
                <a16:creationId xmlns:a16="http://schemas.microsoft.com/office/drawing/2014/main" id="{2304AA9C-4265-48E2-9E45-1E7C07354EF5}"/>
              </a:ext>
            </a:extLst>
          </p:cNvPr>
          <p:cNvSpPr>
            <a:spLocks xmlns:a="http://schemas.openxmlformats.org/drawingml/2006/main" noGrp="1"/>
          </p:cNvSpPr>
          <p:nvPr/>
        </p:nvSpPr>
        <p:spPr>
          <a:xfrm xmlns:a="http://schemas.openxmlformats.org/drawingml/2006/main">
            <a:off x="552450" y="1247775"/>
            <a:ext cx="58483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FFFFFF"/>
                </a:solidFill>
              </a:defRPr>
            </a:pPr>
            <a:r>
              <a:rPr sz="900" b="1">
                <a:solidFill>
                  <a:srgbClr val="FFFFFF"/>
                </a:solidFill>
              </a:rPr>
              <a:t>CHAIN-WISE RECOVERY LOOP</a:t>
            </a:r>
          </a:p>
        </p:txBody>
      </p:sp>
      <p:sp>
        <p:nvSpPr>
          <p:cNvPr id="7" name="">
            <a:extLst xmlns:a="http://schemas.openxmlformats.org/drawingml/2006/main">
              <a:ext uri="{FF2B5EF4-FFF2-40B4-BE49-F238E27FC236}">
                <a16:creationId xmlns:a16="http://schemas.microsoft.com/office/drawing/2014/main" id="{0532FC15-D0BB-4A25-ABF6-6B72A18F1E3A}"/>
              </a:ext>
            </a:extLst>
          </p:cNvPr>
          <p:cNvSpPr>
            <a:spLocks xmlns:a="http://schemas.openxmlformats.org/drawingml/2006/main" noGrp="1"/>
          </p:cNvSpPr>
          <p:nvPr/>
        </p:nvSpPr>
        <p:spPr>
          <a:xfrm xmlns:a="http://schemas.openxmlformats.org/drawingml/2006/main">
            <a:off x="361950" y="1619250"/>
            <a:ext cx="1981200" cy="2571750"/>
          </a:xfrm>
          <a:prstGeom xmlns:a="http://schemas.openxmlformats.org/drawingml/2006/main" prst="roundRect">
            <a:avLst>
              <a:gd name="adj" fmla="val 3846"/>
            </a:avLst>
          </a:prstGeom>
          <a:solidFill xmlns:a="http://schemas.openxmlformats.org/drawingml/2006/main">
            <a:srgbClr val="FFFFFF"/>
          </a:solidFill>
          <a:ln xmlns:a="http://schemas.openxmlformats.org/drawingml/2006/main" w="9525">
            <a:solidFill>
              <a:srgbClr val="C8DCD7"/>
            </a:solidFill>
            <a:prstDash val="solid"/>
          </a:ln>
        </p:spPr>
      </p:sp>
      <p:sp>
        <p:nvSpPr>
          <p:cNvPr id="8" name="">
            <a:extLst xmlns:a="http://schemas.openxmlformats.org/drawingml/2006/main">
              <a:ext uri="{FF2B5EF4-FFF2-40B4-BE49-F238E27FC236}">
                <a16:creationId xmlns:a16="http://schemas.microsoft.com/office/drawing/2014/main" id="{4F626747-24F6-44B8-A678-CBA94C8024D4}"/>
              </a:ext>
            </a:extLst>
          </p:cNvPr>
          <p:cNvSpPr>
            <a:spLocks xmlns:a="http://schemas.openxmlformats.org/drawingml/2006/main" noGrp="1"/>
          </p:cNvSpPr>
          <p:nvPr/>
        </p:nvSpPr>
        <p:spPr>
          <a:xfrm xmlns:a="http://schemas.openxmlformats.org/drawingml/2006/main">
            <a:off x="361950" y="1619250"/>
            <a:ext cx="1981200" cy="285750"/>
          </a:xfrm>
          <a:prstGeom xmlns:a="http://schemas.openxmlformats.org/drawingml/2006/main" prst="rect">
            <a:avLst/>
          </a:prstGeom>
          <a:solidFill xmlns:a="http://schemas.openxmlformats.org/drawingml/2006/main">
            <a:srgbClr val="2B9A66"/>
          </a:solidFill>
          <a:ln xmlns:a="http://schemas.openxmlformats.org/drawingml/2006/main" w="0">
            <a:solidFill>
              <a:srgbClr val="2B9A66"/>
            </a:solidFill>
            <a:prstDash val="solid"/>
          </a:ln>
        </p:spPr>
      </p:sp>
      <p:sp>
        <p:nvSpPr>
          <p:cNvPr id="9" name="">
            <a:extLst xmlns:a="http://schemas.openxmlformats.org/drawingml/2006/main">
              <a:ext uri="{FF2B5EF4-FFF2-40B4-BE49-F238E27FC236}">
                <a16:creationId xmlns:a16="http://schemas.microsoft.com/office/drawing/2014/main" id="{2E9D8178-6D3B-4F5F-BD10-614BF60CB549}"/>
              </a:ext>
            </a:extLst>
          </p:cNvPr>
          <p:cNvSpPr>
            <a:spLocks xmlns:a="http://schemas.openxmlformats.org/drawingml/2006/main" noGrp="1"/>
          </p:cNvSpPr>
          <p:nvPr/>
        </p:nvSpPr>
        <p:spPr>
          <a:xfrm xmlns:a="http://schemas.openxmlformats.org/drawingml/2006/main">
            <a:off x="447675" y="1638300"/>
            <a:ext cx="18097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788" b="1">
                <a:solidFill>
                  <a:srgbClr val="FFFFFF"/>
                </a:solidFill>
              </a:defRPr>
            </a:pPr>
            <a:r>
              <a:rPr sz="788" b="1">
                <a:solidFill>
                  <a:srgbClr val="FFFFFF"/>
                </a:solidFill>
              </a:rPr>
              <a:t>LULU</a:t>
            </a:r>
          </a:p>
        </p:txBody>
      </p:sp>
      <p:sp>
        <p:nvSpPr>
          <p:cNvPr id="10" name="">
            <a:extLst xmlns:a="http://schemas.openxmlformats.org/drawingml/2006/main">
              <a:ext uri="{FF2B5EF4-FFF2-40B4-BE49-F238E27FC236}">
                <a16:creationId xmlns:a16="http://schemas.microsoft.com/office/drawing/2014/main" id="{0C069423-F73E-47AD-97FA-53F3FBDFAA74}"/>
              </a:ext>
            </a:extLst>
          </p:cNvPr>
          <p:cNvSpPr>
            <a:spLocks xmlns:a="http://schemas.openxmlformats.org/drawingml/2006/main" noGrp="1"/>
          </p:cNvSpPr>
          <p:nvPr/>
        </p:nvSpPr>
        <p:spPr>
          <a:xfrm xmlns:a="http://schemas.openxmlformats.org/drawingml/2006/main">
            <a:off x="495300" y="2019300"/>
            <a:ext cx="17145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900" b="1">
                <a:solidFill>
                  <a:srgbClr val="183B39"/>
                </a:solidFill>
              </a:defRPr>
            </a:pPr>
            <a:r>
              <a:rPr sz="900" b="1">
                <a:solidFill>
                  <a:srgbClr val="183B39"/>
                </a:solidFill>
              </a:rPr>
              <a:t>Scale same-store velocity</a:t>
            </a:r>
          </a:p>
        </p:txBody>
      </p:sp>
      <p:sp>
        <p:nvSpPr>
          <p:cNvPr id="11" name="">
            <a:extLst xmlns:a="http://schemas.openxmlformats.org/drawingml/2006/main">
              <a:ext uri="{FF2B5EF4-FFF2-40B4-BE49-F238E27FC236}">
                <a16:creationId xmlns:a16="http://schemas.microsoft.com/office/drawing/2014/main" id="{64DFBEB3-B847-4D9E-B2EC-114E6E94BB52}"/>
              </a:ext>
            </a:extLst>
          </p:cNvPr>
          <p:cNvSpPr>
            <a:spLocks xmlns:a="http://schemas.openxmlformats.org/drawingml/2006/main" noGrp="1"/>
          </p:cNvSpPr>
          <p:nvPr/>
        </p:nvSpPr>
        <p:spPr>
          <a:xfrm xmlns:a="http://schemas.openxmlformats.org/drawingml/2006/main">
            <a:off x="495300" y="2419350"/>
            <a:ext cx="666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38" b="1">
                <a:solidFill>
                  <a:srgbClr val="28A596"/>
                </a:solidFill>
              </a:defRPr>
            </a:pPr>
            <a:r>
              <a:rPr sz="638" b="1">
                <a:solidFill>
                  <a:srgbClr val="28A596"/>
                </a:solidFill>
              </a:rPr>
              <a:t>EVIDENCE</a:t>
            </a:r>
          </a:p>
        </p:txBody>
      </p:sp>
      <p:sp>
        <p:nvSpPr>
          <p:cNvPr id="12" name="">
            <a:extLst xmlns:a="http://schemas.openxmlformats.org/drawingml/2006/main">
              <a:ext uri="{FF2B5EF4-FFF2-40B4-BE49-F238E27FC236}">
                <a16:creationId xmlns:a16="http://schemas.microsoft.com/office/drawing/2014/main" id="{D8D6DFD8-4015-482B-B4C4-2BB1A015FA2E}"/>
              </a:ext>
            </a:extLst>
          </p:cNvPr>
          <p:cNvSpPr>
            <a:spLocks xmlns:a="http://schemas.openxmlformats.org/drawingml/2006/main" noGrp="1"/>
          </p:cNvSpPr>
          <p:nvPr/>
        </p:nvSpPr>
        <p:spPr>
          <a:xfrm xmlns:a="http://schemas.openxmlformats.org/drawingml/2006/main">
            <a:off x="495300" y="2609850"/>
            <a:ext cx="17145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98" b="0">
                <a:solidFill>
                  <a:srgbClr val="5F716E"/>
                </a:solidFill>
              </a:defRPr>
            </a:pPr>
            <a:r>
              <a:rPr sz="698" b="0">
                <a:solidFill>
                  <a:srgbClr val="5F716E"/>
                </a:solidFill>
              </a:rPr>
              <a:t>Face Cleanser, Shampoo and Sun Care growth on a stable footprint</a:t>
            </a:r>
          </a:p>
        </p:txBody>
      </p:sp>
      <p:sp>
        <p:nvSpPr>
          <p:cNvPr id="13" name="">
            <a:extLst xmlns:a="http://schemas.openxmlformats.org/drawingml/2006/main">
              <a:ext uri="{FF2B5EF4-FFF2-40B4-BE49-F238E27FC236}">
                <a16:creationId xmlns:a16="http://schemas.microsoft.com/office/drawing/2014/main" id="{B3778A75-3293-45B3-B89B-D827D6E439BB}"/>
              </a:ext>
            </a:extLst>
          </p:cNvPr>
          <p:cNvSpPr>
            <a:spLocks xmlns:a="http://schemas.openxmlformats.org/drawingml/2006/main" noGrp="1"/>
          </p:cNvSpPr>
          <p:nvPr/>
        </p:nvSpPr>
        <p:spPr>
          <a:xfrm xmlns:a="http://schemas.openxmlformats.org/drawingml/2006/main">
            <a:off x="495300" y="3143250"/>
            <a:ext cx="666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38" b="1">
                <a:solidFill>
                  <a:srgbClr val="D6544D"/>
                </a:solidFill>
              </a:defRPr>
            </a:pPr>
            <a:r>
              <a:rPr sz="638" b="1">
                <a:solidFill>
                  <a:srgbClr val="D6544D"/>
                </a:solidFill>
              </a:rPr>
              <a:t>RECOVERY</a:t>
            </a:r>
          </a:p>
        </p:txBody>
      </p:sp>
      <p:sp>
        <p:nvSpPr>
          <p:cNvPr id="14" name="">
            <a:extLst xmlns:a="http://schemas.openxmlformats.org/drawingml/2006/main">
              <a:ext uri="{FF2B5EF4-FFF2-40B4-BE49-F238E27FC236}">
                <a16:creationId xmlns:a16="http://schemas.microsoft.com/office/drawing/2014/main" id="{8E7DC376-E35D-498F-AA32-0448EF8189CE}"/>
              </a:ext>
            </a:extLst>
          </p:cNvPr>
          <p:cNvSpPr>
            <a:spLocks xmlns:a="http://schemas.openxmlformats.org/drawingml/2006/main" noGrp="1"/>
          </p:cNvSpPr>
          <p:nvPr/>
        </p:nvSpPr>
        <p:spPr>
          <a:xfrm xmlns:a="http://schemas.openxmlformats.org/drawingml/2006/main">
            <a:off x="495300" y="3324225"/>
            <a:ext cx="171450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98" b="1">
                <a:solidFill>
                  <a:srgbClr val="183B39"/>
                </a:solidFill>
              </a:defRPr>
            </a:pPr>
            <a:r>
              <a:rPr sz="698" b="1">
                <a:solidFill>
                  <a:srgbClr val="183B39"/>
                </a:solidFill>
              </a:rPr>
              <a:t>Keep hero NPI/cleanser OSA above 95%; replicate winning stores</a:t>
            </a:r>
          </a:p>
        </p:txBody>
      </p:sp>
      <p:sp>
        <p:nvSpPr>
          <p:cNvPr id="15" name="">
            <a:extLst xmlns:a="http://schemas.openxmlformats.org/drawingml/2006/main">
              <a:ext uri="{FF2B5EF4-FFF2-40B4-BE49-F238E27FC236}">
                <a16:creationId xmlns:a16="http://schemas.microsoft.com/office/drawing/2014/main" id="{2015E109-8974-40AB-8606-E4E329EE899F}"/>
              </a:ext>
            </a:extLst>
          </p:cNvPr>
          <p:cNvSpPr>
            <a:spLocks xmlns:a="http://schemas.openxmlformats.org/drawingml/2006/main" noGrp="1"/>
          </p:cNvSpPr>
          <p:nvPr/>
        </p:nvSpPr>
        <p:spPr>
          <a:xfrm xmlns:a="http://schemas.openxmlformats.org/drawingml/2006/main">
            <a:off x="495300" y="3886200"/>
            <a:ext cx="1714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60" b="1">
                <a:solidFill>
                  <a:srgbClr val="116F68"/>
                </a:solidFill>
              </a:defRPr>
            </a:pPr>
            <a:r>
              <a:rPr sz="660" b="1">
                <a:solidFill>
                  <a:srgbClr val="116F68"/>
                </a:solidFill>
              </a:rPr>
              <a:t>KPI: Sales/store and OSA</a:t>
            </a:r>
          </a:p>
        </p:txBody>
      </p:sp>
      <p:sp>
        <p:nvSpPr>
          <p:cNvPr id="16" name="">
            <a:extLst xmlns:a="http://schemas.openxmlformats.org/drawingml/2006/main">
              <a:ext uri="{FF2B5EF4-FFF2-40B4-BE49-F238E27FC236}">
                <a16:creationId xmlns:a16="http://schemas.microsoft.com/office/drawing/2014/main" id="{007FD5B9-8AFD-4A36-A0B8-6199FF70F033}"/>
              </a:ext>
            </a:extLst>
          </p:cNvPr>
          <p:cNvSpPr>
            <a:spLocks xmlns:a="http://schemas.openxmlformats.org/drawingml/2006/main" noGrp="1"/>
          </p:cNvSpPr>
          <p:nvPr/>
        </p:nvSpPr>
        <p:spPr>
          <a:xfrm xmlns:a="http://schemas.openxmlformats.org/drawingml/2006/main">
            <a:off x="2438400" y="1619250"/>
            <a:ext cx="1981200" cy="2571750"/>
          </a:xfrm>
          <a:prstGeom xmlns:a="http://schemas.openxmlformats.org/drawingml/2006/main" prst="roundRect">
            <a:avLst>
              <a:gd name="adj" fmla="val 3846"/>
            </a:avLst>
          </a:prstGeom>
          <a:solidFill xmlns:a="http://schemas.openxmlformats.org/drawingml/2006/main">
            <a:srgbClr val="FFFFFF"/>
          </a:solidFill>
          <a:ln xmlns:a="http://schemas.openxmlformats.org/drawingml/2006/main" w="9525">
            <a:solidFill>
              <a:srgbClr val="C8DCD7"/>
            </a:solidFill>
            <a:prstDash val="solid"/>
          </a:ln>
        </p:spPr>
      </p:sp>
      <p:sp>
        <p:nvSpPr>
          <p:cNvPr id="17" name="">
            <a:extLst xmlns:a="http://schemas.openxmlformats.org/drawingml/2006/main">
              <a:ext uri="{FF2B5EF4-FFF2-40B4-BE49-F238E27FC236}">
                <a16:creationId xmlns:a16="http://schemas.microsoft.com/office/drawing/2014/main" id="{BFF186E0-8D25-4425-B228-011E34EC1E76}"/>
              </a:ext>
            </a:extLst>
          </p:cNvPr>
          <p:cNvSpPr>
            <a:spLocks xmlns:a="http://schemas.openxmlformats.org/drawingml/2006/main" noGrp="1"/>
          </p:cNvSpPr>
          <p:nvPr/>
        </p:nvSpPr>
        <p:spPr>
          <a:xfrm xmlns:a="http://schemas.openxmlformats.org/drawingml/2006/main">
            <a:off x="2438400" y="1619250"/>
            <a:ext cx="1981200" cy="285750"/>
          </a:xfrm>
          <a:prstGeom xmlns:a="http://schemas.openxmlformats.org/drawingml/2006/main" prst="rect">
            <a:avLst/>
          </a:prstGeom>
          <a:solidFill xmlns:a="http://schemas.openxmlformats.org/drawingml/2006/main">
            <a:srgbClr val="D6544D"/>
          </a:solidFill>
          <a:ln xmlns:a="http://schemas.openxmlformats.org/drawingml/2006/main" w="0">
            <a:solidFill>
              <a:srgbClr val="D6544D"/>
            </a:solidFill>
            <a:prstDash val="solid"/>
          </a:ln>
        </p:spPr>
      </p:sp>
      <p:sp>
        <p:nvSpPr>
          <p:cNvPr id="18" name="">
            <a:extLst xmlns:a="http://schemas.openxmlformats.org/drawingml/2006/main">
              <a:ext uri="{FF2B5EF4-FFF2-40B4-BE49-F238E27FC236}">
                <a16:creationId xmlns:a16="http://schemas.microsoft.com/office/drawing/2014/main" id="{8E9ACABF-5EA1-4F86-B96C-98C815349162}"/>
              </a:ext>
            </a:extLst>
          </p:cNvPr>
          <p:cNvSpPr>
            <a:spLocks xmlns:a="http://schemas.openxmlformats.org/drawingml/2006/main" noGrp="1"/>
          </p:cNvSpPr>
          <p:nvPr/>
        </p:nvSpPr>
        <p:spPr>
          <a:xfrm xmlns:a="http://schemas.openxmlformats.org/drawingml/2006/main">
            <a:off x="2524125" y="1638300"/>
            <a:ext cx="18097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788" b="1">
                <a:solidFill>
                  <a:srgbClr val="FFFFFF"/>
                </a:solidFill>
              </a:defRPr>
            </a:pPr>
            <a:r>
              <a:rPr sz="788" b="1">
                <a:solidFill>
                  <a:srgbClr val="FFFFFF"/>
                </a:solidFill>
              </a:rPr>
              <a:t>RELIANCE</a:t>
            </a:r>
          </a:p>
        </p:txBody>
      </p:sp>
      <p:sp>
        <p:nvSpPr>
          <p:cNvPr id="19" name="">
            <a:extLst xmlns:a="http://schemas.openxmlformats.org/drawingml/2006/main">
              <a:ext uri="{FF2B5EF4-FFF2-40B4-BE49-F238E27FC236}">
                <a16:creationId xmlns:a16="http://schemas.microsoft.com/office/drawing/2014/main" id="{51E3586F-4586-4B7E-8966-AD136927BE6B}"/>
              </a:ext>
            </a:extLst>
          </p:cNvPr>
          <p:cNvSpPr>
            <a:spLocks xmlns:a="http://schemas.openxmlformats.org/drawingml/2006/main" noGrp="1"/>
          </p:cNvSpPr>
          <p:nvPr/>
        </p:nvSpPr>
        <p:spPr>
          <a:xfrm xmlns:a="http://schemas.openxmlformats.org/drawingml/2006/main">
            <a:off x="2571750" y="2019300"/>
            <a:ext cx="17145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900" b="1">
                <a:solidFill>
                  <a:srgbClr val="183B39"/>
                </a:solidFill>
              </a:defRPr>
            </a:pPr>
            <a:r>
              <a:rPr sz="900" b="1">
                <a:solidFill>
                  <a:srgbClr val="183B39"/>
                </a:solidFill>
              </a:rPr>
              <a:t>Mamaearth mix erosion</a:t>
            </a:r>
          </a:p>
        </p:txBody>
      </p:sp>
      <p:sp>
        <p:nvSpPr>
          <p:cNvPr id="20" name="">
            <a:extLst xmlns:a="http://schemas.openxmlformats.org/drawingml/2006/main">
              <a:ext uri="{FF2B5EF4-FFF2-40B4-BE49-F238E27FC236}">
                <a16:creationId xmlns:a16="http://schemas.microsoft.com/office/drawing/2014/main" id="{A86F4904-8C15-4BF9-887B-187FD6E857CF}"/>
              </a:ext>
            </a:extLst>
          </p:cNvPr>
          <p:cNvSpPr>
            <a:spLocks xmlns:a="http://schemas.openxmlformats.org/drawingml/2006/main" noGrp="1"/>
          </p:cNvSpPr>
          <p:nvPr/>
        </p:nvSpPr>
        <p:spPr>
          <a:xfrm xmlns:a="http://schemas.openxmlformats.org/drawingml/2006/main">
            <a:off x="2571750" y="2419350"/>
            <a:ext cx="666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38" b="1">
                <a:solidFill>
                  <a:srgbClr val="28A596"/>
                </a:solidFill>
              </a:defRPr>
            </a:pPr>
            <a:r>
              <a:rPr sz="638" b="1">
                <a:solidFill>
                  <a:srgbClr val="28A596"/>
                </a:solidFill>
              </a:rPr>
              <a:t>EVIDENCE</a:t>
            </a:r>
          </a:p>
        </p:txBody>
      </p:sp>
      <p:sp>
        <p:nvSpPr>
          <p:cNvPr id="21" name="">
            <a:extLst xmlns:a="http://schemas.openxmlformats.org/drawingml/2006/main">
              <a:ext uri="{FF2B5EF4-FFF2-40B4-BE49-F238E27FC236}">
                <a16:creationId xmlns:a16="http://schemas.microsoft.com/office/drawing/2014/main" id="{1FF0880C-AC04-4A56-B7D5-83D073CA46C7}"/>
              </a:ext>
            </a:extLst>
          </p:cNvPr>
          <p:cNvSpPr>
            <a:spLocks xmlns:a="http://schemas.openxmlformats.org/drawingml/2006/main" noGrp="1"/>
          </p:cNvSpPr>
          <p:nvPr/>
        </p:nvSpPr>
        <p:spPr>
          <a:xfrm xmlns:a="http://schemas.openxmlformats.org/drawingml/2006/main">
            <a:off x="2571750" y="2609850"/>
            <a:ext cx="17145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98" b="0">
                <a:solidFill>
                  <a:srgbClr val="5F716E"/>
                </a:solidFill>
              </a:defRPr>
            </a:pPr>
            <a:r>
              <a:rPr sz="698" b="0">
                <a:solidFill>
                  <a:srgbClr val="5F716E"/>
                </a:solidFill>
              </a:rPr>
              <a:t>Shampoo and Sun Care explain most of the decline</a:t>
            </a:r>
          </a:p>
        </p:txBody>
      </p:sp>
      <p:sp>
        <p:nvSpPr>
          <p:cNvPr id="22" name="">
            <a:extLst xmlns:a="http://schemas.openxmlformats.org/drawingml/2006/main">
              <a:ext uri="{FF2B5EF4-FFF2-40B4-BE49-F238E27FC236}">
                <a16:creationId xmlns:a16="http://schemas.microsoft.com/office/drawing/2014/main" id="{182207B6-C45A-4CD0-B56E-9825175D8CA3}"/>
              </a:ext>
            </a:extLst>
          </p:cNvPr>
          <p:cNvSpPr>
            <a:spLocks xmlns:a="http://schemas.openxmlformats.org/drawingml/2006/main" noGrp="1"/>
          </p:cNvSpPr>
          <p:nvPr/>
        </p:nvSpPr>
        <p:spPr>
          <a:xfrm xmlns:a="http://schemas.openxmlformats.org/drawingml/2006/main">
            <a:off x="2571750" y="3143250"/>
            <a:ext cx="666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38" b="1">
                <a:solidFill>
                  <a:srgbClr val="D6544D"/>
                </a:solidFill>
              </a:defRPr>
            </a:pPr>
            <a:r>
              <a:rPr sz="638" b="1">
                <a:solidFill>
                  <a:srgbClr val="D6544D"/>
                </a:solidFill>
              </a:rPr>
              <a:t>RECOVERY</a:t>
            </a:r>
          </a:p>
        </p:txBody>
      </p:sp>
      <p:sp>
        <p:nvSpPr>
          <p:cNvPr id="23" name="">
            <a:extLst xmlns:a="http://schemas.openxmlformats.org/drawingml/2006/main">
              <a:ext uri="{FF2B5EF4-FFF2-40B4-BE49-F238E27FC236}">
                <a16:creationId xmlns:a16="http://schemas.microsoft.com/office/drawing/2014/main" id="{12D6A5D8-405E-4947-BED9-21F73F28877D}"/>
              </a:ext>
            </a:extLst>
          </p:cNvPr>
          <p:cNvSpPr>
            <a:spLocks xmlns:a="http://schemas.openxmlformats.org/drawingml/2006/main" noGrp="1"/>
          </p:cNvSpPr>
          <p:nvPr/>
        </p:nvSpPr>
        <p:spPr>
          <a:xfrm xmlns:a="http://schemas.openxmlformats.org/drawingml/2006/main">
            <a:off x="2571750" y="3324225"/>
            <a:ext cx="171450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98" b="1">
                <a:solidFill>
                  <a:srgbClr val="183B39"/>
                </a:solidFill>
              </a:defRPr>
            </a:pPr>
            <a:r>
              <a:rPr sz="698" b="1">
                <a:solidFill>
                  <a:srgbClr val="183B39"/>
                </a:solidFill>
              </a:rPr>
              <a:t>Recover top declining Mamaearth EAN-store pairs; protect TDC growth</a:t>
            </a:r>
          </a:p>
        </p:txBody>
      </p:sp>
      <p:sp>
        <p:nvSpPr>
          <p:cNvPr id="24" name="">
            <a:extLst xmlns:a="http://schemas.openxmlformats.org/drawingml/2006/main">
              <a:ext uri="{FF2B5EF4-FFF2-40B4-BE49-F238E27FC236}">
                <a16:creationId xmlns:a16="http://schemas.microsoft.com/office/drawing/2014/main" id="{D5C02549-6F0A-4201-9748-DBFAF5E85411}"/>
              </a:ext>
            </a:extLst>
          </p:cNvPr>
          <p:cNvSpPr>
            <a:spLocks xmlns:a="http://schemas.openxmlformats.org/drawingml/2006/main" noGrp="1"/>
          </p:cNvSpPr>
          <p:nvPr/>
        </p:nvSpPr>
        <p:spPr>
          <a:xfrm xmlns:a="http://schemas.openxmlformats.org/drawingml/2006/main">
            <a:off x="2571750" y="3886200"/>
            <a:ext cx="1714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60" b="1">
                <a:solidFill>
                  <a:srgbClr val="116F68"/>
                </a:solidFill>
              </a:defRPr>
            </a:pPr>
            <a:r>
              <a:rPr sz="660" b="1">
                <a:solidFill>
                  <a:srgbClr val="116F68"/>
                </a:solidFill>
              </a:rPr>
              <a:t>KPI: Weekly lost sales and conversion</a:t>
            </a:r>
          </a:p>
        </p:txBody>
      </p:sp>
      <p:sp>
        <p:nvSpPr>
          <p:cNvPr id="25" name="">
            <a:extLst xmlns:a="http://schemas.openxmlformats.org/drawingml/2006/main">
              <a:ext uri="{FF2B5EF4-FFF2-40B4-BE49-F238E27FC236}">
                <a16:creationId xmlns:a16="http://schemas.microsoft.com/office/drawing/2014/main" id="{105952E9-F31A-4243-BC33-0464F6958F3F}"/>
              </a:ext>
            </a:extLst>
          </p:cNvPr>
          <p:cNvSpPr>
            <a:spLocks xmlns:a="http://schemas.openxmlformats.org/drawingml/2006/main" noGrp="1"/>
          </p:cNvSpPr>
          <p:nvPr/>
        </p:nvSpPr>
        <p:spPr>
          <a:xfrm xmlns:a="http://schemas.openxmlformats.org/drawingml/2006/main">
            <a:off x="4514850" y="1619250"/>
            <a:ext cx="1981200" cy="2571750"/>
          </a:xfrm>
          <a:prstGeom xmlns:a="http://schemas.openxmlformats.org/drawingml/2006/main" prst="roundRect">
            <a:avLst>
              <a:gd name="adj" fmla="val 3846"/>
            </a:avLst>
          </a:prstGeom>
          <a:solidFill xmlns:a="http://schemas.openxmlformats.org/drawingml/2006/main">
            <a:srgbClr val="FFFFFF"/>
          </a:solidFill>
          <a:ln xmlns:a="http://schemas.openxmlformats.org/drawingml/2006/main" w="9525">
            <a:solidFill>
              <a:srgbClr val="C8DCD7"/>
            </a:solidFill>
            <a:prstDash val="solid"/>
          </a:ln>
        </p:spPr>
      </p:sp>
      <p:sp>
        <p:nvSpPr>
          <p:cNvPr id="26" name="">
            <a:extLst xmlns:a="http://schemas.openxmlformats.org/drawingml/2006/main">
              <a:ext uri="{FF2B5EF4-FFF2-40B4-BE49-F238E27FC236}">
                <a16:creationId xmlns:a16="http://schemas.microsoft.com/office/drawing/2014/main" id="{2DC80A4E-2E09-4EA4-8271-D3CD7F9516D9}"/>
              </a:ext>
            </a:extLst>
          </p:cNvPr>
          <p:cNvSpPr>
            <a:spLocks xmlns:a="http://schemas.openxmlformats.org/drawingml/2006/main" noGrp="1"/>
          </p:cNvSpPr>
          <p:nvPr/>
        </p:nvSpPr>
        <p:spPr>
          <a:xfrm xmlns:a="http://schemas.openxmlformats.org/drawingml/2006/main">
            <a:off x="4514850" y="1619250"/>
            <a:ext cx="1981200" cy="285750"/>
          </a:xfrm>
          <a:prstGeom xmlns:a="http://schemas.openxmlformats.org/drawingml/2006/main" prst="rect">
            <a:avLst/>
          </a:prstGeom>
          <a:solidFill xmlns:a="http://schemas.openxmlformats.org/drawingml/2006/main">
            <a:srgbClr val="116F68"/>
          </a:solidFill>
          <a:ln xmlns:a="http://schemas.openxmlformats.org/drawingml/2006/main" w="0">
            <a:solidFill>
              <a:srgbClr val="116F68"/>
            </a:solidFill>
            <a:prstDash val="solid"/>
          </a:ln>
        </p:spPr>
      </p:sp>
      <p:sp>
        <p:nvSpPr>
          <p:cNvPr id="27" name="">
            <a:extLst xmlns:a="http://schemas.openxmlformats.org/drawingml/2006/main">
              <a:ext uri="{FF2B5EF4-FFF2-40B4-BE49-F238E27FC236}">
                <a16:creationId xmlns:a16="http://schemas.microsoft.com/office/drawing/2014/main" id="{474FABF5-9A31-41E5-A3ED-B3075799ED9A}"/>
              </a:ext>
            </a:extLst>
          </p:cNvPr>
          <p:cNvSpPr>
            <a:spLocks xmlns:a="http://schemas.openxmlformats.org/drawingml/2006/main" noGrp="1"/>
          </p:cNvSpPr>
          <p:nvPr/>
        </p:nvSpPr>
        <p:spPr>
          <a:xfrm xmlns:a="http://schemas.openxmlformats.org/drawingml/2006/main">
            <a:off x="4600575" y="1638300"/>
            <a:ext cx="18097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788" b="1">
                <a:solidFill>
                  <a:srgbClr val="FFFFFF"/>
                </a:solidFill>
              </a:defRPr>
            </a:pPr>
            <a:r>
              <a:rPr sz="788" b="1">
                <a:solidFill>
                  <a:srgbClr val="FFFFFF"/>
                </a:solidFill>
              </a:rPr>
              <a:t>DMART</a:t>
            </a:r>
          </a:p>
        </p:txBody>
      </p:sp>
      <p:sp>
        <p:nvSpPr>
          <p:cNvPr id="28" name="">
            <a:extLst xmlns:a="http://schemas.openxmlformats.org/drawingml/2006/main">
              <a:ext uri="{FF2B5EF4-FFF2-40B4-BE49-F238E27FC236}">
                <a16:creationId xmlns:a16="http://schemas.microsoft.com/office/drawing/2014/main" id="{AB751861-A3EB-4FFA-9328-267D03C42256}"/>
              </a:ext>
            </a:extLst>
          </p:cNvPr>
          <p:cNvSpPr>
            <a:spLocks xmlns:a="http://schemas.openxmlformats.org/drawingml/2006/main" noGrp="1"/>
          </p:cNvSpPr>
          <p:nvPr/>
        </p:nvSpPr>
        <p:spPr>
          <a:xfrm xmlns:a="http://schemas.openxmlformats.org/drawingml/2006/main">
            <a:off x="4648200" y="2019300"/>
            <a:ext cx="17145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900" b="1">
                <a:solidFill>
                  <a:srgbClr val="183B39"/>
                </a:solidFill>
              </a:defRPr>
            </a:pPr>
            <a:r>
              <a:rPr sz="900" b="1">
                <a:solidFill>
                  <a:srgbClr val="183B39"/>
                </a:solidFill>
              </a:rPr>
              <a:t>Brand mix shift</a:t>
            </a:r>
          </a:p>
        </p:txBody>
      </p:sp>
      <p:sp>
        <p:nvSpPr>
          <p:cNvPr id="29" name="">
            <a:extLst xmlns:a="http://schemas.openxmlformats.org/drawingml/2006/main">
              <a:ext uri="{FF2B5EF4-FFF2-40B4-BE49-F238E27FC236}">
                <a16:creationId xmlns:a16="http://schemas.microsoft.com/office/drawing/2014/main" id="{A94C3A84-30DE-4C8A-B334-8CDB54FE2D17}"/>
              </a:ext>
            </a:extLst>
          </p:cNvPr>
          <p:cNvSpPr>
            <a:spLocks xmlns:a="http://schemas.openxmlformats.org/drawingml/2006/main" noGrp="1"/>
          </p:cNvSpPr>
          <p:nvPr/>
        </p:nvSpPr>
        <p:spPr>
          <a:xfrm xmlns:a="http://schemas.openxmlformats.org/drawingml/2006/main">
            <a:off x="4648200" y="2419350"/>
            <a:ext cx="666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38" b="1">
                <a:solidFill>
                  <a:srgbClr val="28A596"/>
                </a:solidFill>
              </a:defRPr>
            </a:pPr>
            <a:r>
              <a:rPr sz="638" b="1">
                <a:solidFill>
                  <a:srgbClr val="28A596"/>
                </a:solidFill>
              </a:rPr>
              <a:t>EVIDENCE</a:t>
            </a:r>
          </a:p>
        </p:txBody>
      </p:sp>
      <p:sp>
        <p:nvSpPr>
          <p:cNvPr id="30" name="">
            <a:extLst xmlns:a="http://schemas.openxmlformats.org/drawingml/2006/main">
              <a:ext uri="{FF2B5EF4-FFF2-40B4-BE49-F238E27FC236}">
                <a16:creationId xmlns:a16="http://schemas.microsoft.com/office/drawing/2014/main" id="{75C256BB-2D6A-4102-A7EC-3EEAA3382F32}"/>
              </a:ext>
            </a:extLst>
          </p:cNvPr>
          <p:cNvSpPr>
            <a:spLocks xmlns:a="http://schemas.openxmlformats.org/drawingml/2006/main" noGrp="1"/>
          </p:cNvSpPr>
          <p:nvPr/>
        </p:nvSpPr>
        <p:spPr>
          <a:xfrm xmlns:a="http://schemas.openxmlformats.org/drawingml/2006/main">
            <a:off x="4648200" y="2609850"/>
            <a:ext cx="17145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98" b="0">
                <a:solidFill>
                  <a:srgbClr val="5F716E"/>
                </a:solidFill>
              </a:defRPr>
            </a:pPr>
            <a:r>
              <a:rPr sz="698" b="0">
                <a:solidFill>
                  <a:srgbClr val="5F716E"/>
                </a:solidFill>
              </a:rPr>
              <a:t>TDC Face Cleanser offsets Mamaearth Sun Care/Shampoo</a:t>
            </a:r>
          </a:p>
        </p:txBody>
      </p:sp>
      <p:sp>
        <p:nvSpPr>
          <p:cNvPr id="31" name="">
            <a:extLst xmlns:a="http://schemas.openxmlformats.org/drawingml/2006/main">
              <a:ext uri="{FF2B5EF4-FFF2-40B4-BE49-F238E27FC236}">
                <a16:creationId xmlns:a16="http://schemas.microsoft.com/office/drawing/2014/main" id="{8D6B427B-F36E-4D28-A3C0-FF46B8313A82}"/>
              </a:ext>
            </a:extLst>
          </p:cNvPr>
          <p:cNvSpPr>
            <a:spLocks xmlns:a="http://schemas.openxmlformats.org/drawingml/2006/main" noGrp="1"/>
          </p:cNvSpPr>
          <p:nvPr/>
        </p:nvSpPr>
        <p:spPr>
          <a:xfrm xmlns:a="http://schemas.openxmlformats.org/drawingml/2006/main">
            <a:off x="4648200" y="3143250"/>
            <a:ext cx="666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38" b="1">
                <a:solidFill>
                  <a:srgbClr val="D6544D"/>
                </a:solidFill>
              </a:defRPr>
            </a:pPr>
            <a:r>
              <a:rPr sz="638" b="1">
                <a:solidFill>
                  <a:srgbClr val="D6544D"/>
                </a:solidFill>
              </a:rPr>
              <a:t>RECOVERY</a:t>
            </a:r>
          </a:p>
        </p:txBody>
      </p:sp>
      <p:sp>
        <p:nvSpPr>
          <p:cNvPr id="32" name="">
            <a:extLst xmlns:a="http://schemas.openxmlformats.org/drawingml/2006/main">
              <a:ext uri="{FF2B5EF4-FFF2-40B4-BE49-F238E27FC236}">
                <a16:creationId xmlns:a16="http://schemas.microsoft.com/office/drawing/2014/main" id="{FC37AE71-075C-44B7-BA9B-C50D644A81C1}"/>
              </a:ext>
            </a:extLst>
          </p:cNvPr>
          <p:cNvSpPr>
            <a:spLocks xmlns:a="http://schemas.openxmlformats.org/drawingml/2006/main" noGrp="1"/>
          </p:cNvSpPr>
          <p:nvPr/>
        </p:nvSpPr>
        <p:spPr>
          <a:xfrm xmlns:a="http://schemas.openxmlformats.org/drawingml/2006/main">
            <a:off x="4648200" y="3324225"/>
            <a:ext cx="171450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98" b="1">
                <a:solidFill>
                  <a:srgbClr val="183B39"/>
                </a:solidFill>
              </a:defRPr>
            </a:pPr>
            <a:r>
              <a:rPr sz="698" b="1">
                <a:solidFill>
                  <a:srgbClr val="183B39"/>
                </a:solidFill>
              </a:rPr>
              <a:t>Copy TDC cleanser execution; fix only weak Mamaearth hero EANs</a:t>
            </a:r>
          </a:p>
        </p:txBody>
      </p:sp>
      <p:sp>
        <p:nvSpPr>
          <p:cNvPr id="33" name="">
            <a:extLst xmlns:a="http://schemas.openxmlformats.org/drawingml/2006/main">
              <a:ext uri="{FF2B5EF4-FFF2-40B4-BE49-F238E27FC236}">
                <a16:creationId xmlns:a16="http://schemas.microsoft.com/office/drawing/2014/main" id="{BC465010-8A65-46AD-9872-0E81854C0015}"/>
              </a:ext>
            </a:extLst>
          </p:cNvPr>
          <p:cNvSpPr>
            <a:spLocks xmlns:a="http://schemas.openxmlformats.org/drawingml/2006/main" noGrp="1"/>
          </p:cNvSpPr>
          <p:nvPr/>
        </p:nvSpPr>
        <p:spPr>
          <a:xfrm xmlns:a="http://schemas.openxmlformats.org/drawingml/2006/main">
            <a:off x="4648200" y="3886200"/>
            <a:ext cx="1714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60" b="1">
                <a:solidFill>
                  <a:srgbClr val="116F68"/>
                </a:solidFill>
              </a:defRPr>
            </a:pPr>
            <a:r>
              <a:rPr sz="660" b="1">
                <a:solidFill>
                  <a:srgbClr val="116F68"/>
                </a:solidFill>
              </a:rPr>
              <a:t>KPI: Sales/store-EAN and 80%+ conversion</a:t>
            </a:r>
          </a:p>
        </p:txBody>
      </p:sp>
      <p:sp>
        <p:nvSpPr>
          <p:cNvPr id="34" name="">
            <a:extLst xmlns:a="http://schemas.openxmlformats.org/drawingml/2006/main">
              <a:ext uri="{FF2B5EF4-FFF2-40B4-BE49-F238E27FC236}">
                <a16:creationId xmlns:a16="http://schemas.microsoft.com/office/drawing/2014/main" id="{544291B5-6EEA-47FB-BFE5-4733C0806BD5}"/>
              </a:ext>
            </a:extLst>
          </p:cNvPr>
          <p:cNvSpPr>
            <a:spLocks xmlns:a="http://schemas.openxmlformats.org/drawingml/2006/main" noGrp="1"/>
          </p:cNvSpPr>
          <p:nvPr/>
        </p:nvSpPr>
        <p:spPr>
          <a:xfrm xmlns:a="http://schemas.openxmlformats.org/drawingml/2006/main">
            <a:off x="361950" y="4429125"/>
            <a:ext cx="1981200" cy="2571750"/>
          </a:xfrm>
          <a:prstGeom xmlns:a="http://schemas.openxmlformats.org/drawingml/2006/main" prst="roundRect">
            <a:avLst>
              <a:gd name="adj" fmla="val 3846"/>
            </a:avLst>
          </a:prstGeom>
          <a:solidFill xmlns:a="http://schemas.openxmlformats.org/drawingml/2006/main">
            <a:srgbClr val="FFFFFF"/>
          </a:solidFill>
          <a:ln xmlns:a="http://schemas.openxmlformats.org/drawingml/2006/main" w="9525">
            <a:solidFill>
              <a:srgbClr val="C8DCD7"/>
            </a:solidFill>
            <a:prstDash val="solid"/>
          </a:ln>
        </p:spPr>
      </p:sp>
      <p:sp>
        <p:nvSpPr>
          <p:cNvPr id="35" name="">
            <a:extLst xmlns:a="http://schemas.openxmlformats.org/drawingml/2006/main">
              <a:ext uri="{FF2B5EF4-FFF2-40B4-BE49-F238E27FC236}">
                <a16:creationId xmlns:a16="http://schemas.microsoft.com/office/drawing/2014/main" id="{CB24A790-AAAE-41FC-B30E-B13242B27464}"/>
              </a:ext>
            </a:extLst>
          </p:cNvPr>
          <p:cNvSpPr>
            <a:spLocks xmlns:a="http://schemas.openxmlformats.org/drawingml/2006/main" noGrp="1"/>
          </p:cNvSpPr>
          <p:nvPr/>
        </p:nvSpPr>
        <p:spPr>
          <a:xfrm xmlns:a="http://schemas.openxmlformats.org/drawingml/2006/main">
            <a:off x="361950" y="4429125"/>
            <a:ext cx="1981200" cy="285750"/>
          </a:xfrm>
          <a:prstGeom xmlns:a="http://schemas.openxmlformats.org/drawingml/2006/main" prst="rect">
            <a:avLst/>
          </a:prstGeom>
          <a:solidFill xmlns:a="http://schemas.openxmlformats.org/drawingml/2006/main">
            <a:srgbClr val="D6544D"/>
          </a:solidFill>
          <a:ln xmlns:a="http://schemas.openxmlformats.org/drawingml/2006/main" w="0">
            <a:solidFill>
              <a:srgbClr val="D6544D"/>
            </a:solidFill>
            <a:prstDash val="solid"/>
          </a:ln>
        </p:spPr>
      </p:sp>
      <p:sp>
        <p:nvSpPr>
          <p:cNvPr id="36" name="">
            <a:extLst xmlns:a="http://schemas.openxmlformats.org/drawingml/2006/main">
              <a:ext uri="{FF2B5EF4-FFF2-40B4-BE49-F238E27FC236}">
                <a16:creationId xmlns:a16="http://schemas.microsoft.com/office/drawing/2014/main" id="{51010803-FDAD-46E9-93DB-3D7BFF49D621}"/>
              </a:ext>
            </a:extLst>
          </p:cNvPr>
          <p:cNvSpPr>
            <a:spLocks xmlns:a="http://schemas.openxmlformats.org/drawingml/2006/main" noGrp="1"/>
          </p:cNvSpPr>
          <p:nvPr/>
        </p:nvSpPr>
        <p:spPr>
          <a:xfrm xmlns:a="http://schemas.openxmlformats.org/drawingml/2006/main">
            <a:off x="447675" y="4448175"/>
            <a:ext cx="18097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788" b="1">
                <a:solidFill>
                  <a:srgbClr val="FFFFFF"/>
                </a:solidFill>
              </a:defRPr>
            </a:pPr>
            <a:r>
              <a:rPr sz="788" b="1">
                <a:solidFill>
                  <a:srgbClr val="FFFFFF"/>
                </a:solidFill>
              </a:rPr>
              <a:t>METRO</a:t>
            </a:r>
          </a:p>
        </p:txBody>
      </p:sp>
      <p:sp>
        <p:nvSpPr>
          <p:cNvPr id="37" name="">
            <a:extLst xmlns:a="http://schemas.openxmlformats.org/drawingml/2006/main">
              <a:ext uri="{FF2B5EF4-FFF2-40B4-BE49-F238E27FC236}">
                <a16:creationId xmlns:a16="http://schemas.microsoft.com/office/drawing/2014/main" id="{3AB08AAF-0ECE-4B4E-B1A1-2F097391200C}"/>
              </a:ext>
            </a:extLst>
          </p:cNvPr>
          <p:cNvSpPr>
            <a:spLocks xmlns:a="http://schemas.openxmlformats.org/drawingml/2006/main" noGrp="1"/>
          </p:cNvSpPr>
          <p:nvPr/>
        </p:nvSpPr>
        <p:spPr>
          <a:xfrm xmlns:a="http://schemas.openxmlformats.org/drawingml/2006/main">
            <a:off x="495300" y="4829175"/>
            <a:ext cx="17145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900" b="1">
                <a:solidFill>
                  <a:srgbClr val="183B39"/>
                </a:solidFill>
              </a:defRPr>
            </a:pPr>
            <a:r>
              <a:rPr sz="900" b="1">
                <a:solidFill>
                  <a:srgbClr val="183B39"/>
                </a:solidFill>
              </a:rPr>
              <a:t>Range dilution</a:t>
            </a:r>
          </a:p>
        </p:txBody>
      </p:sp>
      <p:sp>
        <p:nvSpPr>
          <p:cNvPr id="38" name="">
            <a:extLst xmlns:a="http://schemas.openxmlformats.org/drawingml/2006/main">
              <a:ext uri="{FF2B5EF4-FFF2-40B4-BE49-F238E27FC236}">
                <a16:creationId xmlns:a16="http://schemas.microsoft.com/office/drawing/2014/main" id="{6E340B47-4B76-4596-AF0E-33847F7CBA46}"/>
              </a:ext>
            </a:extLst>
          </p:cNvPr>
          <p:cNvSpPr>
            <a:spLocks xmlns:a="http://schemas.openxmlformats.org/drawingml/2006/main" noGrp="1"/>
          </p:cNvSpPr>
          <p:nvPr/>
        </p:nvSpPr>
        <p:spPr>
          <a:xfrm xmlns:a="http://schemas.openxmlformats.org/drawingml/2006/main">
            <a:off x="495300" y="5229225"/>
            <a:ext cx="666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38" b="1">
                <a:solidFill>
                  <a:srgbClr val="28A596"/>
                </a:solidFill>
              </a:defRPr>
            </a:pPr>
            <a:r>
              <a:rPr sz="638" b="1">
                <a:solidFill>
                  <a:srgbClr val="28A596"/>
                </a:solidFill>
              </a:rPr>
              <a:t>EVIDENCE</a:t>
            </a:r>
          </a:p>
        </p:txBody>
      </p:sp>
      <p:sp>
        <p:nvSpPr>
          <p:cNvPr id="39" name="">
            <a:extLst xmlns:a="http://schemas.openxmlformats.org/drawingml/2006/main">
              <a:ext uri="{FF2B5EF4-FFF2-40B4-BE49-F238E27FC236}">
                <a16:creationId xmlns:a16="http://schemas.microsoft.com/office/drawing/2014/main" id="{AE9914C7-B85F-46C2-BD64-8668E3010F47}"/>
              </a:ext>
            </a:extLst>
          </p:cNvPr>
          <p:cNvSpPr>
            <a:spLocks xmlns:a="http://schemas.openxmlformats.org/drawingml/2006/main" noGrp="1"/>
          </p:cNvSpPr>
          <p:nvPr/>
        </p:nvSpPr>
        <p:spPr>
          <a:xfrm xmlns:a="http://schemas.openxmlformats.org/drawingml/2006/main">
            <a:off x="495300" y="5419725"/>
            <a:ext cx="17145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98" b="0">
                <a:solidFill>
                  <a:srgbClr val="5F716E"/>
                </a:solidFill>
              </a:defRPr>
            </a:pPr>
            <a:r>
              <a:rPr sz="698" b="0">
                <a:solidFill>
                  <a:srgbClr val="5F716E"/>
                </a:solidFill>
              </a:rPr>
              <a:t>More sites/SKUs but lower sales; Face Cleanser down</a:t>
            </a:r>
          </a:p>
        </p:txBody>
      </p:sp>
      <p:sp>
        <p:nvSpPr>
          <p:cNvPr id="40" name="">
            <a:extLst xmlns:a="http://schemas.openxmlformats.org/drawingml/2006/main">
              <a:ext uri="{FF2B5EF4-FFF2-40B4-BE49-F238E27FC236}">
                <a16:creationId xmlns:a16="http://schemas.microsoft.com/office/drawing/2014/main" id="{46490565-C53C-4970-85C0-58B7D317BA33}"/>
              </a:ext>
            </a:extLst>
          </p:cNvPr>
          <p:cNvSpPr>
            <a:spLocks xmlns:a="http://schemas.openxmlformats.org/drawingml/2006/main" noGrp="1"/>
          </p:cNvSpPr>
          <p:nvPr/>
        </p:nvSpPr>
        <p:spPr>
          <a:xfrm xmlns:a="http://schemas.openxmlformats.org/drawingml/2006/main">
            <a:off x="495300" y="5953125"/>
            <a:ext cx="666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38" b="1">
                <a:solidFill>
                  <a:srgbClr val="D6544D"/>
                </a:solidFill>
              </a:defRPr>
            </a:pPr>
            <a:r>
              <a:rPr sz="638" b="1">
                <a:solidFill>
                  <a:srgbClr val="D6544D"/>
                </a:solidFill>
              </a:rPr>
              <a:t>RECOVERY</a:t>
            </a:r>
          </a:p>
        </p:txBody>
      </p:sp>
      <p:sp>
        <p:nvSpPr>
          <p:cNvPr id="41" name="">
            <a:extLst xmlns:a="http://schemas.openxmlformats.org/drawingml/2006/main">
              <a:ext uri="{FF2B5EF4-FFF2-40B4-BE49-F238E27FC236}">
                <a16:creationId xmlns:a16="http://schemas.microsoft.com/office/drawing/2014/main" id="{0F1551E8-477C-421E-9D49-02E83BEF7EA0}"/>
              </a:ext>
            </a:extLst>
          </p:cNvPr>
          <p:cNvSpPr>
            <a:spLocks xmlns:a="http://schemas.openxmlformats.org/drawingml/2006/main" noGrp="1"/>
          </p:cNvSpPr>
          <p:nvPr/>
        </p:nvSpPr>
        <p:spPr>
          <a:xfrm xmlns:a="http://schemas.openxmlformats.org/drawingml/2006/main">
            <a:off x="495300" y="6134100"/>
            <a:ext cx="171450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98" b="1">
                <a:solidFill>
                  <a:srgbClr val="183B39"/>
                </a:solidFill>
              </a:defRPr>
            </a:pPr>
            <a:r>
              <a:rPr sz="698" b="1">
                <a:solidFill>
                  <a:srgbClr val="183B39"/>
                </a:solidFill>
              </a:rPr>
              <a:t>Pause range expansion and remove non-productive EANs</a:t>
            </a:r>
          </a:p>
        </p:txBody>
      </p:sp>
      <p:sp>
        <p:nvSpPr>
          <p:cNvPr id="42" name="">
            <a:extLst xmlns:a="http://schemas.openxmlformats.org/drawingml/2006/main">
              <a:ext uri="{FF2B5EF4-FFF2-40B4-BE49-F238E27FC236}">
                <a16:creationId xmlns:a16="http://schemas.microsoft.com/office/drawing/2014/main" id="{E57C4D3B-977C-40C8-9983-503023951F35}"/>
              </a:ext>
            </a:extLst>
          </p:cNvPr>
          <p:cNvSpPr>
            <a:spLocks xmlns:a="http://schemas.openxmlformats.org/drawingml/2006/main" noGrp="1"/>
          </p:cNvSpPr>
          <p:nvPr/>
        </p:nvSpPr>
        <p:spPr>
          <a:xfrm xmlns:a="http://schemas.openxmlformats.org/drawingml/2006/main">
            <a:off x="495300" y="6696075"/>
            <a:ext cx="1714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60" b="1">
                <a:solidFill>
                  <a:srgbClr val="116F68"/>
                </a:solidFill>
              </a:defRPr>
            </a:pPr>
            <a:r>
              <a:rPr sz="660" b="1">
                <a:solidFill>
                  <a:srgbClr val="116F68"/>
                </a:solidFill>
              </a:rPr>
              <a:t>KPI: Sales/SKU and sales/store</a:t>
            </a:r>
          </a:p>
        </p:txBody>
      </p:sp>
      <p:sp>
        <p:nvSpPr>
          <p:cNvPr id="43" name="">
            <a:extLst xmlns:a="http://schemas.openxmlformats.org/drawingml/2006/main">
              <a:ext uri="{FF2B5EF4-FFF2-40B4-BE49-F238E27FC236}">
                <a16:creationId xmlns:a16="http://schemas.microsoft.com/office/drawing/2014/main" id="{00CFBD44-1632-40BB-BF16-AFDC20B72208}"/>
              </a:ext>
            </a:extLst>
          </p:cNvPr>
          <p:cNvSpPr>
            <a:spLocks xmlns:a="http://schemas.openxmlformats.org/drawingml/2006/main" noGrp="1"/>
          </p:cNvSpPr>
          <p:nvPr/>
        </p:nvSpPr>
        <p:spPr>
          <a:xfrm xmlns:a="http://schemas.openxmlformats.org/drawingml/2006/main">
            <a:off x="2438400" y="4429125"/>
            <a:ext cx="1981200" cy="2571750"/>
          </a:xfrm>
          <a:prstGeom xmlns:a="http://schemas.openxmlformats.org/drawingml/2006/main" prst="roundRect">
            <a:avLst>
              <a:gd name="adj" fmla="val 3846"/>
            </a:avLst>
          </a:prstGeom>
          <a:solidFill xmlns:a="http://schemas.openxmlformats.org/drawingml/2006/main">
            <a:srgbClr val="FFFFFF"/>
          </a:solidFill>
          <a:ln xmlns:a="http://schemas.openxmlformats.org/drawingml/2006/main" w="9525">
            <a:solidFill>
              <a:srgbClr val="C8DCD7"/>
            </a:solidFill>
            <a:prstDash val="solid"/>
          </a:ln>
        </p:spPr>
      </p:sp>
      <p:sp>
        <p:nvSpPr>
          <p:cNvPr id="44" name="">
            <a:extLst xmlns:a="http://schemas.openxmlformats.org/drawingml/2006/main">
              <a:ext uri="{FF2B5EF4-FFF2-40B4-BE49-F238E27FC236}">
                <a16:creationId xmlns:a16="http://schemas.microsoft.com/office/drawing/2014/main" id="{9253830F-AADD-4E94-9612-4FAFEE704CAD}"/>
              </a:ext>
            </a:extLst>
          </p:cNvPr>
          <p:cNvSpPr>
            <a:spLocks xmlns:a="http://schemas.openxmlformats.org/drawingml/2006/main" noGrp="1"/>
          </p:cNvSpPr>
          <p:nvPr/>
        </p:nvSpPr>
        <p:spPr>
          <a:xfrm xmlns:a="http://schemas.openxmlformats.org/drawingml/2006/main">
            <a:off x="2438400" y="4429125"/>
            <a:ext cx="1981200" cy="285750"/>
          </a:xfrm>
          <a:prstGeom xmlns:a="http://schemas.openxmlformats.org/drawingml/2006/main" prst="rect">
            <a:avLst/>
          </a:prstGeom>
          <a:solidFill xmlns:a="http://schemas.openxmlformats.org/drawingml/2006/main">
            <a:srgbClr val="116F68"/>
          </a:solidFill>
          <a:ln xmlns:a="http://schemas.openxmlformats.org/drawingml/2006/main" w="0">
            <a:solidFill>
              <a:srgbClr val="116F68"/>
            </a:solidFill>
            <a:prstDash val="solid"/>
          </a:ln>
        </p:spPr>
      </p:sp>
      <p:sp>
        <p:nvSpPr>
          <p:cNvPr id="45" name="">
            <a:extLst xmlns:a="http://schemas.openxmlformats.org/drawingml/2006/main">
              <a:ext uri="{FF2B5EF4-FFF2-40B4-BE49-F238E27FC236}">
                <a16:creationId xmlns:a16="http://schemas.microsoft.com/office/drawing/2014/main" id="{47F73415-2626-41C2-92DF-53BDA2CBA87A}"/>
              </a:ext>
            </a:extLst>
          </p:cNvPr>
          <p:cNvSpPr>
            <a:spLocks xmlns:a="http://schemas.openxmlformats.org/drawingml/2006/main" noGrp="1"/>
          </p:cNvSpPr>
          <p:nvPr/>
        </p:nvSpPr>
        <p:spPr>
          <a:xfrm xmlns:a="http://schemas.openxmlformats.org/drawingml/2006/main">
            <a:off x="2524125" y="4448175"/>
            <a:ext cx="18097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788" b="1">
                <a:solidFill>
                  <a:srgbClr val="FFFFFF"/>
                </a:solidFill>
              </a:defRPr>
            </a:pPr>
            <a:r>
              <a:rPr sz="788" b="1">
                <a:solidFill>
                  <a:srgbClr val="FFFFFF"/>
                </a:solidFill>
              </a:rPr>
              <a:t>WELLNESS FOREVER</a:t>
            </a:r>
          </a:p>
        </p:txBody>
      </p:sp>
      <p:sp>
        <p:nvSpPr>
          <p:cNvPr id="46" name="">
            <a:extLst xmlns:a="http://schemas.openxmlformats.org/drawingml/2006/main">
              <a:ext uri="{FF2B5EF4-FFF2-40B4-BE49-F238E27FC236}">
                <a16:creationId xmlns:a16="http://schemas.microsoft.com/office/drawing/2014/main" id="{0A2444DB-EACC-4321-B58C-532B6932E4D9}"/>
              </a:ext>
            </a:extLst>
          </p:cNvPr>
          <p:cNvSpPr>
            <a:spLocks xmlns:a="http://schemas.openxmlformats.org/drawingml/2006/main" noGrp="1"/>
          </p:cNvSpPr>
          <p:nvPr/>
        </p:nvSpPr>
        <p:spPr>
          <a:xfrm xmlns:a="http://schemas.openxmlformats.org/drawingml/2006/main">
            <a:off x="2571750" y="4829175"/>
            <a:ext cx="17145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900" b="1">
                <a:solidFill>
                  <a:srgbClr val="183B39"/>
                </a:solidFill>
              </a:defRPr>
            </a:pPr>
            <a:r>
              <a:rPr sz="900" b="1">
                <a:solidFill>
                  <a:srgbClr val="183B39"/>
                </a:solidFill>
              </a:rPr>
              <a:t>Seasonal concentration</a:t>
            </a:r>
          </a:p>
        </p:txBody>
      </p:sp>
      <p:sp>
        <p:nvSpPr>
          <p:cNvPr id="47" name="">
            <a:extLst xmlns:a="http://schemas.openxmlformats.org/drawingml/2006/main">
              <a:ext uri="{FF2B5EF4-FFF2-40B4-BE49-F238E27FC236}">
                <a16:creationId xmlns:a16="http://schemas.microsoft.com/office/drawing/2014/main" id="{A71F69D6-096E-4CA5-B551-55C4A8485B08}"/>
              </a:ext>
            </a:extLst>
          </p:cNvPr>
          <p:cNvSpPr>
            <a:spLocks xmlns:a="http://schemas.openxmlformats.org/drawingml/2006/main" noGrp="1"/>
          </p:cNvSpPr>
          <p:nvPr/>
        </p:nvSpPr>
        <p:spPr>
          <a:xfrm xmlns:a="http://schemas.openxmlformats.org/drawingml/2006/main">
            <a:off x="2571750" y="5229225"/>
            <a:ext cx="666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38" b="1">
                <a:solidFill>
                  <a:srgbClr val="28A596"/>
                </a:solidFill>
              </a:defRPr>
            </a:pPr>
            <a:r>
              <a:rPr sz="638" b="1">
                <a:solidFill>
                  <a:srgbClr val="28A596"/>
                </a:solidFill>
              </a:rPr>
              <a:t>EVIDENCE</a:t>
            </a:r>
          </a:p>
        </p:txBody>
      </p:sp>
      <p:sp>
        <p:nvSpPr>
          <p:cNvPr id="48" name="">
            <a:extLst xmlns:a="http://schemas.openxmlformats.org/drawingml/2006/main">
              <a:ext uri="{FF2B5EF4-FFF2-40B4-BE49-F238E27FC236}">
                <a16:creationId xmlns:a16="http://schemas.microsoft.com/office/drawing/2014/main" id="{A7F37DDD-9D02-4F62-83A0-001B953E5E90}"/>
              </a:ext>
            </a:extLst>
          </p:cNvPr>
          <p:cNvSpPr>
            <a:spLocks xmlns:a="http://schemas.openxmlformats.org/drawingml/2006/main" noGrp="1"/>
          </p:cNvSpPr>
          <p:nvPr/>
        </p:nvSpPr>
        <p:spPr>
          <a:xfrm xmlns:a="http://schemas.openxmlformats.org/drawingml/2006/main">
            <a:off x="2571750" y="5419725"/>
            <a:ext cx="17145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98" b="0">
                <a:solidFill>
                  <a:srgbClr val="5F716E"/>
                </a:solidFill>
              </a:defRPr>
            </a:pPr>
            <a:r>
              <a:rPr sz="698" b="0">
                <a:solidFill>
                  <a:srgbClr val="5F716E"/>
                </a:solidFill>
              </a:rPr>
              <a:t>Sun Care explains almost the full decline</a:t>
            </a:r>
          </a:p>
        </p:txBody>
      </p:sp>
      <p:sp>
        <p:nvSpPr>
          <p:cNvPr id="49" name="">
            <a:extLst xmlns:a="http://schemas.openxmlformats.org/drawingml/2006/main">
              <a:ext uri="{FF2B5EF4-FFF2-40B4-BE49-F238E27FC236}">
                <a16:creationId xmlns:a16="http://schemas.microsoft.com/office/drawing/2014/main" id="{64C378D4-E49E-44B0-9CC3-B9A1E35DA715}"/>
              </a:ext>
            </a:extLst>
          </p:cNvPr>
          <p:cNvSpPr>
            <a:spLocks xmlns:a="http://schemas.openxmlformats.org/drawingml/2006/main" noGrp="1"/>
          </p:cNvSpPr>
          <p:nvPr/>
        </p:nvSpPr>
        <p:spPr>
          <a:xfrm xmlns:a="http://schemas.openxmlformats.org/drawingml/2006/main">
            <a:off x="2571750" y="5953125"/>
            <a:ext cx="666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38" b="1">
                <a:solidFill>
                  <a:srgbClr val="D6544D"/>
                </a:solidFill>
              </a:defRPr>
            </a:pPr>
            <a:r>
              <a:rPr sz="638" b="1">
                <a:solidFill>
                  <a:srgbClr val="D6544D"/>
                </a:solidFill>
              </a:rPr>
              <a:t>RECOVERY</a:t>
            </a:r>
          </a:p>
        </p:txBody>
      </p:sp>
      <p:sp>
        <p:nvSpPr>
          <p:cNvPr id="50" name="">
            <a:extLst xmlns:a="http://schemas.openxmlformats.org/drawingml/2006/main">
              <a:ext uri="{FF2B5EF4-FFF2-40B4-BE49-F238E27FC236}">
                <a16:creationId xmlns:a16="http://schemas.microsoft.com/office/drawing/2014/main" id="{95791549-6F4A-44E6-984B-C918FC5331E8}"/>
              </a:ext>
            </a:extLst>
          </p:cNvPr>
          <p:cNvSpPr>
            <a:spLocks xmlns:a="http://schemas.openxmlformats.org/drawingml/2006/main" noGrp="1"/>
          </p:cNvSpPr>
          <p:nvPr/>
        </p:nvSpPr>
        <p:spPr>
          <a:xfrm xmlns:a="http://schemas.openxmlformats.org/drawingml/2006/main">
            <a:off x="2571750" y="6134100"/>
            <a:ext cx="171450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98" b="1">
                <a:solidFill>
                  <a:srgbClr val="183B39"/>
                </a:solidFill>
              </a:defRPr>
            </a:pPr>
            <a:r>
              <a:rPr sz="698" b="1">
                <a:solidFill>
                  <a:srgbClr val="183B39"/>
                </a:solidFill>
              </a:rPr>
              <a:t>Rebalance space to Face Cleanser; audit serum and sunscreen OSA</a:t>
            </a:r>
          </a:p>
        </p:txBody>
      </p:sp>
      <p:sp>
        <p:nvSpPr>
          <p:cNvPr id="51" name="">
            <a:extLst xmlns:a="http://schemas.openxmlformats.org/drawingml/2006/main">
              <a:ext uri="{FF2B5EF4-FFF2-40B4-BE49-F238E27FC236}">
                <a16:creationId xmlns:a16="http://schemas.microsoft.com/office/drawing/2014/main" id="{D565EDF8-2707-466B-96A9-EE3511D7E361}"/>
              </a:ext>
            </a:extLst>
          </p:cNvPr>
          <p:cNvSpPr>
            <a:spLocks xmlns:a="http://schemas.openxmlformats.org/drawingml/2006/main" noGrp="1"/>
          </p:cNvSpPr>
          <p:nvPr/>
        </p:nvSpPr>
        <p:spPr>
          <a:xfrm xmlns:a="http://schemas.openxmlformats.org/drawingml/2006/main">
            <a:off x="2571750" y="6696075"/>
            <a:ext cx="1714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60" b="1">
                <a:solidFill>
                  <a:srgbClr val="116F68"/>
                </a:solidFill>
              </a:defRPr>
            </a:pPr>
            <a:r>
              <a:rPr sz="660" b="1">
                <a:solidFill>
                  <a:srgbClr val="116F68"/>
                </a:solidFill>
              </a:rPr>
              <a:t>KPI: Sun Care recovery and OSA</a:t>
            </a:r>
          </a:p>
        </p:txBody>
      </p:sp>
      <p:sp>
        <p:nvSpPr>
          <p:cNvPr id="52" name="">
            <a:extLst xmlns:a="http://schemas.openxmlformats.org/drawingml/2006/main">
              <a:ext uri="{FF2B5EF4-FFF2-40B4-BE49-F238E27FC236}">
                <a16:creationId xmlns:a16="http://schemas.microsoft.com/office/drawing/2014/main" id="{17F9B53D-2304-4D84-AA84-E020C00BC2A6}"/>
              </a:ext>
            </a:extLst>
          </p:cNvPr>
          <p:cNvSpPr>
            <a:spLocks xmlns:a="http://schemas.openxmlformats.org/drawingml/2006/main" noGrp="1"/>
          </p:cNvSpPr>
          <p:nvPr/>
        </p:nvSpPr>
        <p:spPr>
          <a:xfrm xmlns:a="http://schemas.openxmlformats.org/drawingml/2006/main">
            <a:off x="4514850" y="4429125"/>
            <a:ext cx="1981200" cy="2571750"/>
          </a:xfrm>
          <a:prstGeom xmlns:a="http://schemas.openxmlformats.org/drawingml/2006/main" prst="roundRect">
            <a:avLst>
              <a:gd name="adj" fmla="val 3846"/>
            </a:avLst>
          </a:prstGeom>
          <a:solidFill xmlns:a="http://schemas.openxmlformats.org/drawingml/2006/main">
            <a:srgbClr val="FFFFFF"/>
          </a:solidFill>
          <a:ln xmlns:a="http://schemas.openxmlformats.org/drawingml/2006/main" w="9525">
            <a:solidFill>
              <a:srgbClr val="C8DCD7"/>
            </a:solidFill>
            <a:prstDash val="solid"/>
          </a:ln>
        </p:spPr>
      </p:sp>
      <p:sp>
        <p:nvSpPr>
          <p:cNvPr id="53" name="">
            <a:extLst xmlns:a="http://schemas.openxmlformats.org/drawingml/2006/main">
              <a:ext uri="{FF2B5EF4-FFF2-40B4-BE49-F238E27FC236}">
                <a16:creationId xmlns:a16="http://schemas.microsoft.com/office/drawing/2014/main" id="{9A00B468-F40F-4992-A816-AC479EECB4C2}"/>
              </a:ext>
            </a:extLst>
          </p:cNvPr>
          <p:cNvSpPr>
            <a:spLocks xmlns:a="http://schemas.openxmlformats.org/drawingml/2006/main" noGrp="1"/>
          </p:cNvSpPr>
          <p:nvPr/>
        </p:nvSpPr>
        <p:spPr>
          <a:xfrm xmlns:a="http://schemas.openxmlformats.org/drawingml/2006/main">
            <a:off x="4514850" y="4429125"/>
            <a:ext cx="1981200" cy="285750"/>
          </a:xfrm>
          <a:prstGeom xmlns:a="http://schemas.openxmlformats.org/drawingml/2006/main" prst="rect">
            <a:avLst/>
          </a:prstGeom>
          <a:solidFill xmlns:a="http://schemas.openxmlformats.org/drawingml/2006/main">
            <a:srgbClr val="116F68"/>
          </a:solidFill>
          <a:ln xmlns:a="http://schemas.openxmlformats.org/drawingml/2006/main" w="0">
            <a:solidFill>
              <a:srgbClr val="116F68"/>
            </a:solidFill>
            <a:prstDash val="solid"/>
          </a:ln>
        </p:spPr>
      </p:sp>
      <p:sp>
        <p:nvSpPr>
          <p:cNvPr id="54" name="">
            <a:extLst xmlns:a="http://schemas.openxmlformats.org/drawingml/2006/main">
              <a:ext uri="{FF2B5EF4-FFF2-40B4-BE49-F238E27FC236}">
                <a16:creationId xmlns:a16="http://schemas.microsoft.com/office/drawing/2014/main" id="{E5DDD6AD-9781-42E8-832E-368B3E15416A}"/>
              </a:ext>
            </a:extLst>
          </p:cNvPr>
          <p:cNvSpPr>
            <a:spLocks xmlns:a="http://schemas.openxmlformats.org/drawingml/2006/main" noGrp="1"/>
          </p:cNvSpPr>
          <p:nvPr/>
        </p:nvSpPr>
        <p:spPr>
          <a:xfrm xmlns:a="http://schemas.openxmlformats.org/drawingml/2006/main">
            <a:off x="4600575" y="4448175"/>
            <a:ext cx="18097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788" b="1">
                <a:solidFill>
                  <a:srgbClr val="FFFFFF"/>
                </a:solidFill>
              </a:defRPr>
            </a:pPr>
            <a:r>
              <a:rPr sz="788" b="1">
                <a:solidFill>
                  <a:srgbClr val="FFFFFF"/>
                </a:solidFill>
              </a:rPr>
              <a:t>MORE RETAIL</a:t>
            </a:r>
          </a:p>
        </p:txBody>
      </p:sp>
      <p:sp>
        <p:nvSpPr>
          <p:cNvPr id="55" name="">
            <a:extLst xmlns:a="http://schemas.openxmlformats.org/drawingml/2006/main">
              <a:ext uri="{FF2B5EF4-FFF2-40B4-BE49-F238E27FC236}">
                <a16:creationId xmlns:a16="http://schemas.microsoft.com/office/drawing/2014/main" id="{553AE29D-B37A-48C8-A765-60757ECDCE12}"/>
              </a:ext>
            </a:extLst>
          </p:cNvPr>
          <p:cNvSpPr>
            <a:spLocks xmlns:a="http://schemas.openxmlformats.org/drawingml/2006/main" noGrp="1"/>
          </p:cNvSpPr>
          <p:nvPr/>
        </p:nvSpPr>
        <p:spPr>
          <a:xfrm xmlns:a="http://schemas.openxmlformats.org/drawingml/2006/main">
            <a:off x="4648200" y="4829175"/>
            <a:ext cx="17145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900" b="1">
                <a:solidFill>
                  <a:srgbClr val="183B39"/>
                </a:solidFill>
              </a:defRPr>
            </a:pPr>
            <a:r>
              <a:rPr sz="900" b="1">
                <a:solidFill>
                  <a:srgbClr val="183B39"/>
                </a:solidFill>
              </a:rPr>
              <a:t>Low NPI penetration</a:t>
            </a:r>
          </a:p>
        </p:txBody>
      </p:sp>
      <p:sp>
        <p:nvSpPr>
          <p:cNvPr id="56" name="">
            <a:extLst xmlns:a="http://schemas.openxmlformats.org/drawingml/2006/main">
              <a:ext uri="{FF2B5EF4-FFF2-40B4-BE49-F238E27FC236}">
                <a16:creationId xmlns:a16="http://schemas.microsoft.com/office/drawing/2014/main" id="{4110EC85-8364-4940-A609-8587A45E5A3B}"/>
              </a:ext>
            </a:extLst>
          </p:cNvPr>
          <p:cNvSpPr>
            <a:spLocks xmlns:a="http://schemas.openxmlformats.org/drawingml/2006/main" noGrp="1"/>
          </p:cNvSpPr>
          <p:nvPr/>
        </p:nvSpPr>
        <p:spPr>
          <a:xfrm xmlns:a="http://schemas.openxmlformats.org/drawingml/2006/main">
            <a:off x="4648200" y="5229225"/>
            <a:ext cx="666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38" b="1">
                <a:solidFill>
                  <a:srgbClr val="28A596"/>
                </a:solidFill>
              </a:defRPr>
            </a:pPr>
            <a:r>
              <a:rPr sz="638" b="1">
                <a:solidFill>
                  <a:srgbClr val="28A596"/>
                </a:solidFill>
              </a:rPr>
              <a:t>EVIDENCE</a:t>
            </a:r>
          </a:p>
        </p:txBody>
      </p:sp>
      <p:sp>
        <p:nvSpPr>
          <p:cNvPr id="57" name="">
            <a:extLst xmlns:a="http://schemas.openxmlformats.org/drawingml/2006/main">
              <a:ext uri="{FF2B5EF4-FFF2-40B4-BE49-F238E27FC236}">
                <a16:creationId xmlns:a16="http://schemas.microsoft.com/office/drawing/2014/main" id="{A018FB84-1BF1-4A23-B0EA-B0BEEE6F098C}"/>
              </a:ext>
            </a:extLst>
          </p:cNvPr>
          <p:cNvSpPr>
            <a:spLocks xmlns:a="http://schemas.openxmlformats.org/drawingml/2006/main" noGrp="1"/>
          </p:cNvSpPr>
          <p:nvPr/>
        </p:nvSpPr>
        <p:spPr>
          <a:xfrm xmlns:a="http://schemas.openxmlformats.org/drawingml/2006/main">
            <a:off x="4648200" y="5419725"/>
            <a:ext cx="17145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98" b="0">
                <a:solidFill>
                  <a:srgbClr val="5F716E"/>
                </a:solidFill>
              </a:defRPr>
            </a:pPr>
            <a:r>
              <a:rPr sz="698" b="0">
                <a:solidFill>
                  <a:srgbClr val="5F716E"/>
                </a:solidFill>
              </a:rPr>
              <a:t>NPI is 3.78% and Sun Care is declining</a:t>
            </a:r>
          </a:p>
        </p:txBody>
      </p:sp>
      <p:sp>
        <p:nvSpPr>
          <p:cNvPr id="58" name="">
            <a:extLst xmlns:a="http://schemas.openxmlformats.org/drawingml/2006/main">
              <a:ext uri="{FF2B5EF4-FFF2-40B4-BE49-F238E27FC236}">
                <a16:creationId xmlns:a16="http://schemas.microsoft.com/office/drawing/2014/main" id="{255F78DB-20D4-497A-BD2F-EA77D7BB7E0D}"/>
              </a:ext>
            </a:extLst>
          </p:cNvPr>
          <p:cNvSpPr>
            <a:spLocks xmlns:a="http://schemas.openxmlformats.org/drawingml/2006/main" noGrp="1"/>
          </p:cNvSpPr>
          <p:nvPr/>
        </p:nvSpPr>
        <p:spPr>
          <a:xfrm xmlns:a="http://schemas.openxmlformats.org/drawingml/2006/main">
            <a:off x="4648200" y="5953125"/>
            <a:ext cx="666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38" b="1">
                <a:solidFill>
                  <a:srgbClr val="D6544D"/>
                </a:solidFill>
              </a:defRPr>
            </a:pPr>
            <a:r>
              <a:rPr sz="638" b="1">
                <a:solidFill>
                  <a:srgbClr val="D6544D"/>
                </a:solidFill>
              </a:rPr>
              <a:t>RECOVERY</a:t>
            </a:r>
          </a:p>
        </p:txBody>
      </p:sp>
      <p:sp>
        <p:nvSpPr>
          <p:cNvPr id="59" name="">
            <a:extLst xmlns:a="http://schemas.openxmlformats.org/drawingml/2006/main">
              <a:ext uri="{FF2B5EF4-FFF2-40B4-BE49-F238E27FC236}">
                <a16:creationId xmlns:a16="http://schemas.microsoft.com/office/drawing/2014/main" id="{CA215C90-710F-4F69-B8B4-0D5B5BF5FC99}"/>
              </a:ext>
            </a:extLst>
          </p:cNvPr>
          <p:cNvSpPr>
            <a:spLocks xmlns:a="http://schemas.openxmlformats.org/drawingml/2006/main" noGrp="1"/>
          </p:cNvSpPr>
          <p:nvPr/>
        </p:nvSpPr>
        <p:spPr>
          <a:xfrm xmlns:a="http://schemas.openxmlformats.org/drawingml/2006/main">
            <a:off x="4648200" y="6134100"/>
            <a:ext cx="171450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98" b="1">
                <a:solidFill>
                  <a:srgbClr val="183B39"/>
                </a:solidFill>
              </a:defRPr>
            </a:pPr>
            <a:r>
              <a:rPr sz="698" b="1">
                <a:solidFill>
                  <a:srgbClr val="183B39"/>
                </a:solidFill>
              </a:rPr>
              <a:t>Prioritize top NPI EAN listings and seasonal recovery</a:t>
            </a:r>
          </a:p>
        </p:txBody>
      </p:sp>
      <p:sp>
        <p:nvSpPr>
          <p:cNvPr id="60" name="">
            <a:extLst xmlns:a="http://schemas.openxmlformats.org/drawingml/2006/main">
              <a:ext uri="{FF2B5EF4-FFF2-40B4-BE49-F238E27FC236}">
                <a16:creationId xmlns:a16="http://schemas.microsoft.com/office/drawing/2014/main" id="{CDF4BE02-F656-4FA9-B5F6-1A2AE0730486}"/>
              </a:ext>
            </a:extLst>
          </p:cNvPr>
          <p:cNvSpPr>
            <a:spLocks xmlns:a="http://schemas.openxmlformats.org/drawingml/2006/main" noGrp="1"/>
          </p:cNvSpPr>
          <p:nvPr/>
        </p:nvSpPr>
        <p:spPr>
          <a:xfrm xmlns:a="http://schemas.openxmlformats.org/drawingml/2006/main">
            <a:off x="4648200" y="6696075"/>
            <a:ext cx="1714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60" b="1">
                <a:solidFill>
                  <a:srgbClr val="116F68"/>
                </a:solidFill>
              </a:defRPr>
            </a:pPr>
            <a:r>
              <a:rPr sz="660" b="1">
                <a:solidFill>
                  <a:srgbClr val="116F68"/>
                </a:solidFill>
              </a:rPr>
              <a:t>KPI: NPI share &gt;5%</a:t>
            </a:r>
          </a:p>
        </p:txBody>
      </p:sp>
      <p:sp>
        <p:nvSpPr>
          <p:cNvPr id="61" name="">
            <a:extLst xmlns:a="http://schemas.openxmlformats.org/drawingml/2006/main">
              <a:ext uri="{FF2B5EF4-FFF2-40B4-BE49-F238E27FC236}">
                <a16:creationId xmlns:a16="http://schemas.microsoft.com/office/drawing/2014/main" id="{0ABC7AD5-CC5E-4863-A723-30175C62894F}"/>
              </a:ext>
            </a:extLst>
          </p:cNvPr>
          <p:cNvSpPr>
            <a:spLocks xmlns:a="http://schemas.openxmlformats.org/drawingml/2006/main" noGrp="1"/>
          </p:cNvSpPr>
          <p:nvPr/>
        </p:nvSpPr>
        <p:spPr>
          <a:xfrm xmlns:a="http://schemas.openxmlformats.org/drawingml/2006/main">
            <a:off x="361950" y="7239000"/>
            <a:ext cx="1981200" cy="2571750"/>
          </a:xfrm>
          <a:prstGeom xmlns:a="http://schemas.openxmlformats.org/drawingml/2006/main" prst="roundRect">
            <a:avLst>
              <a:gd name="adj" fmla="val 3846"/>
            </a:avLst>
          </a:prstGeom>
          <a:solidFill xmlns:a="http://schemas.openxmlformats.org/drawingml/2006/main">
            <a:srgbClr val="FFFFFF"/>
          </a:solidFill>
          <a:ln xmlns:a="http://schemas.openxmlformats.org/drawingml/2006/main" w="9525">
            <a:solidFill>
              <a:srgbClr val="C8DCD7"/>
            </a:solidFill>
            <a:prstDash val="solid"/>
          </a:ln>
        </p:spPr>
      </p:sp>
      <p:sp>
        <p:nvSpPr>
          <p:cNvPr id="62" name="">
            <a:extLst xmlns:a="http://schemas.openxmlformats.org/drawingml/2006/main">
              <a:ext uri="{FF2B5EF4-FFF2-40B4-BE49-F238E27FC236}">
                <a16:creationId xmlns:a16="http://schemas.microsoft.com/office/drawing/2014/main" id="{B6E687D9-17FE-421B-B45E-49BD5EBF959D}"/>
              </a:ext>
            </a:extLst>
          </p:cNvPr>
          <p:cNvSpPr>
            <a:spLocks xmlns:a="http://schemas.openxmlformats.org/drawingml/2006/main" noGrp="1"/>
          </p:cNvSpPr>
          <p:nvPr/>
        </p:nvSpPr>
        <p:spPr>
          <a:xfrm xmlns:a="http://schemas.openxmlformats.org/drawingml/2006/main">
            <a:off x="361950" y="7239000"/>
            <a:ext cx="1981200" cy="285750"/>
          </a:xfrm>
          <a:prstGeom xmlns:a="http://schemas.openxmlformats.org/drawingml/2006/main" prst="rect">
            <a:avLst/>
          </a:prstGeom>
          <a:solidFill xmlns:a="http://schemas.openxmlformats.org/drawingml/2006/main">
            <a:srgbClr val="116F68"/>
          </a:solidFill>
          <a:ln xmlns:a="http://schemas.openxmlformats.org/drawingml/2006/main" w="0">
            <a:solidFill>
              <a:srgbClr val="116F68"/>
            </a:solidFill>
            <a:prstDash val="solid"/>
          </a:ln>
        </p:spPr>
      </p:sp>
      <p:sp>
        <p:nvSpPr>
          <p:cNvPr id="63" name="">
            <a:extLst xmlns:a="http://schemas.openxmlformats.org/drawingml/2006/main">
              <a:ext uri="{FF2B5EF4-FFF2-40B4-BE49-F238E27FC236}">
                <a16:creationId xmlns:a16="http://schemas.microsoft.com/office/drawing/2014/main" id="{3DD59667-F1F7-490B-85DF-4A6D5BF8FEB7}"/>
              </a:ext>
            </a:extLst>
          </p:cNvPr>
          <p:cNvSpPr>
            <a:spLocks xmlns:a="http://schemas.openxmlformats.org/drawingml/2006/main" noGrp="1"/>
          </p:cNvSpPr>
          <p:nvPr/>
        </p:nvSpPr>
        <p:spPr>
          <a:xfrm xmlns:a="http://schemas.openxmlformats.org/drawingml/2006/main">
            <a:off x="447675" y="7258050"/>
            <a:ext cx="18097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788" b="1">
                <a:solidFill>
                  <a:srgbClr val="FFFFFF"/>
                </a:solidFill>
              </a:defRPr>
            </a:pPr>
            <a:r>
              <a:rPr sz="788" b="1">
                <a:solidFill>
                  <a:srgbClr val="FFFFFF"/>
                </a:solidFill>
              </a:rPr>
              <a:t>HEALTH &amp; GLOW</a:t>
            </a:r>
          </a:p>
        </p:txBody>
      </p:sp>
      <p:sp>
        <p:nvSpPr>
          <p:cNvPr id="64" name="">
            <a:extLst xmlns:a="http://schemas.openxmlformats.org/drawingml/2006/main">
              <a:ext uri="{FF2B5EF4-FFF2-40B4-BE49-F238E27FC236}">
                <a16:creationId xmlns:a16="http://schemas.microsoft.com/office/drawing/2014/main" id="{B60DD935-AE06-412B-B819-C99326D7ED3B}"/>
              </a:ext>
            </a:extLst>
          </p:cNvPr>
          <p:cNvSpPr>
            <a:spLocks xmlns:a="http://schemas.openxmlformats.org/drawingml/2006/main" noGrp="1"/>
          </p:cNvSpPr>
          <p:nvPr/>
        </p:nvSpPr>
        <p:spPr>
          <a:xfrm xmlns:a="http://schemas.openxmlformats.org/drawingml/2006/main">
            <a:off x="495300" y="7639050"/>
            <a:ext cx="17145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900" b="1">
                <a:solidFill>
                  <a:srgbClr val="183B39"/>
                </a:solidFill>
              </a:defRPr>
            </a:pPr>
            <a:r>
              <a:rPr sz="900" b="1">
                <a:solidFill>
                  <a:srgbClr val="183B39"/>
                </a:solidFill>
              </a:rPr>
              <a:t>Mix softness, not structural decline</a:t>
            </a:r>
          </a:p>
        </p:txBody>
      </p:sp>
      <p:sp>
        <p:nvSpPr>
          <p:cNvPr id="65" name="">
            <a:extLst xmlns:a="http://schemas.openxmlformats.org/drawingml/2006/main">
              <a:ext uri="{FF2B5EF4-FFF2-40B4-BE49-F238E27FC236}">
                <a16:creationId xmlns:a16="http://schemas.microsoft.com/office/drawing/2014/main" id="{D6593EB1-D822-42EF-86C8-F33A4AF6547E}"/>
              </a:ext>
            </a:extLst>
          </p:cNvPr>
          <p:cNvSpPr>
            <a:spLocks xmlns:a="http://schemas.openxmlformats.org/drawingml/2006/main" noGrp="1"/>
          </p:cNvSpPr>
          <p:nvPr/>
        </p:nvSpPr>
        <p:spPr>
          <a:xfrm xmlns:a="http://schemas.openxmlformats.org/drawingml/2006/main">
            <a:off x="495300" y="8039100"/>
            <a:ext cx="666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38" b="1">
                <a:solidFill>
                  <a:srgbClr val="28A596"/>
                </a:solidFill>
              </a:defRPr>
            </a:pPr>
            <a:r>
              <a:rPr sz="638" b="1">
                <a:solidFill>
                  <a:srgbClr val="28A596"/>
                </a:solidFill>
              </a:rPr>
              <a:t>EVIDENCE</a:t>
            </a:r>
          </a:p>
        </p:txBody>
      </p:sp>
      <p:sp>
        <p:nvSpPr>
          <p:cNvPr id="66" name="">
            <a:extLst xmlns:a="http://schemas.openxmlformats.org/drawingml/2006/main">
              <a:ext uri="{FF2B5EF4-FFF2-40B4-BE49-F238E27FC236}">
                <a16:creationId xmlns:a16="http://schemas.microsoft.com/office/drawing/2014/main" id="{FDEE35AA-3431-45E2-9914-144007387612}"/>
              </a:ext>
            </a:extLst>
          </p:cNvPr>
          <p:cNvSpPr>
            <a:spLocks xmlns:a="http://schemas.openxmlformats.org/drawingml/2006/main" noGrp="1"/>
          </p:cNvSpPr>
          <p:nvPr/>
        </p:nvSpPr>
        <p:spPr>
          <a:xfrm xmlns:a="http://schemas.openxmlformats.org/drawingml/2006/main">
            <a:off x="495300" y="8229600"/>
            <a:ext cx="17145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98" b="0">
                <a:solidFill>
                  <a:srgbClr val="5F716E"/>
                </a:solidFill>
              </a:defRPr>
            </a:pPr>
            <a:r>
              <a:rPr sz="698" b="0">
                <a:solidFill>
                  <a:srgbClr val="5F716E"/>
                </a:solidFill>
              </a:rPr>
              <a:t>Sun Care and Face Serum down; Face Cleanser offsets</a:t>
            </a:r>
          </a:p>
        </p:txBody>
      </p:sp>
      <p:sp>
        <p:nvSpPr>
          <p:cNvPr id="67" name="">
            <a:extLst xmlns:a="http://schemas.openxmlformats.org/drawingml/2006/main">
              <a:ext uri="{FF2B5EF4-FFF2-40B4-BE49-F238E27FC236}">
                <a16:creationId xmlns:a16="http://schemas.microsoft.com/office/drawing/2014/main" id="{EFC9847F-6A37-476F-A1AF-E84F675FD650}"/>
              </a:ext>
            </a:extLst>
          </p:cNvPr>
          <p:cNvSpPr>
            <a:spLocks xmlns:a="http://schemas.openxmlformats.org/drawingml/2006/main" noGrp="1"/>
          </p:cNvSpPr>
          <p:nvPr/>
        </p:nvSpPr>
        <p:spPr>
          <a:xfrm xmlns:a="http://schemas.openxmlformats.org/drawingml/2006/main">
            <a:off x="495300" y="8763000"/>
            <a:ext cx="666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38" b="1">
                <a:solidFill>
                  <a:srgbClr val="D6544D"/>
                </a:solidFill>
              </a:defRPr>
            </a:pPr>
            <a:r>
              <a:rPr sz="638" b="1">
                <a:solidFill>
                  <a:srgbClr val="D6544D"/>
                </a:solidFill>
              </a:rPr>
              <a:t>RECOVERY</a:t>
            </a:r>
          </a:p>
        </p:txBody>
      </p:sp>
      <p:sp>
        <p:nvSpPr>
          <p:cNvPr id="68" name="">
            <a:extLst xmlns:a="http://schemas.openxmlformats.org/drawingml/2006/main">
              <a:ext uri="{FF2B5EF4-FFF2-40B4-BE49-F238E27FC236}">
                <a16:creationId xmlns:a16="http://schemas.microsoft.com/office/drawing/2014/main" id="{895CF702-E3F2-48F6-8A7C-CF2560F9D769}"/>
              </a:ext>
            </a:extLst>
          </p:cNvPr>
          <p:cNvSpPr>
            <a:spLocks xmlns:a="http://schemas.openxmlformats.org/drawingml/2006/main" noGrp="1"/>
          </p:cNvSpPr>
          <p:nvPr/>
        </p:nvSpPr>
        <p:spPr>
          <a:xfrm xmlns:a="http://schemas.openxmlformats.org/drawingml/2006/main">
            <a:off x="495300" y="8943975"/>
            <a:ext cx="171450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98" b="1">
                <a:solidFill>
                  <a:srgbClr val="183B39"/>
                </a:solidFill>
              </a:defRPr>
            </a:pPr>
            <a:r>
              <a:rPr sz="698" b="1">
                <a:solidFill>
                  <a:srgbClr val="183B39"/>
                </a:solidFill>
              </a:rPr>
              <a:t>Monitor and fix targeted EANs without blanket trade spend</a:t>
            </a:r>
          </a:p>
        </p:txBody>
      </p:sp>
      <p:sp>
        <p:nvSpPr>
          <p:cNvPr id="69" name="">
            <a:extLst xmlns:a="http://schemas.openxmlformats.org/drawingml/2006/main">
              <a:ext uri="{FF2B5EF4-FFF2-40B4-BE49-F238E27FC236}">
                <a16:creationId xmlns:a16="http://schemas.microsoft.com/office/drawing/2014/main" id="{2E92DB84-AC47-498A-AA31-88CC82A0C5D1}"/>
              </a:ext>
            </a:extLst>
          </p:cNvPr>
          <p:cNvSpPr>
            <a:spLocks xmlns:a="http://schemas.openxmlformats.org/drawingml/2006/main" noGrp="1"/>
          </p:cNvSpPr>
          <p:nvPr/>
        </p:nvSpPr>
        <p:spPr>
          <a:xfrm xmlns:a="http://schemas.openxmlformats.org/drawingml/2006/main">
            <a:off x="495300" y="9505950"/>
            <a:ext cx="1714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60" b="1">
                <a:solidFill>
                  <a:srgbClr val="116F68"/>
                </a:solidFill>
              </a:defRPr>
            </a:pPr>
            <a:r>
              <a:rPr sz="660" b="1">
                <a:solidFill>
                  <a:srgbClr val="116F68"/>
                </a:solidFill>
              </a:rPr>
              <a:t>KPI: Stable sales/store</a:t>
            </a:r>
          </a:p>
        </p:txBody>
      </p:sp>
      <p:sp>
        <p:nvSpPr>
          <p:cNvPr id="70" name="">
            <a:extLst xmlns:a="http://schemas.openxmlformats.org/drawingml/2006/main">
              <a:ext uri="{FF2B5EF4-FFF2-40B4-BE49-F238E27FC236}">
                <a16:creationId xmlns:a16="http://schemas.microsoft.com/office/drawing/2014/main" id="{6FCEFF85-CC61-4FF9-B46A-C1493000B6A7}"/>
              </a:ext>
            </a:extLst>
          </p:cNvPr>
          <p:cNvSpPr>
            <a:spLocks xmlns:a="http://schemas.openxmlformats.org/drawingml/2006/main" noGrp="1"/>
          </p:cNvSpPr>
          <p:nvPr/>
        </p:nvSpPr>
        <p:spPr>
          <a:xfrm xmlns:a="http://schemas.openxmlformats.org/drawingml/2006/main">
            <a:off x="2438400" y="7239000"/>
            <a:ext cx="1981200" cy="2571750"/>
          </a:xfrm>
          <a:prstGeom xmlns:a="http://schemas.openxmlformats.org/drawingml/2006/main" prst="roundRect">
            <a:avLst>
              <a:gd name="adj" fmla="val 3846"/>
            </a:avLst>
          </a:prstGeom>
          <a:solidFill xmlns:a="http://schemas.openxmlformats.org/drawingml/2006/main">
            <a:srgbClr val="FFFFFF"/>
          </a:solidFill>
          <a:ln xmlns:a="http://schemas.openxmlformats.org/drawingml/2006/main" w="9525">
            <a:solidFill>
              <a:srgbClr val="C8DCD7"/>
            </a:solidFill>
            <a:prstDash val="solid"/>
          </a:ln>
        </p:spPr>
      </p:sp>
      <p:sp>
        <p:nvSpPr>
          <p:cNvPr id="71" name="">
            <a:extLst xmlns:a="http://schemas.openxmlformats.org/drawingml/2006/main">
              <a:ext uri="{FF2B5EF4-FFF2-40B4-BE49-F238E27FC236}">
                <a16:creationId xmlns:a16="http://schemas.microsoft.com/office/drawing/2014/main" id="{9C294AB7-F031-44A0-8986-0D913E36FDF9}"/>
              </a:ext>
            </a:extLst>
          </p:cNvPr>
          <p:cNvSpPr>
            <a:spLocks xmlns:a="http://schemas.openxmlformats.org/drawingml/2006/main" noGrp="1"/>
          </p:cNvSpPr>
          <p:nvPr/>
        </p:nvSpPr>
        <p:spPr>
          <a:xfrm xmlns:a="http://schemas.openxmlformats.org/drawingml/2006/main">
            <a:off x="2438400" y="7239000"/>
            <a:ext cx="1981200" cy="285750"/>
          </a:xfrm>
          <a:prstGeom xmlns:a="http://schemas.openxmlformats.org/drawingml/2006/main" prst="rect">
            <a:avLst/>
          </a:prstGeom>
          <a:solidFill xmlns:a="http://schemas.openxmlformats.org/drawingml/2006/main">
            <a:srgbClr val="2B9A66"/>
          </a:solidFill>
          <a:ln xmlns:a="http://schemas.openxmlformats.org/drawingml/2006/main" w="0">
            <a:solidFill>
              <a:srgbClr val="2B9A66"/>
            </a:solidFill>
            <a:prstDash val="solid"/>
          </a:ln>
        </p:spPr>
      </p:sp>
      <p:sp>
        <p:nvSpPr>
          <p:cNvPr id="72" name="">
            <a:extLst xmlns:a="http://schemas.openxmlformats.org/drawingml/2006/main">
              <a:ext uri="{FF2B5EF4-FFF2-40B4-BE49-F238E27FC236}">
                <a16:creationId xmlns:a16="http://schemas.microsoft.com/office/drawing/2014/main" id="{FDA03E3A-F1B1-425A-8BCD-46B47EBE93F9}"/>
              </a:ext>
            </a:extLst>
          </p:cNvPr>
          <p:cNvSpPr>
            <a:spLocks xmlns:a="http://schemas.openxmlformats.org/drawingml/2006/main" noGrp="1"/>
          </p:cNvSpPr>
          <p:nvPr/>
        </p:nvSpPr>
        <p:spPr>
          <a:xfrm xmlns:a="http://schemas.openxmlformats.org/drawingml/2006/main">
            <a:off x="2524125" y="7258050"/>
            <a:ext cx="18097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788" b="1">
                <a:solidFill>
                  <a:srgbClr val="FFFFFF"/>
                </a:solidFill>
              </a:defRPr>
            </a:pPr>
            <a:r>
              <a:rPr sz="788" b="1">
                <a:solidFill>
                  <a:srgbClr val="FFFFFF"/>
                </a:solidFill>
              </a:rPr>
              <a:t>VISHAL MEGA MART</a:t>
            </a:r>
          </a:p>
        </p:txBody>
      </p:sp>
      <p:sp>
        <p:nvSpPr>
          <p:cNvPr id="73" name="">
            <a:extLst xmlns:a="http://schemas.openxmlformats.org/drawingml/2006/main">
              <a:ext uri="{FF2B5EF4-FFF2-40B4-BE49-F238E27FC236}">
                <a16:creationId xmlns:a16="http://schemas.microsoft.com/office/drawing/2014/main" id="{5BD85825-787C-4A97-B74B-270CDB38EFBD}"/>
              </a:ext>
            </a:extLst>
          </p:cNvPr>
          <p:cNvSpPr>
            <a:spLocks xmlns:a="http://schemas.openxmlformats.org/drawingml/2006/main" noGrp="1"/>
          </p:cNvSpPr>
          <p:nvPr/>
        </p:nvSpPr>
        <p:spPr>
          <a:xfrm xmlns:a="http://schemas.openxmlformats.org/drawingml/2006/main">
            <a:off x="2571750" y="7639050"/>
            <a:ext cx="17145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900" b="1">
                <a:solidFill>
                  <a:srgbClr val="183B39"/>
                </a:solidFill>
              </a:defRPr>
            </a:pPr>
            <a:r>
              <a:rPr sz="900" b="1">
                <a:solidFill>
                  <a:srgbClr val="183B39"/>
                </a:solidFill>
              </a:rPr>
              <a:t>Expansion execution risk</a:t>
            </a:r>
          </a:p>
        </p:txBody>
      </p:sp>
      <p:sp>
        <p:nvSpPr>
          <p:cNvPr id="74" name="">
            <a:extLst xmlns:a="http://schemas.openxmlformats.org/drawingml/2006/main">
              <a:ext uri="{FF2B5EF4-FFF2-40B4-BE49-F238E27FC236}">
                <a16:creationId xmlns:a16="http://schemas.microsoft.com/office/drawing/2014/main" id="{76712426-0FF8-4FF6-A0C4-7E011E003382}"/>
              </a:ext>
            </a:extLst>
          </p:cNvPr>
          <p:cNvSpPr>
            <a:spLocks xmlns:a="http://schemas.openxmlformats.org/drawingml/2006/main" noGrp="1"/>
          </p:cNvSpPr>
          <p:nvPr/>
        </p:nvSpPr>
        <p:spPr>
          <a:xfrm xmlns:a="http://schemas.openxmlformats.org/drawingml/2006/main">
            <a:off x="2571750" y="8039100"/>
            <a:ext cx="666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38" b="1">
                <a:solidFill>
                  <a:srgbClr val="28A596"/>
                </a:solidFill>
              </a:defRPr>
            </a:pPr>
            <a:r>
              <a:rPr sz="638" b="1">
                <a:solidFill>
                  <a:srgbClr val="28A596"/>
                </a:solidFill>
              </a:rPr>
              <a:t>EVIDENCE</a:t>
            </a:r>
          </a:p>
        </p:txBody>
      </p:sp>
      <p:sp>
        <p:nvSpPr>
          <p:cNvPr id="75" name="">
            <a:extLst xmlns:a="http://schemas.openxmlformats.org/drawingml/2006/main">
              <a:ext uri="{FF2B5EF4-FFF2-40B4-BE49-F238E27FC236}">
                <a16:creationId xmlns:a16="http://schemas.microsoft.com/office/drawing/2014/main" id="{61C29820-B33C-4D86-B64E-E26C400A872D}"/>
              </a:ext>
            </a:extLst>
          </p:cNvPr>
          <p:cNvSpPr>
            <a:spLocks xmlns:a="http://schemas.openxmlformats.org/drawingml/2006/main" noGrp="1"/>
          </p:cNvSpPr>
          <p:nvPr/>
        </p:nvSpPr>
        <p:spPr>
          <a:xfrm xmlns:a="http://schemas.openxmlformats.org/drawingml/2006/main">
            <a:off x="2571750" y="8229600"/>
            <a:ext cx="17145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98" b="0">
                <a:solidFill>
                  <a:srgbClr val="5F716E"/>
                </a:solidFill>
              </a:defRPr>
            </a:pPr>
            <a:r>
              <a:rPr sz="698" b="0">
                <a:solidFill>
                  <a:srgbClr val="5F716E"/>
                </a:solidFill>
              </a:rPr>
              <a:t>Sites +10.2%; Shampoo and cleanser lead growth</a:t>
            </a:r>
          </a:p>
        </p:txBody>
      </p:sp>
      <p:sp>
        <p:nvSpPr>
          <p:cNvPr id="76" name="">
            <a:extLst xmlns:a="http://schemas.openxmlformats.org/drawingml/2006/main">
              <a:ext uri="{FF2B5EF4-FFF2-40B4-BE49-F238E27FC236}">
                <a16:creationId xmlns:a16="http://schemas.microsoft.com/office/drawing/2014/main" id="{270A4FE5-9C97-47DB-A828-CD4C1258ADB6}"/>
              </a:ext>
            </a:extLst>
          </p:cNvPr>
          <p:cNvSpPr>
            <a:spLocks xmlns:a="http://schemas.openxmlformats.org/drawingml/2006/main" noGrp="1"/>
          </p:cNvSpPr>
          <p:nvPr/>
        </p:nvSpPr>
        <p:spPr>
          <a:xfrm xmlns:a="http://schemas.openxmlformats.org/drawingml/2006/main">
            <a:off x="2571750" y="8763000"/>
            <a:ext cx="666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38" b="1">
                <a:solidFill>
                  <a:srgbClr val="D6544D"/>
                </a:solidFill>
              </a:defRPr>
            </a:pPr>
            <a:r>
              <a:rPr sz="638" b="1">
                <a:solidFill>
                  <a:srgbClr val="D6544D"/>
                </a:solidFill>
              </a:rPr>
              <a:t>RECOVERY</a:t>
            </a:r>
          </a:p>
        </p:txBody>
      </p:sp>
      <p:sp>
        <p:nvSpPr>
          <p:cNvPr id="77" name="">
            <a:extLst xmlns:a="http://schemas.openxmlformats.org/drawingml/2006/main">
              <a:ext uri="{FF2B5EF4-FFF2-40B4-BE49-F238E27FC236}">
                <a16:creationId xmlns:a16="http://schemas.microsoft.com/office/drawing/2014/main" id="{D4739AEF-E778-40C1-9BDE-897D7E442938}"/>
              </a:ext>
            </a:extLst>
          </p:cNvPr>
          <p:cNvSpPr>
            <a:spLocks xmlns:a="http://schemas.openxmlformats.org/drawingml/2006/main" noGrp="1"/>
          </p:cNvSpPr>
          <p:nvPr/>
        </p:nvSpPr>
        <p:spPr>
          <a:xfrm xmlns:a="http://schemas.openxmlformats.org/drawingml/2006/main">
            <a:off x="2571750" y="8943975"/>
            <a:ext cx="171450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98" b="1">
                <a:solidFill>
                  <a:srgbClr val="183B39"/>
                </a:solidFill>
              </a:defRPr>
            </a:pPr>
            <a:r>
              <a:rPr sz="698" b="1">
                <a:solidFill>
                  <a:srgbClr val="183B39"/>
                </a:solidFill>
              </a:rPr>
              <a:t>Protect fill rate before adding more doors</a:t>
            </a:r>
          </a:p>
        </p:txBody>
      </p:sp>
      <p:sp>
        <p:nvSpPr>
          <p:cNvPr id="78" name="">
            <a:extLst xmlns:a="http://schemas.openxmlformats.org/drawingml/2006/main">
              <a:ext uri="{FF2B5EF4-FFF2-40B4-BE49-F238E27FC236}">
                <a16:creationId xmlns:a16="http://schemas.microsoft.com/office/drawing/2014/main" id="{7305CCEC-7F91-41A0-A9B4-FDCB685A2A1C}"/>
              </a:ext>
            </a:extLst>
          </p:cNvPr>
          <p:cNvSpPr>
            <a:spLocks xmlns:a="http://schemas.openxmlformats.org/drawingml/2006/main" noGrp="1"/>
          </p:cNvSpPr>
          <p:nvPr/>
        </p:nvSpPr>
        <p:spPr>
          <a:xfrm xmlns:a="http://schemas.openxmlformats.org/drawingml/2006/main">
            <a:off x="2571750" y="9505950"/>
            <a:ext cx="1714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60" b="1">
                <a:solidFill>
                  <a:srgbClr val="116F68"/>
                </a:solidFill>
              </a:defRPr>
            </a:pPr>
            <a:r>
              <a:rPr sz="660" b="1">
                <a:solidFill>
                  <a:srgbClr val="116F68"/>
                </a:solidFill>
              </a:rPr>
              <a:t>KPI: OSA and sales/new door</a:t>
            </a:r>
          </a:p>
        </p:txBody>
      </p:sp>
      <p:sp>
        <p:nvSpPr>
          <p:cNvPr id="79" name="">
            <a:extLst xmlns:a="http://schemas.openxmlformats.org/drawingml/2006/main">
              <a:ext uri="{FF2B5EF4-FFF2-40B4-BE49-F238E27FC236}">
                <a16:creationId xmlns:a16="http://schemas.microsoft.com/office/drawing/2014/main" id="{45F71B30-8881-4009-8010-235CF152E4DF}"/>
              </a:ext>
            </a:extLst>
          </p:cNvPr>
          <p:cNvSpPr>
            <a:spLocks xmlns:a="http://schemas.openxmlformats.org/drawingml/2006/main" noGrp="1"/>
          </p:cNvSpPr>
          <p:nvPr/>
        </p:nvSpPr>
        <p:spPr>
          <a:xfrm xmlns:a="http://schemas.openxmlformats.org/drawingml/2006/main">
            <a:off x="4514850" y="7239000"/>
            <a:ext cx="1981200" cy="2571750"/>
          </a:xfrm>
          <a:prstGeom xmlns:a="http://schemas.openxmlformats.org/drawingml/2006/main" prst="roundRect">
            <a:avLst>
              <a:gd name="adj" fmla="val 3846"/>
            </a:avLst>
          </a:prstGeom>
          <a:solidFill xmlns:a="http://schemas.openxmlformats.org/drawingml/2006/main">
            <a:srgbClr val="FFFFFF"/>
          </a:solidFill>
          <a:ln xmlns:a="http://schemas.openxmlformats.org/drawingml/2006/main" w="9525">
            <a:solidFill>
              <a:srgbClr val="C8DCD7"/>
            </a:solidFill>
            <a:prstDash val="solid"/>
          </a:ln>
        </p:spPr>
      </p:sp>
      <p:sp>
        <p:nvSpPr>
          <p:cNvPr id="80" name="">
            <a:extLst xmlns:a="http://schemas.openxmlformats.org/drawingml/2006/main">
              <a:ext uri="{FF2B5EF4-FFF2-40B4-BE49-F238E27FC236}">
                <a16:creationId xmlns:a16="http://schemas.microsoft.com/office/drawing/2014/main" id="{F9BA016B-87E6-435D-9A7B-00DC79EEA933}"/>
              </a:ext>
            </a:extLst>
          </p:cNvPr>
          <p:cNvSpPr>
            <a:spLocks xmlns:a="http://schemas.openxmlformats.org/drawingml/2006/main" noGrp="1"/>
          </p:cNvSpPr>
          <p:nvPr/>
        </p:nvSpPr>
        <p:spPr>
          <a:xfrm xmlns:a="http://schemas.openxmlformats.org/drawingml/2006/main">
            <a:off x="4514850" y="7239000"/>
            <a:ext cx="1981200" cy="285750"/>
          </a:xfrm>
          <a:prstGeom xmlns:a="http://schemas.openxmlformats.org/drawingml/2006/main" prst="rect">
            <a:avLst/>
          </a:prstGeom>
          <a:solidFill xmlns:a="http://schemas.openxmlformats.org/drawingml/2006/main">
            <a:srgbClr val="D6544D"/>
          </a:solidFill>
          <a:ln xmlns:a="http://schemas.openxmlformats.org/drawingml/2006/main" w="0">
            <a:solidFill>
              <a:srgbClr val="D6544D"/>
            </a:solidFill>
            <a:prstDash val="solid"/>
          </a:ln>
        </p:spPr>
      </p:sp>
      <p:sp>
        <p:nvSpPr>
          <p:cNvPr id="81" name="">
            <a:extLst xmlns:a="http://schemas.openxmlformats.org/drawingml/2006/main">
              <a:ext uri="{FF2B5EF4-FFF2-40B4-BE49-F238E27FC236}">
                <a16:creationId xmlns:a16="http://schemas.microsoft.com/office/drawing/2014/main" id="{6D82ED3F-46E5-45A7-A465-B2C4B46C9095}"/>
              </a:ext>
            </a:extLst>
          </p:cNvPr>
          <p:cNvSpPr>
            <a:spLocks xmlns:a="http://schemas.openxmlformats.org/drawingml/2006/main" noGrp="1"/>
          </p:cNvSpPr>
          <p:nvPr/>
        </p:nvSpPr>
        <p:spPr>
          <a:xfrm xmlns:a="http://schemas.openxmlformats.org/drawingml/2006/main">
            <a:off x="4600575" y="7258050"/>
            <a:ext cx="18097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788" b="1">
                <a:solidFill>
                  <a:srgbClr val="FFFFFF"/>
                </a:solidFill>
              </a:defRPr>
            </a:pPr>
            <a:r>
              <a:rPr sz="788" b="1">
                <a:solidFill>
                  <a:srgbClr val="FFFFFF"/>
                </a:solidFill>
              </a:rPr>
              <a:t>FSN / NYKAA</a:t>
            </a:r>
          </a:p>
        </p:txBody>
      </p:sp>
      <p:sp>
        <p:nvSpPr>
          <p:cNvPr id="82" name="">
            <a:extLst xmlns:a="http://schemas.openxmlformats.org/drawingml/2006/main">
              <a:ext uri="{FF2B5EF4-FFF2-40B4-BE49-F238E27FC236}">
                <a16:creationId xmlns:a16="http://schemas.microsoft.com/office/drawing/2014/main" id="{796CBD32-19FA-4FFE-B2B0-E54AE7623464}"/>
              </a:ext>
            </a:extLst>
          </p:cNvPr>
          <p:cNvSpPr>
            <a:spLocks xmlns:a="http://schemas.openxmlformats.org/drawingml/2006/main" noGrp="1"/>
          </p:cNvSpPr>
          <p:nvPr/>
        </p:nvSpPr>
        <p:spPr>
          <a:xfrm xmlns:a="http://schemas.openxmlformats.org/drawingml/2006/main">
            <a:off x="4648200" y="7639050"/>
            <a:ext cx="17145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900" b="1">
                <a:solidFill>
                  <a:srgbClr val="183B39"/>
                </a:solidFill>
              </a:defRPr>
            </a:pPr>
            <a:r>
              <a:rPr sz="900" b="1">
                <a:solidFill>
                  <a:srgbClr val="183B39"/>
                </a:solidFill>
              </a:rPr>
              <a:t>June-July softness after strong base</a:t>
            </a:r>
          </a:p>
        </p:txBody>
      </p:sp>
      <p:sp>
        <p:nvSpPr>
          <p:cNvPr id="83" name="">
            <a:extLst xmlns:a="http://schemas.openxmlformats.org/drawingml/2006/main">
              <a:ext uri="{FF2B5EF4-FFF2-40B4-BE49-F238E27FC236}">
                <a16:creationId xmlns:a16="http://schemas.microsoft.com/office/drawing/2014/main" id="{8D6B1A5E-213D-456D-8D09-C5D6A87949DC}"/>
              </a:ext>
            </a:extLst>
          </p:cNvPr>
          <p:cNvSpPr>
            <a:spLocks xmlns:a="http://schemas.openxmlformats.org/drawingml/2006/main" noGrp="1"/>
          </p:cNvSpPr>
          <p:nvPr/>
        </p:nvSpPr>
        <p:spPr>
          <a:xfrm xmlns:a="http://schemas.openxmlformats.org/drawingml/2006/main">
            <a:off x="4648200" y="8039100"/>
            <a:ext cx="666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38" b="1">
                <a:solidFill>
                  <a:srgbClr val="28A596"/>
                </a:solidFill>
              </a:defRPr>
            </a:pPr>
            <a:r>
              <a:rPr sz="638" b="1">
                <a:solidFill>
                  <a:srgbClr val="28A596"/>
                </a:solidFill>
              </a:rPr>
              <a:t>EVIDENCE</a:t>
            </a:r>
          </a:p>
        </p:txBody>
      </p:sp>
      <p:sp>
        <p:nvSpPr>
          <p:cNvPr id="84" name="">
            <a:extLst xmlns:a="http://schemas.openxmlformats.org/drawingml/2006/main">
              <a:ext uri="{FF2B5EF4-FFF2-40B4-BE49-F238E27FC236}">
                <a16:creationId xmlns:a16="http://schemas.microsoft.com/office/drawing/2014/main" id="{0165EAA8-9888-4110-AFC9-8E815D1AD887}"/>
              </a:ext>
            </a:extLst>
          </p:cNvPr>
          <p:cNvSpPr>
            <a:spLocks xmlns:a="http://schemas.openxmlformats.org/drawingml/2006/main" noGrp="1"/>
          </p:cNvSpPr>
          <p:nvPr/>
        </p:nvSpPr>
        <p:spPr>
          <a:xfrm xmlns:a="http://schemas.openxmlformats.org/drawingml/2006/main">
            <a:off x="4648200" y="8229600"/>
            <a:ext cx="17145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98" b="0">
                <a:solidFill>
                  <a:srgbClr val="5F716E"/>
                </a:solidFill>
              </a:defRPr>
            </a:pPr>
            <a:r>
              <a:rPr sz="698" b="0">
                <a:solidFill>
                  <a:srgbClr val="5F716E"/>
                </a:solidFill>
              </a:rPr>
              <a:t>July -4.6%, but conversion remains 99.4%</a:t>
            </a:r>
          </a:p>
        </p:txBody>
      </p:sp>
      <p:sp>
        <p:nvSpPr>
          <p:cNvPr id="85" name="">
            <a:extLst xmlns:a="http://schemas.openxmlformats.org/drawingml/2006/main">
              <a:ext uri="{FF2B5EF4-FFF2-40B4-BE49-F238E27FC236}">
                <a16:creationId xmlns:a16="http://schemas.microsoft.com/office/drawing/2014/main" id="{3C9CD4AC-EFCB-4403-942E-0FC69334A621}"/>
              </a:ext>
            </a:extLst>
          </p:cNvPr>
          <p:cNvSpPr>
            <a:spLocks xmlns:a="http://schemas.openxmlformats.org/drawingml/2006/main" noGrp="1"/>
          </p:cNvSpPr>
          <p:nvPr/>
        </p:nvSpPr>
        <p:spPr>
          <a:xfrm xmlns:a="http://schemas.openxmlformats.org/drawingml/2006/main">
            <a:off x="4648200" y="8763000"/>
            <a:ext cx="666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38" b="1">
                <a:solidFill>
                  <a:srgbClr val="D6544D"/>
                </a:solidFill>
              </a:defRPr>
            </a:pPr>
            <a:r>
              <a:rPr sz="638" b="1">
                <a:solidFill>
                  <a:srgbClr val="D6544D"/>
                </a:solidFill>
              </a:rPr>
              <a:t>RECOVERY</a:t>
            </a:r>
          </a:p>
        </p:txBody>
      </p:sp>
      <p:sp>
        <p:nvSpPr>
          <p:cNvPr id="86" name="">
            <a:extLst xmlns:a="http://schemas.openxmlformats.org/drawingml/2006/main">
              <a:ext uri="{FF2B5EF4-FFF2-40B4-BE49-F238E27FC236}">
                <a16:creationId xmlns:a16="http://schemas.microsoft.com/office/drawing/2014/main" id="{0FCD943D-E27C-4D9A-A726-ED815E083AE7}"/>
              </a:ext>
            </a:extLst>
          </p:cNvPr>
          <p:cNvSpPr>
            <a:spLocks xmlns:a="http://schemas.openxmlformats.org/drawingml/2006/main" noGrp="1"/>
          </p:cNvSpPr>
          <p:nvPr/>
        </p:nvSpPr>
        <p:spPr>
          <a:xfrm xmlns:a="http://schemas.openxmlformats.org/drawingml/2006/main">
            <a:off x="4648200" y="8943975"/>
            <a:ext cx="171450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98" b="1">
                <a:solidFill>
                  <a:srgbClr val="183B39"/>
                </a:solidFill>
              </a:defRPr>
            </a:pPr>
            <a:r>
              <a:rPr sz="698" b="1">
                <a:solidFill>
                  <a:srgbClr val="183B39"/>
                </a:solidFill>
              </a:rPr>
              <a:t>Protect top face-wash/sunscreen articles and maintain flow parity</a:t>
            </a:r>
          </a:p>
        </p:txBody>
      </p:sp>
      <p:sp>
        <p:nvSpPr>
          <p:cNvPr id="87" name="">
            <a:extLst xmlns:a="http://schemas.openxmlformats.org/drawingml/2006/main">
              <a:ext uri="{FF2B5EF4-FFF2-40B4-BE49-F238E27FC236}">
                <a16:creationId xmlns:a16="http://schemas.microsoft.com/office/drawing/2014/main" id="{C58B4916-4C8F-4F0E-A922-9AC936F68FF2}"/>
              </a:ext>
            </a:extLst>
          </p:cNvPr>
          <p:cNvSpPr>
            <a:spLocks xmlns:a="http://schemas.openxmlformats.org/drawingml/2006/main" noGrp="1"/>
          </p:cNvSpPr>
          <p:nvPr/>
        </p:nvSpPr>
        <p:spPr>
          <a:xfrm xmlns:a="http://schemas.openxmlformats.org/drawingml/2006/main">
            <a:off x="4648200" y="9505950"/>
            <a:ext cx="1714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60" b="1">
                <a:solidFill>
                  <a:srgbClr val="116F68"/>
                </a:solidFill>
              </a:defRPr>
            </a:pPr>
            <a:r>
              <a:rPr sz="660" b="1">
                <a:solidFill>
                  <a:srgbClr val="116F68"/>
                </a:solidFill>
              </a:rPr>
              <a:t>KPI: Conversion &gt;95%; return to ₹2.17 Cr</a:t>
            </a:r>
          </a:p>
        </p:txBody>
      </p:sp>
      <p:sp>
        <p:nvSpPr>
          <p:cNvPr id="88" name="">
            <a:extLst xmlns:a="http://schemas.openxmlformats.org/drawingml/2006/main">
              <a:ext uri="{FF2B5EF4-FFF2-40B4-BE49-F238E27FC236}">
                <a16:creationId xmlns:a16="http://schemas.microsoft.com/office/drawing/2014/main" id="{23F0C5C8-C0B1-41C6-9F5A-FDDBC0119307}"/>
              </a:ext>
            </a:extLst>
          </p:cNvPr>
          <p:cNvSpPr>
            <a:spLocks xmlns:a="http://schemas.openxmlformats.org/drawingml/2006/main" noGrp="1"/>
          </p:cNvSpPr>
          <p:nvPr/>
        </p:nvSpPr>
        <p:spPr>
          <a:xfrm xmlns:a="http://schemas.openxmlformats.org/drawingml/2006/main">
            <a:off x="361950" y="11544300"/>
            <a:ext cx="6134100" cy="457200"/>
          </a:xfrm>
          <a:prstGeom xmlns:a="http://schemas.openxmlformats.org/drawingml/2006/main" prst="roundRect">
            <a:avLst>
              <a:gd name="adj" fmla="val 16667"/>
            </a:avLst>
          </a:prstGeom>
          <a:solidFill xmlns:a="http://schemas.openxmlformats.org/drawingml/2006/main">
            <a:srgbClr val="DFF2ED"/>
          </a:solidFill>
          <a:ln xmlns:a="http://schemas.openxmlformats.org/drawingml/2006/main" w="9525">
            <a:solidFill>
              <a:srgbClr val="28A596"/>
            </a:solidFill>
            <a:prstDash val="solid"/>
          </a:ln>
        </p:spPr>
      </p:sp>
      <p:sp>
        <p:nvSpPr>
          <p:cNvPr id="89" name="">
            <a:extLst xmlns:a="http://schemas.openxmlformats.org/drawingml/2006/main">
              <a:ext uri="{FF2B5EF4-FFF2-40B4-BE49-F238E27FC236}">
                <a16:creationId xmlns:a16="http://schemas.microsoft.com/office/drawing/2014/main" id="{9D30BD00-AC92-4F6E-B901-F8E44376AC66}"/>
              </a:ext>
            </a:extLst>
          </p:cNvPr>
          <p:cNvSpPr>
            <a:spLocks xmlns:a="http://schemas.openxmlformats.org/drawingml/2006/main" noGrp="1"/>
          </p:cNvSpPr>
          <p:nvPr/>
        </p:nvSpPr>
        <p:spPr>
          <a:xfrm xmlns:a="http://schemas.openxmlformats.org/drawingml/2006/main">
            <a:off x="438150" y="11582400"/>
            <a:ext cx="142875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38" b="1">
                <a:solidFill>
                  <a:srgbClr val="116F68"/>
                </a:solidFill>
              </a:defRPr>
            </a:pPr>
            <a:r>
              <a:rPr sz="638" b="1">
                <a:solidFill>
                  <a:srgbClr val="116F68"/>
                </a:solidFill>
              </a:rPr>
              <a:t>EVIDENCE</a:t>
            </a:r>
          </a:p>
        </p:txBody>
      </p:sp>
      <p:sp>
        <p:nvSpPr>
          <p:cNvPr id="90" name="">
            <a:extLst xmlns:a="http://schemas.openxmlformats.org/drawingml/2006/main">
              <a:ext uri="{FF2B5EF4-FFF2-40B4-BE49-F238E27FC236}">
                <a16:creationId xmlns:a16="http://schemas.microsoft.com/office/drawing/2014/main" id="{701D53C3-B464-4AC4-B186-3F2C855034EE}"/>
              </a:ext>
            </a:extLst>
          </p:cNvPr>
          <p:cNvSpPr>
            <a:spLocks xmlns:a="http://schemas.openxmlformats.org/drawingml/2006/main" noGrp="1"/>
          </p:cNvSpPr>
          <p:nvPr/>
        </p:nvSpPr>
        <p:spPr>
          <a:xfrm xmlns:a="http://schemas.openxmlformats.org/drawingml/2006/main">
            <a:off x="438150" y="11734800"/>
            <a:ext cx="1428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00" b="0">
                <a:solidFill>
                  <a:srgbClr val="183B39"/>
                </a:solidFill>
              </a:defRPr>
            </a:pPr>
            <a:r>
              <a:rPr sz="600" b="0">
                <a:solidFill>
                  <a:srgbClr val="183B39"/>
                </a:solidFill>
              </a:rPr>
              <a:t>Three urgent recovery chains (Reliance -15%, Metro -20.5%, Arambagh -22.5%); three scale chains (Lulu +46.5%, VMM +18.2%, Sasta Sundar +127.8%); each has a distinct root cause</a:t>
            </a:r>
          </a:p>
        </p:txBody>
      </p:sp>
      <p:sp>
        <p:nvSpPr>
          <p:cNvPr id="91" name="">
            <a:extLst xmlns:a="http://schemas.openxmlformats.org/drawingml/2006/main">
              <a:ext uri="{FF2B5EF4-FFF2-40B4-BE49-F238E27FC236}">
                <a16:creationId xmlns:a16="http://schemas.microsoft.com/office/drawing/2014/main" id="{4A9BF737-5674-4070-B750-276EE416C8E9}"/>
              </a:ext>
            </a:extLst>
          </p:cNvPr>
          <p:cNvSpPr>
            <a:spLocks xmlns:a="http://schemas.openxmlformats.org/drawingml/2006/main" noGrp="1"/>
          </p:cNvSpPr>
          <p:nvPr/>
        </p:nvSpPr>
        <p:spPr>
          <a:xfrm xmlns:a="http://schemas.openxmlformats.org/drawingml/2006/main">
            <a:off x="1924050" y="11610975"/>
            <a:ext cx="0" cy="304800"/>
          </a:xfrm>
          <a:prstGeom xmlns:a="http://schemas.openxmlformats.org/drawingml/2006/main" prst="line">
            <a:avLst/>
          </a:prstGeom>
          <a:ln xmlns:a="http://schemas.openxmlformats.org/drawingml/2006/main" w="9525">
            <a:solidFill>
              <a:srgbClr val="C8DCD7"/>
            </a:solidFill>
            <a:prstDash val="solid"/>
          </a:ln>
        </p:spPr>
      </p:sp>
      <p:sp>
        <p:nvSpPr>
          <p:cNvPr id="92" name="">
            <a:extLst xmlns:a="http://schemas.openxmlformats.org/drawingml/2006/main">
              <a:ext uri="{FF2B5EF4-FFF2-40B4-BE49-F238E27FC236}">
                <a16:creationId xmlns:a16="http://schemas.microsoft.com/office/drawing/2014/main" id="{8EBDC6D6-3DDA-441F-91E4-387AEC67D0E1}"/>
              </a:ext>
            </a:extLst>
          </p:cNvPr>
          <p:cNvSpPr>
            <a:spLocks xmlns:a="http://schemas.openxmlformats.org/drawingml/2006/main" noGrp="1"/>
          </p:cNvSpPr>
          <p:nvPr/>
        </p:nvSpPr>
        <p:spPr>
          <a:xfrm xmlns:a="http://schemas.openxmlformats.org/drawingml/2006/main">
            <a:off x="1952625" y="11582400"/>
            <a:ext cx="142875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38" b="1">
                <a:solidFill>
                  <a:srgbClr val="116F68"/>
                </a:solidFill>
              </a:defRPr>
            </a:pPr>
            <a:r>
              <a:rPr sz="638" b="1">
                <a:solidFill>
                  <a:srgbClr val="116F68"/>
                </a:solidFill>
              </a:rPr>
              <a:t>IMPLICATION</a:t>
            </a:r>
          </a:p>
        </p:txBody>
      </p:sp>
      <p:sp>
        <p:nvSpPr>
          <p:cNvPr id="93" name="">
            <a:extLst xmlns:a="http://schemas.openxmlformats.org/drawingml/2006/main">
              <a:ext uri="{FF2B5EF4-FFF2-40B4-BE49-F238E27FC236}">
                <a16:creationId xmlns:a16="http://schemas.microsoft.com/office/drawing/2014/main" id="{5EE6FC7D-FFAF-4474-9C23-3F5805D0F121}"/>
              </a:ext>
            </a:extLst>
          </p:cNvPr>
          <p:cNvSpPr>
            <a:spLocks xmlns:a="http://schemas.openxmlformats.org/drawingml/2006/main" noGrp="1"/>
          </p:cNvSpPr>
          <p:nvPr/>
        </p:nvSpPr>
        <p:spPr>
          <a:xfrm xmlns:a="http://schemas.openxmlformats.org/drawingml/2006/main">
            <a:off x="1952625" y="11734800"/>
            <a:ext cx="1428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00" b="0">
                <a:solidFill>
                  <a:srgbClr val="183B39"/>
                </a:solidFill>
              </a:defRPr>
            </a:pPr>
            <a:r>
              <a:rPr sz="600" b="0">
                <a:solidFill>
                  <a:srgbClr val="183B39"/>
                </a:solidFill>
              </a:rPr>
              <a:t>Mix erosion (Reliance), range dilution (Metro), expansion execution (VMM), seasonal concentration (Wellness) — one intervention does not work across all; wrong diagnosis wastes three months</a:t>
            </a:r>
          </a:p>
        </p:txBody>
      </p:sp>
      <p:sp>
        <p:nvSpPr>
          <p:cNvPr id="94" name="">
            <a:extLst xmlns:a="http://schemas.openxmlformats.org/drawingml/2006/main">
              <a:ext uri="{FF2B5EF4-FFF2-40B4-BE49-F238E27FC236}">
                <a16:creationId xmlns:a16="http://schemas.microsoft.com/office/drawing/2014/main" id="{06BF9420-8687-47D3-9690-3E550E1AB4E7}"/>
              </a:ext>
            </a:extLst>
          </p:cNvPr>
          <p:cNvSpPr>
            <a:spLocks xmlns:a="http://schemas.openxmlformats.org/drawingml/2006/main" noGrp="1"/>
          </p:cNvSpPr>
          <p:nvPr/>
        </p:nvSpPr>
        <p:spPr>
          <a:xfrm xmlns:a="http://schemas.openxmlformats.org/drawingml/2006/main">
            <a:off x="3438525" y="11610975"/>
            <a:ext cx="0" cy="304800"/>
          </a:xfrm>
          <a:prstGeom xmlns:a="http://schemas.openxmlformats.org/drawingml/2006/main" prst="line">
            <a:avLst/>
          </a:prstGeom>
          <a:ln xmlns:a="http://schemas.openxmlformats.org/drawingml/2006/main" w="9525">
            <a:solidFill>
              <a:srgbClr val="C8DCD7"/>
            </a:solidFill>
            <a:prstDash val="solid"/>
          </a:ln>
        </p:spPr>
      </p:sp>
      <p:sp>
        <p:nvSpPr>
          <p:cNvPr id="95" name="">
            <a:extLst xmlns:a="http://schemas.openxmlformats.org/drawingml/2006/main">
              <a:ext uri="{FF2B5EF4-FFF2-40B4-BE49-F238E27FC236}">
                <a16:creationId xmlns:a16="http://schemas.microsoft.com/office/drawing/2014/main" id="{59D4F174-A5D3-4AD7-ABB9-1FE96BACF155}"/>
              </a:ext>
            </a:extLst>
          </p:cNvPr>
          <p:cNvSpPr>
            <a:spLocks xmlns:a="http://schemas.openxmlformats.org/drawingml/2006/main" noGrp="1"/>
          </p:cNvSpPr>
          <p:nvPr/>
        </p:nvSpPr>
        <p:spPr>
          <a:xfrm xmlns:a="http://schemas.openxmlformats.org/drawingml/2006/main">
            <a:off x="3467100" y="11582400"/>
            <a:ext cx="142875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38" b="1">
                <a:solidFill>
                  <a:srgbClr val="116F68"/>
                </a:solidFill>
              </a:defRPr>
            </a:pPr>
            <a:r>
              <a:rPr sz="638" b="1">
                <a:solidFill>
                  <a:srgbClr val="116F68"/>
                </a:solidFill>
              </a:rPr>
              <a:t>ACTION</a:t>
            </a:r>
          </a:p>
        </p:txBody>
      </p:sp>
      <p:sp>
        <p:nvSpPr>
          <p:cNvPr id="96" name="">
            <a:extLst xmlns:a="http://schemas.openxmlformats.org/drawingml/2006/main">
              <a:ext uri="{FF2B5EF4-FFF2-40B4-BE49-F238E27FC236}">
                <a16:creationId xmlns:a16="http://schemas.microsoft.com/office/drawing/2014/main" id="{901A3686-AFED-47E7-8740-567985D10077}"/>
              </a:ext>
            </a:extLst>
          </p:cNvPr>
          <p:cNvSpPr>
            <a:spLocks xmlns:a="http://schemas.openxmlformats.org/drawingml/2006/main" noGrp="1"/>
          </p:cNvSpPr>
          <p:nvPr/>
        </p:nvSpPr>
        <p:spPr>
          <a:xfrm xmlns:a="http://schemas.openxmlformats.org/drawingml/2006/main">
            <a:off x="3467100" y="11734800"/>
            <a:ext cx="1428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00" b="0">
                <a:solidFill>
                  <a:srgbClr val="183B39"/>
                </a:solidFill>
              </a:defRPr>
            </a:pPr>
            <a:r>
              <a:rPr sz="600" b="0">
                <a:solidFill>
                  <a:srgbClr val="183B39"/>
                </a:solidFill>
              </a:rPr>
              <a:t>Each recovery chain gets a named owner and chain-specific KPI; scale chains get availability protection brief; 30-day convergence review for all nine chains</a:t>
            </a:r>
          </a:p>
        </p:txBody>
      </p:sp>
      <p:sp>
        <p:nvSpPr>
          <p:cNvPr id="97" name="">
            <a:extLst xmlns:a="http://schemas.openxmlformats.org/drawingml/2006/main">
              <a:ext uri="{FF2B5EF4-FFF2-40B4-BE49-F238E27FC236}">
                <a16:creationId xmlns:a16="http://schemas.microsoft.com/office/drawing/2014/main" id="{1415B459-70B9-471F-9990-A3BE17E287E1}"/>
              </a:ext>
            </a:extLst>
          </p:cNvPr>
          <p:cNvSpPr>
            <a:spLocks xmlns:a="http://schemas.openxmlformats.org/drawingml/2006/main" noGrp="1"/>
          </p:cNvSpPr>
          <p:nvPr/>
        </p:nvSpPr>
        <p:spPr>
          <a:xfrm xmlns:a="http://schemas.openxmlformats.org/drawingml/2006/main">
            <a:off x="4953000" y="11610975"/>
            <a:ext cx="0" cy="304800"/>
          </a:xfrm>
          <a:prstGeom xmlns:a="http://schemas.openxmlformats.org/drawingml/2006/main" prst="line">
            <a:avLst/>
          </a:prstGeom>
          <a:ln xmlns:a="http://schemas.openxmlformats.org/drawingml/2006/main" w="9525">
            <a:solidFill>
              <a:srgbClr val="C8DCD7"/>
            </a:solidFill>
            <a:prstDash val="solid"/>
          </a:ln>
        </p:spPr>
      </p:sp>
      <p:sp>
        <p:nvSpPr>
          <p:cNvPr id="98" name="">
            <a:extLst xmlns:a="http://schemas.openxmlformats.org/drawingml/2006/main">
              <a:ext uri="{FF2B5EF4-FFF2-40B4-BE49-F238E27FC236}">
                <a16:creationId xmlns:a16="http://schemas.microsoft.com/office/drawing/2014/main" id="{7976AC75-58E8-4B0C-8AC7-555FF95AEC81}"/>
              </a:ext>
            </a:extLst>
          </p:cNvPr>
          <p:cNvSpPr>
            <a:spLocks xmlns:a="http://schemas.openxmlformats.org/drawingml/2006/main" noGrp="1"/>
          </p:cNvSpPr>
          <p:nvPr/>
        </p:nvSpPr>
        <p:spPr>
          <a:xfrm xmlns:a="http://schemas.openxmlformats.org/drawingml/2006/main">
            <a:off x="4981575" y="11582400"/>
            <a:ext cx="142875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38" b="1">
                <a:solidFill>
                  <a:srgbClr val="116F68"/>
                </a:solidFill>
              </a:defRPr>
            </a:pPr>
            <a:r>
              <a:rPr sz="638" b="1">
                <a:solidFill>
                  <a:srgbClr val="116F68"/>
                </a:solidFill>
              </a:rPr>
              <a:t>OWNER</a:t>
            </a:r>
          </a:p>
        </p:txBody>
      </p:sp>
      <p:sp>
        <p:nvSpPr>
          <p:cNvPr id="99" name="">
            <a:extLst xmlns:a="http://schemas.openxmlformats.org/drawingml/2006/main">
              <a:ext uri="{FF2B5EF4-FFF2-40B4-BE49-F238E27FC236}">
                <a16:creationId xmlns:a16="http://schemas.microsoft.com/office/drawing/2014/main" id="{E1773CF3-4E6F-4825-A091-F27DC68C925E}"/>
              </a:ext>
            </a:extLst>
          </p:cNvPr>
          <p:cNvSpPr>
            <a:spLocks xmlns:a="http://schemas.openxmlformats.org/drawingml/2006/main" noGrp="1"/>
          </p:cNvSpPr>
          <p:nvPr/>
        </p:nvSpPr>
        <p:spPr>
          <a:xfrm xmlns:a="http://schemas.openxmlformats.org/drawingml/2006/main">
            <a:off x="4981575" y="11734800"/>
            <a:ext cx="1428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00" b="0">
                <a:solidFill>
                  <a:srgbClr val="183B39"/>
                </a:solidFill>
              </a:defRPr>
            </a:pPr>
            <a:r>
              <a:rPr sz="600" b="0">
                <a:solidFill>
                  <a:srgbClr val="183B39"/>
                </a:solidFill>
              </a:rPr>
              <a:t>Sales Lead + Category (KPI design) | Owner assignment by 25-Aug</a:t>
            </a:r>
          </a:p>
        </p:txBody>
      </p:sp>
    </p:spTree>
    <p:extLst>
      <p:ext uri="{BB962C8B-B14F-4D97-AF65-F5344CB8AC3E}">
        <p14:creationId xmlns:p14="http://schemas.microsoft.com/office/powerpoint/2010/main" val="519112184"/>
      </p:ext>
    </p:extLst>
  </p:cSld>
</p:sld>
</file>

<file path=ppt/slides/slide14.xml><?xml version="1.0" encoding="utf-8"?>
<p:sld xmlns:p="http://schemas.openxmlformats.org/presentationml/2006/main">
  <p:cSld>
    <p:bg>
      <p:bgPr>
        <a:solidFill xmlns:a="http://schemas.openxmlformats.org/drawingml/2006/main">
          <a:srgbClr val="F7FBFA"/>
        </a:solidFill>
      </p:bgPr>
    </p:bg>
    <p:spTree>
      <p:nvGrpSpPr>
        <p:cNvPr id="1" name=""/>
        <p:cNvGrpSpPr/>
        <p:nvPr/>
      </p:nvGrpSpPr>
      <p:grpSpPr>
        <a:xfrm xmlns:a="http://schemas.openxmlformats.org/drawingml/2006/main"/>
      </p:grpSpPr>
      <p:sp>
        <p:nvSpPr>
          <p:cNvPr id="64" name="">
            <a:extLst xmlns:a="http://schemas.openxmlformats.org/drawingml/2006/main">
              <a:ext uri="{FF2B5EF4-FFF2-40B4-BE49-F238E27FC236}">
                <a16:creationId xmlns:a16="http://schemas.microsoft.com/office/drawing/2014/main" id="{DEB31E1A-4762-478E-A0D6-A3E93F6278A7}"/>
              </a:ext>
            </a:extLst>
          </p:cNvPr>
          <p:cNvSpPr>
            <a:spLocks xmlns:a="http://schemas.openxmlformats.org/drawingml/2006/main" noGrp="1"/>
          </p:cNvSpPr>
          <p:nvPr/>
        </p:nvSpPr>
        <p:spPr>
          <a:xfrm xmlns:a="http://schemas.openxmlformats.org/drawingml/2006/main">
            <a:off x="0" y="0"/>
            <a:ext cx="6858000" cy="1000125"/>
          </a:xfrm>
          <a:prstGeom xmlns:a="http://schemas.openxmlformats.org/drawingml/2006/main" prst="rect">
            <a:avLst/>
          </a:prstGeom>
          <a:solidFill xmlns:a="http://schemas.openxmlformats.org/drawingml/2006/main">
            <a:srgbClr val="116F68"/>
          </a:solidFill>
          <a:ln xmlns:a="http://schemas.openxmlformats.org/drawingml/2006/main" w="0">
            <a:solidFill>
              <a:srgbClr val="116F68"/>
            </a:solidFill>
            <a:prstDash val="solid"/>
          </a:ln>
        </p:spPr>
      </p:sp>
      <p:sp>
        <p:nvSpPr>
          <p:cNvPr id="2" name="">
            <a:extLst xmlns:a="http://schemas.openxmlformats.org/drawingml/2006/main">
              <a:ext uri="{FF2B5EF4-FFF2-40B4-BE49-F238E27FC236}">
                <a16:creationId xmlns:a16="http://schemas.microsoft.com/office/drawing/2014/main" id="{4B51FCE2-1D64-4536-BF62-3A45A8F8A299}"/>
              </a:ext>
            </a:extLst>
          </p:cNvPr>
          <p:cNvSpPr>
            <a:spLocks xmlns:a="http://schemas.openxmlformats.org/drawingml/2006/main" noGrp="1"/>
          </p:cNvSpPr>
          <p:nvPr/>
        </p:nvSpPr>
        <p:spPr>
          <a:xfrm xmlns:a="http://schemas.openxmlformats.org/drawingml/2006/main">
            <a:off x="361950" y="228600"/>
            <a:ext cx="59055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2025" b="1">
                <a:solidFill>
                  <a:srgbClr val="FFFFFF"/>
                </a:solidFill>
              </a:defRPr>
            </a:pPr>
            <a:r>
              <a:rPr sz="2025" b="1">
                <a:solidFill>
                  <a:srgbClr val="FFFFFF"/>
                </a:solidFill>
              </a:rPr>
              <a:t>eB2B / FSN+Nykaa: ₹2.07 Cr at 99.4% flow; outperforms MT average by 26 pp</a:t>
            </a:r>
          </a:p>
        </p:txBody>
      </p:sp>
      <p:sp>
        <p:nvSpPr>
          <p:cNvPr id="3" name="">
            <a:extLst xmlns:a="http://schemas.openxmlformats.org/drawingml/2006/main">
              <a:ext uri="{FF2B5EF4-FFF2-40B4-BE49-F238E27FC236}">
                <a16:creationId xmlns:a16="http://schemas.microsoft.com/office/drawing/2014/main" id="{6A723165-0D59-4DD7-A9AC-26A1632ED660}"/>
              </a:ext>
            </a:extLst>
          </p:cNvPr>
          <p:cNvSpPr>
            <a:spLocks xmlns:a="http://schemas.openxmlformats.org/drawingml/2006/main" noGrp="1"/>
          </p:cNvSpPr>
          <p:nvPr/>
        </p:nvSpPr>
        <p:spPr>
          <a:xfrm xmlns:a="http://schemas.openxmlformats.org/drawingml/2006/main">
            <a:off x="381000" y="695325"/>
            <a:ext cx="57150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75" b="0">
                <a:solidFill>
                  <a:srgbClr val="DFF2ED"/>
                </a:solidFill>
              </a:defRPr>
            </a:pPr>
            <a:r>
              <a:rPr sz="975" b="0">
                <a:solidFill>
                  <a:srgbClr val="DFF2ED"/>
                </a:solidFill>
              </a:rPr>
              <a:t>eB2B channel | FSN + Nykaa | January–July 2026 | Pan India</a:t>
            </a:r>
          </a:p>
        </p:txBody>
      </p:sp>
      <p:sp>
        <p:nvSpPr>
          <p:cNvPr id="4" name="">
            <a:extLst xmlns:a="http://schemas.openxmlformats.org/drawingml/2006/main">
              <a:ext uri="{FF2B5EF4-FFF2-40B4-BE49-F238E27FC236}">
                <a16:creationId xmlns:a16="http://schemas.microsoft.com/office/drawing/2014/main" id="{5CB11755-9E04-4952-8F9D-170D20CE1A73}"/>
              </a:ext>
            </a:extLst>
          </p:cNvPr>
          <p:cNvSpPr>
            <a:spLocks xmlns:a="http://schemas.openxmlformats.org/drawingml/2006/main" noGrp="1"/>
          </p:cNvSpPr>
          <p:nvPr/>
        </p:nvSpPr>
        <p:spPr>
          <a:xfrm xmlns:a="http://schemas.openxmlformats.org/drawingml/2006/main">
            <a:off x="6191250" y="361950"/>
            <a:ext cx="3429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900" b="1">
                <a:solidFill>
                  <a:srgbClr val="FFFFFF"/>
                </a:solidFill>
              </a:defRPr>
            </a:pPr>
            <a:r>
              <a:rPr sz="900" b="1">
                <a:solidFill>
                  <a:srgbClr val="FFFFFF"/>
                </a:solidFill>
              </a:rPr>
              <a:t>14</a:t>
            </a:r>
          </a:p>
        </p:txBody>
      </p:sp>
      <p:sp>
        <p:nvSpPr>
          <p:cNvPr id="5" name="">
            <a:extLst xmlns:a="http://schemas.openxmlformats.org/drawingml/2006/main">
              <a:ext uri="{FF2B5EF4-FFF2-40B4-BE49-F238E27FC236}">
                <a16:creationId xmlns:a16="http://schemas.microsoft.com/office/drawing/2014/main" id="{AC9211BB-51DE-4E09-A599-58577552C298}"/>
              </a:ext>
            </a:extLst>
          </p:cNvPr>
          <p:cNvSpPr>
            <a:spLocks xmlns:a="http://schemas.openxmlformats.org/drawingml/2006/main" noGrp="1"/>
          </p:cNvSpPr>
          <p:nvPr/>
        </p:nvSpPr>
        <p:spPr>
          <a:xfrm xmlns:a="http://schemas.openxmlformats.org/drawingml/2006/main">
            <a:off x="361950" y="1285875"/>
            <a:ext cx="192405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9525">
            <a:solidFill>
              <a:srgbClr val="C8DCD7"/>
            </a:solidFill>
            <a:prstDash val="solid"/>
          </a:ln>
        </p:spPr>
      </p:sp>
      <p:sp>
        <p:nvSpPr>
          <p:cNvPr id="6" name="">
            <a:extLst xmlns:a="http://schemas.openxmlformats.org/drawingml/2006/main">
              <a:ext uri="{FF2B5EF4-FFF2-40B4-BE49-F238E27FC236}">
                <a16:creationId xmlns:a16="http://schemas.microsoft.com/office/drawing/2014/main" id="{9CC33B8B-79EE-4A85-B4AC-935F6F774B59}"/>
              </a:ext>
            </a:extLst>
          </p:cNvPr>
          <p:cNvSpPr>
            <a:spLocks xmlns:a="http://schemas.openxmlformats.org/drawingml/2006/main" noGrp="1"/>
          </p:cNvSpPr>
          <p:nvPr/>
        </p:nvSpPr>
        <p:spPr>
          <a:xfrm xmlns:a="http://schemas.openxmlformats.org/drawingml/2006/main">
            <a:off x="361950" y="1285875"/>
            <a:ext cx="76200" cy="1066800"/>
          </a:xfrm>
          <a:prstGeom xmlns:a="http://schemas.openxmlformats.org/drawingml/2006/main" prst="rect">
            <a:avLst/>
          </a:prstGeom>
          <a:solidFill xmlns:a="http://schemas.openxmlformats.org/drawingml/2006/main">
            <a:srgbClr val="28A596"/>
          </a:solidFill>
          <a:ln xmlns:a="http://schemas.openxmlformats.org/drawingml/2006/main" w="0">
            <a:solidFill>
              <a:srgbClr val="28A596"/>
            </a:solidFill>
            <a:prstDash val="solid"/>
          </a:ln>
        </p:spPr>
      </p:sp>
      <p:sp>
        <p:nvSpPr>
          <p:cNvPr id="7" name="">
            <a:extLst xmlns:a="http://schemas.openxmlformats.org/drawingml/2006/main">
              <a:ext uri="{FF2B5EF4-FFF2-40B4-BE49-F238E27FC236}">
                <a16:creationId xmlns:a16="http://schemas.microsoft.com/office/drawing/2014/main" id="{194E98F6-EF8D-4192-AFE5-C04AC4D28C17}"/>
              </a:ext>
            </a:extLst>
          </p:cNvPr>
          <p:cNvSpPr>
            <a:spLocks xmlns:a="http://schemas.openxmlformats.org/drawingml/2006/main" noGrp="1"/>
          </p:cNvSpPr>
          <p:nvPr/>
        </p:nvSpPr>
        <p:spPr>
          <a:xfrm xmlns:a="http://schemas.openxmlformats.org/drawingml/2006/main">
            <a:off x="533400" y="1400175"/>
            <a:ext cx="16573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5F716E"/>
                </a:solidFill>
              </a:defRPr>
            </a:pPr>
            <a:r>
              <a:rPr sz="900" b="1">
                <a:solidFill>
                  <a:srgbClr val="5F716E"/>
                </a:solidFill>
              </a:rPr>
              <a:t>eB2B PRIMARY</a:t>
            </a:r>
          </a:p>
        </p:txBody>
      </p:sp>
      <p:sp>
        <p:nvSpPr>
          <p:cNvPr id="8" name="">
            <a:extLst xmlns:a="http://schemas.openxmlformats.org/drawingml/2006/main">
              <a:ext uri="{FF2B5EF4-FFF2-40B4-BE49-F238E27FC236}">
                <a16:creationId xmlns:a16="http://schemas.microsoft.com/office/drawing/2014/main" id="{B99024E3-3FCC-41D4-B1AB-89FD29E2AB76}"/>
              </a:ext>
            </a:extLst>
          </p:cNvPr>
          <p:cNvSpPr>
            <a:spLocks xmlns:a="http://schemas.openxmlformats.org/drawingml/2006/main" noGrp="1"/>
          </p:cNvSpPr>
          <p:nvPr/>
        </p:nvSpPr>
        <p:spPr>
          <a:xfrm xmlns:a="http://schemas.openxmlformats.org/drawingml/2006/main">
            <a:off x="533400" y="1628775"/>
            <a:ext cx="16573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875" b="1">
                <a:solidFill>
                  <a:srgbClr val="28A596"/>
                </a:solidFill>
              </a:defRPr>
            </a:pPr>
            <a:r>
              <a:rPr sz="1875" b="1">
                <a:solidFill>
                  <a:srgbClr val="28A596"/>
                </a:solidFill>
              </a:rPr>
              <a:t>₹2.20 Cr</a:t>
            </a:r>
          </a:p>
        </p:txBody>
      </p:sp>
      <p:sp>
        <p:nvSpPr>
          <p:cNvPr id="9" name="">
            <a:extLst xmlns:a="http://schemas.openxmlformats.org/drawingml/2006/main">
              <a:ext uri="{FF2B5EF4-FFF2-40B4-BE49-F238E27FC236}">
                <a16:creationId xmlns:a16="http://schemas.microsoft.com/office/drawing/2014/main" id="{DFBCFB03-8B33-4F26-AA49-D268FDBF9021}"/>
              </a:ext>
            </a:extLst>
          </p:cNvPr>
          <p:cNvSpPr>
            <a:spLocks xmlns:a="http://schemas.openxmlformats.org/drawingml/2006/main" noGrp="1"/>
          </p:cNvSpPr>
          <p:nvPr/>
        </p:nvSpPr>
        <p:spPr>
          <a:xfrm xmlns:a="http://schemas.openxmlformats.org/drawingml/2006/main">
            <a:off x="533400" y="2028825"/>
            <a:ext cx="16573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0">
                <a:solidFill>
                  <a:srgbClr val="5F716E"/>
                </a:solidFill>
              </a:defRPr>
            </a:pPr>
            <a:r>
              <a:rPr sz="825" b="0">
                <a:solidFill>
                  <a:srgbClr val="5F716E"/>
                </a:solidFill>
              </a:rPr>
              <a:t>FSN + Nykaa Jul-26</a:t>
            </a:r>
          </a:p>
        </p:txBody>
      </p:sp>
      <p:sp>
        <p:nvSpPr>
          <p:cNvPr id="10" name="">
            <a:extLst xmlns:a="http://schemas.openxmlformats.org/drawingml/2006/main">
              <a:ext uri="{FF2B5EF4-FFF2-40B4-BE49-F238E27FC236}">
                <a16:creationId xmlns:a16="http://schemas.microsoft.com/office/drawing/2014/main" id="{75923E46-89B9-482C-AE61-501AB2B0B289}"/>
              </a:ext>
            </a:extLst>
          </p:cNvPr>
          <p:cNvSpPr>
            <a:spLocks xmlns:a="http://schemas.openxmlformats.org/drawingml/2006/main" noGrp="1"/>
          </p:cNvSpPr>
          <p:nvPr/>
        </p:nvSpPr>
        <p:spPr>
          <a:xfrm xmlns:a="http://schemas.openxmlformats.org/drawingml/2006/main">
            <a:off x="2466975" y="1285875"/>
            <a:ext cx="192405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9525">
            <a:solidFill>
              <a:srgbClr val="C8DCD7"/>
            </a:solidFill>
            <a:prstDash val="solid"/>
          </a:ln>
        </p:spPr>
      </p:sp>
      <p:sp>
        <p:nvSpPr>
          <p:cNvPr id="11" name="">
            <a:extLst xmlns:a="http://schemas.openxmlformats.org/drawingml/2006/main">
              <a:ext uri="{FF2B5EF4-FFF2-40B4-BE49-F238E27FC236}">
                <a16:creationId xmlns:a16="http://schemas.microsoft.com/office/drawing/2014/main" id="{7B887966-14CB-4BBD-B337-319766AA07D8}"/>
              </a:ext>
            </a:extLst>
          </p:cNvPr>
          <p:cNvSpPr>
            <a:spLocks xmlns:a="http://schemas.openxmlformats.org/drawingml/2006/main" noGrp="1"/>
          </p:cNvSpPr>
          <p:nvPr/>
        </p:nvSpPr>
        <p:spPr>
          <a:xfrm xmlns:a="http://schemas.openxmlformats.org/drawingml/2006/main">
            <a:off x="2466975" y="1285875"/>
            <a:ext cx="76200" cy="1066800"/>
          </a:xfrm>
          <a:prstGeom xmlns:a="http://schemas.openxmlformats.org/drawingml/2006/main" prst="rect">
            <a:avLst/>
          </a:prstGeom>
          <a:solidFill xmlns:a="http://schemas.openxmlformats.org/drawingml/2006/main">
            <a:srgbClr val="2B9A66"/>
          </a:solidFill>
          <a:ln xmlns:a="http://schemas.openxmlformats.org/drawingml/2006/main" w="0">
            <a:solidFill>
              <a:srgbClr val="2B9A66"/>
            </a:solidFill>
            <a:prstDash val="solid"/>
          </a:ln>
        </p:spPr>
      </p:sp>
      <p:sp>
        <p:nvSpPr>
          <p:cNvPr id="12" name="">
            <a:extLst xmlns:a="http://schemas.openxmlformats.org/drawingml/2006/main">
              <a:ext uri="{FF2B5EF4-FFF2-40B4-BE49-F238E27FC236}">
                <a16:creationId xmlns:a16="http://schemas.microsoft.com/office/drawing/2014/main" id="{9B26D074-6295-41E7-AF08-54C61D1B73CD}"/>
              </a:ext>
            </a:extLst>
          </p:cNvPr>
          <p:cNvSpPr>
            <a:spLocks xmlns:a="http://schemas.openxmlformats.org/drawingml/2006/main" noGrp="1"/>
          </p:cNvSpPr>
          <p:nvPr/>
        </p:nvSpPr>
        <p:spPr>
          <a:xfrm xmlns:a="http://schemas.openxmlformats.org/drawingml/2006/main">
            <a:off x="2638425" y="1400175"/>
            <a:ext cx="16573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5F716E"/>
                </a:solidFill>
              </a:defRPr>
            </a:pPr>
            <a:r>
              <a:rPr sz="900" b="1">
                <a:solidFill>
                  <a:srgbClr val="5F716E"/>
                </a:solidFill>
              </a:rPr>
              <a:t>JUL OFFTAKE</a:t>
            </a:r>
          </a:p>
        </p:txBody>
      </p:sp>
      <p:sp>
        <p:nvSpPr>
          <p:cNvPr id="13" name="">
            <a:extLst xmlns:a="http://schemas.openxmlformats.org/drawingml/2006/main">
              <a:ext uri="{FF2B5EF4-FFF2-40B4-BE49-F238E27FC236}">
                <a16:creationId xmlns:a16="http://schemas.microsoft.com/office/drawing/2014/main" id="{0900A930-992B-43BF-BE93-C1C3B29DE2D3}"/>
              </a:ext>
            </a:extLst>
          </p:cNvPr>
          <p:cNvSpPr>
            <a:spLocks xmlns:a="http://schemas.openxmlformats.org/drawingml/2006/main" noGrp="1"/>
          </p:cNvSpPr>
          <p:nvPr/>
        </p:nvSpPr>
        <p:spPr>
          <a:xfrm xmlns:a="http://schemas.openxmlformats.org/drawingml/2006/main">
            <a:off x="2638425" y="1628775"/>
            <a:ext cx="16573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875" b="1">
                <a:solidFill>
                  <a:srgbClr val="2B9A66"/>
                </a:solidFill>
              </a:defRPr>
            </a:pPr>
            <a:r>
              <a:rPr sz="1875" b="1">
                <a:solidFill>
                  <a:srgbClr val="2B9A66"/>
                </a:solidFill>
              </a:rPr>
              <a:t>₹2.07 Cr</a:t>
            </a:r>
          </a:p>
        </p:txBody>
      </p:sp>
      <p:sp>
        <p:nvSpPr>
          <p:cNvPr id="14" name="">
            <a:extLst xmlns:a="http://schemas.openxmlformats.org/drawingml/2006/main">
              <a:ext uri="{FF2B5EF4-FFF2-40B4-BE49-F238E27FC236}">
                <a16:creationId xmlns:a16="http://schemas.microsoft.com/office/drawing/2014/main" id="{64F253C7-6157-4FFD-BA93-3AE193BF4DD3}"/>
              </a:ext>
            </a:extLst>
          </p:cNvPr>
          <p:cNvSpPr>
            <a:spLocks xmlns:a="http://schemas.openxmlformats.org/drawingml/2006/main" noGrp="1"/>
          </p:cNvSpPr>
          <p:nvPr/>
        </p:nvSpPr>
        <p:spPr>
          <a:xfrm xmlns:a="http://schemas.openxmlformats.org/drawingml/2006/main">
            <a:off x="2638425" y="2028825"/>
            <a:ext cx="16573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0">
                <a:solidFill>
                  <a:srgbClr val="5F716E"/>
                </a:solidFill>
              </a:defRPr>
            </a:pPr>
            <a:r>
              <a:rPr sz="825" b="0">
                <a:solidFill>
                  <a:srgbClr val="5F716E"/>
                </a:solidFill>
              </a:rPr>
              <a:t>5.7% of MT | FYTD ₹8.79 Cr</a:t>
            </a:r>
          </a:p>
        </p:txBody>
      </p:sp>
      <p:sp>
        <p:nvSpPr>
          <p:cNvPr id="15" name="">
            <a:extLst xmlns:a="http://schemas.openxmlformats.org/drawingml/2006/main">
              <a:ext uri="{FF2B5EF4-FFF2-40B4-BE49-F238E27FC236}">
                <a16:creationId xmlns:a16="http://schemas.microsoft.com/office/drawing/2014/main" id="{81104950-4EDB-423A-8C7D-864F0F9E60E6}"/>
              </a:ext>
            </a:extLst>
          </p:cNvPr>
          <p:cNvSpPr>
            <a:spLocks xmlns:a="http://schemas.openxmlformats.org/drawingml/2006/main" noGrp="1"/>
          </p:cNvSpPr>
          <p:nvPr/>
        </p:nvSpPr>
        <p:spPr>
          <a:xfrm xmlns:a="http://schemas.openxmlformats.org/drawingml/2006/main">
            <a:off x="4572000" y="1285875"/>
            <a:ext cx="192405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9525">
            <a:solidFill>
              <a:srgbClr val="C8DCD7"/>
            </a:solidFill>
            <a:prstDash val="solid"/>
          </a:ln>
        </p:spPr>
      </p:sp>
      <p:sp>
        <p:nvSpPr>
          <p:cNvPr id="16" name="">
            <a:extLst xmlns:a="http://schemas.openxmlformats.org/drawingml/2006/main">
              <a:ext uri="{FF2B5EF4-FFF2-40B4-BE49-F238E27FC236}">
                <a16:creationId xmlns:a16="http://schemas.microsoft.com/office/drawing/2014/main" id="{6C27AF61-0187-4C98-808C-C0F7EAE6F55F}"/>
              </a:ext>
            </a:extLst>
          </p:cNvPr>
          <p:cNvSpPr>
            <a:spLocks xmlns:a="http://schemas.openxmlformats.org/drawingml/2006/main" noGrp="1"/>
          </p:cNvSpPr>
          <p:nvPr/>
        </p:nvSpPr>
        <p:spPr>
          <a:xfrm xmlns:a="http://schemas.openxmlformats.org/drawingml/2006/main">
            <a:off x="4572000" y="1285875"/>
            <a:ext cx="76200" cy="1066800"/>
          </a:xfrm>
          <a:prstGeom xmlns:a="http://schemas.openxmlformats.org/drawingml/2006/main" prst="rect">
            <a:avLst/>
          </a:prstGeom>
          <a:solidFill xmlns:a="http://schemas.openxmlformats.org/drawingml/2006/main">
            <a:srgbClr val="2B9A66"/>
          </a:solidFill>
          <a:ln xmlns:a="http://schemas.openxmlformats.org/drawingml/2006/main" w="0">
            <a:solidFill>
              <a:srgbClr val="2B9A66"/>
            </a:solidFill>
            <a:prstDash val="solid"/>
          </a:ln>
        </p:spPr>
      </p:sp>
      <p:sp>
        <p:nvSpPr>
          <p:cNvPr id="17" name="">
            <a:extLst xmlns:a="http://schemas.openxmlformats.org/drawingml/2006/main">
              <a:ext uri="{FF2B5EF4-FFF2-40B4-BE49-F238E27FC236}">
                <a16:creationId xmlns:a16="http://schemas.microsoft.com/office/drawing/2014/main" id="{43DE9B94-6AE5-4224-9508-8743EC231D7B}"/>
              </a:ext>
            </a:extLst>
          </p:cNvPr>
          <p:cNvSpPr>
            <a:spLocks xmlns:a="http://schemas.openxmlformats.org/drawingml/2006/main" noGrp="1"/>
          </p:cNvSpPr>
          <p:nvPr/>
        </p:nvSpPr>
        <p:spPr>
          <a:xfrm xmlns:a="http://schemas.openxmlformats.org/drawingml/2006/main">
            <a:off x="4743450" y="1400175"/>
            <a:ext cx="16573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5F716E"/>
                </a:solidFill>
              </a:defRPr>
            </a:pPr>
            <a:r>
              <a:rPr sz="900" b="1">
                <a:solidFill>
                  <a:srgbClr val="5F716E"/>
                </a:solidFill>
              </a:rPr>
              <a:t>FLOW</a:t>
            </a:r>
          </a:p>
        </p:txBody>
      </p:sp>
      <p:sp>
        <p:nvSpPr>
          <p:cNvPr id="18" name="">
            <a:extLst xmlns:a="http://schemas.openxmlformats.org/drawingml/2006/main">
              <a:ext uri="{FF2B5EF4-FFF2-40B4-BE49-F238E27FC236}">
                <a16:creationId xmlns:a16="http://schemas.microsoft.com/office/drawing/2014/main" id="{A238F9A2-9FD9-4B30-899D-CD17466A4D26}"/>
              </a:ext>
            </a:extLst>
          </p:cNvPr>
          <p:cNvSpPr>
            <a:spLocks xmlns:a="http://schemas.openxmlformats.org/drawingml/2006/main" noGrp="1"/>
          </p:cNvSpPr>
          <p:nvPr/>
        </p:nvSpPr>
        <p:spPr>
          <a:xfrm xmlns:a="http://schemas.openxmlformats.org/drawingml/2006/main">
            <a:off x="4743450" y="1628775"/>
            <a:ext cx="16573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875" b="1">
                <a:solidFill>
                  <a:srgbClr val="2B9A66"/>
                </a:solidFill>
              </a:defRPr>
            </a:pPr>
            <a:r>
              <a:rPr sz="1875" b="1">
                <a:solidFill>
                  <a:srgbClr val="2B9A66"/>
                </a:solidFill>
              </a:rPr>
              <a:t>99.4%</a:t>
            </a:r>
          </a:p>
        </p:txBody>
      </p:sp>
      <p:sp>
        <p:nvSpPr>
          <p:cNvPr id="19" name="">
            <a:extLst xmlns:a="http://schemas.openxmlformats.org/drawingml/2006/main">
              <a:ext uri="{FF2B5EF4-FFF2-40B4-BE49-F238E27FC236}">
                <a16:creationId xmlns:a16="http://schemas.microsoft.com/office/drawing/2014/main" id="{029C46FD-5798-4062-8881-7966464BD59B}"/>
              </a:ext>
            </a:extLst>
          </p:cNvPr>
          <p:cNvSpPr>
            <a:spLocks xmlns:a="http://schemas.openxmlformats.org/drawingml/2006/main" noGrp="1"/>
          </p:cNvSpPr>
          <p:nvPr/>
        </p:nvSpPr>
        <p:spPr>
          <a:xfrm xmlns:a="http://schemas.openxmlformats.org/drawingml/2006/main">
            <a:off x="4743450" y="2028825"/>
            <a:ext cx="16573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0">
                <a:solidFill>
                  <a:srgbClr val="5F716E"/>
                </a:solidFill>
              </a:defRPr>
            </a:pPr>
            <a:r>
              <a:rPr sz="825" b="0">
                <a:solidFill>
                  <a:srgbClr val="5F716E"/>
                </a:solidFill>
              </a:rPr>
              <a:t>+26.0 pp vs MT avg (73.4%)</a:t>
            </a:r>
          </a:p>
        </p:txBody>
      </p:sp>
      <p:sp>
        <p:nvSpPr>
          <p:cNvPr id="20" name="">
            <a:extLst xmlns:a="http://schemas.openxmlformats.org/drawingml/2006/main">
              <a:ext uri="{FF2B5EF4-FFF2-40B4-BE49-F238E27FC236}">
                <a16:creationId xmlns:a16="http://schemas.microsoft.com/office/drawing/2014/main" id="{960FF525-30B8-4D17-B363-1C10BFD2A4E5}"/>
              </a:ext>
            </a:extLst>
          </p:cNvPr>
          <p:cNvSpPr>
            <a:spLocks xmlns:a="http://schemas.openxmlformats.org/drawingml/2006/main" noGrp="1"/>
          </p:cNvSpPr>
          <p:nvPr/>
        </p:nvSpPr>
        <p:spPr>
          <a:xfrm xmlns:a="http://schemas.openxmlformats.org/drawingml/2006/main">
            <a:off x="361950" y="2667000"/>
            <a:ext cx="6134100" cy="257175"/>
          </a:xfrm>
          <a:prstGeom xmlns:a="http://schemas.openxmlformats.org/drawingml/2006/main" prst="rect">
            <a:avLst/>
          </a:prstGeom>
          <a:solidFill xmlns:a="http://schemas.openxmlformats.org/drawingml/2006/main">
            <a:srgbClr val="116F68"/>
          </a:solidFill>
          <a:ln xmlns:a="http://schemas.openxmlformats.org/drawingml/2006/main" w="0">
            <a:solidFill>
              <a:srgbClr val="116F68"/>
            </a:solidFill>
            <a:prstDash val="solid"/>
          </a:ln>
        </p:spPr>
      </p:sp>
      <p:sp>
        <p:nvSpPr>
          <p:cNvPr id="21" name="">
            <a:extLst xmlns:a="http://schemas.openxmlformats.org/drawingml/2006/main">
              <a:ext uri="{FF2B5EF4-FFF2-40B4-BE49-F238E27FC236}">
                <a16:creationId xmlns:a16="http://schemas.microsoft.com/office/drawing/2014/main" id="{2950D17E-18ED-49CA-BB7C-806625C06C7C}"/>
              </a:ext>
            </a:extLst>
          </p:cNvPr>
          <p:cNvSpPr>
            <a:spLocks xmlns:a="http://schemas.openxmlformats.org/drawingml/2006/main" noGrp="1"/>
          </p:cNvSpPr>
          <p:nvPr/>
        </p:nvSpPr>
        <p:spPr>
          <a:xfrm xmlns:a="http://schemas.openxmlformats.org/drawingml/2006/main">
            <a:off x="457200" y="2676525"/>
            <a:ext cx="59436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FFFFFF"/>
                </a:solidFill>
              </a:defRPr>
            </a:pPr>
            <a:r>
              <a:rPr sz="900" b="1">
                <a:solidFill>
                  <a:srgbClr val="FFFFFF"/>
                </a:solidFill>
              </a:rPr>
              <a:t>eB2B OFFTAKE TREND — JAN TO JUL 2026</a:t>
            </a:r>
          </a:p>
        </p:txBody>
      </p:sp>
      <p:graphicFrame>
        <p:nvGraphicFramePr>
          <p:cNvPr id="85" name="Chart"/>
          <p:cNvGraphicFramePr/>
          <p:nvPr/>
        </p:nvGraphicFramePr>
        <p:xfrm>
          <a:off xmlns:a="http://schemas.openxmlformats.org/drawingml/2006/main" x="523875" y="3095625"/>
          <a:ext xmlns:a="http://schemas.openxmlformats.org/drawingml/2006/main" cx="5810250" cy="2476500"/>
        </p:xfrm>
        <a:graphic xmlns:a="http://schemas.openxmlformats.org/drawingml/2006/main">
          <a:graphicData uri="http://schemas.openxmlformats.org/drawingml/2006/chart">
            <c:chart xmlns:r="http://schemas.openxmlformats.org/officeDocument/2006/relationships" xmlns:c="http://schemas.openxmlformats.org/drawingml/2006/chart" r:id="R8f0a4c77f31e4342"/>
          </a:graphicData>
        </a:graphic>
      </p:graphicFrame>
      <p:sp>
        <p:nvSpPr>
          <p:cNvPr id="23" name="">
            <a:extLst xmlns:a="http://schemas.openxmlformats.org/drawingml/2006/main">
              <a:ext uri="{FF2B5EF4-FFF2-40B4-BE49-F238E27FC236}">
                <a16:creationId xmlns:a16="http://schemas.microsoft.com/office/drawing/2014/main" id="{900FBE22-BFBB-4157-BF05-85FE49AE1559}"/>
              </a:ext>
            </a:extLst>
          </p:cNvPr>
          <p:cNvSpPr>
            <a:spLocks xmlns:a="http://schemas.openxmlformats.org/drawingml/2006/main" noGrp="1"/>
          </p:cNvSpPr>
          <p:nvPr/>
        </p:nvSpPr>
        <p:spPr>
          <a:xfrm xmlns:a="http://schemas.openxmlformats.org/drawingml/2006/main">
            <a:off x="361950" y="5905500"/>
            <a:ext cx="6134100" cy="257175"/>
          </a:xfrm>
          <a:prstGeom xmlns:a="http://schemas.openxmlformats.org/drawingml/2006/main" prst="rect">
            <a:avLst/>
          </a:prstGeom>
          <a:solidFill xmlns:a="http://schemas.openxmlformats.org/drawingml/2006/main">
            <a:srgbClr val="116F68"/>
          </a:solidFill>
          <a:ln xmlns:a="http://schemas.openxmlformats.org/drawingml/2006/main" w="0">
            <a:solidFill>
              <a:srgbClr val="116F68"/>
            </a:solidFill>
            <a:prstDash val="solid"/>
          </a:ln>
        </p:spPr>
      </p:sp>
      <p:sp>
        <p:nvSpPr>
          <p:cNvPr id="24" name="">
            <a:extLst xmlns:a="http://schemas.openxmlformats.org/drawingml/2006/main">
              <a:ext uri="{FF2B5EF4-FFF2-40B4-BE49-F238E27FC236}">
                <a16:creationId xmlns:a16="http://schemas.microsoft.com/office/drawing/2014/main" id="{70F69326-0C86-4A84-848C-1F6BE8C3B3D5}"/>
              </a:ext>
            </a:extLst>
          </p:cNvPr>
          <p:cNvSpPr>
            <a:spLocks xmlns:a="http://schemas.openxmlformats.org/drawingml/2006/main" noGrp="1"/>
          </p:cNvSpPr>
          <p:nvPr/>
        </p:nvSpPr>
        <p:spPr>
          <a:xfrm xmlns:a="http://schemas.openxmlformats.org/drawingml/2006/main">
            <a:off x="457200" y="5915025"/>
            <a:ext cx="59436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FFFFFF"/>
                </a:solidFill>
              </a:defRPr>
            </a:pPr>
            <a:r>
              <a:rPr sz="900" b="1">
                <a:solidFill>
                  <a:srgbClr val="FFFFFF"/>
                </a:solidFill>
              </a:rPr>
              <a:t>ARTICLE ENGINES AND LEADERSHIP ACTION</a:t>
            </a:r>
          </a:p>
        </p:txBody>
      </p:sp>
      <p:sp>
        <p:nvSpPr>
          <p:cNvPr id="25" name="">
            <a:extLst xmlns:a="http://schemas.openxmlformats.org/drawingml/2006/main">
              <a:ext uri="{FF2B5EF4-FFF2-40B4-BE49-F238E27FC236}">
                <a16:creationId xmlns:a16="http://schemas.microsoft.com/office/drawing/2014/main" id="{5ECFD08A-9081-436B-A77F-1268A7AC30CC}"/>
              </a:ext>
            </a:extLst>
          </p:cNvPr>
          <p:cNvSpPr>
            <a:spLocks xmlns:a="http://schemas.openxmlformats.org/drawingml/2006/main" noGrp="1"/>
          </p:cNvSpPr>
          <p:nvPr/>
        </p:nvSpPr>
        <p:spPr>
          <a:xfrm xmlns:a="http://schemas.openxmlformats.org/drawingml/2006/main">
            <a:off x="457200" y="6334125"/>
            <a:ext cx="2857500" cy="590550"/>
          </a:xfrm>
          <a:prstGeom xmlns:a="http://schemas.openxmlformats.org/drawingml/2006/main" prst="roundRect">
            <a:avLst>
              <a:gd name="adj" fmla="val 12903"/>
            </a:avLst>
          </a:prstGeom>
          <a:solidFill xmlns:a="http://schemas.openxmlformats.org/drawingml/2006/main">
            <a:srgbClr val="DFF2ED"/>
          </a:solidFill>
          <a:ln xmlns:a="http://schemas.openxmlformats.org/drawingml/2006/main" w="9525">
            <a:solidFill>
              <a:srgbClr val="C8DCD7"/>
            </a:solidFill>
            <a:prstDash val="solid"/>
          </a:ln>
        </p:spPr>
      </p:sp>
      <p:sp>
        <p:nvSpPr>
          <p:cNvPr id="26" name="">
            <a:extLst xmlns:a="http://schemas.openxmlformats.org/drawingml/2006/main">
              <a:ext uri="{FF2B5EF4-FFF2-40B4-BE49-F238E27FC236}">
                <a16:creationId xmlns:a16="http://schemas.microsoft.com/office/drawing/2014/main" id="{269BD1D7-931A-497C-AE0A-51480178A8FB}"/>
              </a:ext>
            </a:extLst>
          </p:cNvPr>
          <p:cNvSpPr>
            <a:spLocks xmlns:a="http://schemas.openxmlformats.org/drawingml/2006/main" noGrp="1"/>
          </p:cNvSpPr>
          <p:nvPr/>
        </p:nvSpPr>
        <p:spPr>
          <a:xfrm xmlns:a="http://schemas.openxmlformats.org/drawingml/2006/main">
            <a:off x="571500" y="6400800"/>
            <a:ext cx="20002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1">
                <a:solidFill>
                  <a:srgbClr val="183B39"/>
                </a:solidFill>
              </a:defRPr>
            </a:pPr>
            <a:r>
              <a:rPr sz="765" b="1">
                <a:solidFill>
                  <a:srgbClr val="183B39"/>
                </a:solidFill>
              </a:rPr>
              <a:t>Rice Face Wash 100 ml</a:t>
            </a:r>
          </a:p>
        </p:txBody>
      </p:sp>
      <p:sp>
        <p:nvSpPr>
          <p:cNvPr id="27" name="">
            <a:extLst xmlns:a="http://schemas.openxmlformats.org/drawingml/2006/main">
              <a:ext uri="{FF2B5EF4-FFF2-40B4-BE49-F238E27FC236}">
                <a16:creationId xmlns:a16="http://schemas.microsoft.com/office/drawing/2014/main" id="{549A3298-5256-4F91-AB74-0EBB445D0038}"/>
              </a:ext>
            </a:extLst>
          </p:cNvPr>
          <p:cNvSpPr>
            <a:spLocks xmlns:a="http://schemas.openxmlformats.org/drawingml/2006/main" noGrp="1"/>
          </p:cNvSpPr>
          <p:nvPr/>
        </p:nvSpPr>
        <p:spPr>
          <a:xfrm xmlns:a="http://schemas.openxmlformats.org/drawingml/2006/main">
            <a:off x="2600325" y="6410325"/>
            <a:ext cx="619125"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788" b="1">
                <a:solidFill>
                  <a:srgbClr val="28A596"/>
                </a:solidFill>
              </a:defRPr>
            </a:pPr>
            <a:r>
              <a:rPr sz="788" b="1">
                <a:solidFill>
                  <a:srgbClr val="28A596"/>
                </a:solidFill>
              </a:rPr>
              <a:t>₹0.27 Cr</a:t>
            </a:r>
          </a:p>
        </p:txBody>
      </p:sp>
      <p:sp>
        <p:nvSpPr>
          <p:cNvPr id="28" name="">
            <a:extLst xmlns:a="http://schemas.openxmlformats.org/drawingml/2006/main">
              <a:ext uri="{FF2B5EF4-FFF2-40B4-BE49-F238E27FC236}">
                <a16:creationId xmlns:a16="http://schemas.microsoft.com/office/drawing/2014/main" id="{887C47C4-BA26-47F3-B130-079109DF0C93}"/>
              </a:ext>
            </a:extLst>
          </p:cNvPr>
          <p:cNvSpPr>
            <a:spLocks xmlns:a="http://schemas.openxmlformats.org/drawingml/2006/main" noGrp="1"/>
          </p:cNvSpPr>
          <p:nvPr/>
        </p:nvSpPr>
        <p:spPr>
          <a:xfrm xmlns:a="http://schemas.openxmlformats.org/drawingml/2006/main">
            <a:off x="3457575" y="6334125"/>
            <a:ext cx="2857500" cy="590550"/>
          </a:xfrm>
          <a:prstGeom xmlns:a="http://schemas.openxmlformats.org/drawingml/2006/main" prst="roundRect">
            <a:avLst>
              <a:gd name="adj" fmla="val 12903"/>
            </a:avLst>
          </a:prstGeom>
          <a:solidFill xmlns:a="http://schemas.openxmlformats.org/drawingml/2006/main">
            <a:srgbClr val="DFF2ED"/>
          </a:solidFill>
          <a:ln xmlns:a="http://schemas.openxmlformats.org/drawingml/2006/main" w="9525">
            <a:solidFill>
              <a:srgbClr val="C8DCD7"/>
            </a:solidFill>
            <a:prstDash val="solid"/>
          </a:ln>
        </p:spPr>
      </p:sp>
      <p:sp>
        <p:nvSpPr>
          <p:cNvPr id="29" name="">
            <a:extLst xmlns:a="http://schemas.openxmlformats.org/drawingml/2006/main">
              <a:ext uri="{FF2B5EF4-FFF2-40B4-BE49-F238E27FC236}">
                <a16:creationId xmlns:a16="http://schemas.microsoft.com/office/drawing/2014/main" id="{ABCC17E1-64C5-4AA2-A865-8B9EF56AC869}"/>
              </a:ext>
            </a:extLst>
          </p:cNvPr>
          <p:cNvSpPr>
            <a:spLocks xmlns:a="http://schemas.openxmlformats.org/drawingml/2006/main" noGrp="1"/>
          </p:cNvSpPr>
          <p:nvPr/>
        </p:nvSpPr>
        <p:spPr>
          <a:xfrm xmlns:a="http://schemas.openxmlformats.org/drawingml/2006/main">
            <a:off x="3571875" y="6400800"/>
            <a:ext cx="20002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1">
                <a:solidFill>
                  <a:srgbClr val="183B39"/>
                </a:solidFill>
              </a:defRPr>
            </a:pPr>
            <a:r>
              <a:rPr sz="765" b="1">
                <a:solidFill>
                  <a:srgbClr val="183B39"/>
                </a:solidFill>
              </a:rPr>
              <a:t>Rice Face Wash 50 ml</a:t>
            </a:r>
          </a:p>
        </p:txBody>
      </p:sp>
      <p:sp>
        <p:nvSpPr>
          <p:cNvPr id="30" name="">
            <a:extLst xmlns:a="http://schemas.openxmlformats.org/drawingml/2006/main">
              <a:ext uri="{FF2B5EF4-FFF2-40B4-BE49-F238E27FC236}">
                <a16:creationId xmlns:a16="http://schemas.microsoft.com/office/drawing/2014/main" id="{979D20DA-81A3-4695-95F9-7A327B391E50}"/>
              </a:ext>
            </a:extLst>
          </p:cNvPr>
          <p:cNvSpPr>
            <a:spLocks xmlns:a="http://schemas.openxmlformats.org/drawingml/2006/main" noGrp="1"/>
          </p:cNvSpPr>
          <p:nvPr/>
        </p:nvSpPr>
        <p:spPr>
          <a:xfrm xmlns:a="http://schemas.openxmlformats.org/drawingml/2006/main">
            <a:off x="5600700" y="6410325"/>
            <a:ext cx="619125"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788" b="1">
                <a:solidFill>
                  <a:srgbClr val="28A596"/>
                </a:solidFill>
              </a:defRPr>
            </a:pPr>
            <a:r>
              <a:rPr sz="788" b="1">
                <a:solidFill>
                  <a:srgbClr val="28A596"/>
                </a:solidFill>
              </a:rPr>
              <a:t>₹0.19 Cr</a:t>
            </a:r>
          </a:p>
        </p:txBody>
      </p:sp>
      <p:sp>
        <p:nvSpPr>
          <p:cNvPr id="31" name="">
            <a:extLst xmlns:a="http://schemas.openxmlformats.org/drawingml/2006/main">
              <a:ext uri="{FF2B5EF4-FFF2-40B4-BE49-F238E27FC236}">
                <a16:creationId xmlns:a16="http://schemas.microsoft.com/office/drawing/2014/main" id="{01007EF7-BECB-45DA-BEDC-6D72EE75FAE0}"/>
              </a:ext>
            </a:extLst>
          </p:cNvPr>
          <p:cNvSpPr>
            <a:spLocks xmlns:a="http://schemas.openxmlformats.org/drawingml/2006/main" noGrp="1"/>
          </p:cNvSpPr>
          <p:nvPr/>
        </p:nvSpPr>
        <p:spPr>
          <a:xfrm xmlns:a="http://schemas.openxmlformats.org/drawingml/2006/main">
            <a:off x="457200" y="7048500"/>
            <a:ext cx="2857500" cy="590550"/>
          </a:xfrm>
          <a:prstGeom xmlns:a="http://schemas.openxmlformats.org/drawingml/2006/main" prst="roundRect">
            <a:avLst>
              <a:gd name="adj" fmla="val 12903"/>
            </a:avLst>
          </a:prstGeom>
          <a:solidFill xmlns:a="http://schemas.openxmlformats.org/drawingml/2006/main">
            <a:srgbClr val="FFFFFF"/>
          </a:solidFill>
          <a:ln xmlns:a="http://schemas.openxmlformats.org/drawingml/2006/main" w="9525">
            <a:solidFill>
              <a:srgbClr val="C8DCD7"/>
            </a:solidFill>
            <a:prstDash val="solid"/>
          </a:ln>
        </p:spPr>
      </p:sp>
      <p:sp>
        <p:nvSpPr>
          <p:cNvPr id="32" name="">
            <a:extLst xmlns:a="http://schemas.openxmlformats.org/drawingml/2006/main">
              <a:ext uri="{FF2B5EF4-FFF2-40B4-BE49-F238E27FC236}">
                <a16:creationId xmlns:a16="http://schemas.microsoft.com/office/drawing/2014/main" id="{92C3BC93-6624-4AA6-8D00-A1C6B9453D76}"/>
              </a:ext>
            </a:extLst>
          </p:cNvPr>
          <p:cNvSpPr>
            <a:spLocks xmlns:a="http://schemas.openxmlformats.org/drawingml/2006/main" noGrp="1"/>
          </p:cNvSpPr>
          <p:nvPr/>
        </p:nvSpPr>
        <p:spPr>
          <a:xfrm xmlns:a="http://schemas.openxmlformats.org/drawingml/2006/main">
            <a:off x="571500" y="7115175"/>
            <a:ext cx="20002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ME Ubtan Natural Glow Face Wash W…</a:t>
            </a:r>
          </a:p>
        </p:txBody>
      </p:sp>
      <p:sp>
        <p:nvSpPr>
          <p:cNvPr id="33" name="">
            <a:extLst xmlns:a="http://schemas.openxmlformats.org/drawingml/2006/main">
              <a:ext uri="{FF2B5EF4-FFF2-40B4-BE49-F238E27FC236}">
                <a16:creationId xmlns:a16="http://schemas.microsoft.com/office/drawing/2014/main" id="{77566E79-A271-4080-BC58-4593DFE0BFD9}"/>
              </a:ext>
            </a:extLst>
          </p:cNvPr>
          <p:cNvSpPr>
            <a:spLocks xmlns:a="http://schemas.openxmlformats.org/drawingml/2006/main" noGrp="1"/>
          </p:cNvSpPr>
          <p:nvPr/>
        </p:nvSpPr>
        <p:spPr>
          <a:xfrm xmlns:a="http://schemas.openxmlformats.org/drawingml/2006/main">
            <a:off x="2600325" y="7124700"/>
            <a:ext cx="619125"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788" b="1">
                <a:solidFill>
                  <a:srgbClr val="28A596"/>
                </a:solidFill>
              </a:defRPr>
            </a:pPr>
            <a:r>
              <a:rPr sz="788" b="1">
                <a:solidFill>
                  <a:srgbClr val="28A596"/>
                </a:solidFill>
              </a:rPr>
              <a:t>₹0.14 Cr</a:t>
            </a:r>
          </a:p>
        </p:txBody>
      </p:sp>
      <p:sp>
        <p:nvSpPr>
          <p:cNvPr id="34" name="">
            <a:extLst xmlns:a="http://schemas.openxmlformats.org/drawingml/2006/main">
              <a:ext uri="{FF2B5EF4-FFF2-40B4-BE49-F238E27FC236}">
                <a16:creationId xmlns:a16="http://schemas.microsoft.com/office/drawing/2014/main" id="{E0C72612-F394-4DF6-A113-E34F9D2DF5F1}"/>
              </a:ext>
            </a:extLst>
          </p:cNvPr>
          <p:cNvSpPr>
            <a:spLocks xmlns:a="http://schemas.openxmlformats.org/drawingml/2006/main" noGrp="1"/>
          </p:cNvSpPr>
          <p:nvPr/>
        </p:nvSpPr>
        <p:spPr>
          <a:xfrm xmlns:a="http://schemas.openxmlformats.org/drawingml/2006/main">
            <a:off x="3457575" y="7048500"/>
            <a:ext cx="2857500" cy="590550"/>
          </a:xfrm>
          <a:prstGeom xmlns:a="http://schemas.openxmlformats.org/drawingml/2006/main" prst="roundRect">
            <a:avLst>
              <a:gd name="adj" fmla="val 12903"/>
            </a:avLst>
          </a:prstGeom>
          <a:solidFill xmlns:a="http://schemas.openxmlformats.org/drawingml/2006/main">
            <a:srgbClr val="FFFFFF"/>
          </a:solidFill>
          <a:ln xmlns:a="http://schemas.openxmlformats.org/drawingml/2006/main" w="9525">
            <a:solidFill>
              <a:srgbClr val="C8DCD7"/>
            </a:solidFill>
            <a:prstDash val="solid"/>
          </a:ln>
        </p:spPr>
      </p:sp>
      <p:sp>
        <p:nvSpPr>
          <p:cNvPr id="35" name="">
            <a:extLst xmlns:a="http://schemas.openxmlformats.org/drawingml/2006/main">
              <a:ext uri="{FF2B5EF4-FFF2-40B4-BE49-F238E27FC236}">
                <a16:creationId xmlns:a16="http://schemas.microsoft.com/office/drawing/2014/main" id="{A46AFA0D-7CBB-4770-874F-25BA9902E403}"/>
              </a:ext>
            </a:extLst>
          </p:cNvPr>
          <p:cNvSpPr>
            <a:spLocks xmlns:a="http://schemas.openxmlformats.org/drawingml/2006/main" noGrp="1"/>
          </p:cNvSpPr>
          <p:nvPr/>
        </p:nvSpPr>
        <p:spPr>
          <a:xfrm xmlns:a="http://schemas.openxmlformats.org/drawingml/2006/main">
            <a:off x="3571875" y="7115175"/>
            <a:ext cx="20002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Vitamin C Face Wash with Vitamin …</a:t>
            </a:r>
          </a:p>
        </p:txBody>
      </p:sp>
      <p:sp>
        <p:nvSpPr>
          <p:cNvPr id="36" name="">
            <a:extLst xmlns:a="http://schemas.openxmlformats.org/drawingml/2006/main">
              <a:ext uri="{FF2B5EF4-FFF2-40B4-BE49-F238E27FC236}">
                <a16:creationId xmlns:a16="http://schemas.microsoft.com/office/drawing/2014/main" id="{51D39746-B205-44D7-90D1-9C96550F7E8F}"/>
              </a:ext>
            </a:extLst>
          </p:cNvPr>
          <p:cNvSpPr>
            <a:spLocks xmlns:a="http://schemas.openxmlformats.org/drawingml/2006/main" noGrp="1"/>
          </p:cNvSpPr>
          <p:nvPr/>
        </p:nvSpPr>
        <p:spPr>
          <a:xfrm xmlns:a="http://schemas.openxmlformats.org/drawingml/2006/main">
            <a:off x="5600700" y="7124700"/>
            <a:ext cx="619125"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788" b="1">
                <a:solidFill>
                  <a:srgbClr val="28A596"/>
                </a:solidFill>
              </a:defRPr>
            </a:pPr>
            <a:r>
              <a:rPr sz="788" b="1">
                <a:solidFill>
                  <a:srgbClr val="28A596"/>
                </a:solidFill>
              </a:rPr>
              <a:t>₹0.09 Cr</a:t>
            </a:r>
          </a:p>
        </p:txBody>
      </p:sp>
      <p:sp>
        <p:nvSpPr>
          <p:cNvPr id="37" name="">
            <a:extLst xmlns:a="http://schemas.openxmlformats.org/drawingml/2006/main">
              <a:ext uri="{FF2B5EF4-FFF2-40B4-BE49-F238E27FC236}">
                <a16:creationId xmlns:a16="http://schemas.microsoft.com/office/drawing/2014/main" id="{C7071B04-770C-4E31-92AA-92DE4B5F8BFB}"/>
              </a:ext>
            </a:extLst>
          </p:cNvPr>
          <p:cNvSpPr>
            <a:spLocks xmlns:a="http://schemas.openxmlformats.org/drawingml/2006/main" noGrp="1"/>
          </p:cNvSpPr>
          <p:nvPr/>
        </p:nvSpPr>
        <p:spPr>
          <a:xfrm xmlns:a="http://schemas.openxmlformats.org/drawingml/2006/main">
            <a:off x="457200" y="7762875"/>
            <a:ext cx="2857500" cy="590550"/>
          </a:xfrm>
          <a:prstGeom xmlns:a="http://schemas.openxmlformats.org/drawingml/2006/main" prst="roundRect">
            <a:avLst>
              <a:gd name="adj" fmla="val 12903"/>
            </a:avLst>
          </a:prstGeom>
          <a:solidFill xmlns:a="http://schemas.openxmlformats.org/drawingml/2006/main">
            <a:srgbClr val="FFFFFF"/>
          </a:solidFill>
          <a:ln xmlns:a="http://schemas.openxmlformats.org/drawingml/2006/main" w="9525">
            <a:solidFill>
              <a:srgbClr val="C8DCD7"/>
            </a:solidFill>
            <a:prstDash val="solid"/>
          </a:ln>
        </p:spPr>
      </p:sp>
      <p:sp>
        <p:nvSpPr>
          <p:cNvPr id="38" name="">
            <a:extLst xmlns:a="http://schemas.openxmlformats.org/drawingml/2006/main">
              <a:ext uri="{FF2B5EF4-FFF2-40B4-BE49-F238E27FC236}">
                <a16:creationId xmlns:a16="http://schemas.microsoft.com/office/drawing/2014/main" id="{4BC4578C-039F-4A1F-BE9E-98047627E0DD}"/>
              </a:ext>
            </a:extLst>
          </p:cNvPr>
          <p:cNvSpPr>
            <a:spLocks xmlns:a="http://schemas.openxmlformats.org/drawingml/2006/main" noGrp="1"/>
          </p:cNvSpPr>
          <p:nvPr/>
        </p:nvSpPr>
        <p:spPr>
          <a:xfrm xmlns:a="http://schemas.openxmlformats.org/drawingml/2006/main">
            <a:off x="571500" y="7829550"/>
            <a:ext cx="20002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ME VItamin C Daily Glow Face Wash…</a:t>
            </a:r>
          </a:p>
        </p:txBody>
      </p:sp>
      <p:sp>
        <p:nvSpPr>
          <p:cNvPr id="39" name="">
            <a:extLst xmlns:a="http://schemas.openxmlformats.org/drawingml/2006/main">
              <a:ext uri="{FF2B5EF4-FFF2-40B4-BE49-F238E27FC236}">
                <a16:creationId xmlns:a16="http://schemas.microsoft.com/office/drawing/2014/main" id="{B1942C8E-44F7-426D-BD08-F9DBCD14D3F1}"/>
              </a:ext>
            </a:extLst>
          </p:cNvPr>
          <p:cNvSpPr>
            <a:spLocks xmlns:a="http://schemas.openxmlformats.org/drawingml/2006/main" noGrp="1"/>
          </p:cNvSpPr>
          <p:nvPr/>
        </p:nvSpPr>
        <p:spPr>
          <a:xfrm xmlns:a="http://schemas.openxmlformats.org/drawingml/2006/main">
            <a:off x="2600325" y="7839075"/>
            <a:ext cx="619125"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788" b="1">
                <a:solidFill>
                  <a:srgbClr val="28A596"/>
                </a:solidFill>
              </a:defRPr>
            </a:pPr>
            <a:r>
              <a:rPr sz="788" b="1">
                <a:solidFill>
                  <a:srgbClr val="28A596"/>
                </a:solidFill>
              </a:rPr>
              <a:t>₹0.08 Cr</a:t>
            </a:r>
          </a:p>
        </p:txBody>
      </p:sp>
      <p:sp>
        <p:nvSpPr>
          <p:cNvPr id="40" name="">
            <a:extLst xmlns:a="http://schemas.openxmlformats.org/drawingml/2006/main">
              <a:ext uri="{FF2B5EF4-FFF2-40B4-BE49-F238E27FC236}">
                <a16:creationId xmlns:a16="http://schemas.microsoft.com/office/drawing/2014/main" id="{A85BFAF9-6B6B-40CD-8DAB-CCB3FA5F3F53}"/>
              </a:ext>
            </a:extLst>
          </p:cNvPr>
          <p:cNvSpPr>
            <a:spLocks xmlns:a="http://schemas.openxmlformats.org/drawingml/2006/main" noGrp="1"/>
          </p:cNvSpPr>
          <p:nvPr/>
        </p:nvSpPr>
        <p:spPr>
          <a:xfrm xmlns:a="http://schemas.openxmlformats.org/drawingml/2006/main">
            <a:off x="3457575" y="7762875"/>
            <a:ext cx="2857500" cy="590550"/>
          </a:xfrm>
          <a:prstGeom xmlns:a="http://schemas.openxmlformats.org/drawingml/2006/main" prst="roundRect">
            <a:avLst>
              <a:gd name="adj" fmla="val 12903"/>
            </a:avLst>
          </a:prstGeom>
          <a:solidFill xmlns:a="http://schemas.openxmlformats.org/drawingml/2006/main">
            <a:srgbClr val="FFFFFF"/>
          </a:solidFill>
          <a:ln xmlns:a="http://schemas.openxmlformats.org/drawingml/2006/main" w="9525">
            <a:solidFill>
              <a:srgbClr val="C8DCD7"/>
            </a:solidFill>
            <a:prstDash val="solid"/>
          </a:ln>
        </p:spPr>
      </p:sp>
      <p:sp>
        <p:nvSpPr>
          <p:cNvPr id="41" name="">
            <a:extLst xmlns:a="http://schemas.openxmlformats.org/drawingml/2006/main">
              <a:ext uri="{FF2B5EF4-FFF2-40B4-BE49-F238E27FC236}">
                <a16:creationId xmlns:a16="http://schemas.microsoft.com/office/drawing/2014/main" id="{F239076F-C9DB-47FB-80B4-1D05FE294F19}"/>
              </a:ext>
            </a:extLst>
          </p:cNvPr>
          <p:cNvSpPr>
            <a:spLocks xmlns:a="http://schemas.openxmlformats.org/drawingml/2006/main" noGrp="1"/>
          </p:cNvSpPr>
          <p:nvPr/>
        </p:nvSpPr>
        <p:spPr>
          <a:xfrm xmlns:a="http://schemas.openxmlformats.org/drawingml/2006/main">
            <a:off x="3571875" y="7829550"/>
            <a:ext cx="20002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ME Ubtan Natural Glow Face Wash 5…</a:t>
            </a:r>
          </a:p>
        </p:txBody>
      </p:sp>
      <p:sp>
        <p:nvSpPr>
          <p:cNvPr id="42" name="">
            <a:extLst xmlns:a="http://schemas.openxmlformats.org/drawingml/2006/main">
              <a:ext uri="{FF2B5EF4-FFF2-40B4-BE49-F238E27FC236}">
                <a16:creationId xmlns:a16="http://schemas.microsoft.com/office/drawing/2014/main" id="{66AA0992-3213-48C4-8D4A-AEC34ED8291E}"/>
              </a:ext>
            </a:extLst>
          </p:cNvPr>
          <p:cNvSpPr>
            <a:spLocks xmlns:a="http://schemas.openxmlformats.org/drawingml/2006/main" noGrp="1"/>
          </p:cNvSpPr>
          <p:nvPr/>
        </p:nvSpPr>
        <p:spPr>
          <a:xfrm xmlns:a="http://schemas.openxmlformats.org/drawingml/2006/main">
            <a:off x="5600700" y="7839075"/>
            <a:ext cx="619125"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788" b="1">
                <a:solidFill>
                  <a:srgbClr val="28A596"/>
                </a:solidFill>
              </a:defRPr>
            </a:pPr>
            <a:r>
              <a:rPr sz="788" b="1">
                <a:solidFill>
                  <a:srgbClr val="28A596"/>
                </a:solidFill>
              </a:rPr>
              <a:t>₹0.08 Cr</a:t>
            </a:r>
          </a:p>
        </p:txBody>
      </p:sp>
      <p:sp>
        <p:nvSpPr>
          <p:cNvPr id="43" name="">
            <a:extLst xmlns:a="http://schemas.openxmlformats.org/drawingml/2006/main">
              <a:ext uri="{FF2B5EF4-FFF2-40B4-BE49-F238E27FC236}">
                <a16:creationId xmlns:a16="http://schemas.microsoft.com/office/drawing/2014/main" id="{03B713DD-DD12-4805-9667-9BA787F09B51}"/>
              </a:ext>
            </a:extLst>
          </p:cNvPr>
          <p:cNvSpPr>
            <a:spLocks xmlns:a="http://schemas.openxmlformats.org/drawingml/2006/main" noGrp="1"/>
          </p:cNvSpPr>
          <p:nvPr/>
        </p:nvSpPr>
        <p:spPr>
          <a:xfrm xmlns:a="http://schemas.openxmlformats.org/drawingml/2006/main">
            <a:off x="457200" y="8477250"/>
            <a:ext cx="2857500" cy="590550"/>
          </a:xfrm>
          <a:prstGeom xmlns:a="http://schemas.openxmlformats.org/drawingml/2006/main" prst="roundRect">
            <a:avLst>
              <a:gd name="adj" fmla="val 12903"/>
            </a:avLst>
          </a:prstGeom>
          <a:solidFill xmlns:a="http://schemas.openxmlformats.org/drawingml/2006/main">
            <a:srgbClr val="FFFFFF"/>
          </a:solidFill>
          <a:ln xmlns:a="http://schemas.openxmlformats.org/drawingml/2006/main" w="9525">
            <a:solidFill>
              <a:srgbClr val="C8DCD7"/>
            </a:solidFill>
            <a:prstDash val="solid"/>
          </a:ln>
        </p:spPr>
      </p:sp>
      <p:sp>
        <p:nvSpPr>
          <p:cNvPr id="44" name="">
            <a:extLst xmlns:a="http://schemas.openxmlformats.org/drawingml/2006/main">
              <a:ext uri="{FF2B5EF4-FFF2-40B4-BE49-F238E27FC236}">
                <a16:creationId xmlns:a16="http://schemas.microsoft.com/office/drawing/2014/main" id="{8084D697-07E2-4DD1-97B3-14AB04636C5F}"/>
              </a:ext>
            </a:extLst>
          </p:cNvPr>
          <p:cNvSpPr>
            <a:spLocks xmlns:a="http://schemas.openxmlformats.org/drawingml/2006/main" noGrp="1"/>
          </p:cNvSpPr>
          <p:nvPr/>
        </p:nvSpPr>
        <p:spPr>
          <a:xfrm xmlns:a="http://schemas.openxmlformats.org/drawingml/2006/main">
            <a:off x="571500" y="8543925"/>
            <a:ext cx="20002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Vitamin C Daily Glow Sunscreen 50…</a:t>
            </a:r>
          </a:p>
        </p:txBody>
      </p:sp>
      <p:sp>
        <p:nvSpPr>
          <p:cNvPr id="45" name="">
            <a:extLst xmlns:a="http://schemas.openxmlformats.org/drawingml/2006/main">
              <a:ext uri="{FF2B5EF4-FFF2-40B4-BE49-F238E27FC236}">
                <a16:creationId xmlns:a16="http://schemas.microsoft.com/office/drawing/2014/main" id="{6287F46D-B926-4C45-BFC5-4EBE80420CD4}"/>
              </a:ext>
            </a:extLst>
          </p:cNvPr>
          <p:cNvSpPr>
            <a:spLocks xmlns:a="http://schemas.openxmlformats.org/drawingml/2006/main" noGrp="1"/>
          </p:cNvSpPr>
          <p:nvPr/>
        </p:nvSpPr>
        <p:spPr>
          <a:xfrm xmlns:a="http://schemas.openxmlformats.org/drawingml/2006/main">
            <a:off x="2600325" y="8553450"/>
            <a:ext cx="619125"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788" b="1">
                <a:solidFill>
                  <a:srgbClr val="28A596"/>
                </a:solidFill>
              </a:defRPr>
            </a:pPr>
            <a:r>
              <a:rPr sz="788" b="1">
                <a:solidFill>
                  <a:srgbClr val="28A596"/>
                </a:solidFill>
              </a:rPr>
              <a:t>₹0.08 Cr</a:t>
            </a:r>
          </a:p>
        </p:txBody>
      </p:sp>
      <p:sp>
        <p:nvSpPr>
          <p:cNvPr id="46" name="">
            <a:extLst xmlns:a="http://schemas.openxmlformats.org/drawingml/2006/main">
              <a:ext uri="{FF2B5EF4-FFF2-40B4-BE49-F238E27FC236}">
                <a16:creationId xmlns:a16="http://schemas.microsoft.com/office/drawing/2014/main" id="{63AA8A40-D2D4-4623-B4A7-23BDA7A30A43}"/>
              </a:ext>
            </a:extLst>
          </p:cNvPr>
          <p:cNvSpPr>
            <a:spLocks xmlns:a="http://schemas.openxmlformats.org/drawingml/2006/main" noGrp="1"/>
          </p:cNvSpPr>
          <p:nvPr/>
        </p:nvSpPr>
        <p:spPr>
          <a:xfrm xmlns:a="http://schemas.openxmlformats.org/drawingml/2006/main">
            <a:off x="3457575" y="8477250"/>
            <a:ext cx="2857500" cy="590550"/>
          </a:xfrm>
          <a:prstGeom xmlns:a="http://schemas.openxmlformats.org/drawingml/2006/main" prst="roundRect">
            <a:avLst>
              <a:gd name="adj" fmla="val 12903"/>
            </a:avLst>
          </a:prstGeom>
          <a:solidFill xmlns:a="http://schemas.openxmlformats.org/drawingml/2006/main">
            <a:srgbClr val="FFFFFF"/>
          </a:solidFill>
          <a:ln xmlns:a="http://schemas.openxmlformats.org/drawingml/2006/main" w="9525">
            <a:solidFill>
              <a:srgbClr val="C8DCD7"/>
            </a:solidFill>
            <a:prstDash val="solid"/>
          </a:ln>
        </p:spPr>
      </p:sp>
      <p:sp>
        <p:nvSpPr>
          <p:cNvPr id="47" name="">
            <a:extLst xmlns:a="http://schemas.openxmlformats.org/drawingml/2006/main">
              <a:ext uri="{FF2B5EF4-FFF2-40B4-BE49-F238E27FC236}">
                <a16:creationId xmlns:a16="http://schemas.microsoft.com/office/drawing/2014/main" id="{BAC8BBC1-90B3-44A4-880B-A4CC0F6A1AF9}"/>
              </a:ext>
            </a:extLst>
          </p:cNvPr>
          <p:cNvSpPr>
            <a:spLocks xmlns:a="http://schemas.openxmlformats.org/drawingml/2006/main" noGrp="1"/>
          </p:cNvSpPr>
          <p:nvPr/>
        </p:nvSpPr>
        <p:spPr>
          <a:xfrm xmlns:a="http://schemas.openxmlformats.org/drawingml/2006/main">
            <a:off x="3571875" y="8543925"/>
            <a:ext cx="20002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ME Onion Hair fall control Shampo…</a:t>
            </a:r>
          </a:p>
        </p:txBody>
      </p:sp>
      <p:sp>
        <p:nvSpPr>
          <p:cNvPr id="48" name="">
            <a:extLst xmlns:a="http://schemas.openxmlformats.org/drawingml/2006/main">
              <a:ext uri="{FF2B5EF4-FFF2-40B4-BE49-F238E27FC236}">
                <a16:creationId xmlns:a16="http://schemas.microsoft.com/office/drawing/2014/main" id="{7568EBFB-5B00-4D7D-918E-BE0264F57928}"/>
              </a:ext>
            </a:extLst>
          </p:cNvPr>
          <p:cNvSpPr>
            <a:spLocks xmlns:a="http://schemas.openxmlformats.org/drawingml/2006/main" noGrp="1"/>
          </p:cNvSpPr>
          <p:nvPr/>
        </p:nvSpPr>
        <p:spPr>
          <a:xfrm xmlns:a="http://schemas.openxmlformats.org/drawingml/2006/main">
            <a:off x="5600700" y="8553450"/>
            <a:ext cx="619125"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788" b="1">
                <a:solidFill>
                  <a:srgbClr val="28A596"/>
                </a:solidFill>
              </a:defRPr>
            </a:pPr>
            <a:r>
              <a:rPr sz="788" b="1">
                <a:solidFill>
                  <a:srgbClr val="28A596"/>
                </a:solidFill>
              </a:rPr>
              <a:t>₹0.07 Cr</a:t>
            </a:r>
          </a:p>
        </p:txBody>
      </p:sp>
      <p:sp>
        <p:nvSpPr>
          <p:cNvPr id="49" name="">
            <a:extLst xmlns:a="http://schemas.openxmlformats.org/drawingml/2006/main">
              <a:ext uri="{FF2B5EF4-FFF2-40B4-BE49-F238E27FC236}">
                <a16:creationId xmlns:a16="http://schemas.microsoft.com/office/drawing/2014/main" id="{D8228AAF-7605-48C5-9BAB-8939F61FF7B5}"/>
              </a:ext>
            </a:extLst>
          </p:cNvPr>
          <p:cNvSpPr>
            <a:spLocks xmlns:a="http://schemas.openxmlformats.org/drawingml/2006/main" noGrp="1"/>
          </p:cNvSpPr>
          <p:nvPr/>
        </p:nvSpPr>
        <p:spPr>
          <a:xfrm xmlns:a="http://schemas.openxmlformats.org/drawingml/2006/main">
            <a:off x="361950" y="9429750"/>
            <a:ext cx="6134100" cy="1428750"/>
          </a:xfrm>
          <a:prstGeom xmlns:a="http://schemas.openxmlformats.org/drawingml/2006/main" prst="roundRect">
            <a:avLst>
              <a:gd name="adj" fmla="val 5333"/>
            </a:avLst>
          </a:prstGeom>
          <a:solidFill xmlns:a="http://schemas.openxmlformats.org/drawingml/2006/main">
            <a:srgbClr val="DFF2ED"/>
          </a:solidFill>
          <a:ln xmlns:a="http://schemas.openxmlformats.org/drawingml/2006/main" w="9525">
            <a:solidFill>
              <a:srgbClr val="28A596"/>
            </a:solidFill>
            <a:prstDash val="solid"/>
          </a:ln>
        </p:spPr>
      </p:sp>
      <p:sp>
        <p:nvSpPr>
          <p:cNvPr id="50" name="">
            <a:extLst xmlns:a="http://schemas.openxmlformats.org/drawingml/2006/main">
              <a:ext uri="{FF2B5EF4-FFF2-40B4-BE49-F238E27FC236}">
                <a16:creationId xmlns:a16="http://schemas.microsoft.com/office/drawing/2014/main" id="{C0BA01BB-2DFD-4D85-BF03-DC9BACE61BE2}"/>
              </a:ext>
            </a:extLst>
          </p:cNvPr>
          <p:cNvSpPr>
            <a:spLocks xmlns:a="http://schemas.openxmlformats.org/drawingml/2006/main" noGrp="1"/>
          </p:cNvSpPr>
          <p:nvPr/>
        </p:nvSpPr>
        <p:spPr>
          <a:xfrm xmlns:a="http://schemas.openxmlformats.org/drawingml/2006/main">
            <a:off x="523875" y="9601200"/>
            <a:ext cx="138112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1">
                <a:solidFill>
                  <a:srgbClr val="116F68"/>
                </a:solidFill>
              </a:defRPr>
            </a:pPr>
            <a:r>
              <a:rPr sz="825" b="1">
                <a:solidFill>
                  <a:srgbClr val="116F68"/>
                </a:solidFill>
              </a:rPr>
              <a:t>LEADERSHIP CALL</a:t>
            </a:r>
          </a:p>
        </p:txBody>
      </p:sp>
      <p:sp>
        <p:nvSpPr>
          <p:cNvPr id="51" name="">
            <a:extLst xmlns:a="http://schemas.openxmlformats.org/drawingml/2006/main">
              <a:ext uri="{FF2B5EF4-FFF2-40B4-BE49-F238E27FC236}">
                <a16:creationId xmlns:a16="http://schemas.microsoft.com/office/drawing/2014/main" id="{1D9804DA-18B5-410A-91F4-439F42087F16}"/>
              </a:ext>
            </a:extLst>
          </p:cNvPr>
          <p:cNvSpPr>
            <a:spLocks xmlns:a="http://schemas.openxmlformats.org/drawingml/2006/main" noGrp="1"/>
          </p:cNvSpPr>
          <p:nvPr/>
        </p:nvSpPr>
        <p:spPr>
          <a:xfrm xmlns:a="http://schemas.openxmlformats.org/drawingml/2006/main">
            <a:off x="523875" y="9906000"/>
            <a:ext cx="5762625"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275" b="1">
                <a:solidFill>
                  <a:srgbClr val="183B39"/>
                </a:solidFill>
              </a:defRPr>
            </a:pPr>
            <a:r>
              <a:rPr sz="1275" b="1">
                <a:solidFill>
                  <a:srgbClr val="183B39"/>
                </a:solidFill>
              </a:rPr>
              <a:t>Protect top-8 face-wash and sunscreen EANs; reverse June–July -4.6% by restoring Rice FW 100ml and Ubtan FW OSA to 100% on Nykaa; retain &gt;95% flow as account benchmark.</a:t>
            </a:r>
          </a:p>
        </p:txBody>
      </p:sp>
      <p:sp>
        <p:nvSpPr>
          <p:cNvPr id="52" name="">
            <a:extLst xmlns:a="http://schemas.openxmlformats.org/drawingml/2006/main">
              <a:ext uri="{FF2B5EF4-FFF2-40B4-BE49-F238E27FC236}">
                <a16:creationId xmlns:a16="http://schemas.microsoft.com/office/drawing/2014/main" id="{4E20F6CE-0CDF-43B7-B744-6FB928844FCB}"/>
              </a:ext>
            </a:extLst>
          </p:cNvPr>
          <p:cNvSpPr>
            <a:spLocks xmlns:a="http://schemas.openxmlformats.org/drawingml/2006/main" noGrp="1"/>
          </p:cNvSpPr>
          <p:nvPr/>
        </p:nvSpPr>
        <p:spPr>
          <a:xfrm xmlns:a="http://schemas.openxmlformats.org/drawingml/2006/main">
            <a:off x="361950" y="11544300"/>
            <a:ext cx="6134100" cy="457200"/>
          </a:xfrm>
          <a:prstGeom xmlns:a="http://schemas.openxmlformats.org/drawingml/2006/main" prst="roundRect">
            <a:avLst>
              <a:gd name="adj" fmla="val 16667"/>
            </a:avLst>
          </a:prstGeom>
          <a:solidFill xmlns:a="http://schemas.openxmlformats.org/drawingml/2006/main">
            <a:srgbClr val="DFF2ED"/>
          </a:solidFill>
          <a:ln xmlns:a="http://schemas.openxmlformats.org/drawingml/2006/main" w="9525">
            <a:solidFill>
              <a:srgbClr val="28A596"/>
            </a:solidFill>
            <a:prstDash val="solid"/>
          </a:ln>
        </p:spPr>
      </p:sp>
      <p:sp>
        <p:nvSpPr>
          <p:cNvPr id="53" name="">
            <a:extLst xmlns:a="http://schemas.openxmlformats.org/drawingml/2006/main">
              <a:ext uri="{FF2B5EF4-FFF2-40B4-BE49-F238E27FC236}">
                <a16:creationId xmlns:a16="http://schemas.microsoft.com/office/drawing/2014/main" id="{3F1587A3-6A66-4511-AA91-37119C9F147A}"/>
              </a:ext>
            </a:extLst>
          </p:cNvPr>
          <p:cNvSpPr>
            <a:spLocks xmlns:a="http://schemas.openxmlformats.org/drawingml/2006/main" noGrp="1"/>
          </p:cNvSpPr>
          <p:nvPr/>
        </p:nvSpPr>
        <p:spPr>
          <a:xfrm xmlns:a="http://schemas.openxmlformats.org/drawingml/2006/main">
            <a:off x="438150" y="11582400"/>
            <a:ext cx="142875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38" b="1">
                <a:solidFill>
                  <a:srgbClr val="116F68"/>
                </a:solidFill>
              </a:defRPr>
            </a:pPr>
            <a:r>
              <a:rPr sz="638" b="1">
                <a:solidFill>
                  <a:srgbClr val="116F68"/>
                </a:solidFill>
              </a:rPr>
              <a:t>EVIDENCE</a:t>
            </a:r>
          </a:p>
        </p:txBody>
      </p:sp>
      <p:sp>
        <p:nvSpPr>
          <p:cNvPr id="54" name="">
            <a:extLst xmlns:a="http://schemas.openxmlformats.org/drawingml/2006/main">
              <a:ext uri="{FF2B5EF4-FFF2-40B4-BE49-F238E27FC236}">
                <a16:creationId xmlns:a16="http://schemas.microsoft.com/office/drawing/2014/main" id="{AEE71B89-03FB-415B-8169-CD15AD763611}"/>
              </a:ext>
            </a:extLst>
          </p:cNvPr>
          <p:cNvSpPr>
            <a:spLocks xmlns:a="http://schemas.openxmlformats.org/drawingml/2006/main" noGrp="1"/>
          </p:cNvSpPr>
          <p:nvPr/>
        </p:nvSpPr>
        <p:spPr>
          <a:xfrm xmlns:a="http://schemas.openxmlformats.org/drawingml/2006/main">
            <a:off x="438150" y="11734800"/>
            <a:ext cx="1428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00" b="0">
                <a:solidFill>
                  <a:srgbClr val="183B39"/>
                </a:solidFill>
              </a:defRPr>
            </a:pPr>
            <a:r>
              <a:rPr sz="600" b="0">
                <a:solidFill>
                  <a:srgbClr val="183B39"/>
                </a:solidFill>
              </a:rPr>
              <a:t>Jul-26 ₹2.07 Cr (-4.6% MoM vs Jun ₹2.17 Cr); 7-month trend Jan ₹1.64 Cr → Jul ₹2.07 Cr; eB2B FYTD ₹8.79 Cr; 99.4% flow vs MT 73.4%; EAN count 198 (was 222 in Jan); Rice FW 100ml top article ₹0.27 Cr</a:t>
            </a:r>
          </a:p>
        </p:txBody>
      </p:sp>
      <p:sp>
        <p:nvSpPr>
          <p:cNvPr id="55" name="">
            <a:extLst xmlns:a="http://schemas.openxmlformats.org/drawingml/2006/main">
              <a:ext uri="{FF2B5EF4-FFF2-40B4-BE49-F238E27FC236}">
                <a16:creationId xmlns:a16="http://schemas.microsoft.com/office/drawing/2014/main" id="{ED6C17C4-1916-4D52-8DEB-44B87AD90334}"/>
              </a:ext>
            </a:extLst>
          </p:cNvPr>
          <p:cNvSpPr>
            <a:spLocks xmlns:a="http://schemas.openxmlformats.org/drawingml/2006/main" noGrp="1"/>
          </p:cNvSpPr>
          <p:nvPr/>
        </p:nvSpPr>
        <p:spPr>
          <a:xfrm xmlns:a="http://schemas.openxmlformats.org/drawingml/2006/main">
            <a:off x="1924050" y="11610975"/>
            <a:ext cx="0" cy="304800"/>
          </a:xfrm>
          <a:prstGeom xmlns:a="http://schemas.openxmlformats.org/drawingml/2006/main" prst="line">
            <a:avLst/>
          </a:prstGeom>
          <a:ln xmlns:a="http://schemas.openxmlformats.org/drawingml/2006/main" w="9525">
            <a:solidFill>
              <a:srgbClr val="C8DCD7"/>
            </a:solidFill>
            <a:prstDash val="solid"/>
          </a:ln>
        </p:spPr>
      </p:sp>
      <p:sp>
        <p:nvSpPr>
          <p:cNvPr id="56" name="">
            <a:extLst xmlns:a="http://schemas.openxmlformats.org/drawingml/2006/main">
              <a:ext uri="{FF2B5EF4-FFF2-40B4-BE49-F238E27FC236}">
                <a16:creationId xmlns:a16="http://schemas.microsoft.com/office/drawing/2014/main" id="{C46DF77C-C95E-4827-B281-A73175335D18}"/>
              </a:ext>
            </a:extLst>
          </p:cNvPr>
          <p:cNvSpPr>
            <a:spLocks xmlns:a="http://schemas.openxmlformats.org/drawingml/2006/main" noGrp="1"/>
          </p:cNvSpPr>
          <p:nvPr/>
        </p:nvSpPr>
        <p:spPr>
          <a:xfrm xmlns:a="http://schemas.openxmlformats.org/drawingml/2006/main">
            <a:off x="1952625" y="11582400"/>
            <a:ext cx="142875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38" b="1">
                <a:solidFill>
                  <a:srgbClr val="116F68"/>
                </a:solidFill>
              </a:defRPr>
            </a:pPr>
            <a:r>
              <a:rPr sz="638" b="1">
                <a:solidFill>
                  <a:srgbClr val="116F68"/>
                </a:solidFill>
              </a:rPr>
              <a:t>IMPLICATION</a:t>
            </a:r>
          </a:p>
        </p:txBody>
      </p:sp>
      <p:sp>
        <p:nvSpPr>
          <p:cNvPr id="57" name="">
            <a:extLst xmlns:a="http://schemas.openxmlformats.org/drawingml/2006/main">
              <a:ext uri="{FF2B5EF4-FFF2-40B4-BE49-F238E27FC236}">
                <a16:creationId xmlns:a16="http://schemas.microsoft.com/office/drawing/2014/main" id="{F80321FE-73E7-453A-8359-E001E68D1B13}"/>
              </a:ext>
            </a:extLst>
          </p:cNvPr>
          <p:cNvSpPr>
            <a:spLocks xmlns:a="http://schemas.openxmlformats.org/drawingml/2006/main" noGrp="1"/>
          </p:cNvSpPr>
          <p:nvPr/>
        </p:nvSpPr>
        <p:spPr>
          <a:xfrm xmlns:a="http://schemas.openxmlformats.org/drawingml/2006/main">
            <a:off x="1952625" y="11734800"/>
            <a:ext cx="1428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00" b="0">
                <a:solidFill>
                  <a:srgbClr val="183B39"/>
                </a:solidFill>
              </a:defRPr>
            </a:pPr>
            <a:r>
              <a:rPr sz="600" b="0">
                <a:solidFill>
                  <a:srgbClr val="183B39"/>
                </a:solidFill>
              </a:rPr>
              <a:t>MoM dip is article-mix softness, not account deterioration; declining EAN count while value holds = better productivity per EAN; top-2 articles (Rice FW 100ml + 50ml = ₹0.46 Cr) determine August recovery</a:t>
            </a:r>
          </a:p>
        </p:txBody>
      </p:sp>
      <p:sp>
        <p:nvSpPr>
          <p:cNvPr id="58" name="">
            <a:extLst xmlns:a="http://schemas.openxmlformats.org/drawingml/2006/main">
              <a:ext uri="{FF2B5EF4-FFF2-40B4-BE49-F238E27FC236}">
                <a16:creationId xmlns:a16="http://schemas.microsoft.com/office/drawing/2014/main" id="{DFB3A9E5-7576-4F9D-B6B2-7A071DA0077E}"/>
              </a:ext>
            </a:extLst>
          </p:cNvPr>
          <p:cNvSpPr>
            <a:spLocks xmlns:a="http://schemas.openxmlformats.org/drawingml/2006/main" noGrp="1"/>
          </p:cNvSpPr>
          <p:nvPr/>
        </p:nvSpPr>
        <p:spPr>
          <a:xfrm xmlns:a="http://schemas.openxmlformats.org/drawingml/2006/main">
            <a:off x="3438525" y="11610975"/>
            <a:ext cx="0" cy="304800"/>
          </a:xfrm>
          <a:prstGeom xmlns:a="http://schemas.openxmlformats.org/drawingml/2006/main" prst="line">
            <a:avLst/>
          </a:prstGeom>
          <a:ln xmlns:a="http://schemas.openxmlformats.org/drawingml/2006/main" w="9525">
            <a:solidFill>
              <a:srgbClr val="C8DCD7"/>
            </a:solidFill>
            <a:prstDash val="solid"/>
          </a:ln>
        </p:spPr>
      </p:sp>
      <p:sp>
        <p:nvSpPr>
          <p:cNvPr id="59" name="">
            <a:extLst xmlns:a="http://schemas.openxmlformats.org/drawingml/2006/main">
              <a:ext uri="{FF2B5EF4-FFF2-40B4-BE49-F238E27FC236}">
                <a16:creationId xmlns:a16="http://schemas.microsoft.com/office/drawing/2014/main" id="{71C26064-D621-4B8E-8382-11E3D29D05CF}"/>
              </a:ext>
            </a:extLst>
          </p:cNvPr>
          <p:cNvSpPr>
            <a:spLocks xmlns:a="http://schemas.openxmlformats.org/drawingml/2006/main" noGrp="1"/>
          </p:cNvSpPr>
          <p:nvPr/>
        </p:nvSpPr>
        <p:spPr>
          <a:xfrm xmlns:a="http://schemas.openxmlformats.org/drawingml/2006/main">
            <a:off x="3467100" y="11582400"/>
            <a:ext cx="142875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38" b="1">
                <a:solidFill>
                  <a:srgbClr val="116F68"/>
                </a:solidFill>
              </a:defRPr>
            </a:pPr>
            <a:r>
              <a:rPr sz="638" b="1">
                <a:solidFill>
                  <a:srgbClr val="116F68"/>
                </a:solidFill>
              </a:rPr>
              <a:t>ACTION</a:t>
            </a:r>
          </a:p>
        </p:txBody>
      </p:sp>
      <p:sp>
        <p:nvSpPr>
          <p:cNvPr id="60" name="">
            <a:extLst xmlns:a="http://schemas.openxmlformats.org/drawingml/2006/main">
              <a:ext uri="{FF2B5EF4-FFF2-40B4-BE49-F238E27FC236}">
                <a16:creationId xmlns:a16="http://schemas.microsoft.com/office/drawing/2014/main" id="{ADBA68F6-9DA9-424C-99DD-A2C85325DB57}"/>
              </a:ext>
            </a:extLst>
          </p:cNvPr>
          <p:cNvSpPr>
            <a:spLocks xmlns:a="http://schemas.openxmlformats.org/drawingml/2006/main" noGrp="1"/>
          </p:cNvSpPr>
          <p:nvPr/>
        </p:nvSpPr>
        <p:spPr>
          <a:xfrm xmlns:a="http://schemas.openxmlformats.org/drawingml/2006/main">
            <a:off x="3467100" y="11734800"/>
            <a:ext cx="1428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00" b="0">
                <a:solidFill>
                  <a:srgbClr val="183B39"/>
                </a:solidFill>
              </a:defRPr>
            </a:pPr>
            <a:r>
              <a:rPr sz="600" b="0">
                <a:solidFill>
                  <a:srgbClr val="183B39"/>
                </a:solidFill>
              </a:rPr>
              <a:t>Raise OSA to 100% for Rice FW 100ml and Ubtan FW on Nykaa; review article sellthrough in Nykaa before September reorder; no new EAN additions until July sellthrough confirmed</a:t>
            </a:r>
          </a:p>
        </p:txBody>
      </p:sp>
      <p:sp>
        <p:nvSpPr>
          <p:cNvPr id="61" name="">
            <a:extLst xmlns:a="http://schemas.openxmlformats.org/drawingml/2006/main">
              <a:ext uri="{FF2B5EF4-FFF2-40B4-BE49-F238E27FC236}">
                <a16:creationId xmlns:a16="http://schemas.microsoft.com/office/drawing/2014/main" id="{8FDE2524-3D7A-45E5-9D9C-4FD1A7C0E119}"/>
              </a:ext>
            </a:extLst>
          </p:cNvPr>
          <p:cNvSpPr>
            <a:spLocks xmlns:a="http://schemas.openxmlformats.org/drawingml/2006/main" noGrp="1"/>
          </p:cNvSpPr>
          <p:nvPr/>
        </p:nvSpPr>
        <p:spPr>
          <a:xfrm xmlns:a="http://schemas.openxmlformats.org/drawingml/2006/main">
            <a:off x="4953000" y="11610975"/>
            <a:ext cx="0" cy="304800"/>
          </a:xfrm>
          <a:prstGeom xmlns:a="http://schemas.openxmlformats.org/drawingml/2006/main" prst="line">
            <a:avLst/>
          </a:prstGeom>
          <a:ln xmlns:a="http://schemas.openxmlformats.org/drawingml/2006/main" w="9525">
            <a:solidFill>
              <a:srgbClr val="C8DCD7"/>
            </a:solidFill>
            <a:prstDash val="solid"/>
          </a:ln>
        </p:spPr>
      </p:sp>
      <p:sp>
        <p:nvSpPr>
          <p:cNvPr id="62" name="">
            <a:extLst xmlns:a="http://schemas.openxmlformats.org/drawingml/2006/main">
              <a:ext uri="{FF2B5EF4-FFF2-40B4-BE49-F238E27FC236}">
                <a16:creationId xmlns:a16="http://schemas.microsoft.com/office/drawing/2014/main" id="{2849D5AF-A63F-4907-9807-41F1D12027E5}"/>
              </a:ext>
            </a:extLst>
          </p:cNvPr>
          <p:cNvSpPr>
            <a:spLocks xmlns:a="http://schemas.openxmlformats.org/drawingml/2006/main" noGrp="1"/>
          </p:cNvSpPr>
          <p:nvPr/>
        </p:nvSpPr>
        <p:spPr>
          <a:xfrm xmlns:a="http://schemas.openxmlformats.org/drawingml/2006/main">
            <a:off x="4981575" y="11582400"/>
            <a:ext cx="142875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38" b="1">
                <a:solidFill>
                  <a:srgbClr val="116F68"/>
                </a:solidFill>
              </a:defRPr>
            </a:pPr>
            <a:r>
              <a:rPr sz="638" b="1">
                <a:solidFill>
                  <a:srgbClr val="116F68"/>
                </a:solidFill>
              </a:rPr>
              <a:t>OWNER</a:t>
            </a:r>
          </a:p>
        </p:txBody>
      </p:sp>
      <p:sp>
        <p:nvSpPr>
          <p:cNvPr id="63" name="">
            <a:extLst xmlns:a="http://schemas.openxmlformats.org/drawingml/2006/main">
              <a:ext uri="{FF2B5EF4-FFF2-40B4-BE49-F238E27FC236}">
                <a16:creationId xmlns:a16="http://schemas.microsoft.com/office/drawing/2014/main" id="{683588F4-24DE-4632-99D1-DCA2B6368BB5}"/>
              </a:ext>
            </a:extLst>
          </p:cNvPr>
          <p:cNvSpPr>
            <a:spLocks xmlns:a="http://schemas.openxmlformats.org/drawingml/2006/main" noGrp="1"/>
          </p:cNvSpPr>
          <p:nvPr/>
        </p:nvSpPr>
        <p:spPr>
          <a:xfrm xmlns:a="http://schemas.openxmlformats.org/drawingml/2006/main">
            <a:off x="4981575" y="11734800"/>
            <a:ext cx="1428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00" b="0">
                <a:solidFill>
                  <a:srgbClr val="183B39"/>
                </a:solidFill>
              </a:defRPr>
            </a:pPr>
            <a:r>
              <a:rPr sz="600" b="0">
                <a:solidFill>
                  <a:srgbClr val="183B39"/>
                </a:solidFill>
              </a:rPr>
              <a:t>NKAM FSN / Nykaa + Supply | 30-Aug</a:t>
            </a:r>
          </a:p>
        </p:txBody>
      </p:sp>
    </p:spTree>
    <p:extLst>
      <p:ext uri="{BB962C8B-B14F-4D97-AF65-F5344CB8AC3E}">
        <p14:creationId xmlns:p14="http://schemas.microsoft.com/office/powerpoint/2010/main" val="75792334"/>
      </p:ext>
    </p:extLst>
  </p:cSld>
</p:sld>
</file>

<file path=ppt/slides/slide15.xml><?xml version="1.0" encoding="utf-8"?>
<p:sld xmlns:p="http://schemas.openxmlformats.org/presentationml/2006/main">
  <p:cSld>
    <p:bg>
      <p:bgPr>
        <a:solidFill xmlns:a="http://schemas.openxmlformats.org/drawingml/2006/main">
          <a:srgbClr val="F7FBFA"/>
        </a:solidFill>
      </p:bgPr>
    </p:bg>
    <p:spTree>
      <p:nvGrpSpPr>
        <p:cNvPr id="1" name=""/>
        <p:cNvGrpSpPr/>
        <p:nvPr/>
      </p:nvGrpSpPr>
      <p:grpSpPr>
        <a:xfrm xmlns:a="http://schemas.openxmlformats.org/drawingml/2006/main"/>
      </p:grpSpPr>
      <p:sp>
        <p:nvSpPr>
          <p:cNvPr id="58" name="">
            <a:extLst xmlns:a="http://schemas.openxmlformats.org/drawingml/2006/main">
              <a:ext uri="{FF2B5EF4-FFF2-40B4-BE49-F238E27FC236}">
                <a16:creationId xmlns:a16="http://schemas.microsoft.com/office/drawing/2014/main" id="{2929AD6D-5104-4661-AB64-7EB3C8D75735}"/>
              </a:ext>
            </a:extLst>
          </p:cNvPr>
          <p:cNvSpPr>
            <a:spLocks xmlns:a="http://schemas.openxmlformats.org/drawingml/2006/main" noGrp="1"/>
          </p:cNvSpPr>
          <p:nvPr/>
        </p:nvSpPr>
        <p:spPr>
          <a:xfrm xmlns:a="http://schemas.openxmlformats.org/drawingml/2006/main">
            <a:off x="0" y="0"/>
            <a:ext cx="6858000" cy="1000125"/>
          </a:xfrm>
          <a:prstGeom xmlns:a="http://schemas.openxmlformats.org/drawingml/2006/main" prst="rect">
            <a:avLst/>
          </a:prstGeom>
          <a:solidFill xmlns:a="http://schemas.openxmlformats.org/drawingml/2006/main">
            <a:srgbClr val="116F68"/>
          </a:solidFill>
          <a:ln xmlns:a="http://schemas.openxmlformats.org/drawingml/2006/main" w="0">
            <a:solidFill>
              <a:srgbClr val="116F68"/>
            </a:solidFill>
            <a:prstDash val="solid"/>
          </a:ln>
        </p:spPr>
      </p:sp>
      <p:sp>
        <p:nvSpPr>
          <p:cNvPr id="2" name="">
            <a:extLst xmlns:a="http://schemas.openxmlformats.org/drawingml/2006/main">
              <a:ext uri="{FF2B5EF4-FFF2-40B4-BE49-F238E27FC236}">
                <a16:creationId xmlns:a16="http://schemas.microsoft.com/office/drawing/2014/main" id="{1692D190-1099-46AD-BCF3-B72E34A2DBB1}"/>
              </a:ext>
            </a:extLst>
          </p:cNvPr>
          <p:cNvSpPr>
            <a:spLocks xmlns:a="http://schemas.openxmlformats.org/drawingml/2006/main" noGrp="1"/>
          </p:cNvSpPr>
          <p:nvPr/>
        </p:nvSpPr>
        <p:spPr>
          <a:xfrm xmlns:a="http://schemas.openxmlformats.org/drawingml/2006/main">
            <a:off x="361950" y="228600"/>
            <a:ext cx="59055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2025" b="1">
                <a:solidFill>
                  <a:srgbClr val="FFFFFF"/>
                </a:solidFill>
              </a:defRPr>
            </a:pPr>
            <a:r>
              <a:rPr sz="2025" b="1">
                <a:solidFill>
                  <a:srgbClr val="FFFFFF"/>
                </a:solidFill>
              </a:rPr>
              <a:t>NPI contributes ₹2.82 Cr; Reliance and DMart hold most of the value</a:t>
            </a:r>
          </a:p>
        </p:txBody>
      </p:sp>
      <p:sp>
        <p:nvSpPr>
          <p:cNvPr id="3" name="">
            <a:extLst xmlns:a="http://schemas.openxmlformats.org/drawingml/2006/main">
              <a:ext uri="{FF2B5EF4-FFF2-40B4-BE49-F238E27FC236}">
                <a16:creationId xmlns:a16="http://schemas.microsoft.com/office/drawing/2014/main" id="{05D753D8-425B-4250-8F6B-15FA3B2A2CEA}"/>
              </a:ext>
            </a:extLst>
          </p:cNvPr>
          <p:cNvSpPr>
            <a:spLocks xmlns:a="http://schemas.openxmlformats.org/drawingml/2006/main" noGrp="1"/>
          </p:cNvSpPr>
          <p:nvPr/>
        </p:nvSpPr>
        <p:spPr>
          <a:xfrm xmlns:a="http://schemas.openxmlformats.org/drawingml/2006/main">
            <a:off x="381000" y="695325"/>
            <a:ext cx="57150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75" b="0">
                <a:solidFill>
                  <a:srgbClr val="DFF2ED"/>
                </a:solidFill>
              </a:defRPr>
            </a:pPr>
            <a:r>
              <a:rPr sz="975" b="0">
                <a:solidFill>
                  <a:srgbClr val="DFF2ED"/>
                </a:solidFill>
              </a:rPr>
              <a:t>NPI contribution | Overall, zone and chain | July 2026 | NSV basis</a:t>
            </a:r>
          </a:p>
        </p:txBody>
      </p:sp>
      <p:sp>
        <p:nvSpPr>
          <p:cNvPr id="4" name="">
            <a:extLst xmlns:a="http://schemas.openxmlformats.org/drawingml/2006/main">
              <a:ext uri="{FF2B5EF4-FFF2-40B4-BE49-F238E27FC236}">
                <a16:creationId xmlns:a16="http://schemas.microsoft.com/office/drawing/2014/main" id="{930B8874-FF5B-45C8-A568-8190734CA6B2}"/>
              </a:ext>
            </a:extLst>
          </p:cNvPr>
          <p:cNvSpPr>
            <a:spLocks xmlns:a="http://schemas.openxmlformats.org/drawingml/2006/main" noGrp="1"/>
          </p:cNvSpPr>
          <p:nvPr/>
        </p:nvSpPr>
        <p:spPr>
          <a:xfrm xmlns:a="http://schemas.openxmlformats.org/drawingml/2006/main">
            <a:off x="6191250" y="361950"/>
            <a:ext cx="3429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900" b="1">
                <a:solidFill>
                  <a:srgbClr val="FFFFFF"/>
                </a:solidFill>
              </a:defRPr>
            </a:pPr>
            <a:r>
              <a:rPr sz="900" b="1">
                <a:solidFill>
                  <a:srgbClr val="FFFFFF"/>
                </a:solidFill>
              </a:rPr>
              <a:t>15</a:t>
            </a:r>
          </a:p>
        </p:txBody>
      </p:sp>
      <p:sp>
        <p:nvSpPr>
          <p:cNvPr id="5" name="">
            <a:extLst xmlns:a="http://schemas.openxmlformats.org/drawingml/2006/main">
              <a:ext uri="{FF2B5EF4-FFF2-40B4-BE49-F238E27FC236}">
                <a16:creationId xmlns:a16="http://schemas.microsoft.com/office/drawing/2014/main" id="{AE08FEDF-E4D7-4DA8-BFFC-F73B507260AC}"/>
              </a:ext>
            </a:extLst>
          </p:cNvPr>
          <p:cNvSpPr>
            <a:spLocks xmlns:a="http://schemas.openxmlformats.org/drawingml/2006/main" noGrp="1"/>
          </p:cNvSpPr>
          <p:nvPr/>
        </p:nvSpPr>
        <p:spPr>
          <a:xfrm xmlns:a="http://schemas.openxmlformats.org/drawingml/2006/main">
            <a:off x="361950" y="1285875"/>
            <a:ext cx="192405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9525">
            <a:solidFill>
              <a:srgbClr val="C8DCD7"/>
            </a:solidFill>
            <a:prstDash val="solid"/>
          </a:ln>
        </p:spPr>
      </p:sp>
      <p:sp>
        <p:nvSpPr>
          <p:cNvPr id="6" name="">
            <a:extLst xmlns:a="http://schemas.openxmlformats.org/drawingml/2006/main">
              <a:ext uri="{FF2B5EF4-FFF2-40B4-BE49-F238E27FC236}">
                <a16:creationId xmlns:a16="http://schemas.microsoft.com/office/drawing/2014/main" id="{7054E661-572C-4B28-AF30-A7B432D5331D}"/>
              </a:ext>
            </a:extLst>
          </p:cNvPr>
          <p:cNvSpPr>
            <a:spLocks xmlns:a="http://schemas.openxmlformats.org/drawingml/2006/main" noGrp="1"/>
          </p:cNvSpPr>
          <p:nvPr/>
        </p:nvSpPr>
        <p:spPr>
          <a:xfrm xmlns:a="http://schemas.openxmlformats.org/drawingml/2006/main">
            <a:off x="361950" y="1285875"/>
            <a:ext cx="76200" cy="1066800"/>
          </a:xfrm>
          <a:prstGeom xmlns:a="http://schemas.openxmlformats.org/drawingml/2006/main" prst="rect">
            <a:avLst/>
          </a:prstGeom>
          <a:solidFill xmlns:a="http://schemas.openxmlformats.org/drawingml/2006/main">
            <a:srgbClr val="2B9A66"/>
          </a:solidFill>
          <a:ln xmlns:a="http://schemas.openxmlformats.org/drawingml/2006/main" w="0">
            <a:solidFill>
              <a:srgbClr val="2B9A66"/>
            </a:solidFill>
            <a:prstDash val="solid"/>
          </a:ln>
        </p:spPr>
      </p:sp>
      <p:sp>
        <p:nvSpPr>
          <p:cNvPr id="7" name="">
            <a:extLst xmlns:a="http://schemas.openxmlformats.org/drawingml/2006/main">
              <a:ext uri="{FF2B5EF4-FFF2-40B4-BE49-F238E27FC236}">
                <a16:creationId xmlns:a16="http://schemas.microsoft.com/office/drawing/2014/main" id="{6A15454B-9BD3-4ECB-A126-944CD9178025}"/>
              </a:ext>
            </a:extLst>
          </p:cNvPr>
          <p:cNvSpPr>
            <a:spLocks xmlns:a="http://schemas.openxmlformats.org/drawingml/2006/main" noGrp="1"/>
          </p:cNvSpPr>
          <p:nvPr/>
        </p:nvSpPr>
        <p:spPr>
          <a:xfrm xmlns:a="http://schemas.openxmlformats.org/drawingml/2006/main">
            <a:off x="533400" y="1400175"/>
            <a:ext cx="16573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5F716E"/>
                </a:solidFill>
              </a:defRPr>
            </a:pPr>
            <a:r>
              <a:rPr sz="900" b="1">
                <a:solidFill>
                  <a:srgbClr val="5F716E"/>
                </a:solidFill>
              </a:rPr>
              <a:t>NPI SALES</a:t>
            </a:r>
          </a:p>
        </p:txBody>
      </p:sp>
      <p:sp>
        <p:nvSpPr>
          <p:cNvPr id="8" name="">
            <a:extLst xmlns:a="http://schemas.openxmlformats.org/drawingml/2006/main">
              <a:ext uri="{FF2B5EF4-FFF2-40B4-BE49-F238E27FC236}">
                <a16:creationId xmlns:a16="http://schemas.microsoft.com/office/drawing/2014/main" id="{2FF767E9-FA26-4669-BF5D-B36D3A495159}"/>
              </a:ext>
            </a:extLst>
          </p:cNvPr>
          <p:cNvSpPr>
            <a:spLocks xmlns:a="http://schemas.openxmlformats.org/drawingml/2006/main" noGrp="1"/>
          </p:cNvSpPr>
          <p:nvPr/>
        </p:nvSpPr>
        <p:spPr>
          <a:xfrm xmlns:a="http://schemas.openxmlformats.org/drawingml/2006/main">
            <a:off x="533400" y="1628775"/>
            <a:ext cx="16573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875" b="1">
                <a:solidFill>
                  <a:srgbClr val="2B9A66"/>
                </a:solidFill>
              </a:defRPr>
            </a:pPr>
            <a:r>
              <a:rPr sz="1875" b="1">
                <a:solidFill>
                  <a:srgbClr val="2B9A66"/>
                </a:solidFill>
              </a:rPr>
              <a:t>₹2.82 Cr</a:t>
            </a:r>
          </a:p>
        </p:txBody>
      </p:sp>
      <p:sp>
        <p:nvSpPr>
          <p:cNvPr id="9" name="">
            <a:extLst xmlns:a="http://schemas.openxmlformats.org/drawingml/2006/main">
              <a:ext uri="{FF2B5EF4-FFF2-40B4-BE49-F238E27FC236}">
                <a16:creationId xmlns:a16="http://schemas.microsoft.com/office/drawing/2014/main" id="{4BB2231E-DC8B-4EDE-B1EF-442E565CC860}"/>
              </a:ext>
            </a:extLst>
          </p:cNvPr>
          <p:cNvSpPr>
            <a:spLocks xmlns:a="http://schemas.openxmlformats.org/drawingml/2006/main" noGrp="1"/>
          </p:cNvSpPr>
          <p:nvPr/>
        </p:nvSpPr>
        <p:spPr>
          <a:xfrm xmlns:a="http://schemas.openxmlformats.org/drawingml/2006/main">
            <a:off x="533400" y="2028825"/>
            <a:ext cx="16573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0">
                <a:solidFill>
                  <a:srgbClr val="5F716E"/>
                </a:solidFill>
              </a:defRPr>
            </a:pPr>
            <a:r>
              <a:rPr sz="825" b="0">
                <a:solidFill>
                  <a:srgbClr val="5F716E"/>
                </a:solidFill>
              </a:rPr>
              <a:t>July offtake</a:t>
            </a:r>
          </a:p>
        </p:txBody>
      </p:sp>
      <p:sp>
        <p:nvSpPr>
          <p:cNvPr id="10" name="">
            <a:extLst xmlns:a="http://schemas.openxmlformats.org/drawingml/2006/main">
              <a:ext uri="{FF2B5EF4-FFF2-40B4-BE49-F238E27FC236}">
                <a16:creationId xmlns:a16="http://schemas.microsoft.com/office/drawing/2014/main" id="{1FCD0653-0EFB-4884-857B-D8C3759D4F04}"/>
              </a:ext>
            </a:extLst>
          </p:cNvPr>
          <p:cNvSpPr>
            <a:spLocks xmlns:a="http://schemas.openxmlformats.org/drawingml/2006/main" noGrp="1"/>
          </p:cNvSpPr>
          <p:nvPr/>
        </p:nvSpPr>
        <p:spPr>
          <a:xfrm xmlns:a="http://schemas.openxmlformats.org/drawingml/2006/main">
            <a:off x="2466975" y="1285875"/>
            <a:ext cx="192405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9525">
            <a:solidFill>
              <a:srgbClr val="C8DCD7"/>
            </a:solidFill>
            <a:prstDash val="solid"/>
          </a:ln>
        </p:spPr>
      </p:sp>
      <p:sp>
        <p:nvSpPr>
          <p:cNvPr id="11" name="">
            <a:extLst xmlns:a="http://schemas.openxmlformats.org/drawingml/2006/main">
              <a:ext uri="{FF2B5EF4-FFF2-40B4-BE49-F238E27FC236}">
                <a16:creationId xmlns:a16="http://schemas.microsoft.com/office/drawing/2014/main" id="{238C62D8-1D1E-4D43-92DF-C5D531E08BC0}"/>
              </a:ext>
            </a:extLst>
          </p:cNvPr>
          <p:cNvSpPr>
            <a:spLocks xmlns:a="http://schemas.openxmlformats.org/drawingml/2006/main" noGrp="1"/>
          </p:cNvSpPr>
          <p:nvPr/>
        </p:nvSpPr>
        <p:spPr>
          <a:xfrm xmlns:a="http://schemas.openxmlformats.org/drawingml/2006/main">
            <a:off x="2466975" y="1285875"/>
            <a:ext cx="76200" cy="1066800"/>
          </a:xfrm>
          <a:prstGeom xmlns:a="http://schemas.openxmlformats.org/drawingml/2006/main" prst="rect">
            <a:avLst/>
          </a:prstGeom>
          <a:solidFill xmlns:a="http://schemas.openxmlformats.org/drawingml/2006/main">
            <a:srgbClr val="2B9A66"/>
          </a:solidFill>
          <a:ln xmlns:a="http://schemas.openxmlformats.org/drawingml/2006/main" w="0">
            <a:solidFill>
              <a:srgbClr val="2B9A66"/>
            </a:solidFill>
            <a:prstDash val="solid"/>
          </a:ln>
        </p:spPr>
      </p:sp>
      <p:sp>
        <p:nvSpPr>
          <p:cNvPr id="12" name="">
            <a:extLst xmlns:a="http://schemas.openxmlformats.org/drawingml/2006/main">
              <a:ext uri="{FF2B5EF4-FFF2-40B4-BE49-F238E27FC236}">
                <a16:creationId xmlns:a16="http://schemas.microsoft.com/office/drawing/2014/main" id="{1CCC3F03-627C-44EA-96BB-B3F4366F6BC8}"/>
              </a:ext>
            </a:extLst>
          </p:cNvPr>
          <p:cNvSpPr>
            <a:spLocks xmlns:a="http://schemas.openxmlformats.org/drawingml/2006/main" noGrp="1"/>
          </p:cNvSpPr>
          <p:nvPr/>
        </p:nvSpPr>
        <p:spPr>
          <a:xfrm xmlns:a="http://schemas.openxmlformats.org/drawingml/2006/main">
            <a:off x="2638425" y="1400175"/>
            <a:ext cx="16573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5F716E"/>
                </a:solidFill>
              </a:defRPr>
            </a:pPr>
            <a:r>
              <a:rPr sz="900" b="1">
                <a:solidFill>
                  <a:srgbClr val="5F716E"/>
                </a:solidFill>
              </a:rPr>
              <a:t>CONTRIBUTION</a:t>
            </a:r>
          </a:p>
        </p:txBody>
      </p:sp>
      <p:sp>
        <p:nvSpPr>
          <p:cNvPr id="13" name="">
            <a:extLst xmlns:a="http://schemas.openxmlformats.org/drawingml/2006/main">
              <a:ext uri="{FF2B5EF4-FFF2-40B4-BE49-F238E27FC236}">
                <a16:creationId xmlns:a16="http://schemas.microsoft.com/office/drawing/2014/main" id="{1513BA6A-67E2-45F1-9C4B-ACC3DC3A631A}"/>
              </a:ext>
            </a:extLst>
          </p:cNvPr>
          <p:cNvSpPr>
            <a:spLocks xmlns:a="http://schemas.openxmlformats.org/drawingml/2006/main" noGrp="1"/>
          </p:cNvSpPr>
          <p:nvPr/>
        </p:nvSpPr>
        <p:spPr>
          <a:xfrm xmlns:a="http://schemas.openxmlformats.org/drawingml/2006/main">
            <a:off x="2638425" y="1628775"/>
            <a:ext cx="16573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875" b="1">
                <a:solidFill>
                  <a:srgbClr val="2B9A66"/>
                </a:solidFill>
              </a:defRPr>
            </a:pPr>
            <a:r>
              <a:rPr sz="1875" b="1">
                <a:solidFill>
                  <a:srgbClr val="2B9A66"/>
                </a:solidFill>
              </a:rPr>
              <a:t>7.82%</a:t>
            </a:r>
          </a:p>
        </p:txBody>
      </p:sp>
      <p:sp>
        <p:nvSpPr>
          <p:cNvPr id="14" name="">
            <a:extLst xmlns:a="http://schemas.openxmlformats.org/drawingml/2006/main">
              <a:ext uri="{FF2B5EF4-FFF2-40B4-BE49-F238E27FC236}">
                <a16:creationId xmlns:a16="http://schemas.microsoft.com/office/drawing/2014/main" id="{285FD624-125D-4317-98FE-C6C3A6FC162E}"/>
              </a:ext>
            </a:extLst>
          </p:cNvPr>
          <p:cNvSpPr>
            <a:spLocks xmlns:a="http://schemas.openxmlformats.org/drawingml/2006/main" noGrp="1"/>
          </p:cNvSpPr>
          <p:nvPr/>
        </p:nvSpPr>
        <p:spPr>
          <a:xfrm xmlns:a="http://schemas.openxmlformats.org/drawingml/2006/main">
            <a:off x="2638425" y="2028825"/>
            <a:ext cx="16573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0">
                <a:solidFill>
                  <a:srgbClr val="5F716E"/>
                </a:solidFill>
              </a:defRPr>
            </a:pPr>
            <a:r>
              <a:rPr sz="825" b="0">
                <a:solidFill>
                  <a:srgbClr val="5F716E"/>
                </a:solidFill>
              </a:rPr>
              <a:t>of total sales</a:t>
            </a:r>
          </a:p>
        </p:txBody>
      </p:sp>
      <p:sp>
        <p:nvSpPr>
          <p:cNvPr id="15" name="">
            <a:extLst xmlns:a="http://schemas.openxmlformats.org/drawingml/2006/main">
              <a:ext uri="{FF2B5EF4-FFF2-40B4-BE49-F238E27FC236}">
                <a16:creationId xmlns:a16="http://schemas.microsoft.com/office/drawing/2014/main" id="{9DBF5F18-C760-4BD7-9C61-7F80811CD776}"/>
              </a:ext>
            </a:extLst>
          </p:cNvPr>
          <p:cNvSpPr>
            <a:spLocks xmlns:a="http://schemas.openxmlformats.org/drawingml/2006/main" noGrp="1"/>
          </p:cNvSpPr>
          <p:nvPr/>
        </p:nvSpPr>
        <p:spPr>
          <a:xfrm xmlns:a="http://schemas.openxmlformats.org/drawingml/2006/main">
            <a:off x="4572000" y="1285875"/>
            <a:ext cx="192405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9525">
            <a:solidFill>
              <a:srgbClr val="C8DCD7"/>
            </a:solidFill>
            <a:prstDash val="solid"/>
          </a:ln>
        </p:spPr>
      </p:sp>
      <p:sp>
        <p:nvSpPr>
          <p:cNvPr id="16" name="">
            <a:extLst xmlns:a="http://schemas.openxmlformats.org/drawingml/2006/main">
              <a:ext uri="{FF2B5EF4-FFF2-40B4-BE49-F238E27FC236}">
                <a16:creationId xmlns:a16="http://schemas.microsoft.com/office/drawing/2014/main" id="{BF01DBC2-A9EE-431F-9702-553C5161CE8F}"/>
              </a:ext>
            </a:extLst>
          </p:cNvPr>
          <p:cNvSpPr>
            <a:spLocks xmlns:a="http://schemas.openxmlformats.org/drawingml/2006/main" noGrp="1"/>
          </p:cNvSpPr>
          <p:nvPr/>
        </p:nvSpPr>
        <p:spPr>
          <a:xfrm xmlns:a="http://schemas.openxmlformats.org/drawingml/2006/main">
            <a:off x="4572000" y="1285875"/>
            <a:ext cx="76200" cy="1066800"/>
          </a:xfrm>
          <a:prstGeom xmlns:a="http://schemas.openxmlformats.org/drawingml/2006/main" prst="rect">
            <a:avLst/>
          </a:prstGeom>
          <a:solidFill xmlns:a="http://schemas.openxmlformats.org/drawingml/2006/main">
            <a:srgbClr val="F2B84B"/>
          </a:solidFill>
          <a:ln xmlns:a="http://schemas.openxmlformats.org/drawingml/2006/main" w="0">
            <a:solidFill>
              <a:srgbClr val="F2B84B"/>
            </a:solidFill>
            <a:prstDash val="solid"/>
          </a:ln>
        </p:spPr>
      </p:sp>
      <p:sp>
        <p:nvSpPr>
          <p:cNvPr id="17" name="">
            <a:extLst xmlns:a="http://schemas.openxmlformats.org/drawingml/2006/main">
              <a:ext uri="{FF2B5EF4-FFF2-40B4-BE49-F238E27FC236}">
                <a16:creationId xmlns:a16="http://schemas.microsoft.com/office/drawing/2014/main" id="{F605F032-FEA3-4510-A2BA-375EE24C30FE}"/>
              </a:ext>
            </a:extLst>
          </p:cNvPr>
          <p:cNvSpPr>
            <a:spLocks xmlns:a="http://schemas.openxmlformats.org/drawingml/2006/main" noGrp="1"/>
          </p:cNvSpPr>
          <p:nvPr/>
        </p:nvSpPr>
        <p:spPr>
          <a:xfrm xmlns:a="http://schemas.openxmlformats.org/drawingml/2006/main">
            <a:off x="4743450" y="1400175"/>
            <a:ext cx="16573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5F716E"/>
                </a:solidFill>
              </a:defRPr>
            </a:pPr>
            <a:r>
              <a:rPr sz="900" b="1">
                <a:solidFill>
                  <a:srgbClr val="5F716E"/>
                </a:solidFill>
              </a:rPr>
              <a:t>SELLING EANs</a:t>
            </a:r>
          </a:p>
        </p:txBody>
      </p:sp>
      <p:sp>
        <p:nvSpPr>
          <p:cNvPr id="18" name="">
            <a:extLst xmlns:a="http://schemas.openxmlformats.org/drawingml/2006/main">
              <a:ext uri="{FF2B5EF4-FFF2-40B4-BE49-F238E27FC236}">
                <a16:creationId xmlns:a16="http://schemas.microsoft.com/office/drawing/2014/main" id="{0454E735-CAE6-47C7-B69E-6402ADDB22C7}"/>
              </a:ext>
            </a:extLst>
          </p:cNvPr>
          <p:cNvSpPr>
            <a:spLocks xmlns:a="http://schemas.openxmlformats.org/drawingml/2006/main" noGrp="1"/>
          </p:cNvSpPr>
          <p:nvPr/>
        </p:nvSpPr>
        <p:spPr>
          <a:xfrm xmlns:a="http://schemas.openxmlformats.org/drawingml/2006/main">
            <a:off x="4743450" y="1628775"/>
            <a:ext cx="16573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875" b="1">
                <a:solidFill>
                  <a:srgbClr val="F2B84B"/>
                </a:solidFill>
              </a:defRPr>
            </a:pPr>
            <a:r>
              <a:rPr sz="1875" b="1">
                <a:solidFill>
                  <a:srgbClr val="F2B84B"/>
                </a:solidFill>
              </a:rPr>
              <a:t>58/60</a:t>
            </a:r>
          </a:p>
        </p:txBody>
      </p:sp>
      <p:sp>
        <p:nvSpPr>
          <p:cNvPr id="19" name="">
            <a:extLst xmlns:a="http://schemas.openxmlformats.org/drawingml/2006/main">
              <a:ext uri="{FF2B5EF4-FFF2-40B4-BE49-F238E27FC236}">
                <a16:creationId xmlns:a16="http://schemas.microsoft.com/office/drawing/2014/main" id="{D998B71D-E528-4181-8B27-EF982C4ABACA}"/>
              </a:ext>
            </a:extLst>
          </p:cNvPr>
          <p:cNvSpPr>
            <a:spLocks xmlns:a="http://schemas.openxmlformats.org/drawingml/2006/main" noGrp="1"/>
          </p:cNvSpPr>
          <p:nvPr/>
        </p:nvSpPr>
        <p:spPr>
          <a:xfrm xmlns:a="http://schemas.openxmlformats.org/drawingml/2006/main">
            <a:off x="4743450" y="2028825"/>
            <a:ext cx="16573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0">
                <a:solidFill>
                  <a:srgbClr val="5F716E"/>
                </a:solidFill>
              </a:defRPr>
            </a:pPr>
            <a:r>
              <a:rPr sz="825" b="0">
                <a:solidFill>
                  <a:srgbClr val="5F716E"/>
                </a:solidFill>
              </a:rPr>
              <a:t>2 require audit</a:t>
            </a:r>
          </a:p>
        </p:txBody>
      </p:sp>
      <p:sp>
        <p:nvSpPr>
          <p:cNvPr id="20" name="">
            <a:extLst xmlns:a="http://schemas.openxmlformats.org/drawingml/2006/main">
              <a:ext uri="{FF2B5EF4-FFF2-40B4-BE49-F238E27FC236}">
                <a16:creationId xmlns:a16="http://schemas.microsoft.com/office/drawing/2014/main" id="{C7CB658C-449D-4581-8708-4CE44C84311D}"/>
              </a:ext>
            </a:extLst>
          </p:cNvPr>
          <p:cNvSpPr>
            <a:spLocks xmlns:a="http://schemas.openxmlformats.org/drawingml/2006/main" noGrp="1"/>
          </p:cNvSpPr>
          <p:nvPr/>
        </p:nvSpPr>
        <p:spPr>
          <a:xfrm xmlns:a="http://schemas.openxmlformats.org/drawingml/2006/main">
            <a:off x="361950" y="2714625"/>
            <a:ext cx="285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050" b="1">
                <a:solidFill>
                  <a:srgbClr val="183B39"/>
                </a:solidFill>
              </a:defRPr>
            </a:pPr>
            <a:r>
              <a:rPr sz="1050" b="1">
                <a:solidFill>
                  <a:srgbClr val="183B39"/>
                </a:solidFill>
              </a:rPr>
              <a:t>Zone NPI contribution (%)</a:t>
            </a:r>
          </a:p>
        </p:txBody>
      </p:sp>
      <p:graphicFrame>
        <p:nvGraphicFramePr>
          <p:cNvPr id="78" name="Chart"/>
          <p:cNvGraphicFramePr/>
          <p:nvPr/>
        </p:nvGraphicFramePr>
        <p:xfrm>
          <a:off xmlns:a="http://schemas.openxmlformats.org/drawingml/2006/main" x="361950" y="3000375"/>
          <a:ext xmlns:a="http://schemas.openxmlformats.org/drawingml/2006/main" cx="2857500" cy="2571750"/>
        </p:xfrm>
        <a:graphic xmlns:a="http://schemas.openxmlformats.org/drawingml/2006/main">
          <a:graphicData uri="http://schemas.openxmlformats.org/drawingml/2006/chart">
            <c:chart xmlns:r="http://schemas.openxmlformats.org/officeDocument/2006/relationships" xmlns:c="http://schemas.openxmlformats.org/drawingml/2006/chart" r:id="Rcba08b6542dc47f0"/>
          </a:graphicData>
        </a:graphic>
      </p:graphicFrame>
      <p:sp>
        <p:nvSpPr>
          <p:cNvPr id="22" name="">
            <a:extLst xmlns:a="http://schemas.openxmlformats.org/drawingml/2006/main">
              <a:ext uri="{FF2B5EF4-FFF2-40B4-BE49-F238E27FC236}">
                <a16:creationId xmlns:a16="http://schemas.microsoft.com/office/drawing/2014/main" id="{B584E310-C51D-47EC-862F-68D1BBB28DC6}"/>
              </a:ext>
            </a:extLst>
          </p:cNvPr>
          <p:cNvSpPr>
            <a:spLocks xmlns:a="http://schemas.openxmlformats.org/drawingml/2006/main" noGrp="1"/>
          </p:cNvSpPr>
          <p:nvPr/>
        </p:nvSpPr>
        <p:spPr>
          <a:xfrm xmlns:a="http://schemas.openxmlformats.org/drawingml/2006/main">
            <a:off x="3524250" y="2714625"/>
            <a:ext cx="29718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050" b="1">
                <a:solidFill>
                  <a:srgbClr val="183B39"/>
                </a:solidFill>
              </a:defRPr>
            </a:pPr>
            <a:r>
              <a:rPr sz="1050" b="1">
                <a:solidFill>
                  <a:srgbClr val="183B39"/>
                </a:solidFill>
              </a:rPr>
              <a:t>Chain NPI sales (₹ lakh)</a:t>
            </a:r>
          </a:p>
        </p:txBody>
      </p:sp>
      <p:graphicFrame>
        <p:nvGraphicFramePr>
          <p:cNvPr id="80" name="Chart"/>
          <p:cNvGraphicFramePr/>
          <p:nvPr/>
        </p:nvGraphicFramePr>
        <p:xfrm>
          <a:off xmlns:a="http://schemas.openxmlformats.org/drawingml/2006/main" x="3524250" y="3000375"/>
          <a:ext xmlns:a="http://schemas.openxmlformats.org/drawingml/2006/main" cx="2971800" cy="2571750"/>
        </p:xfrm>
        <a:graphic xmlns:a="http://schemas.openxmlformats.org/drawingml/2006/main">
          <a:graphicData uri="http://schemas.openxmlformats.org/drawingml/2006/chart">
            <c:chart xmlns:r="http://schemas.openxmlformats.org/officeDocument/2006/relationships" xmlns:c="http://schemas.openxmlformats.org/drawingml/2006/chart" r:id="R3e55ff4929954159"/>
          </a:graphicData>
        </a:graphic>
      </p:graphicFrame>
      <p:sp>
        <p:nvSpPr>
          <p:cNvPr id="24" name="">
            <a:extLst xmlns:a="http://schemas.openxmlformats.org/drawingml/2006/main">
              <a:ext uri="{FF2B5EF4-FFF2-40B4-BE49-F238E27FC236}">
                <a16:creationId xmlns:a16="http://schemas.microsoft.com/office/drawing/2014/main" id="{BCFC23F5-5A78-42B5-A159-D781187BE760}"/>
              </a:ext>
            </a:extLst>
          </p:cNvPr>
          <p:cNvSpPr>
            <a:spLocks xmlns:a="http://schemas.openxmlformats.org/drawingml/2006/main" noGrp="1"/>
          </p:cNvSpPr>
          <p:nvPr/>
        </p:nvSpPr>
        <p:spPr>
          <a:xfrm xmlns:a="http://schemas.openxmlformats.org/drawingml/2006/main">
            <a:off x="361950" y="5953125"/>
            <a:ext cx="6134100" cy="257175"/>
          </a:xfrm>
          <a:prstGeom xmlns:a="http://schemas.openxmlformats.org/drawingml/2006/main" prst="rect">
            <a:avLst/>
          </a:prstGeom>
          <a:solidFill xmlns:a="http://schemas.openxmlformats.org/drawingml/2006/main">
            <a:srgbClr val="116F68"/>
          </a:solidFill>
          <a:ln xmlns:a="http://schemas.openxmlformats.org/drawingml/2006/main" w="0">
            <a:solidFill>
              <a:srgbClr val="116F68"/>
            </a:solidFill>
            <a:prstDash val="solid"/>
          </a:ln>
        </p:spPr>
      </p:sp>
      <p:sp>
        <p:nvSpPr>
          <p:cNvPr id="25" name="">
            <a:extLst xmlns:a="http://schemas.openxmlformats.org/drawingml/2006/main">
              <a:ext uri="{FF2B5EF4-FFF2-40B4-BE49-F238E27FC236}">
                <a16:creationId xmlns:a16="http://schemas.microsoft.com/office/drawing/2014/main" id="{989749D3-C886-4623-B1C0-9650B22CC0BB}"/>
              </a:ext>
            </a:extLst>
          </p:cNvPr>
          <p:cNvSpPr>
            <a:spLocks xmlns:a="http://schemas.openxmlformats.org/drawingml/2006/main" noGrp="1"/>
          </p:cNvSpPr>
          <p:nvPr/>
        </p:nvSpPr>
        <p:spPr>
          <a:xfrm xmlns:a="http://schemas.openxmlformats.org/drawingml/2006/main">
            <a:off x="457200" y="5962650"/>
            <a:ext cx="59436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FFFFFF"/>
                </a:solidFill>
              </a:defRPr>
            </a:pPr>
            <a:r>
              <a:rPr sz="900" b="1">
                <a:solidFill>
                  <a:srgbClr val="FFFFFF"/>
                </a:solidFill>
              </a:rPr>
              <a:t>TOP NPI ARTICLES</a:t>
            </a:r>
          </a:p>
        </p:txBody>
      </p:sp>
      <p:sp>
        <p:nvSpPr>
          <p:cNvPr id="26" name="">
            <a:extLst xmlns:a="http://schemas.openxmlformats.org/drawingml/2006/main">
              <a:ext uri="{FF2B5EF4-FFF2-40B4-BE49-F238E27FC236}">
                <a16:creationId xmlns:a16="http://schemas.microsoft.com/office/drawing/2014/main" id="{DDA930E6-8CCA-4F68-99CF-53AF45858EDC}"/>
              </a:ext>
            </a:extLst>
          </p:cNvPr>
          <p:cNvSpPr>
            <a:spLocks xmlns:a="http://schemas.openxmlformats.org/drawingml/2006/main" noGrp="1"/>
          </p:cNvSpPr>
          <p:nvPr/>
        </p:nvSpPr>
        <p:spPr>
          <a:xfrm xmlns:a="http://schemas.openxmlformats.org/drawingml/2006/main">
            <a:off x="457200" y="6334125"/>
            <a:ext cx="2143125"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1">
                <a:solidFill>
                  <a:srgbClr val="183B39"/>
                </a:solidFill>
              </a:defRPr>
            </a:pPr>
            <a:r>
              <a:rPr sz="765" b="1">
                <a:solidFill>
                  <a:srgbClr val="183B39"/>
                </a:solidFill>
              </a:rPr>
              <a:t>1. ME Onion Hair Fall Control Sha…</a:t>
            </a:r>
          </a:p>
        </p:txBody>
      </p:sp>
      <p:sp>
        <p:nvSpPr>
          <p:cNvPr id="27" name="">
            <a:extLst xmlns:a="http://schemas.openxmlformats.org/drawingml/2006/main">
              <a:ext uri="{FF2B5EF4-FFF2-40B4-BE49-F238E27FC236}">
                <a16:creationId xmlns:a16="http://schemas.microsoft.com/office/drawing/2014/main" id="{F0AD846F-B0BD-4BCD-BDB2-15C190B31DDE}"/>
              </a:ext>
            </a:extLst>
          </p:cNvPr>
          <p:cNvSpPr>
            <a:spLocks xmlns:a="http://schemas.openxmlformats.org/drawingml/2006/main" noGrp="1"/>
          </p:cNvSpPr>
          <p:nvPr/>
        </p:nvSpPr>
        <p:spPr>
          <a:xfrm xmlns:a="http://schemas.openxmlformats.org/drawingml/2006/main">
            <a:off x="2628900" y="6334125"/>
            <a:ext cx="6286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788" b="1">
                <a:solidFill>
                  <a:srgbClr val="28A596"/>
                </a:solidFill>
              </a:defRPr>
            </a:pPr>
            <a:r>
              <a:rPr sz="788" b="1">
                <a:solidFill>
                  <a:srgbClr val="28A596"/>
                </a:solidFill>
              </a:rPr>
              <a:t>₹0.31 Cr</a:t>
            </a:r>
          </a:p>
        </p:txBody>
      </p:sp>
      <p:sp>
        <p:nvSpPr>
          <p:cNvPr id="28" name="">
            <a:extLst xmlns:a="http://schemas.openxmlformats.org/drawingml/2006/main">
              <a:ext uri="{FF2B5EF4-FFF2-40B4-BE49-F238E27FC236}">
                <a16:creationId xmlns:a16="http://schemas.microsoft.com/office/drawing/2014/main" id="{4F09A90B-BE1D-4B29-8ABD-CF9715405F32}"/>
              </a:ext>
            </a:extLst>
          </p:cNvPr>
          <p:cNvSpPr>
            <a:spLocks xmlns:a="http://schemas.openxmlformats.org/drawingml/2006/main" noGrp="1"/>
          </p:cNvSpPr>
          <p:nvPr/>
        </p:nvSpPr>
        <p:spPr>
          <a:xfrm xmlns:a="http://schemas.openxmlformats.org/drawingml/2006/main">
            <a:off x="3457575" y="6334125"/>
            <a:ext cx="2143125"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1">
                <a:solidFill>
                  <a:srgbClr val="183B39"/>
                </a:solidFill>
              </a:defRPr>
            </a:pPr>
            <a:r>
              <a:rPr sz="765" b="1">
                <a:solidFill>
                  <a:srgbClr val="183B39"/>
                </a:solidFill>
              </a:rPr>
              <a:t>2. ME Onion hair oil 200 ml</a:t>
            </a:r>
          </a:p>
        </p:txBody>
      </p:sp>
      <p:sp>
        <p:nvSpPr>
          <p:cNvPr id="29" name="">
            <a:extLst xmlns:a="http://schemas.openxmlformats.org/drawingml/2006/main">
              <a:ext uri="{FF2B5EF4-FFF2-40B4-BE49-F238E27FC236}">
                <a16:creationId xmlns:a16="http://schemas.microsoft.com/office/drawing/2014/main" id="{10A82D0E-F882-4ACA-A8DE-26F2538CB180}"/>
              </a:ext>
            </a:extLst>
          </p:cNvPr>
          <p:cNvSpPr>
            <a:spLocks xmlns:a="http://schemas.openxmlformats.org/drawingml/2006/main" noGrp="1"/>
          </p:cNvSpPr>
          <p:nvPr/>
        </p:nvSpPr>
        <p:spPr>
          <a:xfrm xmlns:a="http://schemas.openxmlformats.org/drawingml/2006/main">
            <a:off x="5629275" y="6334125"/>
            <a:ext cx="6286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788" b="1">
                <a:solidFill>
                  <a:srgbClr val="28A596"/>
                </a:solidFill>
              </a:defRPr>
            </a:pPr>
            <a:r>
              <a:rPr sz="788" b="1">
                <a:solidFill>
                  <a:srgbClr val="28A596"/>
                </a:solidFill>
              </a:rPr>
              <a:t>₹0.30 Cr</a:t>
            </a:r>
          </a:p>
        </p:txBody>
      </p:sp>
      <p:sp>
        <p:nvSpPr>
          <p:cNvPr id="30" name="">
            <a:extLst xmlns:a="http://schemas.openxmlformats.org/drawingml/2006/main">
              <a:ext uri="{FF2B5EF4-FFF2-40B4-BE49-F238E27FC236}">
                <a16:creationId xmlns:a16="http://schemas.microsoft.com/office/drawing/2014/main" id="{B3309145-EFED-4FCA-ACC8-79F3D72C32D4}"/>
              </a:ext>
            </a:extLst>
          </p:cNvPr>
          <p:cNvSpPr>
            <a:spLocks xmlns:a="http://schemas.openxmlformats.org/drawingml/2006/main" noGrp="1"/>
          </p:cNvSpPr>
          <p:nvPr/>
        </p:nvSpPr>
        <p:spPr>
          <a:xfrm xmlns:a="http://schemas.openxmlformats.org/drawingml/2006/main">
            <a:off x="457200" y="7000875"/>
            <a:ext cx="2143125"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3. ME Gentle Cleansing Shampoo 40…</a:t>
            </a:r>
          </a:p>
        </p:txBody>
      </p:sp>
      <p:sp>
        <p:nvSpPr>
          <p:cNvPr id="31" name="">
            <a:extLst xmlns:a="http://schemas.openxmlformats.org/drawingml/2006/main">
              <a:ext uri="{FF2B5EF4-FFF2-40B4-BE49-F238E27FC236}">
                <a16:creationId xmlns:a16="http://schemas.microsoft.com/office/drawing/2014/main" id="{8F0F5F1D-74CB-466E-95CD-3F8BCC63C751}"/>
              </a:ext>
            </a:extLst>
          </p:cNvPr>
          <p:cNvSpPr>
            <a:spLocks xmlns:a="http://schemas.openxmlformats.org/drawingml/2006/main" noGrp="1"/>
          </p:cNvSpPr>
          <p:nvPr/>
        </p:nvSpPr>
        <p:spPr>
          <a:xfrm xmlns:a="http://schemas.openxmlformats.org/drawingml/2006/main">
            <a:off x="2628900" y="7000875"/>
            <a:ext cx="6286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788" b="1">
                <a:solidFill>
                  <a:srgbClr val="28A596"/>
                </a:solidFill>
              </a:defRPr>
            </a:pPr>
            <a:r>
              <a:rPr sz="788" b="1">
                <a:solidFill>
                  <a:srgbClr val="28A596"/>
                </a:solidFill>
              </a:rPr>
              <a:t>₹0.21 Cr</a:t>
            </a:r>
          </a:p>
        </p:txBody>
      </p:sp>
      <p:sp>
        <p:nvSpPr>
          <p:cNvPr id="32" name="">
            <a:extLst xmlns:a="http://schemas.openxmlformats.org/drawingml/2006/main">
              <a:ext uri="{FF2B5EF4-FFF2-40B4-BE49-F238E27FC236}">
                <a16:creationId xmlns:a16="http://schemas.microsoft.com/office/drawing/2014/main" id="{E5094690-A7EA-44A3-B9F3-346DA35BC771}"/>
              </a:ext>
            </a:extLst>
          </p:cNvPr>
          <p:cNvSpPr>
            <a:spLocks xmlns:a="http://schemas.openxmlformats.org/drawingml/2006/main" noGrp="1"/>
          </p:cNvSpPr>
          <p:nvPr/>
        </p:nvSpPr>
        <p:spPr>
          <a:xfrm xmlns:a="http://schemas.openxmlformats.org/drawingml/2006/main">
            <a:off x="3457575" y="7000875"/>
            <a:ext cx="2143125"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4. ME Multani Mitti Face Wash 100…</a:t>
            </a:r>
          </a:p>
        </p:txBody>
      </p:sp>
      <p:sp>
        <p:nvSpPr>
          <p:cNvPr id="33" name="">
            <a:extLst xmlns:a="http://schemas.openxmlformats.org/drawingml/2006/main">
              <a:ext uri="{FF2B5EF4-FFF2-40B4-BE49-F238E27FC236}">
                <a16:creationId xmlns:a16="http://schemas.microsoft.com/office/drawing/2014/main" id="{6056F41E-10B0-4238-9BB3-9BB10B99526C}"/>
              </a:ext>
            </a:extLst>
          </p:cNvPr>
          <p:cNvSpPr>
            <a:spLocks xmlns:a="http://schemas.openxmlformats.org/drawingml/2006/main" noGrp="1"/>
          </p:cNvSpPr>
          <p:nvPr/>
        </p:nvSpPr>
        <p:spPr>
          <a:xfrm xmlns:a="http://schemas.openxmlformats.org/drawingml/2006/main">
            <a:off x="5629275" y="7000875"/>
            <a:ext cx="6286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788" b="1">
                <a:solidFill>
                  <a:srgbClr val="28A596"/>
                </a:solidFill>
              </a:defRPr>
            </a:pPr>
            <a:r>
              <a:rPr sz="788" b="1">
                <a:solidFill>
                  <a:srgbClr val="28A596"/>
                </a:solidFill>
              </a:rPr>
              <a:t>₹0.20 Cr</a:t>
            </a:r>
          </a:p>
        </p:txBody>
      </p:sp>
      <p:sp>
        <p:nvSpPr>
          <p:cNvPr id="34" name="">
            <a:extLst xmlns:a="http://schemas.openxmlformats.org/drawingml/2006/main">
              <a:ext uri="{FF2B5EF4-FFF2-40B4-BE49-F238E27FC236}">
                <a16:creationId xmlns:a16="http://schemas.microsoft.com/office/drawing/2014/main" id="{311E59AE-5465-4BC8-9343-94BC7D05847F}"/>
              </a:ext>
            </a:extLst>
          </p:cNvPr>
          <p:cNvSpPr>
            <a:spLocks xmlns:a="http://schemas.openxmlformats.org/drawingml/2006/main" noGrp="1"/>
          </p:cNvSpPr>
          <p:nvPr/>
        </p:nvSpPr>
        <p:spPr>
          <a:xfrm xmlns:a="http://schemas.openxmlformats.org/drawingml/2006/main">
            <a:off x="457200" y="7667625"/>
            <a:ext cx="2143125"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5. ME Vitamin C Daily Glow Sunscr…</a:t>
            </a:r>
          </a:p>
        </p:txBody>
      </p:sp>
      <p:sp>
        <p:nvSpPr>
          <p:cNvPr id="35" name="">
            <a:extLst xmlns:a="http://schemas.openxmlformats.org/drawingml/2006/main">
              <a:ext uri="{FF2B5EF4-FFF2-40B4-BE49-F238E27FC236}">
                <a16:creationId xmlns:a16="http://schemas.microsoft.com/office/drawing/2014/main" id="{17C17FB1-E1F6-446D-96E4-462F230C1DDB}"/>
              </a:ext>
            </a:extLst>
          </p:cNvPr>
          <p:cNvSpPr>
            <a:spLocks xmlns:a="http://schemas.openxmlformats.org/drawingml/2006/main" noGrp="1"/>
          </p:cNvSpPr>
          <p:nvPr/>
        </p:nvSpPr>
        <p:spPr>
          <a:xfrm xmlns:a="http://schemas.openxmlformats.org/drawingml/2006/main">
            <a:off x="2628900" y="7667625"/>
            <a:ext cx="6286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788" b="1">
                <a:solidFill>
                  <a:srgbClr val="28A596"/>
                </a:solidFill>
              </a:defRPr>
            </a:pPr>
            <a:r>
              <a:rPr sz="788" b="1">
                <a:solidFill>
                  <a:srgbClr val="28A596"/>
                </a:solidFill>
              </a:rPr>
              <a:t>₹0.20 Cr</a:t>
            </a:r>
          </a:p>
        </p:txBody>
      </p:sp>
      <p:sp>
        <p:nvSpPr>
          <p:cNvPr id="36" name="">
            <a:extLst xmlns:a="http://schemas.openxmlformats.org/drawingml/2006/main">
              <a:ext uri="{FF2B5EF4-FFF2-40B4-BE49-F238E27FC236}">
                <a16:creationId xmlns:a16="http://schemas.microsoft.com/office/drawing/2014/main" id="{09C304A2-B063-4482-A086-AB5FEC51F575}"/>
              </a:ext>
            </a:extLst>
          </p:cNvPr>
          <p:cNvSpPr>
            <a:spLocks xmlns:a="http://schemas.openxmlformats.org/drawingml/2006/main" noGrp="1"/>
          </p:cNvSpPr>
          <p:nvPr/>
        </p:nvSpPr>
        <p:spPr>
          <a:xfrm xmlns:a="http://schemas.openxmlformats.org/drawingml/2006/main">
            <a:off x="3457575" y="7667625"/>
            <a:ext cx="2143125"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6. ME Lemon Anti-Dandruff Shampoo…</a:t>
            </a:r>
          </a:p>
        </p:txBody>
      </p:sp>
      <p:sp>
        <p:nvSpPr>
          <p:cNvPr id="37" name="">
            <a:extLst xmlns:a="http://schemas.openxmlformats.org/drawingml/2006/main">
              <a:ext uri="{FF2B5EF4-FFF2-40B4-BE49-F238E27FC236}">
                <a16:creationId xmlns:a16="http://schemas.microsoft.com/office/drawing/2014/main" id="{36B896E1-57DE-4E19-B02E-0B158FED424E}"/>
              </a:ext>
            </a:extLst>
          </p:cNvPr>
          <p:cNvSpPr>
            <a:spLocks xmlns:a="http://schemas.openxmlformats.org/drawingml/2006/main" noGrp="1"/>
          </p:cNvSpPr>
          <p:nvPr/>
        </p:nvSpPr>
        <p:spPr>
          <a:xfrm xmlns:a="http://schemas.openxmlformats.org/drawingml/2006/main">
            <a:off x="5629275" y="7667625"/>
            <a:ext cx="6286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788" b="1">
                <a:solidFill>
                  <a:srgbClr val="28A596"/>
                </a:solidFill>
              </a:defRPr>
            </a:pPr>
            <a:r>
              <a:rPr sz="788" b="1">
                <a:solidFill>
                  <a:srgbClr val="28A596"/>
                </a:solidFill>
              </a:rPr>
              <a:t>₹0.19 Cr</a:t>
            </a:r>
          </a:p>
        </p:txBody>
      </p:sp>
      <p:sp>
        <p:nvSpPr>
          <p:cNvPr id="38" name="">
            <a:extLst xmlns:a="http://schemas.openxmlformats.org/drawingml/2006/main">
              <a:ext uri="{FF2B5EF4-FFF2-40B4-BE49-F238E27FC236}">
                <a16:creationId xmlns:a16="http://schemas.microsoft.com/office/drawing/2014/main" id="{B3BD2F68-B62E-4D34-B677-BF34F9B30CCB}"/>
              </a:ext>
            </a:extLst>
          </p:cNvPr>
          <p:cNvSpPr>
            <a:spLocks xmlns:a="http://schemas.openxmlformats.org/drawingml/2006/main" noGrp="1"/>
          </p:cNvSpPr>
          <p:nvPr/>
        </p:nvSpPr>
        <p:spPr>
          <a:xfrm xmlns:a="http://schemas.openxmlformats.org/drawingml/2006/main">
            <a:off x="457200" y="8334375"/>
            <a:ext cx="2143125"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7. Rosemary Anti-Hair Fall Shampo…</a:t>
            </a:r>
          </a:p>
        </p:txBody>
      </p:sp>
      <p:sp>
        <p:nvSpPr>
          <p:cNvPr id="39" name="">
            <a:extLst xmlns:a="http://schemas.openxmlformats.org/drawingml/2006/main">
              <a:ext uri="{FF2B5EF4-FFF2-40B4-BE49-F238E27FC236}">
                <a16:creationId xmlns:a16="http://schemas.microsoft.com/office/drawing/2014/main" id="{B5C4D986-EE44-4E32-A232-9D858DF5172E}"/>
              </a:ext>
            </a:extLst>
          </p:cNvPr>
          <p:cNvSpPr>
            <a:spLocks xmlns:a="http://schemas.openxmlformats.org/drawingml/2006/main" noGrp="1"/>
          </p:cNvSpPr>
          <p:nvPr/>
        </p:nvSpPr>
        <p:spPr>
          <a:xfrm xmlns:a="http://schemas.openxmlformats.org/drawingml/2006/main">
            <a:off x="2628900" y="8334375"/>
            <a:ext cx="6286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788" b="1">
                <a:solidFill>
                  <a:srgbClr val="28A596"/>
                </a:solidFill>
              </a:defRPr>
            </a:pPr>
            <a:r>
              <a:rPr sz="788" b="1">
                <a:solidFill>
                  <a:srgbClr val="28A596"/>
                </a:solidFill>
              </a:rPr>
              <a:t>₹0.18 Cr</a:t>
            </a:r>
          </a:p>
        </p:txBody>
      </p:sp>
      <p:sp>
        <p:nvSpPr>
          <p:cNvPr id="40" name="">
            <a:extLst xmlns:a="http://schemas.openxmlformats.org/drawingml/2006/main">
              <a:ext uri="{FF2B5EF4-FFF2-40B4-BE49-F238E27FC236}">
                <a16:creationId xmlns:a16="http://schemas.microsoft.com/office/drawing/2014/main" id="{22D13367-8E81-475C-A16B-9A0D972D85A9}"/>
              </a:ext>
            </a:extLst>
          </p:cNvPr>
          <p:cNvSpPr>
            <a:spLocks xmlns:a="http://schemas.openxmlformats.org/drawingml/2006/main" noGrp="1"/>
          </p:cNvSpPr>
          <p:nvPr/>
        </p:nvSpPr>
        <p:spPr>
          <a:xfrm xmlns:a="http://schemas.openxmlformats.org/drawingml/2006/main">
            <a:off x="3457575" y="8334375"/>
            <a:ext cx="2143125"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8. ME Rice Water Dewy Sunscreen 8…</a:t>
            </a:r>
          </a:p>
        </p:txBody>
      </p:sp>
      <p:sp>
        <p:nvSpPr>
          <p:cNvPr id="41" name="">
            <a:extLst xmlns:a="http://schemas.openxmlformats.org/drawingml/2006/main">
              <a:ext uri="{FF2B5EF4-FFF2-40B4-BE49-F238E27FC236}">
                <a16:creationId xmlns:a16="http://schemas.microsoft.com/office/drawing/2014/main" id="{6E2330BD-555B-4A25-8EF2-E48157886B56}"/>
              </a:ext>
            </a:extLst>
          </p:cNvPr>
          <p:cNvSpPr>
            <a:spLocks xmlns:a="http://schemas.openxmlformats.org/drawingml/2006/main" noGrp="1"/>
          </p:cNvSpPr>
          <p:nvPr/>
        </p:nvSpPr>
        <p:spPr>
          <a:xfrm xmlns:a="http://schemas.openxmlformats.org/drawingml/2006/main">
            <a:off x="5629275" y="8334375"/>
            <a:ext cx="6286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788" b="1">
                <a:solidFill>
                  <a:srgbClr val="28A596"/>
                </a:solidFill>
              </a:defRPr>
            </a:pPr>
            <a:r>
              <a:rPr sz="788" b="1">
                <a:solidFill>
                  <a:srgbClr val="28A596"/>
                </a:solidFill>
              </a:rPr>
              <a:t>₹0.18 Cr</a:t>
            </a:r>
          </a:p>
        </p:txBody>
      </p:sp>
      <p:sp>
        <p:nvSpPr>
          <p:cNvPr id="42" name="">
            <a:extLst xmlns:a="http://schemas.openxmlformats.org/drawingml/2006/main">
              <a:ext uri="{FF2B5EF4-FFF2-40B4-BE49-F238E27FC236}">
                <a16:creationId xmlns:a16="http://schemas.microsoft.com/office/drawing/2014/main" id="{E42A134C-2BE1-48A9-903D-5063B91EF48F}"/>
              </a:ext>
            </a:extLst>
          </p:cNvPr>
          <p:cNvSpPr>
            <a:spLocks xmlns:a="http://schemas.openxmlformats.org/drawingml/2006/main" noGrp="1"/>
          </p:cNvSpPr>
          <p:nvPr/>
        </p:nvSpPr>
        <p:spPr>
          <a:xfrm xmlns:a="http://schemas.openxmlformats.org/drawingml/2006/main">
            <a:off x="361950" y="9334500"/>
            <a:ext cx="6134100" cy="1571625"/>
          </a:xfrm>
          <a:prstGeom xmlns:a="http://schemas.openxmlformats.org/drawingml/2006/main" prst="roundRect">
            <a:avLst>
              <a:gd name="adj" fmla="val 4848"/>
            </a:avLst>
          </a:prstGeom>
          <a:solidFill xmlns:a="http://schemas.openxmlformats.org/drawingml/2006/main">
            <a:srgbClr val="FFFFFF"/>
          </a:solidFill>
          <a:ln xmlns:a="http://schemas.openxmlformats.org/drawingml/2006/main" w="9525">
            <a:solidFill>
              <a:srgbClr val="D6544D"/>
            </a:solidFill>
            <a:prstDash val="solid"/>
          </a:ln>
        </p:spPr>
      </p:sp>
      <p:sp>
        <p:nvSpPr>
          <p:cNvPr id="43" name="">
            <a:extLst xmlns:a="http://schemas.openxmlformats.org/drawingml/2006/main">
              <a:ext uri="{FF2B5EF4-FFF2-40B4-BE49-F238E27FC236}">
                <a16:creationId xmlns:a16="http://schemas.microsoft.com/office/drawing/2014/main" id="{D6576ADD-97AB-4776-86F9-F4F4DE5A6B98}"/>
              </a:ext>
            </a:extLst>
          </p:cNvPr>
          <p:cNvSpPr>
            <a:spLocks xmlns:a="http://schemas.openxmlformats.org/drawingml/2006/main" noGrp="1"/>
          </p:cNvSpPr>
          <p:nvPr/>
        </p:nvSpPr>
        <p:spPr>
          <a:xfrm xmlns:a="http://schemas.openxmlformats.org/drawingml/2006/main">
            <a:off x="523875" y="9505950"/>
            <a:ext cx="2095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1">
                <a:solidFill>
                  <a:srgbClr val="D6544D"/>
                </a:solidFill>
              </a:defRPr>
            </a:pPr>
            <a:r>
              <a:rPr sz="825" b="1">
                <a:solidFill>
                  <a:srgbClr val="D6544D"/>
                </a:solidFill>
              </a:rPr>
              <a:t>ZERO-SALE FINALIZED EANs</a:t>
            </a:r>
          </a:p>
        </p:txBody>
      </p:sp>
      <p:sp>
        <p:nvSpPr>
          <p:cNvPr id="44" name="">
            <a:extLst xmlns:a="http://schemas.openxmlformats.org/drawingml/2006/main">
              <a:ext uri="{FF2B5EF4-FFF2-40B4-BE49-F238E27FC236}">
                <a16:creationId xmlns:a16="http://schemas.microsoft.com/office/drawing/2014/main" id="{CA9B0E80-33C9-4327-85C8-C9488BA7DF3D}"/>
              </a:ext>
            </a:extLst>
          </p:cNvPr>
          <p:cNvSpPr>
            <a:spLocks xmlns:a="http://schemas.openxmlformats.org/drawingml/2006/main" noGrp="1"/>
          </p:cNvSpPr>
          <p:nvPr/>
        </p:nvSpPr>
        <p:spPr>
          <a:xfrm xmlns:a="http://schemas.openxmlformats.org/drawingml/2006/main">
            <a:off x="523875" y="9810750"/>
            <a:ext cx="5667375"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1">
                <a:solidFill>
                  <a:srgbClr val="183B39"/>
                </a:solidFill>
              </a:defRPr>
            </a:pPr>
            <a:r>
              <a:rPr sz="825" b="1">
                <a:solidFill>
                  <a:srgbClr val="183B39"/>
                </a:solidFill>
              </a:rPr>
              <a:t>• BBLUNT Cherry Red Hair Colour 130g</a:t>
            </a:r>
          </a:p>
          <a:p xmlns:a="http://schemas.openxmlformats.org/drawingml/2006/main">
            <a:pPr algn="l">
              <a:defRPr sz="825" b="1">
                <a:solidFill>
                  <a:srgbClr val="183B39"/>
                </a:solidFill>
              </a:defRPr>
            </a:pPr>
            <a:r>
              <a:rPr sz="825" b="1">
                <a:solidFill>
                  <a:srgbClr val="183B39"/>
                </a:solidFill>
              </a:rPr>
              <a:t>• TDC 20% Actives Peptide–Stem Cell Hair Serum</a:t>
            </a:r>
          </a:p>
        </p:txBody>
      </p:sp>
      <p:sp>
        <p:nvSpPr>
          <p:cNvPr id="45" name="">
            <a:extLst xmlns:a="http://schemas.openxmlformats.org/drawingml/2006/main">
              <a:ext uri="{FF2B5EF4-FFF2-40B4-BE49-F238E27FC236}">
                <a16:creationId xmlns:a16="http://schemas.microsoft.com/office/drawing/2014/main" id="{EAE41167-14DF-4A4C-A2DB-1621019E8CA5}"/>
              </a:ext>
            </a:extLst>
          </p:cNvPr>
          <p:cNvSpPr>
            <a:spLocks xmlns:a="http://schemas.openxmlformats.org/drawingml/2006/main" noGrp="1"/>
          </p:cNvSpPr>
          <p:nvPr/>
        </p:nvSpPr>
        <p:spPr>
          <a:xfrm xmlns:a="http://schemas.openxmlformats.org/drawingml/2006/main">
            <a:off x="523875" y="10429875"/>
            <a:ext cx="5667375"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0">
                <a:solidFill>
                  <a:srgbClr val="5F716E"/>
                </a:solidFill>
              </a:defRPr>
            </a:pPr>
            <a:r>
              <a:rPr sz="825" b="0">
                <a:solidFill>
                  <a:srgbClr val="5F716E"/>
                </a:solidFill>
              </a:rPr>
              <a:t>Chain NSV share: Reliance 46.3% (₹1.30 Cr), DMart 34.6% (₹0.98 Cr), Lulu 6.4% (₹0.18 Cr), FSN 4.6% (₹0.13 Cr), H&amp;G 2.1%, Metro 1.8%, Wellness 1.3%, Sancus 1.1%.</a:t>
            </a:r>
          </a:p>
        </p:txBody>
      </p:sp>
      <p:sp>
        <p:nvSpPr>
          <p:cNvPr id="46" name="">
            <a:extLst xmlns:a="http://schemas.openxmlformats.org/drawingml/2006/main">
              <a:ext uri="{FF2B5EF4-FFF2-40B4-BE49-F238E27FC236}">
                <a16:creationId xmlns:a16="http://schemas.microsoft.com/office/drawing/2014/main" id="{2A3DD24F-B492-42E2-B8E5-1EF37E32F5FF}"/>
              </a:ext>
            </a:extLst>
          </p:cNvPr>
          <p:cNvSpPr>
            <a:spLocks xmlns:a="http://schemas.openxmlformats.org/drawingml/2006/main" noGrp="1"/>
          </p:cNvSpPr>
          <p:nvPr/>
        </p:nvSpPr>
        <p:spPr>
          <a:xfrm xmlns:a="http://schemas.openxmlformats.org/drawingml/2006/main">
            <a:off x="361950" y="11544300"/>
            <a:ext cx="6134100" cy="457200"/>
          </a:xfrm>
          <a:prstGeom xmlns:a="http://schemas.openxmlformats.org/drawingml/2006/main" prst="roundRect">
            <a:avLst>
              <a:gd name="adj" fmla="val 16667"/>
            </a:avLst>
          </a:prstGeom>
          <a:solidFill xmlns:a="http://schemas.openxmlformats.org/drawingml/2006/main">
            <a:srgbClr val="DFF2ED"/>
          </a:solidFill>
          <a:ln xmlns:a="http://schemas.openxmlformats.org/drawingml/2006/main" w="9525">
            <a:solidFill>
              <a:srgbClr val="28A596"/>
            </a:solidFill>
            <a:prstDash val="solid"/>
          </a:ln>
        </p:spPr>
      </p:sp>
      <p:sp>
        <p:nvSpPr>
          <p:cNvPr id="47" name="">
            <a:extLst xmlns:a="http://schemas.openxmlformats.org/drawingml/2006/main">
              <a:ext uri="{FF2B5EF4-FFF2-40B4-BE49-F238E27FC236}">
                <a16:creationId xmlns:a16="http://schemas.microsoft.com/office/drawing/2014/main" id="{49DA8C4D-741A-4658-9AE5-C57E350F005C}"/>
              </a:ext>
            </a:extLst>
          </p:cNvPr>
          <p:cNvSpPr>
            <a:spLocks xmlns:a="http://schemas.openxmlformats.org/drawingml/2006/main" noGrp="1"/>
          </p:cNvSpPr>
          <p:nvPr/>
        </p:nvSpPr>
        <p:spPr>
          <a:xfrm xmlns:a="http://schemas.openxmlformats.org/drawingml/2006/main">
            <a:off x="438150" y="11582400"/>
            <a:ext cx="142875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38" b="1">
                <a:solidFill>
                  <a:srgbClr val="116F68"/>
                </a:solidFill>
              </a:defRPr>
            </a:pPr>
            <a:r>
              <a:rPr sz="638" b="1">
                <a:solidFill>
                  <a:srgbClr val="116F68"/>
                </a:solidFill>
              </a:rPr>
              <a:t>EVIDENCE</a:t>
            </a:r>
          </a:p>
        </p:txBody>
      </p:sp>
      <p:sp>
        <p:nvSpPr>
          <p:cNvPr id="48" name="">
            <a:extLst xmlns:a="http://schemas.openxmlformats.org/drawingml/2006/main">
              <a:ext uri="{FF2B5EF4-FFF2-40B4-BE49-F238E27FC236}">
                <a16:creationId xmlns:a16="http://schemas.microsoft.com/office/drawing/2014/main" id="{4668513D-EAC5-4BA6-ACCE-F05A615BDD3B}"/>
              </a:ext>
            </a:extLst>
          </p:cNvPr>
          <p:cNvSpPr>
            <a:spLocks xmlns:a="http://schemas.openxmlformats.org/drawingml/2006/main" noGrp="1"/>
          </p:cNvSpPr>
          <p:nvPr/>
        </p:nvSpPr>
        <p:spPr>
          <a:xfrm xmlns:a="http://schemas.openxmlformats.org/drawingml/2006/main">
            <a:off x="438150" y="11734800"/>
            <a:ext cx="1428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00" b="0">
                <a:solidFill>
                  <a:srgbClr val="183B39"/>
                </a:solidFill>
              </a:defRPr>
            </a:pPr>
            <a:r>
              <a:rPr sz="600" b="0">
                <a:solidFill>
                  <a:srgbClr val="183B39"/>
                </a:solidFill>
              </a:rPr>
              <a:t>₹2.82 Cr NPI (7.82% mix), 58/60 EANs billing; CHAIN SHARE (NSV): Reliance 46.3% (₹1.30 Cr), DMart 34.6% (₹0.98 Cr), Lulu 6.4%, FSN 4.6%, H&amp;G 2.1%; East NPI mix 10.2% highest nationally; zero-sellers: BBLUNT Cherry Red 130g + TDC Peptide–Stem Cell Hair Serum</a:t>
            </a:r>
          </a:p>
        </p:txBody>
      </p:sp>
      <p:sp>
        <p:nvSpPr>
          <p:cNvPr id="49" name="">
            <a:extLst xmlns:a="http://schemas.openxmlformats.org/drawingml/2006/main">
              <a:ext uri="{FF2B5EF4-FFF2-40B4-BE49-F238E27FC236}">
                <a16:creationId xmlns:a16="http://schemas.microsoft.com/office/drawing/2014/main" id="{5EA12E48-3ED3-4794-B592-834636B01BA9}"/>
              </a:ext>
            </a:extLst>
          </p:cNvPr>
          <p:cNvSpPr>
            <a:spLocks xmlns:a="http://schemas.openxmlformats.org/drawingml/2006/main" noGrp="1"/>
          </p:cNvSpPr>
          <p:nvPr/>
        </p:nvSpPr>
        <p:spPr>
          <a:xfrm xmlns:a="http://schemas.openxmlformats.org/drawingml/2006/main">
            <a:off x="1924050" y="11610975"/>
            <a:ext cx="0" cy="304800"/>
          </a:xfrm>
          <a:prstGeom xmlns:a="http://schemas.openxmlformats.org/drawingml/2006/main" prst="line">
            <a:avLst/>
          </a:prstGeom>
          <a:ln xmlns:a="http://schemas.openxmlformats.org/drawingml/2006/main" w="9525">
            <a:solidFill>
              <a:srgbClr val="C8DCD7"/>
            </a:solidFill>
            <a:prstDash val="solid"/>
          </a:ln>
        </p:spPr>
      </p:sp>
      <p:sp>
        <p:nvSpPr>
          <p:cNvPr id="50" name="">
            <a:extLst xmlns:a="http://schemas.openxmlformats.org/drawingml/2006/main">
              <a:ext uri="{FF2B5EF4-FFF2-40B4-BE49-F238E27FC236}">
                <a16:creationId xmlns:a16="http://schemas.microsoft.com/office/drawing/2014/main" id="{31B5D983-1AB6-483E-9C6E-81B8A65B1628}"/>
              </a:ext>
            </a:extLst>
          </p:cNvPr>
          <p:cNvSpPr>
            <a:spLocks xmlns:a="http://schemas.openxmlformats.org/drawingml/2006/main" noGrp="1"/>
          </p:cNvSpPr>
          <p:nvPr/>
        </p:nvSpPr>
        <p:spPr>
          <a:xfrm xmlns:a="http://schemas.openxmlformats.org/drawingml/2006/main">
            <a:off x="1952625" y="11582400"/>
            <a:ext cx="142875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38" b="1">
                <a:solidFill>
                  <a:srgbClr val="116F68"/>
                </a:solidFill>
              </a:defRPr>
            </a:pPr>
            <a:r>
              <a:rPr sz="638" b="1">
                <a:solidFill>
                  <a:srgbClr val="116F68"/>
                </a:solidFill>
              </a:rPr>
              <a:t>IMPLICATION</a:t>
            </a:r>
          </a:p>
        </p:txBody>
      </p:sp>
      <p:sp>
        <p:nvSpPr>
          <p:cNvPr id="51" name="">
            <a:extLst xmlns:a="http://schemas.openxmlformats.org/drawingml/2006/main">
              <a:ext uri="{FF2B5EF4-FFF2-40B4-BE49-F238E27FC236}">
                <a16:creationId xmlns:a16="http://schemas.microsoft.com/office/drawing/2014/main" id="{4D35A6B3-0FF2-40D0-B710-76864807236B}"/>
              </a:ext>
            </a:extLst>
          </p:cNvPr>
          <p:cNvSpPr>
            <a:spLocks xmlns:a="http://schemas.openxmlformats.org/drawingml/2006/main" noGrp="1"/>
          </p:cNvSpPr>
          <p:nvPr/>
        </p:nvSpPr>
        <p:spPr>
          <a:xfrm xmlns:a="http://schemas.openxmlformats.org/drawingml/2006/main">
            <a:off x="1952625" y="11734800"/>
            <a:ext cx="1428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00" b="0">
                <a:solidFill>
                  <a:srgbClr val="183B39"/>
                </a:solidFill>
              </a:defRPr>
            </a:pPr>
            <a:r>
              <a:rPr sz="600" b="0">
                <a:solidFill>
                  <a:srgbClr val="183B39"/>
                </a:solidFill>
              </a:rPr>
              <a:t>2 zero-sellers represent an active listing / OSA risk; left unresolved past August review they become dead NPI inventory — early action is cheaper than post-launch recovery</a:t>
            </a:r>
          </a:p>
        </p:txBody>
      </p:sp>
      <p:sp>
        <p:nvSpPr>
          <p:cNvPr id="52" name="">
            <a:extLst xmlns:a="http://schemas.openxmlformats.org/drawingml/2006/main">
              <a:ext uri="{FF2B5EF4-FFF2-40B4-BE49-F238E27FC236}">
                <a16:creationId xmlns:a16="http://schemas.microsoft.com/office/drawing/2014/main" id="{ED8D78AE-E6E8-4D3A-A2AD-BE635A3C5CA2}"/>
              </a:ext>
            </a:extLst>
          </p:cNvPr>
          <p:cNvSpPr>
            <a:spLocks xmlns:a="http://schemas.openxmlformats.org/drawingml/2006/main" noGrp="1"/>
          </p:cNvSpPr>
          <p:nvPr/>
        </p:nvSpPr>
        <p:spPr>
          <a:xfrm xmlns:a="http://schemas.openxmlformats.org/drawingml/2006/main">
            <a:off x="3438525" y="11610975"/>
            <a:ext cx="0" cy="304800"/>
          </a:xfrm>
          <a:prstGeom xmlns:a="http://schemas.openxmlformats.org/drawingml/2006/main" prst="line">
            <a:avLst/>
          </a:prstGeom>
          <a:ln xmlns:a="http://schemas.openxmlformats.org/drawingml/2006/main" w="9525">
            <a:solidFill>
              <a:srgbClr val="C8DCD7"/>
            </a:solidFill>
            <a:prstDash val="solid"/>
          </a:ln>
        </p:spPr>
      </p:sp>
      <p:sp>
        <p:nvSpPr>
          <p:cNvPr id="53" name="">
            <a:extLst xmlns:a="http://schemas.openxmlformats.org/drawingml/2006/main">
              <a:ext uri="{FF2B5EF4-FFF2-40B4-BE49-F238E27FC236}">
                <a16:creationId xmlns:a16="http://schemas.microsoft.com/office/drawing/2014/main" id="{21041BE1-86D4-4876-8596-A4907DEC71BA}"/>
              </a:ext>
            </a:extLst>
          </p:cNvPr>
          <p:cNvSpPr>
            <a:spLocks xmlns:a="http://schemas.openxmlformats.org/drawingml/2006/main" noGrp="1"/>
          </p:cNvSpPr>
          <p:nvPr/>
        </p:nvSpPr>
        <p:spPr>
          <a:xfrm xmlns:a="http://schemas.openxmlformats.org/drawingml/2006/main">
            <a:off x="3467100" y="11582400"/>
            <a:ext cx="142875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38" b="1">
                <a:solidFill>
                  <a:srgbClr val="116F68"/>
                </a:solidFill>
              </a:defRPr>
            </a:pPr>
            <a:r>
              <a:rPr sz="638" b="1">
                <a:solidFill>
                  <a:srgbClr val="116F68"/>
                </a:solidFill>
              </a:rPr>
              <a:t>ACTION</a:t>
            </a:r>
          </a:p>
        </p:txBody>
      </p:sp>
      <p:sp>
        <p:nvSpPr>
          <p:cNvPr id="54" name="">
            <a:extLst xmlns:a="http://schemas.openxmlformats.org/drawingml/2006/main">
              <a:ext uri="{FF2B5EF4-FFF2-40B4-BE49-F238E27FC236}">
                <a16:creationId xmlns:a16="http://schemas.microsoft.com/office/drawing/2014/main" id="{4D553A3E-70D9-48E7-B490-40CDD039E56B}"/>
              </a:ext>
            </a:extLst>
          </p:cNvPr>
          <p:cNvSpPr>
            <a:spLocks xmlns:a="http://schemas.openxmlformats.org/drawingml/2006/main" noGrp="1"/>
          </p:cNvSpPr>
          <p:nvPr/>
        </p:nvSpPr>
        <p:spPr>
          <a:xfrm xmlns:a="http://schemas.openxmlformats.org/drawingml/2006/main">
            <a:off x="3467100" y="11734800"/>
            <a:ext cx="1428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00" b="0">
                <a:solidFill>
                  <a:srgbClr val="183B39"/>
                </a:solidFill>
              </a:defRPr>
            </a:pPr>
            <a:r>
              <a:rPr sz="600" b="0">
                <a:solidFill>
                  <a:srgbClr val="183B39"/>
                </a:solidFill>
              </a:rPr>
              <a:t>Audit both zero-sellers: confirm store receipt, shelf placement and scheme support by 28-Aug; prioritize Reliance + DMart NPI visibility (combined 80.9% of NPI value); no further NPI loading in same categories until zero-sellers clear</a:t>
            </a:r>
          </a:p>
        </p:txBody>
      </p:sp>
      <p:sp>
        <p:nvSpPr>
          <p:cNvPr id="55" name="">
            <a:extLst xmlns:a="http://schemas.openxmlformats.org/drawingml/2006/main">
              <a:ext uri="{FF2B5EF4-FFF2-40B4-BE49-F238E27FC236}">
                <a16:creationId xmlns:a16="http://schemas.microsoft.com/office/drawing/2014/main" id="{D3EA7088-0C14-44FE-AB16-93B263AD6623}"/>
              </a:ext>
            </a:extLst>
          </p:cNvPr>
          <p:cNvSpPr>
            <a:spLocks xmlns:a="http://schemas.openxmlformats.org/drawingml/2006/main" noGrp="1"/>
          </p:cNvSpPr>
          <p:nvPr/>
        </p:nvSpPr>
        <p:spPr>
          <a:xfrm xmlns:a="http://schemas.openxmlformats.org/drawingml/2006/main">
            <a:off x="4953000" y="11610975"/>
            <a:ext cx="0" cy="304800"/>
          </a:xfrm>
          <a:prstGeom xmlns:a="http://schemas.openxmlformats.org/drawingml/2006/main" prst="line">
            <a:avLst/>
          </a:prstGeom>
          <a:ln xmlns:a="http://schemas.openxmlformats.org/drawingml/2006/main" w="9525">
            <a:solidFill>
              <a:srgbClr val="C8DCD7"/>
            </a:solidFill>
            <a:prstDash val="solid"/>
          </a:ln>
        </p:spPr>
      </p:sp>
      <p:sp>
        <p:nvSpPr>
          <p:cNvPr id="56" name="">
            <a:extLst xmlns:a="http://schemas.openxmlformats.org/drawingml/2006/main">
              <a:ext uri="{FF2B5EF4-FFF2-40B4-BE49-F238E27FC236}">
                <a16:creationId xmlns:a16="http://schemas.microsoft.com/office/drawing/2014/main" id="{E3683C4B-1456-4FDF-AF91-F5FB8708FE99}"/>
              </a:ext>
            </a:extLst>
          </p:cNvPr>
          <p:cNvSpPr>
            <a:spLocks xmlns:a="http://schemas.openxmlformats.org/drawingml/2006/main" noGrp="1"/>
          </p:cNvSpPr>
          <p:nvPr/>
        </p:nvSpPr>
        <p:spPr>
          <a:xfrm xmlns:a="http://schemas.openxmlformats.org/drawingml/2006/main">
            <a:off x="4981575" y="11582400"/>
            <a:ext cx="142875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38" b="1">
                <a:solidFill>
                  <a:srgbClr val="116F68"/>
                </a:solidFill>
              </a:defRPr>
            </a:pPr>
            <a:r>
              <a:rPr sz="638" b="1">
                <a:solidFill>
                  <a:srgbClr val="116F68"/>
                </a:solidFill>
              </a:rPr>
              <a:t>OWNER</a:t>
            </a:r>
          </a:p>
        </p:txBody>
      </p:sp>
      <p:sp>
        <p:nvSpPr>
          <p:cNvPr id="57" name="">
            <a:extLst xmlns:a="http://schemas.openxmlformats.org/drawingml/2006/main">
              <a:ext uri="{FF2B5EF4-FFF2-40B4-BE49-F238E27FC236}">
                <a16:creationId xmlns:a16="http://schemas.microsoft.com/office/drawing/2014/main" id="{4B1331F4-FFE0-45D4-A0C5-B409A4BA663C}"/>
              </a:ext>
            </a:extLst>
          </p:cNvPr>
          <p:cNvSpPr>
            <a:spLocks xmlns:a="http://schemas.openxmlformats.org/drawingml/2006/main" noGrp="1"/>
          </p:cNvSpPr>
          <p:nvPr/>
        </p:nvSpPr>
        <p:spPr>
          <a:xfrm xmlns:a="http://schemas.openxmlformats.org/drawingml/2006/main">
            <a:off x="4981575" y="11734800"/>
            <a:ext cx="1428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00" b="0">
                <a:solidFill>
                  <a:srgbClr val="183B39"/>
                </a:solidFill>
              </a:defRPr>
            </a:pPr>
            <a:r>
              <a:rPr sz="600" b="0">
                <a:solidFill>
                  <a:srgbClr val="183B39"/>
                </a:solidFill>
              </a:rPr>
              <a:t>Trade Marketing + Supply | 28-Aug</a:t>
            </a:r>
          </a:p>
        </p:txBody>
      </p:sp>
    </p:spTree>
    <p:extLst>
      <p:ext uri="{BB962C8B-B14F-4D97-AF65-F5344CB8AC3E}">
        <p14:creationId xmlns:p14="http://schemas.microsoft.com/office/powerpoint/2010/main" val="1096802741"/>
      </p:ext>
    </p:extLst>
  </p:cSld>
</p:sld>
</file>

<file path=ppt/slides/slide16.xml><?xml version="1.0" encoding="utf-8"?>
<p:sld xmlns:p="http://schemas.openxmlformats.org/presentationml/2006/main">
  <p:cSld>
    <p:bg>
      <p:bgPr>
        <a:solidFill xmlns:a="http://schemas.openxmlformats.org/drawingml/2006/main">
          <a:srgbClr val="F7FBFA"/>
        </a:solidFill>
      </p:bgPr>
    </p:bg>
    <p:spTree>
      <p:nvGrpSpPr>
        <p:cNvPr id="1" name=""/>
        <p:cNvGrpSpPr/>
        <p:nvPr/>
      </p:nvGrpSpPr>
      <p:grpSpPr>
        <a:xfrm xmlns:a="http://schemas.openxmlformats.org/drawingml/2006/main"/>
      </p:grpSpPr>
      <p:sp>
        <p:nvSpPr>
          <p:cNvPr id="61" name="">
            <a:extLst xmlns:a="http://schemas.openxmlformats.org/drawingml/2006/main">
              <a:ext uri="{FF2B5EF4-FFF2-40B4-BE49-F238E27FC236}">
                <a16:creationId xmlns:a16="http://schemas.microsoft.com/office/drawing/2014/main" id="{CA6FA434-30AC-476B-AB41-A989AC96FD3C}"/>
              </a:ext>
            </a:extLst>
          </p:cNvPr>
          <p:cNvSpPr>
            <a:spLocks xmlns:a="http://schemas.openxmlformats.org/drawingml/2006/main" noGrp="1"/>
          </p:cNvSpPr>
          <p:nvPr/>
        </p:nvSpPr>
        <p:spPr>
          <a:xfrm xmlns:a="http://schemas.openxmlformats.org/drawingml/2006/main">
            <a:off x="0" y="0"/>
            <a:ext cx="6858000" cy="1000125"/>
          </a:xfrm>
          <a:prstGeom xmlns:a="http://schemas.openxmlformats.org/drawingml/2006/main" prst="rect">
            <a:avLst/>
          </a:prstGeom>
          <a:solidFill xmlns:a="http://schemas.openxmlformats.org/drawingml/2006/main">
            <a:srgbClr val="116F68"/>
          </a:solidFill>
          <a:ln xmlns:a="http://schemas.openxmlformats.org/drawingml/2006/main" w="0">
            <a:solidFill>
              <a:srgbClr val="116F68"/>
            </a:solidFill>
            <a:prstDash val="solid"/>
          </a:ln>
        </p:spPr>
      </p:sp>
      <p:sp>
        <p:nvSpPr>
          <p:cNvPr id="2" name="">
            <a:extLst xmlns:a="http://schemas.openxmlformats.org/drawingml/2006/main">
              <a:ext uri="{FF2B5EF4-FFF2-40B4-BE49-F238E27FC236}">
                <a16:creationId xmlns:a16="http://schemas.microsoft.com/office/drawing/2014/main" id="{59CD4FCB-3506-48B3-91A5-6D9095FDFF9D}"/>
              </a:ext>
            </a:extLst>
          </p:cNvPr>
          <p:cNvSpPr>
            <a:spLocks xmlns:a="http://schemas.openxmlformats.org/drawingml/2006/main" noGrp="1"/>
          </p:cNvSpPr>
          <p:nvPr/>
        </p:nvSpPr>
        <p:spPr>
          <a:xfrm xmlns:a="http://schemas.openxmlformats.org/drawingml/2006/main">
            <a:off x="361950" y="228600"/>
            <a:ext cx="59055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2025" b="1">
                <a:solidFill>
                  <a:srgbClr val="FFFFFF"/>
                </a:solidFill>
              </a:defRPr>
            </a:pPr>
            <a:r>
              <a:rPr sz="2025" b="1">
                <a:solidFill>
                  <a:srgbClr val="FFFFFF"/>
                </a:solidFill>
              </a:rPr>
              <a:t>DMart and Reliance hold most of the convertible chain gap</a:t>
            </a:r>
          </a:p>
        </p:txBody>
      </p:sp>
      <p:sp>
        <p:nvSpPr>
          <p:cNvPr id="3" name="">
            <a:extLst xmlns:a="http://schemas.openxmlformats.org/drawingml/2006/main">
              <a:ext uri="{FF2B5EF4-FFF2-40B4-BE49-F238E27FC236}">
                <a16:creationId xmlns:a16="http://schemas.microsoft.com/office/drawing/2014/main" id="{00A13B83-AB27-4F47-B57B-366569F583EB}"/>
              </a:ext>
            </a:extLst>
          </p:cNvPr>
          <p:cNvSpPr>
            <a:spLocks xmlns:a="http://schemas.openxmlformats.org/drawingml/2006/main" noGrp="1"/>
          </p:cNvSpPr>
          <p:nvPr/>
        </p:nvSpPr>
        <p:spPr>
          <a:xfrm xmlns:a="http://schemas.openxmlformats.org/drawingml/2006/main">
            <a:off x="381000" y="695325"/>
            <a:ext cx="57150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75" b="0">
                <a:solidFill>
                  <a:srgbClr val="DFF2ED"/>
                </a:solidFill>
              </a:defRPr>
            </a:pPr>
            <a:r>
              <a:rPr sz="975" b="0">
                <a:solidFill>
                  <a:srgbClr val="DFF2ED"/>
                </a:solidFill>
              </a:rPr>
              <a:t>Chain deep dive | July 2026 | ₹ Cr</a:t>
            </a:r>
          </a:p>
        </p:txBody>
      </p:sp>
      <p:sp>
        <p:nvSpPr>
          <p:cNvPr id="4" name="">
            <a:extLst xmlns:a="http://schemas.openxmlformats.org/drawingml/2006/main">
              <a:ext uri="{FF2B5EF4-FFF2-40B4-BE49-F238E27FC236}">
                <a16:creationId xmlns:a16="http://schemas.microsoft.com/office/drawing/2014/main" id="{02D328CF-498C-4557-901A-7AD64E240F81}"/>
              </a:ext>
            </a:extLst>
          </p:cNvPr>
          <p:cNvSpPr>
            <a:spLocks xmlns:a="http://schemas.openxmlformats.org/drawingml/2006/main" noGrp="1"/>
          </p:cNvSpPr>
          <p:nvPr/>
        </p:nvSpPr>
        <p:spPr>
          <a:xfrm xmlns:a="http://schemas.openxmlformats.org/drawingml/2006/main">
            <a:off x="6191250" y="361950"/>
            <a:ext cx="3429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900" b="1">
                <a:solidFill>
                  <a:srgbClr val="FFFFFF"/>
                </a:solidFill>
              </a:defRPr>
            </a:pPr>
            <a:r>
              <a:rPr sz="900" b="1">
                <a:solidFill>
                  <a:srgbClr val="FFFFFF"/>
                </a:solidFill>
              </a:rPr>
              <a:t>16</a:t>
            </a:r>
          </a:p>
        </p:txBody>
      </p:sp>
      <p:sp>
        <p:nvSpPr>
          <p:cNvPr id="5" name="">
            <a:extLst xmlns:a="http://schemas.openxmlformats.org/drawingml/2006/main">
              <a:ext uri="{FF2B5EF4-FFF2-40B4-BE49-F238E27FC236}">
                <a16:creationId xmlns:a16="http://schemas.microsoft.com/office/drawing/2014/main" id="{770D5328-C079-4937-B9B9-81270900870B}"/>
              </a:ext>
            </a:extLst>
          </p:cNvPr>
          <p:cNvSpPr>
            <a:spLocks xmlns:a="http://schemas.openxmlformats.org/drawingml/2006/main" noGrp="1"/>
          </p:cNvSpPr>
          <p:nvPr/>
        </p:nvSpPr>
        <p:spPr>
          <a:xfrm xmlns:a="http://schemas.openxmlformats.org/drawingml/2006/main">
            <a:off x="361950" y="1285875"/>
            <a:ext cx="61341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050" b="1">
                <a:solidFill>
                  <a:srgbClr val="183B39"/>
                </a:solidFill>
              </a:defRPr>
            </a:pPr>
            <a:r>
              <a:rPr sz="1050" b="1">
                <a:solidFill>
                  <a:srgbClr val="183B39"/>
                </a:solidFill>
              </a:rPr>
              <a:t>Top chain flow</a:t>
            </a:r>
          </a:p>
        </p:txBody>
      </p:sp>
      <p:graphicFrame>
        <p:nvGraphicFramePr>
          <p:cNvPr id="66" name="Chart"/>
          <p:cNvGraphicFramePr/>
          <p:nvPr/>
        </p:nvGraphicFramePr>
        <p:xfrm>
          <a:off xmlns:a="http://schemas.openxmlformats.org/drawingml/2006/main" x="361950" y="1571625"/>
          <a:ext xmlns:a="http://schemas.openxmlformats.org/drawingml/2006/main" cx="6134100" cy="2952750"/>
        </p:xfrm>
        <a:graphic xmlns:a="http://schemas.openxmlformats.org/drawingml/2006/main">
          <a:graphicData uri="http://schemas.openxmlformats.org/drawingml/2006/chart">
            <c:chart xmlns:r="http://schemas.openxmlformats.org/officeDocument/2006/relationships" xmlns:c="http://schemas.openxmlformats.org/drawingml/2006/chart" r:id="Ra27a828a0da64f79"/>
          </a:graphicData>
        </a:graphic>
      </p:graphicFrame>
      <p:sp>
        <p:nvSpPr>
          <p:cNvPr id="7" name="">
            <a:extLst xmlns:a="http://schemas.openxmlformats.org/drawingml/2006/main">
              <a:ext uri="{FF2B5EF4-FFF2-40B4-BE49-F238E27FC236}">
                <a16:creationId xmlns:a16="http://schemas.microsoft.com/office/drawing/2014/main" id="{87702417-18FB-42D2-9250-7F22BBC42CC2}"/>
              </a:ext>
            </a:extLst>
          </p:cNvPr>
          <p:cNvSpPr>
            <a:spLocks xmlns:a="http://schemas.openxmlformats.org/drawingml/2006/main" noGrp="1"/>
          </p:cNvSpPr>
          <p:nvPr/>
        </p:nvSpPr>
        <p:spPr>
          <a:xfrm xmlns:a="http://schemas.openxmlformats.org/drawingml/2006/main">
            <a:off x="361950" y="4810125"/>
            <a:ext cx="6134100" cy="257175"/>
          </a:xfrm>
          <a:prstGeom xmlns:a="http://schemas.openxmlformats.org/drawingml/2006/main" prst="rect">
            <a:avLst/>
          </a:prstGeom>
          <a:solidFill xmlns:a="http://schemas.openxmlformats.org/drawingml/2006/main">
            <a:srgbClr val="116F68"/>
          </a:solidFill>
          <a:ln xmlns:a="http://schemas.openxmlformats.org/drawingml/2006/main" w="0">
            <a:solidFill>
              <a:srgbClr val="116F68"/>
            </a:solidFill>
            <a:prstDash val="solid"/>
          </a:ln>
        </p:spPr>
      </p:sp>
      <p:sp>
        <p:nvSpPr>
          <p:cNvPr id="8" name="">
            <a:extLst xmlns:a="http://schemas.openxmlformats.org/drawingml/2006/main">
              <a:ext uri="{FF2B5EF4-FFF2-40B4-BE49-F238E27FC236}">
                <a16:creationId xmlns:a16="http://schemas.microsoft.com/office/drawing/2014/main" id="{0F8C7DDF-5C5E-47BB-8671-91811F1E263D}"/>
              </a:ext>
            </a:extLst>
          </p:cNvPr>
          <p:cNvSpPr>
            <a:spLocks xmlns:a="http://schemas.openxmlformats.org/drawingml/2006/main" noGrp="1"/>
          </p:cNvSpPr>
          <p:nvPr/>
        </p:nvSpPr>
        <p:spPr>
          <a:xfrm xmlns:a="http://schemas.openxmlformats.org/drawingml/2006/main">
            <a:off x="457200" y="4819650"/>
            <a:ext cx="59436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FFFFFF"/>
                </a:solidFill>
              </a:defRPr>
            </a:pPr>
            <a:r>
              <a:rPr sz="900" b="1">
                <a:solidFill>
                  <a:srgbClr val="FFFFFF"/>
                </a:solidFill>
              </a:rPr>
              <a:t>ACCOUNT SIGNALS</a:t>
            </a:r>
          </a:p>
        </p:txBody>
      </p:sp>
      <p:sp>
        <p:nvSpPr>
          <p:cNvPr id="9" name="">
            <a:extLst xmlns:a="http://schemas.openxmlformats.org/drawingml/2006/main">
              <a:ext uri="{FF2B5EF4-FFF2-40B4-BE49-F238E27FC236}">
                <a16:creationId xmlns:a16="http://schemas.microsoft.com/office/drawing/2014/main" id="{814445AB-FAD8-4388-9A45-F7DB0DBAC474}"/>
              </a:ext>
            </a:extLst>
          </p:cNvPr>
          <p:cNvSpPr>
            <a:spLocks xmlns:a="http://schemas.openxmlformats.org/drawingml/2006/main" noGrp="1"/>
          </p:cNvSpPr>
          <p:nvPr/>
        </p:nvSpPr>
        <p:spPr>
          <a:xfrm xmlns:a="http://schemas.openxmlformats.org/drawingml/2006/main">
            <a:off x="361950" y="5191125"/>
            <a:ext cx="192405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9525">
            <a:solidFill>
              <a:srgbClr val="C8DCD7"/>
            </a:solidFill>
            <a:prstDash val="solid"/>
          </a:ln>
        </p:spPr>
      </p:sp>
      <p:sp>
        <p:nvSpPr>
          <p:cNvPr id="10" name="">
            <a:extLst xmlns:a="http://schemas.openxmlformats.org/drawingml/2006/main">
              <a:ext uri="{FF2B5EF4-FFF2-40B4-BE49-F238E27FC236}">
                <a16:creationId xmlns:a16="http://schemas.microsoft.com/office/drawing/2014/main" id="{BEC9DAF0-7912-4A89-9105-E3F48D880636}"/>
              </a:ext>
            </a:extLst>
          </p:cNvPr>
          <p:cNvSpPr>
            <a:spLocks xmlns:a="http://schemas.openxmlformats.org/drawingml/2006/main" noGrp="1"/>
          </p:cNvSpPr>
          <p:nvPr/>
        </p:nvSpPr>
        <p:spPr>
          <a:xfrm xmlns:a="http://schemas.openxmlformats.org/drawingml/2006/main">
            <a:off x="361950" y="5191125"/>
            <a:ext cx="76200" cy="1066800"/>
          </a:xfrm>
          <a:prstGeom xmlns:a="http://schemas.openxmlformats.org/drawingml/2006/main" prst="rect">
            <a:avLst/>
          </a:prstGeom>
          <a:solidFill xmlns:a="http://schemas.openxmlformats.org/drawingml/2006/main">
            <a:srgbClr val="D6544D"/>
          </a:solidFill>
          <a:ln xmlns:a="http://schemas.openxmlformats.org/drawingml/2006/main" w="0">
            <a:solidFill>
              <a:srgbClr val="D6544D"/>
            </a:solidFill>
            <a:prstDash val="solid"/>
          </a:ln>
        </p:spPr>
      </p:sp>
      <p:sp>
        <p:nvSpPr>
          <p:cNvPr id="11" name="">
            <a:extLst xmlns:a="http://schemas.openxmlformats.org/drawingml/2006/main">
              <a:ext uri="{FF2B5EF4-FFF2-40B4-BE49-F238E27FC236}">
                <a16:creationId xmlns:a16="http://schemas.microsoft.com/office/drawing/2014/main" id="{AAD0676D-8298-496D-91AA-8262EE481544}"/>
              </a:ext>
            </a:extLst>
          </p:cNvPr>
          <p:cNvSpPr>
            <a:spLocks xmlns:a="http://schemas.openxmlformats.org/drawingml/2006/main" noGrp="1"/>
          </p:cNvSpPr>
          <p:nvPr/>
        </p:nvSpPr>
        <p:spPr>
          <a:xfrm xmlns:a="http://schemas.openxmlformats.org/drawingml/2006/main">
            <a:off x="533400" y="5305425"/>
            <a:ext cx="16573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5F716E"/>
                </a:solidFill>
              </a:defRPr>
            </a:pPr>
            <a:r>
              <a:rPr sz="900" b="1">
                <a:solidFill>
                  <a:srgbClr val="5F716E"/>
                </a:solidFill>
              </a:rPr>
              <a:t>DMART GAP</a:t>
            </a:r>
          </a:p>
        </p:txBody>
      </p:sp>
      <p:sp>
        <p:nvSpPr>
          <p:cNvPr id="12" name="">
            <a:extLst xmlns:a="http://schemas.openxmlformats.org/drawingml/2006/main">
              <a:ext uri="{FF2B5EF4-FFF2-40B4-BE49-F238E27FC236}">
                <a16:creationId xmlns:a16="http://schemas.microsoft.com/office/drawing/2014/main" id="{9AB0217E-BC93-41AB-9CE6-BEFDB5C3CF76}"/>
              </a:ext>
            </a:extLst>
          </p:cNvPr>
          <p:cNvSpPr>
            <a:spLocks xmlns:a="http://schemas.openxmlformats.org/drawingml/2006/main" noGrp="1"/>
          </p:cNvSpPr>
          <p:nvPr/>
        </p:nvSpPr>
        <p:spPr>
          <a:xfrm xmlns:a="http://schemas.openxmlformats.org/drawingml/2006/main">
            <a:off x="533400" y="5534025"/>
            <a:ext cx="16573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875" b="1">
                <a:solidFill>
                  <a:srgbClr val="D6544D"/>
                </a:solidFill>
              </a:defRPr>
            </a:pPr>
            <a:r>
              <a:rPr sz="1875" b="1">
                <a:solidFill>
                  <a:srgbClr val="D6544D"/>
                </a:solidFill>
              </a:rPr>
              <a:t>₹4.29 Cr</a:t>
            </a:r>
          </a:p>
        </p:txBody>
      </p:sp>
      <p:sp>
        <p:nvSpPr>
          <p:cNvPr id="13" name="">
            <a:extLst xmlns:a="http://schemas.openxmlformats.org/drawingml/2006/main">
              <a:ext uri="{FF2B5EF4-FFF2-40B4-BE49-F238E27FC236}">
                <a16:creationId xmlns:a16="http://schemas.microsoft.com/office/drawing/2014/main" id="{64662975-ABA1-45C8-A3A4-36A6C62D282B}"/>
              </a:ext>
            </a:extLst>
          </p:cNvPr>
          <p:cNvSpPr>
            <a:spLocks xmlns:a="http://schemas.openxmlformats.org/drawingml/2006/main" noGrp="1"/>
          </p:cNvSpPr>
          <p:nvPr/>
        </p:nvSpPr>
        <p:spPr>
          <a:xfrm xmlns:a="http://schemas.openxmlformats.org/drawingml/2006/main">
            <a:off x="533400" y="5934075"/>
            <a:ext cx="16573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0">
                <a:solidFill>
                  <a:srgbClr val="5F716E"/>
                </a:solidFill>
              </a:defRPr>
            </a:pPr>
            <a:r>
              <a:rPr sz="825" b="0">
                <a:solidFill>
                  <a:srgbClr val="5F716E"/>
                </a:solidFill>
              </a:rPr>
              <a:t>76.5% conversion</a:t>
            </a:r>
          </a:p>
        </p:txBody>
      </p:sp>
      <p:sp>
        <p:nvSpPr>
          <p:cNvPr id="14" name="">
            <a:extLst xmlns:a="http://schemas.openxmlformats.org/drawingml/2006/main">
              <a:ext uri="{FF2B5EF4-FFF2-40B4-BE49-F238E27FC236}">
                <a16:creationId xmlns:a16="http://schemas.microsoft.com/office/drawing/2014/main" id="{E7AE14AB-E76E-4C2C-8F51-03D7BC59C633}"/>
              </a:ext>
            </a:extLst>
          </p:cNvPr>
          <p:cNvSpPr>
            <a:spLocks xmlns:a="http://schemas.openxmlformats.org/drawingml/2006/main" noGrp="1"/>
          </p:cNvSpPr>
          <p:nvPr/>
        </p:nvSpPr>
        <p:spPr>
          <a:xfrm xmlns:a="http://schemas.openxmlformats.org/drawingml/2006/main">
            <a:off x="2466975" y="5191125"/>
            <a:ext cx="192405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9525">
            <a:solidFill>
              <a:srgbClr val="C8DCD7"/>
            </a:solidFill>
            <a:prstDash val="solid"/>
          </a:ln>
        </p:spPr>
      </p:sp>
      <p:sp>
        <p:nvSpPr>
          <p:cNvPr id="15" name="">
            <a:extLst xmlns:a="http://schemas.openxmlformats.org/drawingml/2006/main">
              <a:ext uri="{FF2B5EF4-FFF2-40B4-BE49-F238E27FC236}">
                <a16:creationId xmlns:a16="http://schemas.microsoft.com/office/drawing/2014/main" id="{A5DAE191-3D74-4F07-A4CC-450FBA0DA287}"/>
              </a:ext>
            </a:extLst>
          </p:cNvPr>
          <p:cNvSpPr>
            <a:spLocks xmlns:a="http://schemas.openxmlformats.org/drawingml/2006/main" noGrp="1"/>
          </p:cNvSpPr>
          <p:nvPr/>
        </p:nvSpPr>
        <p:spPr>
          <a:xfrm xmlns:a="http://schemas.openxmlformats.org/drawingml/2006/main">
            <a:off x="2466975" y="5191125"/>
            <a:ext cx="76200" cy="1066800"/>
          </a:xfrm>
          <a:prstGeom xmlns:a="http://schemas.openxmlformats.org/drawingml/2006/main" prst="rect">
            <a:avLst/>
          </a:prstGeom>
          <a:solidFill xmlns:a="http://schemas.openxmlformats.org/drawingml/2006/main">
            <a:srgbClr val="F2B84B"/>
          </a:solidFill>
          <a:ln xmlns:a="http://schemas.openxmlformats.org/drawingml/2006/main" w="0">
            <a:solidFill>
              <a:srgbClr val="F2B84B"/>
            </a:solidFill>
            <a:prstDash val="solid"/>
          </a:ln>
        </p:spPr>
      </p:sp>
      <p:sp>
        <p:nvSpPr>
          <p:cNvPr id="16" name="">
            <a:extLst xmlns:a="http://schemas.openxmlformats.org/drawingml/2006/main">
              <a:ext uri="{FF2B5EF4-FFF2-40B4-BE49-F238E27FC236}">
                <a16:creationId xmlns:a16="http://schemas.microsoft.com/office/drawing/2014/main" id="{2F3CB4EA-6D11-4F9E-B478-46C555541A5E}"/>
              </a:ext>
            </a:extLst>
          </p:cNvPr>
          <p:cNvSpPr>
            <a:spLocks xmlns:a="http://schemas.openxmlformats.org/drawingml/2006/main" noGrp="1"/>
          </p:cNvSpPr>
          <p:nvPr/>
        </p:nvSpPr>
        <p:spPr>
          <a:xfrm xmlns:a="http://schemas.openxmlformats.org/drawingml/2006/main">
            <a:off x="2638425" y="5305425"/>
            <a:ext cx="16573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5F716E"/>
                </a:solidFill>
              </a:defRPr>
            </a:pPr>
            <a:r>
              <a:rPr sz="900" b="1">
                <a:solidFill>
                  <a:srgbClr val="5F716E"/>
                </a:solidFill>
              </a:rPr>
              <a:t>RELIANCE GAP</a:t>
            </a:r>
          </a:p>
        </p:txBody>
      </p:sp>
      <p:sp>
        <p:nvSpPr>
          <p:cNvPr id="17" name="">
            <a:extLst xmlns:a="http://schemas.openxmlformats.org/drawingml/2006/main">
              <a:ext uri="{FF2B5EF4-FFF2-40B4-BE49-F238E27FC236}">
                <a16:creationId xmlns:a16="http://schemas.microsoft.com/office/drawing/2014/main" id="{0AB6B9CC-1DAC-4B18-B129-F0A930D44759}"/>
              </a:ext>
            </a:extLst>
          </p:cNvPr>
          <p:cNvSpPr>
            <a:spLocks xmlns:a="http://schemas.openxmlformats.org/drawingml/2006/main" noGrp="1"/>
          </p:cNvSpPr>
          <p:nvPr/>
        </p:nvSpPr>
        <p:spPr>
          <a:xfrm xmlns:a="http://schemas.openxmlformats.org/drawingml/2006/main">
            <a:off x="2638425" y="5534025"/>
            <a:ext cx="16573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875" b="1">
                <a:solidFill>
                  <a:srgbClr val="F2B84B"/>
                </a:solidFill>
              </a:defRPr>
            </a:pPr>
            <a:r>
              <a:rPr sz="1875" b="1">
                <a:solidFill>
                  <a:srgbClr val="F2B84B"/>
                </a:solidFill>
              </a:rPr>
              <a:t>₹7.61 Cr</a:t>
            </a:r>
          </a:p>
        </p:txBody>
      </p:sp>
      <p:sp>
        <p:nvSpPr>
          <p:cNvPr id="18" name="">
            <a:extLst xmlns:a="http://schemas.openxmlformats.org/drawingml/2006/main">
              <a:ext uri="{FF2B5EF4-FFF2-40B4-BE49-F238E27FC236}">
                <a16:creationId xmlns:a16="http://schemas.microsoft.com/office/drawing/2014/main" id="{7D405CF7-CA2B-4584-AEB6-6BA0D6540733}"/>
              </a:ext>
            </a:extLst>
          </p:cNvPr>
          <p:cNvSpPr>
            <a:spLocks xmlns:a="http://schemas.openxmlformats.org/drawingml/2006/main" noGrp="1"/>
          </p:cNvSpPr>
          <p:nvPr/>
        </p:nvSpPr>
        <p:spPr>
          <a:xfrm xmlns:a="http://schemas.openxmlformats.org/drawingml/2006/main">
            <a:off x="2638425" y="5934075"/>
            <a:ext cx="16573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0">
                <a:solidFill>
                  <a:srgbClr val="5F716E"/>
                </a:solidFill>
              </a:defRPr>
            </a:pPr>
            <a:r>
              <a:rPr sz="825" b="0">
                <a:solidFill>
                  <a:srgbClr val="5F716E"/>
                </a:solidFill>
              </a:rPr>
              <a:t>51.4% conversion</a:t>
            </a:r>
          </a:p>
        </p:txBody>
      </p:sp>
      <p:sp>
        <p:nvSpPr>
          <p:cNvPr id="19" name="">
            <a:extLst xmlns:a="http://schemas.openxmlformats.org/drawingml/2006/main">
              <a:ext uri="{FF2B5EF4-FFF2-40B4-BE49-F238E27FC236}">
                <a16:creationId xmlns:a16="http://schemas.microsoft.com/office/drawing/2014/main" id="{2192250E-84BE-433E-BB6F-2D4FB3B28541}"/>
              </a:ext>
            </a:extLst>
          </p:cNvPr>
          <p:cNvSpPr>
            <a:spLocks xmlns:a="http://schemas.openxmlformats.org/drawingml/2006/main" noGrp="1"/>
          </p:cNvSpPr>
          <p:nvPr/>
        </p:nvSpPr>
        <p:spPr>
          <a:xfrm xmlns:a="http://schemas.openxmlformats.org/drawingml/2006/main">
            <a:off x="4572000" y="5191125"/>
            <a:ext cx="192405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9525">
            <a:solidFill>
              <a:srgbClr val="C8DCD7"/>
            </a:solidFill>
            <a:prstDash val="solid"/>
          </a:ln>
        </p:spPr>
      </p:sp>
      <p:sp>
        <p:nvSpPr>
          <p:cNvPr id="20" name="">
            <a:extLst xmlns:a="http://schemas.openxmlformats.org/drawingml/2006/main">
              <a:ext uri="{FF2B5EF4-FFF2-40B4-BE49-F238E27FC236}">
                <a16:creationId xmlns:a16="http://schemas.microsoft.com/office/drawing/2014/main" id="{A9FCC458-D357-44CF-A363-63ABF3A806A1}"/>
              </a:ext>
            </a:extLst>
          </p:cNvPr>
          <p:cNvSpPr>
            <a:spLocks xmlns:a="http://schemas.openxmlformats.org/drawingml/2006/main" noGrp="1"/>
          </p:cNvSpPr>
          <p:nvPr/>
        </p:nvSpPr>
        <p:spPr>
          <a:xfrm xmlns:a="http://schemas.openxmlformats.org/drawingml/2006/main">
            <a:off x="4572000" y="5191125"/>
            <a:ext cx="76200" cy="1066800"/>
          </a:xfrm>
          <a:prstGeom xmlns:a="http://schemas.openxmlformats.org/drawingml/2006/main" prst="rect">
            <a:avLst/>
          </a:prstGeom>
          <a:solidFill xmlns:a="http://schemas.openxmlformats.org/drawingml/2006/main">
            <a:srgbClr val="2B9A66"/>
          </a:solidFill>
          <a:ln xmlns:a="http://schemas.openxmlformats.org/drawingml/2006/main" w="0">
            <a:solidFill>
              <a:srgbClr val="2B9A66"/>
            </a:solidFill>
            <a:prstDash val="solid"/>
          </a:ln>
        </p:spPr>
      </p:sp>
      <p:sp>
        <p:nvSpPr>
          <p:cNvPr id="21" name="">
            <a:extLst xmlns:a="http://schemas.openxmlformats.org/drawingml/2006/main">
              <a:ext uri="{FF2B5EF4-FFF2-40B4-BE49-F238E27FC236}">
                <a16:creationId xmlns:a16="http://schemas.microsoft.com/office/drawing/2014/main" id="{AF3D7C3D-CC1F-48AE-ADA4-06E9CBA78265}"/>
              </a:ext>
            </a:extLst>
          </p:cNvPr>
          <p:cNvSpPr>
            <a:spLocks xmlns:a="http://schemas.openxmlformats.org/drawingml/2006/main" noGrp="1"/>
          </p:cNvSpPr>
          <p:nvPr/>
        </p:nvSpPr>
        <p:spPr>
          <a:xfrm xmlns:a="http://schemas.openxmlformats.org/drawingml/2006/main">
            <a:off x="4743450" y="5305425"/>
            <a:ext cx="16573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5F716E"/>
                </a:solidFill>
              </a:defRPr>
            </a:pPr>
            <a:r>
              <a:rPr sz="900" b="1">
                <a:solidFill>
                  <a:srgbClr val="5F716E"/>
                </a:solidFill>
              </a:rPr>
              <a:t>APOLLO</a:t>
            </a:r>
          </a:p>
        </p:txBody>
      </p:sp>
      <p:sp>
        <p:nvSpPr>
          <p:cNvPr id="22" name="">
            <a:extLst xmlns:a="http://schemas.openxmlformats.org/drawingml/2006/main">
              <a:ext uri="{FF2B5EF4-FFF2-40B4-BE49-F238E27FC236}">
                <a16:creationId xmlns:a16="http://schemas.microsoft.com/office/drawing/2014/main" id="{B66FE15B-3BB4-4CA7-BBBE-623B7610292C}"/>
              </a:ext>
            </a:extLst>
          </p:cNvPr>
          <p:cNvSpPr>
            <a:spLocks xmlns:a="http://schemas.openxmlformats.org/drawingml/2006/main" noGrp="1"/>
          </p:cNvSpPr>
          <p:nvPr/>
        </p:nvSpPr>
        <p:spPr>
          <a:xfrm xmlns:a="http://schemas.openxmlformats.org/drawingml/2006/main">
            <a:off x="4743450" y="5534025"/>
            <a:ext cx="16573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875" b="1">
                <a:solidFill>
                  <a:srgbClr val="2B9A66"/>
                </a:solidFill>
              </a:defRPr>
            </a:pPr>
            <a:r>
              <a:rPr sz="1875" b="1">
                <a:solidFill>
                  <a:srgbClr val="2B9A66"/>
                </a:solidFill>
              </a:rPr>
              <a:t>99.7%</a:t>
            </a:r>
          </a:p>
        </p:txBody>
      </p:sp>
      <p:sp>
        <p:nvSpPr>
          <p:cNvPr id="23" name="">
            <a:extLst xmlns:a="http://schemas.openxmlformats.org/drawingml/2006/main">
              <a:ext uri="{FF2B5EF4-FFF2-40B4-BE49-F238E27FC236}">
                <a16:creationId xmlns:a16="http://schemas.microsoft.com/office/drawing/2014/main" id="{88BFF415-55C8-4C31-B848-4E88B579014C}"/>
              </a:ext>
            </a:extLst>
          </p:cNvPr>
          <p:cNvSpPr>
            <a:spLocks xmlns:a="http://schemas.openxmlformats.org/drawingml/2006/main" noGrp="1"/>
          </p:cNvSpPr>
          <p:nvPr/>
        </p:nvSpPr>
        <p:spPr>
          <a:xfrm xmlns:a="http://schemas.openxmlformats.org/drawingml/2006/main">
            <a:off x="4743450" y="5934075"/>
            <a:ext cx="16573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0">
                <a:solidFill>
                  <a:srgbClr val="5F716E"/>
                </a:solidFill>
              </a:defRPr>
            </a:pPr>
            <a:r>
              <a:rPr sz="825" b="0">
                <a:solidFill>
                  <a:srgbClr val="5F716E"/>
                </a:solidFill>
              </a:rPr>
              <a:t>Near flow parity</a:t>
            </a:r>
          </a:p>
        </p:txBody>
      </p:sp>
      <p:sp>
        <p:nvSpPr>
          <p:cNvPr id="24" name="">
            <a:extLst xmlns:a="http://schemas.openxmlformats.org/drawingml/2006/main">
              <a:ext uri="{FF2B5EF4-FFF2-40B4-BE49-F238E27FC236}">
                <a16:creationId xmlns:a16="http://schemas.microsoft.com/office/drawing/2014/main" id="{C89894F4-26EE-4CA1-8814-8874ADDF941D}"/>
              </a:ext>
            </a:extLst>
          </p:cNvPr>
          <p:cNvSpPr>
            <a:spLocks xmlns:a="http://schemas.openxmlformats.org/drawingml/2006/main" noGrp="1"/>
          </p:cNvSpPr>
          <p:nvPr/>
        </p:nvSpPr>
        <p:spPr>
          <a:xfrm xmlns:a="http://schemas.openxmlformats.org/drawingml/2006/main">
            <a:off x="361950" y="6667500"/>
            <a:ext cx="6134100" cy="257175"/>
          </a:xfrm>
          <a:prstGeom xmlns:a="http://schemas.openxmlformats.org/drawingml/2006/main" prst="rect">
            <a:avLst/>
          </a:prstGeom>
          <a:solidFill xmlns:a="http://schemas.openxmlformats.org/drawingml/2006/main">
            <a:srgbClr val="116F68"/>
          </a:solidFill>
          <a:ln xmlns:a="http://schemas.openxmlformats.org/drawingml/2006/main" w="0">
            <a:solidFill>
              <a:srgbClr val="116F68"/>
            </a:solidFill>
            <a:prstDash val="solid"/>
          </a:ln>
        </p:spPr>
      </p:sp>
      <p:sp>
        <p:nvSpPr>
          <p:cNvPr id="25" name="">
            <a:extLst xmlns:a="http://schemas.openxmlformats.org/drawingml/2006/main">
              <a:ext uri="{FF2B5EF4-FFF2-40B4-BE49-F238E27FC236}">
                <a16:creationId xmlns:a16="http://schemas.microsoft.com/office/drawing/2014/main" id="{F3974433-26AE-40E0-B7B4-977C5C886728}"/>
              </a:ext>
            </a:extLst>
          </p:cNvPr>
          <p:cNvSpPr>
            <a:spLocks xmlns:a="http://schemas.openxmlformats.org/drawingml/2006/main" noGrp="1"/>
          </p:cNvSpPr>
          <p:nvPr/>
        </p:nvSpPr>
        <p:spPr>
          <a:xfrm xmlns:a="http://schemas.openxmlformats.org/drawingml/2006/main">
            <a:off x="457200" y="6677025"/>
            <a:ext cx="59436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FFFFFF"/>
                </a:solidFill>
              </a:defRPr>
            </a:pPr>
            <a:r>
              <a:rPr sz="900" b="1">
                <a:solidFill>
                  <a:srgbClr val="FFFFFF"/>
                </a:solidFill>
              </a:rPr>
              <a:t>ACCOUNT PLAN</a:t>
            </a:r>
          </a:p>
        </p:txBody>
      </p:sp>
      <p:sp>
        <p:nvSpPr>
          <p:cNvPr id="26" name="">
            <a:extLst xmlns:a="http://schemas.openxmlformats.org/drawingml/2006/main">
              <a:ext uri="{FF2B5EF4-FFF2-40B4-BE49-F238E27FC236}">
                <a16:creationId xmlns:a16="http://schemas.microsoft.com/office/drawing/2014/main" id="{4A219547-1B10-447D-91D7-31811348CF6C}"/>
              </a:ext>
            </a:extLst>
          </p:cNvPr>
          <p:cNvSpPr>
            <a:spLocks xmlns:a="http://schemas.openxmlformats.org/drawingml/2006/main" noGrp="1"/>
          </p:cNvSpPr>
          <p:nvPr/>
        </p:nvSpPr>
        <p:spPr>
          <a:xfrm xmlns:a="http://schemas.openxmlformats.org/drawingml/2006/main">
            <a:off x="476250" y="7096125"/>
            <a:ext cx="1524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D6544D"/>
                </a:solidFill>
              </a:defRPr>
            </a:pPr>
            <a:r>
              <a:rPr sz="900" b="1">
                <a:solidFill>
                  <a:srgbClr val="D6544D"/>
                </a:solidFill>
              </a:rPr>
              <a:t>●</a:t>
            </a:r>
          </a:p>
        </p:txBody>
      </p:sp>
      <p:sp>
        <p:nvSpPr>
          <p:cNvPr id="27" name="">
            <a:extLst xmlns:a="http://schemas.openxmlformats.org/drawingml/2006/main">
              <a:ext uri="{FF2B5EF4-FFF2-40B4-BE49-F238E27FC236}">
                <a16:creationId xmlns:a16="http://schemas.microsoft.com/office/drawing/2014/main" id="{2DC8B4D3-FDFC-4B5A-8117-7686497F3499}"/>
              </a:ext>
            </a:extLst>
          </p:cNvPr>
          <p:cNvSpPr>
            <a:spLocks xmlns:a="http://schemas.openxmlformats.org/drawingml/2006/main" noGrp="1"/>
          </p:cNvSpPr>
          <p:nvPr/>
        </p:nvSpPr>
        <p:spPr>
          <a:xfrm xmlns:a="http://schemas.openxmlformats.org/drawingml/2006/main">
            <a:off x="685800" y="7096125"/>
            <a:ext cx="56959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050" b="0">
                <a:solidFill>
                  <a:srgbClr val="183B39"/>
                </a:solidFill>
              </a:defRPr>
            </a:pPr>
            <a:r>
              <a:rPr sz="1050" b="0">
                <a:solidFill>
                  <a:srgbClr val="183B39"/>
                </a:solidFill>
              </a:rPr>
              <a:t>DMart: attack South‑2 first, then North; review top-SKU store availability and DC-to-store fill.</a:t>
            </a:r>
          </a:p>
        </p:txBody>
      </p:sp>
      <p:sp>
        <p:nvSpPr>
          <p:cNvPr id="28" name="">
            <a:extLst xmlns:a="http://schemas.openxmlformats.org/drawingml/2006/main">
              <a:ext uri="{FF2B5EF4-FFF2-40B4-BE49-F238E27FC236}">
                <a16:creationId xmlns:a16="http://schemas.microsoft.com/office/drawing/2014/main" id="{FD7260DD-BC91-4694-A69A-C4F35812D780}"/>
              </a:ext>
            </a:extLst>
          </p:cNvPr>
          <p:cNvSpPr>
            <a:spLocks xmlns:a="http://schemas.openxmlformats.org/drawingml/2006/main" noGrp="1"/>
          </p:cNvSpPr>
          <p:nvPr/>
        </p:nvSpPr>
        <p:spPr>
          <a:xfrm xmlns:a="http://schemas.openxmlformats.org/drawingml/2006/main">
            <a:off x="476250" y="7724775"/>
            <a:ext cx="1524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F2B84B"/>
                </a:solidFill>
              </a:defRPr>
            </a:pPr>
            <a:r>
              <a:rPr sz="900" b="1">
                <a:solidFill>
                  <a:srgbClr val="F2B84B"/>
                </a:solidFill>
              </a:rPr>
              <a:t>●</a:t>
            </a:r>
          </a:p>
        </p:txBody>
      </p:sp>
      <p:sp>
        <p:nvSpPr>
          <p:cNvPr id="29" name="">
            <a:extLst xmlns:a="http://schemas.openxmlformats.org/drawingml/2006/main">
              <a:ext uri="{FF2B5EF4-FFF2-40B4-BE49-F238E27FC236}">
                <a16:creationId xmlns:a16="http://schemas.microsoft.com/office/drawing/2014/main" id="{F8D1B7AF-8216-48EC-A673-6BA9561095D8}"/>
              </a:ext>
            </a:extLst>
          </p:cNvPr>
          <p:cNvSpPr>
            <a:spLocks xmlns:a="http://schemas.openxmlformats.org/drawingml/2006/main" noGrp="1"/>
          </p:cNvSpPr>
          <p:nvPr/>
        </p:nvSpPr>
        <p:spPr>
          <a:xfrm xmlns:a="http://schemas.openxmlformats.org/drawingml/2006/main">
            <a:off x="685800" y="7724775"/>
            <a:ext cx="56959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050" b="0">
                <a:solidFill>
                  <a:srgbClr val="183B39"/>
                </a:solidFill>
              </a:defRPr>
            </a:pPr>
            <a:r>
              <a:rPr sz="1050" b="0">
                <a:solidFill>
                  <a:srgbClr val="183B39"/>
                </a:solidFill>
              </a:rPr>
              <a:t>Reliance: prioritize North and East; convert billed inventory through chain-specific hero-SKU visibility and replenishment.</a:t>
            </a:r>
          </a:p>
        </p:txBody>
      </p:sp>
      <p:sp>
        <p:nvSpPr>
          <p:cNvPr id="30" name="">
            <a:extLst xmlns:a="http://schemas.openxmlformats.org/drawingml/2006/main">
              <a:ext uri="{FF2B5EF4-FFF2-40B4-BE49-F238E27FC236}">
                <a16:creationId xmlns:a16="http://schemas.microsoft.com/office/drawing/2014/main" id="{6BE0D2F9-E892-4DA1-BB3B-8B850F690527}"/>
              </a:ext>
            </a:extLst>
          </p:cNvPr>
          <p:cNvSpPr>
            <a:spLocks xmlns:a="http://schemas.openxmlformats.org/drawingml/2006/main" noGrp="1"/>
          </p:cNvSpPr>
          <p:nvPr/>
        </p:nvSpPr>
        <p:spPr>
          <a:xfrm xmlns:a="http://schemas.openxmlformats.org/drawingml/2006/main">
            <a:off x="476250" y="8353425"/>
            <a:ext cx="1524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2B9A66"/>
                </a:solidFill>
              </a:defRPr>
            </a:pPr>
            <a:r>
              <a:rPr sz="900" b="1">
                <a:solidFill>
                  <a:srgbClr val="2B9A66"/>
                </a:solidFill>
              </a:rPr>
              <a:t>●</a:t>
            </a:r>
          </a:p>
        </p:txBody>
      </p:sp>
      <p:sp>
        <p:nvSpPr>
          <p:cNvPr id="31" name="">
            <a:extLst xmlns:a="http://schemas.openxmlformats.org/drawingml/2006/main">
              <a:ext uri="{FF2B5EF4-FFF2-40B4-BE49-F238E27FC236}">
                <a16:creationId xmlns:a16="http://schemas.microsoft.com/office/drawing/2014/main" id="{898F8F62-181C-4B2C-B4AD-67BD8B2DB639}"/>
              </a:ext>
            </a:extLst>
          </p:cNvPr>
          <p:cNvSpPr>
            <a:spLocks xmlns:a="http://schemas.openxmlformats.org/drawingml/2006/main" noGrp="1"/>
          </p:cNvSpPr>
          <p:nvPr/>
        </p:nvSpPr>
        <p:spPr>
          <a:xfrm xmlns:a="http://schemas.openxmlformats.org/drawingml/2006/main">
            <a:off x="685800" y="8353425"/>
            <a:ext cx="56959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050" b="0">
                <a:solidFill>
                  <a:srgbClr val="183B39"/>
                </a:solidFill>
              </a:defRPr>
            </a:pPr>
            <a:r>
              <a:rPr sz="1050" b="0">
                <a:solidFill>
                  <a:srgbClr val="183B39"/>
                </a:solidFill>
              </a:rPr>
              <a:t>Apollo: protect cadence and replicate its near-parity review rhythm across strategic accounts.</a:t>
            </a:r>
          </a:p>
        </p:txBody>
      </p:sp>
      <p:sp>
        <p:nvSpPr>
          <p:cNvPr id="32" name="">
            <a:extLst xmlns:a="http://schemas.openxmlformats.org/drawingml/2006/main">
              <a:ext uri="{FF2B5EF4-FFF2-40B4-BE49-F238E27FC236}">
                <a16:creationId xmlns:a16="http://schemas.microsoft.com/office/drawing/2014/main" id="{427BB3F9-B714-49A3-9E89-B13A61E3E4B7}"/>
              </a:ext>
            </a:extLst>
          </p:cNvPr>
          <p:cNvSpPr>
            <a:spLocks xmlns:a="http://schemas.openxmlformats.org/drawingml/2006/main" noGrp="1"/>
          </p:cNvSpPr>
          <p:nvPr/>
        </p:nvSpPr>
        <p:spPr>
          <a:xfrm xmlns:a="http://schemas.openxmlformats.org/drawingml/2006/main">
            <a:off x="476250" y="8982075"/>
            <a:ext cx="1524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28A596"/>
                </a:solidFill>
              </a:defRPr>
            </a:pPr>
            <a:r>
              <a:rPr sz="900" b="1">
                <a:solidFill>
                  <a:srgbClr val="28A596"/>
                </a:solidFill>
              </a:rPr>
              <a:t>●</a:t>
            </a:r>
          </a:p>
        </p:txBody>
      </p:sp>
      <p:sp>
        <p:nvSpPr>
          <p:cNvPr id="33" name="">
            <a:extLst xmlns:a="http://schemas.openxmlformats.org/drawingml/2006/main">
              <a:ext uri="{FF2B5EF4-FFF2-40B4-BE49-F238E27FC236}">
                <a16:creationId xmlns:a16="http://schemas.microsoft.com/office/drawing/2014/main" id="{7127FEC0-41A2-47A8-9109-F28DA4A077EF}"/>
              </a:ext>
            </a:extLst>
          </p:cNvPr>
          <p:cNvSpPr>
            <a:spLocks xmlns:a="http://schemas.openxmlformats.org/drawingml/2006/main" noGrp="1"/>
          </p:cNvSpPr>
          <p:nvPr/>
        </p:nvSpPr>
        <p:spPr>
          <a:xfrm xmlns:a="http://schemas.openxmlformats.org/drawingml/2006/main">
            <a:off x="685800" y="8982075"/>
            <a:ext cx="56959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050" b="0">
                <a:solidFill>
                  <a:srgbClr val="183B39"/>
                </a:solidFill>
              </a:defRPr>
            </a:pPr>
            <a:r>
              <a:rPr sz="1050" b="0">
                <a:solidFill>
                  <a:srgbClr val="183B39"/>
                </a:solidFill>
              </a:rPr>
              <a:t>Chains above 100% cannot be called over-converted without opening stock; investigate distributor and timing coverage.</a:t>
            </a:r>
          </a:p>
        </p:txBody>
      </p:sp>
      <p:sp>
        <p:nvSpPr>
          <p:cNvPr id="34" name="">
            <a:extLst xmlns:a="http://schemas.openxmlformats.org/drawingml/2006/main">
              <a:ext uri="{FF2B5EF4-FFF2-40B4-BE49-F238E27FC236}">
                <a16:creationId xmlns:a16="http://schemas.microsoft.com/office/drawing/2014/main" id="{4D33A10C-2278-4B77-9AF5-E7C9186D080B}"/>
              </a:ext>
            </a:extLst>
          </p:cNvPr>
          <p:cNvSpPr>
            <a:spLocks xmlns:a="http://schemas.openxmlformats.org/drawingml/2006/main" noGrp="1"/>
          </p:cNvSpPr>
          <p:nvPr/>
        </p:nvSpPr>
        <p:spPr>
          <a:xfrm xmlns:a="http://schemas.openxmlformats.org/drawingml/2006/main">
            <a:off x="361950" y="9667875"/>
            <a:ext cx="1924050" cy="1524000"/>
          </a:xfrm>
          <a:prstGeom xmlns:a="http://schemas.openxmlformats.org/drawingml/2006/main" prst="roundRect">
            <a:avLst>
              <a:gd name="adj" fmla="val 5000"/>
            </a:avLst>
          </a:prstGeom>
          <a:solidFill xmlns:a="http://schemas.openxmlformats.org/drawingml/2006/main">
            <a:srgbClr val="FFFFFF"/>
          </a:solidFill>
          <a:ln xmlns:a="http://schemas.openxmlformats.org/drawingml/2006/main" w="9525">
            <a:solidFill>
              <a:srgbClr val="C8DCD7"/>
            </a:solidFill>
            <a:prstDash val="solid"/>
          </a:ln>
        </p:spPr>
      </p:sp>
      <p:sp>
        <p:nvSpPr>
          <p:cNvPr id="35" name="">
            <a:extLst xmlns:a="http://schemas.openxmlformats.org/drawingml/2006/main">
              <a:ext uri="{FF2B5EF4-FFF2-40B4-BE49-F238E27FC236}">
                <a16:creationId xmlns:a16="http://schemas.microsoft.com/office/drawing/2014/main" id="{99CB0BF1-A2A4-400C-8DB0-D3A0F62C314C}"/>
              </a:ext>
            </a:extLst>
          </p:cNvPr>
          <p:cNvSpPr>
            <a:spLocks xmlns:a="http://schemas.openxmlformats.org/drawingml/2006/main" noGrp="1"/>
          </p:cNvSpPr>
          <p:nvPr/>
        </p:nvSpPr>
        <p:spPr>
          <a:xfrm xmlns:a="http://schemas.openxmlformats.org/drawingml/2006/main">
            <a:off x="361950" y="9667875"/>
            <a:ext cx="1924050" cy="285750"/>
          </a:xfrm>
          <a:prstGeom xmlns:a="http://schemas.openxmlformats.org/drawingml/2006/main" prst="rect">
            <a:avLst/>
          </a:prstGeom>
          <a:solidFill xmlns:a="http://schemas.openxmlformats.org/drawingml/2006/main">
            <a:srgbClr val="D6544D"/>
          </a:solidFill>
          <a:ln xmlns:a="http://schemas.openxmlformats.org/drawingml/2006/main" w="0">
            <a:solidFill>
              <a:srgbClr val="D6544D"/>
            </a:solidFill>
            <a:prstDash val="solid"/>
          </a:ln>
        </p:spPr>
      </p:sp>
      <p:sp>
        <p:nvSpPr>
          <p:cNvPr id="36" name="">
            <a:extLst xmlns:a="http://schemas.openxmlformats.org/drawingml/2006/main">
              <a:ext uri="{FF2B5EF4-FFF2-40B4-BE49-F238E27FC236}">
                <a16:creationId xmlns:a16="http://schemas.microsoft.com/office/drawing/2014/main" id="{848A40EA-3485-4E37-885A-9FFF772D8707}"/>
              </a:ext>
            </a:extLst>
          </p:cNvPr>
          <p:cNvSpPr>
            <a:spLocks xmlns:a="http://schemas.openxmlformats.org/drawingml/2006/main" noGrp="1"/>
          </p:cNvSpPr>
          <p:nvPr/>
        </p:nvSpPr>
        <p:spPr>
          <a:xfrm xmlns:a="http://schemas.openxmlformats.org/drawingml/2006/main">
            <a:off x="447675" y="9686925"/>
            <a:ext cx="17526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788" b="1">
                <a:solidFill>
                  <a:srgbClr val="FFFFFF"/>
                </a:solidFill>
              </a:defRPr>
            </a:pPr>
            <a:r>
              <a:rPr sz="788" b="1">
                <a:solidFill>
                  <a:srgbClr val="FFFFFF"/>
                </a:solidFill>
              </a:rPr>
              <a:t>RECOVER</a:t>
            </a:r>
          </a:p>
        </p:txBody>
      </p:sp>
      <p:sp>
        <p:nvSpPr>
          <p:cNvPr id="37" name="">
            <a:extLst xmlns:a="http://schemas.openxmlformats.org/drawingml/2006/main">
              <a:ext uri="{FF2B5EF4-FFF2-40B4-BE49-F238E27FC236}">
                <a16:creationId xmlns:a16="http://schemas.microsoft.com/office/drawing/2014/main" id="{1C9E0E5F-C7E5-49CD-8DE9-1DA15EBA99C4}"/>
              </a:ext>
            </a:extLst>
          </p:cNvPr>
          <p:cNvSpPr>
            <a:spLocks xmlns:a="http://schemas.openxmlformats.org/drawingml/2006/main" noGrp="1"/>
          </p:cNvSpPr>
          <p:nvPr/>
        </p:nvSpPr>
        <p:spPr>
          <a:xfrm xmlns:a="http://schemas.openxmlformats.org/drawingml/2006/main">
            <a:off x="495300" y="10048875"/>
            <a:ext cx="1657350"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350" b="1">
                <a:solidFill>
                  <a:srgbClr val="D6544D"/>
                </a:solidFill>
              </a:defRPr>
            </a:pPr>
            <a:r>
              <a:rPr sz="1350" b="1">
                <a:solidFill>
                  <a:srgbClr val="D6544D"/>
                </a:solidFill>
              </a:rPr>
              <a:t>₹11.89 Cr</a:t>
            </a:r>
          </a:p>
        </p:txBody>
      </p:sp>
      <p:sp>
        <p:nvSpPr>
          <p:cNvPr id="38" name="">
            <a:extLst xmlns:a="http://schemas.openxmlformats.org/drawingml/2006/main">
              <a:ext uri="{FF2B5EF4-FFF2-40B4-BE49-F238E27FC236}">
                <a16:creationId xmlns:a16="http://schemas.microsoft.com/office/drawing/2014/main" id="{B4664BBA-3BB2-4566-A2F9-0BA39B65BACE}"/>
              </a:ext>
            </a:extLst>
          </p:cNvPr>
          <p:cNvSpPr>
            <a:spLocks xmlns:a="http://schemas.openxmlformats.org/drawingml/2006/main" noGrp="1"/>
          </p:cNvSpPr>
          <p:nvPr/>
        </p:nvSpPr>
        <p:spPr>
          <a:xfrm xmlns:a="http://schemas.openxmlformats.org/drawingml/2006/main">
            <a:off x="514350" y="10401300"/>
            <a:ext cx="16192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788" b="0">
                <a:solidFill>
                  <a:srgbClr val="183B39"/>
                </a:solidFill>
              </a:defRPr>
            </a:pPr>
            <a:r>
              <a:rPr sz="788" b="0">
                <a:solidFill>
                  <a:srgbClr val="183B39"/>
                </a:solidFill>
              </a:rPr>
              <a:t>DMart + Reliance combined flow gap; close chain-zone-EAN exceptions.</a:t>
            </a:r>
          </a:p>
        </p:txBody>
      </p:sp>
      <p:sp>
        <p:nvSpPr>
          <p:cNvPr id="39" name="">
            <a:extLst xmlns:a="http://schemas.openxmlformats.org/drawingml/2006/main">
              <a:ext uri="{FF2B5EF4-FFF2-40B4-BE49-F238E27FC236}">
                <a16:creationId xmlns:a16="http://schemas.microsoft.com/office/drawing/2014/main" id="{01FE4228-8235-45DB-92A1-6D38174AA647}"/>
              </a:ext>
            </a:extLst>
          </p:cNvPr>
          <p:cNvSpPr>
            <a:spLocks xmlns:a="http://schemas.openxmlformats.org/drawingml/2006/main" noGrp="1"/>
          </p:cNvSpPr>
          <p:nvPr/>
        </p:nvSpPr>
        <p:spPr>
          <a:xfrm xmlns:a="http://schemas.openxmlformats.org/drawingml/2006/main">
            <a:off x="2466975" y="9667875"/>
            <a:ext cx="1924050" cy="1524000"/>
          </a:xfrm>
          <a:prstGeom xmlns:a="http://schemas.openxmlformats.org/drawingml/2006/main" prst="roundRect">
            <a:avLst>
              <a:gd name="adj" fmla="val 5000"/>
            </a:avLst>
          </a:prstGeom>
          <a:solidFill xmlns:a="http://schemas.openxmlformats.org/drawingml/2006/main">
            <a:srgbClr val="FFFFFF"/>
          </a:solidFill>
          <a:ln xmlns:a="http://schemas.openxmlformats.org/drawingml/2006/main" w="9525">
            <a:solidFill>
              <a:srgbClr val="C8DCD7"/>
            </a:solidFill>
            <a:prstDash val="solid"/>
          </a:ln>
        </p:spPr>
      </p:sp>
      <p:sp>
        <p:nvSpPr>
          <p:cNvPr id="40" name="">
            <a:extLst xmlns:a="http://schemas.openxmlformats.org/drawingml/2006/main">
              <a:ext uri="{FF2B5EF4-FFF2-40B4-BE49-F238E27FC236}">
                <a16:creationId xmlns:a16="http://schemas.microsoft.com/office/drawing/2014/main" id="{B24040C4-DC0A-4B60-8AE1-50FBA33BDF31}"/>
              </a:ext>
            </a:extLst>
          </p:cNvPr>
          <p:cNvSpPr>
            <a:spLocks xmlns:a="http://schemas.openxmlformats.org/drawingml/2006/main" noGrp="1"/>
          </p:cNvSpPr>
          <p:nvPr/>
        </p:nvSpPr>
        <p:spPr>
          <a:xfrm xmlns:a="http://schemas.openxmlformats.org/drawingml/2006/main">
            <a:off x="2466975" y="9667875"/>
            <a:ext cx="1924050" cy="285750"/>
          </a:xfrm>
          <a:prstGeom xmlns:a="http://schemas.openxmlformats.org/drawingml/2006/main" prst="rect">
            <a:avLst/>
          </a:prstGeom>
          <a:solidFill xmlns:a="http://schemas.openxmlformats.org/drawingml/2006/main">
            <a:srgbClr val="2B9A66"/>
          </a:solidFill>
          <a:ln xmlns:a="http://schemas.openxmlformats.org/drawingml/2006/main" w="0">
            <a:solidFill>
              <a:srgbClr val="2B9A66"/>
            </a:solidFill>
            <a:prstDash val="solid"/>
          </a:ln>
        </p:spPr>
      </p:sp>
      <p:sp>
        <p:nvSpPr>
          <p:cNvPr id="41" name="">
            <a:extLst xmlns:a="http://schemas.openxmlformats.org/drawingml/2006/main">
              <a:ext uri="{FF2B5EF4-FFF2-40B4-BE49-F238E27FC236}">
                <a16:creationId xmlns:a16="http://schemas.microsoft.com/office/drawing/2014/main" id="{D69ADC6E-163D-479D-BAE7-6A17F8B8B999}"/>
              </a:ext>
            </a:extLst>
          </p:cNvPr>
          <p:cNvSpPr>
            <a:spLocks xmlns:a="http://schemas.openxmlformats.org/drawingml/2006/main" noGrp="1"/>
          </p:cNvSpPr>
          <p:nvPr/>
        </p:nvSpPr>
        <p:spPr>
          <a:xfrm xmlns:a="http://schemas.openxmlformats.org/drawingml/2006/main">
            <a:off x="2552700" y="9686925"/>
            <a:ext cx="17526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788" b="1">
                <a:solidFill>
                  <a:srgbClr val="FFFFFF"/>
                </a:solidFill>
              </a:defRPr>
            </a:pPr>
            <a:r>
              <a:rPr sz="788" b="1">
                <a:solidFill>
                  <a:srgbClr val="FFFFFF"/>
                </a:solidFill>
              </a:rPr>
              <a:t>REPLICATE</a:t>
            </a:r>
          </a:p>
        </p:txBody>
      </p:sp>
      <p:sp>
        <p:nvSpPr>
          <p:cNvPr id="42" name="">
            <a:extLst xmlns:a="http://schemas.openxmlformats.org/drawingml/2006/main">
              <a:ext uri="{FF2B5EF4-FFF2-40B4-BE49-F238E27FC236}">
                <a16:creationId xmlns:a16="http://schemas.microsoft.com/office/drawing/2014/main" id="{2D9664DC-988C-42B2-B206-7443C55D49AF}"/>
              </a:ext>
            </a:extLst>
          </p:cNvPr>
          <p:cNvSpPr>
            <a:spLocks xmlns:a="http://schemas.openxmlformats.org/drawingml/2006/main" noGrp="1"/>
          </p:cNvSpPr>
          <p:nvPr/>
        </p:nvSpPr>
        <p:spPr>
          <a:xfrm xmlns:a="http://schemas.openxmlformats.org/drawingml/2006/main">
            <a:off x="2600325" y="10048875"/>
            <a:ext cx="1657350"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350" b="1">
                <a:solidFill>
                  <a:srgbClr val="2B9A66"/>
                </a:solidFill>
              </a:defRPr>
            </a:pPr>
            <a:r>
              <a:rPr sz="1350" b="1">
                <a:solidFill>
                  <a:srgbClr val="2B9A66"/>
                </a:solidFill>
              </a:rPr>
              <a:t>99.7%</a:t>
            </a:r>
          </a:p>
        </p:txBody>
      </p:sp>
      <p:sp>
        <p:nvSpPr>
          <p:cNvPr id="43" name="">
            <a:extLst xmlns:a="http://schemas.openxmlformats.org/drawingml/2006/main">
              <a:ext uri="{FF2B5EF4-FFF2-40B4-BE49-F238E27FC236}">
                <a16:creationId xmlns:a16="http://schemas.microsoft.com/office/drawing/2014/main" id="{36E41D97-FF16-4670-931E-1BE3BF9340B2}"/>
              </a:ext>
            </a:extLst>
          </p:cNvPr>
          <p:cNvSpPr>
            <a:spLocks xmlns:a="http://schemas.openxmlformats.org/drawingml/2006/main" noGrp="1"/>
          </p:cNvSpPr>
          <p:nvPr/>
        </p:nvSpPr>
        <p:spPr>
          <a:xfrm xmlns:a="http://schemas.openxmlformats.org/drawingml/2006/main">
            <a:off x="2619375" y="10401300"/>
            <a:ext cx="16192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788" b="0">
                <a:solidFill>
                  <a:srgbClr val="183B39"/>
                </a:solidFill>
              </a:defRPr>
            </a:pPr>
            <a:r>
              <a:rPr sz="788" b="0">
                <a:solidFill>
                  <a:srgbClr val="183B39"/>
                </a:solidFill>
              </a:rPr>
              <a:t>Apollo conversion; standardize its replenishment and review cadence.</a:t>
            </a:r>
          </a:p>
        </p:txBody>
      </p:sp>
      <p:sp>
        <p:nvSpPr>
          <p:cNvPr id="44" name="">
            <a:extLst xmlns:a="http://schemas.openxmlformats.org/drawingml/2006/main">
              <a:ext uri="{FF2B5EF4-FFF2-40B4-BE49-F238E27FC236}">
                <a16:creationId xmlns:a16="http://schemas.microsoft.com/office/drawing/2014/main" id="{ABA667B3-3B0F-4E1F-8E84-D0F2EC7AC746}"/>
              </a:ext>
            </a:extLst>
          </p:cNvPr>
          <p:cNvSpPr>
            <a:spLocks xmlns:a="http://schemas.openxmlformats.org/drawingml/2006/main" noGrp="1"/>
          </p:cNvSpPr>
          <p:nvPr/>
        </p:nvSpPr>
        <p:spPr>
          <a:xfrm xmlns:a="http://schemas.openxmlformats.org/drawingml/2006/main">
            <a:off x="4572000" y="9667875"/>
            <a:ext cx="1924050" cy="1524000"/>
          </a:xfrm>
          <a:prstGeom xmlns:a="http://schemas.openxmlformats.org/drawingml/2006/main" prst="roundRect">
            <a:avLst>
              <a:gd name="adj" fmla="val 5000"/>
            </a:avLst>
          </a:prstGeom>
          <a:solidFill xmlns:a="http://schemas.openxmlformats.org/drawingml/2006/main">
            <a:srgbClr val="FFFFFF"/>
          </a:solidFill>
          <a:ln xmlns:a="http://schemas.openxmlformats.org/drawingml/2006/main" w="9525">
            <a:solidFill>
              <a:srgbClr val="C8DCD7"/>
            </a:solidFill>
            <a:prstDash val="solid"/>
          </a:ln>
        </p:spPr>
      </p:sp>
      <p:sp>
        <p:nvSpPr>
          <p:cNvPr id="45" name="">
            <a:extLst xmlns:a="http://schemas.openxmlformats.org/drawingml/2006/main">
              <a:ext uri="{FF2B5EF4-FFF2-40B4-BE49-F238E27FC236}">
                <a16:creationId xmlns:a16="http://schemas.microsoft.com/office/drawing/2014/main" id="{2EBDCEB3-8D4B-448E-B8C2-9496DD41071D}"/>
              </a:ext>
            </a:extLst>
          </p:cNvPr>
          <p:cNvSpPr>
            <a:spLocks xmlns:a="http://schemas.openxmlformats.org/drawingml/2006/main" noGrp="1"/>
          </p:cNvSpPr>
          <p:nvPr/>
        </p:nvSpPr>
        <p:spPr>
          <a:xfrm xmlns:a="http://schemas.openxmlformats.org/drawingml/2006/main">
            <a:off x="4572000" y="9667875"/>
            <a:ext cx="1924050" cy="285750"/>
          </a:xfrm>
          <a:prstGeom xmlns:a="http://schemas.openxmlformats.org/drawingml/2006/main" prst="rect">
            <a:avLst/>
          </a:prstGeom>
          <a:solidFill xmlns:a="http://schemas.openxmlformats.org/drawingml/2006/main">
            <a:srgbClr val="F2B84B"/>
          </a:solidFill>
          <a:ln xmlns:a="http://schemas.openxmlformats.org/drawingml/2006/main" w="0">
            <a:solidFill>
              <a:srgbClr val="F2B84B"/>
            </a:solidFill>
            <a:prstDash val="solid"/>
          </a:ln>
        </p:spPr>
      </p:sp>
      <p:sp>
        <p:nvSpPr>
          <p:cNvPr id="46" name="">
            <a:extLst xmlns:a="http://schemas.openxmlformats.org/drawingml/2006/main">
              <a:ext uri="{FF2B5EF4-FFF2-40B4-BE49-F238E27FC236}">
                <a16:creationId xmlns:a16="http://schemas.microsoft.com/office/drawing/2014/main" id="{448829D1-874D-46F5-81C4-388CCD18F30E}"/>
              </a:ext>
            </a:extLst>
          </p:cNvPr>
          <p:cNvSpPr>
            <a:spLocks xmlns:a="http://schemas.openxmlformats.org/drawingml/2006/main" noGrp="1"/>
          </p:cNvSpPr>
          <p:nvPr/>
        </p:nvSpPr>
        <p:spPr>
          <a:xfrm xmlns:a="http://schemas.openxmlformats.org/drawingml/2006/main">
            <a:off x="4657725" y="9686925"/>
            <a:ext cx="17526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788" b="1">
                <a:solidFill>
                  <a:srgbClr val="FFFFFF"/>
                </a:solidFill>
              </a:defRPr>
            </a:pPr>
            <a:r>
              <a:rPr sz="788" b="1">
                <a:solidFill>
                  <a:srgbClr val="FFFFFF"/>
                </a:solidFill>
              </a:rPr>
              <a:t>CONTROL</a:t>
            </a:r>
          </a:p>
        </p:txBody>
      </p:sp>
      <p:sp>
        <p:nvSpPr>
          <p:cNvPr id="47" name="">
            <a:extLst xmlns:a="http://schemas.openxmlformats.org/drawingml/2006/main">
              <a:ext uri="{FF2B5EF4-FFF2-40B4-BE49-F238E27FC236}">
                <a16:creationId xmlns:a16="http://schemas.microsoft.com/office/drawing/2014/main" id="{F83CC6DE-F1CB-4956-B6EA-AF6043093CF2}"/>
              </a:ext>
            </a:extLst>
          </p:cNvPr>
          <p:cNvSpPr>
            <a:spLocks xmlns:a="http://schemas.openxmlformats.org/drawingml/2006/main" noGrp="1"/>
          </p:cNvSpPr>
          <p:nvPr/>
        </p:nvSpPr>
        <p:spPr>
          <a:xfrm xmlns:a="http://schemas.openxmlformats.org/drawingml/2006/main">
            <a:off x="4705350" y="10048875"/>
            <a:ext cx="1657350"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350" b="1">
                <a:solidFill>
                  <a:srgbClr val="F2B84B"/>
                </a:solidFill>
              </a:defRPr>
            </a:pPr>
            <a:r>
              <a:rPr sz="1350" b="1">
                <a:solidFill>
                  <a:srgbClr val="F2B84B"/>
                </a:solidFill>
              </a:rPr>
              <a:t>&gt;100%</a:t>
            </a:r>
          </a:p>
        </p:txBody>
      </p:sp>
      <p:sp>
        <p:nvSpPr>
          <p:cNvPr id="48" name="">
            <a:extLst xmlns:a="http://schemas.openxmlformats.org/drawingml/2006/main">
              <a:ext uri="{FF2B5EF4-FFF2-40B4-BE49-F238E27FC236}">
                <a16:creationId xmlns:a16="http://schemas.microsoft.com/office/drawing/2014/main" id="{2BC5E26E-EE7F-4F9C-B68D-3E22CF303B07}"/>
              </a:ext>
            </a:extLst>
          </p:cNvPr>
          <p:cNvSpPr>
            <a:spLocks xmlns:a="http://schemas.openxmlformats.org/drawingml/2006/main" noGrp="1"/>
          </p:cNvSpPr>
          <p:nvPr/>
        </p:nvSpPr>
        <p:spPr>
          <a:xfrm xmlns:a="http://schemas.openxmlformats.org/drawingml/2006/main">
            <a:off x="4724400" y="10401300"/>
            <a:ext cx="16192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788" b="0">
                <a:solidFill>
                  <a:srgbClr val="183B39"/>
                </a:solidFill>
              </a:defRPr>
            </a:pPr>
            <a:r>
              <a:rPr sz="788" b="0">
                <a:solidFill>
                  <a:srgbClr val="183B39"/>
                </a:solidFill>
              </a:rPr>
              <a:t>Treat as stock/timing signal until opening inventory is reconciled.</a:t>
            </a:r>
          </a:p>
        </p:txBody>
      </p:sp>
      <p:sp>
        <p:nvSpPr>
          <p:cNvPr id="49" name="">
            <a:extLst xmlns:a="http://schemas.openxmlformats.org/drawingml/2006/main">
              <a:ext uri="{FF2B5EF4-FFF2-40B4-BE49-F238E27FC236}">
                <a16:creationId xmlns:a16="http://schemas.microsoft.com/office/drawing/2014/main" id="{6B859F1E-1261-4033-9B38-892913D7121B}"/>
              </a:ext>
            </a:extLst>
          </p:cNvPr>
          <p:cNvSpPr>
            <a:spLocks xmlns:a="http://schemas.openxmlformats.org/drawingml/2006/main" noGrp="1"/>
          </p:cNvSpPr>
          <p:nvPr/>
        </p:nvSpPr>
        <p:spPr>
          <a:xfrm xmlns:a="http://schemas.openxmlformats.org/drawingml/2006/main">
            <a:off x="361950" y="11544300"/>
            <a:ext cx="6134100" cy="457200"/>
          </a:xfrm>
          <a:prstGeom xmlns:a="http://schemas.openxmlformats.org/drawingml/2006/main" prst="roundRect">
            <a:avLst>
              <a:gd name="adj" fmla="val 16667"/>
            </a:avLst>
          </a:prstGeom>
          <a:solidFill xmlns:a="http://schemas.openxmlformats.org/drawingml/2006/main">
            <a:srgbClr val="DFF2ED"/>
          </a:solidFill>
          <a:ln xmlns:a="http://schemas.openxmlformats.org/drawingml/2006/main" w="9525">
            <a:solidFill>
              <a:srgbClr val="28A596"/>
            </a:solidFill>
            <a:prstDash val="solid"/>
          </a:ln>
        </p:spPr>
      </p:sp>
      <p:sp>
        <p:nvSpPr>
          <p:cNvPr id="50" name="">
            <a:extLst xmlns:a="http://schemas.openxmlformats.org/drawingml/2006/main">
              <a:ext uri="{FF2B5EF4-FFF2-40B4-BE49-F238E27FC236}">
                <a16:creationId xmlns:a16="http://schemas.microsoft.com/office/drawing/2014/main" id="{420C07F2-BB03-4988-A9A5-9D81D1997F3C}"/>
              </a:ext>
            </a:extLst>
          </p:cNvPr>
          <p:cNvSpPr>
            <a:spLocks xmlns:a="http://schemas.openxmlformats.org/drawingml/2006/main" noGrp="1"/>
          </p:cNvSpPr>
          <p:nvPr/>
        </p:nvSpPr>
        <p:spPr>
          <a:xfrm xmlns:a="http://schemas.openxmlformats.org/drawingml/2006/main">
            <a:off x="438150" y="11582400"/>
            <a:ext cx="142875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38" b="1">
                <a:solidFill>
                  <a:srgbClr val="116F68"/>
                </a:solidFill>
              </a:defRPr>
            </a:pPr>
            <a:r>
              <a:rPr sz="638" b="1">
                <a:solidFill>
                  <a:srgbClr val="116F68"/>
                </a:solidFill>
              </a:rPr>
              <a:t>EVIDENCE</a:t>
            </a:r>
          </a:p>
        </p:txBody>
      </p:sp>
      <p:sp>
        <p:nvSpPr>
          <p:cNvPr id="51" name="">
            <a:extLst xmlns:a="http://schemas.openxmlformats.org/drawingml/2006/main">
              <a:ext uri="{FF2B5EF4-FFF2-40B4-BE49-F238E27FC236}">
                <a16:creationId xmlns:a16="http://schemas.microsoft.com/office/drawing/2014/main" id="{AF52B7BC-CE52-4A28-BE0C-AAE51B7BE528}"/>
              </a:ext>
            </a:extLst>
          </p:cNvPr>
          <p:cNvSpPr>
            <a:spLocks xmlns:a="http://schemas.openxmlformats.org/drawingml/2006/main" noGrp="1"/>
          </p:cNvSpPr>
          <p:nvPr/>
        </p:nvSpPr>
        <p:spPr>
          <a:xfrm xmlns:a="http://schemas.openxmlformats.org/drawingml/2006/main">
            <a:off x="438150" y="11734800"/>
            <a:ext cx="1428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00" b="0">
                <a:solidFill>
                  <a:srgbClr val="183B39"/>
                </a:solidFill>
              </a:defRPr>
            </a:pPr>
            <a:r>
              <a:rPr sz="600" b="0">
                <a:solidFill>
                  <a:srgbClr val="183B39"/>
                </a:solidFill>
              </a:rPr>
              <a:t>DMart ₹4.29 Cr gap (76.5% conv); Reliance ₹7.61 Cr gap (51.4% conv); Apollo ₹0.02 Cr gap (99.7% conv); two chains = 90.7% of gap; Reliance FYTD primary Apr–Jul 26: ₹47.53 Cr (₹15.66 Cr in Jul alone)</a:t>
            </a:r>
          </a:p>
        </p:txBody>
      </p:sp>
      <p:sp>
        <p:nvSpPr>
          <p:cNvPr id="52" name="">
            <a:extLst xmlns:a="http://schemas.openxmlformats.org/drawingml/2006/main">
              <a:ext uri="{FF2B5EF4-FFF2-40B4-BE49-F238E27FC236}">
                <a16:creationId xmlns:a16="http://schemas.microsoft.com/office/drawing/2014/main" id="{9077E361-C1A3-4F48-8F46-F63F0737AD7F}"/>
              </a:ext>
            </a:extLst>
          </p:cNvPr>
          <p:cNvSpPr>
            <a:spLocks xmlns:a="http://schemas.openxmlformats.org/drawingml/2006/main" noGrp="1"/>
          </p:cNvSpPr>
          <p:nvPr/>
        </p:nvSpPr>
        <p:spPr>
          <a:xfrm xmlns:a="http://schemas.openxmlformats.org/drawingml/2006/main">
            <a:off x="1924050" y="11610975"/>
            <a:ext cx="0" cy="304800"/>
          </a:xfrm>
          <a:prstGeom xmlns:a="http://schemas.openxmlformats.org/drawingml/2006/main" prst="line">
            <a:avLst/>
          </a:prstGeom>
          <a:ln xmlns:a="http://schemas.openxmlformats.org/drawingml/2006/main" w="9525">
            <a:solidFill>
              <a:srgbClr val="C8DCD7"/>
            </a:solidFill>
            <a:prstDash val="solid"/>
          </a:ln>
        </p:spPr>
      </p:sp>
      <p:sp>
        <p:nvSpPr>
          <p:cNvPr id="53" name="">
            <a:extLst xmlns:a="http://schemas.openxmlformats.org/drawingml/2006/main">
              <a:ext uri="{FF2B5EF4-FFF2-40B4-BE49-F238E27FC236}">
                <a16:creationId xmlns:a16="http://schemas.microsoft.com/office/drawing/2014/main" id="{76592DA6-594D-4860-9355-B760682029C4}"/>
              </a:ext>
            </a:extLst>
          </p:cNvPr>
          <p:cNvSpPr>
            <a:spLocks xmlns:a="http://schemas.openxmlformats.org/drawingml/2006/main" noGrp="1"/>
          </p:cNvSpPr>
          <p:nvPr/>
        </p:nvSpPr>
        <p:spPr>
          <a:xfrm xmlns:a="http://schemas.openxmlformats.org/drawingml/2006/main">
            <a:off x="1952625" y="11582400"/>
            <a:ext cx="142875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38" b="1">
                <a:solidFill>
                  <a:srgbClr val="116F68"/>
                </a:solidFill>
              </a:defRPr>
            </a:pPr>
            <a:r>
              <a:rPr sz="638" b="1">
                <a:solidFill>
                  <a:srgbClr val="116F68"/>
                </a:solidFill>
              </a:rPr>
              <a:t>IMPLICATION</a:t>
            </a:r>
          </a:p>
        </p:txBody>
      </p:sp>
      <p:sp>
        <p:nvSpPr>
          <p:cNvPr id="54" name="">
            <a:extLst xmlns:a="http://schemas.openxmlformats.org/drawingml/2006/main">
              <a:ext uri="{FF2B5EF4-FFF2-40B4-BE49-F238E27FC236}">
                <a16:creationId xmlns:a16="http://schemas.microsoft.com/office/drawing/2014/main" id="{C74BADAA-A2E4-43B4-B035-354A63AEDDA4}"/>
              </a:ext>
            </a:extLst>
          </p:cNvPr>
          <p:cNvSpPr>
            <a:spLocks xmlns:a="http://schemas.openxmlformats.org/drawingml/2006/main" noGrp="1"/>
          </p:cNvSpPr>
          <p:nvPr/>
        </p:nvSpPr>
        <p:spPr>
          <a:xfrm xmlns:a="http://schemas.openxmlformats.org/drawingml/2006/main">
            <a:off x="1952625" y="11734800"/>
            <a:ext cx="1428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00" b="0">
                <a:solidFill>
                  <a:srgbClr val="183B39"/>
                </a:solidFill>
              </a:defRPr>
            </a:pPr>
            <a:r>
              <a:rPr sz="600" b="0">
                <a:solidFill>
                  <a:srgbClr val="183B39"/>
                </a:solidFill>
              </a:rPr>
              <a:t>Apollo 99.7% confirms real demand. Reliance ₹7.61 Cr gap = Paisa Vasool build (LY: offtake +46.4% Aug-25; primary Jul-25 ₹6.68→Aug-25 ₹5.42 Cr); net gap may shrink post-Aug — validate before remedial action. DMart 76.5% gap is structural, act now</a:t>
            </a:r>
          </a:p>
        </p:txBody>
      </p:sp>
      <p:sp>
        <p:nvSpPr>
          <p:cNvPr id="55" name="">
            <a:extLst xmlns:a="http://schemas.openxmlformats.org/drawingml/2006/main">
              <a:ext uri="{FF2B5EF4-FFF2-40B4-BE49-F238E27FC236}">
                <a16:creationId xmlns:a16="http://schemas.microsoft.com/office/drawing/2014/main" id="{C22E80CE-BEA8-48C3-8BAD-B31F50598B8E}"/>
              </a:ext>
            </a:extLst>
          </p:cNvPr>
          <p:cNvSpPr>
            <a:spLocks xmlns:a="http://schemas.openxmlformats.org/drawingml/2006/main" noGrp="1"/>
          </p:cNvSpPr>
          <p:nvPr/>
        </p:nvSpPr>
        <p:spPr>
          <a:xfrm xmlns:a="http://schemas.openxmlformats.org/drawingml/2006/main">
            <a:off x="3438525" y="11610975"/>
            <a:ext cx="0" cy="304800"/>
          </a:xfrm>
          <a:prstGeom xmlns:a="http://schemas.openxmlformats.org/drawingml/2006/main" prst="line">
            <a:avLst/>
          </a:prstGeom>
          <a:ln xmlns:a="http://schemas.openxmlformats.org/drawingml/2006/main" w="9525">
            <a:solidFill>
              <a:srgbClr val="C8DCD7"/>
            </a:solidFill>
            <a:prstDash val="solid"/>
          </a:ln>
        </p:spPr>
      </p:sp>
      <p:sp>
        <p:nvSpPr>
          <p:cNvPr id="56" name="">
            <a:extLst xmlns:a="http://schemas.openxmlformats.org/drawingml/2006/main">
              <a:ext uri="{FF2B5EF4-FFF2-40B4-BE49-F238E27FC236}">
                <a16:creationId xmlns:a16="http://schemas.microsoft.com/office/drawing/2014/main" id="{6D45F687-761F-4484-9F2A-53548ABC089E}"/>
              </a:ext>
            </a:extLst>
          </p:cNvPr>
          <p:cNvSpPr>
            <a:spLocks xmlns:a="http://schemas.openxmlformats.org/drawingml/2006/main" noGrp="1"/>
          </p:cNvSpPr>
          <p:nvPr/>
        </p:nvSpPr>
        <p:spPr>
          <a:xfrm xmlns:a="http://schemas.openxmlformats.org/drawingml/2006/main">
            <a:off x="3467100" y="11582400"/>
            <a:ext cx="142875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38" b="1">
                <a:solidFill>
                  <a:srgbClr val="116F68"/>
                </a:solidFill>
              </a:defRPr>
            </a:pPr>
            <a:r>
              <a:rPr sz="638" b="1">
                <a:solidFill>
                  <a:srgbClr val="116F68"/>
                </a:solidFill>
              </a:rPr>
              <a:t>ACTION</a:t>
            </a:r>
          </a:p>
        </p:txBody>
      </p:sp>
      <p:sp>
        <p:nvSpPr>
          <p:cNvPr id="57" name="">
            <a:extLst xmlns:a="http://schemas.openxmlformats.org/drawingml/2006/main">
              <a:ext uri="{FF2B5EF4-FFF2-40B4-BE49-F238E27FC236}">
                <a16:creationId xmlns:a16="http://schemas.microsoft.com/office/drawing/2014/main" id="{B81E73E4-2F70-4E84-AECD-C6F80489A6D4}"/>
              </a:ext>
            </a:extLst>
          </p:cNvPr>
          <p:cNvSpPr>
            <a:spLocks xmlns:a="http://schemas.openxmlformats.org/drawingml/2006/main" noGrp="1"/>
          </p:cNvSpPr>
          <p:nvPr/>
        </p:nvSpPr>
        <p:spPr>
          <a:xfrm xmlns:a="http://schemas.openxmlformats.org/drawingml/2006/main">
            <a:off x="3467100" y="11734800"/>
            <a:ext cx="1428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00" b="0">
                <a:solidFill>
                  <a:srgbClr val="183B39"/>
                </a:solidFill>
              </a:defRPr>
            </a:pPr>
            <a:r>
              <a:rPr sz="600" b="0">
                <a:solidFill>
                  <a:srgbClr val="183B39"/>
                </a:solidFill>
              </a:rPr>
              <a:t>Act on DMart gap now (EAN availability + DC-to-store fill, zone by zone); hold Reliance deep-dive until Aug offtake read (Paisa Vasool event expected to partially convert pipeline); present validated net gap in 31-Aug account review</a:t>
            </a:r>
          </a:p>
        </p:txBody>
      </p:sp>
      <p:sp>
        <p:nvSpPr>
          <p:cNvPr id="58" name="">
            <a:extLst xmlns:a="http://schemas.openxmlformats.org/drawingml/2006/main">
              <a:ext uri="{FF2B5EF4-FFF2-40B4-BE49-F238E27FC236}">
                <a16:creationId xmlns:a16="http://schemas.microsoft.com/office/drawing/2014/main" id="{DE93087E-FF95-4002-A684-25EAFF156F84}"/>
              </a:ext>
            </a:extLst>
          </p:cNvPr>
          <p:cNvSpPr>
            <a:spLocks xmlns:a="http://schemas.openxmlformats.org/drawingml/2006/main" noGrp="1"/>
          </p:cNvSpPr>
          <p:nvPr/>
        </p:nvSpPr>
        <p:spPr>
          <a:xfrm xmlns:a="http://schemas.openxmlformats.org/drawingml/2006/main">
            <a:off x="4953000" y="11610975"/>
            <a:ext cx="0" cy="304800"/>
          </a:xfrm>
          <a:prstGeom xmlns:a="http://schemas.openxmlformats.org/drawingml/2006/main" prst="line">
            <a:avLst/>
          </a:prstGeom>
          <a:ln xmlns:a="http://schemas.openxmlformats.org/drawingml/2006/main" w="9525">
            <a:solidFill>
              <a:srgbClr val="C8DCD7"/>
            </a:solidFill>
            <a:prstDash val="solid"/>
          </a:ln>
        </p:spPr>
      </p:sp>
      <p:sp>
        <p:nvSpPr>
          <p:cNvPr id="59" name="">
            <a:extLst xmlns:a="http://schemas.openxmlformats.org/drawingml/2006/main">
              <a:ext uri="{FF2B5EF4-FFF2-40B4-BE49-F238E27FC236}">
                <a16:creationId xmlns:a16="http://schemas.microsoft.com/office/drawing/2014/main" id="{5B9CAC28-E4E5-4EAD-B7EA-7F5AAA265574}"/>
              </a:ext>
            </a:extLst>
          </p:cNvPr>
          <p:cNvSpPr>
            <a:spLocks xmlns:a="http://schemas.openxmlformats.org/drawingml/2006/main" noGrp="1"/>
          </p:cNvSpPr>
          <p:nvPr/>
        </p:nvSpPr>
        <p:spPr>
          <a:xfrm xmlns:a="http://schemas.openxmlformats.org/drawingml/2006/main">
            <a:off x="4981575" y="11582400"/>
            <a:ext cx="142875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38" b="1">
                <a:solidFill>
                  <a:srgbClr val="116F68"/>
                </a:solidFill>
              </a:defRPr>
            </a:pPr>
            <a:r>
              <a:rPr sz="638" b="1">
                <a:solidFill>
                  <a:srgbClr val="116F68"/>
                </a:solidFill>
              </a:rPr>
              <a:t>OWNER</a:t>
            </a:r>
          </a:p>
        </p:txBody>
      </p:sp>
      <p:sp>
        <p:nvSpPr>
          <p:cNvPr id="60" name="">
            <a:extLst xmlns:a="http://schemas.openxmlformats.org/drawingml/2006/main">
              <a:ext uri="{FF2B5EF4-FFF2-40B4-BE49-F238E27FC236}">
                <a16:creationId xmlns:a16="http://schemas.microsoft.com/office/drawing/2014/main" id="{F98B0D67-7660-4A63-9D7A-A88195030428}"/>
              </a:ext>
            </a:extLst>
          </p:cNvPr>
          <p:cNvSpPr>
            <a:spLocks xmlns:a="http://schemas.openxmlformats.org/drawingml/2006/main" noGrp="1"/>
          </p:cNvSpPr>
          <p:nvPr/>
        </p:nvSpPr>
        <p:spPr>
          <a:xfrm xmlns:a="http://schemas.openxmlformats.org/drawingml/2006/main">
            <a:off x="4981575" y="11734800"/>
            <a:ext cx="1428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00" b="0">
                <a:solidFill>
                  <a:srgbClr val="183B39"/>
                </a:solidFill>
              </a:defRPr>
            </a:pPr>
            <a:r>
              <a:rPr sz="600" b="0">
                <a:solidFill>
                  <a:srgbClr val="183B39"/>
                </a:solidFill>
              </a:rPr>
              <a:t>Sales Lead + Category | Apollo audit by 31-Aug</a:t>
            </a:r>
          </a:p>
        </p:txBody>
      </p:sp>
    </p:spTree>
    <p:extLst>
      <p:ext uri="{BB962C8B-B14F-4D97-AF65-F5344CB8AC3E}">
        <p14:creationId xmlns:p14="http://schemas.microsoft.com/office/powerpoint/2010/main" val="1742861933"/>
      </p:ext>
    </p:extLst>
  </p:cSld>
</p:sld>
</file>

<file path=ppt/slides/slide17.xml><?xml version="1.0" encoding="utf-8"?>
<p:sld xmlns:p="http://schemas.openxmlformats.org/presentationml/2006/main">
  <p:cSld>
    <p:bg>
      <p:bgPr>
        <a:solidFill xmlns:a="http://schemas.openxmlformats.org/drawingml/2006/main">
          <a:srgbClr val="F7FBFA"/>
        </a:solidFill>
      </p:bgPr>
    </p:bg>
    <p:spTree>
      <p:nvGrpSpPr>
        <p:cNvPr id="1" name=""/>
        <p:cNvGrpSpPr/>
        <p:nvPr/>
      </p:nvGrpSpPr>
      <p:grpSpPr>
        <a:xfrm xmlns:a="http://schemas.openxmlformats.org/drawingml/2006/main"/>
      </p:grpSpPr>
      <p:sp>
        <p:nvSpPr>
          <p:cNvPr id="35" name="">
            <a:extLst xmlns:a="http://schemas.openxmlformats.org/drawingml/2006/main">
              <a:ext uri="{FF2B5EF4-FFF2-40B4-BE49-F238E27FC236}">
                <a16:creationId xmlns:a16="http://schemas.microsoft.com/office/drawing/2014/main" id="{C58CB4DC-EEE8-46E1-8593-F22F00C56FCF}"/>
              </a:ext>
            </a:extLst>
          </p:cNvPr>
          <p:cNvSpPr>
            <a:spLocks xmlns:a="http://schemas.openxmlformats.org/drawingml/2006/main" noGrp="1"/>
          </p:cNvSpPr>
          <p:nvPr/>
        </p:nvSpPr>
        <p:spPr>
          <a:xfrm xmlns:a="http://schemas.openxmlformats.org/drawingml/2006/main">
            <a:off x="0" y="0"/>
            <a:ext cx="6858000" cy="1000125"/>
          </a:xfrm>
          <a:prstGeom xmlns:a="http://schemas.openxmlformats.org/drawingml/2006/main" prst="rect">
            <a:avLst/>
          </a:prstGeom>
          <a:solidFill xmlns:a="http://schemas.openxmlformats.org/drawingml/2006/main">
            <a:srgbClr val="116F68"/>
          </a:solidFill>
          <a:ln xmlns:a="http://schemas.openxmlformats.org/drawingml/2006/main" w="0">
            <a:solidFill>
              <a:srgbClr val="116F68"/>
            </a:solidFill>
            <a:prstDash val="solid"/>
          </a:ln>
        </p:spPr>
      </p:sp>
      <p:sp>
        <p:nvSpPr>
          <p:cNvPr id="2" name="">
            <a:extLst xmlns:a="http://schemas.openxmlformats.org/drawingml/2006/main">
              <a:ext uri="{FF2B5EF4-FFF2-40B4-BE49-F238E27FC236}">
                <a16:creationId xmlns:a16="http://schemas.microsoft.com/office/drawing/2014/main" id="{EF97C546-749B-4861-A6F5-FDE4C252A164}"/>
              </a:ext>
            </a:extLst>
          </p:cNvPr>
          <p:cNvSpPr>
            <a:spLocks xmlns:a="http://schemas.openxmlformats.org/drawingml/2006/main" noGrp="1"/>
          </p:cNvSpPr>
          <p:nvPr/>
        </p:nvSpPr>
        <p:spPr>
          <a:xfrm xmlns:a="http://schemas.openxmlformats.org/drawingml/2006/main">
            <a:off x="361950" y="228600"/>
            <a:ext cx="59055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2025" b="1">
                <a:solidFill>
                  <a:srgbClr val="FFFFFF"/>
                </a:solidFill>
              </a:defRPr>
            </a:pPr>
            <a:r>
              <a:rPr sz="2025" b="1">
                <a:solidFill>
                  <a:srgbClr val="FFFFFF"/>
                </a:solidFill>
              </a:rPr>
              <a:t>Face care powers two-thirds of offtake; brand conversion is concentrated in two engines</a:t>
            </a:r>
          </a:p>
        </p:txBody>
      </p:sp>
      <p:sp>
        <p:nvSpPr>
          <p:cNvPr id="3" name="">
            <a:extLst xmlns:a="http://schemas.openxmlformats.org/drawingml/2006/main">
              <a:ext uri="{FF2B5EF4-FFF2-40B4-BE49-F238E27FC236}">
                <a16:creationId xmlns:a16="http://schemas.microsoft.com/office/drawing/2014/main" id="{802A4A17-0DBC-48CA-B4D6-9ED50CB2AAEB}"/>
              </a:ext>
            </a:extLst>
          </p:cNvPr>
          <p:cNvSpPr>
            <a:spLocks xmlns:a="http://schemas.openxmlformats.org/drawingml/2006/main" noGrp="1"/>
          </p:cNvSpPr>
          <p:nvPr/>
        </p:nvSpPr>
        <p:spPr>
          <a:xfrm xmlns:a="http://schemas.openxmlformats.org/drawingml/2006/main">
            <a:off x="381000" y="695325"/>
            <a:ext cx="57150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75" b="0">
                <a:solidFill>
                  <a:srgbClr val="DFF2ED"/>
                </a:solidFill>
              </a:defRPr>
            </a:pPr>
            <a:r>
              <a:rPr sz="975" b="0">
                <a:solidFill>
                  <a:srgbClr val="DFF2ED"/>
                </a:solidFill>
              </a:rPr>
              <a:t>Brand and sub-category architecture | July 2026</a:t>
            </a:r>
          </a:p>
        </p:txBody>
      </p:sp>
      <p:sp>
        <p:nvSpPr>
          <p:cNvPr id="4" name="">
            <a:extLst xmlns:a="http://schemas.openxmlformats.org/drawingml/2006/main">
              <a:ext uri="{FF2B5EF4-FFF2-40B4-BE49-F238E27FC236}">
                <a16:creationId xmlns:a16="http://schemas.microsoft.com/office/drawing/2014/main" id="{D9127066-1B62-4650-AAD1-B1278AE7A5A7}"/>
              </a:ext>
            </a:extLst>
          </p:cNvPr>
          <p:cNvSpPr>
            <a:spLocks xmlns:a="http://schemas.openxmlformats.org/drawingml/2006/main" noGrp="1"/>
          </p:cNvSpPr>
          <p:nvPr/>
        </p:nvSpPr>
        <p:spPr>
          <a:xfrm xmlns:a="http://schemas.openxmlformats.org/drawingml/2006/main">
            <a:off x="6191250" y="361950"/>
            <a:ext cx="3429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900" b="1">
                <a:solidFill>
                  <a:srgbClr val="FFFFFF"/>
                </a:solidFill>
              </a:defRPr>
            </a:pPr>
            <a:r>
              <a:rPr sz="900" b="1">
                <a:solidFill>
                  <a:srgbClr val="FFFFFF"/>
                </a:solidFill>
              </a:rPr>
              <a:t>17</a:t>
            </a:r>
          </a:p>
        </p:txBody>
      </p:sp>
      <p:sp>
        <p:nvSpPr>
          <p:cNvPr id="5" name="">
            <a:extLst xmlns:a="http://schemas.openxmlformats.org/drawingml/2006/main">
              <a:ext uri="{FF2B5EF4-FFF2-40B4-BE49-F238E27FC236}">
                <a16:creationId xmlns:a16="http://schemas.microsoft.com/office/drawing/2014/main" id="{6BDC30AD-13DE-4DDC-BE5D-C350ACCE59A6}"/>
              </a:ext>
            </a:extLst>
          </p:cNvPr>
          <p:cNvSpPr>
            <a:spLocks xmlns:a="http://schemas.openxmlformats.org/drawingml/2006/main" noGrp="1"/>
          </p:cNvSpPr>
          <p:nvPr/>
        </p:nvSpPr>
        <p:spPr>
          <a:xfrm xmlns:a="http://schemas.openxmlformats.org/drawingml/2006/main">
            <a:off x="361950" y="1285875"/>
            <a:ext cx="61341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050" b="1">
                <a:solidFill>
                  <a:srgbClr val="183B39"/>
                </a:solidFill>
              </a:defRPr>
            </a:pPr>
            <a:r>
              <a:rPr sz="1050" b="1">
                <a:solidFill>
                  <a:srgbClr val="183B39"/>
                </a:solidFill>
              </a:rPr>
              <a:t>Brand primary vs offtake (₹ Cr)</a:t>
            </a:r>
          </a:p>
        </p:txBody>
      </p:sp>
      <p:graphicFrame>
        <p:nvGraphicFramePr>
          <p:cNvPr id="40" name="Chart"/>
          <p:cNvGraphicFramePr/>
          <p:nvPr/>
        </p:nvGraphicFramePr>
        <p:xfrm>
          <a:off xmlns:a="http://schemas.openxmlformats.org/drawingml/2006/main" x="361950" y="1571625"/>
          <a:ext xmlns:a="http://schemas.openxmlformats.org/drawingml/2006/main" cx="6134100" cy="2667000"/>
        </p:xfrm>
        <a:graphic xmlns:a="http://schemas.openxmlformats.org/drawingml/2006/main">
          <a:graphicData uri="http://schemas.openxmlformats.org/drawingml/2006/chart">
            <c:chart xmlns:r="http://schemas.openxmlformats.org/officeDocument/2006/relationships" xmlns:c="http://schemas.openxmlformats.org/drawingml/2006/chart" r:id="Rea60a2bb094b482c"/>
          </a:graphicData>
        </a:graphic>
      </p:graphicFrame>
      <p:sp>
        <p:nvSpPr>
          <p:cNvPr id="7" name="">
            <a:extLst xmlns:a="http://schemas.openxmlformats.org/drawingml/2006/main">
              <a:ext uri="{FF2B5EF4-FFF2-40B4-BE49-F238E27FC236}">
                <a16:creationId xmlns:a16="http://schemas.microsoft.com/office/drawing/2014/main" id="{47BCE612-7706-4B81-8E01-8D97A0F1919F}"/>
              </a:ext>
            </a:extLst>
          </p:cNvPr>
          <p:cNvSpPr>
            <a:spLocks xmlns:a="http://schemas.openxmlformats.org/drawingml/2006/main" noGrp="1"/>
          </p:cNvSpPr>
          <p:nvPr/>
        </p:nvSpPr>
        <p:spPr>
          <a:xfrm xmlns:a="http://schemas.openxmlformats.org/drawingml/2006/main">
            <a:off x="361950" y="4619625"/>
            <a:ext cx="2895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183B39"/>
                </a:solidFill>
              </a:defRPr>
            </a:pPr>
            <a:r>
              <a:rPr sz="900" b="1">
                <a:solidFill>
                  <a:srgbClr val="183B39"/>
                </a:solidFill>
              </a:rPr>
              <a:t>Mamaearth — top 3 sub-categories</a:t>
            </a:r>
          </a:p>
        </p:txBody>
      </p:sp>
      <p:graphicFrame>
        <p:nvGraphicFramePr>
          <p:cNvPr id="42" name="Chart"/>
          <p:cNvGraphicFramePr/>
          <p:nvPr/>
        </p:nvGraphicFramePr>
        <p:xfrm>
          <a:off xmlns:a="http://schemas.openxmlformats.org/drawingml/2006/main" x="361950" y="4857750"/>
          <a:ext xmlns:a="http://schemas.openxmlformats.org/drawingml/2006/main" cx="2895600" cy="2619375"/>
        </p:xfrm>
        <a:graphic xmlns:a="http://schemas.openxmlformats.org/drawingml/2006/main">
          <a:graphicData uri="http://schemas.openxmlformats.org/drawingml/2006/chart">
            <c:chart xmlns:r="http://schemas.openxmlformats.org/officeDocument/2006/relationships" xmlns:c="http://schemas.openxmlformats.org/drawingml/2006/chart" r:id="R5d25aeb3a9924497"/>
          </a:graphicData>
        </a:graphic>
      </p:graphicFrame>
      <p:sp>
        <p:nvSpPr>
          <p:cNvPr id="9" name="">
            <a:extLst xmlns:a="http://schemas.openxmlformats.org/drawingml/2006/main">
              <a:ext uri="{FF2B5EF4-FFF2-40B4-BE49-F238E27FC236}">
                <a16:creationId xmlns:a16="http://schemas.microsoft.com/office/drawing/2014/main" id="{C84661F5-A569-4553-8412-44EC8F9E1E08}"/>
              </a:ext>
            </a:extLst>
          </p:cNvPr>
          <p:cNvSpPr>
            <a:spLocks xmlns:a="http://schemas.openxmlformats.org/drawingml/2006/main" noGrp="1"/>
          </p:cNvSpPr>
          <p:nvPr/>
        </p:nvSpPr>
        <p:spPr>
          <a:xfrm xmlns:a="http://schemas.openxmlformats.org/drawingml/2006/main">
            <a:off x="3600450" y="4619625"/>
            <a:ext cx="2895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183B39"/>
                </a:solidFill>
              </a:defRPr>
            </a:pPr>
            <a:r>
              <a:rPr sz="900" b="1">
                <a:solidFill>
                  <a:srgbClr val="183B39"/>
                </a:solidFill>
              </a:rPr>
              <a:t>The Derma Co. — top 3 sub-categories</a:t>
            </a:r>
          </a:p>
        </p:txBody>
      </p:sp>
      <p:graphicFrame>
        <p:nvGraphicFramePr>
          <p:cNvPr id="44" name="Chart"/>
          <p:cNvGraphicFramePr/>
          <p:nvPr/>
        </p:nvGraphicFramePr>
        <p:xfrm>
          <a:off xmlns:a="http://schemas.openxmlformats.org/drawingml/2006/main" x="3600450" y="4857750"/>
          <a:ext xmlns:a="http://schemas.openxmlformats.org/drawingml/2006/main" cx="2895600" cy="2619375"/>
        </p:xfrm>
        <a:graphic xmlns:a="http://schemas.openxmlformats.org/drawingml/2006/main">
          <a:graphicData uri="http://schemas.openxmlformats.org/drawingml/2006/chart">
            <c:chart xmlns:r="http://schemas.openxmlformats.org/officeDocument/2006/relationships" xmlns:c="http://schemas.openxmlformats.org/drawingml/2006/chart" r:id="Rfb728f2d59d242c8"/>
          </a:graphicData>
        </a:graphic>
      </p:graphicFrame>
      <p:sp>
        <p:nvSpPr>
          <p:cNvPr id="11" name="">
            <a:extLst xmlns:a="http://schemas.openxmlformats.org/drawingml/2006/main">
              <a:ext uri="{FF2B5EF4-FFF2-40B4-BE49-F238E27FC236}">
                <a16:creationId xmlns:a16="http://schemas.microsoft.com/office/drawing/2014/main" id="{F7C06AD2-3211-4241-845E-084F02183DA4}"/>
              </a:ext>
            </a:extLst>
          </p:cNvPr>
          <p:cNvSpPr>
            <a:spLocks xmlns:a="http://schemas.openxmlformats.org/drawingml/2006/main" noGrp="1"/>
          </p:cNvSpPr>
          <p:nvPr/>
        </p:nvSpPr>
        <p:spPr>
          <a:xfrm xmlns:a="http://schemas.openxmlformats.org/drawingml/2006/main">
            <a:off x="361950" y="7858125"/>
            <a:ext cx="6134100" cy="257175"/>
          </a:xfrm>
          <a:prstGeom xmlns:a="http://schemas.openxmlformats.org/drawingml/2006/main" prst="rect">
            <a:avLst/>
          </a:prstGeom>
          <a:solidFill xmlns:a="http://schemas.openxmlformats.org/drawingml/2006/main">
            <a:srgbClr val="116F68"/>
          </a:solidFill>
          <a:ln xmlns:a="http://schemas.openxmlformats.org/drawingml/2006/main" w="0">
            <a:solidFill>
              <a:srgbClr val="116F68"/>
            </a:solidFill>
            <a:prstDash val="solid"/>
          </a:ln>
        </p:spPr>
      </p:sp>
      <p:sp>
        <p:nvSpPr>
          <p:cNvPr id="12" name="">
            <a:extLst xmlns:a="http://schemas.openxmlformats.org/drawingml/2006/main">
              <a:ext uri="{FF2B5EF4-FFF2-40B4-BE49-F238E27FC236}">
                <a16:creationId xmlns:a16="http://schemas.microsoft.com/office/drawing/2014/main" id="{3861FBF1-B919-421E-8396-5D57332D267E}"/>
              </a:ext>
            </a:extLst>
          </p:cNvPr>
          <p:cNvSpPr>
            <a:spLocks xmlns:a="http://schemas.openxmlformats.org/drawingml/2006/main" noGrp="1"/>
          </p:cNvSpPr>
          <p:nvPr/>
        </p:nvSpPr>
        <p:spPr>
          <a:xfrm xmlns:a="http://schemas.openxmlformats.org/drawingml/2006/main">
            <a:off x="457200" y="7867650"/>
            <a:ext cx="59436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FFFFFF"/>
                </a:solidFill>
              </a:defRPr>
            </a:pPr>
            <a:r>
              <a:rPr sz="900" b="1">
                <a:solidFill>
                  <a:srgbClr val="FFFFFF"/>
                </a:solidFill>
              </a:rPr>
              <a:t>PORTFOLIO IMPLICATIONS</a:t>
            </a:r>
          </a:p>
        </p:txBody>
      </p:sp>
      <p:sp>
        <p:nvSpPr>
          <p:cNvPr id="13" name="">
            <a:extLst xmlns:a="http://schemas.openxmlformats.org/drawingml/2006/main">
              <a:ext uri="{FF2B5EF4-FFF2-40B4-BE49-F238E27FC236}">
                <a16:creationId xmlns:a16="http://schemas.microsoft.com/office/drawing/2014/main" id="{E3F54F8A-76B5-4D03-80DA-22DCA32AF8B3}"/>
              </a:ext>
            </a:extLst>
          </p:cNvPr>
          <p:cNvSpPr>
            <a:spLocks xmlns:a="http://schemas.openxmlformats.org/drawingml/2006/main" noGrp="1"/>
          </p:cNvSpPr>
          <p:nvPr/>
        </p:nvSpPr>
        <p:spPr>
          <a:xfrm xmlns:a="http://schemas.openxmlformats.org/drawingml/2006/main">
            <a:off x="476250" y="8096250"/>
            <a:ext cx="1524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2B9A66"/>
                </a:solidFill>
              </a:defRPr>
            </a:pPr>
            <a:r>
              <a:rPr sz="900" b="1">
                <a:solidFill>
                  <a:srgbClr val="2B9A66"/>
                </a:solidFill>
              </a:rPr>
              <a:t>●</a:t>
            </a:r>
          </a:p>
        </p:txBody>
      </p:sp>
      <p:sp>
        <p:nvSpPr>
          <p:cNvPr id="14" name="">
            <a:extLst xmlns:a="http://schemas.openxmlformats.org/drawingml/2006/main">
              <a:ext uri="{FF2B5EF4-FFF2-40B4-BE49-F238E27FC236}">
                <a16:creationId xmlns:a16="http://schemas.microsoft.com/office/drawing/2014/main" id="{3D50A923-AFAC-4A19-B84B-11B9985931D2}"/>
              </a:ext>
            </a:extLst>
          </p:cNvPr>
          <p:cNvSpPr>
            <a:spLocks xmlns:a="http://schemas.openxmlformats.org/drawingml/2006/main" noGrp="1"/>
          </p:cNvSpPr>
          <p:nvPr/>
        </p:nvSpPr>
        <p:spPr>
          <a:xfrm xmlns:a="http://schemas.openxmlformats.org/drawingml/2006/main">
            <a:off x="685800" y="8096250"/>
            <a:ext cx="569595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050" b="0">
                <a:solidFill>
                  <a:srgbClr val="183B39"/>
                </a:solidFill>
              </a:defRPr>
            </a:pPr>
            <a:r>
              <a:rPr sz="1050" b="0">
                <a:solidFill>
                  <a:srgbClr val="183B39"/>
                </a:solidFill>
              </a:rPr>
              <a:t>Mamaearth contributes 67.8% of offtake and converts at 73.4%.</a:t>
            </a:r>
          </a:p>
        </p:txBody>
      </p:sp>
      <p:sp>
        <p:nvSpPr>
          <p:cNvPr id="15" name="">
            <a:extLst xmlns:a="http://schemas.openxmlformats.org/drawingml/2006/main">
              <a:ext uri="{FF2B5EF4-FFF2-40B4-BE49-F238E27FC236}">
                <a16:creationId xmlns:a16="http://schemas.microsoft.com/office/drawing/2014/main" id="{CED2E718-58C9-4261-9807-A7B4D8E8D874}"/>
              </a:ext>
            </a:extLst>
          </p:cNvPr>
          <p:cNvSpPr>
            <a:spLocks xmlns:a="http://schemas.openxmlformats.org/drawingml/2006/main" noGrp="1"/>
          </p:cNvSpPr>
          <p:nvPr/>
        </p:nvSpPr>
        <p:spPr>
          <a:xfrm xmlns:a="http://schemas.openxmlformats.org/drawingml/2006/main">
            <a:off x="476250" y="8639175"/>
            <a:ext cx="1524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F2B84B"/>
                </a:solidFill>
              </a:defRPr>
            </a:pPr>
            <a:r>
              <a:rPr sz="900" b="1">
                <a:solidFill>
                  <a:srgbClr val="F2B84B"/>
                </a:solidFill>
              </a:rPr>
              <a:t>●</a:t>
            </a:r>
          </a:p>
        </p:txBody>
      </p:sp>
      <p:sp>
        <p:nvSpPr>
          <p:cNvPr id="16" name="">
            <a:extLst xmlns:a="http://schemas.openxmlformats.org/drawingml/2006/main">
              <a:ext uri="{FF2B5EF4-FFF2-40B4-BE49-F238E27FC236}">
                <a16:creationId xmlns:a16="http://schemas.microsoft.com/office/drawing/2014/main" id="{64206D51-A488-4461-AC8D-D14FAFA5CA56}"/>
              </a:ext>
            </a:extLst>
          </p:cNvPr>
          <p:cNvSpPr>
            <a:spLocks xmlns:a="http://schemas.openxmlformats.org/drawingml/2006/main" noGrp="1"/>
          </p:cNvSpPr>
          <p:nvPr/>
        </p:nvSpPr>
        <p:spPr>
          <a:xfrm xmlns:a="http://schemas.openxmlformats.org/drawingml/2006/main">
            <a:off x="685800" y="8639175"/>
            <a:ext cx="569595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050" b="0">
                <a:solidFill>
                  <a:srgbClr val="183B39"/>
                </a:solidFill>
              </a:defRPr>
            </a:pPr>
            <a:r>
              <a:rPr sz="1050" b="0">
                <a:solidFill>
                  <a:srgbClr val="183B39"/>
                </a:solidFill>
              </a:rPr>
              <a:t>The Derma Co. adds ₹11.03 Cr but carries a ₹4.16 Cr flow gap.</a:t>
            </a:r>
          </a:p>
        </p:txBody>
      </p:sp>
      <p:sp>
        <p:nvSpPr>
          <p:cNvPr id="17" name="">
            <a:extLst xmlns:a="http://schemas.openxmlformats.org/drawingml/2006/main">
              <a:ext uri="{FF2B5EF4-FFF2-40B4-BE49-F238E27FC236}">
                <a16:creationId xmlns:a16="http://schemas.microsoft.com/office/drawing/2014/main" id="{73F8F199-5EE9-4006-AB62-FD175D2514B6}"/>
              </a:ext>
            </a:extLst>
          </p:cNvPr>
          <p:cNvSpPr>
            <a:spLocks xmlns:a="http://schemas.openxmlformats.org/drawingml/2006/main" noGrp="1"/>
          </p:cNvSpPr>
          <p:nvPr/>
        </p:nvSpPr>
        <p:spPr>
          <a:xfrm xmlns:a="http://schemas.openxmlformats.org/drawingml/2006/main">
            <a:off x="476250" y="9182100"/>
            <a:ext cx="1524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28A596"/>
                </a:solidFill>
              </a:defRPr>
            </a:pPr>
            <a:r>
              <a:rPr sz="900" b="1">
                <a:solidFill>
                  <a:srgbClr val="28A596"/>
                </a:solidFill>
              </a:rPr>
              <a:t>●</a:t>
            </a:r>
          </a:p>
        </p:txBody>
      </p:sp>
      <p:sp>
        <p:nvSpPr>
          <p:cNvPr id="18" name="">
            <a:extLst xmlns:a="http://schemas.openxmlformats.org/drawingml/2006/main">
              <a:ext uri="{FF2B5EF4-FFF2-40B4-BE49-F238E27FC236}">
                <a16:creationId xmlns:a16="http://schemas.microsoft.com/office/drawing/2014/main" id="{6863CE7C-046F-48F9-BE60-60B132F0B385}"/>
              </a:ext>
            </a:extLst>
          </p:cNvPr>
          <p:cNvSpPr>
            <a:spLocks xmlns:a="http://schemas.openxmlformats.org/drawingml/2006/main" noGrp="1"/>
          </p:cNvSpPr>
          <p:nvPr/>
        </p:nvSpPr>
        <p:spPr>
          <a:xfrm xmlns:a="http://schemas.openxmlformats.org/drawingml/2006/main">
            <a:off x="685800" y="9182100"/>
            <a:ext cx="569595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050" b="0">
                <a:solidFill>
                  <a:srgbClr val="183B39"/>
                </a:solidFill>
              </a:defRPr>
            </a:pPr>
            <a:r>
              <a:rPr sz="1050" b="0">
                <a:solidFill>
                  <a:srgbClr val="183B39"/>
                </a:solidFill>
              </a:rPr>
              <a:t>Mamaearth Face Cleanser closes July at ₹8.53 Cr; protect its hero EAN availability.</a:t>
            </a:r>
          </a:p>
        </p:txBody>
      </p:sp>
      <p:sp>
        <p:nvSpPr>
          <p:cNvPr id="19" name="">
            <a:extLst xmlns:a="http://schemas.openxmlformats.org/drawingml/2006/main">
              <a:ext uri="{FF2B5EF4-FFF2-40B4-BE49-F238E27FC236}">
                <a16:creationId xmlns:a16="http://schemas.microsoft.com/office/drawing/2014/main" id="{22E95895-F46C-4EF1-99F9-128AA152741A}"/>
              </a:ext>
            </a:extLst>
          </p:cNvPr>
          <p:cNvSpPr>
            <a:spLocks xmlns:a="http://schemas.openxmlformats.org/drawingml/2006/main" noGrp="1"/>
          </p:cNvSpPr>
          <p:nvPr/>
        </p:nvSpPr>
        <p:spPr>
          <a:xfrm xmlns:a="http://schemas.openxmlformats.org/drawingml/2006/main">
            <a:off x="476250" y="9725025"/>
            <a:ext cx="1524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28A596"/>
                </a:solidFill>
              </a:defRPr>
            </a:pPr>
            <a:r>
              <a:rPr sz="900" b="1">
                <a:solidFill>
                  <a:srgbClr val="28A596"/>
                </a:solidFill>
              </a:rPr>
              <a:t>●</a:t>
            </a:r>
          </a:p>
        </p:txBody>
      </p:sp>
      <p:sp>
        <p:nvSpPr>
          <p:cNvPr id="20" name="">
            <a:extLst xmlns:a="http://schemas.openxmlformats.org/drawingml/2006/main">
              <a:ext uri="{FF2B5EF4-FFF2-40B4-BE49-F238E27FC236}">
                <a16:creationId xmlns:a16="http://schemas.microsoft.com/office/drawing/2014/main" id="{9D357C4B-B574-43CE-AFBC-11073BEDA440}"/>
              </a:ext>
            </a:extLst>
          </p:cNvPr>
          <p:cNvSpPr>
            <a:spLocks xmlns:a="http://schemas.openxmlformats.org/drawingml/2006/main" noGrp="1"/>
          </p:cNvSpPr>
          <p:nvPr/>
        </p:nvSpPr>
        <p:spPr>
          <a:xfrm xmlns:a="http://schemas.openxmlformats.org/drawingml/2006/main">
            <a:off x="685800" y="9725025"/>
            <a:ext cx="569595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050" b="0">
                <a:solidFill>
                  <a:srgbClr val="183B39"/>
                </a:solidFill>
              </a:defRPr>
            </a:pPr>
            <a:r>
              <a:rPr sz="1050" b="0">
                <a:solidFill>
                  <a:srgbClr val="183B39"/>
                </a:solidFill>
              </a:rPr>
              <a:t>The Derma Co. Face Cleanser closes July at ₹7.13 Cr; sustain productive distribution.</a:t>
            </a:r>
          </a:p>
        </p:txBody>
      </p:sp>
      <p:sp>
        <p:nvSpPr>
          <p:cNvPr id="21" name="">
            <a:extLst xmlns:a="http://schemas.openxmlformats.org/drawingml/2006/main">
              <a:ext uri="{FF2B5EF4-FFF2-40B4-BE49-F238E27FC236}">
                <a16:creationId xmlns:a16="http://schemas.microsoft.com/office/drawing/2014/main" id="{0169651C-EE84-4F49-9029-B2B4169AFEEC}"/>
              </a:ext>
            </a:extLst>
          </p:cNvPr>
          <p:cNvSpPr>
            <a:spLocks xmlns:a="http://schemas.openxmlformats.org/drawingml/2006/main" noGrp="1"/>
          </p:cNvSpPr>
          <p:nvPr/>
        </p:nvSpPr>
        <p:spPr>
          <a:xfrm xmlns:a="http://schemas.openxmlformats.org/drawingml/2006/main">
            <a:off x="476250" y="10267950"/>
            <a:ext cx="1524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F2B84B"/>
                </a:solidFill>
              </a:defRPr>
            </a:pPr>
            <a:r>
              <a:rPr sz="900" b="1">
                <a:solidFill>
                  <a:srgbClr val="F2B84B"/>
                </a:solidFill>
              </a:rPr>
              <a:t>●</a:t>
            </a:r>
          </a:p>
        </p:txBody>
      </p:sp>
      <p:sp>
        <p:nvSpPr>
          <p:cNvPr id="22" name="">
            <a:extLst xmlns:a="http://schemas.openxmlformats.org/drawingml/2006/main">
              <a:ext uri="{FF2B5EF4-FFF2-40B4-BE49-F238E27FC236}">
                <a16:creationId xmlns:a16="http://schemas.microsoft.com/office/drawing/2014/main" id="{A63C1496-5004-4DC7-A460-BE1F2F878AFB}"/>
              </a:ext>
            </a:extLst>
          </p:cNvPr>
          <p:cNvSpPr>
            <a:spLocks xmlns:a="http://schemas.openxmlformats.org/drawingml/2006/main" noGrp="1"/>
          </p:cNvSpPr>
          <p:nvPr/>
        </p:nvSpPr>
        <p:spPr>
          <a:xfrm xmlns:a="http://schemas.openxmlformats.org/drawingml/2006/main">
            <a:off x="685800" y="10267950"/>
            <a:ext cx="569595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050" b="0">
                <a:solidFill>
                  <a:srgbClr val="183B39"/>
                </a:solidFill>
              </a:defRPr>
            </a:pPr>
            <a:r>
              <a:rPr sz="1050" b="0">
                <a:solidFill>
                  <a:srgbClr val="183B39"/>
                </a:solidFill>
              </a:rPr>
              <a:t>Aqualogica above 100% conversion signals stock/timing effects; validate availability before additional loading.</a:t>
            </a:r>
          </a:p>
        </p:txBody>
      </p:sp>
      <p:sp>
        <p:nvSpPr>
          <p:cNvPr id="23" name="">
            <a:extLst xmlns:a="http://schemas.openxmlformats.org/drawingml/2006/main">
              <a:ext uri="{FF2B5EF4-FFF2-40B4-BE49-F238E27FC236}">
                <a16:creationId xmlns:a16="http://schemas.microsoft.com/office/drawing/2014/main" id="{999660B3-172F-487F-8026-A3172794849A}"/>
              </a:ext>
            </a:extLst>
          </p:cNvPr>
          <p:cNvSpPr>
            <a:spLocks xmlns:a="http://schemas.openxmlformats.org/drawingml/2006/main" noGrp="1"/>
          </p:cNvSpPr>
          <p:nvPr/>
        </p:nvSpPr>
        <p:spPr>
          <a:xfrm xmlns:a="http://schemas.openxmlformats.org/drawingml/2006/main">
            <a:off x="361950" y="11544300"/>
            <a:ext cx="6134100" cy="457200"/>
          </a:xfrm>
          <a:prstGeom xmlns:a="http://schemas.openxmlformats.org/drawingml/2006/main" prst="roundRect">
            <a:avLst>
              <a:gd name="adj" fmla="val 16667"/>
            </a:avLst>
          </a:prstGeom>
          <a:solidFill xmlns:a="http://schemas.openxmlformats.org/drawingml/2006/main">
            <a:srgbClr val="DFF2ED"/>
          </a:solidFill>
          <a:ln xmlns:a="http://schemas.openxmlformats.org/drawingml/2006/main" w="9525">
            <a:solidFill>
              <a:srgbClr val="28A596"/>
            </a:solidFill>
            <a:prstDash val="solid"/>
          </a:ln>
        </p:spPr>
      </p:sp>
      <p:sp>
        <p:nvSpPr>
          <p:cNvPr id="24" name="">
            <a:extLst xmlns:a="http://schemas.openxmlformats.org/drawingml/2006/main">
              <a:ext uri="{FF2B5EF4-FFF2-40B4-BE49-F238E27FC236}">
                <a16:creationId xmlns:a16="http://schemas.microsoft.com/office/drawing/2014/main" id="{094511CA-1DCB-4708-8E46-39165A5E6794}"/>
              </a:ext>
            </a:extLst>
          </p:cNvPr>
          <p:cNvSpPr>
            <a:spLocks xmlns:a="http://schemas.openxmlformats.org/drawingml/2006/main" noGrp="1"/>
          </p:cNvSpPr>
          <p:nvPr/>
        </p:nvSpPr>
        <p:spPr>
          <a:xfrm xmlns:a="http://schemas.openxmlformats.org/drawingml/2006/main">
            <a:off x="438150" y="11582400"/>
            <a:ext cx="142875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38" b="1">
                <a:solidFill>
                  <a:srgbClr val="116F68"/>
                </a:solidFill>
              </a:defRPr>
            </a:pPr>
            <a:r>
              <a:rPr sz="638" b="1">
                <a:solidFill>
                  <a:srgbClr val="116F68"/>
                </a:solidFill>
              </a:rPr>
              <a:t>EVIDENCE</a:t>
            </a:r>
          </a:p>
        </p:txBody>
      </p:sp>
      <p:sp>
        <p:nvSpPr>
          <p:cNvPr id="25" name="">
            <a:extLst xmlns:a="http://schemas.openxmlformats.org/drawingml/2006/main">
              <a:ext uri="{FF2B5EF4-FFF2-40B4-BE49-F238E27FC236}">
                <a16:creationId xmlns:a16="http://schemas.microsoft.com/office/drawing/2014/main" id="{231A1BD2-5A60-4BF9-8CBB-DF67A36D5DD3}"/>
              </a:ext>
            </a:extLst>
          </p:cNvPr>
          <p:cNvSpPr>
            <a:spLocks xmlns:a="http://schemas.openxmlformats.org/drawingml/2006/main" noGrp="1"/>
          </p:cNvSpPr>
          <p:nvPr/>
        </p:nvSpPr>
        <p:spPr>
          <a:xfrm xmlns:a="http://schemas.openxmlformats.org/drawingml/2006/main">
            <a:off x="438150" y="11734800"/>
            <a:ext cx="1428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00" b="0">
                <a:solidFill>
                  <a:srgbClr val="183B39"/>
                </a:solidFill>
              </a:defRPr>
            </a:pPr>
            <a:r>
              <a:rPr sz="600" b="0">
                <a:solidFill>
                  <a:srgbClr val="183B39"/>
                </a:solidFill>
              </a:rPr>
              <a:t>ME ₹24.49 Cr at 73.4% conv; TDC ₹11.03 Cr at 72.6% conv; Aqualogica ₹0.48 Cr at 117% (timing effect); BBlunt ₹0.06 Cr at 35.2% conv</a:t>
            </a:r>
          </a:p>
        </p:txBody>
      </p:sp>
      <p:sp>
        <p:nvSpPr>
          <p:cNvPr id="26" name="">
            <a:extLst xmlns:a="http://schemas.openxmlformats.org/drawingml/2006/main">
              <a:ext uri="{FF2B5EF4-FFF2-40B4-BE49-F238E27FC236}">
                <a16:creationId xmlns:a16="http://schemas.microsoft.com/office/drawing/2014/main" id="{F88A06CF-EF62-422F-AE96-EEE81875F370}"/>
              </a:ext>
            </a:extLst>
          </p:cNvPr>
          <p:cNvSpPr>
            <a:spLocks xmlns:a="http://schemas.openxmlformats.org/drawingml/2006/main" noGrp="1"/>
          </p:cNvSpPr>
          <p:nvPr/>
        </p:nvSpPr>
        <p:spPr>
          <a:xfrm xmlns:a="http://schemas.openxmlformats.org/drawingml/2006/main">
            <a:off x="1924050" y="11610975"/>
            <a:ext cx="0" cy="304800"/>
          </a:xfrm>
          <a:prstGeom xmlns:a="http://schemas.openxmlformats.org/drawingml/2006/main" prst="line">
            <a:avLst/>
          </a:prstGeom>
          <a:ln xmlns:a="http://schemas.openxmlformats.org/drawingml/2006/main" w="9525">
            <a:solidFill>
              <a:srgbClr val="C8DCD7"/>
            </a:solidFill>
            <a:prstDash val="solid"/>
          </a:ln>
        </p:spPr>
      </p:sp>
      <p:sp>
        <p:nvSpPr>
          <p:cNvPr id="27" name="">
            <a:extLst xmlns:a="http://schemas.openxmlformats.org/drawingml/2006/main">
              <a:ext uri="{FF2B5EF4-FFF2-40B4-BE49-F238E27FC236}">
                <a16:creationId xmlns:a16="http://schemas.microsoft.com/office/drawing/2014/main" id="{577E7531-6CC9-46F9-A7B1-C9473E496741}"/>
              </a:ext>
            </a:extLst>
          </p:cNvPr>
          <p:cNvSpPr>
            <a:spLocks xmlns:a="http://schemas.openxmlformats.org/drawingml/2006/main" noGrp="1"/>
          </p:cNvSpPr>
          <p:nvPr/>
        </p:nvSpPr>
        <p:spPr>
          <a:xfrm xmlns:a="http://schemas.openxmlformats.org/drawingml/2006/main">
            <a:off x="1952625" y="11582400"/>
            <a:ext cx="142875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38" b="1">
                <a:solidFill>
                  <a:srgbClr val="116F68"/>
                </a:solidFill>
              </a:defRPr>
            </a:pPr>
            <a:r>
              <a:rPr sz="638" b="1">
                <a:solidFill>
                  <a:srgbClr val="116F68"/>
                </a:solidFill>
              </a:rPr>
              <a:t>IMPLICATION</a:t>
            </a:r>
          </a:p>
        </p:txBody>
      </p:sp>
      <p:sp>
        <p:nvSpPr>
          <p:cNvPr id="28" name="">
            <a:extLst xmlns:a="http://schemas.openxmlformats.org/drawingml/2006/main">
              <a:ext uri="{FF2B5EF4-FFF2-40B4-BE49-F238E27FC236}">
                <a16:creationId xmlns:a16="http://schemas.microsoft.com/office/drawing/2014/main" id="{C1B892A3-EF57-48E8-BCD7-8010EC82190E}"/>
              </a:ext>
            </a:extLst>
          </p:cNvPr>
          <p:cNvSpPr>
            <a:spLocks xmlns:a="http://schemas.openxmlformats.org/drawingml/2006/main" noGrp="1"/>
          </p:cNvSpPr>
          <p:nvPr/>
        </p:nvSpPr>
        <p:spPr>
          <a:xfrm xmlns:a="http://schemas.openxmlformats.org/drawingml/2006/main">
            <a:off x="1952625" y="11734800"/>
            <a:ext cx="1428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00" b="0">
                <a:solidFill>
                  <a:srgbClr val="183B39"/>
                </a:solidFill>
              </a:defRPr>
            </a:pPr>
            <a:r>
              <a:rPr sz="600" b="0">
                <a:solidFill>
                  <a:srgbClr val="183B39"/>
                </a:solidFill>
              </a:rPr>
              <a:t>ME and TDC have nearly identical conversion — the same chain-zone-EAN fix applies to both brands simultaneously; BBlunt 35.2% is structural underperformance requiring a primary hold</a:t>
            </a:r>
          </a:p>
        </p:txBody>
      </p:sp>
      <p:sp>
        <p:nvSpPr>
          <p:cNvPr id="29" name="">
            <a:extLst xmlns:a="http://schemas.openxmlformats.org/drawingml/2006/main">
              <a:ext uri="{FF2B5EF4-FFF2-40B4-BE49-F238E27FC236}">
                <a16:creationId xmlns:a16="http://schemas.microsoft.com/office/drawing/2014/main" id="{F738AD35-2772-4E17-B5D2-F1CBC79EEAB0}"/>
              </a:ext>
            </a:extLst>
          </p:cNvPr>
          <p:cNvSpPr>
            <a:spLocks xmlns:a="http://schemas.openxmlformats.org/drawingml/2006/main" noGrp="1"/>
          </p:cNvSpPr>
          <p:nvPr/>
        </p:nvSpPr>
        <p:spPr>
          <a:xfrm xmlns:a="http://schemas.openxmlformats.org/drawingml/2006/main">
            <a:off x="3438525" y="11610975"/>
            <a:ext cx="0" cy="304800"/>
          </a:xfrm>
          <a:prstGeom xmlns:a="http://schemas.openxmlformats.org/drawingml/2006/main" prst="line">
            <a:avLst/>
          </a:prstGeom>
          <a:ln xmlns:a="http://schemas.openxmlformats.org/drawingml/2006/main" w="9525">
            <a:solidFill>
              <a:srgbClr val="C8DCD7"/>
            </a:solidFill>
            <a:prstDash val="solid"/>
          </a:ln>
        </p:spPr>
      </p:sp>
      <p:sp>
        <p:nvSpPr>
          <p:cNvPr id="30" name="">
            <a:extLst xmlns:a="http://schemas.openxmlformats.org/drawingml/2006/main">
              <a:ext uri="{FF2B5EF4-FFF2-40B4-BE49-F238E27FC236}">
                <a16:creationId xmlns:a16="http://schemas.microsoft.com/office/drawing/2014/main" id="{C0CDDC65-0D6E-4A06-9C93-BDF761C8CBDD}"/>
              </a:ext>
            </a:extLst>
          </p:cNvPr>
          <p:cNvSpPr>
            <a:spLocks xmlns:a="http://schemas.openxmlformats.org/drawingml/2006/main" noGrp="1"/>
          </p:cNvSpPr>
          <p:nvPr/>
        </p:nvSpPr>
        <p:spPr>
          <a:xfrm xmlns:a="http://schemas.openxmlformats.org/drawingml/2006/main">
            <a:off x="3467100" y="11582400"/>
            <a:ext cx="142875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38" b="1">
                <a:solidFill>
                  <a:srgbClr val="116F68"/>
                </a:solidFill>
              </a:defRPr>
            </a:pPr>
            <a:r>
              <a:rPr sz="638" b="1">
                <a:solidFill>
                  <a:srgbClr val="116F68"/>
                </a:solidFill>
              </a:rPr>
              <a:t>ACTION</a:t>
            </a:r>
          </a:p>
        </p:txBody>
      </p:sp>
      <p:sp>
        <p:nvSpPr>
          <p:cNvPr id="31" name="">
            <a:extLst xmlns:a="http://schemas.openxmlformats.org/drawingml/2006/main">
              <a:ext uri="{FF2B5EF4-FFF2-40B4-BE49-F238E27FC236}">
                <a16:creationId xmlns:a16="http://schemas.microsoft.com/office/drawing/2014/main" id="{1D297353-20AB-4A3E-A786-EB60282EB0B1}"/>
              </a:ext>
            </a:extLst>
          </p:cNvPr>
          <p:cNvSpPr>
            <a:spLocks xmlns:a="http://schemas.openxmlformats.org/drawingml/2006/main" noGrp="1"/>
          </p:cNvSpPr>
          <p:nvPr/>
        </p:nvSpPr>
        <p:spPr>
          <a:xfrm xmlns:a="http://schemas.openxmlformats.org/drawingml/2006/main">
            <a:off x="3467100" y="11734800"/>
            <a:ext cx="1428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00" b="0">
                <a:solidFill>
                  <a:srgbClr val="183B39"/>
                </a:solidFill>
              </a:defRPr>
            </a:pPr>
            <a:r>
              <a:rPr sz="600" b="0">
                <a:solidFill>
                  <a:srgbClr val="183B39"/>
                </a:solidFill>
              </a:rPr>
              <a:t>Hold BBlunt primary until offtake confirms store-level demand; reconcile Aqualogica opening stock before September load; apply chain-zone-EAN exception fix to TDC in parallel with ME</a:t>
            </a:r>
          </a:p>
        </p:txBody>
      </p:sp>
      <p:sp>
        <p:nvSpPr>
          <p:cNvPr id="32" name="">
            <a:extLst xmlns:a="http://schemas.openxmlformats.org/drawingml/2006/main">
              <a:ext uri="{FF2B5EF4-FFF2-40B4-BE49-F238E27FC236}">
                <a16:creationId xmlns:a16="http://schemas.microsoft.com/office/drawing/2014/main" id="{5F24765E-039C-4E61-8744-2209568A2B26}"/>
              </a:ext>
            </a:extLst>
          </p:cNvPr>
          <p:cNvSpPr>
            <a:spLocks xmlns:a="http://schemas.openxmlformats.org/drawingml/2006/main" noGrp="1"/>
          </p:cNvSpPr>
          <p:nvPr/>
        </p:nvSpPr>
        <p:spPr>
          <a:xfrm xmlns:a="http://schemas.openxmlformats.org/drawingml/2006/main">
            <a:off x="4953000" y="11610975"/>
            <a:ext cx="0" cy="304800"/>
          </a:xfrm>
          <a:prstGeom xmlns:a="http://schemas.openxmlformats.org/drawingml/2006/main" prst="line">
            <a:avLst/>
          </a:prstGeom>
          <a:ln xmlns:a="http://schemas.openxmlformats.org/drawingml/2006/main" w="9525">
            <a:solidFill>
              <a:srgbClr val="C8DCD7"/>
            </a:solidFill>
            <a:prstDash val="solid"/>
          </a:ln>
        </p:spPr>
      </p:sp>
      <p:sp>
        <p:nvSpPr>
          <p:cNvPr id="33" name="">
            <a:extLst xmlns:a="http://schemas.openxmlformats.org/drawingml/2006/main">
              <a:ext uri="{FF2B5EF4-FFF2-40B4-BE49-F238E27FC236}">
                <a16:creationId xmlns:a16="http://schemas.microsoft.com/office/drawing/2014/main" id="{B6185FC0-60A1-49F8-94CF-216A73389FDF}"/>
              </a:ext>
            </a:extLst>
          </p:cNvPr>
          <p:cNvSpPr>
            <a:spLocks xmlns:a="http://schemas.openxmlformats.org/drawingml/2006/main" noGrp="1"/>
          </p:cNvSpPr>
          <p:nvPr/>
        </p:nvSpPr>
        <p:spPr>
          <a:xfrm xmlns:a="http://schemas.openxmlformats.org/drawingml/2006/main">
            <a:off x="4981575" y="11582400"/>
            <a:ext cx="142875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38" b="1">
                <a:solidFill>
                  <a:srgbClr val="116F68"/>
                </a:solidFill>
              </a:defRPr>
            </a:pPr>
            <a:r>
              <a:rPr sz="638" b="1">
                <a:solidFill>
                  <a:srgbClr val="116F68"/>
                </a:solidFill>
              </a:rPr>
              <a:t>OWNER</a:t>
            </a:r>
          </a:p>
        </p:txBody>
      </p:sp>
      <p:sp>
        <p:nvSpPr>
          <p:cNvPr id="34" name="">
            <a:extLst xmlns:a="http://schemas.openxmlformats.org/drawingml/2006/main">
              <a:ext uri="{FF2B5EF4-FFF2-40B4-BE49-F238E27FC236}">
                <a16:creationId xmlns:a16="http://schemas.microsoft.com/office/drawing/2014/main" id="{5AB6DFC8-CEE3-4A2D-9345-CF41D3A00B2A}"/>
              </a:ext>
            </a:extLst>
          </p:cNvPr>
          <p:cNvSpPr>
            <a:spLocks xmlns:a="http://schemas.openxmlformats.org/drawingml/2006/main" noGrp="1"/>
          </p:cNvSpPr>
          <p:nvPr/>
        </p:nvSpPr>
        <p:spPr>
          <a:xfrm xmlns:a="http://schemas.openxmlformats.org/drawingml/2006/main">
            <a:off x="4981575" y="11734800"/>
            <a:ext cx="1428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00" b="0">
                <a:solidFill>
                  <a:srgbClr val="183B39"/>
                </a:solidFill>
              </a:defRPr>
            </a:pPr>
            <a:r>
              <a:rPr sz="600" b="0">
                <a:solidFill>
                  <a:srgbClr val="183B39"/>
                </a:solidFill>
              </a:rPr>
              <a:t>Category (BBlunt, Aqualogica) + Supply | By 31-Aug</a:t>
            </a:r>
          </a:p>
        </p:txBody>
      </p:sp>
    </p:spTree>
    <p:extLst>
      <p:ext uri="{BB962C8B-B14F-4D97-AF65-F5344CB8AC3E}">
        <p14:creationId xmlns:p14="http://schemas.microsoft.com/office/powerpoint/2010/main" val="98803543"/>
      </p:ext>
    </p:extLst>
  </p:cSld>
</p:sld>
</file>

<file path=ppt/slides/slide18.xml><?xml version="1.0" encoding="utf-8"?>
<p:sld xmlns:p="http://schemas.openxmlformats.org/presentationml/2006/main">
  <p:cSld>
    <p:bg>
      <p:bgPr>
        <a:solidFill xmlns:a="http://schemas.openxmlformats.org/drawingml/2006/main">
          <a:srgbClr val="F7FBFA"/>
        </a:solidFill>
      </p:bgPr>
    </p:bg>
    <p:spTree>
      <p:nvGrpSpPr>
        <p:cNvPr id="1" name=""/>
        <p:cNvGrpSpPr/>
        <p:nvPr/>
      </p:nvGrpSpPr>
      <p:grpSpPr>
        <a:xfrm xmlns:a="http://schemas.openxmlformats.org/drawingml/2006/main"/>
      </p:grpSpPr>
      <p:sp>
        <p:nvSpPr>
          <p:cNvPr id="73" name="">
            <a:extLst xmlns:a="http://schemas.openxmlformats.org/drawingml/2006/main">
              <a:ext uri="{FF2B5EF4-FFF2-40B4-BE49-F238E27FC236}">
                <a16:creationId xmlns:a16="http://schemas.microsoft.com/office/drawing/2014/main" id="{991B333B-AAE6-4E8A-A66B-DBDCEE8F69A1}"/>
              </a:ext>
            </a:extLst>
          </p:cNvPr>
          <p:cNvSpPr>
            <a:spLocks xmlns:a="http://schemas.openxmlformats.org/drawingml/2006/main" noGrp="1"/>
          </p:cNvSpPr>
          <p:nvPr/>
        </p:nvSpPr>
        <p:spPr>
          <a:xfrm xmlns:a="http://schemas.openxmlformats.org/drawingml/2006/main">
            <a:off x="0" y="0"/>
            <a:ext cx="6858000" cy="1000125"/>
          </a:xfrm>
          <a:prstGeom xmlns:a="http://schemas.openxmlformats.org/drawingml/2006/main" prst="rect">
            <a:avLst/>
          </a:prstGeom>
          <a:solidFill xmlns:a="http://schemas.openxmlformats.org/drawingml/2006/main">
            <a:srgbClr val="116F68"/>
          </a:solidFill>
          <a:ln xmlns:a="http://schemas.openxmlformats.org/drawingml/2006/main" w="0">
            <a:solidFill>
              <a:srgbClr val="116F68"/>
            </a:solidFill>
            <a:prstDash val="solid"/>
          </a:ln>
        </p:spPr>
      </p:sp>
      <p:sp>
        <p:nvSpPr>
          <p:cNvPr id="2" name="">
            <a:extLst xmlns:a="http://schemas.openxmlformats.org/drawingml/2006/main">
              <a:ext uri="{FF2B5EF4-FFF2-40B4-BE49-F238E27FC236}">
                <a16:creationId xmlns:a16="http://schemas.microsoft.com/office/drawing/2014/main" id="{A8F78F48-3C01-4318-A764-77F8F172A7E5}"/>
              </a:ext>
            </a:extLst>
          </p:cNvPr>
          <p:cNvSpPr>
            <a:spLocks xmlns:a="http://schemas.openxmlformats.org/drawingml/2006/main" noGrp="1"/>
          </p:cNvSpPr>
          <p:nvPr/>
        </p:nvSpPr>
        <p:spPr>
          <a:xfrm xmlns:a="http://schemas.openxmlformats.org/drawingml/2006/main">
            <a:off x="361950" y="228600"/>
            <a:ext cx="59055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2025" b="1">
                <a:solidFill>
                  <a:srgbClr val="FFFFFF"/>
                </a:solidFill>
              </a:defRPr>
            </a:pPr>
            <a:r>
              <a:rPr sz="2025" b="1">
                <a:solidFill>
                  <a:srgbClr val="FFFFFF"/>
                </a:solidFill>
              </a:rPr>
              <a:t>A 90-day operating cadence can convert the gap without indiscriminate loading</a:t>
            </a:r>
          </a:p>
        </p:txBody>
      </p:sp>
      <p:sp>
        <p:nvSpPr>
          <p:cNvPr id="3" name="">
            <a:extLst xmlns:a="http://schemas.openxmlformats.org/drawingml/2006/main">
              <a:ext uri="{FF2B5EF4-FFF2-40B4-BE49-F238E27FC236}">
                <a16:creationId xmlns:a16="http://schemas.microsoft.com/office/drawing/2014/main" id="{22542717-CE6C-4328-A6D0-3A3C6D374C0D}"/>
              </a:ext>
            </a:extLst>
          </p:cNvPr>
          <p:cNvSpPr>
            <a:spLocks xmlns:a="http://schemas.openxmlformats.org/drawingml/2006/main" noGrp="1"/>
          </p:cNvSpPr>
          <p:nvPr/>
        </p:nvSpPr>
        <p:spPr>
          <a:xfrm xmlns:a="http://schemas.openxmlformats.org/drawingml/2006/main">
            <a:off x="381000" y="695325"/>
            <a:ext cx="57150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75" b="0">
                <a:solidFill>
                  <a:srgbClr val="DFF2ED"/>
                </a:solidFill>
              </a:defRPr>
            </a:pPr>
            <a:r>
              <a:rPr sz="975" b="0">
                <a:solidFill>
                  <a:srgbClr val="DFF2ED"/>
                </a:solidFill>
              </a:rPr>
              <a:t>Sales uplift plan | owners, actions and proof points</a:t>
            </a:r>
          </a:p>
        </p:txBody>
      </p:sp>
      <p:sp>
        <p:nvSpPr>
          <p:cNvPr id="4" name="">
            <a:extLst xmlns:a="http://schemas.openxmlformats.org/drawingml/2006/main">
              <a:ext uri="{FF2B5EF4-FFF2-40B4-BE49-F238E27FC236}">
                <a16:creationId xmlns:a16="http://schemas.microsoft.com/office/drawing/2014/main" id="{B3373A81-BA2C-4F16-837D-55695E54BBCC}"/>
              </a:ext>
            </a:extLst>
          </p:cNvPr>
          <p:cNvSpPr>
            <a:spLocks xmlns:a="http://schemas.openxmlformats.org/drawingml/2006/main" noGrp="1"/>
          </p:cNvSpPr>
          <p:nvPr/>
        </p:nvSpPr>
        <p:spPr>
          <a:xfrm xmlns:a="http://schemas.openxmlformats.org/drawingml/2006/main">
            <a:off x="6191250" y="361950"/>
            <a:ext cx="3429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900" b="1">
                <a:solidFill>
                  <a:srgbClr val="FFFFFF"/>
                </a:solidFill>
              </a:defRPr>
            </a:pPr>
            <a:r>
              <a:rPr sz="900" b="1">
                <a:solidFill>
                  <a:srgbClr val="FFFFFF"/>
                </a:solidFill>
              </a:rPr>
              <a:t>18</a:t>
            </a:r>
          </a:p>
        </p:txBody>
      </p:sp>
      <p:sp>
        <p:nvSpPr>
          <p:cNvPr id="5" name="">
            <a:extLst xmlns:a="http://schemas.openxmlformats.org/drawingml/2006/main">
              <a:ext uri="{FF2B5EF4-FFF2-40B4-BE49-F238E27FC236}">
                <a16:creationId xmlns:a16="http://schemas.microsoft.com/office/drawing/2014/main" id="{4B665212-17BA-4B1A-85FC-516C2E40C221}"/>
              </a:ext>
            </a:extLst>
          </p:cNvPr>
          <p:cNvSpPr>
            <a:spLocks xmlns:a="http://schemas.openxmlformats.org/drawingml/2006/main" noGrp="1"/>
          </p:cNvSpPr>
          <p:nvPr/>
        </p:nvSpPr>
        <p:spPr>
          <a:xfrm xmlns:a="http://schemas.openxmlformats.org/drawingml/2006/main">
            <a:off x="361950" y="1428750"/>
            <a:ext cx="1866900" cy="4762500"/>
          </a:xfrm>
          <a:prstGeom xmlns:a="http://schemas.openxmlformats.org/drawingml/2006/main" prst="roundRect">
            <a:avLst>
              <a:gd name="adj" fmla="val 4082"/>
            </a:avLst>
          </a:prstGeom>
          <a:solidFill xmlns:a="http://schemas.openxmlformats.org/drawingml/2006/main">
            <a:srgbClr val="FFFFFF"/>
          </a:solidFill>
          <a:ln xmlns:a="http://schemas.openxmlformats.org/drawingml/2006/main" w="9525">
            <a:solidFill>
              <a:srgbClr val="C8DCD7"/>
            </a:solidFill>
            <a:prstDash val="solid"/>
          </a:ln>
        </p:spPr>
      </p:sp>
      <p:sp>
        <p:nvSpPr>
          <p:cNvPr id="6" name="">
            <a:extLst xmlns:a="http://schemas.openxmlformats.org/drawingml/2006/main">
              <a:ext uri="{FF2B5EF4-FFF2-40B4-BE49-F238E27FC236}">
                <a16:creationId xmlns:a16="http://schemas.microsoft.com/office/drawing/2014/main" id="{817740E3-BBCE-4DDB-9BF2-91D1769DCAE2}"/>
              </a:ext>
            </a:extLst>
          </p:cNvPr>
          <p:cNvSpPr>
            <a:spLocks xmlns:a="http://schemas.openxmlformats.org/drawingml/2006/main" noGrp="1"/>
          </p:cNvSpPr>
          <p:nvPr/>
        </p:nvSpPr>
        <p:spPr>
          <a:xfrm xmlns:a="http://schemas.openxmlformats.org/drawingml/2006/main">
            <a:off x="361950" y="1428750"/>
            <a:ext cx="1866900" cy="495300"/>
          </a:xfrm>
          <a:prstGeom xmlns:a="http://schemas.openxmlformats.org/drawingml/2006/main" prst="rect">
            <a:avLst/>
          </a:prstGeom>
          <a:solidFill xmlns:a="http://schemas.openxmlformats.org/drawingml/2006/main">
            <a:srgbClr val="D6544D"/>
          </a:solidFill>
          <a:ln xmlns:a="http://schemas.openxmlformats.org/drawingml/2006/main" w="0">
            <a:solidFill>
              <a:srgbClr val="D6544D"/>
            </a:solidFill>
            <a:prstDash val="solid"/>
          </a:ln>
        </p:spPr>
      </p:sp>
      <p:sp>
        <p:nvSpPr>
          <p:cNvPr id="7" name="">
            <a:extLst xmlns:a="http://schemas.openxmlformats.org/drawingml/2006/main">
              <a:ext uri="{FF2B5EF4-FFF2-40B4-BE49-F238E27FC236}">
                <a16:creationId xmlns:a16="http://schemas.microsoft.com/office/drawing/2014/main" id="{E16BC5BF-A3FF-4DB0-971F-35F283BADF6D}"/>
              </a:ext>
            </a:extLst>
          </p:cNvPr>
          <p:cNvSpPr>
            <a:spLocks xmlns:a="http://schemas.openxmlformats.org/drawingml/2006/main" noGrp="1"/>
          </p:cNvSpPr>
          <p:nvPr/>
        </p:nvSpPr>
        <p:spPr>
          <a:xfrm xmlns:a="http://schemas.openxmlformats.org/drawingml/2006/main">
            <a:off x="476250" y="1524000"/>
            <a:ext cx="16383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125" b="1">
                <a:solidFill>
                  <a:srgbClr val="FFFFFF"/>
                </a:solidFill>
              </a:defRPr>
            </a:pPr>
            <a:r>
              <a:rPr sz="1125" b="1">
                <a:solidFill>
                  <a:srgbClr val="FFFFFF"/>
                </a:solidFill>
              </a:rPr>
              <a:t>0–30 DAYS</a:t>
            </a:r>
          </a:p>
        </p:txBody>
      </p:sp>
      <p:sp>
        <p:nvSpPr>
          <p:cNvPr id="8" name="">
            <a:extLst xmlns:a="http://schemas.openxmlformats.org/drawingml/2006/main">
              <a:ext uri="{FF2B5EF4-FFF2-40B4-BE49-F238E27FC236}">
                <a16:creationId xmlns:a16="http://schemas.microsoft.com/office/drawing/2014/main" id="{6ACE462A-DE91-4F8C-B564-52E054117E55}"/>
              </a:ext>
            </a:extLst>
          </p:cNvPr>
          <p:cNvSpPr>
            <a:spLocks xmlns:a="http://schemas.openxmlformats.org/drawingml/2006/main" noGrp="1"/>
          </p:cNvSpPr>
          <p:nvPr/>
        </p:nvSpPr>
        <p:spPr>
          <a:xfrm xmlns:a="http://schemas.openxmlformats.org/drawingml/2006/main">
            <a:off x="495300" y="2143125"/>
            <a:ext cx="238125"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900" b="1">
                <a:solidFill>
                  <a:srgbClr val="D6544D"/>
                </a:solidFill>
              </a:defRPr>
            </a:pPr>
            <a:r>
              <a:rPr sz="900" b="1">
                <a:solidFill>
                  <a:srgbClr val="D6544D"/>
                </a:solidFill>
              </a:rPr>
              <a:t>1</a:t>
            </a:r>
          </a:p>
        </p:txBody>
      </p:sp>
      <p:sp>
        <p:nvSpPr>
          <p:cNvPr id="9" name="">
            <a:extLst xmlns:a="http://schemas.openxmlformats.org/drawingml/2006/main">
              <a:ext uri="{FF2B5EF4-FFF2-40B4-BE49-F238E27FC236}">
                <a16:creationId xmlns:a16="http://schemas.microsoft.com/office/drawing/2014/main" id="{7AB25E53-60F4-4E92-8B30-6C566A433B01}"/>
              </a:ext>
            </a:extLst>
          </p:cNvPr>
          <p:cNvSpPr>
            <a:spLocks xmlns:a="http://schemas.openxmlformats.org/drawingml/2006/main" noGrp="1"/>
          </p:cNvSpPr>
          <p:nvPr/>
        </p:nvSpPr>
        <p:spPr>
          <a:xfrm xmlns:a="http://schemas.openxmlformats.org/drawingml/2006/main">
            <a:off x="790575" y="2047875"/>
            <a:ext cx="1285875"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050" b="1">
                <a:solidFill>
                  <a:srgbClr val="183B39"/>
                </a:solidFill>
              </a:defRPr>
            </a:pPr>
            <a:r>
              <a:rPr sz="1050" b="1">
                <a:solidFill>
                  <a:srgbClr val="183B39"/>
                </a:solidFill>
              </a:rPr>
              <a:t>Reconcile SAH / WD / PDO / OOS fields</a:t>
            </a:r>
          </a:p>
        </p:txBody>
      </p:sp>
      <p:sp>
        <p:nvSpPr>
          <p:cNvPr id="10" name="">
            <a:extLst xmlns:a="http://schemas.openxmlformats.org/drawingml/2006/main">
              <a:ext uri="{FF2B5EF4-FFF2-40B4-BE49-F238E27FC236}">
                <a16:creationId xmlns:a16="http://schemas.microsoft.com/office/drawing/2014/main" id="{5C9D4DD2-4FC1-41D7-ADA4-280357732E0F}"/>
              </a:ext>
            </a:extLst>
          </p:cNvPr>
          <p:cNvSpPr>
            <a:spLocks xmlns:a="http://schemas.openxmlformats.org/drawingml/2006/main" noGrp="1"/>
          </p:cNvSpPr>
          <p:nvPr/>
        </p:nvSpPr>
        <p:spPr>
          <a:xfrm xmlns:a="http://schemas.openxmlformats.org/drawingml/2006/main">
            <a:off x="495300" y="3019425"/>
            <a:ext cx="238125"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900" b="1">
                <a:solidFill>
                  <a:srgbClr val="D6544D"/>
                </a:solidFill>
              </a:defRPr>
            </a:pPr>
            <a:r>
              <a:rPr sz="900" b="1">
                <a:solidFill>
                  <a:srgbClr val="D6544D"/>
                </a:solidFill>
              </a:rPr>
              <a:t>2</a:t>
            </a:r>
          </a:p>
        </p:txBody>
      </p:sp>
      <p:sp>
        <p:nvSpPr>
          <p:cNvPr id="11" name="">
            <a:extLst xmlns:a="http://schemas.openxmlformats.org/drawingml/2006/main">
              <a:ext uri="{FF2B5EF4-FFF2-40B4-BE49-F238E27FC236}">
                <a16:creationId xmlns:a16="http://schemas.microsoft.com/office/drawing/2014/main" id="{EC68C0D2-B372-41C2-A36F-58A28A0658EA}"/>
              </a:ext>
            </a:extLst>
          </p:cNvPr>
          <p:cNvSpPr>
            <a:spLocks xmlns:a="http://schemas.openxmlformats.org/drawingml/2006/main" noGrp="1"/>
          </p:cNvSpPr>
          <p:nvPr/>
        </p:nvSpPr>
        <p:spPr>
          <a:xfrm xmlns:a="http://schemas.openxmlformats.org/drawingml/2006/main">
            <a:off x="790575" y="2924175"/>
            <a:ext cx="1285875"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050" b="0">
                <a:solidFill>
                  <a:srgbClr val="183B39"/>
                </a:solidFill>
              </a:defRPr>
            </a:pPr>
            <a:r>
              <a:rPr sz="1050" b="0">
                <a:solidFill>
                  <a:srgbClr val="183B39"/>
                </a:solidFill>
              </a:rPr>
              <a:t>Publish state × chain × hero-EAN gaps</a:t>
            </a:r>
          </a:p>
        </p:txBody>
      </p:sp>
      <p:sp>
        <p:nvSpPr>
          <p:cNvPr id="12" name="">
            <a:extLst xmlns:a="http://schemas.openxmlformats.org/drawingml/2006/main">
              <a:ext uri="{FF2B5EF4-FFF2-40B4-BE49-F238E27FC236}">
                <a16:creationId xmlns:a16="http://schemas.microsoft.com/office/drawing/2014/main" id="{CBE24DB4-9FC6-45C3-ACE4-EB2840A99533}"/>
              </a:ext>
            </a:extLst>
          </p:cNvPr>
          <p:cNvSpPr>
            <a:spLocks xmlns:a="http://schemas.openxmlformats.org/drawingml/2006/main" noGrp="1"/>
          </p:cNvSpPr>
          <p:nvPr/>
        </p:nvSpPr>
        <p:spPr>
          <a:xfrm xmlns:a="http://schemas.openxmlformats.org/drawingml/2006/main">
            <a:off x="495300" y="3895725"/>
            <a:ext cx="238125"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900" b="1">
                <a:solidFill>
                  <a:srgbClr val="D6544D"/>
                </a:solidFill>
              </a:defRPr>
            </a:pPr>
            <a:r>
              <a:rPr sz="900" b="1">
                <a:solidFill>
                  <a:srgbClr val="D6544D"/>
                </a:solidFill>
              </a:rPr>
              <a:t>3</a:t>
            </a:r>
          </a:p>
        </p:txBody>
      </p:sp>
      <p:sp>
        <p:nvSpPr>
          <p:cNvPr id="13" name="">
            <a:extLst xmlns:a="http://schemas.openxmlformats.org/drawingml/2006/main">
              <a:ext uri="{FF2B5EF4-FFF2-40B4-BE49-F238E27FC236}">
                <a16:creationId xmlns:a16="http://schemas.microsoft.com/office/drawing/2014/main" id="{38381C5A-F3CD-4121-A119-EC463581189D}"/>
              </a:ext>
            </a:extLst>
          </p:cNvPr>
          <p:cNvSpPr>
            <a:spLocks xmlns:a="http://schemas.openxmlformats.org/drawingml/2006/main" noGrp="1"/>
          </p:cNvSpPr>
          <p:nvPr/>
        </p:nvSpPr>
        <p:spPr>
          <a:xfrm xmlns:a="http://schemas.openxmlformats.org/drawingml/2006/main">
            <a:off x="790575" y="3800475"/>
            <a:ext cx="1285875"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050" b="0">
                <a:solidFill>
                  <a:srgbClr val="183B39"/>
                </a:solidFill>
              </a:defRPr>
            </a:pPr>
            <a:r>
              <a:rPr sz="1050" b="0">
                <a:solidFill>
                  <a:srgbClr val="183B39"/>
                </a:solidFill>
              </a:rPr>
              <a:t>Find stores missing Rice/Ubtan/Onion/Rosemary</a:t>
            </a:r>
          </a:p>
        </p:txBody>
      </p:sp>
      <p:sp>
        <p:nvSpPr>
          <p:cNvPr id="14" name="">
            <a:extLst xmlns:a="http://schemas.openxmlformats.org/drawingml/2006/main">
              <a:ext uri="{FF2B5EF4-FFF2-40B4-BE49-F238E27FC236}">
                <a16:creationId xmlns:a16="http://schemas.microsoft.com/office/drawing/2014/main" id="{365D00B7-443E-42EE-BBF8-6F754EC82B47}"/>
              </a:ext>
            </a:extLst>
          </p:cNvPr>
          <p:cNvSpPr>
            <a:spLocks xmlns:a="http://schemas.openxmlformats.org/drawingml/2006/main" noGrp="1"/>
          </p:cNvSpPr>
          <p:nvPr/>
        </p:nvSpPr>
        <p:spPr>
          <a:xfrm xmlns:a="http://schemas.openxmlformats.org/drawingml/2006/main">
            <a:off x="495300" y="4772025"/>
            <a:ext cx="238125"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900" b="1">
                <a:solidFill>
                  <a:srgbClr val="D6544D"/>
                </a:solidFill>
              </a:defRPr>
            </a:pPr>
            <a:r>
              <a:rPr sz="900" b="1">
                <a:solidFill>
                  <a:srgbClr val="D6544D"/>
                </a:solidFill>
              </a:rPr>
              <a:t>4</a:t>
            </a:r>
          </a:p>
        </p:txBody>
      </p:sp>
      <p:sp>
        <p:nvSpPr>
          <p:cNvPr id="15" name="">
            <a:extLst xmlns:a="http://schemas.openxmlformats.org/drawingml/2006/main">
              <a:ext uri="{FF2B5EF4-FFF2-40B4-BE49-F238E27FC236}">
                <a16:creationId xmlns:a16="http://schemas.microsoft.com/office/drawing/2014/main" id="{5C5E5319-22BD-4E0B-861B-65F756DF5D0F}"/>
              </a:ext>
            </a:extLst>
          </p:cNvPr>
          <p:cNvSpPr>
            <a:spLocks xmlns:a="http://schemas.openxmlformats.org/drawingml/2006/main" noGrp="1"/>
          </p:cNvSpPr>
          <p:nvPr/>
        </p:nvSpPr>
        <p:spPr>
          <a:xfrm xmlns:a="http://schemas.openxmlformats.org/drawingml/2006/main">
            <a:off x="790575" y="4676775"/>
            <a:ext cx="1285875"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050" b="0">
                <a:solidFill>
                  <a:srgbClr val="183B39"/>
                </a:solidFill>
              </a:defRPr>
            </a:pPr>
            <a:r>
              <a:rPr sz="1050" b="0">
                <a:solidFill>
                  <a:srgbClr val="183B39"/>
                </a:solidFill>
              </a:rPr>
              <a:t>Stop loading weak-conversion exceptions</a:t>
            </a:r>
          </a:p>
        </p:txBody>
      </p:sp>
      <p:sp>
        <p:nvSpPr>
          <p:cNvPr id="16" name="">
            <a:extLst xmlns:a="http://schemas.openxmlformats.org/drawingml/2006/main">
              <a:ext uri="{FF2B5EF4-FFF2-40B4-BE49-F238E27FC236}">
                <a16:creationId xmlns:a16="http://schemas.microsoft.com/office/drawing/2014/main" id="{636DF75D-4425-4371-9248-EFD738B9162A}"/>
              </a:ext>
            </a:extLst>
          </p:cNvPr>
          <p:cNvSpPr>
            <a:spLocks xmlns:a="http://schemas.openxmlformats.org/drawingml/2006/main" noGrp="1"/>
          </p:cNvSpPr>
          <p:nvPr/>
        </p:nvSpPr>
        <p:spPr>
          <a:xfrm xmlns:a="http://schemas.openxmlformats.org/drawingml/2006/main">
            <a:off x="2495550" y="1428750"/>
            <a:ext cx="1866900" cy="4762500"/>
          </a:xfrm>
          <a:prstGeom xmlns:a="http://schemas.openxmlformats.org/drawingml/2006/main" prst="roundRect">
            <a:avLst>
              <a:gd name="adj" fmla="val 4082"/>
            </a:avLst>
          </a:prstGeom>
          <a:solidFill xmlns:a="http://schemas.openxmlformats.org/drawingml/2006/main">
            <a:srgbClr val="FFFFFF"/>
          </a:solidFill>
          <a:ln xmlns:a="http://schemas.openxmlformats.org/drawingml/2006/main" w="9525">
            <a:solidFill>
              <a:srgbClr val="C8DCD7"/>
            </a:solidFill>
            <a:prstDash val="solid"/>
          </a:ln>
        </p:spPr>
      </p:sp>
      <p:sp>
        <p:nvSpPr>
          <p:cNvPr id="17" name="">
            <a:extLst xmlns:a="http://schemas.openxmlformats.org/drawingml/2006/main">
              <a:ext uri="{FF2B5EF4-FFF2-40B4-BE49-F238E27FC236}">
                <a16:creationId xmlns:a16="http://schemas.microsoft.com/office/drawing/2014/main" id="{3F115890-809A-49F8-9DD8-137A91B953A6}"/>
              </a:ext>
            </a:extLst>
          </p:cNvPr>
          <p:cNvSpPr>
            <a:spLocks xmlns:a="http://schemas.openxmlformats.org/drawingml/2006/main" noGrp="1"/>
          </p:cNvSpPr>
          <p:nvPr/>
        </p:nvSpPr>
        <p:spPr>
          <a:xfrm xmlns:a="http://schemas.openxmlformats.org/drawingml/2006/main">
            <a:off x="2495550" y="1428750"/>
            <a:ext cx="1866900" cy="495300"/>
          </a:xfrm>
          <a:prstGeom xmlns:a="http://schemas.openxmlformats.org/drawingml/2006/main" prst="rect">
            <a:avLst/>
          </a:prstGeom>
          <a:solidFill xmlns:a="http://schemas.openxmlformats.org/drawingml/2006/main">
            <a:srgbClr val="F2B84B"/>
          </a:solidFill>
          <a:ln xmlns:a="http://schemas.openxmlformats.org/drawingml/2006/main" w="0">
            <a:solidFill>
              <a:srgbClr val="F2B84B"/>
            </a:solidFill>
            <a:prstDash val="solid"/>
          </a:ln>
        </p:spPr>
      </p:sp>
      <p:sp>
        <p:nvSpPr>
          <p:cNvPr id="18" name="">
            <a:extLst xmlns:a="http://schemas.openxmlformats.org/drawingml/2006/main">
              <a:ext uri="{FF2B5EF4-FFF2-40B4-BE49-F238E27FC236}">
                <a16:creationId xmlns:a16="http://schemas.microsoft.com/office/drawing/2014/main" id="{D67820DB-3EA3-4203-B1F8-4C60C519D735}"/>
              </a:ext>
            </a:extLst>
          </p:cNvPr>
          <p:cNvSpPr>
            <a:spLocks xmlns:a="http://schemas.openxmlformats.org/drawingml/2006/main" noGrp="1"/>
          </p:cNvSpPr>
          <p:nvPr/>
        </p:nvSpPr>
        <p:spPr>
          <a:xfrm xmlns:a="http://schemas.openxmlformats.org/drawingml/2006/main">
            <a:off x="2609850" y="1524000"/>
            <a:ext cx="16383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125" b="1">
                <a:solidFill>
                  <a:srgbClr val="FFFFFF"/>
                </a:solidFill>
              </a:defRPr>
            </a:pPr>
            <a:r>
              <a:rPr sz="1125" b="1">
                <a:solidFill>
                  <a:srgbClr val="FFFFFF"/>
                </a:solidFill>
              </a:rPr>
              <a:t>31–60 DAYS</a:t>
            </a:r>
          </a:p>
        </p:txBody>
      </p:sp>
      <p:sp>
        <p:nvSpPr>
          <p:cNvPr id="19" name="">
            <a:extLst xmlns:a="http://schemas.openxmlformats.org/drawingml/2006/main">
              <a:ext uri="{FF2B5EF4-FFF2-40B4-BE49-F238E27FC236}">
                <a16:creationId xmlns:a16="http://schemas.microsoft.com/office/drawing/2014/main" id="{0D45958F-0590-497B-99FE-C654B7515B43}"/>
              </a:ext>
            </a:extLst>
          </p:cNvPr>
          <p:cNvSpPr>
            <a:spLocks xmlns:a="http://schemas.openxmlformats.org/drawingml/2006/main" noGrp="1"/>
          </p:cNvSpPr>
          <p:nvPr/>
        </p:nvSpPr>
        <p:spPr>
          <a:xfrm xmlns:a="http://schemas.openxmlformats.org/drawingml/2006/main">
            <a:off x="2628900" y="2143125"/>
            <a:ext cx="238125"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900" b="1">
                <a:solidFill>
                  <a:srgbClr val="F2B84B"/>
                </a:solidFill>
              </a:defRPr>
            </a:pPr>
            <a:r>
              <a:rPr sz="900" b="1">
                <a:solidFill>
                  <a:srgbClr val="F2B84B"/>
                </a:solidFill>
              </a:rPr>
              <a:t>1</a:t>
            </a:r>
          </a:p>
        </p:txBody>
      </p:sp>
      <p:sp>
        <p:nvSpPr>
          <p:cNvPr id="20" name="">
            <a:extLst xmlns:a="http://schemas.openxmlformats.org/drawingml/2006/main">
              <a:ext uri="{FF2B5EF4-FFF2-40B4-BE49-F238E27FC236}">
                <a16:creationId xmlns:a16="http://schemas.microsoft.com/office/drawing/2014/main" id="{E8F8D935-741A-4A9D-AA72-9805A1D49C0D}"/>
              </a:ext>
            </a:extLst>
          </p:cNvPr>
          <p:cNvSpPr>
            <a:spLocks xmlns:a="http://schemas.openxmlformats.org/drawingml/2006/main" noGrp="1"/>
          </p:cNvSpPr>
          <p:nvPr/>
        </p:nvSpPr>
        <p:spPr>
          <a:xfrm xmlns:a="http://schemas.openxmlformats.org/drawingml/2006/main">
            <a:off x="2924175" y="2047875"/>
            <a:ext cx="1285875"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050" b="1">
                <a:solidFill>
                  <a:srgbClr val="183B39"/>
                </a:solidFill>
              </a:defRPr>
            </a:pPr>
            <a:r>
              <a:rPr sz="1050" b="1">
                <a:solidFill>
                  <a:srgbClr val="183B39"/>
                </a:solidFill>
              </a:rPr>
              <a:t>Size white space in ₹ using productive stores × PDO</a:t>
            </a:r>
          </a:p>
        </p:txBody>
      </p:sp>
      <p:sp>
        <p:nvSpPr>
          <p:cNvPr id="21" name="">
            <a:extLst xmlns:a="http://schemas.openxmlformats.org/drawingml/2006/main">
              <a:ext uri="{FF2B5EF4-FFF2-40B4-BE49-F238E27FC236}">
                <a16:creationId xmlns:a16="http://schemas.microsoft.com/office/drawing/2014/main" id="{8915CE1B-F223-4880-A8F8-B8EA4F819393}"/>
              </a:ext>
            </a:extLst>
          </p:cNvPr>
          <p:cNvSpPr>
            <a:spLocks xmlns:a="http://schemas.openxmlformats.org/drawingml/2006/main" noGrp="1"/>
          </p:cNvSpPr>
          <p:nvPr/>
        </p:nvSpPr>
        <p:spPr>
          <a:xfrm xmlns:a="http://schemas.openxmlformats.org/drawingml/2006/main">
            <a:off x="2628900" y="3019425"/>
            <a:ext cx="238125"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900" b="1">
                <a:solidFill>
                  <a:srgbClr val="F2B84B"/>
                </a:solidFill>
              </a:defRPr>
            </a:pPr>
            <a:r>
              <a:rPr sz="900" b="1">
                <a:solidFill>
                  <a:srgbClr val="F2B84B"/>
                </a:solidFill>
              </a:rPr>
              <a:t>2</a:t>
            </a:r>
          </a:p>
        </p:txBody>
      </p:sp>
      <p:sp>
        <p:nvSpPr>
          <p:cNvPr id="22" name="">
            <a:extLst xmlns:a="http://schemas.openxmlformats.org/drawingml/2006/main">
              <a:ext uri="{FF2B5EF4-FFF2-40B4-BE49-F238E27FC236}">
                <a16:creationId xmlns:a16="http://schemas.microsoft.com/office/drawing/2014/main" id="{20A937D2-F63F-4C84-AD58-0BE794FC170D}"/>
              </a:ext>
            </a:extLst>
          </p:cNvPr>
          <p:cNvSpPr>
            <a:spLocks xmlns:a="http://schemas.openxmlformats.org/drawingml/2006/main" noGrp="1"/>
          </p:cNvSpPr>
          <p:nvPr/>
        </p:nvSpPr>
        <p:spPr>
          <a:xfrm xmlns:a="http://schemas.openxmlformats.org/drawingml/2006/main">
            <a:off x="2924175" y="2924175"/>
            <a:ext cx="1285875"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050" b="0">
                <a:solidFill>
                  <a:srgbClr val="183B39"/>
                </a:solidFill>
              </a:defRPr>
            </a:pPr>
            <a:r>
              <a:rPr sz="1050" b="0">
                <a:solidFill>
                  <a:srgbClr val="183B39"/>
                </a:solidFill>
              </a:rPr>
              <a:t>Run pack and hero-SKU controlled pilots</a:t>
            </a:r>
          </a:p>
        </p:txBody>
      </p:sp>
      <p:sp>
        <p:nvSpPr>
          <p:cNvPr id="23" name="">
            <a:extLst xmlns:a="http://schemas.openxmlformats.org/drawingml/2006/main">
              <a:ext uri="{FF2B5EF4-FFF2-40B4-BE49-F238E27FC236}">
                <a16:creationId xmlns:a16="http://schemas.microsoft.com/office/drawing/2014/main" id="{78E19747-E242-4900-BFD4-419ACB137C1E}"/>
              </a:ext>
            </a:extLst>
          </p:cNvPr>
          <p:cNvSpPr>
            <a:spLocks xmlns:a="http://schemas.openxmlformats.org/drawingml/2006/main" noGrp="1"/>
          </p:cNvSpPr>
          <p:nvPr/>
        </p:nvSpPr>
        <p:spPr>
          <a:xfrm xmlns:a="http://schemas.openxmlformats.org/drawingml/2006/main">
            <a:off x="2628900" y="3895725"/>
            <a:ext cx="238125"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900" b="1">
                <a:solidFill>
                  <a:srgbClr val="F2B84B"/>
                </a:solidFill>
              </a:defRPr>
            </a:pPr>
            <a:r>
              <a:rPr sz="900" b="1">
                <a:solidFill>
                  <a:srgbClr val="F2B84B"/>
                </a:solidFill>
              </a:rPr>
              <a:t>3</a:t>
            </a:r>
          </a:p>
        </p:txBody>
      </p:sp>
      <p:sp>
        <p:nvSpPr>
          <p:cNvPr id="24" name="">
            <a:extLst xmlns:a="http://schemas.openxmlformats.org/drawingml/2006/main">
              <a:ext uri="{FF2B5EF4-FFF2-40B4-BE49-F238E27FC236}">
                <a16:creationId xmlns:a16="http://schemas.microsoft.com/office/drawing/2014/main" id="{2B86B088-C071-4915-A70E-DDBCAF4C4898}"/>
              </a:ext>
            </a:extLst>
          </p:cNvPr>
          <p:cNvSpPr>
            <a:spLocks xmlns:a="http://schemas.openxmlformats.org/drawingml/2006/main" noGrp="1"/>
          </p:cNvSpPr>
          <p:nvPr/>
        </p:nvSpPr>
        <p:spPr>
          <a:xfrm xmlns:a="http://schemas.openxmlformats.org/drawingml/2006/main">
            <a:off x="2924175" y="3800475"/>
            <a:ext cx="1285875"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050" b="0">
                <a:solidFill>
                  <a:srgbClr val="183B39"/>
                </a:solidFill>
              </a:defRPr>
            </a:pPr>
            <a:r>
              <a:rPr sz="1050" b="0">
                <a:solidFill>
                  <a:srgbClr val="183B39"/>
                </a:solidFill>
              </a:rPr>
              <a:t>Test share-transfer causes in declining markets</a:t>
            </a:r>
          </a:p>
        </p:txBody>
      </p:sp>
      <p:sp>
        <p:nvSpPr>
          <p:cNvPr id="25" name="">
            <a:extLst xmlns:a="http://schemas.openxmlformats.org/drawingml/2006/main">
              <a:ext uri="{FF2B5EF4-FFF2-40B4-BE49-F238E27FC236}">
                <a16:creationId xmlns:a16="http://schemas.microsoft.com/office/drawing/2014/main" id="{E4392540-4108-4BF1-AECB-6F641E6A1487}"/>
              </a:ext>
            </a:extLst>
          </p:cNvPr>
          <p:cNvSpPr>
            <a:spLocks xmlns:a="http://schemas.openxmlformats.org/drawingml/2006/main" noGrp="1"/>
          </p:cNvSpPr>
          <p:nvPr/>
        </p:nvSpPr>
        <p:spPr>
          <a:xfrm xmlns:a="http://schemas.openxmlformats.org/drawingml/2006/main">
            <a:off x="2628900" y="4772025"/>
            <a:ext cx="238125"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900" b="1">
                <a:solidFill>
                  <a:srgbClr val="F2B84B"/>
                </a:solidFill>
              </a:defRPr>
            </a:pPr>
            <a:r>
              <a:rPr sz="900" b="1">
                <a:solidFill>
                  <a:srgbClr val="F2B84B"/>
                </a:solidFill>
              </a:rPr>
              <a:t>4</a:t>
            </a:r>
          </a:p>
        </p:txBody>
      </p:sp>
      <p:sp>
        <p:nvSpPr>
          <p:cNvPr id="26" name="">
            <a:extLst xmlns:a="http://schemas.openxmlformats.org/drawingml/2006/main">
              <a:ext uri="{FF2B5EF4-FFF2-40B4-BE49-F238E27FC236}">
                <a16:creationId xmlns:a16="http://schemas.microsoft.com/office/drawing/2014/main" id="{C51FBF16-A4B2-47B6-BB15-573B3CFCE152}"/>
              </a:ext>
            </a:extLst>
          </p:cNvPr>
          <p:cNvSpPr>
            <a:spLocks xmlns:a="http://schemas.openxmlformats.org/drawingml/2006/main" noGrp="1"/>
          </p:cNvSpPr>
          <p:nvPr/>
        </p:nvSpPr>
        <p:spPr>
          <a:xfrm xmlns:a="http://schemas.openxmlformats.org/drawingml/2006/main">
            <a:off x="2924175" y="4676775"/>
            <a:ext cx="1285875"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050" b="0">
                <a:solidFill>
                  <a:srgbClr val="183B39"/>
                </a:solidFill>
              </a:defRPr>
            </a:pPr>
            <a:r>
              <a:rPr sz="1050" b="0">
                <a:solidFill>
                  <a:srgbClr val="183B39"/>
                </a:solidFill>
              </a:rPr>
              <a:t>Replicate Apollo flow cadence</a:t>
            </a:r>
          </a:p>
        </p:txBody>
      </p:sp>
      <p:sp>
        <p:nvSpPr>
          <p:cNvPr id="27" name="">
            <a:extLst xmlns:a="http://schemas.openxmlformats.org/drawingml/2006/main">
              <a:ext uri="{FF2B5EF4-FFF2-40B4-BE49-F238E27FC236}">
                <a16:creationId xmlns:a16="http://schemas.microsoft.com/office/drawing/2014/main" id="{8E5E4634-40A6-44DF-8884-C4BBC9A21AA7}"/>
              </a:ext>
            </a:extLst>
          </p:cNvPr>
          <p:cNvSpPr>
            <a:spLocks xmlns:a="http://schemas.openxmlformats.org/drawingml/2006/main" noGrp="1"/>
          </p:cNvSpPr>
          <p:nvPr/>
        </p:nvSpPr>
        <p:spPr>
          <a:xfrm xmlns:a="http://schemas.openxmlformats.org/drawingml/2006/main">
            <a:off x="4629150" y="1428750"/>
            <a:ext cx="1866900" cy="4762500"/>
          </a:xfrm>
          <a:prstGeom xmlns:a="http://schemas.openxmlformats.org/drawingml/2006/main" prst="roundRect">
            <a:avLst>
              <a:gd name="adj" fmla="val 4082"/>
            </a:avLst>
          </a:prstGeom>
          <a:solidFill xmlns:a="http://schemas.openxmlformats.org/drawingml/2006/main">
            <a:srgbClr val="FFFFFF"/>
          </a:solidFill>
          <a:ln xmlns:a="http://schemas.openxmlformats.org/drawingml/2006/main" w="9525">
            <a:solidFill>
              <a:srgbClr val="C8DCD7"/>
            </a:solidFill>
            <a:prstDash val="solid"/>
          </a:ln>
        </p:spPr>
      </p:sp>
      <p:sp>
        <p:nvSpPr>
          <p:cNvPr id="28" name="">
            <a:extLst xmlns:a="http://schemas.openxmlformats.org/drawingml/2006/main">
              <a:ext uri="{FF2B5EF4-FFF2-40B4-BE49-F238E27FC236}">
                <a16:creationId xmlns:a16="http://schemas.microsoft.com/office/drawing/2014/main" id="{94A917A9-F555-4B7E-BB15-ACE88CDE465C}"/>
              </a:ext>
            </a:extLst>
          </p:cNvPr>
          <p:cNvSpPr>
            <a:spLocks xmlns:a="http://schemas.openxmlformats.org/drawingml/2006/main" noGrp="1"/>
          </p:cNvSpPr>
          <p:nvPr/>
        </p:nvSpPr>
        <p:spPr>
          <a:xfrm xmlns:a="http://schemas.openxmlformats.org/drawingml/2006/main">
            <a:off x="4629150" y="1428750"/>
            <a:ext cx="1866900" cy="495300"/>
          </a:xfrm>
          <a:prstGeom xmlns:a="http://schemas.openxmlformats.org/drawingml/2006/main" prst="rect">
            <a:avLst/>
          </a:prstGeom>
          <a:solidFill xmlns:a="http://schemas.openxmlformats.org/drawingml/2006/main">
            <a:srgbClr val="2B9A66"/>
          </a:solidFill>
          <a:ln xmlns:a="http://schemas.openxmlformats.org/drawingml/2006/main" w="0">
            <a:solidFill>
              <a:srgbClr val="2B9A66"/>
            </a:solidFill>
            <a:prstDash val="solid"/>
          </a:ln>
        </p:spPr>
      </p:sp>
      <p:sp>
        <p:nvSpPr>
          <p:cNvPr id="29" name="">
            <a:extLst xmlns:a="http://schemas.openxmlformats.org/drawingml/2006/main">
              <a:ext uri="{FF2B5EF4-FFF2-40B4-BE49-F238E27FC236}">
                <a16:creationId xmlns:a16="http://schemas.microsoft.com/office/drawing/2014/main" id="{D784D479-39F5-4EE6-82B3-4CBC344BA99A}"/>
              </a:ext>
            </a:extLst>
          </p:cNvPr>
          <p:cNvSpPr>
            <a:spLocks xmlns:a="http://schemas.openxmlformats.org/drawingml/2006/main" noGrp="1"/>
          </p:cNvSpPr>
          <p:nvPr/>
        </p:nvSpPr>
        <p:spPr>
          <a:xfrm xmlns:a="http://schemas.openxmlformats.org/drawingml/2006/main">
            <a:off x="4743450" y="1524000"/>
            <a:ext cx="16383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125" b="1">
                <a:solidFill>
                  <a:srgbClr val="FFFFFF"/>
                </a:solidFill>
              </a:defRPr>
            </a:pPr>
            <a:r>
              <a:rPr sz="1125" b="1">
                <a:solidFill>
                  <a:srgbClr val="FFFFFF"/>
                </a:solidFill>
              </a:rPr>
              <a:t>61–90 DAYS</a:t>
            </a:r>
          </a:p>
        </p:txBody>
      </p:sp>
      <p:sp>
        <p:nvSpPr>
          <p:cNvPr id="30" name="">
            <a:extLst xmlns:a="http://schemas.openxmlformats.org/drawingml/2006/main">
              <a:ext uri="{FF2B5EF4-FFF2-40B4-BE49-F238E27FC236}">
                <a16:creationId xmlns:a16="http://schemas.microsoft.com/office/drawing/2014/main" id="{FD56BF34-0D3B-4580-AB74-2E842FE1198D}"/>
              </a:ext>
            </a:extLst>
          </p:cNvPr>
          <p:cNvSpPr>
            <a:spLocks xmlns:a="http://schemas.openxmlformats.org/drawingml/2006/main" noGrp="1"/>
          </p:cNvSpPr>
          <p:nvPr/>
        </p:nvSpPr>
        <p:spPr>
          <a:xfrm xmlns:a="http://schemas.openxmlformats.org/drawingml/2006/main">
            <a:off x="4762500" y="2143125"/>
            <a:ext cx="238125"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900" b="1">
                <a:solidFill>
                  <a:srgbClr val="2B9A66"/>
                </a:solidFill>
              </a:defRPr>
            </a:pPr>
            <a:r>
              <a:rPr sz="900" b="1">
                <a:solidFill>
                  <a:srgbClr val="2B9A66"/>
                </a:solidFill>
              </a:rPr>
              <a:t>1</a:t>
            </a:r>
          </a:p>
        </p:txBody>
      </p:sp>
      <p:sp>
        <p:nvSpPr>
          <p:cNvPr id="31" name="">
            <a:extLst xmlns:a="http://schemas.openxmlformats.org/drawingml/2006/main">
              <a:ext uri="{FF2B5EF4-FFF2-40B4-BE49-F238E27FC236}">
                <a16:creationId xmlns:a16="http://schemas.microsoft.com/office/drawing/2014/main" id="{6339F052-5D79-4633-B832-A88425EDB51E}"/>
              </a:ext>
            </a:extLst>
          </p:cNvPr>
          <p:cNvSpPr>
            <a:spLocks xmlns:a="http://schemas.openxmlformats.org/drawingml/2006/main" noGrp="1"/>
          </p:cNvSpPr>
          <p:nvPr/>
        </p:nvSpPr>
        <p:spPr>
          <a:xfrm xmlns:a="http://schemas.openxmlformats.org/drawingml/2006/main">
            <a:off x="5057775" y="2047875"/>
            <a:ext cx="1285875"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050" b="1">
                <a:solidFill>
                  <a:srgbClr val="183B39"/>
                </a:solidFill>
              </a:defRPr>
            </a:pPr>
            <a:r>
              <a:rPr sz="1050" b="1">
                <a:solidFill>
                  <a:srgbClr val="183B39"/>
                </a:solidFill>
              </a:rPr>
              <a:t>Scale only proven state-chain-SKU cells</a:t>
            </a:r>
          </a:p>
        </p:txBody>
      </p:sp>
      <p:sp>
        <p:nvSpPr>
          <p:cNvPr id="32" name="">
            <a:extLst xmlns:a="http://schemas.openxmlformats.org/drawingml/2006/main">
              <a:ext uri="{FF2B5EF4-FFF2-40B4-BE49-F238E27FC236}">
                <a16:creationId xmlns:a16="http://schemas.microsoft.com/office/drawing/2014/main" id="{63532911-2F64-44FF-9FD6-B95E3ED0124F}"/>
              </a:ext>
            </a:extLst>
          </p:cNvPr>
          <p:cNvSpPr>
            <a:spLocks xmlns:a="http://schemas.openxmlformats.org/drawingml/2006/main" noGrp="1"/>
          </p:cNvSpPr>
          <p:nvPr/>
        </p:nvSpPr>
        <p:spPr>
          <a:xfrm xmlns:a="http://schemas.openxmlformats.org/drawingml/2006/main">
            <a:off x="4762500" y="3019425"/>
            <a:ext cx="238125"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900" b="1">
                <a:solidFill>
                  <a:srgbClr val="2B9A66"/>
                </a:solidFill>
              </a:defRPr>
            </a:pPr>
            <a:r>
              <a:rPr sz="900" b="1">
                <a:solidFill>
                  <a:srgbClr val="2B9A66"/>
                </a:solidFill>
              </a:rPr>
              <a:t>2</a:t>
            </a:r>
          </a:p>
        </p:txBody>
      </p:sp>
      <p:sp>
        <p:nvSpPr>
          <p:cNvPr id="33" name="">
            <a:extLst xmlns:a="http://schemas.openxmlformats.org/drawingml/2006/main">
              <a:ext uri="{FF2B5EF4-FFF2-40B4-BE49-F238E27FC236}">
                <a16:creationId xmlns:a16="http://schemas.microsoft.com/office/drawing/2014/main" id="{1AB10ECE-C67B-45A4-A29B-55F7954C3A55}"/>
              </a:ext>
            </a:extLst>
          </p:cNvPr>
          <p:cNvSpPr>
            <a:spLocks xmlns:a="http://schemas.openxmlformats.org/drawingml/2006/main" noGrp="1"/>
          </p:cNvSpPr>
          <p:nvPr/>
        </p:nvSpPr>
        <p:spPr>
          <a:xfrm xmlns:a="http://schemas.openxmlformats.org/drawingml/2006/main">
            <a:off x="5057775" y="2924175"/>
            <a:ext cx="1285875"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050" b="0">
                <a:solidFill>
                  <a:srgbClr val="183B39"/>
                </a:solidFill>
              </a:defRPr>
            </a:pPr>
            <a:r>
              <a:rPr sz="1050" b="0">
                <a:solidFill>
                  <a:srgbClr val="183B39"/>
                </a:solidFill>
              </a:rPr>
              <a:t>Reset load rules by verified conversion</a:t>
            </a:r>
          </a:p>
        </p:txBody>
      </p:sp>
      <p:sp>
        <p:nvSpPr>
          <p:cNvPr id="34" name="">
            <a:extLst xmlns:a="http://schemas.openxmlformats.org/drawingml/2006/main">
              <a:ext uri="{FF2B5EF4-FFF2-40B4-BE49-F238E27FC236}">
                <a16:creationId xmlns:a16="http://schemas.microsoft.com/office/drawing/2014/main" id="{37264F1E-76DD-4E09-8EB9-3A90B75B0B81}"/>
              </a:ext>
            </a:extLst>
          </p:cNvPr>
          <p:cNvSpPr>
            <a:spLocks xmlns:a="http://schemas.openxmlformats.org/drawingml/2006/main" noGrp="1"/>
          </p:cNvSpPr>
          <p:nvPr/>
        </p:nvSpPr>
        <p:spPr>
          <a:xfrm xmlns:a="http://schemas.openxmlformats.org/drawingml/2006/main">
            <a:off x="4762500" y="3895725"/>
            <a:ext cx="238125"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900" b="1">
                <a:solidFill>
                  <a:srgbClr val="2B9A66"/>
                </a:solidFill>
              </a:defRPr>
            </a:pPr>
            <a:r>
              <a:rPr sz="900" b="1">
                <a:solidFill>
                  <a:srgbClr val="2B9A66"/>
                </a:solidFill>
              </a:rPr>
              <a:t>3</a:t>
            </a:r>
          </a:p>
        </p:txBody>
      </p:sp>
      <p:sp>
        <p:nvSpPr>
          <p:cNvPr id="35" name="">
            <a:extLst xmlns:a="http://schemas.openxmlformats.org/drawingml/2006/main">
              <a:ext uri="{FF2B5EF4-FFF2-40B4-BE49-F238E27FC236}">
                <a16:creationId xmlns:a16="http://schemas.microsoft.com/office/drawing/2014/main" id="{C2F98A8D-A5E2-4DFA-9C9C-0062BB41EC85}"/>
              </a:ext>
            </a:extLst>
          </p:cNvPr>
          <p:cNvSpPr>
            <a:spLocks xmlns:a="http://schemas.openxmlformats.org/drawingml/2006/main" noGrp="1"/>
          </p:cNvSpPr>
          <p:nvPr/>
        </p:nvSpPr>
        <p:spPr>
          <a:xfrm xmlns:a="http://schemas.openxmlformats.org/drawingml/2006/main">
            <a:off x="5057775" y="3800475"/>
            <a:ext cx="1285875"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050" b="0">
                <a:solidFill>
                  <a:srgbClr val="183B39"/>
                </a:solidFill>
              </a:defRPr>
            </a:pPr>
            <a:r>
              <a:rPr sz="1050" b="0">
                <a:solidFill>
                  <a:srgbClr val="183B39"/>
                </a:solidFill>
              </a:rPr>
              <a:t>Rationalize dead/low-productivity packs</a:t>
            </a:r>
          </a:p>
        </p:txBody>
      </p:sp>
      <p:sp>
        <p:nvSpPr>
          <p:cNvPr id="36" name="">
            <a:extLst xmlns:a="http://schemas.openxmlformats.org/drawingml/2006/main">
              <a:ext uri="{FF2B5EF4-FFF2-40B4-BE49-F238E27FC236}">
                <a16:creationId xmlns:a16="http://schemas.microsoft.com/office/drawing/2014/main" id="{89D13704-AF3A-4E4C-BF26-F5C985DFA6C9}"/>
              </a:ext>
            </a:extLst>
          </p:cNvPr>
          <p:cNvSpPr>
            <a:spLocks xmlns:a="http://schemas.openxmlformats.org/drawingml/2006/main" noGrp="1"/>
          </p:cNvSpPr>
          <p:nvPr/>
        </p:nvSpPr>
        <p:spPr>
          <a:xfrm xmlns:a="http://schemas.openxmlformats.org/drawingml/2006/main">
            <a:off x="4762500" y="4772025"/>
            <a:ext cx="238125"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900" b="1">
                <a:solidFill>
                  <a:srgbClr val="2B9A66"/>
                </a:solidFill>
              </a:defRPr>
            </a:pPr>
            <a:r>
              <a:rPr sz="900" b="1">
                <a:solidFill>
                  <a:srgbClr val="2B9A66"/>
                </a:solidFill>
              </a:rPr>
              <a:t>4</a:t>
            </a:r>
          </a:p>
        </p:txBody>
      </p:sp>
      <p:sp>
        <p:nvSpPr>
          <p:cNvPr id="37" name="">
            <a:extLst xmlns:a="http://schemas.openxmlformats.org/drawingml/2006/main">
              <a:ext uri="{FF2B5EF4-FFF2-40B4-BE49-F238E27FC236}">
                <a16:creationId xmlns:a16="http://schemas.microsoft.com/office/drawing/2014/main" id="{64DF2BCC-1EC3-4989-B596-2595BE99CD8D}"/>
              </a:ext>
            </a:extLst>
          </p:cNvPr>
          <p:cNvSpPr>
            <a:spLocks xmlns:a="http://schemas.openxmlformats.org/drawingml/2006/main" noGrp="1"/>
          </p:cNvSpPr>
          <p:nvPr/>
        </p:nvSpPr>
        <p:spPr>
          <a:xfrm xmlns:a="http://schemas.openxmlformats.org/drawingml/2006/main">
            <a:off x="5057775" y="4676775"/>
            <a:ext cx="1285875"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050" b="0">
                <a:solidFill>
                  <a:srgbClr val="183B39"/>
                </a:solidFill>
              </a:defRPr>
            </a:pPr>
            <a:r>
              <a:rPr sz="1050" b="0">
                <a:solidFill>
                  <a:srgbClr val="183B39"/>
                </a:solidFill>
              </a:rPr>
              <a:t>Embed weekly owner and action receipts</a:t>
            </a:r>
          </a:p>
        </p:txBody>
      </p:sp>
      <p:sp>
        <p:nvSpPr>
          <p:cNvPr id="38" name="">
            <a:extLst xmlns:a="http://schemas.openxmlformats.org/drawingml/2006/main">
              <a:ext uri="{FF2B5EF4-FFF2-40B4-BE49-F238E27FC236}">
                <a16:creationId xmlns:a16="http://schemas.microsoft.com/office/drawing/2014/main" id="{37326CE7-07DF-4DD4-93B8-E5D666870064}"/>
              </a:ext>
            </a:extLst>
          </p:cNvPr>
          <p:cNvSpPr>
            <a:spLocks xmlns:a="http://schemas.openxmlformats.org/drawingml/2006/main" noGrp="1"/>
          </p:cNvSpPr>
          <p:nvPr/>
        </p:nvSpPr>
        <p:spPr>
          <a:xfrm xmlns:a="http://schemas.openxmlformats.org/drawingml/2006/main">
            <a:off x="361950" y="6667500"/>
            <a:ext cx="6134100" cy="257175"/>
          </a:xfrm>
          <a:prstGeom xmlns:a="http://schemas.openxmlformats.org/drawingml/2006/main" prst="rect">
            <a:avLst/>
          </a:prstGeom>
          <a:solidFill xmlns:a="http://schemas.openxmlformats.org/drawingml/2006/main">
            <a:srgbClr val="116F68"/>
          </a:solidFill>
          <a:ln xmlns:a="http://schemas.openxmlformats.org/drawingml/2006/main" w="0">
            <a:solidFill>
              <a:srgbClr val="116F68"/>
            </a:solidFill>
            <a:prstDash val="solid"/>
          </a:ln>
        </p:spPr>
      </p:sp>
      <p:sp>
        <p:nvSpPr>
          <p:cNvPr id="39" name="">
            <a:extLst xmlns:a="http://schemas.openxmlformats.org/drawingml/2006/main">
              <a:ext uri="{FF2B5EF4-FFF2-40B4-BE49-F238E27FC236}">
                <a16:creationId xmlns:a16="http://schemas.microsoft.com/office/drawing/2014/main" id="{2201E45B-0883-4F02-B459-5A8FBB6FCD84}"/>
              </a:ext>
            </a:extLst>
          </p:cNvPr>
          <p:cNvSpPr>
            <a:spLocks xmlns:a="http://schemas.openxmlformats.org/drawingml/2006/main" noGrp="1"/>
          </p:cNvSpPr>
          <p:nvPr/>
        </p:nvSpPr>
        <p:spPr>
          <a:xfrm xmlns:a="http://schemas.openxmlformats.org/drawingml/2006/main">
            <a:off x="457200" y="6677025"/>
            <a:ext cx="59436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FFFFFF"/>
                </a:solidFill>
              </a:defRPr>
            </a:pPr>
            <a:r>
              <a:rPr sz="900" b="1">
                <a:solidFill>
                  <a:srgbClr val="FFFFFF"/>
                </a:solidFill>
              </a:rPr>
              <a:t>WEEKLY MANAGEMENT SCOREBOARD</a:t>
            </a:r>
          </a:p>
        </p:txBody>
      </p:sp>
      <p:sp>
        <p:nvSpPr>
          <p:cNvPr id="40" name="">
            <a:extLst xmlns:a="http://schemas.openxmlformats.org/drawingml/2006/main">
              <a:ext uri="{FF2B5EF4-FFF2-40B4-BE49-F238E27FC236}">
                <a16:creationId xmlns:a16="http://schemas.microsoft.com/office/drawing/2014/main" id="{09D279CE-EB83-4F84-A2A6-ED7BDA379169}"/>
              </a:ext>
            </a:extLst>
          </p:cNvPr>
          <p:cNvSpPr>
            <a:spLocks xmlns:a="http://schemas.openxmlformats.org/drawingml/2006/main" noGrp="1"/>
          </p:cNvSpPr>
          <p:nvPr/>
        </p:nvSpPr>
        <p:spPr>
          <a:xfrm xmlns:a="http://schemas.openxmlformats.org/drawingml/2006/main">
            <a:off x="361950" y="7096125"/>
            <a:ext cx="6134100" cy="514350"/>
          </a:xfrm>
          <a:prstGeom xmlns:a="http://schemas.openxmlformats.org/drawingml/2006/main" prst="rect">
            <a:avLst/>
          </a:prstGeom>
          <a:solidFill xmlns:a="http://schemas.openxmlformats.org/drawingml/2006/main">
            <a:srgbClr val="FFFFFF"/>
          </a:solidFill>
          <a:ln xmlns:a="http://schemas.openxmlformats.org/drawingml/2006/main" w="0">
            <a:solidFill>
              <a:srgbClr val="FFFFFF"/>
            </a:solidFill>
            <a:prstDash val="solid"/>
          </a:ln>
        </p:spPr>
      </p:sp>
      <p:sp>
        <p:nvSpPr>
          <p:cNvPr id="41" name="">
            <a:extLst xmlns:a="http://schemas.openxmlformats.org/drawingml/2006/main">
              <a:ext uri="{FF2B5EF4-FFF2-40B4-BE49-F238E27FC236}">
                <a16:creationId xmlns:a16="http://schemas.microsoft.com/office/drawing/2014/main" id="{26C59AA4-3121-4468-AF92-D5AD81FD35E2}"/>
              </a:ext>
            </a:extLst>
          </p:cNvPr>
          <p:cNvSpPr>
            <a:spLocks xmlns:a="http://schemas.openxmlformats.org/drawingml/2006/main" noGrp="1"/>
          </p:cNvSpPr>
          <p:nvPr/>
        </p:nvSpPr>
        <p:spPr>
          <a:xfrm xmlns:a="http://schemas.openxmlformats.org/drawingml/2006/main">
            <a:off x="476250" y="7096125"/>
            <a:ext cx="28575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050" b="1">
                <a:solidFill>
                  <a:srgbClr val="183B39"/>
                </a:solidFill>
              </a:defRPr>
            </a:pPr>
            <a:r>
              <a:rPr sz="1050" b="1">
                <a:solidFill>
                  <a:srgbClr val="183B39"/>
                </a:solidFill>
              </a:rPr>
              <a:t>Flow conversion</a:t>
            </a:r>
          </a:p>
        </p:txBody>
      </p:sp>
      <p:sp>
        <p:nvSpPr>
          <p:cNvPr id="42" name="">
            <a:extLst xmlns:a="http://schemas.openxmlformats.org/drawingml/2006/main">
              <a:ext uri="{FF2B5EF4-FFF2-40B4-BE49-F238E27FC236}">
                <a16:creationId xmlns:a16="http://schemas.microsoft.com/office/drawing/2014/main" id="{5CE2DE75-BBCF-41BD-BEFF-0C1697BEAE41}"/>
              </a:ext>
            </a:extLst>
          </p:cNvPr>
          <p:cNvSpPr>
            <a:spLocks xmlns:a="http://schemas.openxmlformats.org/drawingml/2006/main" noGrp="1"/>
          </p:cNvSpPr>
          <p:nvPr/>
        </p:nvSpPr>
        <p:spPr>
          <a:xfrm xmlns:a="http://schemas.openxmlformats.org/drawingml/2006/main">
            <a:off x="3524250" y="7096125"/>
            <a:ext cx="11430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050" b="1">
                <a:solidFill>
                  <a:srgbClr val="28A596"/>
                </a:solidFill>
              </a:defRPr>
            </a:pPr>
            <a:r>
              <a:rPr sz="1050" b="1">
                <a:solidFill>
                  <a:srgbClr val="28A596"/>
                </a:solidFill>
              </a:rPr>
              <a:t>&gt;90%</a:t>
            </a:r>
          </a:p>
        </p:txBody>
      </p:sp>
      <p:sp>
        <p:nvSpPr>
          <p:cNvPr id="43" name="">
            <a:extLst xmlns:a="http://schemas.openxmlformats.org/drawingml/2006/main">
              <a:ext uri="{FF2B5EF4-FFF2-40B4-BE49-F238E27FC236}">
                <a16:creationId xmlns:a16="http://schemas.microsoft.com/office/drawing/2014/main" id="{AD9046CB-EC94-4588-8BF0-E06F994552F1}"/>
              </a:ext>
            </a:extLst>
          </p:cNvPr>
          <p:cNvSpPr>
            <a:spLocks xmlns:a="http://schemas.openxmlformats.org/drawingml/2006/main" noGrp="1"/>
          </p:cNvSpPr>
          <p:nvPr/>
        </p:nvSpPr>
        <p:spPr>
          <a:xfrm xmlns:a="http://schemas.openxmlformats.org/drawingml/2006/main">
            <a:off x="4857750" y="7096125"/>
            <a:ext cx="14287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975" b="0">
                <a:solidFill>
                  <a:srgbClr val="5F716E"/>
                </a:solidFill>
              </a:defRPr>
            </a:pPr>
            <a:r>
              <a:rPr sz="975" b="0">
                <a:solidFill>
                  <a:srgbClr val="5F716E"/>
                </a:solidFill>
              </a:rPr>
              <a:t>Sales lead</a:t>
            </a:r>
          </a:p>
        </p:txBody>
      </p:sp>
      <p:sp>
        <p:nvSpPr>
          <p:cNvPr id="44" name="">
            <a:extLst xmlns:a="http://schemas.openxmlformats.org/drawingml/2006/main">
              <a:ext uri="{FF2B5EF4-FFF2-40B4-BE49-F238E27FC236}">
                <a16:creationId xmlns:a16="http://schemas.microsoft.com/office/drawing/2014/main" id="{428A3384-BC35-4AD1-94C5-D0977FBBC031}"/>
              </a:ext>
            </a:extLst>
          </p:cNvPr>
          <p:cNvSpPr>
            <a:spLocks xmlns:a="http://schemas.openxmlformats.org/drawingml/2006/main" noGrp="1"/>
          </p:cNvSpPr>
          <p:nvPr/>
        </p:nvSpPr>
        <p:spPr>
          <a:xfrm xmlns:a="http://schemas.openxmlformats.org/drawingml/2006/main">
            <a:off x="476250" y="7667625"/>
            <a:ext cx="28575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050" b="1">
                <a:solidFill>
                  <a:srgbClr val="183B39"/>
                </a:solidFill>
              </a:defRPr>
            </a:pPr>
            <a:r>
              <a:rPr sz="1050" b="1">
                <a:solidFill>
                  <a:srgbClr val="183B39"/>
                </a:solidFill>
              </a:rPr>
              <a:t>North gap</a:t>
            </a:r>
          </a:p>
        </p:txBody>
      </p:sp>
      <p:sp>
        <p:nvSpPr>
          <p:cNvPr id="45" name="">
            <a:extLst xmlns:a="http://schemas.openxmlformats.org/drawingml/2006/main">
              <a:ext uri="{FF2B5EF4-FFF2-40B4-BE49-F238E27FC236}">
                <a16:creationId xmlns:a16="http://schemas.microsoft.com/office/drawing/2014/main" id="{DE04ACCC-848F-4123-992F-EB2B9C9119B0}"/>
              </a:ext>
            </a:extLst>
          </p:cNvPr>
          <p:cNvSpPr>
            <a:spLocks xmlns:a="http://schemas.openxmlformats.org/drawingml/2006/main" noGrp="1"/>
          </p:cNvSpPr>
          <p:nvPr/>
        </p:nvSpPr>
        <p:spPr>
          <a:xfrm xmlns:a="http://schemas.openxmlformats.org/drawingml/2006/main">
            <a:off x="3524250" y="7667625"/>
            <a:ext cx="11430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050" b="1">
                <a:solidFill>
                  <a:srgbClr val="28A596"/>
                </a:solidFill>
              </a:defRPr>
            </a:pPr>
            <a:r>
              <a:rPr sz="1050" b="1">
                <a:solidFill>
                  <a:srgbClr val="28A596"/>
                </a:solidFill>
              </a:rPr>
              <a:t>↓ weekly</a:t>
            </a:r>
          </a:p>
        </p:txBody>
      </p:sp>
      <p:sp>
        <p:nvSpPr>
          <p:cNvPr id="46" name="">
            <a:extLst xmlns:a="http://schemas.openxmlformats.org/drawingml/2006/main">
              <a:ext uri="{FF2B5EF4-FFF2-40B4-BE49-F238E27FC236}">
                <a16:creationId xmlns:a16="http://schemas.microsoft.com/office/drawing/2014/main" id="{52D4381E-0877-4D3B-8F5B-C059CF21A66E}"/>
              </a:ext>
            </a:extLst>
          </p:cNvPr>
          <p:cNvSpPr>
            <a:spLocks xmlns:a="http://schemas.openxmlformats.org/drawingml/2006/main" noGrp="1"/>
          </p:cNvSpPr>
          <p:nvPr/>
        </p:nvSpPr>
        <p:spPr>
          <a:xfrm xmlns:a="http://schemas.openxmlformats.org/drawingml/2006/main">
            <a:off x="4857750" y="7667625"/>
            <a:ext cx="14287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975" b="0">
                <a:solidFill>
                  <a:srgbClr val="5F716E"/>
                </a:solidFill>
              </a:defRPr>
            </a:pPr>
            <a:r>
              <a:rPr sz="975" b="0">
                <a:solidFill>
                  <a:srgbClr val="5F716E"/>
                </a:solidFill>
              </a:rPr>
              <a:t>North ZSM</a:t>
            </a:r>
          </a:p>
        </p:txBody>
      </p:sp>
      <p:sp>
        <p:nvSpPr>
          <p:cNvPr id="47" name="">
            <a:extLst xmlns:a="http://schemas.openxmlformats.org/drawingml/2006/main">
              <a:ext uri="{FF2B5EF4-FFF2-40B4-BE49-F238E27FC236}">
                <a16:creationId xmlns:a16="http://schemas.microsoft.com/office/drawing/2014/main" id="{97131741-9332-46D9-86EF-BAAFC01E926B}"/>
              </a:ext>
            </a:extLst>
          </p:cNvPr>
          <p:cNvSpPr>
            <a:spLocks xmlns:a="http://schemas.openxmlformats.org/drawingml/2006/main" noGrp="1"/>
          </p:cNvSpPr>
          <p:nvPr/>
        </p:nvSpPr>
        <p:spPr>
          <a:xfrm xmlns:a="http://schemas.openxmlformats.org/drawingml/2006/main">
            <a:off x="361950" y="8239125"/>
            <a:ext cx="6134100" cy="514350"/>
          </a:xfrm>
          <a:prstGeom xmlns:a="http://schemas.openxmlformats.org/drawingml/2006/main" prst="rect">
            <a:avLst/>
          </a:prstGeom>
          <a:solidFill xmlns:a="http://schemas.openxmlformats.org/drawingml/2006/main">
            <a:srgbClr val="FFFFFF"/>
          </a:solidFill>
          <a:ln xmlns:a="http://schemas.openxmlformats.org/drawingml/2006/main" w="0">
            <a:solidFill>
              <a:srgbClr val="FFFFFF"/>
            </a:solidFill>
            <a:prstDash val="solid"/>
          </a:ln>
        </p:spPr>
      </p:sp>
      <p:sp>
        <p:nvSpPr>
          <p:cNvPr id="48" name="">
            <a:extLst xmlns:a="http://schemas.openxmlformats.org/drawingml/2006/main">
              <a:ext uri="{FF2B5EF4-FFF2-40B4-BE49-F238E27FC236}">
                <a16:creationId xmlns:a16="http://schemas.microsoft.com/office/drawing/2014/main" id="{D630460D-1304-42BD-BA2C-2D8227506398}"/>
              </a:ext>
            </a:extLst>
          </p:cNvPr>
          <p:cNvSpPr>
            <a:spLocks xmlns:a="http://schemas.openxmlformats.org/drawingml/2006/main" noGrp="1"/>
          </p:cNvSpPr>
          <p:nvPr/>
        </p:nvSpPr>
        <p:spPr>
          <a:xfrm xmlns:a="http://schemas.openxmlformats.org/drawingml/2006/main">
            <a:off x="476250" y="8239125"/>
            <a:ext cx="28575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050" b="0">
                <a:solidFill>
                  <a:srgbClr val="183B39"/>
                </a:solidFill>
              </a:defRPr>
            </a:pPr>
            <a:r>
              <a:rPr sz="1050" b="0">
                <a:solidFill>
                  <a:srgbClr val="183B39"/>
                </a:solidFill>
              </a:rPr>
              <a:t>East gap</a:t>
            </a:r>
          </a:p>
        </p:txBody>
      </p:sp>
      <p:sp>
        <p:nvSpPr>
          <p:cNvPr id="49" name="">
            <a:extLst xmlns:a="http://schemas.openxmlformats.org/drawingml/2006/main">
              <a:ext uri="{FF2B5EF4-FFF2-40B4-BE49-F238E27FC236}">
                <a16:creationId xmlns:a16="http://schemas.microsoft.com/office/drawing/2014/main" id="{E518D12D-5112-4DBC-AFE0-A96656D5AD78}"/>
              </a:ext>
            </a:extLst>
          </p:cNvPr>
          <p:cNvSpPr>
            <a:spLocks xmlns:a="http://schemas.openxmlformats.org/drawingml/2006/main" noGrp="1"/>
          </p:cNvSpPr>
          <p:nvPr/>
        </p:nvSpPr>
        <p:spPr>
          <a:xfrm xmlns:a="http://schemas.openxmlformats.org/drawingml/2006/main">
            <a:off x="3524250" y="8239125"/>
            <a:ext cx="11430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050" b="1">
                <a:solidFill>
                  <a:srgbClr val="28A596"/>
                </a:solidFill>
              </a:defRPr>
            </a:pPr>
            <a:r>
              <a:rPr sz="1050" b="1">
                <a:solidFill>
                  <a:srgbClr val="28A596"/>
                </a:solidFill>
              </a:rPr>
              <a:t>↓ weekly</a:t>
            </a:r>
          </a:p>
        </p:txBody>
      </p:sp>
      <p:sp>
        <p:nvSpPr>
          <p:cNvPr id="50" name="">
            <a:extLst xmlns:a="http://schemas.openxmlformats.org/drawingml/2006/main">
              <a:ext uri="{FF2B5EF4-FFF2-40B4-BE49-F238E27FC236}">
                <a16:creationId xmlns:a16="http://schemas.microsoft.com/office/drawing/2014/main" id="{5AA34FC8-8DE9-4B34-8057-E4490A50CCB3}"/>
              </a:ext>
            </a:extLst>
          </p:cNvPr>
          <p:cNvSpPr>
            <a:spLocks xmlns:a="http://schemas.openxmlformats.org/drawingml/2006/main" noGrp="1"/>
          </p:cNvSpPr>
          <p:nvPr/>
        </p:nvSpPr>
        <p:spPr>
          <a:xfrm xmlns:a="http://schemas.openxmlformats.org/drawingml/2006/main">
            <a:off x="4857750" y="8239125"/>
            <a:ext cx="14287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975" b="0">
                <a:solidFill>
                  <a:srgbClr val="5F716E"/>
                </a:solidFill>
              </a:defRPr>
            </a:pPr>
            <a:r>
              <a:rPr sz="975" b="0">
                <a:solidFill>
                  <a:srgbClr val="5F716E"/>
                </a:solidFill>
              </a:rPr>
              <a:t>East ZSM</a:t>
            </a:r>
          </a:p>
        </p:txBody>
      </p:sp>
      <p:sp>
        <p:nvSpPr>
          <p:cNvPr id="51" name="">
            <a:extLst xmlns:a="http://schemas.openxmlformats.org/drawingml/2006/main">
              <a:ext uri="{FF2B5EF4-FFF2-40B4-BE49-F238E27FC236}">
                <a16:creationId xmlns:a16="http://schemas.microsoft.com/office/drawing/2014/main" id="{7D80CBEF-88CD-4CD8-8F47-B51D6B22D0F5}"/>
              </a:ext>
            </a:extLst>
          </p:cNvPr>
          <p:cNvSpPr>
            <a:spLocks xmlns:a="http://schemas.openxmlformats.org/drawingml/2006/main" noGrp="1"/>
          </p:cNvSpPr>
          <p:nvPr/>
        </p:nvSpPr>
        <p:spPr>
          <a:xfrm xmlns:a="http://schemas.openxmlformats.org/drawingml/2006/main">
            <a:off x="476250" y="8810625"/>
            <a:ext cx="28575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050" b="0">
                <a:solidFill>
                  <a:srgbClr val="183B39"/>
                </a:solidFill>
              </a:defRPr>
            </a:pPr>
            <a:r>
              <a:rPr sz="1050" b="0">
                <a:solidFill>
                  <a:srgbClr val="183B39"/>
                </a:solidFill>
              </a:rPr>
              <a:t>Hero-SKU OSA</a:t>
            </a:r>
          </a:p>
        </p:txBody>
      </p:sp>
      <p:sp>
        <p:nvSpPr>
          <p:cNvPr id="52" name="">
            <a:extLst xmlns:a="http://schemas.openxmlformats.org/drawingml/2006/main">
              <a:ext uri="{FF2B5EF4-FFF2-40B4-BE49-F238E27FC236}">
                <a16:creationId xmlns:a16="http://schemas.microsoft.com/office/drawing/2014/main" id="{F3B2ECC2-58D4-4674-9FFC-6C66ADF7868A}"/>
              </a:ext>
            </a:extLst>
          </p:cNvPr>
          <p:cNvSpPr>
            <a:spLocks xmlns:a="http://schemas.openxmlformats.org/drawingml/2006/main" noGrp="1"/>
          </p:cNvSpPr>
          <p:nvPr/>
        </p:nvSpPr>
        <p:spPr>
          <a:xfrm xmlns:a="http://schemas.openxmlformats.org/drawingml/2006/main">
            <a:off x="3524250" y="8810625"/>
            <a:ext cx="11430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050" b="1">
                <a:solidFill>
                  <a:srgbClr val="28A596"/>
                </a:solidFill>
              </a:defRPr>
            </a:pPr>
            <a:r>
              <a:rPr sz="1050" b="1">
                <a:solidFill>
                  <a:srgbClr val="28A596"/>
                </a:solidFill>
              </a:rPr>
              <a:t>&gt;95%</a:t>
            </a:r>
          </a:p>
        </p:txBody>
      </p:sp>
      <p:sp>
        <p:nvSpPr>
          <p:cNvPr id="53" name="">
            <a:extLst xmlns:a="http://schemas.openxmlformats.org/drawingml/2006/main">
              <a:ext uri="{FF2B5EF4-FFF2-40B4-BE49-F238E27FC236}">
                <a16:creationId xmlns:a16="http://schemas.microsoft.com/office/drawing/2014/main" id="{D7636710-B713-4A8C-998D-402B692C6B26}"/>
              </a:ext>
            </a:extLst>
          </p:cNvPr>
          <p:cNvSpPr>
            <a:spLocks xmlns:a="http://schemas.openxmlformats.org/drawingml/2006/main" noGrp="1"/>
          </p:cNvSpPr>
          <p:nvPr/>
        </p:nvSpPr>
        <p:spPr>
          <a:xfrm xmlns:a="http://schemas.openxmlformats.org/drawingml/2006/main">
            <a:off x="4857750" y="8810625"/>
            <a:ext cx="14287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975" b="0">
                <a:solidFill>
                  <a:srgbClr val="5F716E"/>
                </a:solidFill>
              </a:defRPr>
            </a:pPr>
            <a:r>
              <a:rPr sz="975" b="0">
                <a:solidFill>
                  <a:srgbClr val="5F716E"/>
                </a:solidFill>
              </a:rPr>
              <a:t>KAM + supply</a:t>
            </a:r>
          </a:p>
        </p:txBody>
      </p:sp>
      <p:sp>
        <p:nvSpPr>
          <p:cNvPr id="54" name="">
            <a:extLst xmlns:a="http://schemas.openxmlformats.org/drawingml/2006/main">
              <a:ext uri="{FF2B5EF4-FFF2-40B4-BE49-F238E27FC236}">
                <a16:creationId xmlns:a16="http://schemas.microsoft.com/office/drawing/2014/main" id="{7DD2DAEB-10C5-44F1-8657-A9580A788A55}"/>
              </a:ext>
            </a:extLst>
          </p:cNvPr>
          <p:cNvSpPr>
            <a:spLocks xmlns:a="http://schemas.openxmlformats.org/drawingml/2006/main" noGrp="1"/>
          </p:cNvSpPr>
          <p:nvPr/>
        </p:nvSpPr>
        <p:spPr>
          <a:xfrm xmlns:a="http://schemas.openxmlformats.org/drawingml/2006/main">
            <a:off x="361950" y="9382125"/>
            <a:ext cx="6134100" cy="514350"/>
          </a:xfrm>
          <a:prstGeom xmlns:a="http://schemas.openxmlformats.org/drawingml/2006/main" prst="rect">
            <a:avLst/>
          </a:prstGeom>
          <a:solidFill xmlns:a="http://schemas.openxmlformats.org/drawingml/2006/main">
            <a:srgbClr val="FFFFFF"/>
          </a:solidFill>
          <a:ln xmlns:a="http://schemas.openxmlformats.org/drawingml/2006/main" w="0">
            <a:solidFill>
              <a:srgbClr val="FFFFFF"/>
            </a:solidFill>
            <a:prstDash val="solid"/>
          </a:ln>
        </p:spPr>
      </p:sp>
      <p:sp>
        <p:nvSpPr>
          <p:cNvPr id="55" name="">
            <a:extLst xmlns:a="http://schemas.openxmlformats.org/drawingml/2006/main">
              <a:ext uri="{FF2B5EF4-FFF2-40B4-BE49-F238E27FC236}">
                <a16:creationId xmlns:a16="http://schemas.microsoft.com/office/drawing/2014/main" id="{43056B83-F841-47DA-9882-99DE27059887}"/>
              </a:ext>
            </a:extLst>
          </p:cNvPr>
          <p:cNvSpPr>
            <a:spLocks xmlns:a="http://schemas.openxmlformats.org/drawingml/2006/main" noGrp="1"/>
          </p:cNvSpPr>
          <p:nvPr/>
        </p:nvSpPr>
        <p:spPr>
          <a:xfrm xmlns:a="http://schemas.openxmlformats.org/drawingml/2006/main">
            <a:off x="476250" y="9382125"/>
            <a:ext cx="28575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050" b="0">
                <a:solidFill>
                  <a:srgbClr val="183B39"/>
                </a:solidFill>
              </a:defRPr>
            </a:pPr>
            <a:r>
              <a:rPr sz="1050" b="0">
                <a:solidFill>
                  <a:srgbClr val="183B39"/>
                </a:solidFill>
              </a:rPr>
              <a:t>DMart / Reliance gap</a:t>
            </a:r>
          </a:p>
        </p:txBody>
      </p:sp>
      <p:sp>
        <p:nvSpPr>
          <p:cNvPr id="56" name="">
            <a:extLst xmlns:a="http://schemas.openxmlformats.org/drawingml/2006/main">
              <a:ext uri="{FF2B5EF4-FFF2-40B4-BE49-F238E27FC236}">
                <a16:creationId xmlns:a16="http://schemas.microsoft.com/office/drawing/2014/main" id="{10FB1F1A-3918-4C82-A331-428D79695B29}"/>
              </a:ext>
            </a:extLst>
          </p:cNvPr>
          <p:cNvSpPr>
            <a:spLocks xmlns:a="http://schemas.openxmlformats.org/drawingml/2006/main" noGrp="1"/>
          </p:cNvSpPr>
          <p:nvPr/>
        </p:nvSpPr>
        <p:spPr>
          <a:xfrm xmlns:a="http://schemas.openxmlformats.org/drawingml/2006/main">
            <a:off x="3524250" y="9382125"/>
            <a:ext cx="11430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050" b="1">
                <a:solidFill>
                  <a:srgbClr val="183B39"/>
                </a:solidFill>
              </a:defRPr>
            </a:pPr>
            <a:r>
              <a:rPr sz="1050" b="1">
                <a:solidFill>
                  <a:srgbClr val="183B39"/>
                </a:solidFill>
              </a:rPr>
              <a:t>Close 50%</a:t>
            </a:r>
          </a:p>
        </p:txBody>
      </p:sp>
      <p:sp>
        <p:nvSpPr>
          <p:cNvPr id="57" name="">
            <a:extLst xmlns:a="http://schemas.openxmlformats.org/drawingml/2006/main">
              <a:ext uri="{FF2B5EF4-FFF2-40B4-BE49-F238E27FC236}">
                <a16:creationId xmlns:a16="http://schemas.microsoft.com/office/drawing/2014/main" id="{FA40FBED-4048-47C4-88C6-AE9814D6E8CD}"/>
              </a:ext>
            </a:extLst>
          </p:cNvPr>
          <p:cNvSpPr>
            <a:spLocks xmlns:a="http://schemas.openxmlformats.org/drawingml/2006/main" noGrp="1"/>
          </p:cNvSpPr>
          <p:nvPr/>
        </p:nvSpPr>
        <p:spPr>
          <a:xfrm xmlns:a="http://schemas.openxmlformats.org/drawingml/2006/main">
            <a:off x="4857750" y="9382125"/>
            <a:ext cx="14287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975" b="0">
                <a:solidFill>
                  <a:srgbClr val="5F716E"/>
                </a:solidFill>
              </a:defRPr>
            </a:pPr>
            <a:r>
              <a:rPr sz="975" b="0">
                <a:solidFill>
                  <a:srgbClr val="5F716E"/>
                </a:solidFill>
              </a:rPr>
              <a:t>KAMs</a:t>
            </a:r>
          </a:p>
        </p:txBody>
      </p:sp>
      <p:sp>
        <p:nvSpPr>
          <p:cNvPr id="58" name="">
            <a:extLst xmlns:a="http://schemas.openxmlformats.org/drawingml/2006/main">
              <a:ext uri="{FF2B5EF4-FFF2-40B4-BE49-F238E27FC236}">
                <a16:creationId xmlns:a16="http://schemas.microsoft.com/office/drawing/2014/main" id="{220A5842-D436-4FAC-BF93-51C02A2E89E7}"/>
              </a:ext>
            </a:extLst>
          </p:cNvPr>
          <p:cNvSpPr>
            <a:spLocks xmlns:a="http://schemas.openxmlformats.org/drawingml/2006/main" noGrp="1"/>
          </p:cNvSpPr>
          <p:nvPr/>
        </p:nvSpPr>
        <p:spPr>
          <a:xfrm xmlns:a="http://schemas.openxmlformats.org/drawingml/2006/main">
            <a:off x="476250" y="9953625"/>
            <a:ext cx="28575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050" b="0">
                <a:solidFill>
                  <a:srgbClr val="183B39"/>
                </a:solidFill>
              </a:defRPr>
            </a:pPr>
            <a:r>
              <a:rPr sz="1050" b="0">
                <a:solidFill>
                  <a:srgbClr val="183B39"/>
                </a:solidFill>
              </a:rPr>
              <a:t>Data exceptions</a:t>
            </a:r>
          </a:p>
        </p:txBody>
      </p:sp>
      <p:sp>
        <p:nvSpPr>
          <p:cNvPr id="59" name="">
            <a:extLst xmlns:a="http://schemas.openxmlformats.org/drawingml/2006/main">
              <a:ext uri="{FF2B5EF4-FFF2-40B4-BE49-F238E27FC236}">
                <a16:creationId xmlns:a16="http://schemas.microsoft.com/office/drawing/2014/main" id="{2EB11A05-C1CD-4041-B14D-BE61E6729DDC}"/>
              </a:ext>
            </a:extLst>
          </p:cNvPr>
          <p:cNvSpPr>
            <a:spLocks xmlns:a="http://schemas.openxmlformats.org/drawingml/2006/main" noGrp="1"/>
          </p:cNvSpPr>
          <p:nvPr/>
        </p:nvSpPr>
        <p:spPr>
          <a:xfrm xmlns:a="http://schemas.openxmlformats.org/drawingml/2006/main">
            <a:off x="3524250" y="9953625"/>
            <a:ext cx="11430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050" b="1">
                <a:solidFill>
                  <a:srgbClr val="183B39"/>
                </a:solidFill>
              </a:defRPr>
            </a:pPr>
            <a:r>
              <a:rPr sz="1050" b="1">
                <a:solidFill>
                  <a:srgbClr val="183B39"/>
                </a:solidFill>
              </a:rPr>
              <a:t>0 unresolved</a:t>
            </a:r>
          </a:p>
        </p:txBody>
      </p:sp>
      <p:sp>
        <p:nvSpPr>
          <p:cNvPr id="60" name="">
            <a:extLst xmlns:a="http://schemas.openxmlformats.org/drawingml/2006/main">
              <a:ext uri="{FF2B5EF4-FFF2-40B4-BE49-F238E27FC236}">
                <a16:creationId xmlns:a16="http://schemas.microsoft.com/office/drawing/2014/main" id="{270B596B-7B6E-4ED1-B508-6C9152F295C4}"/>
              </a:ext>
            </a:extLst>
          </p:cNvPr>
          <p:cNvSpPr>
            <a:spLocks xmlns:a="http://schemas.openxmlformats.org/drawingml/2006/main" noGrp="1"/>
          </p:cNvSpPr>
          <p:nvPr/>
        </p:nvSpPr>
        <p:spPr>
          <a:xfrm xmlns:a="http://schemas.openxmlformats.org/drawingml/2006/main">
            <a:off x="4857750" y="9953625"/>
            <a:ext cx="14287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975" b="0">
                <a:solidFill>
                  <a:srgbClr val="5F716E"/>
                </a:solidFill>
              </a:defRPr>
            </a:pPr>
            <a:r>
              <a:rPr sz="975" b="0">
                <a:solidFill>
                  <a:srgbClr val="5F716E"/>
                </a:solidFill>
              </a:rPr>
              <a:t>Analytics</a:t>
            </a:r>
          </a:p>
        </p:txBody>
      </p:sp>
      <p:sp>
        <p:nvSpPr>
          <p:cNvPr id="61" name="">
            <a:extLst xmlns:a="http://schemas.openxmlformats.org/drawingml/2006/main">
              <a:ext uri="{FF2B5EF4-FFF2-40B4-BE49-F238E27FC236}">
                <a16:creationId xmlns:a16="http://schemas.microsoft.com/office/drawing/2014/main" id="{56BC28F4-B5B6-43B4-8281-C220621BA359}"/>
              </a:ext>
            </a:extLst>
          </p:cNvPr>
          <p:cNvSpPr>
            <a:spLocks xmlns:a="http://schemas.openxmlformats.org/drawingml/2006/main" noGrp="1"/>
          </p:cNvSpPr>
          <p:nvPr/>
        </p:nvSpPr>
        <p:spPr>
          <a:xfrm xmlns:a="http://schemas.openxmlformats.org/drawingml/2006/main">
            <a:off x="361950" y="11544300"/>
            <a:ext cx="6134100" cy="457200"/>
          </a:xfrm>
          <a:prstGeom xmlns:a="http://schemas.openxmlformats.org/drawingml/2006/main" prst="roundRect">
            <a:avLst>
              <a:gd name="adj" fmla="val 16667"/>
            </a:avLst>
          </a:prstGeom>
          <a:solidFill xmlns:a="http://schemas.openxmlformats.org/drawingml/2006/main">
            <a:srgbClr val="DFF2ED"/>
          </a:solidFill>
          <a:ln xmlns:a="http://schemas.openxmlformats.org/drawingml/2006/main" w="9525">
            <a:solidFill>
              <a:srgbClr val="28A596"/>
            </a:solidFill>
            <a:prstDash val="solid"/>
          </a:ln>
        </p:spPr>
      </p:sp>
      <p:sp>
        <p:nvSpPr>
          <p:cNvPr id="62" name="">
            <a:extLst xmlns:a="http://schemas.openxmlformats.org/drawingml/2006/main">
              <a:ext uri="{FF2B5EF4-FFF2-40B4-BE49-F238E27FC236}">
                <a16:creationId xmlns:a16="http://schemas.microsoft.com/office/drawing/2014/main" id="{9FA5600A-C311-4066-A77B-F4C6AAC06C5E}"/>
              </a:ext>
            </a:extLst>
          </p:cNvPr>
          <p:cNvSpPr>
            <a:spLocks xmlns:a="http://schemas.openxmlformats.org/drawingml/2006/main" noGrp="1"/>
          </p:cNvSpPr>
          <p:nvPr/>
        </p:nvSpPr>
        <p:spPr>
          <a:xfrm xmlns:a="http://schemas.openxmlformats.org/drawingml/2006/main">
            <a:off x="438150" y="11582400"/>
            <a:ext cx="142875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38" b="1">
                <a:solidFill>
                  <a:srgbClr val="116F68"/>
                </a:solidFill>
              </a:defRPr>
            </a:pPr>
            <a:r>
              <a:rPr sz="638" b="1">
                <a:solidFill>
                  <a:srgbClr val="116F68"/>
                </a:solidFill>
              </a:rPr>
              <a:t>EVIDENCE</a:t>
            </a:r>
          </a:p>
        </p:txBody>
      </p:sp>
      <p:sp>
        <p:nvSpPr>
          <p:cNvPr id="63" name="">
            <a:extLst xmlns:a="http://schemas.openxmlformats.org/drawingml/2006/main">
              <a:ext uri="{FF2B5EF4-FFF2-40B4-BE49-F238E27FC236}">
                <a16:creationId xmlns:a16="http://schemas.microsoft.com/office/drawing/2014/main" id="{1AC00F24-54C4-4F6C-A381-FB92D376A6E7}"/>
              </a:ext>
            </a:extLst>
          </p:cNvPr>
          <p:cNvSpPr>
            <a:spLocks xmlns:a="http://schemas.openxmlformats.org/drawingml/2006/main" noGrp="1"/>
          </p:cNvSpPr>
          <p:nvPr/>
        </p:nvSpPr>
        <p:spPr>
          <a:xfrm xmlns:a="http://schemas.openxmlformats.org/drawingml/2006/main">
            <a:off x="438150" y="11734800"/>
            <a:ext cx="1428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00" b="0">
                <a:solidFill>
                  <a:srgbClr val="183B39"/>
                </a:solidFill>
              </a:defRPr>
            </a:pPr>
            <a:r>
              <a:rPr sz="600" b="0">
                <a:solidFill>
                  <a:srgbClr val="183B39"/>
                </a:solidFill>
              </a:rPr>
              <a:t>MT offtake Jul-26: ₹36.06 Cr (+64.2% YoY); L3M May–Jul: ₹114.66 Cr (+65.8% YoY); LY Paisa Vasool: Reliance Aug-25 offtake +46.4% vs Jul — some Jul-26 gap may convert naturally in Aug; validate first-week Aug before full remedial action; ₹13.11 Cr reported gap; North + East hold 70.5%</a:t>
            </a:r>
          </a:p>
        </p:txBody>
      </p:sp>
      <p:sp>
        <p:nvSpPr>
          <p:cNvPr id="64" name="">
            <a:extLst xmlns:a="http://schemas.openxmlformats.org/drawingml/2006/main">
              <a:ext uri="{FF2B5EF4-FFF2-40B4-BE49-F238E27FC236}">
                <a16:creationId xmlns:a16="http://schemas.microsoft.com/office/drawing/2014/main" id="{43CB13D7-B79C-4AB5-90C9-8538703DF98C}"/>
              </a:ext>
            </a:extLst>
          </p:cNvPr>
          <p:cNvSpPr>
            <a:spLocks xmlns:a="http://schemas.openxmlformats.org/drawingml/2006/main" noGrp="1"/>
          </p:cNvSpPr>
          <p:nvPr/>
        </p:nvSpPr>
        <p:spPr>
          <a:xfrm xmlns:a="http://schemas.openxmlformats.org/drawingml/2006/main">
            <a:off x="1924050" y="11610975"/>
            <a:ext cx="0" cy="304800"/>
          </a:xfrm>
          <a:prstGeom xmlns:a="http://schemas.openxmlformats.org/drawingml/2006/main" prst="line">
            <a:avLst/>
          </a:prstGeom>
          <a:ln xmlns:a="http://schemas.openxmlformats.org/drawingml/2006/main" w="9525">
            <a:solidFill>
              <a:srgbClr val="C8DCD7"/>
            </a:solidFill>
            <a:prstDash val="solid"/>
          </a:ln>
        </p:spPr>
      </p:sp>
      <p:sp>
        <p:nvSpPr>
          <p:cNvPr id="65" name="">
            <a:extLst xmlns:a="http://schemas.openxmlformats.org/drawingml/2006/main">
              <a:ext uri="{FF2B5EF4-FFF2-40B4-BE49-F238E27FC236}">
                <a16:creationId xmlns:a16="http://schemas.microsoft.com/office/drawing/2014/main" id="{49D72D56-21F8-4E52-B9CE-7A5F8CF420E8}"/>
              </a:ext>
            </a:extLst>
          </p:cNvPr>
          <p:cNvSpPr>
            <a:spLocks xmlns:a="http://schemas.openxmlformats.org/drawingml/2006/main" noGrp="1"/>
          </p:cNvSpPr>
          <p:nvPr/>
        </p:nvSpPr>
        <p:spPr>
          <a:xfrm xmlns:a="http://schemas.openxmlformats.org/drawingml/2006/main">
            <a:off x="1952625" y="11582400"/>
            <a:ext cx="142875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38" b="1">
                <a:solidFill>
                  <a:srgbClr val="116F68"/>
                </a:solidFill>
              </a:defRPr>
            </a:pPr>
            <a:r>
              <a:rPr sz="638" b="1">
                <a:solidFill>
                  <a:srgbClr val="116F68"/>
                </a:solidFill>
              </a:rPr>
              <a:t>IMPLICATION</a:t>
            </a:r>
          </a:p>
        </p:txBody>
      </p:sp>
      <p:sp>
        <p:nvSpPr>
          <p:cNvPr id="66" name="">
            <a:extLst xmlns:a="http://schemas.openxmlformats.org/drawingml/2006/main">
              <a:ext uri="{FF2B5EF4-FFF2-40B4-BE49-F238E27FC236}">
                <a16:creationId xmlns:a16="http://schemas.microsoft.com/office/drawing/2014/main" id="{2C720388-584D-4C1D-9C1C-273ECF7BF7E8}"/>
              </a:ext>
            </a:extLst>
          </p:cNvPr>
          <p:cNvSpPr>
            <a:spLocks xmlns:a="http://schemas.openxmlformats.org/drawingml/2006/main" noGrp="1"/>
          </p:cNvSpPr>
          <p:nvPr/>
        </p:nvSpPr>
        <p:spPr>
          <a:xfrm xmlns:a="http://schemas.openxmlformats.org/drawingml/2006/main">
            <a:off x="1952625" y="11734800"/>
            <a:ext cx="1428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00" b="0">
                <a:solidFill>
                  <a:srgbClr val="183B39"/>
                </a:solidFill>
              </a:defRPr>
            </a:pPr>
            <a:r>
              <a:rPr sz="600" b="0">
                <a:solidFill>
                  <a:srgbClr val="183B39"/>
                </a:solidFill>
              </a:rPr>
              <a:t>The 90-day plan is sequential — reconciliation (phase 1) validates white-space sizing (phase 2), which de-risks scaling (phase 3); skipping phase 1 invalidates everything after it</a:t>
            </a:r>
          </a:p>
        </p:txBody>
      </p:sp>
      <p:sp>
        <p:nvSpPr>
          <p:cNvPr id="67" name="">
            <a:extLst xmlns:a="http://schemas.openxmlformats.org/drawingml/2006/main">
              <a:ext uri="{FF2B5EF4-FFF2-40B4-BE49-F238E27FC236}">
                <a16:creationId xmlns:a16="http://schemas.microsoft.com/office/drawing/2014/main" id="{9DF74271-8045-4E2B-B0DA-4A0820F8E94B}"/>
              </a:ext>
            </a:extLst>
          </p:cNvPr>
          <p:cNvSpPr>
            <a:spLocks xmlns:a="http://schemas.openxmlformats.org/drawingml/2006/main" noGrp="1"/>
          </p:cNvSpPr>
          <p:nvPr/>
        </p:nvSpPr>
        <p:spPr>
          <a:xfrm xmlns:a="http://schemas.openxmlformats.org/drawingml/2006/main">
            <a:off x="3438525" y="11610975"/>
            <a:ext cx="0" cy="304800"/>
          </a:xfrm>
          <a:prstGeom xmlns:a="http://schemas.openxmlformats.org/drawingml/2006/main" prst="line">
            <a:avLst/>
          </a:prstGeom>
          <a:ln xmlns:a="http://schemas.openxmlformats.org/drawingml/2006/main" w="9525">
            <a:solidFill>
              <a:srgbClr val="C8DCD7"/>
            </a:solidFill>
            <a:prstDash val="solid"/>
          </a:ln>
        </p:spPr>
      </p:sp>
      <p:sp>
        <p:nvSpPr>
          <p:cNvPr id="68" name="">
            <a:extLst xmlns:a="http://schemas.openxmlformats.org/drawingml/2006/main">
              <a:ext uri="{FF2B5EF4-FFF2-40B4-BE49-F238E27FC236}">
                <a16:creationId xmlns:a16="http://schemas.microsoft.com/office/drawing/2014/main" id="{A3BA8007-7B96-404A-9470-1AC6300EA7DD}"/>
              </a:ext>
            </a:extLst>
          </p:cNvPr>
          <p:cNvSpPr>
            <a:spLocks xmlns:a="http://schemas.openxmlformats.org/drawingml/2006/main" noGrp="1"/>
          </p:cNvSpPr>
          <p:nvPr/>
        </p:nvSpPr>
        <p:spPr>
          <a:xfrm xmlns:a="http://schemas.openxmlformats.org/drawingml/2006/main">
            <a:off x="3467100" y="11582400"/>
            <a:ext cx="142875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38" b="1">
                <a:solidFill>
                  <a:srgbClr val="116F68"/>
                </a:solidFill>
              </a:defRPr>
            </a:pPr>
            <a:r>
              <a:rPr sz="638" b="1">
                <a:solidFill>
                  <a:srgbClr val="116F68"/>
                </a:solidFill>
              </a:rPr>
              <a:t>ACTION</a:t>
            </a:r>
          </a:p>
        </p:txBody>
      </p:sp>
      <p:sp>
        <p:nvSpPr>
          <p:cNvPr id="69" name="">
            <a:extLst xmlns:a="http://schemas.openxmlformats.org/drawingml/2006/main">
              <a:ext uri="{FF2B5EF4-FFF2-40B4-BE49-F238E27FC236}">
                <a16:creationId xmlns:a16="http://schemas.microsoft.com/office/drawing/2014/main" id="{5A4328F9-714A-4730-9B16-A77F2392C067}"/>
              </a:ext>
            </a:extLst>
          </p:cNvPr>
          <p:cNvSpPr>
            <a:spLocks xmlns:a="http://schemas.openxmlformats.org/drawingml/2006/main" noGrp="1"/>
          </p:cNvSpPr>
          <p:nvPr/>
        </p:nvSpPr>
        <p:spPr>
          <a:xfrm xmlns:a="http://schemas.openxmlformats.org/drawingml/2006/main">
            <a:off x="3467100" y="11734800"/>
            <a:ext cx="1428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00" b="0">
                <a:solidFill>
                  <a:srgbClr val="183B39"/>
                </a:solidFill>
              </a:defRPr>
            </a:pPr>
            <a:r>
              <a:rPr sz="600" b="0">
                <a:solidFill>
                  <a:srgbClr val="183B39"/>
                </a:solidFill>
              </a:rPr>
              <a:t>Paisa Vasool check: validate Reliance Aug-26 offtake by 05-Aug before deploying EAN-store fix list; weekly scoreboard from 22-Aug: North ZSM + East ZSM on post-Paisa-Vasool gap metrics; KAMs on Hero-SKU OSA; Analytics on data exceptions; no exceptions to owner-date accountability</a:t>
            </a:r>
          </a:p>
        </p:txBody>
      </p:sp>
      <p:sp>
        <p:nvSpPr>
          <p:cNvPr id="70" name="">
            <a:extLst xmlns:a="http://schemas.openxmlformats.org/drawingml/2006/main">
              <a:ext uri="{FF2B5EF4-FFF2-40B4-BE49-F238E27FC236}">
                <a16:creationId xmlns:a16="http://schemas.microsoft.com/office/drawing/2014/main" id="{9C50290C-65C2-47D5-92A7-48C6582D96F5}"/>
              </a:ext>
            </a:extLst>
          </p:cNvPr>
          <p:cNvSpPr>
            <a:spLocks xmlns:a="http://schemas.openxmlformats.org/drawingml/2006/main" noGrp="1"/>
          </p:cNvSpPr>
          <p:nvPr/>
        </p:nvSpPr>
        <p:spPr>
          <a:xfrm xmlns:a="http://schemas.openxmlformats.org/drawingml/2006/main">
            <a:off x="4953000" y="11610975"/>
            <a:ext cx="0" cy="304800"/>
          </a:xfrm>
          <a:prstGeom xmlns:a="http://schemas.openxmlformats.org/drawingml/2006/main" prst="line">
            <a:avLst/>
          </a:prstGeom>
          <a:ln xmlns:a="http://schemas.openxmlformats.org/drawingml/2006/main" w="9525">
            <a:solidFill>
              <a:srgbClr val="C8DCD7"/>
            </a:solidFill>
            <a:prstDash val="solid"/>
          </a:ln>
        </p:spPr>
      </p:sp>
      <p:sp>
        <p:nvSpPr>
          <p:cNvPr id="71" name="">
            <a:extLst xmlns:a="http://schemas.openxmlformats.org/drawingml/2006/main">
              <a:ext uri="{FF2B5EF4-FFF2-40B4-BE49-F238E27FC236}">
                <a16:creationId xmlns:a16="http://schemas.microsoft.com/office/drawing/2014/main" id="{7C14DC0D-9F99-4BF0-A882-FE65E09ADD8D}"/>
              </a:ext>
            </a:extLst>
          </p:cNvPr>
          <p:cNvSpPr>
            <a:spLocks xmlns:a="http://schemas.openxmlformats.org/drawingml/2006/main" noGrp="1"/>
          </p:cNvSpPr>
          <p:nvPr/>
        </p:nvSpPr>
        <p:spPr>
          <a:xfrm xmlns:a="http://schemas.openxmlformats.org/drawingml/2006/main">
            <a:off x="4981575" y="11582400"/>
            <a:ext cx="142875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38" b="1">
                <a:solidFill>
                  <a:srgbClr val="116F68"/>
                </a:solidFill>
              </a:defRPr>
            </a:pPr>
            <a:r>
              <a:rPr sz="638" b="1">
                <a:solidFill>
                  <a:srgbClr val="116F68"/>
                </a:solidFill>
              </a:rPr>
              <a:t>OWNER</a:t>
            </a:r>
          </a:p>
        </p:txBody>
      </p:sp>
      <p:sp>
        <p:nvSpPr>
          <p:cNvPr id="72" name="">
            <a:extLst xmlns:a="http://schemas.openxmlformats.org/drawingml/2006/main">
              <a:ext uri="{FF2B5EF4-FFF2-40B4-BE49-F238E27FC236}">
                <a16:creationId xmlns:a16="http://schemas.microsoft.com/office/drawing/2014/main" id="{B342F8EE-D0FA-4AFE-AB0B-F6DE6603B189}"/>
              </a:ext>
            </a:extLst>
          </p:cNvPr>
          <p:cNvSpPr>
            <a:spLocks xmlns:a="http://schemas.openxmlformats.org/drawingml/2006/main" noGrp="1"/>
          </p:cNvSpPr>
          <p:nvPr/>
        </p:nvSpPr>
        <p:spPr>
          <a:xfrm xmlns:a="http://schemas.openxmlformats.org/drawingml/2006/main">
            <a:off x="4981575" y="11734800"/>
            <a:ext cx="1428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00" b="0">
                <a:solidFill>
                  <a:srgbClr val="183B39"/>
                </a:solidFill>
              </a:defRPr>
            </a:pPr>
            <a:r>
              <a:rPr sz="600" b="0">
                <a:solidFill>
                  <a:srgbClr val="183B39"/>
                </a:solidFill>
              </a:rPr>
              <a:t>Sales Lead (weekly chair) | First review 22-Aug</a:t>
            </a:r>
          </a:p>
        </p:txBody>
      </p:sp>
    </p:spTree>
    <p:extLst>
      <p:ext uri="{BB962C8B-B14F-4D97-AF65-F5344CB8AC3E}">
        <p14:creationId xmlns:p14="http://schemas.microsoft.com/office/powerpoint/2010/main" val="595362946"/>
      </p:ext>
    </p:extLst>
  </p:cSld>
</p:sld>
</file>

<file path=ppt/slides/slide19.xml><?xml version="1.0" encoding="utf-8"?>
<p:sld xmlns:p="http://schemas.openxmlformats.org/presentationml/2006/main">
  <p:cSld>
    <p:bg>
      <p:bgPr>
        <a:solidFill xmlns:a="http://schemas.openxmlformats.org/drawingml/2006/main">
          <a:srgbClr val="F7FBFA"/>
        </a:solidFill>
      </p:bgPr>
    </p:bg>
    <p:spTree>
      <p:nvGrpSpPr>
        <p:cNvPr id="1" name=""/>
        <p:cNvGrpSpPr/>
        <p:nvPr/>
      </p:nvGrpSpPr>
      <p:grpSpPr>
        <a:xfrm xmlns:a="http://schemas.openxmlformats.org/drawingml/2006/main"/>
      </p:grpSpPr>
      <p:sp>
        <p:nvSpPr>
          <p:cNvPr id="112" name="">
            <a:extLst xmlns:a="http://schemas.openxmlformats.org/drawingml/2006/main">
              <a:ext uri="{FF2B5EF4-FFF2-40B4-BE49-F238E27FC236}">
                <a16:creationId xmlns:a16="http://schemas.microsoft.com/office/drawing/2014/main" id="{3386343B-D1DF-4CAF-811E-1DF62A420348}"/>
              </a:ext>
            </a:extLst>
          </p:cNvPr>
          <p:cNvSpPr>
            <a:spLocks xmlns:a="http://schemas.openxmlformats.org/drawingml/2006/main" noGrp="1"/>
          </p:cNvSpPr>
          <p:nvPr/>
        </p:nvSpPr>
        <p:spPr>
          <a:xfrm xmlns:a="http://schemas.openxmlformats.org/drawingml/2006/main">
            <a:off x="0" y="0"/>
            <a:ext cx="6858000" cy="1000125"/>
          </a:xfrm>
          <a:prstGeom xmlns:a="http://schemas.openxmlformats.org/drawingml/2006/main" prst="rect">
            <a:avLst/>
          </a:prstGeom>
          <a:solidFill xmlns:a="http://schemas.openxmlformats.org/drawingml/2006/main">
            <a:srgbClr val="116F68"/>
          </a:solidFill>
          <a:ln xmlns:a="http://schemas.openxmlformats.org/drawingml/2006/main" w="0">
            <a:solidFill>
              <a:srgbClr val="116F68"/>
            </a:solidFill>
            <a:prstDash val="solid"/>
          </a:ln>
        </p:spPr>
      </p:sp>
      <p:sp>
        <p:nvSpPr>
          <p:cNvPr id="2" name="">
            <a:extLst xmlns:a="http://schemas.openxmlformats.org/drawingml/2006/main">
              <a:ext uri="{FF2B5EF4-FFF2-40B4-BE49-F238E27FC236}">
                <a16:creationId xmlns:a16="http://schemas.microsoft.com/office/drawing/2014/main" id="{1E081D7E-0597-465A-B5C6-81A97A9347BD}"/>
              </a:ext>
            </a:extLst>
          </p:cNvPr>
          <p:cNvSpPr>
            <a:spLocks xmlns:a="http://schemas.openxmlformats.org/drawingml/2006/main" noGrp="1"/>
          </p:cNvSpPr>
          <p:nvPr/>
        </p:nvSpPr>
        <p:spPr>
          <a:xfrm xmlns:a="http://schemas.openxmlformats.org/drawingml/2006/main">
            <a:off x="361950" y="228600"/>
            <a:ext cx="59055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2025" b="1">
                <a:solidFill>
                  <a:srgbClr val="FFFFFF"/>
                </a:solidFill>
              </a:defRPr>
            </a:pPr>
            <a:r>
              <a:rPr sz="2025" b="1">
                <a:solidFill>
                  <a:srgbClr val="FFFFFF"/>
                </a:solidFill>
              </a:rPr>
              <a:t>Decision-safe definitions, quality gates and authority boundaries</a:t>
            </a:r>
          </a:p>
        </p:txBody>
      </p:sp>
      <p:sp>
        <p:nvSpPr>
          <p:cNvPr id="3" name="">
            <a:extLst xmlns:a="http://schemas.openxmlformats.org/drawingml/2006/main">
              <a:ext uri="{FF2B5EF4-FFF2-40B4-BE49-F238E27FC236}">
                <a16:creationId xmlns:a16="http://schemas.microsoft.com/office/drawing/2014/main" id="{EBB79C3E-9A10-4DCE-BA8B-2BC3BBEC8A0F}"/>
              </a:ext>
            </a:extLst>
          </p:cNvPr>
          <p:cNvSpPr>
            <a:spLocks xmlns:a="http://schemas.openxmlformats.org/drawingml/2006/main" noGrp="1"/>
          </p:cNvSpPr>
          <p:nvPr/>
        </p:nvSpPr>
        <p:spPr>
          <a:xfrm xmlns:a="http://schemas.openxmlformats.org/drawingml/2006/main">
            <a:off x="381000" y="695325"/>
            <a:ext cx="57150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75" b="0">
                <a:solidFill>
                  <a:srgbClr val="DFF2ED"/>
                </a:solidFill>
              </a:defRPr>
            </a:pPr>
            <a:r>
              <a:rPr sz="975" b="0">
                <a:solidFill>
                  <a:srgbClr val="DFF2ED"/>
                </a:solidFill>
              </a:rPr>
              <a:t>Audit command center | source coverage, interpretation and controlled execution</a:t>
            </a:r>
          </a:p>
        </p:txBody>
      </p:sp>
      <p:sp>
        <p:nvSpPr>
          <p:cNvPr id="4" name="">
            <a:extLst xmlns:a="http://schemas.openxmlformats.org/drawingml/2006/main">
              <a:ext uri="{FF2B5EF4-FFF2-40B4-BE49-F238E27FC236}">
                <a16:creationId xmlns:a16="http://schemas.microsoft.com/office/drawing/2014/main" id="{B3AE2610-1919-4EFF-994C-161EA9B8ADA2}"/>
              </a:ext>
            </a:extLst>
          </p:cNvPr>
          <p:cNvSpPr>
            <a:spLocks xmlns:a="http://schemas.openxmlformats.org/drawingml/2006/main" noGrp="1"/>
          </p:cNvSpPr>
          <p:nvPr/>
        </p:nvSpPr>
        <p:spPr>
          <a:xfrm xmlns:a="http://schemas.openxmlformats.org/drawingml/2006/main">
            <a:off x="6191250" y="361950"/>
            <a:ext cx="3429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900" b="1">
                <a:solidFill>
                  <a:srgbClr val="FFFFFF"/>
                </a:solidFill>
              </a:defRPr>
            </a:pPr>
            <a:r>
              <a:rPr sz="900" b="1">
                <a:solidFill>
                  <a:srgbClr val="FFFFFF"/>
                </a:solidFill>
              </a:rPr>
              <a:t>19</a:t>
            </a:r>
          </a:p>
        </p:txBody>
      </p:sp>
      <p:sp>
        <p:nvSpPr>
          <p:cNvPr id="5" name="">
            <a:extLst xmlns:a="http://schemas.openxmlformats.org/drawingml/2006/main">
              <a:ext uri="{FF2B5EF4-FFF2-40B4-BE49-F238E27FC236}">
                <a16:creationId xmlns:a16="http://schemas.microsoft.com/office/drawing/2014/main" id="{6FADFEE6-4AE9-4D27-9494-B9C0F7548735}"/>
              </a:ext>
            </a:extLst>
          </p:cNvPr>
          <p:cNvSpPr>
            <a:spLocks xmlns:a="http://schemas.openxmlformats.org/drawingml/2006/main" noGrp="1"/>
          </p:cNvSpPr>
          <p:nvPr/>
        </p:nvSpPr>
        <p:spPr>
          <a:xfrm xmlns:a="http://schemas.openxmlformats.org/drawingml/2006/main">
            <a:off x="266700" y="1123950"/>
            <a:ext cx="6324600" cy="1162050"/>
          </a:xfrm>
          <a:prstGeom xmlns:a="http://schemas.openxmlformats.org/drawingml/2006/main" prst="roundRect">
            <a:avLst>
              <a:gd name="adj" fmla="val 6557"/>
            </a:avLst>
          </a:prstGeom>
          <a:solidFill xmlns:a="http://schemas.openxmlformats.org/drawingml/2006/main">
            <a:srgbClr val="DFF2ED"/>
          </a:solidFill>
          <a:ln xmlns:a="http://schemas.openxmlformats.org/drawingml/2006/main" w="9525">
            <a:solidFill>
              <a:srgbClr val="28A596"/>
            </a:solidFill>
            <a:prstDash val="solid"/>
          </a:ln>
        </p:spPr>
      </p:sp>
      <p:sp>
        <p:nvSpPr>
          <p:cNvPr id="6" name="">
            <a:extLst xmlns:a="http://schemas.openxmlformats.org/drawingml/2006/main">
              <a:ext uri="{FF2B5EF4-FFF2-40B4-BE49-F238E27FC236}">
                <a16:creationId xmlns:a16="http://schemas.microsoft.com/office/drawing/2014/main" id="{26879CB8-D179-46C0-94D4-A841C8CD78D0}"/>
              </a:ext>
            </a:extLst>
          </p:cNvPr>
          <p:cNvSpPr>
            <a:spLocks xmlns:a="http://schemas.openxmlformats.org/drawingml/2006/main" noGrp="1"/>
          </p:cNvSpPr>
          <p:nvPr/>
        </p:nvSpPr>
        <p:spPr>
          <a:xfrm xmlns:a="http://schemas.openxmlformats.org/drawingml/2006/main">
            <a:off x="457200" y="1314450"/>
            <a:ext cx="59436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350" b="1">
                <a:solidFill>
                  <a:srgbClr val="116F68"/>
                </a:solidFill>
              </a:defRPr>
            </a:pPr>
            <a:r>
              <a:rPr sz="1350" b="1">
                <a:solidFill>
                  <a:srgbClr val="116F68"/>
                </a:solidFill>
              </a:rPr>
              <a:t>Use the deck to prioritize investigation and owner action—not to infer inventory, causality or autonomous execution.</a:t>
            </a:r>
          </a:p>
        </p:txBody>
      </p:sp>
      <p:sp>
        <p:nvSpPr>
          <p:cNvPr id="7" name="">
            <a:extLst xmlns:a="http://schemas.openxmlformats.org/drawingml/2006/main">
              <a:ext uri="{FF2B5EF4-FFF2-40B4-BE49-F238E27FC236}">
                <a16:creationId xmlns:a16="http://schemas.microsoft.com/office/drawing/2014/main" id="{C1E536AD-AD03-4A02-B080-742056C224F3}"/>
              </a:ext>
            </a:extLst>
          </p:cNvPr>
          <p:cNvSpPr>
            <a:spLocks xmlns:a="http://schemas.openxmlformats.org/drawingml/2006/main" noGrp="1"/>
          </p:cNvSpPr>
          <p:nvPr/>
        </p:nvSpPr>
        <p:spPr>
          <a:xfrm xmlns:a="http://schemas.openxmlformats.org/drawingml/2006/main">
            <a:off x="552450" y="1752600"/>
            <a:ext cx="57531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863" b="0">
                <a:solidFill>
                  <a:srgbClr val="5F716E"/>
                </a:solidFill>
              </a:defRPr>
            </a:pPr>
            <a:r>
              <a:rPr sz="863" b="0">
                <a:solidFill>
                  <a:srgbClr val="5F716E"/>
                </a:solidFill>
              </a:rPr>
              <a:t>Every consequential commercial change remains subject to named human approval.</a:t>
            </a:r>
          </a:p>
        </p:txBody>
      </p:sp>
      <p:sp>
        <p:nvSpPr>
          <p:cNvPr id="8" name="">
            <a:extLst xmlns:a="http://schemas.openxmlformats.org/drawingml/2006/main">
              <a:ext uri="{FF2B5EF4-FFF2-40B4-BE49-F238E27FC236}">
                <a16:creationId xmlns:a16="http://schemas.microsoft.com/office/drawing/2014/main" id="{22283F4B-7F45-48C5-8451-68EBBCEF0BF6}"/>
              </a:ext>
            </a:extLst>
          </p:cNvPr>
          <p:cNvSpPr>
            <a:spLocks xmlns:a="http://schemas.openxmlformats.org/drawingml/2006/main" noGrp="1"/>
          </p:cNvSpPr>
          <p:nvPr/>
        </p:nvSpPr>
        <p:spPr>
          <a:xfrm xmlns:a="http://schemas.openxmlformats.org/drawingml/2006/main">
            <a:off x="266700" y="2457450"/>
            <a:ext cx="1981200" cy="2590800"/>
          </a:xfrm>
          <a:prstGeom xmlns:a="http://schemas.openxmlformats.org/drawingml/2006/main" prst="roundRect">
            <a:avLst>
              <a:gd name="adj" fmla="val 3846"/>
            </a:avLst>
          </a:prstGeom>
          <a:solidFill xmlns:a="http://schemas.openxmlformats.org/drawingml/2006/main">
            <a:srgbClr val="FFFFFF"/>
          </a:solidFill>
          <a:ln xmlns:a="http://schemas.openxmlformats.org/drawingml/2006/main" w="9525">
            <a:solidFill>
              <a:srgbClr val="C8DCD7"/>
            </a:solidFill>
            <a:prstDash val="solid"/>
          </a:ln>
        </p:spPr>
      </p:sp>
      <p:sp>
        <p:nvSpPr>
          <p:cNvPr id="9" name="">
            <a:extLst xmlns:a="http://schemas.openxmlformats.org/drawingml/2006/main">
              <a:ext uri="{FF2B5EF4-FFF2-40B4-BE49-F238E27FC236}">
                <a16:creationId xmlns:a16="http://schemas.microsoft.com/office/drawing/2014/main" id="{2E264EA3-4EF3-47DC-8BCA-DA6DED3EB687}"/>
              </a:ext>
            </a:extLst>
          </p:cNvPr>
          <p:cNvSpPr>
            <a:spLocks xmlns:a="http://schemas.openxmlformats.org/drawingml/2006/main" noGrp="1"/>
          </p:cNvSpPr>
          <p:nvPr/>
        </p:nvSpPr>
        <p:spPr>
          <a:xfrm xmlns:a="http://schemas.openxmlformats.org/drawingml/2006/main">
            <a:off x="266700" y="2457450"/>
            <a:ext cx="1981200" cy="285750"/>
          </a:xfrm>
          <a:prstGeom xmlns:a="http://schemas.openxmlformats.org/drawingml/2006/main" prst="rect">
            <a:avLst/>
          </a:prstGeom>
          <a:solidFill xmlns:a="http://schemas.openxmlformats.org/drawingml/2006/main">
            <a:srgbClr val="116F68"/>
          </a:solidFill>
          <a:ln xmlns:a="http://schemas.openxmlformats.org/drawingml/2006/main" w="0">
            <a:solidFill>
              <a:srgbClr val="116F68"/>
            </a:solidFill>
            <a:prstDash val="solid"/>
          </a:ln>
        </p:spPr>
      </p:sp>
      <p:sp>
        <p:nvSpPr>
          <p:cNvPr id="10" name="">
            <a:extLst xmlns:a="http://schemas.openxmlformats.org/drawingml/2006/main">
              <a:ext uri="{FF2B5EF4-FFF2-40B4-BE49-F238E27FC236}">
                <a16:creationId xmlns:a16="http://schemas.microsoft.com/office/drawing/2014/main" id="{36908DDA-808D-43D0-80D1-3613C813391C}"/>
              </a:ext>
            </a:extLst>
          </p:cNvPr>
          <p:cNvSpPr>
            <a:spLocks xmlns:a="http://schemas.openxmlformats.org/drawingml/2006/main" noGrp="1"/>
          </p:cNvSpPr>
          <p:nvPr/>
        </p:nvSpPr>
        <p:spPr>
          <a:xfrm xmlns:a="http://schemas.openxmlformats.org/drawingml/2006/main">
            <a:off x="352425" y="2476500"/>
            <a:ext cx="18097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788" b="1">
                <a:solidFill>
                  <a:srgbClr val="FFFFFF"/>
                </a:solidFill>
              </a:defRPr>
            </a:pPr>
            <a:r>
              <a:rPr sz="788" b="1">
                <a:solidFill>
                  <a:srgbClr val="FFFFFF"/>
                </a:solidFill>
              </a:rPr>
              <a:t>PRIMARY</a:t>
            </a:r>
          </a:p>
        </p:txBody>
      </p:sp>
      <p:sp>
        <p:nvSpPr>
          <p:cNvPr id="11" name="">
            <a:extLst xmlns:a="http://schemas.openxmlformats.org/drawingml/2006/main">
              <a:ext uri="{FF2B5EF4-FFF2-40B4-BE49-F238E27FC236}">
                <a16:creationId xmlns:a16="http://schemas.microsoft.com/office/drawing/2014/main" id="{E8DBD80E-474F-47DE-9983-FE07D7D6F1EC}"/>
              </a:ext>
            </a:extLst>
          </p:cNvPr>
          <p:cNvSpPr>
            <a:spLocks xmlns:a="http://schemas.openxmlformats.org/drawingml/2006/main" noGrp="1"/>
          </p:cNvSpPr>
          <p:nvPr/>
        </p:nvSpPr>
        <p:spPr>
          <a:xfrm xmlns:a="http://schemas.openxmlformats.org/drawingml/2006/main">
            <a:off x="381000" y="2857500"/>
            <a:ext cx="17526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275" b="1">
                <a:solidFill>
                  <a:srgbClr val="116F68"/>
                </a:solidFill>
              </a:defRPr>
            </a:pPr>
            <a:r>
              <a:rPr sz="1275" b="1">
                <a:solidFill>
                  <a:srgbClr val="116F68"/>
                </a:solidFill>
              </a:rPr>
              <a:t>₹49.21 Cr</a:t>
            </a:r>
          </a:p>
        </p:txBody>
      </p:sp>
      <p:sp>
        <p:nvSpPr>
          <p:cNvPr id="12" name="">
            <a:extLst xmlns:a="http://schemas.openxmlformats.org/drawingml/2006/main">
              <a:ext uri="{FF2B5EF4-FFF2-40B4-BE49-F238E27FC236}">
                <a16:creationId xmlns:a16="http://schemas.microsoft.com/office/drawing/2014/main" id="{85CAC57E-601C-48F3-AF3B-F705E431EB82}"/>
              </a:ext>
            </a:extLst>
          </p:cNvPr>
          <p:cNvSpPr>
            <a:spLocks xmlns:a="http://schemas.openxmlformats.org/drawingml/2006/main" noGrp="1"/>
          </p:cNvSpPr>
          <p:nvPr/>
        </p:nvSpPr>
        <p:spPr>
          <a:xfrm xmlns:a="http://schemas.openxmlformats.org/drawingml/2006/main">
            <a:off x="400050" y="3352800"/>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B9A66"/>
                </a:solidFill>
              </a:defRPr>
            </a:pPr>
            <a:r>
              <a:rPr sz="600" b="1">
                <a:solidFill>
                  <a:srgbClr val="2B9A66"/>
                </a:solidFill>
              </a:rPr>
              <a:t>●</a:t>
            </a:r>
          </a:p>
        </p:txBody>
      </p:sp>
      <p:sp>
        <p:nvSpPr>
          <p:cNvPr id="13" name="">
            <a:extLst xmlns:a="http://schemas.openxmlformats.org/drawingml/2006/main">
              <a:ext uri="{FF2B5EF4-FFF2-40B4-BE49-F238E27FC236}">
                <a16:creationId xmlns:a16="http://schemas.microsoft.com/office/drawing/2014/main" id="{AD3A893D-935D-4B0C-B581-0B6D6C3D7C28}"/>
              </a:ext>
            </a:extLst>
          </p:cNvPr>
          <p:cNvSpPr>
            <a:spLocks xmlns:a="http://schemas.openxmlformats.org/drawingml/2006/main" noGrp="1"/>
          </p:cNvSpPr>
          <p:nvPr/>
        </p:nvSpPr>
        <p:spPr>
          <a:xfrm xmlns:a="http://schemas.openxmlformats.org/drawingml/2006/main">
            <a:off x="542925" y="3352800"/>
            <a:ext cx="1571625"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1">
                <a:solidFill>
                  <a:srgbClr val="183B39"/>
                </a:solidFill>
              </a:defRPr>
            </a:pPr>
            <a:r>
              <a:rPr sz="765" b="1">
                <a:solidFill>
                  <a:srgbClr val="183B39"/>
                </a:solidFill>
              </a:rPr>
              <a:t>Invoice net value</a:t>
            </a:r>
          </a:p>
        </p:txBody>
      </p:sp>
      <p:sp>
        <p:nvSpPr>
          <p:cNvPr id="14" name="">
            <a:extLst xmlns:a="http://schemas.openxmlformats.org/drawingml/2006/main">
              <a:ext uri="{FF2B5EF4-FFF2-40B4-BE49-F238E27FC236}">
                <a16:creationId xmlns:a16="http://schemas.microsoft.com/office/drawing/2014/main" id="{C159BBAA-17BA-4403-90C4-3F2EA1CE806D}"/>
              </a:ext>
            </a:extLst>
          </p:cNvPr>
          <p:cNvSpPr>
            <a:spLocks xmlns:a="http://schemas.openxmlformats.org/drawingml/2006/main" noGrp="1"/>
          </p:cNvSpPr>
          <p:nvPr/>
        </p:nvSpPr>
        <p:spPr>
          <a:xfrm xmlns:a="http://schemas.openxmlformats.org/drawingml/2006/main">
            <a:off x="400050" y="3686175"/>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8A596"/>
                </a:solidFill>
              </a:defRPr>
            </a:pPr>
            <a:r>
              <a:rPr sz="600" b="1">
                <a:solidFill>
                  <a:srgbClr val="28A596"/>
                </a:solidFill>
              </a:rPr>
              <a:t>●</a:t>
            </a:r>
          </a:p>
        </p:txBody>
      </p:sp>
      <p:sp>
        <p:nvSpPr>
          <p:cNvPr id="15" name="">
            <a:extLst xmlns:a="http://schemas.openxmlformats.org/drawingml/2006/main">
              <a:ext uri="{FF2B5EF4-FFF2-40B4-BE49-F238E27FC236}">
                <a16:creationId xmlns:a16="http://schemas.microsoft.com/office/drawing/2014/main" id="{DE0A021E-D53E-446F-9CB4-F41FF51C9763}"/>
              </a:ext>
            </a:extLst>
          </p:cNvPr>
          <p:cNvSpPr>
            <a:spLocks xmlns:a="http://schemas.openxmlformats.org/drawingml/2006/main" noGrp="1"/>
          </p:cNvSpPr>
          <p:nvPr/>
        </p:nvSpPr>
        <p:spPr>
          <a:xfrm xmlns:a="http://schemas.openxmlformats.org/drawingml/2006/main">
            <a:off x="542925" y="3686175"/>
            <a:ext cx="1571625"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July primary sheet</a:t>
            </a:r>
          </a:p>
        </p:txBody>
      </p:sp>
      <p:sp>
        <p:nvSpPr>
          <p:cNvPr id="16" name="">
            <a:extLst xmlns:a="http://schemas.openxmlformats.org/drawingml/2006/main">
              <a:ext uri="{FF2B5EF4-FFF2-40B4-BE49-F238E27FC236}">
                <a16:creationId xmlns:a16="http://schemas.microsoft.com/office/drawing/2014/main" id="{AD6DC8D5-7104-477F-9BC1-725473AB8741}"/>
              </a:ext>
            </a:extLst>
          </p:cNvPr>
          <p:cNvSpPr>
            <a:spLocks xmlns:a="http://schemas.openxmlformats.org/drawingml/2006/main" noGrp="1"/>
          </p:cNvSpPr>
          <p:nvPr/>
        </p:nvSpPr>
        <p:spPr>
          <a:xfrm xmlns:a="http://schemas.openxmlformats.org/drawingml/2006/main">
            <a:off x="400050" y="4019550"/>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8A596"/>
                </a:solidFill>
              </a:defRPr>
            </a:pPr>
            <a:r>
              <a:rPr sz="600" b="1">
                <a:solidFill>
                  <a:srgbClr val="28A596"/>
                </a:solidFill>
              </a:rPr>
              <a:t>●</a:t>
            </a:r>
          </a:p>
        </p:txBody>
      </p:sp>
      <p:sp>
        <p:nvSpPr>
          <p:cNvPr id="17" name="">
            <a:extLst xmlns:a="http://schemas.openxmlformats.org/drawingml/2006/main">
              <a:ext uri="{FF2B5EF4-FFF2-40B4-BE49-F238E27FC236}">
                <a16:creationId xmlns:a16="http://schemas.microsoft.com/office/drawing/2014/main" id="{FF17C548-6534-402D-985F-DFFF2EEA3AF2}"/>
              </a:ext>
            </a:extLst>
          </p:cNvPr>
          <p:cNvSpPr>
            <a:spLocks xmlns:a="http://schemas.openxmlformats.org/drawingml/2006/main" noGrp="1"/>
          </p:cNvSpPr>
          <p:nvPr/>
        </p:nvSpPr>
        <p:spPr>
          <a:xfrm xmlns:a="http://schemas.openxmlformats.org/drawingml/2006/main">
            <a:off x="542925" y="4019550"/>
            <a:ext cx="1571625"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Converted from INR to ₹ Cr</a:t>
            </a:r>
          </a:p>
        </p:txBody>
      </p:sp>
      <p:sp>
        <p:nvSpPr>
          <p:cNvPr id="18" name="">
            <a:extLst xmlns:a="http://schemas.openxmlformats.org/drawingml/2006/main">
              <a:ext uri="{FF2B5EF4-FFF2-40B4-BE49-F238E27FC236}">
                <a16:creationId xmlns:a16="http://schemas.microsoft.com/office/drawing/2014/main" id="{8BD95A32-E148-47BD-9F2F-CF00FF15F074}"/>
              </a:ext>
            </a:extLst>
          </p:cNvPr>
          <p:cNvSpPr>
            <a:spLocks xmlns:a="http://schemas.openxmlformats.org/drawingml/2006/main" noGrp="1"/>
          </p:cNvSpPr>
          <p:nvPr/>
        </p:nvSpPr>
        <p:spPr>
          <a:xfrm xmlns:a="http://schemas.openxmlformats.org/drawingml/2006/main">
            <a:off x="2438400" y="2457450"/>
            <a:ext cx="1981200" cy="2590800"/>
          </a:xfrm>
          <a:prstGeom xmlns:a="http://schemas.openxmlformats.org/drawingml/2006/main" prst="roundRect">
            <a:avLst>
              <a:gd name="adj" fmla="val 3846"/>
            </a:avLst>
          </a:prstGeom>
          <a:solidFill xmlns:a="http://schemas.openxmlformats.org/drawingml/2006/main">
            <a:srgbClr val="FFFFFF"/>
          </a:solidFill>
          <a:ln xmlns:a="http://schemas.openxmlformats.org/drawingml/2006/main" w="9525">
            <a:solidFill>
              <a:srgbClr val="C8DCD7"/>
            </a:solidFill>
            <a:prstDash val="solid"/>
          </a:ln>
        </p:spPr>
      </p:sp>
      <p:sp>
        <p:nvSpPr>
          <p:cNvPr id="19" name="">
            <a:extLst xmlns:a="http://schemas.openxmlformats.org/drawingml/2006/main">
              <a:ext uri="{FF2B5EF4-FFF2-40B4-BE49-F238E27FC236}">
                <a16:creationId xmlns:a16="http://schemas.microsoft.com/office/drawing/2014/main" id="{E3B06AE7-2614-4358-933B-79CA5A6F3D4A}"/>
              </a:ext>
            </a:extLst>
          </p:cNvPr>
          <p:cNvSpPr>
            <a:spLocks xmlns:a="http://schemas.openxmlformats.org/drawingml/2006/main" noGrp="1"/>
          </p:cNvSpPr>
          <p:nvPr/>
        </p:nvSpPr>
        <p:spPr>
          <a:xfrm xmlns:a="http://schemas.openxmlformats.org/drawingml/2006/main">
            <a:off x="2438400" y="2457450"/>
            <a:ext cx="1981200" cy="285750"/>
          </a:xfrm>
          <a:prstGeom xmlns:a="http://schemas.openxmlformats.org/drawingml/2006/main" prst="rect">
            <a:avLst/>
          </a:prstGeom>
          <a:solidFill xmlns:a="http://schemas.openxmlformats.org/drawingml/2006/main">
            <a:srgbClr val="28A596"/>
          </a:solidFill>
          <a:ln xmlns:a="http://schemas.openxmlformats.org/drawingml/2006/main" w="0">
            <a:solidFill>
              <a:srgbClr val="28A596"/>
            </a:solidFill>
            <a:prstDash val="solid"/>
          </a:ln>
        </p:spPr>
      </p:sp>
      <p:sp>
        <p:nvSpPr>
          <p:cNvPr id="20" name="">
            <a:extLst xmlns:a="http://schemas.openxmlformats.org/drawingml/2006/main">
              <a:ext uri="{FF2B5EF4-FFF2-40B4-BE49-F238E27FC236}">
                <a16:creationId xmlns:a16="http://schemas.microsoft.com/office/drawing/2014/main" id="{37BC7CEE-12C2-4C0B-A78E-2E15F82CB045}"/>
              </a:ext>
            </a:extLst>
          </p:cNvPr>
          <p:cNvSpPr>
            <a:spLocks xmlns:a="http://schemas.openxmlformats.org/drawingml/2006/main" noGrp="1"/>
          </p:cNvSpPr>
          <p:nvPr/>
        </p:nvSpPr>
        <p:spPr>
          <a:xfrm xmlns:a="http://schemas.openxmlformats.org/drawingml/2006/main">
            <a:off x="2524125" y="2476500"/>
            <a:ext cx="18097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788" b="1">
                <a:solidFill>
                  <a:srgbClr val="FFFFFF"/>
                </a:solidFill>
              </a:defRPr>
            </a:pPr>
            <a:r>
              <a:rPr sz="788" b="1">
                <a:solidFill>
                  <a:srgbClr val="FFFFFF"/>
                </a:solidFill>
              </a:rPr>
              <a:t>OFFTAKE</a:t>
            </a:r>
          </a:p>
        </p:txBody>
      </p:sp>
      <p:sp>
        <p:nvSpPr>
          <p:cNvPr id="21" name="">
            <a:extLst xmlns:a="http://schemas.openxmlformats.org/drawingml/2006/main">
              <a:ext uri="{FF2B5EF4-FFF2-40B4-BE49-F238E27FC236}">
                <a16:creationId xmlns:a16="http://schemas.microsoft.com/office/drawing/2014/main" id="{C33E3E4C-1A88-43E3-A652-760CE19848AD}"/>
              </a:ext>
            </a:extLst>
          </p:cNvPr>
          <p:cNvSpPr>
            <a:spLocks xmlns:a="http://schemas.openxmlformats.org/drawingml/2006/main" noGrp="1"/>
          </p:cNvSpPr>
          <p:nvPr/>
        </p:nvSpPr>
        <p:spPr>
          <a:xfrm xmlns:a="http://schemas.openxmlformats.org/drawingml/2006/main">
            <a:off x="2552700" y="2857500"/>
            <a:ext cx="17526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275" b="1">
                <a:solidFill>
                  <a:srgbClr val="28A596"/>
                </a:solidFill>
              </a:defRPr>
            </a:pPr>
            <a:r>
              <a:rPr sz="1275" b="1">
                <a:solidFill>
                  <a:srgbClr val="28A596"/>
                </a:solidFill>
              </a:rPr>
              <a:t>₹36.10 Cr</a:t>
            </a:r>
          </a:p>
        </p:txBody>
      </p:sp>
      <p:sp>
        <p:nvSpPr>
          <p:cNvPr id="22" name="">
            <a:extLst xmlns:a="http://schemas.openxmlformats.org/drawingml/2006/main">
              <a:ext uri="{FF2B5EF4-FFF2-40B4-BE49-F238E27FC236}">
                <a16:creationId xmlns:a16="http://schemas.microsoft.com/office/drawing/2014/main" id="{CBB5257D-478C-418E-BF09-03955EFCC43A}"/>
              </a:ext>
            </a:extLst>
          </p:cNvPr>
          <p:cNvSpPr>
            <a:spLocks xmlns:a="http://schemas.openxmlformats.org/drawingml/2006/main" noGrp="1"/>
          </p:cNvSpPr>
          <p:nvPr/>
        </p:nvSpPr>
        <p:spPr>
          <a:xfrm xmlns:a="http://schemas.openxmlformats.org/drawingml/2006/main">
            <a:off x="2571750" y="3352800"/>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B9A66"/>
                </a:solidFill>
              </a:defRPr>
            </a:pPr>
            <a:r>
              <a:rPr sz="600" b="1">
                <a:solidFill>
                  <a:srgbClr val="2B9A66"/>
                </a:solidFill>
              </a:rPr>
              <a:t>●</a:t>
            </a:r>
          </a:p>
        </p:txBody>
      </p:sp>
      <p:sp>
        <p:nvSpPr>
          <p:cNvPr id="23" name="">
            <a:extLst xmlns:a="http://schemas.openxmlformats.org/drawingml/2006/main">
              <a:ext uri="{FF2B5EF4-FFF2-40B4-BE49-F238E27FC236}">
                <a16:creationId xmlns:a16="http://schemas.microsoft.com/office/drawing/2014/main" id="{4F6356B0-2681-4002-81F0-D83BD18AF7ED}"/>
              </a:ext>
            </a:extLst>
          </p:cNvPr>
          <p:cNvSpPr>
            <a:spLocks xmlns:a="http://schemas.openxmlformats.org/drawingml/2006/main" noGrp="1"/>
          </p:cNvSpPr>
          <p:nvPr/>
        </p:nvSpPr>
        <p:spPr>
          <a:xfrm xmlns:a="http://schemas.openxmlformats.org/drawingml/2006/main">
            <a:off x="2714625" y="3352800"/>
            <a:ext cx="1571625"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1">
                <a:solidFill>
                  <a:srgbClr val="183B39"/>
                </a:solidFill>
              </a:defRPr>
            </a:pPr>
            <a:r>
              <a:rPr sz="765" b="1">
                <a:solidFill>
                  <a:srgbClr val="183B39"/>
                </a:solidFill>
              </a:rPr>
              <a:t>July transaction NSV</a:t>
            </a:r>
          </a:p>
        </p:txBody>
      </p:sp>
      <p:sp>
        <p:nvSpPr>
          <p:cNvPr id="24" name="">
            <a:extLst xmlns:a="http://schemas.openxmlformats.org/drawingml/2006/main">
              <a:ext uri="{FF2B5EF4-FFF2-40B4-BE49-F238E27FC236}">
                <a16:creationId xmlns:a16="http://schemas.microsoft.com/office/drawing/2014/main" id="{B13A3E0A-DC84-4983-903C-5FC2A82963A1}"/>
              </a:ext>
            </a:extLst>
          </p:cNvPr>
          <p:cNvSpPr>
            <a:spLocks xmlns:a="http://schemas.openxmlformats.org/drawingml/2006/main" noGrp="1"/>
          </p:cNvSpPr>
          <p:nvPr/>
        </p:nvSpPr>
        <p:spPr>
          <a:xfrm xmlns:a="http://schemas.openxmlformats.org/drawingml/2006/main">
            <a:off x="2571750" y="3686175"/>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8A596"/>
                </a:solidFill>
              </a:defRPr>
            </a:pPr>
            <a:r>
              <a:rPr sz="600" b="1">
                <a:solidFill>
                  <a:srgbClr val="28A596"/>
                </a:solidFill>
              </a:rPr>
              <a:t>●</a:t>
            </a:r>
          </a:p>
        </p:txBody>
      </p:sp>
      <p:sp>
        <p:nvSpPr>
          <p:cNvPr id="25" name="">
            <a:extLst xmlns:a="http://schemas.openxmlformats.org/drawingml/2006/main">
              <a:ext uri="{FF2B5EF4-FFF2-40B4-BE49-F238E27FC236}">
                <a16:creationId xmlns:a16="http://schemas.microsoft.com/office/drawing/2014/main" id="{407E928F-AD72-48B1-B20D-1D0672BBBDAD}"/>
              </a:ext>
            </a:extLst>
          </p:cNvPr>
          <p:cNvSpPr>
            <a:spLocks xmlns:a="http://schemas.openxmlformats.org/drawingml/2006/main" noGrp="1"/>
          </p:cNvSpPr>
          <p:nvPr/>
        </p:nvSpPr>
        <p:spPr>
          <a:xfrm xmlns:a="http://schemas.openxmlformats.org/drawingml/2006/main">
            <a:off x="2714625" y="3686175"/>
            <a:ext cx="1571625"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Compiled offtake source</a:t>
            </a:r>
          </a:p>
        </p:txBody>
      </p:sp>
      <p:sp>
        <p:nvSpPr>
          <p:cNvPr id="26" name="">
            <a:extLst xmlns:a="http://schemas.openxmlformats.org/drawingml/2006/main">
              <a:ext uri="{FF2B5EF4-FFF2-40B4-BE49-F238E27FC236}">
                <a16:creationId xmlns:a16="http://schemas.microsoft.com/office/drawing/2014/main" id="{67C76DF4-8E56-430A-9191-7CE8B022FC89}"/>
              </a:ext>
            </a:extLst>
          </p:cNvPr>
          <p:cNvSpPr>
            <a:spLocks xmlns:a="http://schemas.openxmlformats.org/drawingml/2006/main" noGrp="1"/>
          </p:cNvSpPr>
          <p:nvPr/>
        </p:nvSpPr>
        <p:spPr>
          <a:xfrm xmlns:a="http://schemas.openxmlformats.org/drawingml/2006/main">
            <a:off x="2571750" y="4019550"/>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8A596"/>
                </a:solidFill>
              </a:defRPr>
            </a:pPr>
            <a:r>
              <a:rPr sz="600" b="1">
                <a:solidFill>
                  <a:srgbClr val="28A596"/>
                </a:solidFill>
              </a:rPr>
              <a:t>●</a:t>
            </a:r>
          </a:p>
        </p:txBody>
      </p:sp>
      <p:sp>
        <p:nvSpPr>
          <p:cNvPr id="27" name="">
            <a:extLst xmlns:a="http://schemas.openxmlformats.org/drawingml/2006/main">
              <a:ext uri="{FF2B5EF4-FFF2-40B4-BE49-F238E27FC236}">
                <a16:creationId xmlns:a16="http://schemas.microsoft.com/office/drawing/2014/main" id="{F8A04492-2C09-413F-AA5C-E82FC65496CE}"/>
              </a:ext>
            </a:extLst>
          </p:cNvPr>
          <p:cNvSpPr>
            <a:spLocks xmlns:a="http://schemas.openxmlformats.org/drawingml/2006/main" noGrp="1"/>
          </p:cNvSpPr>
          <p:nvPr/>
        </p:nvSpPr>
        <p:spPr>
          <a:xfrm xmlns:a="http://schemas.openxmlformats.org/drawingml/2006/main">
            <a:off x="2714625" y="4019550"/>
            <a:ext cx="1571625"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Consumer-facing flow measure</a:t>
            </a:r>
          </a:p>
        </p:txBody>
      </p:sp>
      <p:sp>
        <p:nvSpPr>
          <p:cNvPr id="28" name="">
            <a:extLst xmlns:a="http://schemas.openxmlformats.org/drawingml/2006/main">
              <a:ext uri="{FF2B5EF4-FFF2-40B4-BE49-F238E27FC236}">
                <a16:creationId xmlns:a16="http://schemas.microsoft.com/office/drawing/2014/main" id="{9CBC89B8-3FF6-4E72-B286-8C6D49D5DA57}"/>
              </a:ext>
            </a:extLst>
          </p:cNvPr>
          <p:cNvSpPr>
            <a:spLocks xmlns:a="http://schemas.openxmlformats.org/drawingml/2006/main" noGrp="1"/>
          </p:cNvSpPr>
          <p:nvPr/>
        </p:nvSpPr>
        <p:spPr>
          <a:xfrm xmlns:a="http://schemas.openxmlformats.org/drawingml/2006/main">
            <a:off x="4610100" y="2457450"/>
            <a:ext cx="1981200" cy="2590800"/>
          </a:xfrm>
          <a:prstGeom xmlns:a="http://schemas.openxmlformats.org/drawingml/2006/main" prst="roundRect">
            <a:avLst>
              <a:gd name="adj" fmla="val 3846"/>
            </a:avLst>
          </a:prstGeom>
          <a:solidFill xmlns:a="http://schemas.openxmlformats.org/drawingml/2006/main">
            <a:srgbClr val="FFFFFF"/>
          </a:solidFill>
          <a:ln xmlns:a="http://schemas.openxmlformats.org/drawingml/2006/main" w="9525">
            <a:solidFill>
              <a:srgbClr val="C8DCD7"/>
            </a:solidFill>
            <a:prstDash val="solid"/>
          </a:ln>
        </p:spPr>
      </p:sp>
      <p:sp>
        <p:nvSpPr>
          <p:cNvPr id="29" name="">
            <a:extLst xmlns:a="http://schemas.openxmlformats.org/drawingml/2006/main">
              <a:ext uri="{FF2B5EF4-FFF2-40B4-BE49-F238E27FC236}">
                <a16:creationId xmlns:a16="http://schemas.microsoft.com/office/drawing/2014/main" id="{7B523CCA-EAA8-40B8-B9AA-F3D6FC25CB41}"/>
              </a:ext>
            </a:extLst>
          </p:cNvPr>
          <p:cNvSpPr>
            <a:spLocks xmlns:a="http://schemas.openxmlformats.org/drawingml/2006/main" noGrp="1"/>
          </p:cNvSpPr>
          <p:nvPr/>
        </p:nvSpPr>
        <p:spPr>
          <a:xfrm xmlns:a="http://schemas.openxmlformats.org/drawingml/2006/main">
            <a:off x="4610100" y="2457450"/>
            <a:ext cx="1981200" cy="285750"/>
          </a:xfrm>
          <a:prstGeom xmlns:a="http://schemas.openxmlformats.org/drawingml/2006/main" prst="rect">
            <a:avLst/>
          </a:prstGeom>
          <a:solidFill xmlns:a="http://schemas.openxmlformats.org/drawingml/2006/main">
            <a:srgbClr val="2E7DA8"/>
          </a:solidFill>
          <a:ln xmlns:a="http://schemas.openxmlformats.org/drawingml/2006/main" w="0">
            <a:solidFill>
              <a:srgbClr val="2E7DA8"/>
            </a:solidFill>
            <a:prstDash val="solid"/>
          </a:ln>
        </p:spPr>
      </p:sp>
      <p:sp>
        <p:nvSpPr>
          <p:cNvPr id="30" name="">
            <a:extLst xmlns:a="http://schemas.openxmlformats.org/drawingml/2006/main">
              <a:ext uri="{FF2B5EF4-FFF2-40B4-BE49-F238E27FC236}">
                <a16:creationId xmlns:a16="http://schemas.microsoft.com/office/drawing/2014/main" id="{CD123F2B-8237-4BB1-B2DD-81DACE668CF8}"/>
              </a:ext>
            </a:extLst>
          </p:cNvPr>
          <p:cNvSpPr>
            <a:spLocks xmlns:a="http://schemas.openxmlformats.org/drawingml/2006/main" noGrp="1"/>
          </p:cNvSpPr>
          <p:nvPr/>
        </p:nvSpPr>
        <p:spPr>
          <a:xfrm xmlns:a="http://schemas.openxmlformats.org/drawingml/2006/main">
            <a:off x="4695825" y="2476500"/>
            <a:ext cx="18097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788" b="1">
                <a:solidFill>
                  <a:srgbClr val="FFFFFF"/>
                </a:solidFill>
              </a:defRPr>
            </a:pPr>
            <a:r>
              <a:rPr sz="788" b="1">
                <a:solidFill>
                  <a:srgbClr val="FFFFFF"/>
                </a:solidFill>
              </a:rPr>
              <a:t>FLOW CONVERSION</a:t>
            </a:r>
          </a:p>
        </p:txBody>
      </p:sp>
      <p:sp>
        <p:nvSpPr>
          <p:cNvPr id="31" name="">
            <a:extLst xmlns:a="http://schemas.openxmlformats.org/drawingml/2006/main">
              <a:ext uri="{FF2B5EF4-FFF2-40B4-BE49-F238E27FC236}">
                <a16:creationId xmlns:a16="http://schemas.microsoft.com/office/drawing/2014/main" id="{21BD10F1-718D-45E8-BAB2-DD73066113A5}"/>
              </a:ext>
            </a:extLst>
          </p:cNvPr>
          <p:cNvSpPr>
            <a:spLocks xmlns:a="http://schemas.openxmlformats.org/drawingml/2006/main" noGrp="1"/>
          </p:cNvSpPr>
          <p:nvPr/>
        </p:nvSpPr>
        <p:spPr>
          <a:xfrm xmlns:a="http://schemas.openxmlformats.org/drawingml/2006/main">
            <a:off x="4724400" y="2857500"/>
            <a:ext cx="17526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275" b="1">
                <a:solidFill>
                  <a:srgbClr val="2E7DA8"/>
                </a:solidFill>
              </a:defRPr>
            </a:pPr>
            <a:r>
              <a:rPr sz="1275" b="1">
                <a:solidFill>
                  <a:srgbClr val="2E7DA8"/>
                </a:solidFill>
              </a:rPr>
              <a:t>73.4%</a:t>
            </a:r>
          </a:p>
        </p:txBody>
      </p:sp>
      <p:sp>
        <p:nvSpPr>
          <p:cNvPr id="32" name="">
            <a:extLst xmlns:a="http://schemas.openxmlformats.org/drawingml/2006/main">
              <a:ext uri="{FF2B5EF4-FFF2-40B4-BE49-F238E27FC236}">
                <a16:creationId xmlns:a16="http://schemas.microsoft.com/office/drawing/2014/main" id="{3C99A888-EFA4-4D02-B327-98B953B6771C}"/>
              </a:ext>
            </a:extLst>
          </p:cNvPr>
          <p:cNvSpPr>
            <a:spLocks xmlns:a="http://schemas.openxmlformats.org/drawingml/2006/main" noGrp="1"/>
          </p:cNvSpPr>
          <p:nvPr/>
        </p:nvSpPr>
        <p:spPr>
          <a:xfrm xmlns:a="http://schemas.openxmlformats.org/drawingml/2006/main">
            <a:off x="4743450" y="3352800"/>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B9A66"/>
                </a:solidFill>
              </a:defRPr>
            </a:pPr>
            <a:r>
              <a:rPr sz="600" b="1">
                <a:solidFill>
                  <a:srgbClr val="2B9A66"/>
                </a:solidFill>
              </a:rPr>
              <a:t>●</a:t>
            </a:r>
          </a:p>
        </p:txBody>
      </p:sp>
      <p:sp>
        <p:nvSpPr>
          <p:cNvPr id="33" name="">
            <a:extLst xmlns:a="http://schemas.openxmlformats.org/drawingml/2006/main">
              <a:ext uri="{FF2B5EF4-FFF2-40B4-BE49-F238E27FC236}">
                <a16:creationId xmlns:a16="http://schemas.microsoft.com/office/drawing/2014/main" id="{7BF81701-1FD4-420B-916A-6BFF198003BB}"/>
              </a:ext>
            </a:extLst>
          </p:cNvPr>
          <p:cNvSpPr>
            <a:spLocks xmlns:a="http://schemas.openxmlformats.org/drawingml/2006/main" noGrp="1"/>
          </p:cNvSpPr>
          <p:nvPr/>
        </p:nvSpPr>
        <p:spPr>
          <a:xfrm xmlns:a="http://schemas.openxmlformats.org/drawingml/2006/main">
            <a:off x="4886325" y="3352800"/>
            <a:ext cx="1571625"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1">
                <a:solidFill>
                  <a:srgbClr val="183B39"/>
                </a:solidFill>
              </a:defRPr>
            </a:pPr>
            <a:r>
              <a:rPr sz="765" b="1">
                <a:solidFill>
                  <a:srgbClr val="183B39"/>
                </a:solidFill>
              </a:rPr>
              <a:t>Offtake ÷ primary</a:t>
            </a:r>
          </a:p>
        </p:txBody>
      </p:sp>
      <p:sp>
        <p:nvSpPr>
          <p:cNvPr id="34" name="">
            <a:extLst xmlns:a="http://schemas.openxmlformats.org/drawingml/2006/main">
              <a:ext uri="{FF2B5EF4-FFF2-40B4-BE49-F238E27FC236}">
                <a16:creationId xmlns:a16="http://schemas.microsoft.com/office/drawing/2014/main" id="{016A73E2-374B-4A99-9BEB-A11D7D4DBEED}"/>
              </a:ext>
            </a:extLst>
          </p:cNvPr>
          <p:cNvSpPr>
            <a:spLocks xmlns:a="http://schemas.openxmlformats.org/drawingml/2006/main" noGrp="1"/>
          </p:cNvSpPr>
          <p:nvPr/>
        </p:nvSpPr>
        <p:spPr>
          <a:xfrm xmlns:a="http://schemas.openxmlformats.org/drawingml/2006/main">
            <a:off x="4743450" y="3686175"/>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8A596"/>
                </a:solidFill>
              </a:defRPr>
            </a:pPr>
            <a:r>
              <a:rPr sz="600" b="1">
                <a:solidFill>
                  <a:srgbClr val="28A596"/>
                </a:solidFill>
              </a:rPr>
              <a:t>●</a:t>
            </a:r>
          </a:p>
        </p:txBody>
      </p:sp>
      <p:sp>
        <p:nvSpPr>
          <p:cNvPr id="35" name="">
            <a:extLst xmlns:a="http://schemas.openxmlformats.org/drawingml/2006/main">
              <a:ext uri="{FF2B5EF4-FFF2-40B4-BE49-F238E27FC236}">
                <a16:creationId xmlns:a16="http://schemas.microsoft.com/office/drawing/2014/main" id="{C0ECD10F-9E21-4D09-8E7C-5A0496CEE216}"/>
              </a:ext>
            </a:extLst>
          </p:cNvPr>
          <p:cNvSpPr>
            <a:spLocks xmlns:a="http://schemas.openxmlformats.org/drawingml/2006/main" noGrp="1"/>
          </p:cNvSpPr>
          <p:nvPr/>
        </p:nvSpPr>
        <p:spPr>
          <a:xfrm xmlns:a="http://schemas.openxmlformats.org/drawingml/2006/main">
            <a:off x="4886325" y="3686175"/>
            <a:ext cx="1571625"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Comparable mapped cuts only</a:t>
            </a:r>
          </a:p>
        </p:txBody>
      </p:sp>
      <p:sp>
        <p:nvSpPr>
          <p:cNvPr id="36" name="">
            <a:extLst xmlns:a="http://schemas.openxmlformats.org/drawingml/2006/main">
              <a:ext uri="{FF2B5EF4-FFF2-40B4-BE49-F238E27FC236}">
                <a16:creationId xmlns:a16="http://schemas.microsoft.com/office/drawing/2014/main" id="{134DD3EA-8F5D-4B90-8269-53E3034B9EF9}"/>
              </a:ext>
            </a:extLst>
          </p:cNvPr>
          <p:cNvSpPr>
            <a:spLocks xmlns:a="http://schemas.openxmlformats.org/drawingml/2006/main" noGrp="1"/>
          </p:cNvSpPr>
          <p:nvPr/>
        </p:nvSpPr>
        <p:spPr>
          <a:xfrm xmlns:a="http://schemas.openxmlformats.org/drawingml/2006/main">
            <a:off x="4743450" y="4019550"/>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8A596"/>
                </a:solidFill>
              </a:defRPr>
            </a:pPr>
            <a:r>
              <a:rPr sz="600" b="1">
                <a:solidFill>
                  <a:srgbClr val="28A596"/>
                </a:solidFill>
              </a:rPr>
              <a:t>●</a:t>
            </a:r>
          </a:p>
        </p:txBody>
      </p:sp>
      <p:sp>
        <p:nvSpPr>
          <p:cNvPr id="37" name="">
            <a:extLst xmlns:a="http://schemas.openxmlformats.org/drawingml/2006/main">
              <a:ext uri="{FF2B5EF4-FFF2-40B4-BE49-F238E27FC236}">
                <a16:creationId xmlns:a16="http://schemas.microsoft.com/office/drawing/2014/main" id="{0789042A-9D46-431F-9519-7E25DFEA87FC}"/>
              </a:ext>
            </a:extLst>
          </p:cNvPr>
          <p:cNvSpPr>
            <a:spLocks xmlns:a="http://schemas.openxmlformats.org/drawingml/2006/main" noGrp="1"/>
          </p:cNvSpPr>
          <p:nvPr/>
        </p:nvSpPr>
        <p:spPr>
          <a:xfrm xmlns:a="http://schemas.openxmlformats.org/drawingml/2006/main">
            <a:off x="4886325" y="4019550"/>
            <a:ext cx="1571625"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Not inventory turns or stock cover</a:t>
            </a:r>
          </a:p>
        </p:txBody>
      </p:sp>
      <p:sp>
        <p:nvSpPr>
          <p:cNvPr id="38" name="">
            <a:extLst xmlns:a="http://schemas.openxmlformats.org/drawingml/2006/main">
              <a:ext uri="{FF2B5EF4-FFF2-40B4-BE49-F238E27FC236}">
                <a16:creationId xmlns:a16="http://schemas.microsoft.com/office/drawing/2014/main" id="{3C130AE7-7FEE-4977-9234-6BD41551CBF1}"/>
              </a:ext>
            </a:extLst>
          </p:cNvPr>
          <p:cNvSpPr>
            <a:spLocks xmlns:a="http://schemas.openxmlformats.org/drawingml/2006/main" noGrp="1"/>
          </p:cNvSpPr>
          <p:nvPr/>
        </p:nvSpPr>
        <p:spPr>
          <a:xfrm xmlns:a="http://schemas.openxmlformats.org/drawingml/2006/main">
            <a:off x="266700" y="5267325"/>
            <a:ext cx="1981200" cy="2590800"/>
          </a:xfrm>
          <a:prstGeom xmlns:a="http://schemas.openxmlformats.org/drawingml/2006/main" prst="roundRect">
            <a:avLst>
              <a:gd name="adj" fmla="val 3846"/>
            </a:avLst>
          </a:prstGeom>
          <a:solidFill xmlns:a="http://schemas.openxmlformats.org/drawingml/2006/main">
            <a:srgbClr val="FFFFFF"/>
          </a:solidFill>
          <a:ln xmlns:a="http://schemas.openxmlformats.org/drawingml/2006/main" w="9525">
            <a:solidFill>
              <a:srgbClr val="C8DCD7"/>
            </a:solidFill>
            <a:prstDash val="solid"/>
          </a:ln>
        </p:spPr>
      </p:sp>
      <p:sp>
        <p:nvSpPr>
          <p:cNvPr id="39" name="">
            <a:extLst xmlns:a="http://schemas.openxmlformats.org/drawingml/2006/main">
              <a:ext uri="{FF2B5EF4-FFF2-40B4-BE49-F238E27FC236}">
                <a16:creationId xmlns:a16="http://schemas.microsoft.com/office/drawing/2014/main" id="{960BD2D4-7696-427F-9466-F6676FDD186B}"/>
              </a:ext>
            </a:extLst>
          </p:cNvPr>
          <p:cNvSpPr>
            <a:spLocks xmlns:a="http://schemas.openxmlformats.org/drawingml/2006/main" noGrp="1"/>
          </p:cNvSpPr>
          <p:nvPr/>
        </p:nvSpPr>
        <p:spPr>
          <a:xfrm xmlns:a="http://schemas.openxmlformats.org/drawingml/2006/main">
            <a:off x="266700" y="5267325"/>
            <a:ext cx="1981200" cy="285750"/>
          </a:xfrm>
          <a:prstGeom xmlns:a="http://schemas.openxmlformats.org/drawingml/2006/main" prst="rect">
            <a:avLst/>
          </a:prstGeom>
          <a:solidFill xmlns:a="http://schemas.openxmlformats.org/drawingml/2006/main">
            <a:srgbClr val="2B9A66"/>
          </a:solidFill>
          <a:ln xmlns:a="http://schemas.openxmlformats.org/drawingml/2006/main" w="0">
            <a:solidFill>
              <a:srgbClr val="2B9A66"/>
            </a:solidFill>
            <a:prstDash val="solid"/>
          </a:ln>
        </p:spPr>
      </p:sp>
      <p:sp>
        <p:nvSpPr>
          <p:cNvPr id="40" name="">
            <a:extLst xmlns:a="http://schemas.openxmlformats.org/drawingml/2006/main">
              <a:ext uri="{FF2B5EF4-FFF2-40B4-BE49-F238E27FC236}">
                <a16:creationId xmlns:a16="http://schemas.microsoft.com/office/drawing/2014/main" id="{A08F5AB6-CD6C-4C81-8635-09DCC851CE81}"/>
              </a:ext>
            </a:extLst>
          </p:cNvPr>
          <p:cNvSpPr>
            <a:spLocks xmlns:a="http://schemas.openxmlformats.org/drawingml/2006/main" noGrp="1"/>
          </p:cNvSpPr>
          <p:nvPr/>
        </p:nvSpPr>
        <p:spPr>
          <a:xfrm xmlns:a="http://schemas.openxmlformats.org/drawingml/2006/main">
            <a:off x="352425" y="5286375"/>
            <a:ext cx="18097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788" b="1">
                <a:solidFill>
                  <a:srgbClr val="FFFFFF"/>
                </a:solidFill>
              </a:defRPr>
            </a:pPr>
            <a:r>
              <a:rPr sz="788" b="1">
                <a:solidFill>
                  <a:srgbClr val="FFFFFF"/>
                </a:solidFill>
              </a:rPr>
              <a:t>SOURCE COVERAGE</a:t>
            </a:r>
          </a:p>
        </p:txBody>
      </p:sp>
      <p:sp>
        <p:nvSpPr>
          <p:cNvPr id="41" name="">
            <a:extLst xmlns:a="http://schemas.openxmlformats.org/drawingml/2006/main">
              <a:ext uri="{FF2B5EF4-FFF2-40B4-BE49-F238E27FC236}">
                <a16:creationId xmlns:a16="http://schemas.microsoft.com/office/drawing/2014/main" id="{A121309B-5F3B-4BC3-9231-DFCABC6BFF64}"/>
              </a:ext>
            </a:extLst>
          </p:cNvPr>
          <p:cNvSpPr>
            <a:spLocks xmlns:a="http://schemas.openxmlformats.org/drawingml/2006/main" noGrp="1"/>
          </p:cNvSpPr>
          <p:nvPr/>
        </p:nvSpPr>
        <p:spPr>
          <a:xfrm xmlns:a="http://schemas.openxmlformats.org/drawingml/2006/main">
            <a:off x="381000" y="5667375"/>
            <a:ext cx="17526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275" b="1">
                <a:solidFill>
                  <a:srgbClr val="2B9A66"/>
                </a:solidFill>
              </a:defRPr>
            </a:pPr>
            <a:r>
              <a:rPr sz="1275" b="1">
                <a:solidFill>
                  <a:srgbClr val="2B9A66"/>
                </a:solidFill>
              </a:rPr>
              <a:t>31,355 / 1,97,740</a:t>
            </a:r>
          </a:p>
        </p:txBody>
      </p:sp>
      <p:sp>
        <p:nvSpPr>
          <p:cNvPr id="42" name="">
            <a:extLst xmlns:a="http://schemas.openxmlformats.org/drawingml/2006/main">
              <a:ext uri="{FF2B5EF4-FFF2-40B4-BE49-F238E27FC236}">
                <a16:creationId xmlns:a16="http://schemas.microsoft.com/office/drawing/2014/main" id="{C583AFE9-4399-40AE-B07B-8A4621673B85}"/>
              </a:ext>
            </a:extLst>
          </p:cNvPr>
          <p:cNvSpPr>
            <a:spLocks xmlns:a="http://schemas.openxmlformats.org/drawingml/2006/main" noGrp="1"/>
          </p:cNvSpPr>
          <p:nvPr/>
        </p:nvSpPr>
        <p:spPr>
          <a:xfrm xmlns:a="http://schemas.openxmlformats.org/drawingml/2006/main">
            <a:off x="400050" y="6162675"/>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B9A66"/>
                </a:solidFill>
              </a:defRPr>
            </a:pPr>
            <a:r>
              <a:rPr sz="600" b="1">
                <a:solidFill>
                  <a:srgbClr val="2B9A66"/>
                </a:solidFill>
              </a:rPr>
              <a:t>●</a:t>
            </a:r>
          </a:p>
        </p:txBody>
      </p:sp>
      <p:sp>
        <p:nvSpPr>
          <p:cNvPr id="43" name="">
            <a:extLst xmlns:a="http://schemas.openxmlformats.org/drawingml/2006/main">
              <a:ext uri="{FF2B5EF4-FFF2-40B4-BE49-F238E27FC236}">
                <a16:creationId xmlns:a16="http://schemas.microsoft.com/office/drawing/2014/main" id="{86828465-7A10-4448-B1A5-EFBEB8FF97E7}"/>
              </a:ext>
            </a:extLst>
          </p:cNvPr>
          <p:cNvSpPr>
            <a:spLocks xmlns:a="http://schemas.openxmlformats.org/drawingml/2006/main" noGrp="1"/>
          </p:cNvSpPr>
          <p:nvPr/>
        </p:nvSpPr>
        <p:spPr>
          <a:xfrm xmlns:a="http://schemas.openxmlformats.org/drawingml/2006/main">
            <a:off x="542925" y="6162675"/>
            <a:ext cx="1571625"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1">
                <a:solidFill>
                  <a:srgbClr val="183B39"/>
                </a:solidFill>
              </a:defRPr>
            </a:pPr>
            <a:r>
              <a:rPr sz="765" b="1">
                <a:solidFill>
                  <a:srgbClr val="183B39"/>
                </a:solidFill>
              </a:rPr>
              <a:t>Primary / offtake rows</a:t>
            </a:r>
          </a:p>
        </p:txBody>
      </p:sp>
      <p:sp>
        <p:nvSpPr>
          <p:cNvPr id="44" name="">
            <a:extLst xmlns:a="http://schemas.openxmlformats.org/drawingml/2006/main">
              <a:ext uri="{FF2B5EF4-FFF2-40B4-BE49-F238E27FC236}">
                <a16:creationId xmlns:a16="http://schemas.microsoft.com/office/drawing/2014/main" id="{BFECECCD-C2C6-4CF2-B2C1-A74D43B9CDF5}"/>
              </a:ext>
            </a:extLst>
          </p:cNvPr>
          <p:cNvSpPr>
            <a:spLocks xmlns:a="http://schemas.openxmlformats.org/drawingml/2006/main" noGrp="1"/>
          </p:cNvSpPr>
          <p:nvPr/>
        </p:nvSpPr>
        <p:spPr>
          <a:xfrm xmlns:a="http://schemas.openxmlformats.org/drawingml/2006/main">
            <a:off x="400050" y="6496050"/>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8A596"/>
                </a:solidFill>
              </a:defRPr>
            </a:pPr>
            <a:r>
              <a:rPr sz="600" b="1">
                <a:solidFill>
                  <a:srgbClr val="28A596"/>
                </a:solidFill>
              </a:rPr>
              <a:t>●</a:t>
            </a:r>
          </a:p>
        </p:txBody>
      </p:sp>
      <p:sp>
        <p:nvSpPr>
          <p:cNvPr id="45" name="">
            <a:extLst xmlns:a="http://schemas.openxmlformats.org/drawingml/2006/main">
              <a:ext uri="{FF2B5EF4-FFF2-40B4-BE49-F238E27FC236}">
                <a16:creationId xmlns:a16="http://schemas.microsoft.com/office/drawing/2014/main" id="{6269EF8E-8725-411B-8B9F-21ACCA493A7B}"/>
              </a:ext>
            </a:extLst>
          </p:cNvPr>
          <p:cNvSpPr>
            <a:spLocks xmlns:a="http://schemas.openxmlformats.org/drawingml/2006/main" noGrp="1"/>
          </p:cNvSpPr>
          <p:nvPr/>
        </p:nvSpPr>
        <p:spPr>
          <a:xfrm xmlns:a="http://schemas.openxmlformats.org/drawingml/2006/main">
            <a:off x="542925" y="6496050"/>
            <a:ext cx="1571625"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Missing zone rows: 0</a:t>
            </a:r>
          </a:p>
        </p:txBody>
      </p:sp>
      <p:sp>
        <p:nvSpPr>
          <p:cNvPr id="46" name="">
            <a:extLst xmlns:a="http://schemas.openxmlformats.org/drawingml/2006/main">
              <a:ext uri="{FF2B5EF4-FFF2-40B4-BE49-F238E27FC236}">
                <a16:creationId xmlns:a16="http://schemas.microsoft.com/office/drawing/2014/main" id="{9ACE57E4-8DCC-4CA7-96A7-9A74B51C0C15}"/>
              </a:ext>
            </a:extLst>
          </p:cNvPr>
          <p:cNvSpPr>
            <a:spLocks xmlns:a="http://schemas.openxmlformats.org/drawingml/2006/main" noGrp="1"/>
          </p:cNvSpPr>
          <p:nvPr/>
        </p:nvSpPr>
        <p:spPr>
          <a:xfrm xmlns:a="http://schemas.openxmlformats.org/drawingml/2006/main">
            <a:off x="400050" y="6829425"/>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8A596"/>
                </a:solidFill>
              </a:defRPr>
            </a:pPr>
            <a:r>
              <a:rPr sz="600" b="1">
                <a:solidFill>
                  <a:srgbClr val="28A596"/>
                </a:solidFill>
              </a:rPr>
              <a:t>●</a:t>
            </a:r>
          </a:p>
        </p:txBody>
      </p:sp>
      <p:sp>
        <p:nvSpPr>
          <p:cNvPr id="47" name="">
            <a:extLst xmlns:a="http://schemas.openxmlformats.org/drawingml/2006/main">
              <a:ext uri="{FF2B5EF4-FFF2-40B4-BE49-F238E27FC236}">
                <a16:creationId xmlns:a16="http://schemas.microsoft.com/office/drawing/2014/main" id="{080E789E-4EF7-4E9F-8B10-B2D477913685}"/>
              </a:ext>
            </a:extLst>
          </p:cNvPr>
          <p:cNvSpPr>
            <a:spLocks xmlns:a="http://schemas.openxmlformats.org/drawingml/2006/main" noGrp="1"/>
          </p:cNvSpPr>
          <p:nvPr/>
        </p:nvSpPr>
        <p:spPr>
          <a:xfrm xmlns:a="http://schemas.openxmlformats.org/drawingml/2006/main">
            <a:off x="542925" y="6829425"/>
            <a:ext cx="1571625"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Period: July 2026</a:t>
            </a:r>
          </a:p>
        </p:txBody>
      </p:sp>
      <p:sp>
        <p:nvSpPr>
          <p:cNvPr id="48" name="">
            <a:extLst xmlns:a="http://schemas.openxmlformats.org/drawingml/2006/main">
              <a:ext uri="{FF2B5EF4-FFF2-40B4-BE49-F238E27FC236}">
                <a16:creationId xmlns:a16="http://schemas.microsoft.com/office/drawing/2014/main" id="{47701401-B318-4749-9EA7-391A445237F5}"/>
              </a:ext>
            </a:extLst>
          </p:cNvPr>
          <p:cNvSpPr>
            <a:spLocks xmlns:a="http://schemas.openxmlformats.org/drawingml/2006/main" noGrp="1"/>
          </p:cNvSpPr>
          <p:nvPr/>
        </p:nvSpPr>
        <p:spPr>
          <a:xfrm xmlns:a="http://schemas.openxmlformats.org/drawingml/2006/main">
            <a:off x="2438400" y="5267325"/>
            <a:ext cx="1981200" cy="2590800"/>
          </a:xfrm>
          <a:prstGeom xmlns:a="http://schemas.openxmlformats.org/drawingml/2006/main" prst="roundRect">
            <a:avLst>
              <a:gd name="adj" fmla="val 3846"/>
            </a:avLst>
          </a:prstGeom>
          <a:solidFill xmlns:a="http://schemas.openxmlformats.org/drawingml/2006/main">
            <a:srgbClr val="FFFFFF"/>
          </a:solidFill>
          <a:ln xmlns:a="http://schemas.openxmlformats.org/drawingml/2006/main" w="9525">
            <a:solidFill>
              <a:srgbClr val="C8DCD7"/>
            </a:solidFill>
            <a:prstDash val="solid"/>
          </a:ln>
        </p:spPr>
      </p:sp>
      <p:sp>
        <p:nvSpPr>
          <p:cNvPr id="49" name="">
            <a:extLst xmlns:a="http://schemas.openxmlformats.org/drawingml/2006/main">
              <a:ext uri="{FF2B5EF4-FFF2-40B4-BE49-F238E27FC236}">
                <a16:creationId xmlns:a16="http://schemas.microsoft.com/office/drawing/2014/main" id="{AA64159B-31F4-4E95-97FD-33C007D6D886}"/>
              </a:ext>
            </a:extLst>
          </p:cNvPr>
          <p:cNvSpPr>
            <a:spLocks xmlns:a="http://schemas.openxmlformats.org/drawingml/2006/main" noGrp="1"/>
          </p:cNvSpPr>
          <p:nvPr/>
        </p:nvSpPr>
        <p:spPr>
          <a:xfrm xmlns:a="http://schemas.openxmlformats.org/drawingml/2006/main">
            <a:off x="2438400" y="5267325"/>
            <a:ext cx="1981200" cy="285750"/>
          </a:xfrm>
          <a:prstGeom xmlns:a="http://schemas.openxmlformats.org/drawingml/2006/main" prst="rect">
            <a:avLst/>
          </a:prstGeom>
          <a:solidFill xmlns:a="http://schemas.openxmlformats.org/drawingml/2006/main">
            <a:srgbClr val="D6544D"/>
          </a:solidFill>
          <a:ln xmlns:a="http://schemas.openxmlformats.org/drawingml/2006/main" w="0">
            <a:solidFill>
              <a:srgbClr val="D6544D"/>
            </a:solidFill>
            <a:prstDash val="solid"/>
          </a:ln>
        </p:spPr>
      </p:sp>
      <p:sp>
        <p:nvSpPr>
          <p:cNvPr id="50" name="">
            <a:extLst xmlns:a="http://schemas.openxmlformats.org/drawingml/2006/main">
              <a:ext uri="{FF2B5EF4-FFF2-40B4-BE49-F238E27FC236}">
                <a16:creationId xmlns:a16="http://schemas.microsoft.com/office/drawing/2014/main" id="{C5252A03-5B33-452C-A858-4ED81441B8A6}"/>
              </a:ext>
            </a:extLst>
          </p:cNvPr>
          <p:cNvSpPr>
            <a:spLocks xmlns:a="http://schemas.openxmlformats.org/drawingml/2006/main" noGrp="1"/>
          </p:cNvSpPr>
          <p:nvPr/>
        </p:nvSpPr>
        <p:spPr>
          <a:xfrm xmlns:a="http://schemas.openxmlformats.org/drawingml/2006/main">
            <a:off x="2524125" y="5286375"/>
            <a:ext cx="18097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788" b="1">
                <a:solidFill>
                  <a:srgbClr val="FFFFFF"/>
                </a:solidFill>
              </a:defRPr>
            </a:pPr>
            <a:r>
              <a:rPr sz="788" b="1">
                <a:solidFill>
                  <a:srgbClr val="FFFFFF"/>
                </a:solidFill>
              </a:rPr>
              <a:t>DECISION FOCUS</a:t>
            </a:r>
          </a:p>
        </p:txBody>
      </p:sp>
      <p:sp>
        <p:nvSpPr>
          <p:cNvPr id="51" name="">
            <a:extLst xmlns:a="http://schemas.openxmlformats.org/drawingml/2006/main">
              <a:ext uri="{FF2B5EF4-FFF2-40B4-BE49-F238E27FC236}">
                <a16:creationId xmlns:a16="http://schemas.microsoft.com/office/drawing/2014/main" id="{4A9AB8C1-DC8F-40C3-9527-A94739AA57D3}"/>
              </a:ext>
            </a:extLst>
          </p:cNvPr>
          <p:cNvSpPr>
            <a:spLocks xmlns:a="http://schemas.openxmlformats.org/drawingml/2006/main" noGrp="1"/>
          </p:cNvSpPr>
          <p:nvPr/>
        </p:nvSpPr>
        <p:spPr>
          <a:xfrm xmlns:a="http://schemas.openxmlformats.org/drawingml/2006/main">
            <a:off x="2552700" y="5667375"/>
            <a:ext cx="17526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275" b="1">
                <a:solidFill>
                  <a:srgbClr val="D6544D"/>
                </a:solidFill>
              </a:defRPr>
            </a:pPr>
            <a:r>
              <a:rPr sz="1275" b="1">
                <a:solidFill>
                  <a:srgbClr val="D6544D"/>
                </a:solidFill>
              </a:rPr>
              <a:t>Chain × Zone × EAN</a:t>
            </a:r>
          </a:p>
        </p:txBody>
      </p:sp>
      <p:sp>
        <p:nvSpPr>
          <p:cNvPr id="52" name="">
            <a:extLst xmlns:a="http://schemas.openxmlformats.org/drawingml/2006/main">
              <a:ext uri="{FF2B5EF4-FFF2-40B4-BE49-F238E27FC236}">
                <a16:creationId xmlns:a16="http://schemas.microsoft.com/office/drawing/2014/main" id="{4D3DB3B0-96AC-4CF9-9F77-3DD5E4AE20AE}"/>
              </a:ext>
            </a:extLst>
          </p:cNvPr>
          <p:cNvSpPr>
            <a:spLocks xmlns:a="http://schemas.openxmlformats.org/drawingml/2006/main" noGrp="1"/>
          </p:cNvSpPr>
          <p:nvPr/>
        </p:nvSpPr>
        <p:spPr>
          <a:xfrm xmlns:a="http://schemas.openxmlformats.org/drawingml/2006/main">
            <a:off x="2571750" y="6162675"/>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B9A66"/>
                </a:solidFill>
              </a:defRPr>
            </a:pPr>
            <a:r>
              <a:rPr sz="600" b="1">
                <a:solidFill>
                  <a:srgbClr val="2B9A66"/>
                </a:solidFill>
              </a:rPr>
              <a:t>●</a:t>
            </a:r>
          </a:p>
        </p:txBody>
      </p:sp>
      <p:sp>
        <p:nvSpPr>
          <p:cNvPr id="53" name="">
            <a:extLst xmlns:a="http://schemas.openxmlformats.org/drawingml/2006/main">
              <a:ext uri="{FF2B5EF4-FFF2-40B4-BE49-F238E27FC236}">
                <a16:creationId xmlns:a16="http://schemas.microsoft.com/office/drawing/2014/main" id="{13123B4F-2821-4CDE-B390-9BB5D3C89B44}"/>
              </a:ext>
            </a:extLst>
          </p:cNvPr>
          <p:cNvSpPr>
            <a:spLocks xmlns:a="http://schemas.openxmlformats.org/drawingml/2006/main" noGrp="1"/>
          </p:cNvSpPr>
          <p:nvPr/>
        </p:nvSpPr>
        <p:spPr>
          <a:xfrm xmlns:a="http://schemas.openxmlformats.org/drawingml/2006/main">
            <a:off x="2714625" y="6162675"/>
            <a:ext cx="1571625"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1">
                <a:solidFill>
                  <a:srgbClr val="183B39"/>
                </a:solidFill>
              </a:defRPr>
            </a:pPr>
            <a:r>
              <a:rPr sz="765" b="1">
                <a:solidFill>
                  <a:srgbClr val="183B39"/>
                </a:solidFill>
              </a:rPr>
              <a:t>Rank material conversion gaps</a:t>
            </a:r>
          </a:p>
        </p:txBody>
      </p:sp>
      <p:sp>
        <p:nvSpPr>
          <p:cNvPr id="54" name="">
            <a:extLst xmlns:a="http://schemas.openxmlformats.org/drawingml/2006/main">
              <a:ext uri="{FF2B5EF4-FFF2-40B4-BE49-F238E27FC236}">
                <a16:creationId xmlns:a16="http://schemas.microsoft.com/office/drawing/2014/main" id="{9AB3BC95-B4D6-4064-8B5A-3A1A95BD4830}"/>
              </a:ext>
            </a:extLst>
          </p:cNvPr>
          <p:cNvSpPr>
            <a:spLocks xmlns:a="http://schemas.openxmlformats.org/drawingml/2006/main" noGrp="1"/>
          </p:cNvSpPr>
          <p:nvPr/>
        </p:nvSpPr>
        <p:spPr>
          <a:xfrm xmlns:a="http://schemas.openxmlformats.org/drawingml/2006/main">
            <a:off x="2571750" y="6496050"/>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8A596"/>
                </a:solidFill>
              </a:defRPr>
            </a:pPr>
            <a:r>
              <a:rPr sz="600" b="1">
                <a:solidFill>
                  <a:srgbClr val="28A596"/>
                </a:solidFill>
              </a:rPr>
              <a:t>●</a:t>
            </a:r>
          </a:p>
        </p:txBody>
      </p:sp>
      <p:sp>
        <p:nvSpPr>
          <p:cNvPr id="55" name="">
            <a:extLst xmlns:a="http://schemas.openxmlformats.org/drawingml/2006/main">
              <a:ext uri="{FF2B5EF4-FFF2-40B4-BE49-F238E27FC236}">
                <a16:creationId xmlns:a16="http://schemas.microsoft.com/office/drawing/2014/main" id="{27593DBC-BC8B-4485-AF71-13D3E8780ADC}"/>
              </a:ext>
            </a:extLst>
          </p:cNvPr>
          <p:cNvSpPr>
            <a:spLocks xmlns:a="http://schemas.openxmlformats.org/drawingml/2006/main" noGrp="1"/>
          </p:cNvSpPr>
          <p:nvPr/>
        </p:nvSpPr>
        <p:spPr>
          <a:xfrm xmlns:a="http://schemas.openxmlformats.org/drawingml/2006/main">
            <a:off x="2714625" y="6496050"/>
            <a:ext cx="1571625"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Protect proven demand signals</a:t>
            </a:r>
          </a:p>
        </p:txBody>
      </p:sp>
      <p:sp>
        <p:nvSpPr>
          <p:cNvPr id="56" name="">
            <a:extLst xmlns:a="http://schemas.openxmlformats.org/drawingml/2006/main">
              <a:ext uri="{FF2B5EF4-FFF2-40B4-BE49-F238E27FC236}">
                <a16:creationId xmlns:a16="http://schemas.microsoft.com/office/drawing/2014/main" id="{C088DB3A-2CED-411C-9F2B-696E8CD1AA23}"/>
              </a:ext>
            </a:extLst>
          </p:cNvPr>
          <p:cNvSpPr>
            <a:spLocks xmlns:a="http://schemas.openxmlformats.org/drawingml/2006/main" noGrp="1"/>
          </p:cNvSpPr>
          <p:nvPr/>
        </p:nvSpPr>
        <p:spPr>
          <a:xfrm xmlns:a="http://schemas.openxmlformats.org/drawingml/2006/main">
            <a:off x="2571750" y="6829425"/>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8A596"/>
                </a:solidFill>
              </a:defRPr>
            </a:pPr>
            <a:r>
              <a:rPr sz="600" b="1">
                <a:solidFill>
                  <a:srgbClr val="28A596"/>
                </a:solidFill>
              </a:rPr>
              <a:t>●</a:t>
            </a:r>
          </a:p>
        </p:txBody>
      </p:sp>
      <p:sp>
        <p:nvSpPr>
          <p:cNvPr id="57" name="">
            <a:extLst xmlns:a="http://schemas.openxmlformats.org/drawingml/2006/main">
              <a:ext uri="{FF2B5EF4-FFF2-40B4-BE49-F238E27FC236}">
                <a16:creationId xmlns:a16="http://schemas.microsoft.com/office/drawing/2014/main" id="{8057E4F8-D7B0-46E1-B9AA-7DE6DA120128}"/>
              </a:ext>
            </a:extLst>
          </p:cNvPr>
          <p:cNvSpPr>
            <a:spLocks xmlns:a="http://schemas.openxmlformats.org/drawingml/2006/main" noGrp="1"/>
          </p:cNvSpPr>
          <p:nvPr/>
        </p:nvSpPr>
        <p:spPr>
          <a:xfrm xmlns:a="http://schemas.openxmlformats.org/drawingml/2006/main">
            <a:off x="2714625" y="6829425"/>
            <a:ext cx="1571625"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Verify availability before loading</a:t>
            </a:r>
          </a:p>
        </p:txBody>
      </p:sp>
      <p:sp>
        <p:nvSpPr>
          <p:cNvPr id="58" name="">
            <a:extLst xmlns:a="http://schemas.openxmlformats.org/drawingml/2006/main">
              <a:ext uri="{FF2B5EF4-FFF2-40B4-BE49-F238E27FC236}">
                <a16:creationId xmlns:a16="http://schemas.microsoft.com/office/drawing/2014/main" id="{7DEC21E8-1D0A-48EC-8A89-7074B8A842A7}"/>
              </a:ext>
            </a:extLst>
          </p:cNvPr>
          <p:cNvSpPr>
            <a:spLocks xmlns:a="http://schemas.openxmlformats.org/drawingml/2006/main" noGrp="1"/>
          </p:cNvSpPr>
          <p:nvPr/>
        </p:nvSpPr>
        <p:spPr>
          <a:xfrm xmlns:a="http://schemas.openxmlformats.org/drawingml/2006/main">
            <a:off x="4610100" y="5267325"/>
            <a:ext cx="1981200" cy="2590800"/>
          </a:xfrm>
          <a:prstGeom xmlns:a="http://schemas.openxmlformats.org/drawingml/2006/main" prst="roundRect">
            <a:avLst>
              <a:gd name="adj" fmla="val 3846"/>
            </a:avLst>
          </a:prstGeom>
          <a:solidFill xmlns:a="http://schemas.openxmlformats.org/drawingml/2006/main">
            <a:srgbClr val="FFFFFF"/>
          </a:solidFill>
          <a:ln xmlns:a="http://schemas.openxmlformats.org/drawingml/2006/main" w="9525">
            <a:solidFill>
              <a:srgbClr val="C8DCD7"/>
            </a:solidFill>
            <a:prstDash val="solid"/>
          </a:ln>
        </p:spPr>
      </p:sp>
      <p:sp>
        <p:nvSpPr>
          <p:cNvPr id="59" name="">
            <a:extLst xmlns:a="http://schemas.openxmlformats.org/drawingml/2006/main">
              <a:ext uri="{FF2B5EF4-FFF2-40B4-BE49-F238E27FC236}">
                <a16:creationId xmlns:a16="http://schemas.microsoft.com/office/drawing/2014/main" id="{7DB1B6B0-A695-46C1-A1E2-5B875CFA4A98}"/>
              </a:ext>
            </a:extLst>
          </p:cNvPr>
          <p:cNvSpPr>
            <a:spLocks xmlns:a="http://schemas.openxmlformats.org/drawingml/2006/main" noGrp="1"/>
          </p:cNvSpPr>
          <p:nvPr/>
        </p:nvSpPr>
        <p:spPr>
          <a:xfrm xmlns:a="http://schemas.openxmlformats.org/drawingml/2006/main">
            <a:off x="4610100" y="5267325"/>
            <a:ext cx="1981200" cy="285750"/>
          </a:xfrm>
          <a:prstGeom xmlns:a="http://schemas.openxmlformats.org/drawingml/2006/main" prst="rect">
            <a:avLst/>
          </a:prstGeom>
          <a:solidFill xmlns:a="http://schemas.openxmlformats.org/drawingml/2006/main">
            <a:srgbClr val="F2B84B"/>
          </a:solidFill>
          <a:ln xmlns:a="http://schemas.openxmlformats.org/drawingml/2006/main" w="0">
            <a:solidFill>
              <a:srgbClr val="F2B84B"/>
            </a:solidFill>
            <a:prstDash val="solid"/>
          </a:ln>
        </p:spPr>
      </p:sp>
      <p:sp>
        <p:nvSpPr>
          <p:cNvPr id="60" name="">
            <a:extLst xmlns:a="http://schemas.openxmlformats.org/drawingml/2006/main">
              <a:ext uri="{FF2B5EF4-FFF2-40B4-BE49-F238E27FC236}">
                <a16:creationId xmlns:a16="http://schemas.microsoft.com/office/drawing/2014/main" id="{0170A67C-0DEC-4A0C-8CD5-94B0069BD47A}"/>
              </a:ext>
            </a:extLst>
          </p:cNvPr>
          <p:cNvSpPr>
            <a:spLocks xmlns:a="http://schemas.openxmlformats.org/drawingml/2006/main" noGrp="1"/>
          </p:cNvSpPr>
          <p:nvPr/>
        </p:nvSpPr>
        <p:spPr>
          <a:xfrm xmlns:a="http://schemas.openxmlformats.org/drawingml/2006/main">
            <a:off x="4695825" y="5286375"/>
            <a:ext cx="18097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788" b="1">
                <a:solidFill>
                  <a:srgbClr val="FFFFFF"/>
                </a:solidFill>
              </a:defRPr>
            </a:pPr>
            <a:r>
              <a:rPr sz="788" b="1">
                <a:solidFill>
                  <a:srgbClr val="FFFFFF"/>
                </a:solidFill>
              </a:rPr>
              <a:t>ACCOUNT MAPPING</a:t>
            </a:r>
          </a:p>
        </p:txBody>
      </p:sp>
      <p:sp>
        <p:nvSpPr>
          <p:cNvPr id="61" name="">
            <a:extLst xmlns:a="http://schemas.openxmlformats.org/drawingml/2006/main">
              <a:ext uri="{FF2B5EF4-FFF2-40B4-BE49-F238E27FC236}">
                <a16:creationId xmlns:a16="http://schemas.microsoft.com/office/drawing/2014/main" id="{EC1B2AD5-542A-4DB0-A5DB-3ABC3106BC37}"/>
              </a:ext>
            </a:extLst>
          </p:cNvPr>
          <p:cNvSpPr>
            <a:spLocks xmlns:a="http://schemas.openxmlformats.org/drawingml/2006/main" noGrp="1"/>
          </p:cNvSpPr>
          <p:nvPr/>
        </p:nvSpPr>
        <p:spPr>
          <a:xfrm xmlns:a="http://schemas.openxmlformats.org/drawingml/2006/main">
            <a:off x="4724400" y="5667375"/>
            <a:ext cx="17526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275" b="1">
                <a:solidFill>
                  <a:srgbClr val="F2B84B"/>
                </a:solidFill>
              </a:defRPr>
            </a:pPr>
            <a:r>
              <a:rPr sz="1275" b="1">
                <a:solidFill>
                  <a:srgbClr val="F2B84B"/>
                </a:solidFill>
              </a:rPr>
              <a:t>₹2.07 Cr</a:t>
            </a:r>
          </a:p>
        </p:txBody>
      </p:sp>
      <p:sp>
        <p:nvSpPr>
          <p:cNvPr id="62" name="">
            <a:extLst xmlns:a="http://schemas.openxmlformats.org/drawingml/2006/main">
              <a:ext uri="{FF2B5EF4-FFF2-40B4-BE49-F238E27FC236}">
                <a16:creationId xmlns:a16="http://schemas.microsoft.com/office/drawing/2014/main" id="{37E07722-BD2F-4BFF-BA97-B10F1172F50E}"/>
              </a:ext>
            </a:extLst>
          </p:cNvPr>
          <p:cNvSpPr>
            <a:spLocks xmlns:a="http://schemas.openxmlformats.org/drawingml/2006/main" noGrp="1"/>
          </p:cNvSpPr>
          <p:nvPr/>
        </p:nvSpPr>
        <p:spPr>
          <a:xfrm xmlns:a="http://schemas.openxmlformats.org/drawingml/2006/main">
            <a:off x="4743450" y="6162675"/>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B9A66"/>
                </a:solidFill>
              </a:defRPr>
            </a:pPr>
            <a:r>
              <a:rPr sz="600" b="1">
                <a:solidFill>
                  <a:srgbClr val="2B9A66"/>
                </a:solidFill>
              </a:rPr>
              <a:t>●</a:t>
            </a:r>
          </a:p>
        </p:txBody>
      </p:sp>
      <p:sp>
        <p:nvSpPr>
          <p:cNvPr id="63" name="">
            <a:extLst xmlns:a="http://schemas.openxmlformats.org/drawingml/2006/main">
              <a:ext uri="{FF2B5EF4-FFF2-40B4-BE49-F238E27FC236}">
                <a16:creationId xmlns:a16="http://schemas.microsoft.com/office/drawing/2014/main" id="{088B2031-62E3-48B1-BE57-3EA1BCF78FCB}"/>
              </a:ext>
            </a:extLst>
          </p:cNvPr>
          <p:cNvSpPr>
            <a:spLocks xmlns:a="http://schemas.openxmlformats.org/drawingml/2006/main" noGrp="1"/>
          </p:cNvSpPr>
          <p:nvPr/>
        </p:nvSpPr>
        <p:spPr>
          <a:xfrm xmlns:a="http://schemas.openxmlformats.org/drawingml/2006/main">
            <a:off x="4886325" y="6162675"/>
            <a:ext cx="1571625"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1">
                <a:solidFill>
                  <a:srgbClr val="183B39"/>
                </a:solidFill>
              </a:defRPr>
            </a:pPr>
            <a:r>
              <a:rPr sz="765" b="1">
                <a:solidFill>
                  <a:srgbClr val="183B39"/>
                </a:solidFill>
              </a:rPr>
              <a:t>FSN + Nykaa SS combined</a:t>
            </a:r>
          </a:p>
        </p:txBody>
      </p:sp>
      <p:sp>
        <p:nvSpPr>
          <p:cNvPr id="64" name="">
            <a:extLst xmlns:a="http://schemas.openxmlformats.org/drawingml/2006/main">
              <a:ext uri="{FF2B5EF4-FFF2-40B4-BE49-F238E27FC236}">
                <a16:creationId xmlns:a16="http://schemas.microsoft.com/office/drawing/2014/main" id="{C496C36D-D558-4CF7-BB01-F836916AE4D0}"/>
              </a:ext>
            </a:extLst>
          </p:cNvPr>
          <p:cNvSpPr>
            <a:spLocks xmlns:a="http://schemas.openxmlformats.org/drawingml/2006/main" noGrp="1"/>
          </p:cNvSpPr>
          <p:nvPr/>
        </p:nvSpPr>
        <p:spPr>
          <a:xfrm xmlns:a="http://schemas.openxmlformats.org/drawingml/2006/main">
            <a:off x="4743450" y="6496050"/>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8A596"/>
                </a:solidFill>
              </a:defRPr>
            </a:pPr>
            <a:r>
              <a:rPr sz="600" b="1">
                <a:solidFill>
                  <a:srgbClr val="28A596"/>
                </a:solidFill>
              </a:rPr>
              <a:t>●</a:t>
            </a:r>
          </a:p>
        </p:txBody>
      </p:sp>
      <p:sp>
        <p:nvSpPr>
          <p:cNvPr id="65" name="">
            <a:extLst xmlns:a="http://schemas.openxmlformats.org/drawingml/2006/main">
              <a:ext uri="{FF2B5EF4-FFF2-40B4-BE49-F238E27FC236}">
                <a16:creationId xmlns:a16="http://schemas.microsoft.com/office/drawing/2014/main" id="{177885E3-13F7-4C00-AB32-E124C84511D6}"/>
              </a:ext>
            </a:extLst>
          </p:cNvPr>
          <p:cNvSpPr>
            <a:spLocks xmlns:a="http://schemas.openxmlformats.org/drawingml/2006/main" noGrp="1"/>
          </p:cNvSpPr>
          <p:nvPr/>
        </p:nvSpPr>
        <p:spPr>
          <a:xfrm xmlns:a="http://schemas.openxmlformats.org/drawingml/2006/main">
            <a:off x="4886325" y="6496050"/>
            <a:ext cx="1571625"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Article-level account view</a:t>
            </a:r>
          </a:p>
        </p:txBody>
      </p:sp>
      <p:sp>
        <p:nvSpPr>
          <p:cNvPr id="66" name="">
            <a:extLst xmlns:a="http://schemas.openxmlformats.org/drawingml/2006/main">
              <a:ext uri="{FF2B5EF4-FFF2-40B4-BE49-F238E27FC236}">
                <a16:creationId xmlns:a16="http://schemas.microsoft.com/office/drawing/2014/main" id="{89AAD530-DBC8-49CF-8BBB-581E21D4E8A7}"/>
              </a:ext>
            </a:extLst>
          </p:cNvPr>
          <p:cNvSpPr>
            <a:spLocks xmlns:a="http://schemas.openxmlformats.org/drawingml/2006/main" noGrp="1"/>
          </p:cNvSpPr>
          <p:nvPr/>
        </p:nvSpPr>
        <p:spPr>
          <a:xfrm xmlns:a="http://schemas.openxmlformats.org/drawingml/2006/main">
            <a:off x="4743450" y="6829425"/>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8A596"/>
                </a:solidFill>
              </a:defRPr>
            </a:pPr>
            <a:r>
              <a:rPr sz="600" b="1">
                <a:solidFill>
                  <a:srgbClr val="28A596"/>
                </a:solidFill>
              </a:rPr>
              <a:t>●</a:t>
            </a:r>
          </a:p>
        </p:txBody>
      </p:sp>
      <p:sp>
        <p:nvSpPr>
          <p:cNvPr id="67" name="">
            <a:extLst xmlns:a="http://schemas.openxmlformats.org/drawingml/2006/main">
              <a:ext uri="{FF2B5EF4-FFF2-40B4-BE49-F238E27FC236}">
                <a16:creationId xmlns:a16="http://schemas.microsoft.com/office/drawing/2014/main" id="{212BABC5-6AF9-438E-9D70-CF43C4385F9A}"/>
              </a:ext>
            </a:extLst>
          </p:cNvPr>
          <p:cNvSpPr>
            <a:spLocks xmlns:a="http://schemas.openxmlformats.org/drawingml/2006/main" noGrp="1"/>
          </p:cNvSpPr>
          <p:nvPr/>
        </p:nvSpPr>
        <p:spPr>
          <a:xfrm xmlns:a="http://schemas.openxmlformats.org/drawingml/2006/main">
            <a:off x="4886325" y="6829425"/>
            <a:ext cx="1571625"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Pan India flow handled separately</a:t>
            </a:r>
          </a:p>
        </p:txBody>
      </p:sp>
      <p:sp>
        <p:nvSpPr>
          <p:cNvPr id="68" name="">
            <a:extLst xmlns:a="http://schemas.openxmlformats.org/drawingml/2006/main">
              <a:ext uri="{FF2B5EF4-FFF2-40B4-BE49-F238E27FC236}">
                <a16:creationId xmlns:a16="http://schemas.microsoft.com/office/drawing/2014/main" id="{29066ACD-7BE6-46B3-80CD-8BC6C3CC91A4}"/>
              </a:ext>
            </a:extLst>
          </p:cNvPr>
          <p:cNvSpPr>
            <a:spLocks xmlns:a="http://schemas.openxmlformats.org/drawingml/2006/main" noGrp="1"/>
          </p:cNvSpPr>
          <p:nvPr/>
        </p:nvSpPr>
        <p:spPr>
          <a:xfrm xmlns:a="http://schemas.openxmlformats.org/drawingml/2006/main">
            <a:off x="266700" y="8077200"/>
            <a:ext cx="1981200" cy="2590800"/>
          </a:xfrm>
          <a:prstGeom xmlns:a="http://schemas.openxmlformats.org/drawingml/2006/main" prst="roundRect">
            <a:avLst>
              <a:gd name="adj" fmla="val 3846"/>
            </a:avLst>
          </a:prstGeom>
          <a:solidFill xmlns:a="http://schemas.openxmlformats.org/drawingml/2006/main">
            <a:srgbClr val="FFFFFF"/>
          </a:solidFill>
          <a:ln xmlns:a="http://schemas.openxmlformats.org/drawingml/2006/main" w="9525">
            <a:solidFill>
              <a:srgbClr val="C8DCD7"/>
            </a:solidFill>
            <a:prstDash val="solid"/>
          </a:ln>
        </p:spPr>
      </p:sp>
      <p:sp>
        <p:nvSpPr>
          <p:cNvPr id="69" name="">
            <a:extLst xmlns:a="http://schemas.openxmlformats.org/drawingml/2006/main">
              <a:ext uri="{FF2B5EF4-FFF2-40B4-BE49-F238E27FC236}">
                <a16:creationId xmlns:a16="http://schemas.microsoft.com/office/drawing/2014/main" id="{A7AC54C8-C52D-459B-B37A-A231A6E4C76E}"/>
              </a:ext>
            </a:extLst>
          </p:cNvPr>
          <p:cNvSpPr>
            <a:spLocks xmlns:a="http://schemas.openxmlformats.org/drawingml/2006/main" noGrp="1"/>
          </p:cNvSpPr>
          <p:nvPr/>
        </p:nvSpPr>
        <p:spPr>
          <a:xfrm xmlns:a="http://schemas.openxmlformats.org/drawingml/2006/main">
            <a:off x="266700" y="8077200"/>
            <a:ext cx="1981200" cy="285750"/>
          </a:xfrm>
          <a:prstGeom xmlns:a="http://schemas.openxmlformats.org/drawingml/2006/main" prst="rect">
            <a:avLst/>
          </a:prstGeom>
          <a:solidFill xmlns:a="http://schemas.openxmlformats.org/drawingml/2006/main">
            <a:srgbClr val="D6544D"/>
          </a:solidFill>
          <a:ln xmlns:a="http://schemas.openxmlformats.org/drawingml/2006/main" w="0">
            <a:solidFill>
              <a:srgbClr val="D6544D"/>
            </a:solidFill>
            <a:prstDash val="solid"/>
          </a:ln>
        </p:spPr>
      </p:sp>
      <p:sp>
        <p:nvSpPr>
          <p:cNvPr id="70" name="">
            <a:extLst xmlns:a="http://schemas.openxmlformats.org/drawingml/2006/main">
              <a:ext uri="{FF2B5EF4-FFF2-40B4-BE49-F238E27FC236}">
                <a16:creationId xmlns:a16="http://schemas.microsoft.com/office/drawing/2014/main" id="{E551B5AA-7009-489E-AB67-53F55655E766}"/>
              </a:ext>
            </a:extLst>
          </p:cNvPr>
          <p:cNvSpPr>
            <a:spLocks xmlns:a="http://schemas.openxmlformats.org/drawingml/2006/main" noGrp="1"/>
          </p:cNvSpPr>
          <p:nvPr/>
        </p:nvSpPr>
        <p:spPr>
          <a:xfrm xmlns:a="http://schemas.openxmlformats.org/drawingml/2006/main">
            <a:off x="352425" y="8096250"/>
            <a:ext cx="18097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788" b="1">
                <a:solidFill>
                  <a:srgbClr val="FFFFFF"/>
                </a:solidFill>
              </a:defRPr>
            </a:pPr>
            <a:r>
              <a:rPr sz="788" b="1">
                <a:solidFill>
                  <a:srgbClr val="FFFFFF"/>
                </a:solidFill>
              </a:rPr>
              <a:t>DIAGNOSTIC GATE</a:t>
            </a:r>
          </a:p>
        </p:txBody>
      </p:sp>
      <p:sp>
        <p:nvSpPr>
          <p:cNvPr id="71" name="">
            <a:extLst xmlns:a="http://schemas.openxmlformats.org/drawingml/2006/main">
              <a:ext uri="{FF2B5EF4-FFF2-40B4-BE49-F238E27FC236}">
                <a16:creationId xmlns:a16="http://schemas.microsoft.com/office/drawing/2014/main" id="{1EC82BAF-EF76-41D2-9995-7F4D98A7B6C6}"/>
              </a:ext>
            </a:extLst>
          </p:cNvPr>
          <p:cNvSpPr>
            <a:spLocks xmlns:a="http://schemas.openxmlformats.org/drawingml/2006/main" noGrp="1"/>
          </p:cNvSpPr>
          <p:nvPr/>
        </p:nvSpPr>
        <p:spPr>
          <a:xfrm xmlns:a="http://schemas.openxmlformats.org/drawingml/2006/main">
            <a:off x="381000" y="8477250"/>
            <a:ext cx="17526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275" b="1">
                <a:solidFill>
                  <a:srgbClr val="D6544D"/>
                </a:solidFill>
              </a:defRPr>
            </a:pPr>
            <a:r>
              <a:rPr sz="1275" b="1">
                <a:solidFill>
                  <a:srgbClr val="D6544D"/>
                </a:solidFill>
              </a:rPr>
              <a:t>Reconcile first</a:t>
            </a:r>
          </a:p>
        </p:txBody>
      </p:sp>
      <p:sp>
        <p:nvSpPr>
          <p:cNvPr id="72" name="">
            <a:extLst xmlns:a="http://schemas.openxmlformats.org/drawingml/2006/main">
              <a:ext uri="{FF2B5EF4-FFF2-40B4-BE49-F238E27FC236}">
                <a16:creationId xmlns:a16="http://schemas.microsoft.com/office/drawing/2014/main" id="{EE51F501-9D8B-428B-8120-2E8A9556E78C}"/>
              </a:ext>
            </a:extLst>
          </p:cNvPr>
          <p:cNvSpPr>
            <a:spLocks xmlns:a="http://schemas.openxmlformats.org/drawingml/2006/main" noGrp="1"/>
          </p:cNvSpPr>
          <p:nvPr/>
        </p:nvSpPr>
        <p:spPr>
          <a:xfrm xmlns:a="http://schemas.openxmlformats.org/drawingml/2006/main">
            <a:off x="400050" y="8972550"/>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B9A66"/>
                </a:solidFill>
              </a:defRPr>
            </a:pPr>
            <a:r>
              <a:rPr sz="600" b="1">
                <a:solidFill>
                  <a:srgbClr val="2B9A66"/>
                </a:solidFill>
              </a:rPr>
              <a:t>●</a:t>
            </a:r>
          </a:p>
        </p:txBody>
      </p:sp>
      <p:sp>
        <p:nvSpPr>
          <p:cNvPr id="73" name="">
            <a:extLst xmlns:a="http://schemas.openxmlformats.org/drawingml/2006/main">
              <a:ext uri="{FF2B5EF4-FFF2-40B4-BE49-F238E27FC236}">
                <a16:creationId xmlns:a16="http://schemas.microsoft.com/office/drawing/2014/main" id="{41616A18-BC9A-4014-AF54-41D8EEB85636}"/>
              </a:ext>
            </a:extLst>
          </p:cNvPr>
          <p:cNvSpPr>
            <a:spLocks xmlns:a="http://schemas.openxmlformats.org/drawingml/2006/main" noGrp="1"/>
          </p:cNvSpPr>
          <p:nvPr/>
        </p:nvSpPr>
        <p:spPr>
          <a:xfrm xmlns:a="http://schemas.openxmlformats.org/drawingml/2006/main">
            <a:off x="542925" y="8972550"/>
            <a:ext cx="1571625"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1">
                <a:solidFill>
                  <a:srgbClr val="183B39"/>
                </a:solidFill>
              </a:defRPr>
            </a:pPr>
            <a:r>
              <a:rPr sz="765" b="1">
                <a:solidFill>
                  <a:srgbClr val="183B39"/>
                </a:solidFill>
              </a:rPr>
              <a:t>SAH / WD / PDO / OOS</a:t>
            </a:r>
          </a:p>
        </p:txBody>
      </p:sp>
      <p:sp>
        <p:nvSpPr>
          <p:cNvPr id="74" name="">
            <a:extLst xmlns:a="http://schemas.openxmlformats.org/drawingml/2006/main">
              <a:ext uri="{FF2B5EF4-FFF2-40B4-BE49-F238E27FC236}">
                <a16:creationId xmlns:a16="http://schemas.microsoft.com/office/drawing/2014/main" id="{0365106D-25B1-4C81-8521-97BDC2D9D53B}"/>
              </a:ext>
            </a:extLst>
          </p:cNvPr>
          <p:cNvSpPr>
            <a:spLocks xmlns:a="http://schemas.openxmlformats.org/drawingml/2006/main" noGrp="1"/>
          </p:cNvSpPr>
          <p:nvPr/>
        </p:nvSpPr>
        <p:spPr>
          <a:xfrm xmlns:a="http://schemas.openxmlformats.org/drawingml/2006/main">
            <a:off x="400050" y="9305925"/>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8A596"/>
                </a:solidFill>
              </a:defRPr>
            </a:pPr>
            <a:r>
              <a:rPr sz="600" b="1">
                <a:solidFill>
                  <a:srgbClr val="28A596"/>
                </a:solidFill>
              </a:rPr>
              <a:t>●</a:t>
            </a:r>
          </a:p>
        </p:txBody>
      </p:sp>
      <p:sp>
        <p:nvSpPr>
          <p:cNvPr id="75" name="">
            <a:extLst xmlns:a="http://schemas.openxmlformats.org/drawingml/2006/main">
              <a:ext uri="{FF2B5EF4-FFF2-40B4-BE49-F238E27FC236}">
                <a16:creationId xmlns:a16="http://schemas.microsoft.com/office/drawing/2014/main" id="{A85DE939-4D21-458F-8C59-03B63B5BCE81}"/>
              </a:ext>
            </a:extLst>
          </p:cNvPr>
          <p:cNvSpPr>
            <a:spLocks xmlns:a="http://schemas.openxmlformats.org/drawingml/2006/main" noGrp="1"/>
          </p:cNvSpPr>
          <p:nvPr/>
        </p:nvSpPr>
        <p:spPr>
          <a:xfrm xmlns:a="http://schemas.openxmlformats.org/drawingml/2006/main">
            <a:off x="542925" y="9305925"/>
            <a:ext cx="1571625"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Stock pressure and turnover</a:t>
            </a:r>
          </a:p>
        </p:txBody>
      </p:sp>
      <p:sp>
        <p:nvSpPr>
          <p:cNvPr id="76" name="">
            <a:extLst xmlns:a="http://schemas.openxmlformats.org/drawingml/2006/main">
              <a:ext uri="{FF2B5EF4-FFF2-40B4-BE49-F238E27FC236}">
                <a16:creationId xmlns:a16="http://schemas.microsoft.com/office/drawing/2014/main" id="{6B7AE643-C575-4A0D-B95D-7C3487EF10AE}"/>
              </a:ext>
            </a:extLst>
          </p:cNvPr>
          <p:cNvSpPr>
            <a:spLocks xmlns:a="http://schemas.openxmlformats.org/drawingml/2006/main" noGrp="1"/>
          </p:cNvSpPr>
          <p:nvPr/>
        </p:nvSpPr>
        <p:spPr>
          <a:xfrm xmlns:a="http://schemas.openxmlformats.org/drawingml/2006/main">
            <a:off x="400050" y="9639300"/>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8A596"/>
                </a:solidFill>
              </a:defRPr>
            </a:pPr>
            <a:r>
              <a:rPr sz="600" b="1">
                <a:solidFill>
                  <a:srgbClr val="28A596"/>
                </a:solidFill>
              </a:rPr>
              <a:t>●</a:t>
            </a:r>
          </a:p>
        </p:txBody>
      </p:sp>
      <p:sp>
        <p:nvSpPr>
          <p:cNvPr id="77" name="">
            <a:extLst xmlns:a="http://schemas.openxmlformats.org/drawingml/2006/main">
              <a:ext uri="{FF2B5EF4-FFF2-40B4-BE49-F238E27FC236}">
                <a16:creationId xmlns:a16="http://schemas.microsoft.com/office/drawing/2014/main" id="{6CF7232D-BCA1-49AB-A2BB-4B7D276C931C}"/>
              </a:ext>
            </a:extLst>
          </p:cNvPr>
          <p:cNvSpPr>
            <a:spLocks xmlns:a="http://schemas.openxmlformats.org/drawingml/2006/main" noGrp="1"/>
          </p:cNvSpPr>
          <p:nvPr/>
        </p:nvSpPr>
        <p:spPr>
          <a:xfrm xmlns:a="http://schemas.openxmlformats.org/drawingml/2006/main">
            <a:off x="542925" y="9639300"/>
            <a:ext cx="1571625"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No measured claim before state-chain validation</a:t>
            </a:r>
          </a:p>
        </p:txBody>
      </p:sp>
      <p:sp>
        <p:nvSpPr>
          <p:cNvPr id="78" name="">
            <a:extLst xmlns:a="http://schemas.openxmlformats.org/drawingml/2006/main">
              <a:ext uri="{FF2B5EF4-FFF2-40B4-BE49-F238E27FC236}">
                <a16:creationId xmlns:a16="http://schemas.microsoft.com/office/drawing/2014/main" id="{57851070-9BC5-4816-8B62-813A2A6354BA}"/>
              </a:ext>
            </a:extLst>
          </p:cNvPr>
          <p:cNvSpPr>
            <a:spLocks xmlns:a="http://schemas.openxmlformats.org/drawingml/2006/main" noGrp="1"/>
          </p:cNvSpPr>
          <p:nvPr/>
        </p:nvSpPr>
        <p:spPr>
          <a:xfrm xmlns:a="http://schemas.openxmlformats.org/drawingml/2006/main">
            <a:off x="2438400" y="8077200"/>
            <a:ext cx="1981200" cy="2590800"/>
          </a:xfrm>
          <a:prstGeom xmlns:a="http://schemas.openxmlformats.org/drawingml/2006/main" prst="roundRect">
            <a:avLst>
              <a:gd name="adj" fmla="val 3846"/>
            </a:avLst>
          </a:prstGeom>
          <a:solidFill xmlns:a="http://schemas.openxmlformats.org/drawingml/2006/main">
            <a:srgbClr val="FFFFFF"/>
          </a:solidFill>
          <a:ln xmlns:a="http://schemas.openxmlformats.org/drawingml/2006/main" w="9525">
            <a:solidFill>
              <a:srgbClr val="C8DCD7"/>
            </a:solidFill>
            <a:prstDash val="solid"/>
          </a:ln>
        </p:spPr>
      </p:sp>
      <p:sp>
        <p:nvSpPr>
          <p:cNvPr id="79" name="">
            <a:extLst xmlns:a="http://schemas.openxmlformats.org/drawingml/2006/main">
              <a:ext uri="{FF2B5EF4-FFF2-40B4-BE49-F238E27FC236}">
                <a16:creationId xmlns:a16="http://schemas.microsoft.com/office/drawing/2014/main" id="{EBCFDAD4-EC60-454B-B0FB-655DE9BB7B11}"/>
              </a:ext>
            </a:extLst>
          </p:cNvPr>
          <p:cNvSpPr>
            <a:spLocks xmlns:a="http://schemas.openxmlformats.org/drawingml/2006/main" noGrp="1"/>
          </p:cNvSpPr>
          <p:nvPr/>
        </p:nvSpPr>
        <p:spPr>
          <a:xfrm xmlns:a="http://schemas.openxmlformats.org/drawingml/2006/main">
            <a:off x="2438400" y="8077200"/>
            <a:ext cx="1981200" cy="285750"/>
          </a:xfrm>
          <a:prstGeom xmlns:a="http://schemas.openxmlformats.org/drawingml/2006/main" prst="rect">
            <a:avLst/>
          </a:prstGeom>
          <a:solidFill xmlns:a="http://schemas.openxmlformats.org/drawingml/2006/main">
            <a:srgbClr val="2B9A66"/>
          </a:solidFill>
          <a:ln xmlns:a="http://schemas.openxmlformats.org/drawingml/2006/main" w="0">
            <a:solidFill>
              <a:srgbClr val="2B9A66"/>
            </a:solidFill>
            <a:prstDash val="solid"/>
          </a:ln>
        </p:spPr>
      </p:sp>
      <p:sp>
        <p:nvSpPr>
          <p:cNvPr id="80" name="">
            <a:extLst xmlns:a="http://schemas.openxmlformats.org/drawingml/2006/main">
              <a:ext uri="{FF2B5EF4-FFF2-40B4-BE49-F238E27FC236}">
                <a16:creationId xmlns:a16="http://schemas.microsoft.com/office/drawing/2014/main" id="{7D458E96-35EA-47D5-A5B3-06FC4E87139B}"/>
              </a:ext>
            </a:extLst>
          </p:cNvPr>
          <p:cNvSpPr>
            <a:spLocks xmlns:a="http://schemas.openxmlformats.org/drawingml/2006/main" noGrp="1"/>
          </p:cNvSpPr>
          <p:nvPr/>
        </p:nvSpPr>
        <p:spPr>
          <a:xfrm xmlns:a="http://schemas.openxmlformats.org/drawingml/2006/main">
            <a:off x="2524125" y="8096250"/>
            <a:ext cx="18097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788" b="1">
                <a:solidFill>
                  <a:srgbClr val="FFFFFF"/>
                </a:solidFill>
              </a:defRPr>
            </a:pPr>
            <a:r>
              <a:rPr sz="788" b="1">
                <a:solidFill>
                  <a:srgbClr val="FFFFFF"/>
                </a:solidFill>
              </a:rPr>
              <a:t>HUMAN APPROVAL</a:t>
            </a:r>
          </a:p>
        </p:txBody>
      </p:sp>
      <p:sp>
        <p:nvSpPr>
          <p:cNvPr id="81" name="">
            <a:extLst xmlns:a="http://schemas.openxmlformats.org/drawingml/2006/main">
              <a:ext uri="{FF2B5EF4-FFF2-40B4-BE49-F238E27FC236}">
                <a16:creationId xmlns:a16="http://schemas.microsoft.com/office/drawing/2014/main" id="{8BEC4B7B-7DF3-4530-8850-77721573AD4B}"/>
              </a:ext>
            </a:extLst>
          </p:cNvPr>
          <p:cNvSpPr>
            <a:spLocks xmlns:a="http://schemas.openxmlformats.org/drawingml/2006/main" noGrp="1"/>
          </p:cNvSpPr>
          <p:nvPr/>
        </p:nvSpPr>
        <p:spPr>
          <a:xfrm xmlns:a="http://schemas.openxmlformats.org/drawingml/2006/main">
            <a:off x="2552700" y="8477250"/>
            <a:ext cx="17526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275" b="1">
                <a:solidFill>
                  <a:srgbClr val="2B9A66"/>
                </a:solidFill>
              </a:defRPr>
            </a:pPr>
            <a:r>
              <a:rPr sz="1275" b="1">
                <a:solidFill>
                  <a:srgbClr val="2B9A66"/>
                </a:solidFill>
              </a:rPr>
              <a:t>Ask first</a:t>
            </a:r>
          </a:p>
        </p:txBody>
      </p:sp>
      <p:sp>
        <p:nvSpPr>
          <p:cNvPr id="82" name="">
            <a:extLst xmlns:a="http://schemas.openxmlformats.org/drawingml/2006/main">
              <a:ext uri="{FF2B5EF4-FFF2-40B4-BE49-F238E27FC236}">
                <a16:creationId xmlns:a16="http://schemas.microsoft.com/office/drawing/2014/main" id="{4BD26B2A-963A-4BC9-A8C6-71D080AD2556}"/>
              </a:ext>
            </a:extLst>
          </p:cNvPr>
          <p:cNvSpPr>
            <a:spLocks xmlns:a="http://schemas.openxmlformats.org/drawingml/2006/main" noGrp="1"/>
          </p:cNvSpPr>
          <p:nvPr/>
        </p:nvSpPr>
        <p:spPr>
          <a:xfrm xmlns:a="http://schemas.openxmlformats.org/drawingml/2006/main">
            <a:off x="2571750" y="8972550"/>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B9A66"/>
                </a:solidFill>
              </a:defRPr>
            </a:pPr>
            <a:r>
              <a:rPr sz="600" b="1">
                <a:solidFill>
                  <a:srgbClr val="2B9A66"/>
                </a:solidFill>
              </a:rPr>
              <a:t>●</a:t>
            </a:r>
          </a:p>
        </p:txBody>
      </p:sp>
      <p:sp>
        <p:nvSpPr>
          <p:cNvPr id="83" name="">
            <a:extLst xmlns:a="http://schemas.openxmlformats.org/drawingml/2006/main">
              <a:ext uri="{FF2B5EF4-FFF2-40B4-BE49-F238E27FC236}">
                <a16:creationId xmlns:a16="http://schemas.microsoft.com/office/drawing/2014/main" id="{FE187728-0AE9-4BCD-950A-5EB645E2EE44}"/>
              </a:ext>
            </a:extLst>
          </p:cNvPr>
          <p:cNvSpPr>
            <a:spLocks xmlns:a="http://schemas.openxmlformats.org/drawingml/2006/main" noGrp="1"/>
          </p:cNvSpPr>
          <p:nvPr/>
        </p:nvSpPr>
        <p:spPr>
          <a:xfrm xmlns:a="http://schemas.openxmlformats.org/drawingml/2006/main">
            <a:off x="2714625" y="8972550"/>
            <a:ext cx="1571625"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1">
                <a:solidFill>
                  <a:srgbClr val="183B39"/>
                </a:solidFill>
              </a:defRPr>
            </a:pPr>
            <a:r>
              <a:rPr sz="765" b="1">
                <a:solidFill>
                  <a:srgbClr val="183B39"/>
                </a:solidFill>
              </a:rPr>
              <a:t>AI recommends and sizes</a:t>
            </a:r>
          </a:p>
        </p:txBody>
      </p:sp>
      <p:sp>
        <p:nvSpPr>
          <p:cNvPr id="84" name="">
            <a:extLst xmlns:a="http://schemas.openxmlformats.org/drawingml/2006/main">
              <a:ext uri="{FF2B5EF4-FFF2-40B4-BE49-F238E27FC236}">
                <a16:creationId xmlns:a16="http://schemas.microsoft.com/office/drawing/2014/main" id="{C6C8170D-0896-41DC-B6ED-C2EDACCEBC63}"/>
              </a:ext>
            </a:extLst>
          </p:cNvPr>
          <p:cNvSpPr>
            <a:spLocks xmlns:a="http://schemas.openxmlformats.org/drawingml/2006/main" noGrp="1"/>
          </p:cNvSpPr>
          <p:nvPr/>
        </p:nvSpPr>
        <p:spPr>
          <a:xfrm xmlns:a="http://schemas.openxmlformats.org/drawingml/2006/main">
            <a:off x="2571750" y="9305925"/>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8A596"/>
                </a:solidFill>
              </a:defRPr>
            </a:pPr>
            <a:r>
              <a:rPr sz="600" b="1">
                <a:solidFill>
                  <a:srgbClr val="28A596"/>
                </a:solidFill>
              </a:rPr>
              <a:t>●</a:t>
            </a:r>
          </a:p>
        </p:txBody>
      </p:sp>
      <p:sp>
        <p:nvSpPr>
          <p:cNvPr id="85" name="">
            <a:extLst xmlns:a="http://schemas.openxmlformats.org/drawingml/2006/main">
              <a:ext uri="{FF2B5EF4-FFF2-40B4-BE49-F238E27FC236}">
                <a16:creationId xmlns:a16="http://schemas.microsoft.com/office/drawing/2014/main" id="{CBBBAFBA-D4DE-4F3C-BA93-7796C8E7056C}"/>
              </a:ext>
            </a:extLst>
          </p:cNvPr>
          <p:cNvSpPr>
            <a:spLocks xmlns:a="http://schemas.openxmlformats.org/drawingml/2006/main" noGrp="1"/>
          </p:cNvSpPr>
          <p:nvPr/>
        </p:nvSpPr>
        <p:spPr>
          <a:xfrm xmlns:a="http://schemas.openxmlformats.org/drawingml/2006/main">
            <a:off x="2714625" y="9305925"/>
            <a:ext cx="1571625"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NKAM/RKAM/KAM approve</a:t>
            </a:r>
          </a:p>
        </p:txBody>
      </p:sp>
      <p:sp>
        <p:nvSpPr>
          <p:cNvPr id="86" name="">
            <a:extLst xmlns:a="http://schemas.openxmlformats.org/drawingml/2006/main">
              <a:ext uri="{FF2B5EF4-FFF2-40B4-BE49-F238E27FC236}">
                <a16:creationId xmlns:a16="http://schemas.microsoft.com/office/drawing/2014/main" id="{711E4ECB-B7BD-4970-AF15-0902432E4644}"/>
              </a:ext>
            </a:extLst>
          </p:cNvPr>
          <p:cNvSpPr>
            <a:spLocks xmlns:a="http://schemas.openxmlformats.org/drawingml/2006/main" noGrp="1"/>
          </p:cNvSpPr>
          <p:nvPr/>
        </p:nvSpPr>
        <p:spPr>
          <a:xfrm xmlns:a="http://schemas.openxmlformats.org/drawingml/2006/main">
            <a:off x="2571750" y="9639300"/>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8A596"/>
                </a:solidFill>
              </a:defRPr>
            </a:pPr>
            <a:r>
              <a:rPr sz="600" b="1">
                <a:solidFill>
                  <a:srgbClr val="28A596"/>
                </a:solidFill>
              </a:rPr>
              <a:t>●</a:t>
            </a:r>
          </a:p>
        </p:txBody>
      </p:sp>
      <p:sp>
        <p:nvSpPr>
          <p:cNvPr id="87" name="">
            <a:extLst xmlns:a="http://schemas.openxmlformats.org/drawingml/2006/main">
              <a:ext uri="{FF2B5EF4-FFF2-40B4-BE49-F238E27FC236}">
                <a16:creationId xmlns:a16="http://schemas.microsoft.com/office/drawing/2014/main" id="{5A048AD5-FBD3-4706-A751-124C1E28C8ED}"/>
              </a:ext>
            </a:extLst>
          </p:cNvPr>
          <p:cNvSpPr>
            <a:spLocks xmlns:a="http://schemas.openxmlformats.org/drawingml/2006/main" noGrp="1"/>
          </p:cNvSpPr>
          <p:nvPr/>
        </p:nvSpPr>
        <p:spPr>
          <a:xfrm xmlns:a="http://schemas.openxmlformats.org/drawingml/2006/main">
            <a:off x="2714625" y="9639300"/>
            <a:ext cx="1571625"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Loading, range and distribution remain human decisions</a:t>
            </a:r>
          </a:p>
        </p:txBody>
      </p:sp>
      <p:sp>
        <p:nvSpPr>
          <p:cNvPr id="88" name="">
            <a:extLst xmlns:a="http://schemas.openxmlformats.org/drawingml/2006/main">
              <a:ext uri="{FF2B5EF4-FFF2-40B4-BE49-F238E27FC236}">
                <a16:creationId xmlns:a16="http://schemas.microsoft.com/office/drawing/2014/main" id="{FCEADC96-11E8-4CD7-A51A-7BF56857F997}"/>
              </a:ext>
            </a:extLst>
          </p:cNvPr>
          <p:cNvSpPr>
            <a:spLocks xmlns:a="http://schemas.openxmlformats.org/drawingml/2006/main" noGrp="1"/>
          </p:cNvSpPr>
          <p:nvPr/>
        </p:nvSpPr>
        <p:spPr>
          <a:xfrm xmlns:a="http://schemas.openxmlformats.org/drawingml/2006/main">
            <a:off x="4610100" y="8077200"/>
            <a:ext cx="1981200" cy="2590800"/>
          </a:xfrm>
          <a:prstGeom xmlns:a="http://schemas.openxmlformats.org/drawingml/2006/main" prst="roundRect">
            <a:avLst>
              <a:gd name="adj" fmla="val 3846"/>
            </a:avLst>
          </a:prstGeom>
          <a:solidFill xmlns:a="http://schemas.openxmlformats.org/drawingml/2006/main">
            <a:srgbClr val="FFFFFF"/>
          </a:solidFill>
          <a:ln xmlns:a="http://schemas.openxmlformats.org/drawingml/2006/main" w="9525">
            <a:solidFill>
              <a:srgbClr val="C8DCD7"/>
            </a:solidFill>
            <a:prstDash val="solid"/>
          </a:ln>
        </p:spPr>
      </p:sp>
      <p:sp>
        <p:nvSpPr>
          <p:cNvPr id="89" name="">
            <a:extLst xmlns:a="http://schemas.openxmlformats.org/drawingml/2006/main">
              <a:ext uri="{FF2B5EF4-FFF2-40B4-BE49-F238E27FC236}">
                <a16:creationId xmlns:a16="http://schemas.microsoft.com/office/drawing/2014/main" id="{FEB3BE1C-AF32-4DE8-B3C7-576AE39AAA3F}"/>
              </a:ext>
            </a:extLst>
          </p:cNvPr>
          <p:cNvSpPr>
            <a:spLocks xmlns:a="http://schemas.openxmlformats.org/drawingml/2006/main" noGrp="1"/>
          </p:cNvSpPr>
          <p:nvPr/>
        </p:nvSpPr>
        <p:spPr>
          <a:xfrm xmlns:a="http://schemas.openxmlformats.org/drawingml/2006/main">
            <a:off x="4610100" y="8077200"/>
            <a:ext cx="1981200" cy="285750"/>
          </a:xfrm>
          <a:prstGeom xmlns:a="http://schemas.openxmlformats.org/drawingml/2006/main" prst="rect">
            <a:avLst/>
          </a:prstGeom>
          <a:solidFill xmlns:a="http://schemas.openxmlformats.org/drawingml/2006/main">
            <a:srgbClr val="28A596"/>
          </a:solidFill>
          <a:ln xmlns:a="http://schemas.openxmlformats.org/drawingml/2006/main" w="0">
            <a:solidFill>
              <a:srgbClr val="28A596"/>
            </a:solidFill>
            <a:prstDash val="solid"/>
          </a:ln>
        </p:spPr>
      </p:sp>
      <p:sp>
        <p:nvSpPr>
          <p:cNvPr id="90" name="">
            <a:extLst xmlns:a="http://schemas.openxmlformats.org/drawingml/2006/main">
              <a:ext uri="{FF2B5EF4-FFF2-40B4-BE49-F238E27FC236}">
                <a16:creationId xmlns:a16="http://schemas.microsoft.com/office/drawing/2014/main" id="{2EEA8A4C-49BB-4973-8611-E27FCC20D45F}"/>
              </a:ext>
            </a:extLst>
          </p:cNvPr>
          <p:cNvSpPr>
            <a:spLocks xmlns:a="http://schemas.openxmlformats.org/drawingml/2006/main" noGrp="1"/>
          </p:cNvSpPr>
          <p:nvPr/>
        </p:nvSpPr>
        <p:spPr>
          <a:xfrm xmlns:a="http://schemas.openxmlformats.org/drawingml/2006/main">
            <a:off x="4695825" y="8096250"/>
            <a:ext cx="18097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788" b="1">
                <a:solidFill>
                  <a:srgbClr val="FFFFFF"/>
                </a:solidFill>
              </a:defRPr>
            </a:pPr>
            <a:r>
              <a:rPr sz="788" b="1">
                <a:solidFill>
                  <a:srgbClr val="FFFFFF"/>
                </a:solidFill>
              </a:rPr>
              <a:t>ACTION RECEIPT</a:t>
            </a:r>
          </a:p>
        </p:txBody>
      </p:sp>
      <p:sp>
        <p:nvSpPr>
          <p:cNvPr id="91" name="">
            <a:extLst xmlns:a="http://schemas.openxmlformats.org/drawingml/2006/main">
              <a:ext uri="{FF2B5EF4-FFF2-40B4-BE49-F238E27FC236}">
                <a16:creationId xmlns:a16="http://schemas.microsoft.com/office/drawing/2014/main" id="{A9CADE32-B6D1-41FB-BE29-9724B6B91517}"/>
              </a:ext>
            </a:extLst>
          </p:cNvPr>
          <p:cNvSpPr>
            <a:spLocks xmlns:a="http://schemas.openxmlformats.org/drawingml/2006/main" noGrp="1"/>
          </p:cNvSpPr>
          <p:nvPr/>
        </p:nvSpPr>
        <p:spPr>
          <a:xfrm xmlns:a="http://schemas.openxmlformats.org/drawingml/2006/main">
            <a:off x="4724400" y="8477250"/>
            <a:ext cx="17526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275" b="1">
                <a:solidFill>
                  <a:srgbClr val="28A596"/>
                </a:solidFill>
              </a:defRPr>
            </a:pPr>
            <a:r>
              <a:rPr sz="1275" b="1">
                <a:solidFill>
                  <a:srgbClr val="28A596"/>
                </a:solidFill>
              </a:rPr>
              <a:t>Owner + date</a:t>
            </a:r>
          </a:p>
        </p:txBody>
      </p:sp>
      <p:sp>
        <p:nvSpPr>
          <p:cNvPr id="92" name="">
            <a:extLst xmlns:a="http://schemas.openxmlformats.org/drawingml/2006/main">
              <a:ext uri="{FF2B5EF4-FFF2-40B4-BE49-F238E27FC236}">
                <a16:creationId xmlns:a16="http://schemas.microsoft.com/office/drawing/2014/main" id="{1549435E-24BE-439A-9F8C-1A3E3D4AAA0B}"/>
              </a:ext>
            </a:extLst>
          </p:cNvPr>
          <p:cNvSpPr>
            <a:spLocks xmlns:a="http://schemas.openxmlformats.org/drawingml/2006/main" noGrp="1"/>
          </p:cNvSpPr>
          <p:nvPr/>
        </p:nvSpPr>
        <p:spPr>
          <a:xfrm xmlns:a="http://schemas.openxmlformats.org/drawingml/2006/main">
            <a:off x="4743450" y="8972550"/>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B9A66"/>
                </a:solidFill>
              </a:defRPr>
            </a:pPr>
            <a:r>
              <a:rPr sz="600" b="1">
                <a:solidFill>
                  <a:srgbClr val="2B9A66"/>
                </a:solidFill>
              </a:rPr>
              <a:t>●</a:t>
            </a:r>
          </a:p>
        </p:txBody>
      </p:sp>
      <p:sp>
        <p:nvSpPr>
          <p:cNvPr id="93" name="">
            <a:extLst xmlns:a="http://schemas.openxmlformats.org/drawingml/2006/main">
              <a:ext uri="{FF2B5EF4-FFF2-40B4-BE49-F238E27FC236}">
                <a16:creationId xmlns:a16="http://schemas.microsoft.com/office/drawing/2014/main" id="{69BDAEE6-8A96-461C-9932-F3C20EECD702}"/>
              </a:ext>
            </a:extLst>
          </p:cNvPr>
          <p:cNvSpPr>
            <a:spLocks xmlns:a="http://schemas.openxmlformats.org/drawingml/2006/main" noGrp="1"/>
          </p:cNvSpPr>
          <p:nvPr/>
        </p:nvSpPr>
        <p:spPr>
          <a:xfrm xmlns:a="http://schemas.openxmlformats.org/drawingml/2006/main">
            <a:off x="4886325" y="8972550"/>
            <a:ext cx="1571625"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1">
                <a:solidFill>
                  <a:srgbClr val="183B39"/>
                </a:solidFill>
              </a:defRPr>
            </a:pPr>
            <a:r>
              <a:rPr sz="765" b="1">
                <a:solidFill>
                  <a:srgbClr val="183B39"/>
                </a:solidFill>
              </a:rPr>
              <a:t>Record what changed</a:t>
            </a:r>
          </a:p>
        </p:txBody>
      </p:sp>
      <p:sp>
        <p:nvSpPr>
          <p:cNvPr id="94" name="">
            <a:extLst xmlns:a="http://schemas.openxmlformats.org/drawingml/2006/main">
              <a:ext uri="{FF2B5EF4-FFF2-40B4-BE49-F238E27FC236}">
                <a16:creationId xmlns:a16="http://schemas.microsoft.com/office/drawing/2014/main" id="{D6A0845C-6182-469A-8A73-B411CD39FA8C}"/>
              </a:ext>
            </a:extLst>
          </p:cNvPr>
          <p:cNvSpPr>
            <a:spLocks xmlns:a="http://schemas.openxmlformats.org/drawingml/2006/main" noGrp="1"/>
          </p:cNvSpPr>
          <p:nvPr/>
        </p:nvSpPr>
        <p:spPr>
          <a:xfrm xmlns:a="http://schemas.openxmlformats.org/drawingml/2006/main">
            <a:off x="4743450" y="9305925"/>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8A596"/>
                </a:solidFill>
              </a:defRPr>
            </a:pPr>
            <a:r>
              <a:rPr sz="600" b="1">
                <a:solidFill>
                  <a:srgbClr val="28A596"/>
                </a:solidFill>
              </a:rPr>
              <a:t>●</a:t>
            </a:r>
          </a:p>
        </p:txBody>
      </p:sp>
      <p:sp>
        <p:nvSpPr>
          <p:cNvPr id="95" name="">
            <a:extLst xmlns:a="http://schemas.openxmlformats.org/drawingml/2006/main">
              <a:ext uri="{FF2B5EF4-FFF2-40B4-BE49-F238E27FC236}">
                <a16:creationId xmlns:a16="http://schemas.microsoft.com/office/drawing/2014/main" id="{76AFC58C-FAC3-4F75-BB58-018B27655EE1}"/>
              </a:ext>
            </a:extLst>
          </p:cNvPr>
          <p:cNvSpPr>
            <a:spLocks xmlns:a="http://schemas.openxmlformats.org/drawingml/2006/main" noGrp="1"/>
          </p:cNvSpPr>
          <p:nvPr/>
        </p:nvSpPr>
        <p:spPr>
          <a:xfrm xmlns:a="http://schemas.openxmlformats.org/drawingml/2006/main">
            <a:off x="4886325" y="9305925"/>
            <a:ext cx="1571625"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State evidence and authority</a:t>
            </a:r>
          </a:p>
        </p:txBody>
      </p:sp>
      <p:sp>
        <p:nvSpPr>
          <p:cNvPr id="96" name="">
            <a:extLst xmlns:a="http://schemas.openxmlformats.org/drawingml/2006/main">
              <a:ext uri="{FF2B5EF4-FFF2-40B4-BE49-F238E27FC236}">
                <a16:creationId xmlns:a16="http://schemas.microsoft.com/office/drawing/2014/main" id="{E29B1507-FC1A-4FC9-920A-DBDD65F7CE03}"/>
              </a:ext>
            </a:extLst>
          </p:cNvPr>
          <p:cNvSpPr>
            <a:spLocks xmlns:a="http://schemas.openxmlformats.org/drawingml/2006/main" noGrp="1"/>
          </p:cNvSpPr>
          <p:nvPr/>
        </p:nvSpPr>
        <p:spPr>
          <a:xfrm xmlns:a="http://schemas.openxmlformats.org/drawingml/2006/main">
            <a:off x="4743450" y="9639300"/>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8A596"/>
                </a:solidFill>
              </a:defRPr>
            </a:pPr>
            <a:r>
              <a:rPr sz="600" b="1">
                <a:solidFill>
                  <a:srgbClr val="28A596"/>
                </a:solidFill>
              </a:rPr>
              <a:t>●</a:t>
            </a:r>
          </a:p>
        </p:txBody>
      </p:sp>
      <p:sp>
        <p:nvSpPr>
          <p:cNvPr id="97" name="">
            <a:extLst xmlns:a="http://schemas.openxmlformats.org/drawingml/2006/main">
              <a:ext uri="{FF2B5EF4-FFF2-40B4-BE49-F238E27FC236}">
                <a16:creationId xmlns:a16="http://schemas.microsoft.com/office/drawing/2014/main" id="{61699BEB-C3ED-4A2C-9C68-872F3FA10FD0}"/>
              </a:ext>
            </a:extLst>
          </p:cNvPr>
          <p:cNvSpPr>
            <a:spLocks xmlns:a="http://schemas.openxmlformats.org/drawingml/2006/main" noGrp="1"/>
          </p:cNvSpPr>
          <p:nvPr/>
        </p:nvSpPr>
        <p:spPr>
          <a:xfrm xmlns:a="http://schemas.openxmlformats.org/drawingml/2006/main">
            <a:off x="4886325" y="9639300"/>
            <a:ext cx="1571625"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Track closure and outcome</a:t>
            </a:r>
          </a:p>
        </p:txBody>
      </p:sp>
      <p:sp>
        <p:nvSpPr>
          <p:cNvPr id="98" name="">
            <a:extLst xmlns:a="http://schemas.openxmlformats.org/drawingml/2006/main">
              <a:ext uri="{FF2B5EF4-FFF2-40B4-BE49-F238E27FC236}">
                <a16:creationId xmlns:a16="http://schemas.microsoft.com/office/drawing/2014/main" id="{A12B80DA-90FA-4FAD-81B6-089BD40DD11C}"/>
              </a:ext>
            </a:extLst>
          </p:cNvPr>
          <p:cNvSpPr>
            <a:spLocks xmlns:a="http://schemas.openxmlformats.org/drawingml/2006/main" noGrp="1"/>
          </p:cNvSpPr>
          <p:nvPr/>
        </p:nvSpPr>
        <p:spPr>
          <a:xfrm xmlns:a="http://schemas.openxmlformats.org/drawingml/2006/main">
            <a:off x="4743450" y="9972675"/>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8A596"/>
                </a:solidFill>
              </a:defRPr>
            </a:pPr>
            <a:r>
              <a:rPr sz="600" b="1">
                <a:solidFill>
                  <a:srgbClr val="28A596"/>
                </a:solidFill>
              </a:rPr>
              <a:t>●</a:t>
            </a:r>
          </a:p>
        </p:txBody>
      </p:sp>
      <p:sp>
        <p:nvSpPr>
          <p:cNvPr id="99" name="">
            <a:extLst xmlns:a="http://schemas.openxmlformats.org/drawingml/2006/main">
              <a:ext uri="{FF2B5EF4-FFF2-40B4-BE49-F238E27FC236}">
                <a16:creationId xmlns:a16="http://schemas.microsoft.com/office/drawing/2014/main" id="{DCD813E2-CCE1-439B-B5AD-351401376EE1}"/>
              </a:ext>
            </a:extLst>
          </p:cNvPr>
          <p:cNvSpPr>
            <a:spLocks xmlns:a="http://schemas.openxmlformats.org/drawingml/2006/main" noGrp="1"/>
          </p:cNvSpPr>
          <p:nvPr/>
        </p:nvSpPr>
        <p:spPr>
          <a:xfrm xmlns:a="http://schemas.openxmlformats.org/drawingml/2006/main">
            <a:off x="4886325" y="9972675"/>
            <a:ext cx="1571625"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Revoke or stop when proof fails</a:t>
            </a:r>
          </a:p>
        </p:txBody>
      </p:sp>
      <p:sp>
        <p:nvSpPr>
          <p:cNvPr id="100" name="">
            <a:extLst xmlns:a="http://schemas.openxmlformats.org/drawingml/2006/main">
              <a:ext uri="{FF2B5EF4-FFF2-40B4-BE49-F238E27FC236}">
                <a16:creationId xmlns:a16="http://schemas.microsoft.com/office/drawing/2014/main" id="{AE9EE3CE-9A7B-4530-9AF0-D6C9E82C62CD}"/>
              </a:ext>
            </a:extLst>
          </p:cNvPr>
          <p:cNvSpPr>
            <a:spLocks xmlns:a="http://schemas.openxmlformats.org/drawingml/2006/main" noGrp="1"/>
          </p:cNvSpPr>
          <p:nvPr/>
        </p:nvSpPr>
        <p:spPr>
          <a:xfrm xmlns:a="http://schemas.openxmlformats.org/drawingml/2006/main">
            <a:off x="361950" y="11544300"/>
            <a:ext cx="6134100" cy="457200"/>
          </a:xfrm>
          <a:prstGeom xmlns:a="http://schemas.openxmlformats.org/drawingml/2006/main" prst="roundRect">
            <a:avLst>
              <a:gd name="adj" fmla="val 16667"/>
            </a:avLst>
          </a:prstGeom>
          <a:solidFill xmlns:a="http://schemas.openxmlformats.org/drawingml/2006/main">
            <a:srgbClr val="DFF2ED"/>
          </a:solidFill>
          <a:ln xmlns:a="http://schemas.openxmlformats.org/drawingml/2006/main" w="9525">
            <a:solidFill>
              <a:srgbClr val="28A596"/>
            </a:solidFill>
            <a:prstDash val="solid"/>
          </a:ln>
        </p:spPr>
      </p:sp>
      <p:sp>
        <p:nvSpPr>
          <p:cNvPr id="101" name="">
            <a:extLst xmlns:a="http://schemas.openxmlformats.org/drawingml/2006/main">
              <a:ext uri="{FF2B5EF4-FFF2-40B4-BE49-F238E27FC236}">
                <a16:creationId xmlns:a16="http://schemas.microsoft.com/office/drawing/2014/main" id="{8A606262-3EEF-4921-8112-DB2A5099040B}"/>
              </a:ext>
            </a:extLst>
          </p:cNvPr>
          <p:cNvSpPr>
            <a:spLocks xmlns:a="http://schemas.openxmlformats.org/drawingml/2006/main" noGrp="1"/>
          </p:cNvSpPr>
          <p:nvPr/>
        </p:nvSpPr>
        <p:spPr>
          <a:xfrm xmlns:a="http://schemas.openxmlformats.org/drawingml/2006/main">
            <a:off x="438150" y="11582400"/>
            <a:ext cx="142875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38" b="1">
                <a:solidFill>
                  <a:srgbClr val="116F68"/>
                </a:solidFill>
              </a:defRPr>
            </a:pPr>
            <a:r>
              <a:rPr sz="638" b="1">
                <a:solidFill>
                  <a:srgbClr val="116F68"/>
                </a:solidFill>
              </a:rPr>
              <a:t>EVIDENCE</a:t>
            </a:r>
          </a:p>
        </p:txBody>
      </p:sp>
      <p:sp>
        <p:nvSpPr>
          <p:cNvPr id="102" name="">
            <a:extLst xmlns:a="http://schemas.openxmlformats.org/drawingml/2006/main">
              <a:ext uri="{FF2B5EF4-FFF2-40B4-BE49-F238E27FC236}">
                <a16:creationId xmlns:a16="http://schemas.microsoft.com/office/drawing/2014/main" id="{EF3664DB-B3FF-4F7D-9A6A-D4B1DD319897}"/>
              </a:ext>
            </a:extLst>
          </p:cNvPr>
          <p:cNvSpPr>
            <a:spLocks xmlns:a="http://schemas.openxmlformats.org/drawingml/2006/main" noGrp="1"/>
          </p:cNvSpPr>
          <p:nvPr/>
        </p:nvSpPr>
        <p:spPr>
          <a:xfrm xmlns:a="http://schemas.openxmlformats.org/drawingml/2006/main">
            <a:off x="438150" y="11734800"/>
            <a:ext cx="1428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00" b="0">
                <a:solidFill>
                  <a:srgbClr val="183B39"/>
                </a:solidFill>
              </a:defRPr>
            </a:pPr>
            <a:r>
              <a:rPr sz="600" b="0">
                <a:solidFill>
                  <a:srgbClr val="183B39"/>
                </a:solidFill>
              </a:rPr>
              <a:t>31,355 / 197,740 primary-offtake rows reconciled; 0 missing zone rows; period July 2026; SAH / WD / PDO / OOS not yet field-reconciled</a:t>
            </a:r>
          </a:p>
        </p:txBody>
      </p:sp>
      <p:sp>
        <p:nvSpPr>
          <p:cNvPr id="103" name="">
            <a:extLst xmlns:a="http://schemas.openxmlformats.org/drawingml/2006/main">
              <a:ext uri="{FF2B5EF4-FFF2-40B4-BE49-F238E27FC236}">
                <a16:creationId xmlns:a16="http://schemas.microsoft.com/office/drawing/2014/main" id="{3BB07A3F-825F-4C8B-A20C-13699B448B48}"/>
              </a:ext>
            </a:extLst>
          </p:cNvPr>
          <p:cNvSpPr>
            <a:spLocks xmlns:a="http://schemas.openxmlformats.org/drawingml/2006/main" noGrp="1"/>
          </p:cNvSpPr>
          <p:nvPr/>
        </p:nvSpPr>
        <p:spPr>
          <a:xfrm xmlns:a="http://schemas.openxmlformats.org/drawingml/2006/main">
            <a:off x="1924050" y="11610975"/>
            <a:ext cx="0" cy="304800"/>
          </a:xfrm>
          <a:prstGeom xmlns:a="http://schemas.openxmlformats.org/drawingml/2006/main" prst="line">
            <a:avLst/>
          </a:prstGeom>
          <a:ln xmlns:a="http://schemas.openxmlformats.org/drawingml/2006/main" w="9525">
            <a:solidFill>
              <a:srgbClr val="C8DCD7"/>
            </a:solidFill>
            <a:prstDash val="solid"/>
          </a:ln>
        </p:spPr>
      </p:sp>
      <p:sp>
        <p:nvSpPr>
          <p:cNvPr id="104" name="">
            <a:extLst xmlns:a="http://schemas.openxmlformats.org/drawingml/2006/main">
              <a:ext uri="{FF2B5EF4-FFF2-40B4-BE49-F238E27FC236}">
                <a16:creationId xmlns:a16="http://schemas.microsoft.com/office/drawing/2014/main" id="{C5CB66D1-5395-4799-BCF0-0CD525D68DDD}"/>
              </a:ext>
            </a:extLst>
          </p:cNvPr>
          <p:cNvSpPr>
            <a:spLocks xmlns:a="http://schemas.openxmlformats.org/drawingml/2006/main" noGrp="1"/>
          </p:cNvSpPr>
          <p:nvPr/>
        </p:nvSpPr>
        <p:spPr>
          <a:xfrm xmlns:a="http://schemas.openxmlformats.org/drawingml/2006/main">
            <a:off x="1952625" y="11582400"/>
            <a:ext cx="142875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38" b="1">
                <a:solidFill>
                  <a:srgbClr val="116F68"/>
                </a:solidFill>
              </a:defRPr>
            </a:pPr>
            <a:r>
              <a:rPr sz="638" b="1">
                <a:solidFill>
                  <a:srgbClr val="116F68"/>
                </a:solidFill>
              </a:rPr>
              <a:t>IMPLICATION</a:t>
            </a:r>
          </a:p>
        </p:txBody>
      </p:sp>
      <p:sp>
        <p:nvSpPr>
          <p:cNvPr id="105" name="">
            <a:extLst xmlns:a="http://schemas.openxmlformats.org/drawingml/2006/main">
              <a:ext uri="{FF2B5EF4-FFF2-40B4-BE49-F238E27FC236}">
                <a16:creationId xmlns:a16="http://schemas.microsoft.com/office/drawing/2014/main" id="{446D98A0-03BC-4897-8865-D7D15E94C5C7}"/>
              </a:ext>
            </a:extLst>
          </p:cNvPr>
          <p:cNvSpPr>
            <a:spLocks xmlns:a="http://schemas.openxmlformats.org/drawingml/2006/main" noGrp="1"/>
          </p:cNvSpPr>
          <p:nvPr/>
        </p:nvSpPr>
        <p:spPr>
          <a:xfrm xmlns:a="http://schemas.openxmlformats.org/drawingml/2006/main">
            <a:off x="1952625" y="11734800"/>
            <a:ext cx="1428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00" b="0">
                <a:solidFill>
                  <a:srgbClr val="183B39"/>
                </a:solidFill>
              </a:defRPr>
            </a:pPr>
            <a:r>
              <a:rPr sz="600" b="0">
                <a:solidFill>
                  <a:srgbClr val="183B39"/>
                </a:solidFill>
              </a:rPr>
              <a:t>Data coverage is sufficient for chain × zone × brand decisions; article-level causal conclusions need SAH / WD / OOS — acting without them risks wrong root-cause assignments</a:t>
            </a:r>
          </a:p>
        </p:txBody>
      </p:sp>
      <p:sp>
        <p:nvSpPr>
          <p:cNvPr id="106" name="">
            <a:extLst xmlns:a="http://schemas.openxmlformats.org/drawingml/2006/main">
              <a:ext uri="{FF2B5EF4-FFF2-40B4-BE49-F238E27FC236}">
                <a16:creationId xmlns:a16="http://schemas.microsoft.com/office/drawing/2014/main" id="{A50CB973-8E48-4BCE-93E6-1363E82B2532}"/>
              </a:ext>
            </a:extLst>
          </p:cNvPr>
          <p:cNvSpPr>
            <a:spLocks xmlns:a="http://schemas.openxmlformats.org/drawingml/2006/main" noGrp="1"/>
          </p:cNvSpPr>
          <p:nvPr/>
        </p:nvSpPr>
        <p:spPr>
          <a:xfrm xmlns:a="http://schemas.openxmlformats.org/drawingml/2006/main">
            <a:off x="3438525" y="11610975"/>
            <a:ext cx="0" cy="304800"/>
          </a:xfrm>
          <a:prstGeom xmlns:a="http://schemas.openxmlformats.org/drawingml/2006/main" prst="line">
            <a:avLst/>
          </a:prstGeom>
          <a:ln xmlns:a="http://schemas.openxmlformats.org/drawingml/2006/main" w="9525">
            <a:solidFill>
              <a:srgbClr val="C8DCD7"/>
            </a:solidFill>
            <a:prstDash val="solid"/>
          </a:ln>
        </p:spPr>
      </p:sp>
      <p:sp>
        <p:nvSpPr>
          <p:cNvPr id="107" name="">
            <a:extLst xmlns:a="http://schemas.openxmlformats.org/drawingml/2006/main">
              <a:ext uri="{FF2B5EF4-FFF2-40B4-BE49-F238E27FC236}">
                <a16:creationId xmlns:a16="http://schemas.microsoft.com/office/drawing/2014/main" id="{643678D9-2F79-41FA-9038-745F155FD34B}"/>
              </a:ext>
            </a:extLst>
          </p:cNvPr>
          <p:cNvSpPr>
            <a:spLocks xmlns:a="http://schemas.openxmlformats.org/drawingml/2006/main" noGrp="1"/>
          </p:cNvSpPr>
          <p:nvPr/>
        </p:nvSpPr>
        <p:spPr>
          <a:xfrm xmlns:a="http://schemas.openxmlformats.org/drawingml/2006/main">
            <a:off x="3467100" y="11582400"/>
            <a:ext cx="142875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38" b="1">
                <a:solidFill>
                  <a:srgbClr val="116F68"/>
                </a:solidFill>
              </a:defRPr>
            </a:pPr>
            <a:r>
              <a:rPr sz="638" b="1">
                <a:solidFill>
                  <a:srgbClr val="116F68"/>
                </a:solidFill>
              </a:rPr>
              <a:t>ACTION</a:t>
            </a:r>
          </a:p>
        </p:txBody>
      </p:sp>
      <p:sp>
        <p:nvSpPr>
          <p:cNvPr id="108" name="">
            <a:extLst xmlns:a="http://schemas.openxmlformats.org/drawingml/2006/main">
              <a:ext uri="{FF2B5EF4-FFF2-40B4-BE49-F238E27FC236}">
                <a16:creationId xmlns:a16="http://schemas.microsoft.com/office/drawing/2014/main" id="{51061D16-68C7-4C00-AD98-8ECC53DCBA0F}"/>
              </a:ext>
            </a:extLst>
          </p:cNvPr>
          <p:cNvSpPr>
            <a:spLocks xmlns:a="http://schemas.openxmlformats.org/drawingml/2006/main" noGrp="1"/>
          </p:cNvSpPr>
          <p:nvPr/>
        </p:nvSpPr>
        <p:spPr>
          <a:xfrm xmlns:a="http://schemas.openxmlformats.org/drawingml/2006/main">
            <a:off x="3467100" y="11734800"/>
            <a:ext cx="1428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00" b="0">
                <a:solidFill>
                  <a:srgbClr val="183B39"/>
                </a:solidFill>
              </a:defRPr>
            </a:pPr>
            <a:r>
              <a:rPr sz="600" b="0">
                <a:solidFill>
                  <a:srgbClr val="183B39"/>
                </a:solidFill>
              </a:rPr>
              <a:t>Publish reconciled SAH / WD fields by 31-Aug; every consequential commercial change requires named human approval before execution</a:t>
            </a:r>
          </a:p>
        </p:txBody>
      </p:sp>
      <p:sp>
        <p:nvSpPr>
          <p:cNvPr id="109" name="">
            <a:extLst xmlns:a="http://schemas.openxmlformats.org/drawingml/2006/main">
              <a:ext uri="{FF2B5EF4-FFF2-40B4-BE49-F238E27FC236}">
                <a16:creationId xmlns:a16="http://schemas.microsoft.com/office/drawing/2014/main" id="{24B16DB5-7BAE-4899-BD0F-6B1B06AB5A8B}"/>
              </a:ext>
            </a:extLst>
          </p:cNvPr>
          <p:cNvSpPr>
            <a:spLocks xmlns:a="http://schemas.openxmlformats.org/drawingml/2006/main" noGrp="1"/>
          </p:cNvSpPr>
          <p:nvPr/>
        </p:nvSpPr>
        <p:spPr>
          <a:xfrm xmlns:a="http://schemas.openxmlformats.org/drawingml/2006/main">
            <a:off x="4953000" y="11610975"/>
            <a:ext cx="0" cy="304800"/>
          </a:xfrm>
          <a:prstGeom xmlns:a="http://schemas.openxmlformats.org/drawingml/2006/main" prst="line">
            <a:avLst/>
          </a:prstGeom>
          <a:ln xmlns:a="http://schemas.openxmlformats.org/drawingml/2006/main" w="9525">
            <a:solidFill>
              <a:srgbClr val="C8DCD7"/>
            </a:solidFill>
            <a:prstDash val="solid"/>
          </a:ln>
        </p:spPr>
      </p:sp>
      <p:sp>
        <p:nvSpPr>
          <p:cNvPr id="110" name="">
            <a:extLst xmlns:a="http://schemas.openxmlformats.org/drawingml/2006/main">
              <a:ext uri="{FF2B5EF4-FFF2-40B4-BE49-F238E27FC236}">
                <a16:creationId xmlns:a16="http://schemas.microsoft.com/office/drawing/2014/main" id="{19560BE8-39A8-494E-B064-938ECC334C03}"/>
              </a:ext>
            </a:extLst>
          </p:cNvPr>
          <p:cNvSpPr>
            <a:spLocks xmlns:a="http://schemas.openxmlformats.org/drawingml/2006/main" noGrp="1"/>
          </p:cNvSpPr>
          <p:nvPr/>
        </p:nvSpPr>
        <p:spPr>
          <a:xfrm xmlns:a="http://schemas.openxmlformats.org/drawingml/2006/main">
            <a:off x="4981575" y="11582400"/>
            <a:ext cx="142875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38" b="1">
                <a:solidFill>
                  <a:srgbClr val="116F68"/>
                </a:solidFill>
              </a:defRPr>
            </a:pPr>
            <a:r>
              <a:rPr sz="638" b="1">
                <a:solidFill>
                  <a:srgbClr val="116F68"/>
                </a:solidFill>
              </a:rPr>
              <a:t>OWNER</a:t>
            </a:r>
          </a:p>
        </p:txBody>
      </p:sp>
      <p:sp>
        <p:nvSpPr>
          <p:cNvPr id="111" name="">
            <a:extLst xmlns:a="http://schemas.openxmlformats.org/drawingml/2006/main">
              <a:ext uri="{FF2B5EF4-FFF2-40B4-BE49-F238E27FC236}">
                <a16:creationId xmlns:a16="http://schemas.microsoft.com/office/drawing/2014/main" id="{B33B1BE5-9E45-4D3F-9B49-0CF00F5998F0}"/>
              </a:ext>
            </a:extLst>
          </p:cNvPr>
          <p:cNvSpPr>
            <a:spLocks xmlns:a="http://schemas.openxmlformats.org/drawingml/2006/main" noGrp="1"/>
          </p:cNvSpPr>
          <p:nvPr/>
        </p:nvSpPr>
        <p:spPr>
          <a:xfrm xmlns:a="http://schemas.openxmlformats.org/drawingml/2006/main">
            <a:off x="4981575" y="11734800"/>
            <a:ext cx="1428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00" b="0">
                <a:solidFill>
                  <a:srgbClr val="183B39"/>
                </a:solidFill>
              </a:defRPr>
            </a:pPr>
            <a:r>
              <a:rPr sz="600" b="0">
                <a:solidFill>
                  <a:srgbClr val="183B39"/>
                </a:solidFill>
              </a:rPr>
              <a:t>Analytics | 31-Aug</a:t>
            </a:r>
          </a:p>
        </p:txBody>
      </p:sp>
    </p:spTree>
    <p:extLst>
      <p:ext uri="{BB962C8B-B14F-4D97-AF65-F5344CB8AC3E}">
        <p14:creationId xmlns:p14="http://schemas.microsoft.com/office/powerpoint/2010/main" val="335051882"/>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2026-08-15T15:10:10.2890000Z</dcterms:created>
  <dcterms:modified xsi:type="dcterms:W3CDTF">2026-08-15T15:10:10.2890000Z</dcterms:modified>
</coreProperties>
</file>