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8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840"/>
                </a:solidFill>
                <a:latin typeface="Arial"/>
              </a:rPr>
              <a:t>Conv. % by Zone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2E7D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C333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C333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South-1</c:v>
                  </c:pt>
                  <c:pt idx="1">
                    <c:v>West</c:v>
                  </c:pt>
                  <c:pt idx="2">
                    <c:v>Central</c:v>
                  </c:pt>
                  <c:pt idx="3">
                    <c:v>South-2</c:v>
                  </c:pt>
                  <c:pt idx="4">
                    <c:v>North</c:v>
                  </c:pt>
                  <c:pt idx="5">
                    <c:v>East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86.3</c:v>
                </c:pt>
                <c:pt idx="1">
                  <c:v>85.2</c:v>
                </c:pt>
                <c:pt idx="2">
                  <c:v>80.9</c:v>
                </c:pt>
                <c:pt idx="3">
                  <c:v>72.4</c:v>
                </c:pt>
                <c:pt idx="4">
                  <c:v>61.3</c:v>
                </c:pt>
                <c:pt idx="5">
                  <c:v>49.9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28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8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840"/>
                </a:solidFill>
                <a:latin typeface="Arial"/>
              </a:rPr>
              <a:t>Face Wash — MT MS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Himalaya</c:v>
                  </c:pt>
                  <c:pt idx="1">
                    <c:v>Garnier</c:v>
                  </c:pt>
                  <c:pt idx="2">
                    <c:v>Pond's</c:v>
                  </c:pt>
                  <c:pt idx="3">
                    <c:v>Mamaearth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22.6</c:v>
                </c:pt>
                <c:pt idx="1">
                  <c:v>14.2</c:v>
                </c:pt>
                <c:pt idx="2">
                  <c:v>13.8</c:v>
                </c:pt>
                <c:pt idx="3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28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8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840"/>
                </a:solidFill>
                <a:latin typeface="Arial"/>
              </a:rPr>
              <a:t>Shampoo — MT MS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Dove</c:v>
                  </c:pt>
                  <c:pt idx="1">
                    <c:v>H&amp;S</c:v>
                  </c:pt>
                  <c:pt idx="2">
                    <c:v>Mamaearth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16.6</c:v>
                </c:pt>
                <c:pt idx="1">
                  <c:v>13</c:v>
                </c:pt>
                <c:pt idx="2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28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₹Cr</c:v>
                </c:pt>
              </c:strCache>
            </c:strRef>
          </c:tx>
          <c:spPr>
            <a:solidFill>
              <a:srgbClr val="0D1E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33.38</c:v>
                </c:pt>
                <c:pt idx="1">
                  <c:v>15.19</c:v>
                </c:pt>
                <c:pt idx="2">
                  <c:v>0.41</c:v>
                </c:pt>
                <c:pt idx="3">
                  <c:v>0.18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 ₹Cr</c:v>
                </c:pt>
              </c:strCache>
            </c:strRef>
          </c:tx>
          <c:spPr>
            <a:solidFill>
              <a:srgbClr val="C49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24.49</c:v>
                </c:pt>
                <c:pt idx="1">
                  <c:v>11.03</c:v>
                </c:pt>
                <c:pt idx="2">
                  <c:v>0.48</c:v>
                </c:pt>
                <c:pt idx="3">
                  <c:v>0.06</c:v>
                </c:pt>
                <c:pt idx="4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8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84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₹Cr</c:v>
                </c:pt>
              </c:strCache>
            </c:strRef>
          </c:tx>
          <c:spPr>
            <a:solidFill>
              <a:srgbClr val="0D1E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FSN/Nykaa</c:v>
                  </c:pt>
                  <c:pt idx="4">
                    <c:v>Lulu</c:v>
                  </c:pt>
                  <c:pt idx="5">
                    <c:v>Wellness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</c:v>
                </c:pt>
                <c:pt idx="1">
                  <c:v>15.66</c:v>
                </c:pt>
                <c:pt idx="2">
                  <c:v>7.2</c:v>
                </c:pt>
                <c:pt idx="3">
                  <c:v>2.08</c:v>
                </c:pt>
                <c:pt idx="4">
                  <c:v>0</c:v>
                </c:pt>
                <c:pt idx="5">
                  <c:v>0.49</c:v>
                </c:pt>
                <c:pt idx="6">
                  <c:v>0.22</c:v>
                </c:pt>
                <c:pt idx="7">
                  <c:v>1.84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 ₹Cr</c:v>
                </c:pt>
              </c:strCache>
            </c:strRef>
          </c:tx>
          <c:spPr>
            <a:solidFill>
              <a:srgbClr val="C49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8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FSN/Nykaa</c:v>
                  </c:pt>
                  <c:pt idx="4">
                    <c:v>Lulu</c:v>
                  </c:pt>
                  <c:pt idx="5">
                    <c:v>Wellness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13.97</c:v>
                </c:pt>
                <c:pt idx="1">
                  <c:v>8.06</c:v>
                </c:pt>
                <c:pt idx="2">
                  <c:v>7.18</c:v>
                </c:pt>
                <c:pt idx="3">
                  <c:v>2.07</c:v>
                </c:pt>
                <c:pt idx="4">
                  <c:v>1.7</c:v>
                </c:pt>
                <c:pt idx="5">
                  <c:v>0.72</c:v>
                </c:pt>
                <c:pt idx="6">
                  <c:v>0.51</c:v>
                </c:pt>
                <c:pt idx="7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8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84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840"/>
                </a:solidFill>
                <a:latin typeface="Arial"/>
              </a:rPr>
              <a:t>Mamaearth Category Offtake ₹Cr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ln w="31750" cap="flat">
              <a:solidFill>
                <a:srgbClr val="C49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9A1A"/>
              </a:solidFill>
              <a:ln w="9525" cap="flat">
                <a:solidFill>
                  <a:srgbClr val="C49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0D1E35"/>
            </a:solidFill>
            <a:ln w="31750" cap="flat">
              <a:solidFill>
                <a:srgbClr val="0D1E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1E35"/>
              </a:solidFill>
              <a:ln w="9525" cap="flat">
                <a:solidFill>
                  <a:srgbClr val="0D1E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3A89C9"/>
            </a:solidFill>
            <a:ln w="31750" cap="flat">
              <a:solidFill>
                <a:srgbClr val="3A89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89C9"/>
              </a:solidFill>
              <a:ln w="9525" cap="flat">
                <a:solidFill>
                  <a:srgbClr val="3A89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A284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840"/>
                </a:solidFill>
                <a:latin typeface="Arial"/>
              </a:rPr>
              <a:t>The Derma Co. Category Offtake ₹Cr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C3333"/>
            </a:solidFill>
            <a:ln w="31750" cap="flat">
              <a:solidFill>
                <a:srgbClr val="CC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3333"/>
              </a:solidFill>
              <a:ln w="9525" cap="flat">
                <a:solidFill>
                  <a:srgbClr val="CC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E67E22"/>
            </a:solidFill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3A89C9"/>
            </a:solidFill>
            <a:ln w="31750" cap="flat">
              <a:solidFill>
                <a:srgbClr val="3A89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89C9"/>
              </a:solidFill>
              <a:ln w="9525" cap="flat">
                <a:solidFill>
                  <a:srgbClr val="3A89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A284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MT Performance Review for July 2026 with Q1 FY27 context. This deck covers Modern Trade zones, eB2B (Nykaa/FSN), and SIS channels. Note that June offtake source is absent — Q1 figures are partial (Apr+May only) per Tier 3 governance. All numbers are exact from source files; no estimates or fabricated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FY27 offtake: April delivered ₹33.6 Cr on 19.6 lakh units; May grew to ₹38.11 Cr on 22 lakh units — a strong 13% month-on-month. June source file is absent (Tier 3 pipeline block), so Q1 is only partial. July at ₹33.96 Cr opens Q2. The ASP premiumisation story is the standout: from ₹171.7 in April to ₹179.2 in July, a 4.4% appreciation reflecting portfolio mix shift. Realisation also crept up from 41.6% to 42.2%.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 MT channel overview. MT primary at ₹47.02 Cr, offtake at ₹33.96 Cr — a 72.2% conversion, 13.5 percentage points below the West+South-1 benchmark of 85.7%. The ₹13.06 Cr gap is partly structural and partly recoverable: ₹6.22 Cr sits above the ₹0.25 Cr floor and is actionable. eB2B (Nykaa/FSN) at 93.9% flow is the best-converting channel. SIS is small and net-of-returns. Neither eB2B nor SIS is included in zone figures per the channel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Zone conversion analysis for July. South-1 (86.3%) and West (85.2%) are the only zones at or above the 85.7% benchmark — these are the model zones. Central (80.9%) and South-2 (72.4%) are in the middle. North (61.3%) and East (49.9%) are critical — East is below 50% conversion, meaning more than half its primary has not moved to shelf offtake. North has the largest absolute gap at ₹4.41 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gap analysis. Reliance is the critical account: ₹7.61 Cr gap at 51.5% conversion — 58% of the total MT gap is in one account. Closing Reliance to benchmark would recover roughly ₹5 Cr alone. DMart at ₹4.29 Cr gap is likely a stocking lag. Apollo is the model account at 99.7% conversion — whatever process drives Apollo should be replicated. Lulu shows a consignment/billing lag pattern: zero primary but ₹1.70 Cr offtake, meaning shelf draw without fresh billing. The recoverable gap above the ₹0.25 Cr floor is ₹6.22 Cr — this is the addressable number for the next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from Nielsen RMS. In Face Wash (MT), Mamaearth is ranked #4 at 10.5% behind Himalaya (22.6%), Garnier (14.2%), and Ponds (13.8%). In Shampoo, Mamaearth is at 3.7% against Dove at 16.6% and H&amp;S at 13.0% — a much larger gap to close. July Nielsen cut is pending; Tier 3 badge applied. Opportunity area: shampoo MS is an order of magnitude behind face wash; the gap to Dove alone is 4x our current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P vs O for July. Mamaearth is the volume leader at ₹33.4 Cr primary / ₹24.5 Cr offtake, 73.4% conversion. The Derma Co. at ₹15.2 Cr primary / ₹11.0 Cr offtake, 72.6% conversion — ₹4.16 Cr gap. Aqualogica shows offtake slightly above primary (₹0.48 vs ₹0.41) — a stock draw pattern. BBlunt and Dr. Sheth's are very small volumes. Combined primary ₹49.17 Cr, offtake ₹36.09 Cr — note this includes eB2B/SIS which are in the account data but branded P vs O aggregates all channel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P vs O for July. DMart is the largest primary account at ₹18.25 Cr but offtake at ₹13.97 Cr (76.5%) — stocking lag is likely. Reliance at 51.5% is critical: half the primary stock has not converted to shelf sales. Apollo is the gold standard at 99.7%. FSN/Nykaa at 99.5% — eB2B channel, included here for visibility. Lulu is a structural anomaly: zero primary billing but ₹1.70 Cr offtake, meaning stores are drawing from existing consignment stock. Wellness Forward and H&amp;G both have offtake exceeding primary — consignment or inventory draw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offtake trend analysis Feb–July. Mamaearth: Face Cleanser peaked in May/Jun at ₹9.65 Cr and dipped to ₹8.53 Cr in July — likely a seasonal normalisation after summer peak. Shampoo is the growth story: ₹4.81 to ₹6.95 Cr, up 44.5% in 6 months, showing sustained momentum. Sun Care is in seasonal retreat as expected post-summer. For The Derma Co., the Face Cleanser spike to ₹7.13 Cr in July from ₹4.83 Cr is striking — +47.5% in one month. This warrants investigation: could be a key account listing, a promotional fill, or a channel event. eB2B through Nykaa spiked in April (₹2.29 Cr) then stabilised; active EAN count declining from 222 to 198 suggests portfolio pruning.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7315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 Performance &amp;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Share 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2026  ·  Q1 FY27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— Modern Trade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3291840"/>
            <a:ext cx="3200400" cy="777240"/>
          </a:xfrm>
          <a:prstGeom prst="rect">
            <a:avLst>
              <a:gd name="adj" fmla="val 7059"/>
            </a:avLst>
          </a:prstGeom>
          <a:solidFill>
            <a:srgbClr val="1A3459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33649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MT Zones · eB2B (Nykaa/FSN) · SIS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governance: 3-Tier Pre-Flight Protocol active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4206240"/>
            <a:ext cx="2834640" cy="256032"/>
          </a:xfrm>
          <a:prstGeom prst="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42245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Tier 3 · Jun offtake source file absent — Q1 partial (Apr+May)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0" y="548640"/>
            <a:ext cx="2103120" cy="4114800"/>
          </a:xfrm>
          <a:prstGeom prst="rect">
            <a:avLst>
              <a:gd name="adj" fmla="val 3478"/>
            </a:avLst>
          </a:prstGeom>
          <a:solidFill>
            <a:srgbClr val="1A345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₹33.96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1252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₹47.02 Cr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212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Jul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665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3172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₹13.06 Cr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4133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Primary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FY27 Offtake Snapshot  ·  Apr – Jun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1938528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86968"/>
            <a:ext cx="1938528" cy="320040"/>
          </a:xfrm>
          <a:prstGeom prst="rect">
            <a:avLst>
              <a:gd name="adj" fmla="val 22857"/>
            </a:avLst>
          </a:prstGeom>
          <a:solidFill>
            <a:srgbClr val="0D1E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2354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 '26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710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₹33.60 Cr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 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₹171.7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75234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41.6%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68296" y="886968"/>
            <a:ext cx="1938528" cy="2423160"/>
          </a:xfrm>
          <a:prstGeom prst="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68296" y="886968"/>
            <a:ext cx="1938528" cy="320040"/>
          </a:xfrm>
          <a:prstGeom prst="rect">
            <a:avLst>
              <a:gd name="adj" fmla="val 22857"/>
            </a:avLst>
          </a:prstGeom>
          <a:solidFill>
            <a:srgbClr val="0D1E35"/>
          </a:solidFill>
          <a:ln/>
        </p:spPr>
      </p:sp>
      <p:sp>
        <p:nvSpPr>
          <p:cNvPr id="18" name="Text 16"/>
          <p:cNvSpPr/>
          <p:nvPr/>
        </p:nvSpPr>
        <p:spPr>
          <a:xfrm>
            <a:off x="2414016" y="92354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'26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59736" y="12710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59736" y="14630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₹38.11 Cr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59736" y="17647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59736" y="1956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 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59736" y="22585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59736" y="24505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₹173.5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59736" y="275234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59736" y="29443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16552" y="886968"/>
            <a:ext cx="1938528" cy="2423160"/>
          </a:xfrm>
          <a:prstGeom prst="rect">
            <a:avLst>
              <a:gd name="adj" fmla="val 3774"/>
            </a:avLst>
          </a:prstGeom>
          <a:solidFill>
            <a:srgbClr val="F0E8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16552" y="886968"/>
            <a:ext cx="1938528" cy="320040"/>
          </a:xfrm>
          <a:prstGeom prst="rect">
            <a:avLst>
              <a:gd name="adj" fmla="val 22857"/>
            </a:avLst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92354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'26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7992" y="13898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07992" y="202996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awaiting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offtake feed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64808" y="886968"/>
            <a:ext cx="1938528" cy="2423160"/>
          </a:xfrm>
          <a:prstGeom prst="rect">
            <a:avLst>
              <a:gd name="adj" fmla="val 3774"/>
            </a:avLst>
          </a:prstGeom>
          <a:solidFill>
            <a:srgbClr val="EAF0FB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886968"/>
            <a:ext cx="1938528" cy="320040"/>
          </a:xfrm>
          <a:prstGeom prst="rect">
            <a:avLst>
              <a:gd name="adj" fmla="val 22857"/>
            </a:avLst>
          </a:prstGeom>
          <a:solidFill>
            <a:srgbClr val="3A89C9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528" y="92354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'26 (Q2)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56248" y="127101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556248" y="14630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₹33.96 Cr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56248" y="17647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56248" y="1956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 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56248" y="22585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56248" y="24505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₹179.2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56248" y="275234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556248" y="29443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42.2%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0040" y="3429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Premiumisation: ₹171.7 → ₹173.5 → ₹179.2  (+4.4% Apr–Jul)  ·  Realisation: 41.6% → 42.2%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3749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partial basis: Apr + May only (Jun absent). Jul shown as Q2 reference month.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4041648"/>
            <a:ext cx="3840480" cy="566928"/>
          </a:xfrm>
          <a:prstGeom prst="rect">
            <a:avLst>
              <a:gd name="adj" fmla="val 9677"/>
            </a:avLst>
          </a:prstGeom>
          <a:solidFill>
            <a:srgbClr val="1A3459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" y="41148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Partial (Apr+May): ₹71.71 Cr NSV  ·  40.9 L units  ·  Q1 full unavailable (Jun missing)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'26  ·  MT Channel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20240" cy="1325880"/>
          </a:xfrm>
          <a:prstGeom prst="rect">
            <a:avLst>
              <a:gd name="adj" fmla="val 5517"/>
            </a:avLst>
          </a:prstGeom>
          <a:solidFill>
            <a:srgbClr val="1A3459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02412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₹47.02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" y="1627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(MT)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9019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41448" y="914400"/>
            <a:ext cx="1920240" cy="1325880"/>
          </a:xfrm>
          <a:prstGeom prst="rect">
            <a:avLst>
              <a:gd name="adj" fmla="val 5517"/>
            </a:avLst>
          </a:prstGeom>
          <a:solidFill>
            <a:srgbClr val="1A3459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2412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₹33.96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627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(MT)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19019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62856" y="914400"/>
            <a:ext cx="1920240" cy="1325880"/>
          </a:xfrm>
          <a:prstGeom prst="rect">
            <a:avLst>
              <a:gd name="adj" fmla="val 5517"/>
            </a:avLst>
          </a:prstGeom>
          <a:solidFill>
            <a:srgbClr val="1A3459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02412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36008" y="1627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6008" y="19019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85.7% bmk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84264" y="914400"/>
            <a:ext cx="1920240" cy="1325880"/>
          </a:xfrm>
          <a:prstGeom prst="rect">
            <a:avLst>
              <a:gd name="adj" fmla="val 5517"/>
            </a:avLst>
          </a:prstGeom>
          <a:solidFill>
            <a:srgbClr val="1A3459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102412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₹13.06 Cr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57416" y="1627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Primary–Offtake Gap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57416" y="19019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₹6.22 Cr above floor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3931920" cy="658368"/>
          </a:xfrm>
          <a:prstGeom prst="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(Nykaa/FSN)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₹2.20 Cr  O: ₹2.07 Cr  93.9% flow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2898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channel · not in MT zones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2423160"/>
            <a:ext cx="3931920" cy="658368"/>
          </a:xfrm>
          <a:prstGeom prst="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(Azorte etc.)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81728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–₹0.006 Cr  O: ₹0.034 Cr  Net of MRN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81728" y="2898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channel · not in MT zones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" y="3200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conversion: 85.7% (West + South-1 average)  ·  Recoverable gap above ₹0.25 Cr floor: ₹6.22 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35478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ASP: ₹179.21  ·  Volume: 18.95 L units  ·  Realisation: 42.2%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Conversion Analysis  ·  July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47472" y="12984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Benchmark 85.7%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54880" y="804672"/>
            <a:ext cx="12801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8" name="Text 5"/>
          <p:cNvSpPr/>
          <p:nvPr/>
        </p:nvSpPr>
        <p:spPr>
          <a:xfrm>
            <a:off x="4791456" y="859536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35040" y="804672"/>
            <a:ext cx="804672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0" name="Text 7"/>
          <p:cNvSpPr/>
          <p:nvPr/>
        </p:nvSpPr>
        <p:spPr>
          <a:xfrm>
            <a:off x="6071616" y="8595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839712" y="804672"/>
            <a:ext cx="804672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2" name="Text 9"/>
          <p:cNvSpPr/>
          <p:nvPr/>
        </p:nvSpPr>
        <p:spPr>
          <a:xfrm>
            <a:off x="6876288" y="8595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644384" y="804672"/>
            <a:ext cx="804672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8595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449056" y="804672"/>
            <a:ext cx="804672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6" name="Text 13"/>
          <p:cNvSpPr/>
          <p:nvPr/>
        </p:nvSpPr>
        <p:spPr>
          <a:xfrm>
            <a:off x="8485632" y="85953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1124712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91456" y="121615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112471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71616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39712" y="112471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6288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₹8.18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44384" y="112471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449056" y="112471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5632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545336"/>
            <a:ext cx="1280160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91456" y="16367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5040" y="1545336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71616" y="16367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₹9.71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839712" y="1545336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76288" y="16367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₹8.27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644384" y="1545336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0" y="16367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449056" y="1545336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85632" y="16367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1965960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91456" y="20574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035040" y="1965960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71616" y="2057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₹2.62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839712" y="1965960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76288" y="2057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644384" y="1965960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2057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449056" y="1965960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85632" y="2057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₹0.50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54880" y="2386584"/>
            <a:ext cx="1280160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91456" y="24780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South-2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035040" y="2386584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071616" y="24780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₹6.73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839712" y="2386584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76288" y="24780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₹4.87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644384" y="2386584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80960" y="24780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449056" y="2386584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485632" y="24780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₹1.85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754880" y="2807208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91456" y="289864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035040" y="2807208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71616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₹11.38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839712" y="2807208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76288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₹6.97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644384" y="2807208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80960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8449056" y="2807208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485632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₹4.41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4754880" y="3227832"/>
            <a:ext cx="1280160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791456" y="33192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035040" y="3227832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071616" y="3319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₹7.10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6839712" y="3227832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876288" y="3319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₹3.54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644384" y="3227832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80960" y="3319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8449056" y="3227832"/>
            <a:ext cx="804672" cy="402336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485632" y="3319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₹3.56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320040" y="4160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&amp; West above benchmark · North &amp; East critical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Gap Analysis  ·  July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06040" cy="1508760"/>
          </a:xfrm>
          <a:prstGeom prst="rect">
            <a:avLst>
              <a:gd name="adj" fmla="val 4848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86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 Reliance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₹7.61 Cr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188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Conv: 51.5%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contributor · 58% of total gap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841248"/>
            <a:ext cx="2606040" cy="1508760"/>
          </a:xfrm>
          <a:prstGeom prst="rect">
            <a:avLst>
              <a:gd name="adj" fmla="val 4848"/>
            </a:avLst>
          </a:prstGeom>
          <a:solidFill>
            <a:srgbClr val="FFF8E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86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  DMart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₹4.29 Cr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1728" y="1188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Conv: 76.5%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Stocking lag likely — moderate risk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25896" y="841248"/>
            <a:ext cx="260604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8869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  Metro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17336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₹1.36 Cr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34656" y="1188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Conv: 73.6%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7336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Manageable; monitor replenishment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2487168"/>
            <a:ext cx="2606040" cy="777240"/>
          </a:xfrm>
          <a:prstGeom prst="rect">
            <a:avLst>
              <a:gd name="adj" fmla="val 9412"/>
            </a:avLst>
          </a:prstGeom>
          <a:solidFill>
            <a:srgbClr val="E8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32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Apollo — Star Account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8163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₹7.20 Cr  O: ₹7.18 Cr  Conv: 99.7%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2487168"/>
            <a:ext cx="2606040" cy="777240"/>
          </a:xfrm>
          <a:prstGeom prst="rect">
            <a:avLst>
              <a:gd name="adj" fmla="val 9412"/>
            </a:avLst>
          </a:prstGeom>
          <a:solidFill>
            <a:srgbClr val="EEF4FF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532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⚑ Lulu — Consignment Pattern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8163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₹0  O: ₹1.70 Cr  Billing lag / stock draw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841248"/>
            <a:ext cx="2834640" cy="2423160"/>
          </a:xfrm>
          <a:prstGeom prst="rect">
            <a:avLst>
              <a:gd name="adj" fmla="val 3019"/>
            </a:avLst>
          </a:prstGeom>
          <a:solidFill>
            <a:srgbClr val="0D1E35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12435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85.73%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80760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average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1993392"/>
            <a:ext cx="2377440" cy="45720"/>
          </a:xfrm>
          <a:prstGeom prst="rect">
            <a:avLst/>
          </a:prstGeom>
          <a:solidFill>
            <a:srgbClr val="2A4068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Gap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2350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₹6.22 Cr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80760" y="2724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₹0.25 Cr floor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3401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Accelerate Reliance conversion — closing to 75% recovers ~₹3.7 Cr in July equivalent.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Share  ·  Nielsen RMS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804672"/>
            <a:ext cx="1417320" cy="256032"/>
          </a:xfrm>
          <a:prstGeom prst="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168896" y="82296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Tier 3 · Jun source absent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0" y="1097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MS pending Nielsen cut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804672"/>
          <a:ext cx="3291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657600" y="804672"/>
          <a:ext cx="3291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566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Wash: Mamaearth #4 at 10.5% | Shampoo: Mamaearth at 3.7% vs Dove 16.6% — significant gap in haircare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" y="38587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data: latest available Nielsen RMS cut (Jun or earlier). Jul cut pending — Tier 3 badge applied.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Primary vs Offtake  ·  July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04672"/>
            <a:ext cx="146304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7" name="Text 4"/>
          <p:cNvSpPr/>
          <p:nvPr/>
        </p:nvSpPr>
        <p:spPr>
          <a:xfrm>
            <a:off x="6025896" y="85953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452360" y="804672"/>
            <a:ext cx="8229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9" name="Text 6"/>
          <p:cNvSpPr/>
          <p:nvPr/>
        </p:nvSpPr>
        <p:spPr>
          <a:xfrm>
            <a:off x="7488936" y="85953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275320" y="804672"/>
            <a:ext cx="822960" cy="32004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1" name="Text 8"/>
          <p:cNvSpPr/>
          <p:nvPr/>
        </p:nvSpPr>
        <p:spPr>
          <a:xfrm>
            <a:off x="8311896" y="859536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₹Cr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989320" y="112471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25896" y="12161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Mamaearth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52360" y="112471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88936" y="12161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275320" y="112471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11896" y="12161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₹8.89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89320" y="1536192"/>
            <a:ext cx="146304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25896" y="162763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Derma Co.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52360" y="1536192"/>
            <a:ext cx="82296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88936" y="16276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75320" y="1536192"/>
            <a:ext cx="82296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11896" y="16276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989320" y="194767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25896" y="20391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Aqualogica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52360" y="194767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88936" y="20391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117.1%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275320" y="194767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11896" y="20391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+₹0.07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89320" y="2359152"/>
            <a:ext cx="146304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25896" y="24505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BBlunt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52360" y="2359152"/>
            <a:ext cx="82296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88936" y="24505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275320" y="2359152"/>
            <a:ext cx="822960" cy="393192"/>
          </a:xfrm>
          <a:prstGeom prst="rect">
            <a:avLst/>
          </a:prstGeom>
          <a:solidFill>
            <a:srgbClr val="EF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11896" y="24505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989320" y="2770632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25896" y="28620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Sheth's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452360" y="277063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88936" y="2862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275320" y="2770632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11896" y="2862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+₹0.03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20040" y="4251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₹33.4 Cr primary. Derma Co. at 72.6% conversion — gap ₹4.16 Cr. Aqualogica offtake &gt; primary.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Primary vs Offtake  ·  July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41248"/>
            <a:ext cx="2834640" cy="658368"/>
          </a:xfrm>
          <a:prstGeom prst="rect">
            <a:avLst>
              <a:gd name="adj" fmla="val 8333"/>
            </a:avLst>
          </a:prstGeom>
          <a:solidFill>
            <a:srgbClr val="E8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905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Apollo · 99.7% conv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80760" y="1170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₹7.20 Cr / O ₹7.18 Cr — gold standard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89320" y="1572768"/>
            <a:ext cx="2834640" cy="658368"/>
          </a:xfrm>
          <a:prstGeom prst="rect">
            <a:avLst>
              <a:gd name="adj" fmla="val 8333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636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Reliance · 51.5% conv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8076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₹15.66 Cr / O ₹8.06 Cr — ₹7.6 Cr gap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2304288"/>
            <a:ext cx="2834640" cy="658368"/>
          </a:xfrm>
          <a:prstGeom prst="rect">
            <a:avLst>
              <a:gd name="adj" fmla="val 8333"/>
            </a:avLst>
          </a:prstGeom>
          <a:solidFill>
            <a:srgbClr val="EEF4FF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368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⚑ Lulu · Billing lag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0760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₹0 / O ₹1.70 Cr — consignment draw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3035808"/>
            <a:ext cx="2834640" cy="658368"/>
          </a:xfrm>
          <a:prstGeom prst="rect">
            <a:avLst>
              <a:gd name="adj" fmla="val 8333"/>
            </a:avLst>
          </a:prstGeom>
          <a:solidFill>
            <a:srgbClr val="FFF8E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099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DMart · 76.5% conv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80760" y="33649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₹18.25 Cr / O ₹13.97 Cr — stocking lag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Offtake Trends  ·  Feb – Jul '26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645920" cy="3657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01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04672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804672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663440" y="3639312"/>
            <a:ext cx="4160520" cy="438912"/>
          </a:xfrm>
          <a:prstGeom prst="rect">
            <a:avLst>
              <a:gd name="adj" fmla="val 12500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36592" y="37124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Derma Co. Face Cleanser: Jul ₹7.13 Cr vs Jun ₹4.83 Cr  (+47.5% MoM) — investigate spike driver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3639312"/>
            <a:ext cx="4160520" cy="438912"/>
          </a:xfrm>
          <a:prstGeom prst="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37124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Shampoo growing steadily: ₹4.81 Cr (Feb) → ₹6.95 Cr (Jul)  +44.5% in 6 months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20040" y="416966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(Nykaa): Apr spike ₹2.29 Cr → stable ₹2.07 Cr Jul  ·  Active EANs: Jan 222 → Jul 198 (pruning)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2026-08-19T05:05:37Z</dcterms:created>
  <dcterms:modified xsi:type="dcterms:W3CDTF">2026-08-19T05:05:37Z</dcterms:modified>
</cp:coreProperties>
</file>