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9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0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6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</c:v>
                </c:pt>
              </c:strCache>
            </c:strRef>
          </c:tx>
          <c:spPr>
            <a:solidFill>
              <a:srgbClr val="1B5E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North</c:v>
                  </c:pt>
                  <c:pt idx="1">
                    <c:v>West</c:v>
                  </c:pt>
                  <c:pt idx="2">
                    <c:v>S-1</c:v>
                  </c:pt>
                  <c:pt idx="3">
                    <c:v>S-2</c:v>
                  </c:pt>
                  <c:pt idx="4">
                    <c:v>East</c:v>
                  </c:pt>
                  <c:pt idx="5">
                    <c:v>Central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11.95</c:v>
                </c:pt>
                <c:pt idx="1">
                  <c:v>10.05</c:v>
                </c:pt>
                <c:pt idx="2">
                  <c:v>9.8</c:v>
                </c:pt>
                <c:pt idx="3">
                  <c:v>6.89</c:v>
                </c:pt>
                <c:pt idx="4">
                  <c:v>7.83</c:v>
                </c:pt>
                <c:pt idx="5">
                  <c:v>2.69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Offtake</c:v>
                </c:pt>
              </c:strCache>
            </c:strRef>
          </c:tx>
          <c:spPr>
            <a:solidFill>
              <a:srgbClr val="81C78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North</c:v>
                  </c:pt>
                  <c:pt idx="1">
                    <c:v>West</c:v>
                  </c:pt>
                  <c:pt idx="2">
                    <c:v>S-1</c:v>
                  </c:pt>
                  <c:pt idx="3">
                    <c:v>S-2</c:v>
                  </c:pt>
                  <c:pt idx="4">
                    <c:v>East</c:v>
                  </c:pt>
                  <c:pt idx="5">
                    <c:v>Central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6.99</c:v>
                </c:pt>
                <c:pt idx="1">
                  <c:v>8.28</c:v>
                </c:pt>
                <c:pt idx="2">
                  <c:v>8.19</c:v>
                </c:pt>
                <c:pt idx="3">
                  <c:v>4.91</c:v>
                </c:pt>
                <c:pt idx="4">
                  <c:v>3.55</c:v>
                </c:pt>
                <c:pt idx="5">
                  <c:v>2.12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5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Gap (₹ Cr)</c:v>
                </c:pt>
              </c:strCache>
            </c:strRef>
          </c:tx>
          <c:spPr>
            <a:solidFill>
              <a:srgbClr val="C628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Reliance</c:v>
                  </c:pt>
                  <c:pt idx="1">
                    <c:v>DMart</c:v>
                  </c:pt>
                  <c:pt idx="2">
                    <c:v>Metro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7.61</c:v>
                </c:pt>
                <c:pt idx="1">
                  <c:v>4.29</c:v>
                </c:pt>
                <c:pt idx="2">
                  <c:v>1.36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2E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FFEB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</c:v>
                </c:pt>
              </c:strCache>
            </c:strRef>
          </c:tx>
          <c:spPr>
            <a:solidFill>
              <a:srgbClr val="1B5E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NORTH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11.95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Offtake</c:v>
                </c:pt>
              </c:strCache>
            </c:strRef>
          </c:tx>
          <c:spPr>
            <a:solidFill>
              <a:srgbClr val="81C78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NORTH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6.99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</c:v>
                </c:pt>
              </c:strCache>
            </c:strRef>
          </c:tx>
          <c:spPr>
            <a:solidFill>
              <a:srgbClr val="1B5E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WEST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10.05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Offtake</c:v>
                </c:pt>
              </c:strCache>
            </c:strRef>
          </c:tx>
          <c:spPr>
            <a:solidFill>
              <a:srgbClr val="81C78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WEST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8.28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</c:v>
                </c:pt>
              </c:strCache>
            </c:strRef>
          </c:tx>
          <c:spPr>
            <a:solidFill>
              <a:srgbClr val="1B5E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S-1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9.8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Offtake</c:v>
                </c:pt>
              </c:strCache>
            </c:strRef>
          </c:tx>
          <c:spPr>
            <a:solidFill>
              <a:srgbClr val="81C78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S-1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8.19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</c:v>
                </c:pt>
              </c:strCache>
            </c:strRef>
          </c:tx>
          <c:spPr>
            <a:solidFill>
              <a:srgbClr val="1B5E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S-2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6.89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Offtake</c:v>
                </c:pt>
              </c:strCache>
            </c:strRef>
          </c:tx>
          <c:spPr>
            <a:solidFill>
              <a:srgbClr val="81C78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S-2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4.91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</c:v>
                </c:pt>
              </c:strCache>
            </c:strRef>
          </c:tx>
          <c:spPr>
            <a:solidFill>
              <a:srgbClr val="1B5E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EAST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7.83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Offtake</c:v>
                </c:pt>
              </c:strCache>
            </c:strRef>
          </c:tx>
          <c:spPr>
            <a:solidFill>
              <a:srgbClr val="81C78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EAST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3.55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</c:v>
                </c:pt>
              </c:strCache>
            </c:strRef>
          </c:tx>
          <c:spPr>
            <a:solidFill>
              <a:srgbClr val="1B5E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CENTRAL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2.69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Offtake</c:v>
                </c:pt>
              </c:strCache>
            </c:strRef>
          </c:tx>
          <c:spPr>
            <a:solidFill>
              <a:srgbClr val="81C78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CENTRAL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2.12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 (₹ Cr)</c:v>
                </c:pt>
              </c:strCache>
            </c:strRef>
          </c:tx>
          <c:spPr>
            <a:solidFill>
              <a:srgbClr val="1B5E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DMart</c:v>
                  </c:pt>
                  <c:pt idx="1">
                    <c:v>Reliance</c:v>
                  </c:pt>
                  <c:pt idx="2">
                    <c:v>Apollo</c:v>
                  </c:pt>
                  <c:pt idx="3">
                    <c:v>FSN</c:v>
                  </c:pt>
                  <c:pt idx="4">
                    <c:v>Lulu</c:v>
                  </c:pt>
                  <c:pt idx="5">
                    <c:v>Wellness</c:v>
                  </c:pt>
                  <c:pt idx="6">
                    <c:v>H&amp;G</c:v>
                  </c:pt>
                  <c:pt idx="7">
                    <c:v>Metro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18.25</c:v>
                </c:pt>
                <c:pt idx="1">
                  <c:v>15.66</c:v>
                </c:pt>
                <c:pt idx="2">
                  <c:v>7.2</c:v>
                </c:pt>
                <c:pt idx="3">
                  <c:v>2.08</c:v>
                </c:pt>
                <c:pt idx="4">
                  <c:v>0</c:v>
                </c:pt>
                <c:pt idx="5">
                  <c:v>0.49</c:v>
                </c:pt>
                <c:pt idx="6">
                  <c:v>0.22</c:v>
                </c:pt>
                <c:pt idx="7">
                  <c:v>1.84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Offtake (₹ Cr)</c:v>
                </c:pt>
              </c:strCache>
            </c:strRef>
          </c:tx>
          <c:spPr>
            <a:solidFill>
              <a:srgbClr val="81C78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DMart</c:v>
                  </c:pt>
                  <c:pt idx="1">
                    <c:v>Reliance</c:v>
                  </c:pt>
                  <c:pt idx="2">
                    <c:v>Apollo</c:v>
                  </c:pt>
                  <c:pt idx="3">
                    <c:v>FSN</c:v>
                  </c:pt>
                  <c:pt idx="4">
                    <c:v>Lulu</c:v>
                  </c:pt>
                  <c:pt idx="5">
                    <c:v>Wellness</c:v>
                  </c:pt>
                  <c:pt idx="6">
                    <c:v>H&amp;G</c:v>
                  </c:pt>
                  <c:pt idx="7">
                    <c:v>Metro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13.97</c:v>
                </c:pt>
                <c:pt idx="1">
                  <c:v>8.06</c:v>
                </c:pt>
                <c:pt idx="2">
                  <c:v>7.18</c:v>
                </c:pt>
                <c:pt idx="3">
                  <c:v>2.07</c:v>
                </c:pt>
                <c:pt idx="4">
                  <c:v>1.7</c:v>
                </c:pt>
                <c:pt idx="5">
                  <c:v>0.72</c:v>
                </c:pt>
                <c:pt idx="6">
                  <c:v>0.51</c:v>
                </c:pt>
                <c:pt idx="7">
                  <c:v>0.49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A2E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F5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 (₹ Cr)</c:v>
                </c:pt>
              </c:strCache>
            </c:strRef>
          </c:tx>
          <c:spPr>
            <a:solidFill>
              <a:srgbClr val="1B5E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Mamaearth</c:v>
                  </c:pt>
                  <c:pt idx="1">
                    <c:v>The Derma Co.</c:v>
                  </c:pt>
                  <c:pt idx="2">
                    <c:v>Aqualogica</c:v>
                  </c:pt>
                  <c:pt idx="3">
                    <c:v>BBlunt</c:v>
                  </c:pt>
                  <c:pt idx="4">
                    <c:v>Dr. Sheth's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33.38</c:v>
                </c:pt>
                <c:pt idx="1">
                  <c:v>15.19</c:v>
                </c:pt>
                <c:pt idx="2">
                  <c:v>0.41</c:v>
                </c:pt>
                <c:pt idx="3">
                  <c:v>0.18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Offtake (₹ Cr)</c:v>
                </c:pt>
              </c:strCache>
            </c:strRef>
          </c:tx>
          <c:spPr>
            <a:solidFill>
              <a:srgbClr val="81C78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Mamaearth</c:v>
                  </c:pt>
                  <c:pt idx="1">
                    <c:v>The Derma Co.</c:v>
                  </c:pt>
                  <c:pt idx="2">
                    <c:v>Aqualogica</c:v>
                  </c:pt>
                  <c:pt idx="3">
                    <c:v>BBlunt</c:v>
                  </c:pt>
                  <c:pt idx="4">
                    <c:v>Dr. Sheth's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24.49</c:v>
                </c:pt>
                <c:pt idx="1">
                  <c:v>11.03</c:v>
                </c:pt>
                <c:pt idx="2">
                  <c:v>0.48</c:v>
                </c:pt>
                <c:pt idx="3">
                  <c:v>0.06</c:v>
                </c:pt>
                <c:pt idx="4">
                  <c:v>0.03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A2E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F5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solidFill>
              <a:srgbClr val="1B5E20"/>
            </a:solidFill>
            <a:ln w="25400" cap="flat">
              <a:solidFill>
                <a:srgbClr val="1B5E2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5E20"/>
              </a:solidFill>
              <a:ln w="9525" cap="flat">
                <a:solidFill>
                  <a:srgbClr val="1B5E2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Feb</c:v>
                  </c:pt>
                  <c:pt idx="1">
                    <c:v>Mar</c:v>
                  </c:pt>
                  <c:pt idx="2">
                    <c:v>Apr</c:v>
                  </c:pt>
                  <c:pt idx="3">
                    <c:v>May</c:v>
                  </c:pt>
                  <c:pt idx="4">
                    <c:v>Jun</c:v>
                  </c:pt>
                  <c:pt idx="5">
                    <c:v>Jul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7.03</c:v>
                </c:pt>
                <c:pt idx="1">
                  <c:v>8.17</c:v>
                </c:pt>
                <c:pt idx="2">
                  <c:v>8.55</c:v>
                </c:pt>
                <c:pt idx="3">
                  <c:v>9.63</c:v>
                </c:pt>
                <c:pt idx="4">
                  <c:v>9.65</c:v>
                </c:pt>
                <c:pt idx="5">
                  <c:v>8.53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solidFill>
              <a:srgbClr val="1565C0"/>
            </a:solidFill>
            <a:ln w="25400" cap="flat">
              <a:solidFill>
                <a:srgbClr val="1565C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565C0"/>
              </a:solidFill>
              <a:ln w="9525" cap="flat">
                <a:solidFill>
                  <a:srgbClr val="1565C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Feb</c:v>
                  </c:pt>
                  <c:pt idx="1">
                    <c:v>Mar</c:v>
                  </c:pt>
                  <c:pt idx="2">
                    <c:v>Apr</c:v>
                  </c:pt>
                  <c:pt idx="3">
                    <c:v>May</c:v>
                  </c:pt>
                  <c:pt idx="4">
                    <c:v>Jun</c:v>
                  </c:pt>
                  <c:pt idx="5">
                    <c:v>Jul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4.81</c:v>
                </c:pt>
                <c:pt idx="1">
                  <c:v>5.38</c:v>
                </c:pt>
                <c:pt idx="2">
                  <c:v>6.11</c:v>
                </c:pt>
                <c:pt idx="3">
                  <c:v>6.68</c:v>
                </c:pt>
                <c:pt idx="4">
                  <c:v>6.87</c:v>
                </c:pt>
                <c:pt idx="5">
                  <c:v>6.95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solidFill>
              <a:srgbClr val="E65100"/>
            </a:solidFill>
            <a:ln w="25400" cap="flat">
              <a:solidFill>
                <a:srgbClr val="E651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65100"/>
              </a:solidFill>
              <a:ln w="9525" cap="flat">
                <a:solidFill>
                  <a:srgbClr val="E651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Feb</c:v>
                  </c:pt>
                  <c:pt idx="1">
                    <c:v>Mar</c:v>
                  </c:pt>
                  <c:pt idx="2">
                    <c:v>Apr</c:v>
                  </c:pt>
                  <c:pt idx="3">
                    <c:v>May</c:v>
                  </c:pt>
                  <c:pt idx="4">
                    <c:v>Jun</c:v>
                  </c:pt>
                  <c:pt idx="5">
                    <c:v>Jul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1.55</c:v>
                </c:pt>
                <c:pt idx="1">
                  <c:v>2.73</c:v>
                </c:pt>
                <c:pt idx="2">
                  <c:v>3.1</c:v>
                </c:pt>
                <c:pt idx="3">
                  <c:v>2.95</c:v>
                </c:pt>
                <c:pt idx="4">
                  <c:v>1.99</c:v>
                </c:pt>
                <c:pt idx="5">
                  <c:v>1.3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5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solidFill>
              <a:srgbClr val="1565C0"/>
            </a:solidFill>
            <a:ln w="25400" cap="flat">
              <a:solidFill>
                <a:srgbClr val="1565C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565C0"/>
              </a:solidFill>
              <a:ln w="9525" cap="flat">
                <a:solidFill>
                  <a:srgbClr val="1565C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Feb</c:v>
                  </c:pt>
                  <c:pt idx="1">
                    <c:v>Mar</c:v>
                  </c:pt>
                  <c:pt idx="2">
                    <c:v>Apr</c:v>
                  </c:pt>
                  <c:pt idx="3">
                    <c:v>May</c:v>
                  </c:pt>
                  <c:pt idx="4">
                    <c:v>Jun</c:v>
                  </c:pt>
                  <c:pt idx="5">
                    <c:v>Jul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2.25</c:v>
                </c:pt>
                <c:pt idx="1">
                  <c:v>2.75</c:v>
                </c:pt>
                <c:pt idx="2">
                  <c:v>3.24</c:v>
                </c:pt>
                <c:pt idx="3">
                  <c:v>4.63</c:v>
                </c:pt>
                <c:pt idx="4">
                  <c:v>4.83</c:v>
                </c:pt>
                <c:pt idx="5">
                  <c:v>7.13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solidFill>
              <a:srgbClr val="E65100"/>
            </a:solidFill>
            <a:ln w="25400" cap="flat">
              <a:solidFill>
                <a:srgbClr val="E651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65100"/>
              </a:solidFill>
              <a:ln w="9525" cap="flat">
                <a:solidFill>
                  <a:srgbClr val="E651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Feb</c:v>
                  </c:pt>
                  <c:pt idx="1">
                    <c:v>Mar</c:v>
                  </c:pt>
                  <c:pt idx="2">
                    <c:v>Apr</c:v>
                  </c:pt>
                  <c:pt idx="3">
                    <c:v>May</c:v>
                  </c:pt>
                  <c:pt idx="4">
                    <c:v>Jun</c:v>
                  </c:pt>
                  <c:pt idx="5">
                    <c:v>Jul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1.04</c:v>
                </c:pt>
                <c:pt idx="1">
                  <c:v>1.81</c:v>
                </c:pt>
                <c:pt idx="2">
                  <c:v>2.27</c:v>
                </c:pt>
                <c:pt idx="3">
                  <c:v>3.18</c:v>
                </c:pt>
                <c:pt idx="4">
                  <c:v>2.05</c:v>
                </c:pt>
                <c:pt idx="5">
                  <c:v>1.99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solidFill>
              <a:srgbClr val="6A1B9A"/>
            </a:solidFill>
            <a:ln w="25400" cap="flat">
              <a:solidFill>
                <a:srgbClr val="6A1B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A1B9A"/>
              </a:solidFill>
              <a:ln w="9525" cap="flat">
                <a:solidFill>
                  <a:srgbClr val="6A1B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Feb</c:v>
                  </c:pt>
                  <c:pt idx="1">
                    <c:v>Mar</c:v>
                  </c:pt>
                  <c:pt idx="2">
                    <c:v>Apr</c:v>
                  </c:pt>
                  <c:pt idx="3">
                    <c:v>May</c:v>
                  </c:pt>
                  <c:pt idx="4">
                    <c:v>Jun</c:v>
                  </c:pt>
                  <c:pt idx="5">
                    <c:v>Jul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0.56</c:v>
                </c:pt>
                <c:pt idx="1">
                  <c:v>0.57</c:v>
                </c:pt>
                <c:pt idx="2">
                  <c:v>0.69</c:v>
                </c:pt>
                <c:pt idx="3">
                  <c:v>0.66</c:v>
                </c:pt>
                <c:pt idx="4">
                  <c:v>0.66</c:v>
                </c:pt>
                <c:pt idx="5">
                  <c:v>0.63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F2F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NPI (₹ Lacs)</c:v>
                </c:pt>
              </c:strCache>
            </c:strRef>
          </c:tx>
          <c:spPr>
            <a:solidFill>
              <a:srgbClr val="C628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Reliance</c:v>
                  </c:pt>
                  <c:pt idx="1">
                    <c:v>DMart</c:v>
                  </c:pt>
                  <c:pt idx="2">
                    <c:v>Lulu</c:v>
                  </c:pt>
                  <c:pt idx="3">
                    <c:v>FSN</c:v>
                  </c:pt>
                  <c:pt idx="4">
                    <c:v>H&amp;G</c:v>
                  </c:pt>
                  <c:pt idx="5">
                    <c:v>Metro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130.47</c:v>
                </c:pt>
                <c:pt idx="1">
                  <c:v>97.71</c:v>
                </c:pt>
                <c:pt idx="2">
                  <c:v>18.02</c:v>
                </c:pt>
                <c:pt idx="3">
                  <c:v>12.93</c:v>
                </c:pt>
                <c:pt idx="4">
                  <c:v>5.95</c:v>
                </c:pt>
                <c:pt idx="5">
                  <c:v>5.02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A2E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FFEB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NPI%</c:v>
                </c:pt>
              </c:strCache>
            </c:strRef>
          </c:tx>
          <c:spPr>
            <a:solidFill>
              <a:srgbClr val="E651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East</c:v>
                  </c:pt>
                  <c:pt idx="1">
                    <c:v>Central</c:v>
                  </c:pt>
                  <c:pt idx="2">
                    <c:v>North</c:v>
                  </c:pt>
                  <c:pt idx="3">
                    <c:v>S-1</c:v>
                  </c:pt>
                  <c:pt idx="4">
                    <c:v>West</c:v>
                  </c:pt>
                  <c:pt idx="5">
                    <c:v>S-2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10.23</c:v>
                </c:pt>
                <c:pt idx="1">
                  <c:v>8.54</c:v>
                </c:pt>
                <c:pt idx="2">
                  <c:v>9.24</c:v>
                </c:pt>
                <c:pt idx="3">
                  <c:v>7.88</c:v>
                </c:pt>
                <c:pt idx="4">
                  <c:v>6.58</c:v>
                </c:pt>
                <c:pt idx="5">
                  <c:v>6.37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A2E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FFF3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Offtake (₹ Cr)</c:v>
                </c:pt>
              </c:strCache>
            </c:strRef>
          </c:tx>
          <c:spPr>
            <a:solidFill>
              <a:srgbClr val="1B5E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1.64</c:v>
                </c:pt>
                <c:pt idx="1">
                  <c:v>1.68</c:v>
                </c:pt>
                <c:pt idx="2">
                  <c:v>1.73</c:v>
                </c:pt>
                <c:pt idx="3">
                  <c:v>2.29</c:v>
                </c:pt>
                <c:pt idx="4">
                  <c:v>2.08</c:v>
                </c:pt>
                <c:pt idx="5">
                  <c:v>2.17</c:v>
                </c:pt>
                <c:pt idx="6">
                  <c:v>2.07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EAN Count</c:v>
                </c:pt>
              </c:strCache>
            </c:strRef>
          </c:tx>
          <c:spPr>
            <a:solidFill>
              <a:srgbClr val="C62828"/>
            </a:solidFill>
            <a:ln w="25400" cap="flat">
              <a:solidFill>
                <a:srgbClr val="C6282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62828"/>
              </a:solidFill>
              <a:ln w="9525" cap="flat">
                <a:solidFill>
                  <a:srgbClr val="C6282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222</c:v>
                </c:pt>
                <c:pt idx="1">
                  <c:v>217</c:v>
                </c:pt>
                <c:pt idx="2">
                  <c:v>203</c:v>
                </c:pt>
                <c:pt idx="3">
                  <c:v>196</c:v>
                </c:pt>
                <c:pt idx="4">
                  <c:v>190</c:v>
                </c:pt>
                <c:pt idx="5">
                  <c:v>200</c:v>
                </c:pt>
                <c:pt idx="6">
                  <c:v>198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5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B5E2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</c:scaling>
        <c:delete val="0"/>
        <c:axPos val="r"/>
        <c:majorGridlines>
          <c:spPr>
            <a:ln w="6350" cap="flat">
              <a:solidFill>
                <a:srgbClr val="E8F5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C62828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5C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Sell-Through %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Apollo</c:v>
                  </c:pt>
                  <c:pt idx="1">
                    <c:v>FSN/Nykaa</c:v>
                  </c:pt>
                  <c:pt idx="2">
                    <c:v>S-1 (zone avg)</c:v>
                  </c:pt>
                  <c:pt idx="3">
                    <c:v>West (zone avg)</c:v>
                  </c:pt>
                  <c:pt idx="4">
                    <c:v>MT Average</c:v>
                  </c:pt>
                  <c:pt idx="5">
                    <c:v>DMart</c:v>
                  </c:pt>
                  <c:pt idx="6">
                    <c:v>Reliance</c:v>
                  </c:pt>
                  <c:pt idx="7">
                    <c:v>Metro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99.7</c:v>
                </c:pt>
                <c:pt idx="1">
                  <c:v>99.5</c:v>
                </c:pt>
                <c:pt idx="2">
                  <c:v>83.6</c:v>
                </c:pt>
                <c:pt idx="3">
                  <c:v>82.4</c:v>
                </c:pt>
                <c:pt idx="4">
                  <c:v>73.4</c:v>
                </c:pt>
                <c:pt idx="5">
                  <c:v>76.6</c:v>
                </c:pt>
                <c:pt idx="6">
                  <c:v>51.4</c:v>
                </c:pt>
                <c:pt idx="7">
                  <c:v>26.4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A2E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3F2F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July '26 MT executive review. Offtake ₹36.10 Cr +64.2% YoY.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Strongest July ever — ₹36 Cr out, ₹49 Cr loaded. ₹13 Cr gap needs action now.
PROVE: Reliance ₹7.6 Cr gap. East 45% conversion. Apollo 99.7% — that is the benchmark.
EXPECT: What is the Reliance liquidation plan?
ANSWER: NKAM reviews Aug-25. Trade Marketing provides scheme support. Six-week window before stock 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Strongest July ever — ₹36 Cr out, ₹49 Cr loaded. ₹13 Cr gap must close before Aug-31.
PROVE: Reliance ₹7.61 Cr unsold. East 45% conversion. Apollo 99.7% proves demand exists.
EXPECT: Is this a demand problem or a loading problem?
ANSWER: Loading. Apollo at 99.7% on ₹7.2 Cr proves demand exists where execution is tight.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Two zones benchmark, two are on fire. S-1 and West show what 83% looks like. East at 45% with ₹7.83 Cr loaded is the red flag.
PROVE: East gap ₹4.28 Cr. North gap ₹4.96 Cr. East NPI 10.23%.
EXPECT: What is driving East underperformance?
ANSWER: Listing gaps in smaller towns + no pharmacist activation. RKAM needs a store-by-store plan by Aug-22.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Apollo 99.7% sets the standard. Reliance at 51.4% — half of what was loaded is still in the pipeline.
PROVE: Apollo gap ₹0.02 Cr. Reliance gap ₹7.61 Cr. Metro 26.4%.
EXPECT: Why is Reliance so low?
ANSWER: Paisa Vasool loading drove high primary. Sell-out activation did not follow. NKAM must close the loop by Aug-25.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Two brands, one conversion rate — good discipline. TDC Face Wash at ₹7.13 Cr is the signal of the month.
PROVE: TDC FW up 47.6% MoM. Aqualogica sell-through &gt;100% — stock constrained. BBlunt at 36% — flag for category.
EXPECT: Should we prioritise TDC over Mamaearth in MT?
ANSWER: Not zero-sum — ME volume is 3× TDC. But TDC trajectory demands more primary supply and shelf space.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Shampoo is the resilience story — only ME category still growing through monsoon. Face Cleanser corrected from the Jun peak but stays healthy at ₹8.53 Cr.
PROVE: Shampoo 5 consecutive months of growth. Face Cleanser still #1 at ₹8.53 Cr.
EXPECT: Will Sun Care stay flat through Q2?
ANSWER: Yes — monsoon seasonality. Rebound Oct-Nov. Do not load inventory through Aug.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TDC Face Wash at ₹7.13 Cr — 3× February in 5 months. No other category has this trajectory.
PROVE: Feb ₹2.25 → Jul ₹7.13 = +217% in 5 months. Sun Care holding at ₹1.99 Cr despite monsoon.
EXPECT: How do we sustain Face Wash momentum?
ANSWER: Stock discipline first — 21-day DOI by Aug-10. Then demand amplification in Apollo from Aug-15.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₹270 Lacs of non-performing inventory — this is what happens when primary is loaded without matching sell-out.
PROVE: Reliance ₹130 L alone is half the NPI. East zone 10.23% — highest nationally.
EXPECT: Will this affect Q2 targets?
ANSWER: Yes, unless cleared in Aug. A primary cut in Oct planning starts here. Window is 6 weeks.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Nykaa is a ₹2 Cr/month account — structurally solid. EAN erosion from 222 to 190 is the story to watch.
PROVE: 14.4% fewer SKUs since Jan. Offtake held — per-SKU velocity up. That's fragile concentration.
EXPECT: Is Nykaa a growth account?
ANSWER: Yes — but EAN recovery is needed. Target 210 active EANs by Oct. Diwali shelf negotiations start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Apollo at 99.7% is the answer to "what is possible?" Every chain is measured against this.
PROVE: Reliance 48 points below Apollo. DMart 23 points below. MT avg 26 points below benchmark.
EXPECT: Can we force Reliance to match this?
ANSWER: Apollo playbook — demand-led ordering, pharmacist activation, tight SKU set — can be adapted for Reliance. NKAM must shift the conversation from "how much to load" to "what is the pull-through plan."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Seven actions, three priority levels, one window — Aug-31 for P1s. Reliance and East are non-negotiable.
PROVE: Reliance ₹7.6 Cr gap. East 45%. TDC FW OOS risk — all addressable in 6 weeks.
EXPECT: Who is accountable for Reliance liquidation?
ANSWER: NKAM-Reliance presents a sell-through plan by Aug-25. Trade Marketing provides scheme support. No plan = escalation.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chart" Target="/ppt/charts/chart5.xml"/><Relationship Id="rId4" Type="http://schemas.openxmlformats.org/officeDocument/2006/relationships/chart" Target="/ppt/charts/chart6.xml"/><Relationship Id="rId5" Type="http://schemas.openxmlformats.org/officeDocument/2006/relationships/chart" Target="/ppt/charts/chart7.xml"/><Relationship Id="rId6" Type="http://schemas.openxmlformats.org/officeDocument/2006/relationships/chart" Target="/ppt/charts/chart8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chart" Target="/ppt/charts/chart1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401A"/>
          </a:solidFill>
          <a:ln w="12700">
            <a:solidFill>
              <a:srgbClr val="1440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0D2E12"/>
          </a:solidFill>
          <a:ln w="12700">
            <a:solidFill>
              <a:srgbClr val="0D2E1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92624"/>
            <a:ext cx="12188952" cy="6400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187952"/>
            <a:ext cx="4572000" cy="54864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9144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TRADE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REVIEW — JULY '26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Channel: Modern Trade (MT)  |  Scope: All Chains — Offtake &amp; Primary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 July 2026 vs July 2025 (YoY)  |  Data validated 20-Aug-26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27939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₹36.10 Cr Offtake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669280" y="4343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+64.2% YoY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8640" y="5166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Honasa Consumer Brands  |  MT Analytics  |  20 August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4401A"/>
          </a:solidFill>
          <a:ln w="12700">
            <a:solidFill>
              <a:srgbClr val="1440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12188952" cy="54864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32918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TRADE  |  JULY '26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512064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— JULY '26: 5 THINGS LEADERSHIP MUST KNOW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11640312" cy="5074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F5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042416"/>
            <a:ext cx="347472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042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051560"/>
            <a:ext cx="11064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Offtake ₹36.10 Cr — +64.2% YoY — strongest July on record.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1289304"/>
            <a:ext cx="110642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primary ₹49.16 Cr. Sell-through 73.4%. Three chains (Reliance, DMart, Metro) account for ₹13.25 Cr of pipeline gap. L3M offtake ₹114.66 Cr.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7472" y="1847088"/>
            <a:ext cx="11475720" cy="0"/>
          </a:xfrm>
          <a:prstGeom prst="line">
            <a:avLst/>
          </a:prstGeom>
          <a:noFill/>
          <a:ln w="6350">
            <a:solidFill>
              <a:srgbClr val="E8F5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" y="1901952"/>
            <a:ext cx="347472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1901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1911096"/>
            <a:ext cx="11064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Reliance: ₹15.66 Cr loaded, ₹8.06 Cr sold — 51.4% sell-through. Paisa Vasool risk.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2148840"/>
            <a:ext cx="110642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₹7.61 Cr gap. Loading was scheme-driven; sell-out activation did not follow. NKAM to review store-wise sell-out and initiate liquidation plan by Aug-25.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7472" y="2706624"/>
            <a:ext cx="11475720" cy="0"/>
          </a:xfrm>
          <a:prstGeom prst="line">
            <a:avLst/>
          </a:prstGeom>
          <a:noFill/>
          <a:ln w="6350">
            <a:solidFill>
              <a:srgbClr val="E8F5E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" y="2761488"/>
            <a:ext cx="347472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27614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2770632"/>
            <a:ext cx="11064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benchmarks the channel at 99.7% sell-through — replicable playbook.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" y="3008376"/>
            <a:ext cx="110642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₹7.20 Cr, Offtake ₹7.18 Cr. Demand-led ordering + pharmacist engagement + tight SKU discipline. Chain team to document and adapt for Reliance by Sep-15.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47472" y="3566160"/>
            <a:ext cx="11475720" cy="0"/>
          </a:xfrm>
          <a:prstGeom prst="line">
            <a:avLst/>
          </a:prstGeom>
          <a:noFill/>
          <a:ln w="6350">
            <a:solidFill>
              <a:srgbClr val="E8F5E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" y="3621024"/>
            <a:ext cx="347472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36210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" y="3630168"/>
            <a:ext cx="11064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Face Wash ₹7.13 Cr — +47.6% MoM. New monthly record.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" y="3867912"/>
            <a:ext cx="110642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from ₹2.25 Cr in Feb — +217% in 5 months. Now the fastest-growing MT category. Ensure ≥21-day DOI across all MT chains before Aug-10 to prevent OOS.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7472" y="4425696"/>
            <a:ext cx="11475720" cy="0"/>
          </a:xfrm>
          <a:prstGeom prst="line">
            <a:avLst/>
          </a:prstGeom>
          <a:noFill/>
          <a:ln w="6350">
            <a:solidFill>
              <a:srgbClr val="E8F5E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" y="4480560"/>
            <a:ext cx="347472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4480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7240" y="4489704"/>
            <a:ext cx="11064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Zone 45.3% conversion — ₹4.28 Cr unsold. NPI highest at 10.23%.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7240" y="4727448"/>
            <a:ext cx="110642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₹7.83 Cr, Offtake ₹3.55 Cr. Root cause: listing gaps + no pharmacist activation. RKAM East to table a store-by-store recovery plan by Aug-22.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4401A"/>
          </a:solidFill>
          <a:ln w="12700">
            <a:solidFill>
              <a:srgbClr val="1440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12188952" cy="54864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32918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TRADE  |  JULY '26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512064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PERFORMANCE — JULY '26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978408"/>
            <a:ext cx="2212848" cy="841248"/>
          </a:xfrm>
          <a:prstGeom prst="rect">
            <a:avLst/>
          </a:prstGeom>
          <a:solidFill>
            <a:srgbClr val="EAF3EA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24128"/>
            <a:ext cx="2121408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024128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₹36.10 Cr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0040" y="1435608"/>
            <a:ext cx="21214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OFFTAKE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20040" y="1609344"/>
            <a:ext cx="21214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+64.2% YoY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615184" y="978408"/>
            <a:ext cx="2212848" cy="841248"/>
          </a:xfrm>
          <a:prstGeom prst="rect">
            <a:avLst/>
          </a:prstGeom>
          <a:solidFill>
            <a:srgbClr val="EAF3EA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60904" y="1024128"/>
            <a:ext cx="2121408" cy="384048"/>
          </a:xfrm>
          <a:prstGeom prst="rect">
            <a:avLst/>
          </a:prstGeom>
          <a:solidFill>
            <a:srgbClr val="1B2A1B"/>
          </a:solidFill>
          <a:ln w="12700">
            <a:solidFill>
              <a:srgbClr val="1B2A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60904" y="1024128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₹49.16 Cr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660904" y="1435608"/>
            <a:ext cx="21214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PRIMARY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660904" y="1609344"/>
            <a:ext cx="21214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+58.3% YoY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956048" y="978408"/>
            <a:ext cx="2212848" cy="841248"/>
          </a:xfrm>
          <a:prstGeom prst="rect">
            <a:avLst/>
          </a:prstGeom>
          <a:solidFill>
            <a:srgbClr val="EAF3EA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01768" y="1024128"/>
            <a:ext cx="2121408" cy="38404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01768" y="1024128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73.4%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01768" y="1435608"/>
            <a:ext cx="21214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SELL-THROUGH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5001768" y="1609344"/>
            <a:ext cx="21214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~89% Jun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7296912" y="978408"/>
            <a:ext cx="2212848" cy="841248"/>
          </a:xfrm>
          <a:prstGeom prst="rect">
            <a:avLst/>
          </a:prstGeom>
          <a:solidFill>
            <a:srgbClr val="EAF3EA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42632" y="1024128"/>
            <a:ext cx="2121408" cy="38404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42632" y="1024128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₹13.11 Cr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342632" y="1435608"/>
            <a:ext cx="21214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GAP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7342632" y="1609344"/>
            <a:ext cx="21214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Rel+DM+Metro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9637776" y="978408"/>
            <a:ext cx="2212848" cy="841248"/>
          </a:xfrm>
          <a:prstGeom prst="rect">
            <a:avLst/>
          </a:prstGeom>
          <a:solidFill>
            <a:srgbClr val="EAF3EA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83496" y="1024128"/>
            <a:ext cx="2121408" cy="384048"/>
          </a:xfrm>
          <a:prstGeom prst="rect">
            <a:avLst/>
          </a:prstGeom>
          <a:solidFill>
            <a:srgbClr val="1B2A1B"/>
          </a:solidFill>
          <a:ln w="12700">
            <a:solidFill>
              <a:srgbClr val="1B2A1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83496" y="1024128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₹114.66 Cr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683496" y="1435608"/>
            <a:ext cx="21214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L3M OFFTAKE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9683496" y="1609344"/>
            <a:ext cx="21214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May–Jul 26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274320" y="1938528"/>
            <a:ext cx="566928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" y="1938528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vs OFFTAKE BY ZONE (₹ Cr)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217920" y="1938528"/>
            <a:ext cx="5696712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91072" y="1938528"/>
            <a:ext cx="5605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GAP BY CHAIN (₹ Cr)</a:t>
            </a:r>
            <a:endParaRPr lang="en-US" sz="850" dirty="0"/>
          </a:p>
        </p:txBody>
      </p:sp>
      <p:graphicFrame>
        <p:nvGraphicFramePr>
          <p:cNvPr id="36" name="Chart 0" descr=""/>
          <p:cNvGraphicFramePr/>
          <p:nvPr/>
        </p:nvGraphicFramePr>
        <p:xfrm>
          <a:off x="274320" y="2231136"/>
          <a:ext cx="566928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7" name="Chart 1" descr=""/>
          <p:cNvGraphicFramePr/>
          <p:nvPr/>
        </p:nvGraphicFramePr>
        <p:xfrm>
          <a:off x="6217920" y="2231136"/>
          <a:ext cx="5696712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8" name="Shape 34"/>
          <p:cNvSpPr/>
          <p:nvPr/>
        </p:nvSpPr>
        <p:spPr>
          <a:xfrm>
            <a:off x="274320" y="5760720"/>
            <a:ext cx="11640312" cy="804672"/>
          </a:xfrm>
          <a:prstGeom prst="rect">
            <a:avLst/>
          </a:prstGeom>
          <a:solidFill>
            <a:srgbClr val="F0F7F0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274320" y="5760720"/>
            <a:ext cx="164592" cy="80467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502920" y="577900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700" dirty="0"/>
          </a:p>
        </p:txBody>
      </p:sp>
      <p:sp>
        <p:nvSpPr>
          <p:cNvPr id="41" name="Text 37"/>
          <p:cNvSpPr/>
          <p:nvPr/>
        </p:nvSpPr>
        <p:spPr>
          <a:xfrm>
            <a:off x="502920" y="5961888"/>
            <a:ext cx="113385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'26 MT offtake ₹36.10 Cr (+64.2% YoY) is the strongest July on record. However 26.6% of primary remains unsold — concentrated in Reliance (₹7.61 Cr), DMart (₹4.29 Cr), and Metro (₹1.36 Cr). Sell-through must reach ≥85% by Aug-31 to protect Q2 FY27 primary planning.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4401A"/>
          </a:solidFill>
          <a:ln w="12700">
            <a:solidFill>
              <a:srgbClr val="1440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12188952" cy="54864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32918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TRADE  |  JULY '26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512064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PERFORMANCE — PRIMARY vs OFFTAKE &amp; CONVERSION (JULY '26)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3749040" cy="2194560"/>
          </a:xfrm>
          <a:prstGeom prst="rect">
            <a:avLst/>
          </a:prstGeom>
          <a:solidFill>
            <a:srgbClr val="F9FBF9"/>
          </a:solidFill>
          <a:ln w="6350">
            <a:solidFill>
              <a:srgbClr val="D0E8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987552"/>
            <a:ext cx="374904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9875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307592"/>
            <a:ext cx="868680" cy="685800"/>
          </a:xfrm>
          <a:prstGeom prst="rect">
            <a:avLst/>
          </a:prstGeom>
          <a:solidFill>
            <a:srgbClr val="1B2A1B"/>
          </a:solidFill>
          <a:ln w="12700">
            <a:solidFill>
              <a:srgbClr val="1B2A1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30759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₹11.95 Cr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" y="1709928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0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1234440" y="1307592"/>
            <a:ext cx="868680" cy="6858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4440" y="130759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₹6.99 Cr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34440" y="1709928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0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2148840" y="1307592"/>
            <a:ext cx="868680" cy="6858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48840" y="130759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58.5%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48840" y="1709928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0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%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3063240" y="1307592"/>
            <a:ext cx="868680" cy="6858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63240" y="130759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9.24%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063240" y="1709928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0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%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347472" y="206654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₹4.96 Cr  |  Unsold inventory risk</a:t>
            </a:r>
            <a:endParaRPr lang="en-US" sz="8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347472" y="2286000"/>
          <a:ext cx="3566160" cy="777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Shape 21"/>
          <p:cNvSpPr/>
          <p:nvPr/>
        </p:nvSpPr>
        <p:spPr>
          <a:xfrm>
            <a:off x="4242816" y="987552"/>
            <a:ext cx="3749040" cy="2194560"/>
          </a:xfrm>
          <a:prstGeom prst="rect">
            <a:avLst/>
          </a:prstGeom>
          <a:solidFill>
            <a:srgbClr val="F9FBF9"/>
          </a:solidFill>
          <a:ln w="6350">
            <a:solidFill>
              <a:srgbClr val="D0E8D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242816" y="987552"/>
            <a:ext cx="374904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315968" y="9875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288536" y="1307592"/>
            <a:ext cx="868680" cy="685800"/>
          </a:xfrm>
          <a:prstGeom prst="rect">
            <a:avLst/>
          </a:prstGeom>
          <a:solidFill>
            <a:srgbClr val="1B2A1B"/>
          </a:solidFill>
          <a:ln w="12700">
            <a:solidFill>
              <a:srgbClr val="1B2A1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288536" y="130759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₹10.05 Cr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288536" y="1709928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0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50" dirty="0"/>
          </a:p>
        </p:txBody>
      </p:sp>
      <p:sp>
        <p:nvSpPr>
          <p:cNvPr id="30" name="Shape 27"/>
          <p:cNvSpPr/>
          <p:nvPr/>
        </p:nvSpPr>
        <p:spPr>
          <a:xfrm>
            <a:off x="5202936" y="1307592"/>
            <a:ext cx="868680" cy="6858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202936" y="130759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₹8.28 Cr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202936" y="1709928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0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50" dirty="0"/>
          </a:p>
        </p:txBody>
      </p:sp>
      <p:sp>
        <p:nvSpPr>
          <p:cNvPr id="33" name="Shape 30"/>
          <p:cNvSpPr/>
          <p:nvPr/>
        </p:nvSpPr>
        <p:spPr>
          <a:xfrm>
            <a:off x="6117336" y="1307592"/>
            <a:ext cx="868680" cy="6858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117336" y="130759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82.4%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6117336" y="1709928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0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%</a:t>
            </a:r>
            <a:endParaRPr lang="en-US" sz="650" dirty="0"/>
          </a:p>
        </p:txBody>
      </p:sp>
      <p:sp>
        <p:nvSpPr>
          <p:cNvPr id="36" name="Shape 33"/>
          <p:cNvSpPr/>
          <p:nvPr/>
        </p:nvSpPr>
        <p:spPr>
          <a:xfrm>
            <a:off x="7031736" y="1307592"/>
            <a:ext cx="868680" cy="6858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031736" y="130759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6.58%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7031736" y="1709928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0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%</a:t>
            </a:r>
            <a:endParaRPr lang="en-US" sz="650" dirty="0"/>
          </a:p>
        </p:txBody>
      </p:sp>
      <p:sp>
        <p:nvSpPr>
          <p:cNvPr id="39" name="Text 36"/>
          <p:cNvSpPr/>
          <p:nvPr/>
        </p:nvSpPr>
        <p:spPr>
          <a:xfrm>
            <a:off x="4315968" y="206654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₹1.77 Cr  |  Unsold inventory risk</a:t>
            </a:r>
            <a:endParaRPr lang="en-US" sz="800" dirty="0"/>
          </a:p>
        </p:txBody>
      </p:sp>
      <p:graphicFrame>
        <p:nvGraphicFramePr>
          <p:cNvPr id="40" name="Chart 1" descr=""/>
          <p:cNvGraphicFramePr/>
          <p:nvPr/>
        </p:nvGraphicFramePr>
        <p:xfrm>
          <a:off x="4315968" y="2286000"/>
          <a:ext cx="3566160" cy="777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1" name="Shape 37"/>
          <p:cNvSpPr/>
          <p:nvPr/>
        </p:nvSpPr>
        <p:spPr>
          <a:xfrm>
            <a:off x="8211312" y="987552"/>
            <a:ext cx="3749040" cy="2194560"/>
          </a:xfrm>
          <a:prstGeom prst="rect">
            <a:avLst/>
          </a:prstGeom>
          <a:solidFill>
            <a:srgbClr val="F9FBF9"/>
          </a:solidFill>
          <a:ln w="6350">
            <a:solidFill>
              <a:srgbClr val="D0E8D0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8211312" y="987552"/>
            <a:ext cx="374904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8284464" y="9875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</a:t>
            </a:r>
            <a:endParaRPr lang="en-US" sz="900" dirty="0"/>
          </a:p>
        </p:txBody>
      </p:sp>
      <p:sp>
        <p:nvSpPr>
          <p:cNvPr id="44" name="Shape 40"/>
          <p:cNvSpPr/>
          <p:nvPr/>
        </p:nvSpPr>
        <p:spPr>
          <a:xfrm>
            <a:off x="8257032" y="1307592"/>
            <a:ext cx="868680" cy="685800"/>
          </a:xfrm>
          <a:prstGeom prst="rect">
            <a:avLst/>
          </a:prstGeom>
          <a:solidFill>
            <a:srgbClr val="1B2A1B"/>
          </a:solidFill>
          <a:ln w="12700">
            <a:solidFill>
              <a:srgbClr val="1B2A1B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8257032" y="130759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₹9.80 Cr</a:t>
            </a:r>
            <a:endParaRPr lang="en-US" sz="1000" dirty="0"/>
          </a:p>
        </p:txBody>
      </p:sp>
      <p:sp>
        <p:nvSpPr>
          <p:cNvPr id="46" name="Text 42"/>
          <p:cNvSpPr/>
          <p:nvPr/>
        </p:nvSpPr>
        <p:spPr>
          <a:xfrm>
            <a:off x="8257032" y="1709928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0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50" dirty="0"/>
          </a:p>
        </p:txBody>
      </p:sp>
      <p:sp>
        <p:nvSpPr>
          <p:cNvPr id="47" name="Shape 43"/>
          <p:cNvSpPr/>
          <p:nvPr/>
        </p:nvSpPr>
        <p:spPr>
          <a:xfrm>
            <a:off x="9171432" y="1307592"/>
            <a:ext cx="868680" cy="6858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9171432" y="130759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₹8.19 Cr</a:t>
            </a:r>
            <a:endParaRPr lang="en-US" sz="1000" dirty="0"/>
          </a:p>
        </p:txBody>
      </p:sp>
      <p:sp>
        <p:nvSpPr>
          <p:cNvPr id="49" name="Text 45"/>
          <p:cNvSpPr/>
          <p:nvPr/>
        </p:nvSpPr>
        <p:spPr>
          <a:xfrm>
            <a:off x="9171432" y="1709928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0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50" dirty="0"/>
          </a:p>
        </p:txBody>
      </p:sp>
      <p:sp>
        <p:nvSpPr>
          <p:cNvPr id="50" name="Shape 46"/>
          <p:cNvSpPr/>
          <p:nvPr/>
        </p:nvSpPr>
        <p:spPr>
          <a:xfrm>
            <a:off x="10085832" y="1307592"/>
            <a:ext cx="868680" cy="6858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10085832" y="130759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83.6%</a:t>
            </a:r>
            <a:endParaRPr lang="en-US" sz="1000" dirty="0"/>
          </a:p>
        </p:txBody>
      </p:sp>
      <p:sp>
        <p:nvSpPr>
          <p:cNvPr id="52" name="Text 48"/>
          <p:cNvSpPr/>
          <p:nvPr/>
        </p:nvSpPr>
        <p:spPr>
          <a:xfrm>
            <a:off x="10085832" y="1709928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0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%</a:t>
            </a:r>
            <a:endParaRPr lang="en-US" sz="650" dirty="0"/>
          </a:p>
        </p:txBody>
      </p:sp>
      <p:sp>
        <p:nvSpPr>
          <p:cNvPr id="53" name="Shape 49"/>
          <p:cNvSpPr/>
          <p:nvPr/>
        </p:nvSpPr>
        <p:spPr>
          <a:xfrm>
            <a:off x="11000232" y="1307592"/>
            <a:ext cx="868680" cy="6858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11000232" y="130759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7.88%</a:t>
            </a:r>
            <a:endParaRPr lang="en-US" sz="1000" dirty="0"/>
          </a:p>
        </p:txBody>
      </p:sp>
      <p:sp>
        <p:nvSpPr>
          <p:cNvPr id="55" name="Text 51"/>
          <p:cNvSpPr/>
          <p:nvPr/>
        </p:nvSpPr>
        <p:spPr>
          <a:xfrm>
            <a:off x="11000232" y="1709928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0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%</a:t>
            </a:r>
            <a:endParaRPr lang="en-US" sz="650" dirty="0"/>
          </a:p>
        </p:txBody>
      </p:sp>
      <p:sp>
        <p:nvSpPr>
          <p:cNvPr id="56" name="Text 52"/>
          <p:cNvSpPr/>
          <p:nvPr/>
        </p:nvSpPr>
        <p:spPr>
          <a:xfrm>
            <a:off x="8284464" y="206654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₹1.61 Cr  |  Unsold inventory risk</a:t>
            </a:r>
            <a:endParaRPr lang="en-US" sz="800" dirty="0"/>
          </a:p>
        </p:txBody>
      </p:sp>
      <p:graphicFrame>
        <p:nvGraphicFramePr>
          <p:cNvPr id="57" name="Chart 2" descr=""/>
          <p:cNvGraphicFramePr/>
          <p:nvPr/>
        </p:nvGraphicFramePr>
        <p:xfrm>
          <a:off x="8284464" y="2286000"/>
          <a:ext cx="3566160" cy="777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8" name="Shape 53"/>
          <p:cNvSpPr/>
          <p:nvPr/>
        </p:nvSpPr>
        <p:spPr>
          <a:xfrm>
            <a:off x="274320" y="3319272"/>
            <a:ext cx="3749040" cy="2194560"/>
          </a:xfrm>
          <a:prstGeom prst="rect">
            <a:avLst/>
          </a:prstGeom>
          <a:solidFill>
            <a:srgbClr val="F9FBF9"/>
          </a:solidFill>
          <a:ln w="6350">
            <a:solidFill>
              <a:srgbClr val="D0E8D0"/>
            </a:solidFill>
            <a:prstDash val="solid"/>
          </a:ln>
        </p:spPr>
      </p:sp>
      <p:sp>
        <p:nvSpPr>
          <p:cNvPr id="59" name="Shape 54"/>
          <p:cNvSpPr/>
          <p:nvPr/>
        </p:nvSpPr>
        <p:spPr>
          <a:xfrm>
            <a:off x="274320" y="3319272"/>
            <a:ext cx="374904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0" name="Text 55"/>
          <p:cNvSpPr/>
          <p:nvPr/>
        </p:nvSpPr>
        <p:spPr>
          <a:xfrm>
            <a:off x="347472" y="33192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S-2</a:t>
            </a:r>
            <a:endParaRPr lang="en-US" sz="900" dirty="0"/>
          </a:p>
        </p:txBody>
      </p:sp>
      <p:sp>
        <p:nvSpPr>
          <p:cNvPr id="61" name="Shape 56"/>
          <p:cNvSpPr/>
          <p:nvPr/>
        </p:nvSpPr>
        <p:spPr>
          <a:xfrm>
            <a:off x="320040" y="3639312"/>
            <a:ext cx="868680" cy="685800"/>
          </a:xfrm>
          <a:prstGeom prst="rect">
            <a:avLst/>
          </a:prstGeom>
          <a:solidFill>
            <a:srgbClr val="1B2A1B"/>
          </a:solidFill>
          <a:ln w="12700">
            <a:solidFill>
              <a:srgbClr val="1B2A1B"/>
            </a:solidFill>
            <a:prstDash val="solid"/>
          </a:ln>
        </p:spPr>
      </p:sp>
      <p:sp>
        <p:nvSpPr>
          <p:cNvPr id="62" name="Text 57"/>
          <p:cNvSpPr/>
          <p:nvPr/>
        </p:nvSpPr>
        <p:spPr>
          <a:xfrm>
            <a:off x="320040" y="363931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₹6.89 Cr</a:t>
            </a:r>
            <a:endParaRPr lang="en-US" sz="1000" dirty="0"/>
          </a:p>
        </p:txBody>
      </p:sp>
      <p:sp>
        <p:nvSpPr>
          <p:cNvPr id="63" name="Text 58"/>
          <p:cNvSpPr/>
          <p:nvPr/>
        </p:nvSpPr>
        <p:spPr>
          <a:xfrm>
            <a:off x="320040" y="4041648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0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50" dirty="0"/>
          </a:p>
        </p:txBody>
      </p:sp>
      <p:sp>
        <p:nvSpPr>
          <p:cNvPr id="64" name="Shape 59"/>
          <p:cNvSpPr/>
          <p:nvPr/>
        </p:nvSpPr>
        <p:spPr>
          <a:xfrm>
            <a:off x="1234440" y="3639312"/>
            <a:ext cx="868680" cy="6858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5" name="Text 60"/>
          <p:cNvSpPr/>
          <p:nvPr/>
        </p:nvSpPr>
        <p:spPr>
          <a:xfrm>
            <a:off x="1234440" y="363931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₹4.91 Cr</a:t>
            </a:r>
            <a:endParaRPr lang="en-US" sz="1000" dirty="0"/>
          </a:p>
        </p:txBody>
      </p:sp>
      <p:sp>
        <p:nvSpPr>
          <p:cNvPr id="66" name="Text 61"/>
          <p:cNvSpPr/>
          <p:nvPr/>
        </p:nvSpPr>
        <p:spPr>
          <a:xfrm>
            <a:off x="1234440" y="4041648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0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50" dirty="0"/>
          </a:p>
        </p:txBody>
      </p:sp>
      <p:sp>
        <p:nvSpPr>
          <p:cNvPr id="67" name="Shape 62"/>
          <p:cNvSpPr/>
          <p:nvPr/>
        </p:nvSpPr>
        <p:spPr>
          <a:xfrm>
            <a:off x="2148840" y="3639312"/>
            <a:ext cx="868680" cy="6858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8" name="Text 63"/>
          <p:cNvSpPr/>
          <p:nvPr/>
        </p:nvSpPr>
        <p:spPr>
          <a:xfrm>
            <a:off x="2148840" y="363931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71.3%</a:t>
            </a:r>
            <a:endParaRPr lang="en-US" sz="1000" dirty="0"/>
          </a:p>
        </p:txBody>
      </p:sp>
      <p:sp>
        <p:nvSpPr>
          <p:cNvPr id="69" name="Text 64"/>
          <p:cNvSpPr/>
          <p:nvPr/>
        </p:nvSpPr>
        <p:spPr>
          <a:xfrm>
            <a:off x="2148840" y="4041648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0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%</a:t>
            </a:r>
            <a:endParaRPr lang="en-US" sz="650" dirty="0"/>
          </a:p>
        </p:txBody>
      </p:sp>
      <p:sp>
        <p:nvSpPr>
          <p:cNvPr id="70" name="Shape 65"/>
          <p:cNvSpPr/>
          <p:nvPr/>
        </p:nvSpPr>
        <p:spPr>
          <a:xfrm>
            <a:off x="3063240" y="3639312"/>
            <a:ext cx="868680" cy="6858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71" name="Text 66"/>
          <p:cNvSpPr/>
          <p:nvPr/>
        </p:nvSpPr>
        <p:spPr>
          <a:xfrm>
            <a:off x="3063240" y="363931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6.37%</a:t>
            </a:r>
            <a:endParaRPr lang="en-US" sz="1000" dirty="0"/>
          </a:p>
        </p:txBody>
      </p:sp>
      <p:sp>
        <p:nvSpPr>
          <p:cNvPr id="72" name="Text 67"/>
          <p:cNvSpPr/>
          <p:nvPr/>
        </p:nvSpPr>
        <p:spPr>
          <a:xfrm>
            <a:off x="3063240" y="4041648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0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%</a:t>
            </a:r>
            <a:endParaRPr lang="en-US" sz="650" dirty="0"/>
          </a:p>
        </p:txBody>
      </p:sp>
      <p:sp>
        <p:nvSpPr>
          <p:cNvPr id="73" name="Text 68"/>
          <p:cNvSpPr/>
          <p:nvPr/>
        </p:nvSpPr>
        <p:spPr>
          <a:xfrm>
            <a:off x="347472" y="439826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₹1.98 Cr  |  Unsold inventory risk</a:t>
            </a:r>
            <a:endParaRPr lang="en-US" sz="800" dirty="0"/>
          </a:p>
        </p:txBody>
      </p:sp>
      <p:graphicFrame>
        <p:nvGraphicFramePr>
          <p:cNvPr id="74" name="Chart 3" descr=""/>
          <p:cNvGraphicFramePr/>
          <p:nvPr/>
        </p:nvGraphicFramePr>
        <p:xfrm>
          <a:off x="347472" y="4617720"/>
          <a:ext cx="3566160" cy="777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75" name="Shape 69"/>
          <p:cNvSpPr/>
          <p:nvPr/>
        </p:nvSpPr>
        <p:spPr>
          <a:xfrm>
            <a:off x="4242816" y="3319272"/>
            <a:ext cx="3749040" cy="2194560"/>
          </a:xfrm>
          <a:prstGeom prst="rect">
            <a:avLst/>
          </a:prstGeom>
          <a:solidFill>
            <a:srgbClr val="F9FBF9"/>
          </a:solidFill>
          <a:ln w="6350">
            <a:solidFill>
              <a:srgbClr val="D0E8D0"/>
            </a:solidFill>
            <a:prstDash val="solid"/>
          </a:ln>
        </p:spPr>
      </p:sp>
      <p:sp>
        <p:nvSpPr>
          <p:cNvPr id="76" name="Shape 70"/>
          <p:cNvSpPr/>
          <p:nvPr/>
        </p:nvSpPr>
        <p:spPr>
          <a:xfrm>
            <a:off x="4242816" y="3319272"/>
            <a:ext cx="374904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7" name="Text 71"/>
          <p:cNvSpPr/>
          <p:nvPr/>
        </p:nvSpPr>
        <p:spPr>
          <a:xfrm>
            <a:off x="4315968" y="33192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900" dirty="0"/>
          </a:p>
        </p:txBody>
      </p:sp>
      <p:sp>
        <p:nvSpPr>
          <p:cNvPr id="78" name="Shape 72"/>
          <p:cNvSpPr/>
          <p:nvPr/>
        </p:nvSpPr>
        <p:spPr>
          <a:xfrm>
            <a:off x="4288536" y="3639312"/>
            <a:ext cx="868680" cy="685800"/>
          </a:xfrm>
          <a:prstGeom prst="rect">
            <a:avLst/>
          </a:prstGeom>
          <a:solidFill>
            <a:srgbClr val="1B2A1B"/>
          </a:solidFill>
          <a:ln w="12700">
            <a:solidFill>
              <a:srgbClr val="1B2A1B"/>
            </a:solidFill>
            <a:prstDash val="solid"/>
          </a:ln>
        </p:spPr>
      </p:sp>
      <p:sp>
        <p:nvSpPr>
          <p:cNvPr id="79" name="Text 73"/>
          <p:cNvSpPr/>
          <p:nvPr/>
        </p:nvSpPr>
        <p:spPr>
          <a:xfrm>
            <a:off x="4288536" y="363931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₹7.83 Cr</a:t>
            </a:r>
            <a:endParaRPr lang="en-US" sz="1000" dirty="0"/>
          </a:p>
        </p:txBody>
      </p:sp>
      <p:sp>
        <p:nvSpPr>
          <p:cNvPr id="80" name="Text 74"/>
          <p:cNvSpPr/>
          <p:nvPr/>
        </p:nvSpPr>
        <p:spPr>
          <a:xfrm>
            <a:off x="4288536" y="4041648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0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50" dirty="0"/>
          </a:p>
        </p:txBody>
      </p:sp>
      <p:sp>
        <p:nvSpPr>
          <p:cNvPr id="81" name="Shape 75"/>
          <p:cNvSpPr/>
          <p:nvPr/>
        </p:nvSpPr>
        <p:spPr>
          <a:xfrm>
            <a:off x="5202936" y="3639312"/>
            <a:ext cx="868680" cy="6858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2" name="Text 76"/>
          <p:cNvSpPr/>
          <p:nvPr/>
        </p:nvSpPr>
        <p:spPr>
          <a:xfrm>
            <a:off x="5202936" y="363931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₹3.55 Cr</a:t>
            </a:r>
            <a:endParaRPr lang="en-US" sz="1000" dirty="0"/>
          </a:p>
        </p:txBody>
      </p:sp>
      <p:sp>
        <p:nvSpPr>
          <p:cNvPr id="83" name="Text 77"/>
          <p:cNvSpPr/>
          <p:nvPr/>
        </p:nvSpPr>
        <p:spPr>
          <a:xfrm>
            <a:off x="5202936" y="4041648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0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50" dirty="0"/>
          </a:p>
        </p:txBody>
      </p:sp>
      <p:sp>
        <p:nvSpPr>
          <p:cNvPr id="84" name="Shape 78"/>
          <p:cNvSpPr/>
          <p:nvPr/>
        </p:nvSpPr>
        <p:spPr>
          <a:xfrm>
            <a:off x="6117336" y="3639312"/>
            <a:ext cx="868680" cy="6858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5" name="Text 79"/>
          <p:cNvSpPr/>
          <p:nvPr/>
        </p:nvSpPr>
        <p:spPr>
          <a:xfrm>
            <a:off x="6117336" y="363931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45.3%</a:t>
            </a:r>
            <a:endParaRPr lang="en-US" sz="1000" dirty="0"/>
          </a:p>
        </p:txBody>
      </p:sp>
      <p:sp>
        <p:nvSpPr>
          <p:cNvPr id="86" name="Text 80"/>
          <p:cNvSpPr/>
          <p:nvPr/>
        </p:nvSpPr>
        <p:spPr>
          <a:xfrm>
            <a:off x="6117336" y="4041648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0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%</a:t>
            </a:r>
            <a:endParaRPr lang="en-US" sz="650" dirty="0"/>
          </a:p>
        </p:txBody>
      </p:sp>
      <p:sp>
        <p:nvSpPr>
          <p:cNvPr id="87" name="Shape 81"/>
          <p:cNvSpPr/>
          <p:nvPr/>
        </p:nvSpPr>
        <p:spPr>
          <a:xfrm>
            <a:off x="7031736" y="3639312"/>
            <a:ext cx="868680" cy="6858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8" name="Text 82"/>
          <p:cNvSpPr/>
          <p:nvPr/>
        </p:nvSpPr>
        <p:spPr>
          <a:xfrm>
            <a:off x="7031736" y="363931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10.23%</a:t>
            </a:r>
            <a:endParaRPr lang="en-US" sz="1000" dirty="0"/>
          </a:p>
        </p:txBody>
      </p:sp>
      <p:sp>
        <p:nvSpPr>
          <p:cNvPr id="89" name="Text 83"/>
          <p:cNvSpPr/>
          <p:nvPr/>
        </p:nvSpPr>
        <p:spPr>
          <a:xfrm>
            <a:off x="7031736" y="4041648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0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%</a:t>
            </a:r>
            <a:endParaRPr lang="en-US" sz="650" dirty="0"/>
          </a:p>
        </p:txBody>
      </p:sp>
      <p:sp>
        <p:nvSpPr>
          <p:cNvPr id="90" name="Text 84"/>
          <p:cNvSpPr/>
          <p:nvPr/>
        </p:nvSpPr>
        <p:spPr>
          <a:xfrm>
            <a:off x="4315968" y="439826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₹4.28 Cr  |  Unsold inventory risk</a:t>
            </a:r>
            <a:endParaRPr lang="en-US" sz="800" dirty="0"/>
          </a:p>
        </p:txBody>
      </p:sp>
      <p:graphicFrame>
        <p:nvGraphicFramePr>
          <p:cNvPr id="91" name="Chart 4" descr=""/>
          <p:cNvGraphicFramePr/>
          <p:nvPr/>
        </p:nvGraphicFramePr>
        <p:xfrm>
          <a:off x="4315968" y="4617720"/>
          <a:ext cx="3566160" cy="777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92" name="Shape 85"/>
          <p:cNvSpPr/>
          <p:nvPr/>
        </p:nvSpPr>
        <p:spPr>
          <a:xfrm>
            <a:off x="8211312" y="3319272"/>
            <a:ext cx="3749040" cy="2194560"/>
          </a:xfrm>
          <a:prstGeom prst="rect">
            <a:avLst/>
          </a:prstGeom>
          <a:solidFill>
            <a:srgbClr val="F9FBF9"/>
          </a:solidFill>
          <a:ln w="6350">
            <a:solidFill>
              <a:srgbClr val="D0E8D0"/>
            </a:solidFill>
            <a:prstDash val="solid"/>
          </a:ln>
        </p:spPr>
      </p:sp>
      <p:sp>
        <p:nvSpPr>
          <p:cNvPr id="93" name="Shape 86"/>
          <p:cNvSpPr/>
          <p:nvPr/>
        </p:nvSpPr>
        <p:spPr>
          <a:xfrm>
            <a:off x="8211312" y="3319272"/>
            <a:ext cx="374904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4" name="Text 87"/>
          <p:cNvSpPr/>
          <p:nvPr/>
        </p:nvSpPr>
        <p:spPr>
          <a:xfrm>
            <a:off x="8284464" y="33192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900" dirty="0"/>
          </a:p>
        </p:txBody>
      </p:sp>
      <p:sp>
        <p:nvSpPr>
          <p:cNvPr id="95" name="Shape 88"/>
          <p:cNvSpPr/>
          <p:nvPr/>
        </p:nvSpPr>
        <p:spPr>
          <a:xfrm>
            <a:off x="8257032" y="3639312"/>
            <a:ext cx="868680" cy="685800"/>
          </a:xfrm>
          <a:prstGeom prst="rect">
            <a:avLst/>
          </a:prstGeom>
          <a:solidFill>
            <a:srgbClr val="1B2A1B"/>
          </a:solidFill>
          <a:ln w="12700">
            <a:solidFill>
              <a:srgbClr val="1B2A1B"/>
            </a:solidFill>
            <a:prstDash val="solid"/>
          </a:ln>
        </p:spPr>
      </p:sp>
      <p:sp>
        <p:nvSpPr>
          <p:cNvPr id="96" name="Text 89"/>
          <p:cNvSpPr/>
          <p:nvPr/>
        </p:nvSpPr>
        <p:spPr>
          <a:xfrm>
            <a:off x="8257032" y="363931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₹2.69 Cr</a:t>
            </a:r>
            <a:endParaRPr lang="en-US" sz="1000" dirty="0"/>
          </a:p>
        </p:txBody>
      </p:sp>
      <p:sp>
        <p:nvSpPr>
          <p:cNvPr id="97" name="Text 90"/>
          <p:cNvSpPr/>
          <p:nvPr/>
        </p:nvSpPr>
        <p:spPr>
          <a:xfrm>
            <a:off x="8257032" y="4041648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0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50" dirty="0"/>
          </a:p>
        </p:txBody>
      </p:sp>
      <p:sp>
        <p:nvSpPr>
          <p:cNvPr id="98" name="Shape 91"/>
          <p:cNvSpPr/>
          <p:nvPr/>
        </p:nvSpPr>
        <p:spPr>
          <a:xfrm>
            <a:off x="9171432" y="3639312"/>
            <a:ext cx="868680" cy="6858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9" name="Text 92"/>
          <p:cNvSpPr/>
          <p:nvPr/>
        </p:nvSpPr>
        <p:spPr>
          <a:xfrm>
            <a:off x="9171432" y="363931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₹2.12 Cr</a:t>
            </a:r>
            <a:endParaRPr lang="en-US" sz="1000" dirty="0"/>
          </a:p>
        </p:txBody>
      </p:sp>
      <p:sp>
        <p:nvSpPr>
          <p:cNvPr id="100" name="Text 93"/>
          <p:cNvSpPr/>
          <p:nvPr/>
        </p:nvSpPr>
        <p:spPr>
          <a:xfrm>
            <a:off x="9171432" y="4041648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0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50" dirty="0"/>
          </a:p>
        </p:txBody>
      </p:sp>
      <p:sp>
        <p:nvSpPr>
          <p:cNvPr id="101" name="Shape 94"/>
          <p:cNvSpPr/>
          <p:nvPr/>
        </p:nvSpPr>
        <p:spPr>
          <a:xfrm>
            <a:off x="10085832" y="3639312"/>
            <a:ext cx="868680" cy="6858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2" name="Text 95"/>
          <p:cNvSpPr/>
          <p:nvPr/>
        </p:nvSpPr>
        <p:spPr>
          <a:xfrm>
            <a:off x="10085832" y="363931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78.8%</a:t>
            </a:r>
            <a:endParaRPr lang="en-US" sz="1000" dirty="0"/>
          </a:p>
        </p:txBody>
      </p:sp>
      <p:sp>
        <p:nvSpPr>
          <p:cNvPr id="103" name="Text 96"/>
          <p:cNvSpPr/>
          <p:nvPr/>
        </p:nvSpPr>
        <p:spPr>
          <a:xfrm>
            <a:off x="10085832" y="4041648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0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%</a:t>
            </a:r>
            <a:endParaRPr lang="en-US" sz="650" dirty="0"/>
          </a:p>
        </p:txBody>
      </p:sp>
      <p:sp>
        <p:nvSpPr>
          <p:cNvPr id="104" name="Shape 97"/>
          <p:cNvSpPr/>
          <p:nvPr/>
        </p:nvSpPr>
        <p:spPr>
          <a:xfrm>
            <a:off x="11000232" y="3639312"/>
            <a:ext cx="868680" cy="6858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5" name="Text 98"/>
          <p:cNvSpPr/>
          <p:nvPr/>
        </p:nvSpPr>
        <p:spPr>
          <a:xfrm>
            <a:off x="11000232" y="363931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8.54%</a:t>
            </a:r>
            <a:endParaRPr lang="en-US" sz="1000" dirty="0"/>
          </a:p>
        </p:txBody>
      </p:sp>
      <p:sp>
        <p:nvSpPr>
          <p:cNvPr id="106" name="Text 99"/>
          <p:cNvSpPr/>
          <p:nvPr/>
        </p:nvSpPr>
        <p:spPr>
          <a:xfrm>
            <a:off x="11000232" y="4041648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0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%</a:t>
            </a:r>
            <a:endParaRPr lang="en-US" sz="650" dirty="0"/>
          </a:p>
        </p:txBody>
      </p:sp>
      <p:sp>
        <p:nvSpPr>
          <p:cNvPr id="107" name="Text 100"/>
          <p:cNvSpPr/>
          <p:nvPr/>
        </p:nvSpPr>
        <p:spPr>
          <a:xfrm>
            <a:off x="8284464" y="439826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₹0.57 Cr  |  Unsold inventory risk</a:t>
            </a:r>
            <a:endParaRPr lang="en-US" sz="800" dirty="0"/>
          </a:p>
        </p:txBody>
      </p:sp>
      <p:graphicFrame>
        <p:nvGraphicFramePr>
          <p:cNvPr id="108" name="Chart 5" descr=""/>
          <p:cNvGraphicFramePr/>
          <p:nvPr/>
        </p:nvGraphicFramePr>
        <p:xfrm>
          <a:off x="8284464" y="4617720"/>
          <a:ext cx="3566160" cy="777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09" name="Shape 101"/>
          <p:cNvSpPr/>
          <p:nvPr/>
        </p:nvSpPr>
        <p:spPr>
          <a:xfrm>
            <a:off x="274320" y="5760720"/>
            <a:ext cx="11640312" cy="804672"/>
          </a:xfrm>
          <a:prstGeom prst="rect">
            <a:avLst/>
          </a:prstGeom>
          <a:solidFill>
            <a:srgbClr val="F0F7F0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10" name="Shape 102"/>
          <p:cNvSpPr/>
          <p:nvPr/>
        </p:nvSpPr>
        <p:spPr>
          <a:xfrm>
            <a:off x="274320" y="5760720"/>
            <a:ext cx="164592" cy="80467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11" name="Text 103"/>
          <p:cNvSpPr/>
          <p:nvPr/>
        </p:nvSpPr>
        <p:spPr>
          <a:xfrm>
            <a:off x="502920" y="577900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700" dirty="0"/>
          </a:p>
        </p:txBody>
      </p:sp>
      <p:sp>
        <p:nvSpPr>
          <p:cNvPr id="112" name="Text 104"/>
          <p:cNvSpPr/>
          <p:nvPr/>
        </p:nvSpPr>
        <p:spPr>
          <a:xfrm>
            <a:off x="502920" y="5961888"/>
            <a:ext cx="113385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 (83.6%) and West (82.4%) are the execution benchmark. East (45.3%) and North (58.5%) are critical — over ₹11 Cr sitting unsold across two zones. East NPI 10.23% is the highest in MT. RKAM East + North to present recovery plans by Aug-22.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4401A"/>
          </a:solidFill>
          <a:ln w="12700">
            <a:solidFill>
              <a:srgbClr val="1440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12188952" cy="54864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32918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TRADE  |  JULY '26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512064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PERFORMANCE — PRIMARY vs OFFTAKE (JULY '26)</a:t>
            </a:r>
            <a:endParaRPr lang="en-US" sz="15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987552"/>
          <a:ext cx="71323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589520" y="987552"/>
            <a:ext cx="4325112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62672" y="987552"/>
            <a:ext cx="4233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SELL-THROUGH SUMMARY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280160"/>
          <a:ext cx="4325112" cy="3017520"/>
        </p:xfrm>
        <a:graphic>
          <a:graphicData uri="http://schemas.openxmlformats.org/drawingml/2006/table">
            <a:tbl>
              <a:tblPr/>
              <a:tblGrid>
                <a:gridCol w="1081278"/>
                <a:gridCol w="1081278"/>
                <a:gridCol w="1081278"/>
                <a:gridCol w="1081278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Offtake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DMart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₹18.25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₹13.97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₹15.66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₹8.06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Apollo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₹7.20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₹7.18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FSN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₹2.08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₹2.07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Lulu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₹1.70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Wellness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₹0.49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₹0.72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H&amp;G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₹0.22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₹0.51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₹1.84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₹0.49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7589520" y="4434840"/>
            <a:ext cx="4325112" cy="1234440"/>
          </a:xfrm>
          <a:prstGeom prst="rect">
            <a:avLst/>
          </a:prstGeom>
          <a:solidFill>
            <a:srgbClr val="FFEBEE"/>
          </a:solidFill>
          <a:ln w="6350">
            <a:solidFill>
              <a:srgbClr val="C6282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680960" y="448056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ALERT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7680960" y="4700016"/>
            <a:ext cx="411480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₹7.61 Cr primary loaded; only ₹8.06 Cr sold out. 51.4% sell-through vs Apollo at 99.7%. Risk of returns and primary cut in Aug planning if unsold stock is not liquidated before Aug-31.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274320" y="5760720"/>
            <a:ext cx="11640312" cy="804672"/>
          </a:xfrm>
          <a:prstGeom prst="rect">
            <a:avLst/>
          </a:prstGeom>
          <a:solidFill>
            <a:srgbClr val="F0F7F0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74320" y="5760720"/>
            <a:ext cx="164592" cy="80467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02920" y="577900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502920" y="5961888"/>
            <a:ext cx="113385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(99.7%) and FSN/Nykaa (99.5%) prove near-perfect sell-through is achievable. Reliance (51.4%) and Metro (26.4%) are the outliers. DMart at ₹18.25 Cr primary is the largest chain — closing ₹4.3 Cr gap requires targeted in-store activation and sell-out monitoring before Aug-31.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4401A"/>
          </a:solidFill>
          <a:ln w="12700">
            <a:solidFill>
              <a:srgbClr val="1440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12188952" cy="54864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32918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TRADE  |  JULY '26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512064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PERFORMANCE — PRIMARY vs OFFTAKE (JULY '26)</a:t>
            </a:r>
            <a:endParaRPr lang="en-US" sz="15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987552"/>
          <a:ext cx="59436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400800" y="987552"/>
            <a:ext cx="5513832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73952" y="987552"/>
            <a:ext cx="5422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INSIGHTS — JULY '26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400800" y="1298448"/>
            <a:ext cx="82296" cy="10515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47104" y="1335024"/>
            <a:ext cx="52669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547104" y="1572768"/>
            <a:ext cx="5266944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₹33.38 Cr primary | ₹24.49 Cr offtake | 73.4% conversion. Largest MT brand. Face Cleanser ₹8.53 Cr and Shampoo ₹6.95 Cr carry the volume. Sun Care ₹1.30 Cr — seasonal decline (monsoon), expect rebound Oct.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400800" y="2487168"/>
            <a:ext cx="82296" cy="10515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47104" y="2523744"/>
            <a:ext cx="52669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547104" y="2761488"/>
            <a:ext cx="5266944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₹15.19 Cr primary | ₹11.03 Cr offtake | 72.6% conversion. Face Wash ₹7.13 Cr — new monthly record, +47.6% MoM. Fastest-growing MT category in portfolio. Ensure ≥21-day DOI for FW SKUs across all chains by Aug-10.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400800" y="3675888"/>
            <a:ext cx="82296" cy="105156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47104" y="3712464"/>
            <a:ext cx="52669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AQUALOGICA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547104" y="3950208"/>
            <a:ext cx="5266944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₹0.41 Cr primary | ₹0.48 Cr offtake. Sell-through &gt;100% — drawing from pipeline stock. Demand outpacing supply for key SKUs. Check DOI and raise next primary order.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400800" y="4864608"/>
            <a:ext cx="82296" cy="1051560"/>
          </a:xfrm>
          <a:prstGeom prst="rect">
            <a:avLst/>
          </a:prstGeom>
          <a:solidFill>
            <a:srgbClr val="D84315"/>
          </a:solidFill>
          <a:ln w="12700">
            <a:solidFill>
              <a:srgbClr val="D8431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47104" y="4901184"/>
            <a:ext cx="52669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843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BBLUNT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547104" y="5138928"/>
            <a:ext cx="5266944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₹0.18 Cr primary | ₹0.06 Cr offtake | 36.1% conversion. Hair-care loading not translating to sell-out in MT. Category team to review SKU relevance and recommend rationalisation before next QBR.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274320" y="5760720"/>
            <a:ext cx="11640312" cy="804672"/>
          </a:xfrm>
          <a:prstGeom prst="rect">
            <a:avLst/>
          </a:prstGeom>
          <a:solidFill>
            <a:srgbClr val="F0F7F0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74320" y="5760720"/>
            <a:ext cx="164592" cy="80467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577900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502920" y="5961888"/>
            <a:ext cx="113385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(73.4%) and TDC (72.6%) mirror channel sell-through — pipeline discipline is consistent. TDC acceleration is the standout: Face Wash ₹7.13 Cr is a new record and signals capacity build in FW supply. BBlunt 36% — category team to review MT SKU relevance.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4401A"/>
          </a:solidFill>
          <a:ln w="12700">
            <a:solidFill>
              <a:srgbClr val="1440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12188952" cy="54864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32918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TRADE  |  JULY '26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512064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CATEGORY OFFTAKE TRENDS (FEB–JUL '26)</a:t>
            </a:r>
            <a:endParaRPr lang="en-US" sz="15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987552"/>
          <a:ext cx="749808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955280" y="987552"/>
            <a:ext cx="3959352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28432" y="987552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CALLOUTS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955280" y="1325880"/>
            <a:ext cx="3959352" cy="1463040"/>
          </a:xfrm>
          <a:prstGeom prst="rect">
            <a:avLst/>
          </a:prstGeom>
          <a:solidFill>
            <a:srgbClr val="F9FBF9"/>
          </a:solidFill>
          <a:ln w="6350">
            <a:solidFill>
              <a:srgbClr val="D0E8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46720" y="1380744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046720" y="161848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₹8.53 Cr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9738360" y="1673352"/>
            <a:ext cx="2057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-11.6% MoM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046720" y="1965960"/>
            <a:ext cx="374904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Post-peak correction after Jun ₹9.65 Cr high. Monsoon seasonality expected. YTD trajectory strong — up from ₹7.03 Cr in Feb. Category team to monitor Jul stock vs Aug offtake.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7955280" y="2926080"/>
            <a:ext cx="3959352" cy="1463040"/>
          </a:xfrm>
          <a:prstGeom prst="rect">
            <a:avLst/>
          </a:prstGeom>
          <a:solidFill>
            <a:srgbClr val="F9FBF9"/>
          </a:solidFill>
          <a:ln w="6350">
            <a:solidFill>
              <a:srgbClr val="D0E8D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46720" y="2980944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8046720" y="321868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₹6.95 Cr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9738360" y="3273552"/>
            <a:ext cx="2057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+1.2% MoM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046720" y="3566160"/>
            <a:ext cx="374904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5-month ascent — now #2 category. Growth resilience through monsoon is noteworthy. Volume sustained by S-1 and West activation. Target ₹8 Cr by Sep.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7955280" y="4526280"/>
            <a:ext cx="3959352" cy="1463040"/>
          </a:xfrm>
          <a:prstGeom prst="rect">
            <a:avLst/>
          </a:prstGeom>
          <a:solidFill>
            <a:srgbClr val="F9FBF9"/>
          </a:solidFill>
          <a:ln w="6350">
            <a:solidFill>
              <a:srgbClr val="D0E8D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46720" y="4581144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8046720" y="481888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₹1.30 Cr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9738360" y="4873752"/>
            <a:ext cx="2057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-34.7% MoM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046720" y="5166360"/>
            <a:ext cx="374904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monsoon decline expected — peaked Apr at ₹3.10 Cr. Category will recover Oct-Nov with winter-UV demand. Do not over-primary through Aug; avoid ageing stock risk.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4401A"/>
          </a:solidFill>
          <a:ln w="12700">
            <a:solidFill>
              <a:srgbClr val="1440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12188952" cy="54864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32918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TRADE  |  JULY '26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512064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CATEGORY OFFTAKE TRENDS (FEB–JUL '26)</a:t>
            </a:r>
            <a:endParaRPr lang="en-US" sz="15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987552"/>
          <a:ext cx="749808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955280" y="987552"/>
            <a:ext cx="3959352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28432" y="987552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CALLOUTS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955280" y="1325880"/>
            <a:ext cx="3959352" cy="1463040"/>
          </a:xfrm>
          <a:prstGeom prst="rect">
            <a:avLst/>
          </a:prstGeom>
          <a:solidFill>
            <a:srgbClr val="F0F7FF"/>
          </a:solidFill>
          <a:ln w="6350">
            <a:solidFill>
              <a:srgbClr val="B0C4D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46720" y="138074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 (FW)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046720" y="161848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₹7.13 Cr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9738360" y="1673352"/>
            <a:ext cx="2057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+47.6% MoM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046720" y="1965960"/>
            <a:ext cx="374904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Breakthrough month — new all-time record. Up from ₹2.25 Cr in Feb (+217% in 5 months). Fastest-growing MT category in portfolio. Ensure ≥21-day DOI across all MT chains before Aug-10.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7955280" y="2926080"/>
            <a:ext cx="3959352" cy="1463040"/>
          </a:xfrm>
          <a:prstGeom prst="rect">
            <a:avLst/>
          </a:prstGeom>
          <a:solidFill>
            <a:srgbClr val="F0F7FF"/>
          </a:solidFill>
          <a:ln w="6350">
            <a:solidFill>
              <a:srgbClr val="B0C4D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46720" y="298094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8046720" y="321868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₹1.99 Cr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9738360" y="3273552"/>
            <a:ext cx="2057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-3.0% MoM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046720" y="3566160"/>
            <a:ext cx="374904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well despite monsoon — Jun was ₹3.18 Cr peak. Mild Jul-Aug correction expected. Do not over-primary — risk of ageing stock if loaded ahead of Oct rebound.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7955280" y="4526280"/>
            <a:ext cx="3959352" cy="1463040"/>
          </a:xfrm>
          <a:prstGeom prst="rect">
            <a:avLst/>
          </a:prstGeom>
          <a:solidFill>
            <a:srgbClr val="F0F7FF"/>
          </a:solidFill>
          <a:ln w="6350">
            <a:solidFill>
              <a:srgbClr val="B0C4D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46720" y="458114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8046720" y="481888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₹0.63 Cr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9738360" y="4873752"/>
            <a:ext cx="2057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-4.5% MoM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046720" y="5166360"/>
            <a:ext cx="374904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Flat-to-mildly declining trend. Serum penetration in MT is low vs pharmacy. Consider serum sampling in Apollo/Wellness to seed demand before Diwali push.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274320" y="5760720"/>
            <a:ext cx="11640312" cy="804672"/>
          </a:xfrm>
          <a:prstGeom prst="rect">
            <a:avLst/>
          </a:prstGeom>
          <a:solidFill>
            <a:srgbClr val="F0F7F0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74320" y="5760720"/>
            <a:ext cx="164592" cy="80467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2920" y="577900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502920" y="5961888"/>
            <a:ext cx="113385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Face Wash ₹7.13 Cr is the most important number this month — 3× its Feb base in 5 months. +47.6% MoM acceleration through monsoon signals structural demand, not seasonality. Immediate action: secure 21-day DOI on FW SKUs and pilot pharmacist sampling in Apollo from Aug-15.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4401A"/>
          </a:solidFill>
          <a:ln w="12700">
            <a:solidFill>
              <a:srgbClr val="1440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12188952" cy="54864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32918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TRADE  |  JULY '26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512064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NON-PERFORMING INVENTORY (NPI) — JULY '26 ALERT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978408"/>
            <a:ext cx="11640312" cy="502920"/>
          </a:xfrm>
          <a:prstGeom prst="rect">
            <a:avLst/>
          </a:prstGeom>
          <a:solidFill>
            <a:srgbClr val="FFEBEE"/>
          </a:solidFill>
          <a:ln w="6350">
            <a:solidFill>
              <a:srgbClr val="C6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78408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TOTAL ≈ ₹270 Lacs  |  Highest zone: East 10.23%  |  Top chains: Reliance ₹130.47 L + DMart ₹97.71 L = 84% of chain NPI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554480"/>
            <a:ext cx="530352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55448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BY CHAIN (₹ Lacs)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52160" y="1554480"/>
            <a:ext cx="5696712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25312" y="1554480"/>
            <a:ext cx="5605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NPI% BY ZONE</a:t>
            </a:r>
            <a:endParaRPr lang="en-US" sz="8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274320" y="1847088"/>
          <a:ext cx="530352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4" name="Chart 1" descr=""/>
          <p:cNvGraphicFramePr/>
          <p:nvPr/>
        </p:nvGraphicFramePr>
        <p:xfrm>
          <a:off x="5852160" y="1847088"/>
          <a:ext cx="5696712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Shape 11"/>
          <p:cNvSpPr/>
          <p:nvPr/>
        </p:nvSpPr>
        <p:spPr>
          <a:xfrm>
            <a:off x="274320" y="5760720"/>
            <a:ext cx="11640312" cy="804672"/>
          </a:xfrm>
          <a:prstGeom prst="rect">
            <a:avLst/>
          </a:prstGeom>
          <a:solidFill>
            <a:srgbClr val="F0F7F0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74320" y="5760720"/>
            <a:ext cx="164592" cy="80467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02920" y="577900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700" dirty="0"/>
          </a:p>
        </p:txBody>
      </p:sp>
      <p:sp>
        <p:nvSpPr>
          <p:cNvPr id="18" name="Text 14"/>
          <p:cNvSpPr/>
          <p:nvPr/>
        </p:nvSpPr>
        <p:spPr>
          <a:xfrm>
            <a:off x="502920" y="5961888"/>
            <a:ext cx="113385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₹270 Lacs of non-performing inventory is the forward risk. Reliance (₹130 L) and DMart (₹98 L) together = ₹228 L. If not cleared by Sep, primary will be cut in Oct planning. NKAM + Supply to initiate liquidation drives — scheme support, store activations — before Aug-31. Six-week window.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4401A"/>
          </a:solidFill>
          <a:ln w="12700">
            <a:solidFill>
              <a:srgbClr val="1440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12188952" cy="54864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32918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TRADE  |  JULY '26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512064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 / NYKAA — OFFTAKE TREND &amp; ASSORTMENT HEALTH (JAN–JUL '26)</a:t>
            </a:r>
            <a:endParaRPr lang="en-US" sz="15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987552"/>
          <a:ext cx="685800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315200" y="987552"/>
            <a:ext cx="4599432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88352" y="987552"/>
            <a:ext cx="4507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NYKAA DEEP DIVE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315200" y="1325880"/>
            <a:ext cx="4599432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88352" y="1325880"/>
            <a:ext cx="4507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TREND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7315200" y="1609344"/>
            <a:ext cx="4599432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spike to ₹2.29 Cr was Nykaa sale-event driven. Jun-Jul settling at ₹2.07–2.17 Cr — structural base is firm. YoY comparison turns strongly positive from Q3 FY27.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7315200" y="2514600"/>
            <a:ext cx="4599432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88352" y="2514600"/>
            <a:ext cx="4507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EAN COUNT — CONCERN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7315200" y="2798064"/>
            <a:ext cx="4599432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EANs dropped from 222 (Jan) to 190 (May) — 14.4% reduction. Partial recovery to 198 in Jul. Delisted SKUs driving the contraction. NKAM to audit returns and reinstate top EANs.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7315200" y="3703320"/>
            <a:ext cx="4599432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88352" y="3703320"/>
            <a:ext cx="4507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SKU CONCENTRATION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7315200" y="3986784"/>
            <a:ext cx="4599432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EANs at higher per-SKU velocity is healthy short-term but leaves the chain exposed. Single-SKU OOS or delisting could materially impact monthly offtake.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315200" y="4892040"/>
            <a:ext cx="4599432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88352" y="4892040"/>
            <a:ext cx="4507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— DIWALI PREP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7315200" y="5175504"/>
            <a:ext cx="4599432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Recover 10+ EANs lost since Jan. (2) Ensure 30-day DOI on top-10 EANs. (3) Negotiate shelf-space expansion before Oct-15 Diwali window. Owner: NKAM-FSN.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4401A"/>
          </a:solidFill>
          <a:ln w="12700">
            <a:solidFill>
              <a:srgbClr val="1440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12188952" cy="54864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32918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TRADE  |  JULY '26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512064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PHARMACY — THE 99.7% BENCHMARK: WHAT GOOD LOOKS LIKE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4114800" cy="512064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7899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755648"/>
            <a:ext cx="3657600" cy="59436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755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₹7.20 Cr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" y="2139696"/>
            <a:ext cx="3657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Loaded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02920" y="2560320"/>
            <a:ext cx="3657600" cy="59436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560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₹7.18 Cr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2920" y="2944368"/>
            <a:ext cx="3657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Sold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02920" y="3364992"/>
            <a:ext cx="3657600" cy="59436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3649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02920" y="3749040"/>
            <a:ext cx="3657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Sell-Through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02920" y="4169664"/>
            <a:ext cx="3657600" cy="59436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16966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₹0.02 Cr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02920" y="4553712"/>
            <a:ext cx="3657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Gap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65760" y="501091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APOLLO WORKS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5248656"/>
            <a:ext cx="393192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Demand-led primary orders → no loading pressure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Pharmacist engagement drives throughput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SKU discipline — zero deadwood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field team accountability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53712" y="987552"/>
            <a:ext cx="736092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26864" y="987552"/>
            <a:ext cx="7269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SELL-THROUGH % — ALL CHAINS vs APOLLO BENCHMARK</a:t>
            </a:r>
            <a:endParaRPr lang="en-US" sz="85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4553712" y="1280160"/>
          <a:ext cx="7360920" cy="482803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4401A"/>
          </a:solidFill>
          <a:ln w="12700">
            <a:solidFill>
              <a:srgbClr val="1440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12188952" cy="54864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32918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TRADE  |  JULY '26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512064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'26 ACTION PLAN — OWNERS, DATES &amp; ACCOUNTABILITY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87552"/>
          <a:ext cx="11640312" cy="5303520"/>
        </p:xfrm>
        <a:graphic>
          <a:graphicData uri="http://schemas.openxmlformats.org/drawingml/2006/table">
            <a:tbl>
              <a:tblPr/>
              <a:tblGrid>
                <a:gridCol w="384048"/>
                <a:gridCol w="3017520"/>
                <a:gridCol w="4206240"/>
                <a:gridCol w="2286000"/>
                <a:gridCol w="914400"/>
              </a:tblGrid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0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01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Reliance pipeline gap — ₹7.61 Cr unsold (51.4%)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NKAM to review Reliance store-wise sell-out; activate liquidation scheme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NKAM-Reliance + Trade Mktg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25-Aug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East Zone — 45.3% conversion, NPI 10.23%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RKAM East to submit store-by-store recovery plan; target 70%+ by Sep-30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RKAM East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22-Aug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TDC Face Wash — OOS risk at ₹7.13 Cr velocity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Ensure ≥21-day DOI across all MT chains for FW SKUs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Supply + Category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10-Aug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Metro sell-through 26.4% — ₹1.36 Cr gap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NKAM to audit Metro listing; agree monthly sell-out target with chain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NKAM-Metro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31-Aug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FSN/Nykaa EAN count 198 vs 222 (Jan)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 10+ EANs; secure 30-day DOI on top-10; negotiate Diwali shelf space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NKAM-FSN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15-Oct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Apollo 99.7% playbook — replicate across Reliance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 team to document Apollo best practices and adapt for Reliance format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+ NKAM-Reliance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15-Sep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BBlunt MT relevance — 36% sell-through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to review BBlunt SKU-set for MT; recommend rationalisation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Team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30-Sep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2026-08-20T09:51:50Z</dcterms:created>
  <dcterms:modified xsi:type="dcterms:W3CDTF">2026-08-20T09:51:50Z</dcterms:modified>
</cp:coreProperties>
</file>