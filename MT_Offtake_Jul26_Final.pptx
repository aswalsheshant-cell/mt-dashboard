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 (₹ Cr)</c:v>
                </c:pt>
              </c:strCache>
            </c:strRef>
          </c:tx>
          <c:spPr>
            <a:solidFill>
              <a:srgbClr val="1A34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4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89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E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Apr-26</c:v>
                  </c:pt>
                  <c:pt idx="1">
                    <c:v>May-26</c:v>
                  </c:pt>
                  <c:pt idx="2">
                    <c:v>Jun-26</c:v>
                  </c:pt>
                  <c:pt idx="3">
                    <c:v>Jul-26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35.89</c:v>
                </c:pt>
                <c:pt idx="1">
                  <c:v>40.19</c:v>
                </c:pt>
                <c:pt idx="2">
                  <c:v>38.4</c:v>
                </c:pt>
                <c:pt idx="3">
                  <c:v>36.06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(₹ Cr)</c:v>
                </c:pt>
              </c:strCache>
            </c:strRef>
          </c:tx>
          <c:spPr>
            <a:solidFill>
              <a:srgbClr val="1A34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South-1</c:v>
                  </c:pt>
                  <c:pt idx="1">
                    <c:v>West</c:v>
                  </c:pt>
                  <c:pt idx="2">
                    <c:v>Central</c:v>
                  </c:pt>
                  <c:pt idx="3">
                    <c:v>South-2</c:v>
                  </c:pt>
                  <c:pt idx="4">
                    <c:v>North</c:v>
                  </c:pt>
                  <c:pt idx="5">
                    <c:v>East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9.48</c:v>
                </c:pt>
                <c:pt idx="1">
                  <c:v>9.71</c:v>
                </c:pt>
                <c:pt idx="2">
                  <c:v>2.62</c:v>
                </c:pt>
                <c:pt idx="3">
                  <c:v>6.73</c:v>
                </c:pt>
                <c:pt idx="4">
                  <c:v>11.38</c:v>
                </c:pt>
                <c:pt idx="5">
                  <c:v>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 (₹ Cr)</c:v>
                </c:pt>
              </c:strCache>
            </c:strRef>
          </c:tx>
          <c:spPr>
            <a:solidFill>
              <a:srgbClr val="1B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South-1</c:v>
                  </c:pt>
                  <c:pt idx="1">
                    <c:v>West</c:v>
                  </c:pt>
                  <c:pt idx="2">
                    <c:v>Central</c:v>
                  </c:pt>
                  <c:pt idx="3">
                    <c:v>South-2</c:v>
                  </c:pt>
                  <c:pt idx="4">
                    <c:v>North</c:v>
                  </c:pt>
                  <c:pt idx="5">
                    <c:v>East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8.18</c:v>
                </c:pt>
                <c:pt idx="1">
                  <c:v>8.27</c:v>
                </c:pt>
                <c:pt idx="2">
                  <c:v>2.12</c:v>
                </c:pt>
                <c:pt idx="3">
                  <c:v>4.87</c:v>
                </c:pt>
                <c:pt idx="4">
                  <c:v>6.97</c:v>
                </c:pt>
                <c:pt idx="5">
                  <c:v>3.54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E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E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FY'26-27 FYTD (₹ L)</c:v>
                </c:pt>
              </c:strCache>
            </c:strRef>
          </c:tx>
          <c:spPr>
            <a:solidFill>
              <a:srgbClr val="0D1E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North</c:v>
                  </c:pt>
                  <c:pt idx="2">
                    <c:v>South-1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3732.52</c:v>
                </c:pt>
                <c:pt idx="1">
                  <c:v>3339.92</c:v>
                </c:pt>
                <c:pt idx="2">
                  <c:v>3308.35</c:v>
                </c:pt>
                <c:pt idx="3">
                  <c:v>2063.89</c:v>
                </c:pt>
                <c:pt idx="4">
                  <c:v>1528.6</c:v>
                </c:pt>
                <c:pt idx="5">
                  <c:v>211.77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38912"/>
            <a:ext cx="1920240" cy="2743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4 Months Confirmed — Final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 Offtake Review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2026 — Final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487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FY'26-27  ·  Q1 Complete  ·  FYTD Apr–Jul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— Modern Trade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Article-level xlsb (pipeline v2.4.0)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C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 final file ingested 2026-08-19  ·  Brand Counter excluded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640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₹150.55 Cr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Apr–Jul NSV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06640" y="1508760"/>
            <a:ext cx="1280160" cy="1828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₹114.48 Cr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(Apr–Jun)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06640" y="2560320"/>
            <a:ext cx="1280160" cy="1828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₹36.06 Cr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NSV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06640" y="3611880"/>
            <a:ext cx="1280160" cy="18288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Conversion Rate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FY'26-27 Complete  +  July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in ₹ Cr · All months confirmed · Brand Counter excluded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" y="987552"/>
            <a:ext cx="2011680" cy="1325880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97280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₹35.89 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" y="1756562"/>
            <a:ext cx="190195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Apr-26 Offtake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" y="2074774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3,588.51 L · 19.6L units · ASP ₹171.7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14016" y="987552"/>
            <a:ext cx="2011680" cy="1325880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05456" y="1097280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₹40.19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756562"/>
            <a:ext cx="190195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May-26 Offtake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2074774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4,019.42 L · 22.0L units · ASP ₹173.5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26864" y="987552"/>
            <a:ext cx="2011680" cy="1325880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097280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₹38.40 Cr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81728" y="1756562"/>
            <a:ext cx="190195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 Offtake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81728" y="2074774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3,840.46 L · Units TBD (article split pending)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39712" y="987552"/>
            <a:ext cx="2011680" cy="1325880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31152" y="1097280"/>
            <a:ext cx="182880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₹36.06 Cr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1756562"/>
            <a:ext cx="1901952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Offtake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94576" y="2074774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3,606.34 L · 18.95L units · ASP ₹179.2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43984" y="2350008"/>
            <a:ext cx="1444752" cy="20116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3591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Jun confirmed 2026-08-19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2633472"/>
            <a:ext cx="2743200" cy="1005840"/>
          </a:xfrm>
          <a:prstGeom prst="rect">
            <a:avLst/>
          </a:prstGeom>
          <a:solidFill>
            <a:srgbClr val="1E3D62"/>
          </a:solidFill>
          <a:ln/>
          <a:effectLst>
            <a:outerShdw sx="100000" sy="100000" kx="0" ky="0" algn="bl" rotWithShape="0" blurRad="63500" dist="25400" dir="2700000">
              <a:srgbClr val="8E8E8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2670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₹114.48 Cr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01752" y="32186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FY'26-27 (Apr–Jun)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2633472"/>
            <a:ext cx="2743200" cy="1005840"/>
          </a:xfrm>
          <a:prstGeom prst="rect">
            <a:avLst/>
          </a:prstGeom>
          <a:solidFill>
            <a:srgbClr val="1E3D62"/>
          </a:solidFill>
          <a:ln/>
          <a:effectLst>
            <a:outerShdw sx="100000" sy="100000" kx="0" ky="0" algn="bl" rotWithShape="0" blurRad="63500" dist="25400" dir="2700000">
              <a:srgbClr val="8E8E8E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91840" y="2670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₹36.06 Cr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73552" y="32186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July-26 NSV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633472"/>
            <a:ext cx="2743200" cy="1005840"/>
          </a:xfrm>
          <a:prstGeom prst="rect">
            <a:avLst/>
          </a:prstGeom>
          <a:solidFill>
            <a:srgbClr val="C49A1A"/>
          </a:solidFill>
          <a:ln/>
          <a:effectLst>
            <a:outerShdw sx="100000" sy="100000" kx="0" ky="0" algn="bl" rotWithShape="0" blurRad="63500" dist="25400" dir="2700000">
              <a:srgbClr val="8E8E8E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670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₹150.55 Cr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45352" y="32186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Apr–Jul NSV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8600" y="448056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Article-level xlsb via --offtake-patch pipeline · pipeline v2.4.0 · 2026-08-19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Offtake Trend  —  Apr to Jul FY'26-27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₹ Cr  ·  MT only (excl. EB2B, SIS, Brand Counter)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320040" y="9601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987552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23560" y="987552"/>
            <a:ext cx="201168" cy="86868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9" name="Text 6"/>
          <p:cNvSpPr/>
          <p:nvPr/>
        </p:nvSpPr>
        <p:spPr>
          <a:xfrm>
            <a:off x="5879592" y="10424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peak: ₹40.19 Cr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79592" y="12984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month of FY27 FYTD. Units at 22.0L.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993392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993392"/>
            <a:ext cx="201168" cy="868680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13" name="Text 10"/>
          <p:cNvSpPr/>
          <p:nvPr/>
        </p:nvSpPr>
        <p:spPr>
          <a:xfrm>
            <a:off x="5879592" y="20482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confirmed: ₹38.40 Cr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79592" y="23042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 (6.9 MB) ingested 2026-08-19. Tier 3 cleared.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23560" y="2999232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23560" y="2999232"/>
            <a:ext cx="201168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5879592" y="30540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₹36.06 Cr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79592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conversion. North &amp; East lag drag total down.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23560" y="4005072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23560" y="4005072"/>
            <a:ext cx="201168" cy="86868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21" name="Text 18"/>
          <p:cNvSpPr/>
          <p:nvPr/>
        </p:nvSpPr>
        <p:spPr>
          <a:xfrm>
            <a:off x="5879592" y="40599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FY27: ₹114.48 Cr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79592" y="431596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months locked. Strong H1 base established.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Trend: ₹171.7 → ₹173.5 → — → ₹179.2  (+4.4% Apr to Jul)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July-26 Zone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₹ Cr  ·  Units  ·  ASP ₹  ·  ASP Index vs MT avg  ·  Realisation %  ·  Article-level xlsb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87552"/>
            <a:ext cx="141732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" y="1033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0" y="987552"/>
            <a:ext cx="1298448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9" name="Text 7"/>
          <p:cNvSpPr/>
          <p:nvPr/>
        </p:nvSpPr>
        <p:spPr>
          <a:xfrm>
            <a:off x="1700784" y="1033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(₹ Cr)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44368" y="987552"/>
            <a:ext cx="1298448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10332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42816" y="987552"/>
            <a:ext cx="109728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033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(₹)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0096" y="987552"/>
            <a:ext cx="109728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1033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Index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37376" y="987552"/>
            <a:ext cx="1371600" cy="34747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033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Realisation 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335024"/>
            <a:ext cx="76169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1435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00784" y="1435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99232" y="1435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1810512"/>
            <a:ext cx="7616952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19110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00784" y="1911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₹8.18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99232" y="1911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4.34L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0" y="1911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1911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1911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2286000"/>
            <a:ext cx="76169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23865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00784" y="23865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99232" y="238658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0" y="2386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94960" y="23865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23865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2761488"/>
            <a:ext cx="7616952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2862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00784" y="28620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999232" y="28620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97680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94960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92240" y="2862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" y="3236976"/>
            <a:ext cx="761695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" y="3337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700784" y="33375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999232" y="33375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29768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39496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3712464"/>
            <a:ext cx="7616952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" y="3813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700784" y="38130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999232" y="38130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29768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394960" y="3813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92240" y="3813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28600" y="4187952"/>
            <a:ext cx="7616952" cy="438912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61" name="Text 59"/>
          <p:cNvSpPr/>
          <p:nvPr/>
        </p:nvSpPr>
        <p:spPr>
          <a:xfrm>
            <a:off x="283464" y="4279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70078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₹33.96*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99923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18.95L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29768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39496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49224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42.0%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28600" y="44622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Zone sum = ₹33.96 Cr (MT channel, excl. EB2B ₹2.07 Cr, SIS ₹0.03 Cr). FYTD total ₹150.55 Cr includes all channels. Realisation = NSV ÷ MRP.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July-26  ·  Primary vs Offtake Conversion by Zone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Offtake ₹ Cr  ·  Conversion % = Offtake ÷ Primary  ·  Benchmark = 85.7% (avg West + South-1)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74320" y="96012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960120"/>
            <a:ext cx="3154680" cy="384048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1228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18120" y="1005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(₹ Cr)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344168"/>
            <a:ext cx="3154680" cy="475488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12" name="Text 9"/>
          <p:cNvSpPr/>
          <p:nvPr/>
        </p:nvSpPr>
        <p:spPr>
          <a:xfrm>
            <a:off x="5815584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84848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54112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1837944"/>
            <a:ext cx="3154680" cy="475488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6" name="Text 13"/>
          <p:cNvSpPr/>
          <p:nvPr/>
        </p:nvSpPr>
        <p:spPr>
          <a:xfrm>
            <a:off x="5815584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84848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54112" y="19385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2331720"/>
            <a:ext cx="3154680" cy="475488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20" name="Text 17"/>
          <p:cNvSpPr/>
          <p:nvPr/>
        </p:nvSpPr>
        <p:spPr>
          <a:xfrm>
            <a:off x="5815584" y="24323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84848" y="24323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54112" y="24323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2825496"/>
            <a:ext cx="3154680" cy="475488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24" name="Text 21"/>
          <p:cNvSpPr/>
          <p:nvPr/>
        </p:nvSpPr>
        <p:spPr>
          <a:xfrm>
            <a:off x="5815584" y="2926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84848" y="2926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54112" y="2926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₹1.85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60720" y="3319272"/>
            <a:ext cx="3154680" cy="475488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28" name="Text 25"/>
          <p:cNvSpPr/>
          <p:nvPr/>
        </p:nvSpPr>
        <p:spPr>
          <a:xfrm>
            <a:off x="5815584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784848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54112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₹4.41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60720" y="3813048"/>
            <a:ext cx="3154680" cy="475488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32" name="Text 29"/>
          <p:cNvSpPr/>
          <p:nvPr/>
        </p:nvSpPr>
        <p:spPr>
          <a:xfrm>
            <a:off x="5815584" y="3913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84848" y="3913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754112" y="39136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₹3.56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60720" y="4306824"/>
            <a:ext cx="3154680" cy="411480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6" name="Text 33"/>
          <p:cNvSpPr/>
          <p:nvPr/>
        </p:nvSpPr>
        <p:spPr>
          <a:xfrm>
            <a:off x="5806440" y="4343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812280" y="4343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818120" y="43434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74320" y="4352544"/>
            <a:ext cx="5303520" cy="365760"/>
          </a:xfrm>
          <a:prstGeom prst="rect">
            <a:avLst/>
          </a:prstGeom>
          <a:solidFill>
            <a:srgbClr val="1E3A5A"/>
          </a:solidFill>
          <a:ln/>
        </p:spPr>
      </p:sp>
      <p:sp>
        <p:nvSpPr>
          <p:cNvPr id="40" name="Text 37"/>
          <p:cNvSpPr/>
          <p:nvPr/>
        </p:nvSpPr>
        <p:spPr>
          <a:xfrm>
            <a:off x="347472" y="43891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gap above 25% floor: ₹6.22 Cr  ·  North &amp; East at &lt;62% require immediate focus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FYTD Apr–Jul FY'26-27  ·  Zone-wise NSV Ranking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NSV ₹ Lakh  ·  FY27 vs FY26 full-year  ·  YoY % (annualised basis, 4 months vs 12 months)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74320" y="932688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932688"/>
            <a:ext cx="3154680" cy="384048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8" name="Text 5"/>
          <p:cNvSpPr/>
          <p:nvPr/>
        </p:nvSpPr>
        <p:spPr>
          <a:xfrm>
            <a:off x="5797296" y="9692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03136" y="9692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FY'27 (₹L)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08976" y="9692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316736"/>
            <a:ext cx="3154680" cy="46634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4081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84848" y="14081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754112" y="14081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+31.5%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1801368"/>
            <a:ext cx="3154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1892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784848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754112" y="18928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+62.4%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2286000"/>
            <a:ext cx="3154680" cy="46634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784848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54112" y="2377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+56.7%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2770632"/>
            <a:ext cx="3154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2862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784848" y="2862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754112" y="2862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60720" y="3255264"/>
            <a:ext cx="3154680" cy="46634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346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784848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754112" y="3346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+53.8%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60720" y="3739896"/>
            <a:ext cx="3154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313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(eB2B)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784848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54112" y="38313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+13.0%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60720" y="4224528"/>
            <a:ext cx="3154680" cy="46634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4315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784848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754112" y="4315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74320" y="45079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 = FY27 FYTD (4 months) vs FY26 full-year (12 months) — directional, not annualised. Central is new in FY27.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Actions  —  July 2026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final pipeline data · FY'26-27 Q1 closed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1645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Ltd. · MT Analytics · FY'26-27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463040" cy="32004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87552"/>
            <a:ext cx="8631936" cy="1207008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63500" dist="25400" dir="2700000">
              <a:srgbClr val="8E8E8E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02920" cy="1207008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89888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Closed at ₹114.48 Cr — All 3 Months Confirmed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371600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Jun-26 final file (6.9 MB) ingested 2026-08-19; Tier 3 cleared.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" y="1627632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May was the peak month at ₹40.19 Cr / 22.0L units.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1883664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Q1 establishes strong base for H2 target planning.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86000"/>
            <a:ext cx="8631936" cy="1207008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63500" dist="25400" dir="2700000">
              <a:srgbClr val="8E8E8E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86000"/>
            <a:ext cx="502920" cy="1207008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88336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3591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East Conversion Below 62% — ₹7.97 Cr Gap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267004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North: 61.3% conv (₹11.38 Cr primary → ₹6.97 Cr offtake, gap ₹4.41 Cr).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" y="2926080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East: 49.9% conv (₹7.10 Cr primary → ₹3.54 Cr offtake, gap ₹3.56 Cr).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" y="3182112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Recoverable gap above floor across MT: ₹6.22 Cr. Prioritise replenishment hygiene.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584448"/>
            <a:ext cx="8631936" cy="1207008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63500" dist="25400" dir="2700000">
              <a:srgbClr val="8E8E8E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584448"/>
            <a:ext cx="502920" cy="1207008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986784"/>
            <a:ext cx="466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6576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South-1 at Benchmark (&gt;85%) — Replicate Playbook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3968496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South-1: 86.3% conv · West: 85.2% conv — both above benchmark.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96112" y="422452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ASP index East (108) and South-1 (105) highest — premium mix holding.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6112" y="4480560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Realisation stable 41–43% across all zones. No MRP dilution signal.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2026-08-19T08:05:16Z</dcterms:created>
  <dcterms:modified xsi:type="dcterms:W3CDTF">2026-08-19T08:05:16Z</dcterms:modified>
</cp:coreProperties>
</file>